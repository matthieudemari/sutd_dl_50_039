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5"/>
  </p:notesMasterIdLst>
  <p:sldIdLst>
    <p:sldId id="377" r:id="rId2"/>
    <p:sldId id="264" r:id="rId3"/>
    <p:sldId id="550" r:id="rId4"/>
    <p:sldId id="551" r:id="rId5"/>
    <p:sldId id="379" r:id="rId6"/>
    <p:sldId id="431" r:id="rId7"/>
    <p:sldId id="378" r:id="rId8"/>
    <p:sldId id="516" r:id="rId9"/>
    <p:sldId id="406" r:id="rId10"/>
    <p:sldId id="536" r:id="rId11"/>
    <p:sldId id="381" r:id="rId12"/>
    <p:sldId id="382" r:id="rId13"/>
    <p:sldId id="383" r:id="rId14"/>
    <p:sldId id="384" r:id="rId15"/>
    <p:sldId id="385" r:id="rId16"/>
    <p:sldId id="386" r:id="rId17"/>
    <p:sldId id="380" r:id="rId18"/>
    <p:sldId id="387" r:id="rId19"/>
    <p:sldId id="389" r:id="rId20"/>
    <p:sldId id="390" r:id="rId21"/>
    <p:sldId id="391" r:id="rId22"/>
    <p:sldId id="392" r:id="rId23"/>
    <p:sldId id="547" r:id="rId24"/>
    <p:sldId id="257" r:id="rId25"/>
    <p:sldId id="517" r:id="rId26"/>
    <p:sldId id="518" r:id="rId27"/>
    <p:sldId id="396" r:id="rId28"/>
    <p:sldId id="397" r:id="rId29"/>
    <p:sldId id="299" r:id="rId30"/>
    <p:sldId id="401" r:id="rId31"/>
    <p:sldId id="276" r:id="rId32"/>
    <p:sldId id="398" r:id="rId33"/>
    <p:sldId id="402" r:id="rId34"/>
    <p:sldId id="399" r:id="rId35"/>
    <p:sldId id="400" r:id="rId36"/>
    <p:sldId id="403" r:id="rId37"/>
    <p:sldId id="420" r:id="rId38"/>
    <p:sldId id="421" r:id="rId39"/>
    <p:sldId id="415" r:id="rId40"/>
    <p:sldId id="422" r:id="rId41"/>
    <p:sldId id="424" r:id="rId42"/>
    <p:sldId id="427" r:id="rId43"/>
    <p:sldId id="404" r:id="rId44"/>
    <p:sldId id="433" r:id="rId45"/>
    <p:sldId id="434" r:id="rId46"/>
    <p:sldId id="435" r:id="rId47"/>
    <p:sldId id="436" r:id="rId48"/>
    <p:sldId id="437" r:id="rId49"/>
    <p:sldId id="439" r:id="rId50"/>
    <p:sldId id="438" r:id="rId51"/>
    <p:sldId id="440" r:id="rId52"/>
    <p:sldId id="432" r:id="rId53"/>
    <p:sldId id="441" r:id="rId54"/>
    <p:sldId id="442" r:id="rId55"/>
    <p:sldId id="443" r:id="rId56"/>
    <p:sldId id="444" r:id="rId57"/>
    <p:sldId id="446" r:id="rId58"/>
    <p:sldId id="447" r:id="rId59"/>
    <p:sldId id="445" r:id="rId60"/>
    <p:sldId id="448" r:id="rId61"/>
    <p:sldId id="450" r:id="rId62"/>
    <p:sldId id="451" r:id="rId63"/>
    <p:sldId id="452" r:id="rId64"/>
    <p:sldId id="453" r:id="rId65"/>
    <p:sldId id="455" r:id="rId66"/>
    <p:sldId id="456" r:id="rId67"/>
    <p:sldId id="457" r:id="rId68"/>
    <p:sldId id="458" r:id="rId69"/>
    <p:sldId id="459" r:id="rId70"/>
    <p:sldId id="460" r:id="rId71"/>
    <p:sldId id="461" r:id="rId72"/>
    <p:sldId id="462" r:id="rId73"/>
    <p:sldId id="463" r:id="rId74"/>
    <p:sldId id="464" r:id="rId75"/>
    <p:sldId id="465" r:id="rId76"/>
    <p:sldId id="466" r:id="rId77"/>
    <p:sldId id="467" r:id="rId78"/>
    <p:sldId id="468" r:id="rId79"/>
    <p:sldId id="469" r:id="rId80"/>
    <p:sldId id="470" r:id="rId81"/>
    <p:sldId id="471" r:id="rId82"/>
    <p:sldId id="472" r:id="rId83"/>
    <p:sldId id="473" r:id="rId84"/>
    <p:sldId id="548" r:id="rId85"/>
    <p:sldId id="542" r:id="rId86"/>
    <p:sldId id="543" r:id="rId87"/>
    <p:sldId id="544" r:id="rId88"/>
    <p:sldId id="393" r:id="rId89"/>
    <p:sldId id="535" r:id="rId90"/>
    <p:sldId id="394" r:id="rId91"/>
    <p:sldId id="395" r:id="rId92"/>
    <p:sldId id="413" r:id="rId93"/>
    <p:sldId id="539" r:id="rId94"/>
    <p:sldId id="418" r:id="rId95"/>
    <p:sldId id="419" r:id="rId96"/>
    <p:sldId id="417" r:id="rId97"/>
    <p:sldId id="425" r:id="rId98"/>
    <p:sldId id="426" r:id="rId99"/>
    <p:sldId id="530" r:id="rId100"/>
    <p:sldId id="531" r:id="rId101"/>
    <p:sldId id="541" r:id="rId102"/>
    <p:sldId id="532" r:id="rId103"/>
    <p:sldId id="533"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0. Admin stuff" id="{5ED9F574-9E90-48C0-B2EF-477D9B3D859A}">
          <p14:sldIdLst>
            <p14:sldId id="264"/>
            <p14:sldId id="550"/>
            <p14:sldId id="551"/>
            <p14:sldId id="379"/>
            <p14:sldId id="431"/>
            <p14:sldId id="378"/>
            <p14:sldId id="516"/>
            <p14:sldId id="406"/>
            <p14:sldId id="536"/>
            <p14:sldId id="381"/>
            <p14:sldId id="382"/>
            <p14:sldId id="383"/>
            <p14:sldId id="384"/>
            <p14:sldId id="385"/>
            <p14:sldId id="386"/>
            <p14:sldId id="380"/>
            <p14:sldId id="387"/>
            <p14:sldId id="389"/>
          </p14:sldIdLst>
        </p14:section>
        <p14:section name="0. Technical pre-requisites" id="{E213CAC3-A784-4F9D-AEBD-558C6D1C388C}">
          <p14:sldIdLst>
            <p14:sldId id="390"/>
            <p14:sldId id="391"/>
            <p14:sldId id="392"/>
          </p14:sldIdLst>
        </p14:section>
        <p14:section name="I.1. Introduction" id="{2FD0FF71-F5FC-4EB7-B2CB-B31E4CBECD79}">
          <p14:sldIdLst>
            <p14:sldId id="547"/>
            <p14:sldId id="257"/>
            <p14:sldId id="517"/>
            <p14:sldId id="518"/>
          </p14:sldIdLst>
        </p14:section>
        <p14:section name="I.2. A bit of jargon" id="{A07A4106-FDDA-4519-82AE-5205038263B6}">
          <p14:sldIdLst>
            <p14:sldId id="396"/>
            <p14:sldId id="397"/>
            <p14:sldId id="299"/>
            <p14:sldId id="401"/>
            <p14:sldId id="276"/>
            <p14:sldId id="398"/>
            <p14:sldId id="402"/>
            <p14:sldId id="399"/>
            <p14:sldId id="400"/>
          </p14:sldIdLst>
        </p14:section>
        <p14:section name="I.3. Families of ML problems" id="{55D2357B-2C0A-43B8-A477-947241819A7F}">
          <p14:sldIdLst>
            <p14:sldId id="403"/>
            <p14:sldId id="420"/>
            <p14:sldId id="421"/>
            <p14:sldId id="415"/>
            <p14:sldId id="422"/>
            <p14:sldId id="424"/>
            <p14:sldId id="427"/>
          </p14:sldIdLst>
        </p14:section>
        <p14:section name="I.4. Structure a of typical ML problem" id="{5515C39D-FD16-4B17-8FD6-858173B071C2}">
          <p14:sldIdLst>
            <p14:sldId id="404"/>
            <p14:sldId id="433"/>
            <p14:sldId id="434"/>
          </p14:sldIdLst>
        </p14:section>
        <p14:section name="II.1. The linear regression problem" id="{7F7C3EFF-24D8-46F9-AD5D-C806FE7D5ADC}">
          <p14:sldIdLst>
            <p14:sldId id="435"/>
            <p14:sldId id="436"/>
            <p14:sldId id="437"/>
            <p14:sldId id="439"/>
            <p14:sldId id="438"/>
            <p14:sldId id="440"/>
            <p14:sldId id="432"/>
            <p14:sldId id="441"/>
            <p14:sldId id="442"/>
            <p14:sldId id="443"/>
            <p14:sldId id="444"/>
            <p14:sldId id="446"/>
            <p14:sldId id="447"/>
          </p14:sldIdLst>
        </p14:section>
        <p14:section name="II.2. Solving the linear regression problem analytically" id="{5AC599D5-9DB1-455E-A49B-B34B9DDC9702}">
          <p14:sldIdLst>
            <p14:sldId id="445"/>
            <p14:sldId id="448"/>
            <p14:sldId id="450"/>
            <p14:sldId id="451"/>
            <p14:sldId id="452"/>
          </p14:sldIdLst>
        </p14:section>
        <p14:section name="II.3. Solving the linear regression problem with gradient descent" id="{3D459045-5515-4E4A-A7FB-662E43EAD6A0}">
          <p14:sldIdLst>
            <p14:sldId id="453"/>
            <p14:sldId id="455"/>
            <p14:sldId id="456"/>
            <p14:sldId id="457"/>
            <p14:sldId id="458"/>
            <p14:sldId id="459"/>
            <p14:sldId id="460"/>
            <p14:sldId id="461"/>
            <p14:sldId id="462"/>
            <p14:sldId id="463"/>
            <p14:sldId id="464"/>
            <p14:sldId id="465"/>
            <p14:sldId id="466"/>
            <p14:sldId id="467"/>
            <p14:sldId id="468"/>
            <p14:sldId id="469"/>
            <p14:sldId id="470"/>
            <p14:sldId id="471"/>
            <p14:sldId id="472"/>
            <p14:sldId id="473"/>
            <p14:sldId id="548"/>
          </p14:sldIdLst>
        </p14:section>
        <p14:section name="Bonus - Topics to revise" id="{3CFE4468-2DCF-4C23-805A-CD1958B9130E}">
          <p14:sldIdLst>
            <p14:sldId id="542"/>
            <p14:sldId id="543"/>
            <p14:sldId id="544"/>
          </p14:sldIdLst>
        </p14:section>
        <p14:section name="Bonus - Installing PyTorch and CUDA" id="{98AB9996-991B-4595-93A5-57E9796142BB}">
          <p14:sldIdLst>
            <p14:sldId id="393"/>
            <p14:sldId id="535"/>
            <p14:sldId id="394"/>
            <p14:sldId id="395"/>
            <p14:sldId id="413"/>
          </p14:sldIdLst>
        </p14:section>
        <p14:section name="Bonus - Unupervised Learning details" id="{08DA2268-5FEC-4F57-9C9D-33B7F6658267}">
          <p14:sldIdLst>
            <p14:sldId id="539"/>
            <p14:sldId id="418"/>
            <p14:sldId id="419"/>
            <p14:sldId id="417"/>
            <p14:sldId id="425"/>
            <p14:sldId id="426"/>
          </p14:sldIdLst>
        </p14:section>
        <p14:section name="Bonus - Proof of Normal Equation in Linear Regression" id="{48BBBC49-4250-4EE9-AF4E-596CA906B059}">
          <p14:sldIdLst>
            <p14:sldId id="530"/>
            <p14:sldId id="531"/>
            <p14:sldId id="541"/>
            <p14:sldId id="532"/>
            <p14:sldId id="5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446D52-C317-103A-D209-A6D1D99CFF7D}" name="Matthieu De Mari" initials="MDM" userId="Matthieu De Mari"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9A8C78-F34F-476A-BFAC-29F153506AA6}" v="12" dt="2026-01-14T07:51:41.5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292" autoAdjust="0"/>
  </p:normalViewPr>
  <p:slideViewPr>
    <p:cSldViewPr snapToGrid="0">
      <p:cViewPr varScale="1">
        <p:scale>
          <a:sx n="114" d="100"/>
          <a:sy n="114" d="100"/>
        </p:scale>
        <p:origin x="438"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microsoft.com/office/2018/10/relationships/authors" Target="authors.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undo custSel addSld delSld modSld modSection">
      <pc:chgData name="Matthieu De Mari" userId="dfb708c9-d8dc-439f-9a3b-c772bf4a311c" providerId="ADAL" clId="{81E9B007-0C2C-493E-9B93-55A62C9C1F12}" dt="2026-01-14T07:52:55.101" v="1860" actId="478"/>
      <pc:docMkLst>
        <pc:docMk/>
      </pc:docMkLst>
      <pc:sldChg chg="modSp mod">
        <pc:chgData name="Matthieu De Mari" userId="dfb708c9-d8dc-439f-9a3b-c772bf4a311c" providerId="ADAL" clId="{81E9B007-0C2C-493E-9B93-55A62C9C1F12}" dt="2026-01-14T07:51:55.041" v="1831" actId="20577"/>
        <pc:sldMkLst>
          <pc:docMk/>
          <pc:sldMk cId="3338565690" sldId="264"/>
        </pc:sldMkLst>
        <pc:spChg chg="mod">
          <ac:chgData name="Matthieu De Mari" userId="dfb708c9-d8dc-439f-9a3b-c772bf4a311c" providerId="ADAL" clId="{81E9B007-0C2C-493E-9B93-55A62C9C1F12}" dt="2026-01-14T07:51:55.041" v="1831" actId="20577"/>
          <ac:spMkLst>
            <pc:docMk/>
            <pc:sldMk cId="3338565690" sldId="264"/>
            <ac:spMk id="13" creationId="{100642B6-C432-4551-A081-D2685D9CE257}"/>
          </ac:spMkLst>
        </pc:spChg>
      </pc:sldChg>
      <pc:sldChg chg="modSp mod">
        <pc:chgData name="Matthieu De Mari" userId="dfb708c9-d8dc-439f-9a3b-c772bf4a311c" providerId="ADAL" clId="{81E9B007-0C2C-493E-9B93-55A62C9C1F12}" dt="2025-12-18T20:57:25.451" v="1466" actId="20577"/>
        <pc:sldMkLst>
          <pc:docMk/>
          <pc:sldMk cId="1694737057" sldId="276"/>
        </pc:sldMkLst>
        <pc:spChg chg="mod">
          <ac:chgData name="Matthieu De Mari" userId="dfb708c9-d8dc-439f-9a3b-c772bf4a311c" providerId="ADAL" clId="{81E9B007-0C2C-493E-9B93-55A62C9C1F12}" dt="2025-12-18T20:57:25.451" v="1466" actId="20577"/>
          <ac:spMkLst>
            <pc:docMk/>
            <pc:sldMk cId="1694737057" sldId="276"/>
            <ac:spMk id="3" creationId="{C9C64C1D-F89A-4578-B4F7-6181FAC67178}"/>
          </ac:spMkLst>
        </pc:spChg>
      </pc:sldChg>
      <pc:sldChg chg="modSp mod">
        <pc:chgData name="Matthieu De Mari" userId="dfb708c9-d8dc-439f-9a3b-c772bf4a311c" providerId="ADAL" clId="{81E9B007-0C2C-493E-9B93-55A62C9C1F12}" dt="2026-01-08T10:02:10.190" v="1696" actId="20577"/>
        <pc:sldMkLst>
          <pc:docMk/>
          <pc:sldMk cId="2102240919" sldId="378"/>
        </pc:sldMkLst>
        <pc:spChg chg="mod">
          <ac:chgData name="Matthieu De Mari" userId="dfb708c9-d8dc-439f-9a3b-c772bf4a311c" providerId="ADAL" clId="{81E9B007-0C2C-493E-9B93-55A62C9C1F12}" dt="2026-01-08T10:02:10.190" v="1696" actId="20577"/>
          <ac:spMkLst>
            <pc:docMk/>
            <pc:sldMk cId="2102240919" sldId="378"/>
            <ac:spMk id="4" creationId="{61167C31-41F1-58EC-49B1-BE1AF7A8E13D}"/>
          </ac:spMkLst>
        </pc:spChg>
      </pc:sldChg>
      <pc:sldChg chg="modSp mod">
        <pc:chgData name="Matthieu De Mari" userId="dfb708c9-d8dc-439f-9a3b-c772bf4a311c" providerId="ADAL" clId="{81E9B007-0C2C-493E-9B93-55A62C9C1F12}" dt="2025-12-18T19:52:34.394" v="747" actId="20577"/>
        <pc:sldMkLst>
          <pc:docMk/>
          <pc:sldMk cId="2869851827" sldId="379"/>
        </pc:sldMkLst>
        <pc:spChg chg="mod">
          <ac:chgData name="Matthieu De Mari" userId="dfb708c9-d8dc-439f-9a3b-c772bf4a311c" providerId="ADAL" clId="{81E9B007-0C2C-493E-9B93-55A62C9C1F12}" dt="2025-12-18T19:52:34.394" v="747" actId="20577"/>
          <ac:spMkLst>
            <pc:docMk/>
            <pc:sldMk cId="2869851827" sldId="379"/>
            <ac:spMk id="3" creationId="{D75CBEFE-1E34-9689-F127-9C649BD6EACA}"/>
          </ac:spMkLst>
        </pc:spChg>
      </pc:sldChg>
      <pc:sldChg chg="modSp mod">
        <pc:chgData name="Matthieu De Mari" userId="dfb708c9-d8dc-439f-9a3b-c772bf4a311c" providerId="ADAL" clId="{81E9B007-0C2C-493E-9B93-55A62C9C1F12}" dt="2025-12-18T20:31:12.226" v="1306" actId="20577"/>
        <pc:sldMkLst>
          <pc:docMk/>
          <pc:sldMk cId="1174628089" sldId="380"/>
        </pc:sldMkLst>
        <pc:spChg chg="mod">
          <ac:chgData name="Matthieu De Mari" userId="dfb708c9-d8dc-439f-9a3b-c772bf4a311c" providerId="ADAL" clId="{81E9B007-0C2C-493E-9B93-55A62C9C1F12}" dt="2025-12-18T20:31:12.226" v="1306" actId="20577"/>
          <ac:spMkLst>
            <pc:docMk/>
            <pc:sldMk cId="1174628089" sldId="380"/>
            <ac:spMk id="4" creationId="{9153A28C-95D3-2045-78E8-BEAFD0347A89}"/>
          </ac:spMkLst>
        </pc:spChg>
      </pc:sldChg>
      <pc:sldChg chg="modSp mod">
        <pc:chgData name="Matthieu De Mari" userId="dfb708c9-d8dc-439f-9a3b-c772bf4a311c" providerId="ADAL" clId="{81E9B007-0C2C-493E-9B93-55A62C9C1F12}" dt="2025-12-18T20:24:44.453" v="996" actId="20577"/>
        <pc:sldMkLst>
          <pc:docMk/>
          <pc:sldMk cId="1027151186" sldId="381"/>
        </pc:sldMkLst>
        <pc:spChg chg="mod">
          <ac:chgData name="Matthieu De Mari" userId="dfb708c9-d8dc-439f-9a3b-c772bf4a311c" providerId="ADAL" clId="{81E9B007-0C2C-493E-9B93-55A62C9C1F12}" dt="2025-12-18T20:24:44.453" v="996" actId="20577"/>
          <ac:spMkLst>
            <pc:docMk/>
            <pc:sldMk cId="1027151186" sldId="381"/>
            <ac:spMk id="3" creationId="{EF77FA4B-0B20-5BC7-9427-1BB2CFAA30B3}"/>
          </ac:spMkLst>
        </pc:spChg>
      </pc:sldChg>
      <pc:sldChg chg="modSp mod">
        <pc:chgData name="Matthieu De Mari" userId="dfb708c9-d8dc-439f-9a3b-c772bf4a311c" providerId="ADAL" clId="{81E9B007-0C2C-493E-9B93-55A62C9C1F12}" dt="2025-12-18T20:26:59.157" v="1080" actId="20577"/>
        <pc:sldMkLst>
          <pc:docMk/>
          <pc:sldMk cId="2668007958" sldId="382"/>
        </pc:sldMkLst>
        <pc:spChg chg="mod">
          <ac:chgData name="Matthieu De Mari" userId="dfb708c9-d8dc-439f-9a3b-c772bf4a311c" providerId="ADAL" clId="{81E9B007-0C2C-493E-9B93-55A62C9C1F12}" dt="2025-12-18T20:26:59.157" v="1080" actId="20577"/>
          <ac:spMkLst>
            <pc:docMk/>
            <pc:sldMk cId="2668007958" sldId="382"/>
            <ac:spMk id="3" creationId="{EF77FA4B-0B20-5BC7-9427-1BB2CFAA30B3}"/>
          </ac:spMkLst>
        </pc:spChg>
      </pc:sldChg>
      <pc:sldChg chg="modSp mod">
        <pc:chgData name="Matthieu De Mari" userId="dfb708c9-d8dc-439f-9a3b-c772bf4a311c" providerId="ADAL" clId="{81E9B007-0C2C-493E-9B93-55A62C9C1F12}" dt="2025-12-18T20:28:43.366" v="1127" actId="20577"/>
        <pc:sldMkLst>
          <pc:docMk/>
          <pc:sldMk cId="3313062775" sldId="383"/>
        </pc:sldMkLst>
        <pc:spChg chg="mod">
          <ac:chgData name="Matthieu De Mari" userId="dfb708c9-d8dc-439f-9a3b-c772bf4a311c" providerId="ADAL" clId="{81E9B007-0C2C-493E-9B93-55A62C9C1F12}" dt="2025-12-18T20:28:43.366" v="1127" actId="20577"/>
          <ac:spMkLst>
            <pc:docMk/>
            <pc:sldMk cId="3313062775" sldId="383"/>
            <ac:spMk id="3" creationId="{EF77FA4B-0B20-5BC7-9427-1BB2CFAA30B3}"/>
          </ac:spMkLst>
        </pc:spChg>
      </pc:sldChg>
      <pc:sldChg chg="modSp mod">
        <pc:chgData name="Matthieu De Mari" userId="dfb708c9-d8dc-439f-9a3b-c772bf4a311c" providerId="ADAL" clId="{81E9B007-0C2C-493E-9B93-55A62C9C1F12}" dt="2025-12-18T20:29:36.138" v="1216" actId="20577"/>
        <pc:sldMkLst>
          <pc:docMk/>
          <pc:sldMk cId="919173083" sldId="384"/>
        </pc:sldMkLst>
        <pc:spChg chg="mod">
          <ac:chgData name="Matthieu De Mari" userId="dfb708c9-d8dc-439f-9a3b-c772bf4a311c" providerId="ADAL" clId="{81E9B007-0C2C-493E-9B93-55A62C9C1F12}" dt="2025-12-18T20:29:36.138" v="1216" actId="20577"/>
          <ac:spMkLst>
            <pc:docMk/>
            <pc:sldMk cId="919173083" sldId="384"/>
            <ac:spMk id="3" creationId="{EF77FA4B-0B20-5BC7-9427-1BB2CFAA30B3}"/>
          </ac:spMkLst>
        </pc:spChg>
      </pc:sldChg>
      <pc:sldChg chg="modSp mod">
        <pc:chgData name="Matthieu De Mari" userId="dfb708c9-d8dc-439f-9a3b-c772bf4a311c" providerId="ADAL" clId="{81E9B007-0C2C-493E-9B93-55A62C9C1F12}" dt="2025-12-18T20:29:59.373" v="1217" actId="21"/>
        <pc:sldMkLst>
          <pc:docMk/>
          <pc:sldMk cId="1135317816" sldId="385"/>
        </pc:sldMkLst>
        <pc:spChg chg="mod">
          <ac:chgData name="Matthieu De Mari" userId="dfb708c9-d8dc-439f-9a3b-c772bf4a311c" providerId="ADAL" clId="{81E9B007-0C2C-493E-9B93-55A62C9C1F12}" dt="2025-12-18T20:29:59.373" v="1217" actId="21"/>
          <ac:spMkLst>
            <pc:docMk/>
            <pc:sldMk cId="1135317816" sldId="385"/>
            <ac:spMk id="3" creationId="{EF77FA4B-0B20-5BC7-9427-1BB2CFAA30B3}"/>
          </ac:spMkLst>
        </pc:spChg>
      </pc:sldChg>
      <pc:sldChg chg="modSp mod">
        <pc:chgData name="Matthieu De Mari" userId="dfb708c9-d8dc-439f-9a3b-c772bf4a311c" providerId="ADAL" clId="{81E9B007-0C2C-493E-9B93-55A62C9C1F12}" dt="2025-12-18T20:30:55.754" v="1286" actId="20577"/>
        <pc:sldMkLst>
          <pc:docMk/>
          <pc:sldMk cId="2964357363" sldId="386"/>
        </pc:sldMkLst>
        <pc:spChg chg="mod">
          <ac:chgData name="Matthieu De Mari" userId="dfb708c9-d8dc-439f-9a3b-c772bf4a311c" providerId="ADAL" clId="{81E9B007-0C2C-493E-9B93-55A62C9C1F12}" dt="2025-12-18T20:30:55.754" v="1286" actId="20577"/>
          <ac:spMkLst>
            <pc:docMk/>
            <pc:sldMk cId="2964357363" sldId="386"/>
            <ac:spMk id="3" creationId="{EF77FA4B-0B20-5BC7-9427-1BB2CFAA30B3}"/>
          </ac:spMkLst>
        </pc:spChg>
      </pc:sldChg>
      <pc:sldChg chg="modSp mod">
        <pc:chgData name="Matthieu De Mari" userId="dfb708c9-d8dc-439f-9a3b-c772bf4a311c" providerId="ADAL" clId="{81E9B007-0C2C-493E-9B93-55A62C9C1F12}" dt="2025-12-18T20:31:25.892" v="1312" actId="20577"/>
        <pc:sldMkLst>
          <pc:docMk/>
          <pc:sldMk cId="1437705667" sldId="387"/>
        </pc:sldMkLst>
        <pc:spChg chg="mod">
          <ac:chgData name="Matthieu De Mari" userId="dfb708c9-d8dc-439f-9a3b-c772bf4a311c" providerId="ADAL" clId="{81E9B007-0C2C-493E-9B93-55A62C9C1F12}" dt="2025-12-18T20:31:25.892" v="1312" actId="20577"/>
          <ac:spMkLst>
            <pc:docMk/>
            <pc:sldMk cId="1437705667" sldId="387"/>
            <ac:spMk id="3" creationId="{00158227-B71F-87CC-D0F3-AE23B9DE10AA}"/>
          </ac:spMkLst>
        </pc:spChg>
      </pc:sldChg>
      <pc:sldChg chg="modSp mod">
        <pc:chgData name="Matthieu De Mari" userId="dfb708c9-d8dc-439f-9a3b-c772bf4a311c" providerId="ADAL" clId="{81E9B007-0C2C-493E-9B93-55A62C9C1F12}" dt="2025-12-18T20:32:20.001" v="1314" actId="20577"/>
        <pc:sldMkLst>
          <pc:docMk/>
          <pc:sldMk cId="2463050599" sldId="389"/>
        </pc:sldMkLst>
        <pc:spChg chg="mod">
          <ac:chgData name="Matthieu De Mari" userId="dfb708c9-d8dc-439f-9a3b-c772bf4a311c" providerId="ADAL" clId="{81E9B007-0C2C-493E-9B93-55A62C9C1F12}" dt="2025-12-18T20:32:20.001" v="1314" actId="20577"/>
          <ac:spMkLst>
            <pc:docMk/>
            <pc:sldMk cId="2463050599" sldId="389"/>
            <ac:spMk id="3" creationId="{00158227-B71F-87CC-D0F3-AE23B9DE10AA}"/>
          </ac:spMkLst>
        </pc:spChg>
      </pc:sldChg>
      <pc:sldChg chg="modSp mod">
        <pc:chgData name="Matthieu De Mari" userId="dfb708c9-d8dc-439f-9a3b-c772bf4a311c" providerId="ADAL" clId="{81E9B007-0C2C-493E-9B93-55A62C9C1F12}" dt="2025-12-18T20:34:21.378" v="1407" actId="20577"/>
        <pc:sldMkLst>
          <pc:docMk/>
          <pc:sldMk cId="305053717" sldId="390"/>
        </pc:sldMkLst>
        <pc:spChg chg="mod">
          <ac:chgData name="Matthieu De Mari" userId="dfb708c9-d8dc-439f-9a3b-c772bf4a311c" providerId="ADAL" clId="{81E9B007-0C2C-493E-9B93-55A62C9C1F12}" dt="2025-12-18T20:34:21.378" v="1407" actId="20577"/>
          <ac:spMkLst>
            <pc:docMk/>
            <pc:sldMk cId="305053717" sldId="390"/>
            <ac:spMk id="3" creationId="{FF686CDA-C22E-B272-5CB5-BE1E309AAA29}"/>
          </ac:spMkLst>
        </pc:spChg>
        <pc:picChg chg="ord">
          <ac:chgData name="Matthieu De Mari" userId="dfb708c9-d8dc-439f-9a3b-c772bf4a311c" providerId="ADAL" clId="{81E9B007-0C2C-493E-9B93-55A62C9C1F12}" dt="2025-12-18T20:34:02.736" v="1386" actId="171"/>
          <ac:picMkLst>
            <pc:docMk/>
            <pc:sldMk cId="305053717" sldId="390"/>
            <ac:picMk id="10" creationId="{BFA7CA6E-5CDB-E94A-8BCF-45FFF37CBC1C}"/>
          </ac:picMkLst>
        </pc:picChg>
      </pc:sldChg>
      <pc:sldChg chg="modSp mod">
        <pc:chgData name="Matthieu De Mari" userId="dfb708c9-d8dc-439f-9a3b-c772bf4a311c" providerId="ADAL" clId="{81E9B007-0C2C-493E-9B93-55A62C9C1F12}" dt="2025-12-18T20:56:20.949" v="1443" actId="20577"/>
        <pc:sldMkLst>
          <pc:docMk/>
          <pc:sldMk cId="4206316821" sldId="392"/>
        </pc:sldMkLst>
        <pc:spChg chg="mod">
          <ac:chgData name="Matthieu De Mari" userId="dfb708c9-d8dc-439f-9a3b-c772bf4a311c" providerId="ADAL" clId="{81E9B007-0C2C-493E-9B93-55A62C9C1F12}" dt="2025-12-18T20:56:20.949" v="1443" actId="20577"/>
          <ac:spMkLst>
            <pc:docMk/>
            <pc:sldMk cId="4206316821" sldId="392"/>
            <ac:spMk id="3" creationId="{E6A39174-3E5F-1239-C016-DEB828F2BE91}"/>
          </ac:spMkLst>
        </pc:spChg>
      </pc:sldChg>
      <pc:sldChg chg="modSp mod">
        <pc:chgData name="Matthieu De Mari" userId="dfb708c9-d8dc-439f-9a3b-c772bf4a311c" providerId="ADAL" clId="{81E9B007-0C2C-493E-9B93-55A62C9C1F12}" dt="2025-12-18T20:56:49.523" v="1445" actId="20577"/>
        <pc:sldMkLst>
          <pc:docMk/>
          <pc:sldMk cId="235876011" sldId="396"/>
        </pc:sldMkLst>
        <pc:spChg chg="mod">
          <ac:chgData name="Matthieu De Mari" userId="dfb708c9-d8dc-439f-9a3b-c772bf4a311c" providerId="ADAL" clId="{81E9B007-0C2C-493E-9B93-55A62C9C1F12}" dt="2025-12-18T20:56:49.523" v="1445" actId="20577"/>
          <ac:spMkLst>
            <pc:docMk/>
            <pc:sldMk cId="235876011" sldId="396"/>
            <ac:spMk id="11" creationId="{8FB938B3-49AA-64A9-0AE5-33A8966854C4}"/>
          </ac:spMkLst>
        </pc:spChg>
      </pc:sldChg>
      <pc:sldChg chg="modSp mod">
        <pc:chgData name="Matthieu De Mari" userId="dfb708c9-d8dc-439f-9a3b-c772bf4a311c" providerId="ADAL" clId="{81E9B007-0C2C-493E-9B93-55A62C9C1F12}" dt="2025-12-18T19:55:09.471" v="851" actId="20577"/>
        <pc:sldMkLst>
          <pc:docMk/>
          <pc:sldMk cId="106661604" sldId="406"/>
        </pc:sldMkLst>
        <pc:spChg chg="mod">
          <ac:chgData name="Matthieu De Mari" userId="dfb708c9-d8dc-439f-9a3b-c772bf4a311c" providerId="ADAL" clId="{81E9B007-0C2C-493E-9B93-55A62C9C1F12}" dt="2025-12-18T19:55:09.471" v="851" actId="20577"/>
          <ac:spMkLst>
            <pc:docMk/>
            <pc:sldMk cId="106661604" sldId="406"/>
            <ac:spMk id="3" creationId="{F9359CBB-2BA1-6409-CE17-97C6B596059A}"/>
          </ac:spMkLst>
        </pc:spChg>
      </pc:sldChg>
      <pc:sldChg chg="modSp mod">
        <pc:chgData name="Matthieu De Mari" userId="dfb708c9-d8dc-439f-9a3b-c772bf4a311c" providerId="ADAL" clId="{81E9B007-0C2C-493E-9B93-55A62C9C1F12}" dt="2025-12-18T19:53:39" v="813" actId="20577"/>
        <pc:sldMkLst>
          <pc:docMk/>
          <pc:sldMk cId="2465108115" sldId="431"/>
        </pc:sldMkLst>
        <pc:spChg chg="mod">
          <ac:chgData name="Matthieu De Mari" userId="dfb708c9-d8dc-439f-9a3b-c772bf4a311c" providerId="ADAL" clId="{81E9B007-0C2C-493E-9B93-55A62C9C1F12}" dt="2025-12-18T19:53:39" v="813" actId="20577"/>
          <ac:spMkLst>
            <pc:docMk/>
            <pc:sldMk cId="2465108115" sldId="431"/>
            <ac:spMk id="3" creationId="{D75CBEFE-1E34-9689-F127-9C649BD6EACA}"/>
          </ac:spMkLst>
        </pc:spChg>
      </pc:sldChg>
      <pc:sldChg chg="modSp">
        <pc:chgData name="Matthieu De Mari" userId="dfb708c9-d8dc-439f-9a3b-c772bf4a311c" providerId="ADAL" clId="{81E9B007-0C2C-493E-9B93-55A62C9C1F12}" dt="2025-12-18T20:59:25.267" v="1475" actId="20577"/>
        <pc:sldMkLst>
          <pc:docMk/>
          <pc:sldMk cId="3450273322" sldId="440"/>
        </pc:sldMkLst>
        <pc:spChg chg="mod">
          <ac:chgData name="Matthieu De Mari" userId="dfb708c9-d8dc-439f-9a3b-c772bf4a311c" providerId="ADAL" clId="{81E9B007-0C2C-493E-9B93-55A62C9C1F12}" dt="2025-12-18T20:59:25.267" v="1475" actId="20577"/>
          <ac:spMkLst>
            <pc:docMk/>
            <pc:sldMk cId="3450273322" sldId="440"/>
            <ac:spMk id="3" creationId="{7BDE96C0-465C-7952-04EA-C267AC8BF678}"/>
          </ac:spMkLst>
        </pc:spChg>
      </pc:sldChg>
      <pc:sldChg chg="modSp mod">
        <pc:chgData name="Matthieu De Mari" userId="dfb708c9-d8dc-439f-9a3b-c772bf4a311c" providerId="ADAL" clId="{81E9B007-0C2C-493E-9B93-55A62C9C1F12}" dt="2025-12-18T20:59:43.702" v="1479" actId="20577"/>
        <pc:sldMkLst>
          <pc:docMk/>
          <pc:sldMk cId="3346155856" sldId="442"/>
        </pc:sldMkLst>
        <pc:spChg chg="mod">
          <ac:chgData name="Matthieu De Mari" userId="dfb708c9-d8dc-439f-9a3b-c772bf4a311c" providerId="ADAL" clId="{81E9B007-0C2C-493E-9B93-55A62C9C1F12}" dt="2025-12-18T20:59:43.702" v="1479" actId="20577"/>
          <ac:spMkLst>
            <pc:docMk/>
            <pc:sldMk cId="3346155856" sldId="442"/>
            <ac:spMk id="3" creationId="{9BAE63A8-7CB3-9103-18B5-4F57A6F933B5}"/>
          </ac:spMkLst>
        </pc:spChg>
      </pc:sldChg>
      <pc:sldChg chg="modSp mod">
        <pc:chgData name="Matthieu De Mari" userId="dfb708c9-d8dc-439f-9a3b-c772bf4a311c" providerId="ADAL" clId="{81E9B007-0C2C-493E-9B93-55A62C9C1F12}" dt="2025-12-18T21:00:19.517" v="1482" actId="20577"/>
        <pc:sldMkLst>
          <pc:docMk/>
          <pc:sldMk cId="2491288640" sldId="443"/>
        </pc:sldMkLst>
        <pc:spChg chg="mod">
          <ac:chgData name="Matthieu De Mari" userId="dfb708c9-d8dc-439f-9a3b-c772bf4a311c" providerId="ADAL" clId="{81E9B007-0C2C-493E-9B93-55A62C9C1F12}" dt="2025-12-18T21:00:19.517" v="1482" actId="20577"/>
          <ac:spMkLst>
            <pc:docMk/>
            <pc:sldMk cId="2491288640" sldId="443"/>
            <ac:spMk id="3" creationId="{9BAE63A8-7CB3-9103-18B5-4F57A6F933B5}"/>
          </ac:spMkLst>
        </pc:spChg>
      </pc:sldChg>
      <pc:sldChg chg="modSp mod">
        <pc:chgData name="Matthieu De Mari" userId="dfb708c9-d8dc-439f-9a3b-c772bf4a311c" providerId="ADAL" clId="{81E9B007-0C2C-493E-9B93-55A62C9C1F12}" dt="2025-12-18T21:00:40.116" v="1490" actId="20577"/>
        <pc:sldMkLst>
          <pc:docMk/>
          <pc:sldMk cId="2759485571" sldId="444"/>
        </pc:sldMkLst>
        <pc:spChg chg="mod">
          <ac:chgData name="Matthieu De Mari" userId="dfb708c9-d8dc-439f-9a3b-c772bf4a311c" providerId="ADAL" clId="{81E9B007-0C2C-493E-9B93-55A62C9C1F12}" dt="2025-12-18T21:00:40.116" v="1490" actId="20577"/>
          <ac:spMkLst>
            <pc:docMk/>
            <pc:sldMk cId="2759485571" sldId="444"/>
            <ac:spMk id="3" creationId="{9BAE63A8-7CB3-9103-18B5-4F57A6F933B5}"/>
          </ac:spMkLst>
        </pc:spChg>
      </pc:sldChg>
      <pc:sldChg chg="addSp modSp mod">
        <pc:chgData name="Matthieu De Mari" userId="dfb708c9-d8dc-439f-9a3b-c772bf4a311c" providerId="ADAL" clId="{81E9B007-0C2C-493E-9B93-55A62C9C1F12}" dt="2025-12-18T21:01:16.796" v="1498" actId="14100"/>
        <pc:sldMkLst>
          <pc:docMk/>
          <pc:sldMk cId="3790043621" sldId="447"/>
        </pc:sldMkLst>
        <pc:spChg chg="add mod">
          <ac:chgData name="Matthieu De Mari" userId="dfb708c9-d8dc-439f-9a3b-c772bf4a311c" providerId="ADAL" clId="{81E9B007-0C2C-493E-9B93-55A62C9C1F12}" dt="2025-12-18T21:01:16.796" v="1498" actId="14100"/>
          <ac:spMkLst>
            <pc:docMk/>
            <pc:sldMk cId="3790043621" sldId="447"/>
            <ac:spMk id="2" creationId="{D9F1BF25-44AF-96CD-3D22-6DFB8468D505}"/>
          </ac:spMkLst>
        </pc:spChg>
      </pc:sldChg>
      <pc:sldChg chg="modSp mod">
        <pc:chgData name="Matthieu De Mari" userId="dfb708c9-d8dc-439f-9a3b-c772bf4a311c" providerId="ADAL" clId="{81E9B007-0C2C-493E-9B93-55A62C9C1F12}" dt="2025-12-18T21:02:24.446" v="1500" actId="5793"/>
        <pc:sldMkLst>
          <pc:docMk/>
          <pc:sldMk cId="2001651259" sldId="456"/>
        </pc:sldMkLst>
        <pc:spChg chg="mod">
          <ac:chgData name="Matthieu De Mari" userId="dfb708c9-d8dc-439f-9a3b-c772bf4a311c" providerId="ADAL" clId="{81E9B007-0C2C-493E-9B93-55A62C9C1F12}" dt="2025-12-18T21:02:24.446" v="1500" actId="5793"/>
          <ac:spMkLst>
            <pc:docMk/>
            <pc:sldMk cId="2001651259" sldId="456"/>
            <ac:spMk id="4" creationId="{ADB51212-91C2-7F91-BA3D-6836564C1BC7}"/>
          </ac:spMkLst>
        </pc:spChg>
      </pc:sldChg>
      <pc:sldChg chg="modSp">
        <pc:chgData name="Matthieu De Mari" userId="dfb708c9-d8dc-439f-9a3b-c772bf4a311c" providerId="ADAL" clId="{81E9B007-0C2C-493E-9B93-55A62C9C1F12}" dt="2025-12-18T21:03:35.459" v="1566" actId="20577"/>
        <pc:sldMkLst>
          <pc:docMk/>
          <pc:sldMk cId="3208006571" sldId="460"/>
        </pc:sldMkLst>
        <pc:spChg chg="mod">
          <ac:chgData name="Matthieu De Mari" userId="dfb708c9-d8dc-439f-9a3b-c772bf4a311c" providerId="ADAL" clId="{81E9B007-0C2C-493E-9B93-55A62C9C1F12}" dt="2025-12-18T21:03:35.459" v="1566" actId="20577"/>
          <ac:spMkLst>
            <pc:docMk/>
            <pc:sldMk cId="3208006571" sldId="460"/>
            <ac:spMk id="4" creationId="{D6FC8E3E-422C-DDA8-8AEA-BAC629653399}"/>
          </ac:spMkLst>
        </pc:spChg>
      </pc:sldChg>
      <pc:sldChg chg="modSp mod">
        <pc:chgData name="Matthieu De Mari" userId="dfb708c9-d8dc-439f-9a3b-c772bf4a311c" providerId="ADAL" clId="{81E9B007-0C2C-493E-9B93-55A62C9C1F12}" dt="2025-12-18T21:04:19.318" v="1575" actId="20577"/>
        <pc:sldMkLst>
          <pc:docMk/>
          <pc:sldMk cId="1662747536" sldId="466"/>
        </pc:sldMkLst>
        <pc:spChg chg="mod">
          <ac:chgData name="Matthieu De Mari" userId="dfb708c9-d8dc-439f-9a3b-c772bf4a311c" providerId="ADAL" clId="{81E9B007-0C2C-493E-9B93-55A62C9C1F12}" dt="2025-12-18T21:04:19.318" v="1575" actId="20577"/>
          <ac:spMkLst>
            <pc:docMk/>
            <pc:sldMk cId="1662747536" sldId="466"/>
            <ac:spMk id="11" creationId="{FC3B1AF6-3090-2218-738E-B02F4E0E9B29}"/>
          </ac:spMkLst>
        </pc:spChg>
      </pc:sldChg>
      <pc:sldChg chg="modSp mod">
        <pc:chgData name="Matthieu De Mari" userId="dfb708c9-d8dc-439f-9a3b-c772bf4a311c" providerId="ADAL" clId="{81E9B007-0C2C-493E-9B93-55A62C9C1F12}" dt="2025-12-18T21:04:35.071" v="1594" actId="20577"/>
        <pc:sldMkLst>
          <pc:docMk/>
          <pc:sldMk cId="3978195590" sldId="467"/>
        </pc:sldMkLst>
        <pc:spChg chg="mod">
          <ac:chgData name="Matthieu De Mari" userId="dfb708c9-d8dc-439f-9a3b-c772bf4a311c" providerId="ADAL" clId="{81E9B007-0C2C-493E-9B93-55A62C9C1F12}" dt="2025-12-18T21:04:35.071" v="1594" actId="20577"/>
          <ac:spMkLst>
            <pc:docMk/>
            <pc:sldMk cId="3978195590" sldId="467"/>
            <ac:spMk id="11" creationId="{FC3B1AF6-3090-2218-738E-B02F4E0E9B29}"/>
          </ac:spMkLst>
        </pc:spChg>
      </pc:sldChg>
      <pc:sldChg chg="modSp">
        <pc:chgData name="Matthieu De Mari" userId="dfb708c9-d8dc-439f-9a3b-c772bf4a311c" providerId="ADAL" clId="{81E9B007-0C2C-493E-9B93-55A62C9C1F12}" dt="2025-12-18T21:05:03.594" v="1596"/>
        <pc:sldMkLst>
          <pc:docMk/>
          <pc:sldMk cId="4234188287" sldId="470"/>
        </pc:sldMkLst>
        <pc:spChg chg="mod">
          <ac:chgData name="Matthieu De Mari" userId="dfb708c9-d8dc-439f-9a3b-c772bf4a311c" providerId="ADAL" clId="{81E9B007-0C2C-493E-9B93-55A62C9C1F12}" dt="2025-12-18T21:05:03.594" v="1596"/>
          <ac:spMkLst>
            <pc:docMk/>
            <pc:sldMk cId="4234188287" sldId="470"/>
            <ac:spMk id="3" creationId="{71F22B87-451A-08A2-1021-B8B6CA607DEA}"/>
          </ac:spMkLst>
        </pc:spChg>
      </pc:sldChg>
      <pc:sldChg chg="modSp mod">
        <pc:chgData name="Matthieu De Mari" userId="dfb708c9-d8dc-439f-9a3b-c772bf4a311c" providerId="ADAL" clId="{81E9B007-0C2C-493E-9B93-55A62C9C1F12}" dt="2025-12-18T21:05:36.389" v="1651" actId="20577"/>
        <pc:sldMkLst>
          <pc:docMk/>
          <pc:sldMk cId="3553295801" sldId="471"/>
        </pc:sldMkLst>
        <pc:spChg chg="mod">
          <ac:chgData name="Matthieu De Mari" userId="dfb708c9-d8dc-439f-9a3b-c772bf4a311c" providerId="ADAL" clId="{81E9B007-0C2C-493E-9B93-55A62C9C1F12}" dt="2025-12-18T21:05:36.389" v="1651" actId="20577"/>
          <ac:spMkLst>
            <pc:docMk/>
            <pc:sldMk cId="3553295801" sldId="471"/>
            <ac:spMk id="2" creationId="{62A03694-FC87-4F8C-E035-C3C81CBCE66C}"/>
          </ac:spMkLst>
        </pc:spChg>
      </pc:sldChg>
      <pc:sldChg chg="modSp mod">
        <pc:chgData name="Matthieu De Mari" userId="dfb708c9-d8dc-439f-9a3b-c772bf4a311c" providerId="ADAL" clId="{81E9B007-0C2C-493E-9B93-55A62C9C1F12}" dt="2025-12-18T21:06:00.466" v="1664" actId="20577"/>
        <pc:sldMkLst>
          <pc:docMk/>
          <pc:sldMk cId="2072133245" sldId="472"/>
        </pc:sldMkLst>
        <pc:spChg chg="mod">
          <ac:chgData name="Matthieu De Mari" userId="dfb708c9-d8dc-439f-9a3b-c772bf4a311c" providerId="ADAL" clId="{81E9B007-0C2C-493E-9B93-55A62C9C1F12}" dt="2025-12-18T21:06:00.466" v="1664" actId="20577"/>
          <ac:spMkLst>
            <pc:docMk/>
            <pc:sldMk cId="2072133245" sldId="472"/>
            <ac:spMk id="4" creationId="{C5B59CD9-14A1-20FA-6AC6-9BDA7E169C7B}"/>
          </ac:spMkLst>
        </pc:spChg>
      </pc:sldChg>
      <pc:sldChg chg="modSp mod">
        <pc:chgData name="Matthieu De Mari" userId="dfb708c9-d8dc-439f-9a3b-c772bf4a311c" providerId="ADAL" clId="{81E9B007-0C2C-493E-9B93-55A62C9C1F12}" dt="2025-12-18T19:56:25.798" v="979" actId="207"/>
        <pc:sldMkLst>
          <pc:docMk/>
          <pc:sldMk cId="3811521726" sldId="536"/>
        </pc:sldMkLst>
        <pc:spChg chg="mod">
          <ac:chgData name="Matthieu De Mari" userId="dfb708c9-d8dc-439f-9a3b-c772bf4a311c" providerId="ADAL" clId="{81E9B007-0C2C-493E-9B93-55A62C9C1F12}" dt="2025-12-18T19:56:25.798" v="979" actId="207"/>
          <ac:spMkLst>
            <pc:docMk/>
            <pc:sldMk cId="3811521726" sldId="536"/>
            <ac:spMk id="3" creationId="{F9359CBB-2BA1-6409-CE17-97C6B596059A}"/>
          </ac:spMkLst>
        </pc:spChg>
      </pc:sldChg>
      <pc:sldChg chg="del">
        <pc:chgData name="Matthieu De Mari" userId="dfb708c9-d8dc-439f-9a3b-c772bf4a311c" providerId="ADAL" clId="{81E9B007-0C2C-493E-9B93-55A62C9C1F12}" dt="2026-01-14T07:52:35.606" v="1848" actId="47"/>
        <pc:sldMkLst>
          <pc:docMk/>
          <pc:sldMk cId="2886371905" sldId="545"/>
        </pc:sldMkLst>
      </pc:sldChg>
      <pc:sldChg chg="addSp delSp modSp del mod">
        <pc:chgData name="Matthieu De Mari" userId="dfb708c9-d8dc-439f-9a3b-c772bf4a311c" providerId="ADAL" clId="{81E9B007-0C2C-493E-9B93-55A62C9C1F12}" dt="2026-01-14T07:52:43.810" v="1852" actId="47"/>
        <pc:sldMkLst>
          <pc:docMk/>
          <pc:sldMk cId="119000326" sldId="546"/>
        </pc:sldMkLst>
        <pc:spChg chg="del">
          <ac:chgData name="Matthieu De Mari" userId="dfb708c9-d8dc-439f-9a3b-c772bf4a311c" providerId="ADAL" clId="{81E9B007-0C2C-493E-9B93-55A62C9C1F12}" dt="2026-01-14T07:52:38.559" v="1849" actId="478"/>
          <ac:spMkLst>
            <pc:docMk/>
            <pc:sldMk cId="119000326" sldId="546"/>
            <ac:spMk id="4" creationId="{E0B60D52-18D8-0670-3A0B-D35A0B366FDC}"/>
          </ac:spMkLst>
        </pc:spChg>
        <pc:spChg chg="add del mod">
          <ac:chgData name="Matthieu De Mari" userId="dfb708c9-d8dc-439f-9a3b-c772bf4a311c" providerId="ADAL" clId="{81E9B007-0C2C-493E-9B93-55A62C9C1F12}" dt="2026-01-14T07:52:39.392" v="1850" actId="478"/>
          <ac:spMkLst>
            <pc:docMk/>
            <pc:sldMk cId="119000326" sldId="546"/>
            <ac:spMk id="5" creationId="{CFF9846A-69EA-74D2-67C0-5E3D2FB11CDF}"/>
          </ac:spMkLst>
        </pc:spChg>
      </pc:sldChg>
      <pc:sldChg chg="add del">
        <pc:chgData name="Matthieu De Mari" userId="dfb708c9-d8dc-439f-9a3b-c772bf4a311c" providerId="ADAL" clId="{81E9B007-0C2C-493E-9B93-55A62C9C1F12}" dt="2026-01-14T07:51:31.572" v="1815" actId="47"/>
        <pc:sldMkLst>
          <pc:docMk/>
          <pc:sldMk cId="61462048" sldId="549"/>
        </pc:sldMkLst>
      </pc:sldChg>
      <pc:sldChg chg="addSp delSp modSp add mod">
        <pc:chgData name="Matthieu De Mari" userId="dfb708c9-d8dc-439f-9a3b-c772bf4a311c" providerId="ADAL" clId="{81E9B007-0C2C-493E-9B93-55A62C9C1F12}" dt="2026-01-14T07:52:04.516" v="1847" actId="20577"/>
        <pc:sldMkLst>
          <pc:docMk/>
          <pc:sldMk cId="117647756" sldId="550"/>
        </pc:sldMkLst>
        <pc:spChg chg="mod">
          <ac:chgData name="Matthieu De Mari" userId="dfb708c9-d8dc-439f-9a3b-c772bf4a311c" providerId="ADAL" clId="{81E9B007-0C2C-493E-9B93-55A62C9C1F12}" dt="2026-01-14T07:52:04.516" v="1847" actId="20577"/>
          <ac:spMkLst>
            <pc:docMk/>
            <pc:sldMk cId="117647756" sldId="550"/>
            <ac:spMk id="13" creationId="{C88CA437-D2F8-2CB0-563E-C1BE9DE281AA}"/>
          </ac:spMkLst>
        </pc:spChg>
        <pc:picChg chg="del">
          <ac:chgData name="Matthieu De Mari" userId="dfb708c9-d8dc-439f-9a3b-c772bf4a311c" providerId="ADAL" clId="{81E9B007-0C2C-493E-9B93-55A62C9C1F12}" dt="2026-01-14T07:51:23.510" v="1809" actId="478"/>
          <ac:picMkLst>
            <pc:docMk/>
            <pc:sldMk cId="117647756" sldId="550"/>
            <ac:picMk id="3" creationId="{5B95CB7C-3C81-5233-F0AE-4840D878E187}"/>
          </ac:picMkLst>
        </pc:picChg>
        <pc:picChg chg="add mod">
          <ac:chgData name="Matthieu De Mari" userId="dfb708c9-d8dc-439f-9a3b-c772bf4a311c" providerId="ADAL" clId="{81E9B007-0C2C-493E-9B93-55A62C9C1F12}" dt="2026-01-14T07:51:27.523" v="1813" actId="1076"/>
          <ac:picMkLst>
            <pc:docMk/>
            <pc:sldMk cId="117647756" sldId="550"/>
            <ac:picMk id="4" creationId="{53644A91-A70B-F34E-6F82-F2AF1F827CE0}"/>
          </ac:picMkLst>
        </pc:picChg>
      </pc:sldChg>
      <pc:sldChg chg="delSp modSp add mod">
        <pc:chgData name="Matthieu De Mari" userId="dfb708c9-d8dc-439f-9a3b-c772bf4a311c" providerId="ADAL" clId="{81E9B007-0C2C-493E-9B93-55A62C9C1F12}" dt="2026-01-14T07:52:55.101" v="1860" actId="478"/>
        <pc:sldMkLst>
          <pc:docMk/>
          <pc:sldMk cId="1509591385" sldId="551"/>
        </pc:sldMkLst>
        <pc:spChg chg="mod">
          <ac:chgData name="Matthieu De Mari" userId="dfb708c9-d8dc-439f-9a3b-c772bf4a311c" providerId="ADAL" clId="{81E9B007-0C2C-493E-9B93-55A62C9C1F12}" dt="2026-01-14T07:52:53.728" v="1859" actId="20577"/>
          <ac:spMkLst>
            <pc:docMk/>
            <pc:sldMk cId="1509591385" sldId="551"/>
            <ac:spMk id="13" creationId="{65BFD3FD-703A-C67B-198F-FF0A8F9EB273}"/>
          </ac:spMkLst>
        </pc:spChg>
        <pc:picChg chg="del">
          <ac:chgData name="Matthieu De Mari" userId="dfb708c9-d8dc-439f-9a3b-c772bf4a311c" providerId="ADAL" clId="{81E9B007-0C2C-493E-9B93-55A62C9C1F12}" dt="2026-01-14T07:52:55.101" v="1860" actId="478"/>
          <ac:picMkLst>
            <pc:docMk/>
            <pc:sldMk cId="1509591385" sldId="551"/>
            <ac:picMk id="4" creationId="{E2811D02-F3A0-880C-038A-A139C64C67C8}"/>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9CD5B6-2E69-4C73-B794-76F70FDB2A55}"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SG"/>
        </a:p>
      </dgm:t>
    </dgm:pt>
    <dgm:pt modelId="{104306D0-3A8A-49FB-B4F7-483AEE3B08E8}">
      <dgm:prSet phldrT="[Text]"/>
      <dgm:spPr/>
      <dgm:t>
        <a:bodyPr/>
        <a:lstStyle/>
        <a:p>
          <a:r>
            <a:rPr lang="en-GB" dirty="0"/>
            <a:t>Artificial intelligence</a:t>
          </a:r>
          <a:endParaRPr lang="en-SG" dirty="0"/>
        </a:p>
      </dgm:t>
    </dgm:pt>
    <dgm:pt modelId="{D52E967E-1588-44E9-B2EA-3A8EEF4F0001}" type="parTrans" cxnId="{FD34B811-D5B8-4964-B1EA-E7A8B7F54E19}">
      <dgm:prSet/>
      <dgm:spPr/>
      <dgm:t>
        <a:bodyPr/>
        <a:lstStyle/>
        <a:p>
          <a:endParaRPr lang="en-SG"/>
        </a:p>
      </dgm:t>
    </dgm:pt>
    <dgm:pt modelId="{EDFAEF29-F7A1-4665-97EA-CC41F5304347}" type="sibTrans" cxnId="{FD34B811-D5B8-4964-B1EA-E7A8B7F54E19}">
      <dgm:prSet/>
      <dgm:spPr/>
      <dgm:t>
        <a:bodyPr/>
        <a:lstStyle/>
        <a:p>
          <a:endParaRPr lang="en-SG"/>
        </a:p>
      </dgm:t>
    </dgm:pt>
    <dgm:pt modelId="{EED824A5-E231-46F4-88C7-DB795B0C840F}">
      <dgm:prSet phldrT="[Text]"/>
      <dgm:spPr/>
      <dgm:t>
        <a:bodyPr/>
        <a:lstStyle/>
        <a:p>
          <a:r>
            <a:rPr lang="en-GB" dirty="0"/>
            <a:t>Machine Learning</a:t>
          </a:r>
          <a:endParaRPr lang="en-SG" dirty="0"/>
        </a:p>
      </dgm:t>
    </dgm:pt>
    <dgm:pt modelId="{5C50D54F-9828-42E9-B013-F9C4AF23B0DE}" type="parTrans" cxnId="{8C4BEA51-C5BC-4BE5-B7A1-3C6EB014CE5F}">
      <dgm:prSet/>
      <dgm:spPr/>
      <dgm:t>
        <a:bodyPr/>
        <a:lstStyle/>
        <a:p>
          <a:endParaRPr lang="en-SG"/>
        </a:p>
      </dgm:t>
    </dgm:pt>
    <dgm:pt modelId="{CC992ECD-F8D0-464D-ACCE-131CCEDCD9DC}" type="sibTrans" cxnId="{8C4BEA51-C5BC-4BE5-B7A1-3C6EB014CE5F}">
      <dgm:prSet/>
      <dgm:spPr/>
      <dgm:t>
        <a:bodyPr/>
        <a:lstStyle/>
        <a:p>
          <a:endParaRPr lang="en-SG"/>
        </a:p>
      </dgm:t>
    </dgm:pt>
    <dgm:pt modelId="{BCE4C676-D709-46D1-AC02-4CDFDA47C515}">
      <dgm:prSet phldrT="[Text]"/>
      <dgm:spPr/>
      <dgm:t>
        <a:bodyPr/>
        <a:lstStyle/>
        <a:p>
          <a:r>
            <a:rPr lang="en-GB" dirty="0"/>
            <a:t>Neural Networks</a:t>
          </a:r>
          <a:endParaRPr lang="en-SG" dirty="0"/>
        </a:p>
      </dgm:t>
    </dgm:pt>
    <dgm:pt modelId="{A83AE9C8-973A-4B9D-B81C-DD68D07C2DFE}" type="parTrans" cxnId="{E5066507-AEC8-4CD6-9767-3A5D4E8B4D44}">
      <dgm:prSet/>
      <dgm:spPr/>
      <dgm:t>
        <a:bodyPr/>
        <a:lstStyle/>
        <a:p>
          <a:endParaRPr lang="en-SG"/>
        </a:p>
      </dgm:t>
    </dgm:pt>
    <dgm:pt modelId="{4C719ABB-8AAC-4615-9F42-64DD8BB3E053}" type="sibTrans" cxnId="{E5066507-AEC8-4CD6-9767-3A5D4E8B4D44}">
      <dgm:prSet/>
      <dgm:spPr/>
      <dgm:t>
        <a:bodyPr/>
        <a:lstStyle/>
        <a:p>
          <a:endParaRPr lang="en-SG"/>
        </a:p>
      </dgm:t>
    </dgm:pt>
    <dgm:pt modelId="{2AAAFBF7-83C7-479D-AC65-8C3488A6BFA8}">
      <dgm:prSet phldrT="[Text]"/>
      <dgm:spPr/>
      <dgm:t>
        <a:bodyPr/>
        <a:lstStyle/>
        <a:p>
          <a:r>
            <a:rPr lang="en-GB" dirty="0"/>
            <a:t>Deep Learning</a:t>
          </a:r>
          <a:endParaRPr lang="en-SG" dirty="0"/>
        </a:p>
      </dgm:t>
    </dgm:pt>
    <dgm:pt modelId="{A4467761-A0D9-4C09-9CA6-E346179BEDC8}" type="parTrans" cxnId="{CA957AA7-A0E1-49EE-BF60-5E25628389CD}">
      <dgm:prSet/>
      <dgm:spPr/>
      <dgm:t>
        <a:bodyPr/>
        <a:lstStyle/>
        <a:p>
          <a:endParaRPr lang="en-SG"/>
        </a:p>
      </dgm:t>
    </dgm:pt>
    <dgm:pt modelId="{E62172F1-3B23-43C3-96D2-C8E794DA35A0}" type="sibTrans" cxnId="{CA957AA7-A0E1-49EE-BF60-5E25628389CD}">
      <dgm:prSet/>
      <dgm:spPr/>
      <dgm:t>
        <a:bodyPr/>
        <a:lstStyle/>
        <a:p>
          <a:endParaRPr lang="en-SG"/>
        </a:p>
      </dgm:t>
    </dgm:pt>
    <dgm:pt modelId="{03DE1D20-29E8-4FA1-B5F1-5C555DDB98A1}" type="pres">
      <dgm:prSet presAssocID="{159CD5B6-2E69-4C73-B794-76F70FDB2A55}" presName="Name0" presStyleCnt="0">
        <dgm:presLayoutVars>
          <dgm:chMax val="7"/>
          <dgm:dir/>
          <dgm:animLvl val="lvl"/>
          <dgm:resizeHandles val="exact"/>
        </dgm:presLayoutVars>
      </dgm:prSet>
      <dgm:spPr/>
    </dgm:pt>
    <dgm:pt modelId="{49603298-A817-4B69-A7CC-ACE624EE54EB}" type="pres">
      <dgm:prSet presAssocID="{104306D0-3A8A-49FB-B4F7-483AEE3B08E8}" presName="circle1" presStyleLbl="node1" presStyleIdx="0" presStyleCnt="4"/>
      <dgm:spPr/>
    </dgm:pt>
    <dgm:pt modelId="{ACED1C0C-8BDF-406E-A4FB-C18C62C53904}" type="pres">
      <dgm:prSet presAssocID="{104306D0-3A8A-49FB-B4F7-483AEE3B08E8}" presName="space" presStyleCnt="0"/>
      <dgm:spPr/>
    </dgm:pt>
    <dgm:pt modelId="{4B64177B-3AAD-407C-81EB-47E5DE27D2FD}" type="pres">
      <dgm:prSet presAssocID="{104306D0-3A8A-49FB-B4F7-483AEE3B08E8}" presName="rect1" presStyleLbl="alignAcc1" presStyleIdx="0" presStyleCnt="4" custLinFactX="49537" custLinFactNeighborX="100000" custLinFactNeighborY="-63851"/>
      <dgm:spPr/>
    </dgm:pt>
    <dgm:pt modelId="{692DD63C-0FF1-4F35-893E-4F53D083F70B}" type="pres">
      <dgm:prSet presAssocID="{EED824A5-E231-46F4-88C7-DB795B0C840F}" presName="vertSpace2" presStyleLbl="node1" presStyleIdx="0" presStyleCnt="4"/>
      <dgm:spPr/>
    </dgm:pt>
    <dgm:pt modelId="{82D0C9BC-AB35-41ED-B5AA-19E1A0BC3DB9}" type="pres">
      <dgm:prSet presAssocID="{EED824A5-E231-46F4-88C7-DB795B0C840F}" presName="circle2" presStyleLbl="node1" presStyleIdx="1" presStyleCnt="4"/>
      <dgm:spPr/>
    </dgm:pt>
    <dgm:pt modelId="{0EF61DF8-F923-4D5C-8375-DF1BCAF7B5F6}" type="pres">
      <dgm:prSet presAssocID="{EED824A5-E231-46F4-88C7-DB795B0C840F}" presName="rect2" presStyleLbl="alignAcc1" presStyleIdx="1" presStyleCnt="4"/>
      <dgm:spPr/>
    </dgm:pt>
    <dgm:pt modelId="{B680FBA8-38B0-43B6-9489-BD39087633B2}" type="pres">
      <dgm:prSet presAssocID="{BCE4C676-D709-46D1-AC02-4CDFDA47C515}" presName="vertSpace3" presStyleLbl="node1" presStyleIdx="1" presStyleCnt="4"/>
      <dgm:spPr/>
    </dgm:pt>
    <dgm:pt modelId="{D6E232F9-A506-41A3-9B36-CE9DEC8D4034}" type="pres">
      <dgm:prSet presAssocID="{BCE4C676-D709-46D1-AC02-4CDFDA47C515}" presName="circle3" presStyleLbl="node1" presStyleIdx="2" presStyleCnt="4"/>
      <dgm:spPr/>
    </dgm:pt>
    <dgm:pt modelId="{D0639CE7-4EB7-41D0-82BF-E6CBF2145603}" type="pres">
      <dgm:prSet presAssocID="{BCE4C676-D709-46D1-AC02-4CDFDA47C515}" presName="rect3" presStyleLbl="alignAcc1" presStyleIdx="2" presStyleCnt="4"/>
      <dgm:spPr/>
    </dgm:pt>
    <dgm:pt modelId="{AF318DB6-73F6-4E86-B3D7-B7AE913E339A}" type="pres">
      <dgm:prSet presAssocID="{2AAAFBF7-83C7-479D-AC65-8C3488A6BFA8}" presName="vertSpace4" presStyleLbl="node1" presStyleIdx="2" presStyleCnt="4"/>
      <dgm:spPr/>
    </dgm:pt>
    <dgm:pt modelId="{DBC2DDC1-AE94-4F82-BDDC-398D3F9B144A}" type="pres">
      <dgm:prSet presAssocID="{2AAAFBF7-83C7-479D-AC65-8C3488A6BFA8}" presName="circle4" presStyleLbl="node1" presStyleIdx="3" presStyleCnt="4"/>
      <dgm:spPr/>
    </dgm:pt>
    <dgm:pt modelId="{C32C61C9-97BE-43E6-94DF-2C93AA227736}" type="pres">
      <dgm:prSet presAssocID="{2AAAFBF7-83C7-479D-AC65-8C3488A6BFA8}" presName="rect4" presStyleLbl="alignAcc1" presStyleIdx="3" presStyleCnt="4"/>
      <dgm:spPr/>
    </dgm:pt>
    <dgm:pt modelId="{A32EB1EA-449B-48C9-8704-957B4DD88C1A}" type="pres">
      <dgm:prSet presAssocID="{104306D0-3A8A-49FB-B4F7-483AEE3B08E8}" presName="rect1ParTxNoCh" presStyleLbl="alignAcc1" presStyleIdx="3" presStyleCnt="4">
        <dgm:presLayoutVars>
          <dgm:chMax val="1"/>
          <dgm:bulletEnabled val="1"/>
        </dgm:presLayoutVars>
      </dgm:prSet>
      <dgm:spPr/>
    </dgm:pt>
    <dgm:pt modelId="{25AF7C3F-C9D5-49B3-966D-C9BE736AAA6D}" type="pres">
      <dgm:prSet presAssocID="{EED824A5-E231-46F4-88C7-DB795B0C840F}" presName="rect2ParTxNoCh" presStyleLbl="alignAcc1" presStyleIdx="3" presStyleCnt="4">
        <dgm:presLayoutVars>
          <dgm:chMax val="1"/>
          <dgm:bulletEnabled val="1"/>
        </dgm:presLayoutVars>
      </dgm:prSet>
      <dgm:spPr/>
    </dgm:pt>
    <dgm:pt modelId="{D9F42932-1A8D-44DC-A481-2E68B1C8C205}" type="pres">
      <dgm:prSet presAssocID="{BCE4C676-D709-46D1-AC02-4CDFDA47C515}" presName="rect3ParTxNoCh" presStyleLbl="alignAcc1" presStyleIdx="3" presStyleCnt="4">
        <dgm:presLayoutVars>
          <dgm:chMax val="1"/>
          <dgm:bulletEnabled val="1"/>
        </dgm:presLayoutVars>
      </dgm:prSet>
      <dgm:spPr/>
    </dgm:pt>
    <dgm:pt modelId="{482B82DC-F7FE-4673-9C60-BFEB7B895B63}" type="pres">
      <dgm:prSet presAssocID="{2AAAFBF7-83C7-479D-AC65-8C3488A6BFA8}" presName="rect4ParTxNoCh" presStyleLbl="alignAcc1" presStyleIdx="3" presStyleCnt="4">
        <dgm:presLayoutVars>
          <dgm:chMax val="1"/>
          <dgm:bulletEnabled val="1"/>
        </dgm:presLayoutVars>
      </dgm:prSet>
      <dgm:spPr/>
    </dgm:pt>
  </dgm:ptLst>
  <dgm:cxnLst>
    <dgm:cxn modelId="{E5066507-AEC8-4CD6-9767-3A5D4E8B4D44}" srcId="{159CD5B6-2E69-4C73-B794-76F70FDB2A55}" destId="{BCE4C676-D709-46D1-AC02-4CDFDA47C515}" srcOrd="2" destOrd="0" parTransId="{A83AE9C8-973A-4B9D-B81C-DD68D07C2DFE}" sibTransId="{4C719ABB-8AAC-4615-9F42-64DD8BB3E053}"/>
    <dgm:cxn modelId="{38B60E0A-3875-4560-ADAF-1D5BD1A2BD6E}" type="presOf" srcId="{2AAAFBF7-83C7-479D-AC65-8C3488A6BFA8}" destId="{482B82DC-F7FE-4673-9C60-BFEB7B895B63}" srcOrd="1" destOrd="0" presId="urn:microsoft.com/office/officeart/2005/8/layout/target3"/>
    <dgm:cxn modelId="{FD34B811-D5B8-4964-B1EA-E7A8B7F54E19}" srcId="{159CD5B6-2E69-4C73-B794-76F70FDB2A55}" destId="{104306D0-3A8A-49FB-B4F7-483AEE3B08E8}" srcOrd="0" destOrd="0" parTransId="{D52E967E-1588-44E9-B2EA-3A8EEF4F0001}" sibTransId="{EDFAEF29-F7A1-4665-97EA-CC41F5304347}"/>
    <dgm:cxn modelId="{048DEE16-1D6F-40FC-B275-9BE7BF460DB1}" type="presOf" srcId="{EED824A5-E231-46F4-88C7-DB795B0C840F}" destId="{0EF61DF8-F923-4D5C-8375-DF1BCAF7B5F6}" srcOrd="0" destOrd="0" presId="urn:microsoft.com/office/officeart/2005/8/layout/target3"/>
    <dgm:cxn modelId="{1132A734-07AE-4970-898A-EAA2463C6CC9}" type="presOf" srcId="{BCE4C676-D709-46D1-AC02-4CDFDA47C515}" destId="{D9F42932-1A8D-44DC-A481-2E68B1C8C205}" srcOrd="1" destOrd="0" presId="urn:microsoft.com/office/officeart/2005/8/layout/target3"/>
    <dgm:cxn modelId="{8C4BEA51-C5BC-4BE5-B7A1-3C6EB014CE5F}" srcId="{159CD5B6-2E69-4C73-B794-76F70FDB2A55}" destId="{EED824A5-E231-46F4-88C7-DB795B0C840F}" srcOrd="1" destOrd="0" parTransId="{5C50D54F-9828-42E9-B013-F9C4AF23B0DE}" sibTransId="{CC992ECD-F8D0-464D-ACCE-131CCEDCD9DC}"/>
    <dgm:cxn modelId="{0393E277-CEFA-4A96-AE8F-B8BD1A9F9FBF}" type="presOf" srcId="{159CD5B6-2E69-4C73-B794-76F70FDB2A55}" destId="{03DE1D20-29E8-4FA1-B5F1-5C555DDB98A1}" srcOrd="0" destOrd="0" presId="urn:microsoft.com/office/officeart/2005/8/layout/target3"/>
    <dgm:cxn modelId="{EC36849D-025A-42F1-AE09-2817278DAC90}" type="presOf" srcId="{104306D0-3A8A-49FB-B4F7-483AEE3B08E8}" destId="{4B64177B-3AAD-407C-81EB-47E5DE27D2FD}" srcOrd="0" destOrd="0" presId="urn:microsoft.com/office/officeart/2005/8/layout/target3"/>
    <dgm:cxn modelId="{CA957AA7-A0E1-49EE-BF60-5E25628389CD}" srcId="{159CD5B6-2E69-4C73-B794-76F70FDB2A55}" destId="{2AAAFBF7-83C7-479D-AC65-8C3488A6BFA8}" srcOrd="3" destOrd="0" parTransId="{A4467761-A0D9-4C09-9CA6-E346179BEDC8}" sibTransId="{E62172F1-3B23-43C3-96D2-C8E794DA35A0}"/>
    <dgm:cxn modelId="{0FF7D9A7-4642-4FC4-8653-51E11E311AB9}" type="presOf" srcId="{2AAAFBF7-83C7-479D-AC65-8C3488A6BFA8}" destId="{C32C61C9-97BE-43E6-94DF-2C93AA227736}" srcOrd="0" destOrd="0" presId="urn:microsoft.com/office/officeart/2005/8/layout/target3"/>
    <dgm:cxn modelId="{543C51B2-2E8A-47BA-93BC-FEB8034F8405}" type="presOf" srcId="{BCE4C676-D709-46D1-AC02-4CDFDA47C515}" destId="{D0639CE7-4EB7-41D0-82BF-E6CBF2145603}" srcOrd="0" destOrd="0" presId="urn:microsoft.com/office/officeart/2005/8/layout/target3"/>
    <dgm:cxn modelId="{5980DBC7-A72B-44A2-9045-B0E166235376}" type="presOf" srcId="{104306D0-3A8A-49FB-B4F7-483AEE3B08E8}" destId="{A32EB1EA-449B-48C9-8704-957B4DD88C1A}" srcOrd="1" destOrd="0" presId="urn:microsoft.com/office/officeart/2005/8/layout/target3"/>
    <dgm:cxn modelId="{04B582EF-9DBA-49DA-A51F-68402758BECA}" type="presOf" srcId="{EED824A5-E231-46F4-88C7-DB795B0C840F}" destId="{25AF7C3F-C9D5-49B3-966D-C9BE736AAA6D}" srcOrd="1" destOrd="0" presId="urn:microsoft.com/office/officeart/2005/8/layout/target3"/>
    <dgm:cxn modelId="{42B90ACC-AB08-4AF3-803F-F5F801BBE95D}" type="presParOf" srcId="{03DE1D20-29E8-4FA1-B5F1-5C555DDB98A1}" destId="{49603298-A817-4B69-A7CC-ACE624EE54EB}" srcOrd="0" destOrd="0" presId="urn:microsoft.com/office/officeart/2005/8/layout/target3"/>
    <dgm:cxn modelId="{83F7434A-3A32-4C5A-A35B-EF17AF155E20}" type="presParOf" srcId="{03DE1D20-29E8-4FA1-B5F1-5C555DDB98A1}" destId="{ACED1C0C-8BDF-406E-A4FB-C18C62C53904}" srcOrd="1" destOrd="0" presId="urn:microsoft.com/office/officeart/2005/8/layout/target3"/>
    <dgm:cxn modelId="{ECDDE5BB-152E-42E1-837B-D1B09AC1BAD9}" type="presParOf" srcId="{03DE1D20-29E8-4FA1-B5F1-5C555DDB98A1}" destId="{4B64177B-3AAD-407C-81EB-47E5DE27D2FD}" srcOrd="2" destOrd="0" presId="urn:microsoft.com/office/officeart/2005/8/layout/target3"/>
    <dgm:cxn modelId="{4BCEAC5C-638D-4D93-860F-99532470697F}" type="presParOf" srcId="{03DE1D20-29E8-4FA1-B5F1-5C555DDB98A1}" destId="{692DD63C-0FF1-4F35-893E-4F53D083F70B}" srcOrd="3" destOrd="0" presId="urn:microsoft.com/office/officeart/2005/8/layout/target3"/>
    <dgm:cxn modelId="{322AC884-0FBB-45A8-8533-599EAEE1E2BC}" type="presParOf" srcId="{03DE1D20-29E8-4FA1-B5F1-5C555DDB98A1}" destId="{82D0C9BC-AB35-41ED-B5AA-19E1A0BC3DB9}" srcOrd="4" destOrd="0" presId="urn:microsoft.com/office/officeart/2005/8/layout/target3"/>
    <dgm:cxn modelId="{917B7D63-7E60-458E-8F90-4782C82802DA}" type="presParOf" srcId="{03DE1D20-29E8-4FA1-B5F1-5C555DDB98A1}" destId="{0EF61DF8-F923-4D5C-8375-DF1BCAF7B5F6}" srcOrd="5" destOrd="0" presId="urn:microsoft.com/office/officeart/2005/8/layout/target3"/>
    <dgm:cxn modelId="{65CD77EA-72DA-4721-96ED-7EDE4C118E9E}" type="presParOf" srcId="{03DE1D20-29E8-4FA1-B5F1-5C555DDB98A1}" destId="{B680FBA8-38B0-43B6-9489-BD39087633B2}" srcOrd="6" destOrd="0" presId="urn:microsoft.com/office/officeart/2005/8/layout/target3"/>
    <dgm:cxn modelId="{5159D7A5-76EF-497F-B7D8-3CF300AC2E60}" type="presParOf" srcId="{03DE1D20-29E8-4FA1-B5F1-5C555DDB98A1}" destId="{D6E232F9-A506-41A3-9B36-CE9DEC8D4034}" srcOrd="7" destOrd="0" presId="urn:microsoft.com/office/officeart/2005/8/layout/target3"/>
    <dgm:cxn modelId="{547F72F9-2F61-496F-8B7F-34BDA10424FC}" type="presParOf" srcId="{03DE1D20-29E8-4FA1-B5F1-5C555DDB98A1}" destId="{D0639CE7-4EB7-41D0-82BF-E6CBF2145603}" srcOrd="8" destOrd="0" presId="urn:microsoft.com/office/officeart/2005/8/layout/target3"/>
    <dgm:cxn modelId="{BDC0B71D-B685-4E70-8846-9A2B29F3261C}" type="presParOf" srcId="{03DE1D20-29E8-4FA1-B5F1-5C555DDB98A1}" destId="{AF318DB6-73F6-4E86-B3D7-B7AE913E339A}" srcOrd="9" destOrd="0" presId="urn:microsoft.com/office/officeart/2005/8/layout/target3"/>
    <dgm:cxn modelId="{C2B30010-A12D-42A2-A855-4C7868F303C7}" type="presParOf" srcId="{03DE1D20-29E8-4FA1-B5F1-5C555DDB98A1}" destId="{DBC2DDC1-AE94-4F82-BDDC-398D3F9B144A}" srcOrd="10" destOrd="0" presId="urn:microsoft.com/office/officeart/2005/8/layout/target3"/>
    <dgm:cxn modelId="{A94408F5-E2B1-4292-830D-0EDC90AA2B76}" type="presParOf" srcId="{03DE1D20-29E8-4FA1-B5F1-5C555DDB98A1}" destId="{C32C61C9-97BE-43E6-94DF-2C93AA227736}" srcOrd="11" destOrd="0" presId="urn:microsoft.com/office/officeart/2005/8/layout/target3"/>
    <dgm:cxn modelId="{B9165EB6-966A-4F84-B51B-86A8F4D9474B}" type="presParOf" srcId="{03DE1D20-29E8-4FA1-B5F1-5C555DDB98A1}" destId="{A32EB1EA-449B-48C9-8704-957B4DD88C1A}" srcOrd="12" destOrd="0" presId="urn:microsoft.com/office/officeart/2005/8/layout/target3"/>
    <dgm:cxn modelId="{D1538CFF-0994-4EE6-B8FC-E7344E59FBCF}" type="presParOf" srcId="{03DE1D20-29E8-4FA1-B5F1-5C555DDB98A1}" destId="{25AF7C3F-C9D5-49B3-966D-C9BE736AAA6D}" srcOrd="13" destOrd="0" presId="urn:microsoft.com/office/officeart/2005/8/layout/target3"/>
    <dgm:cxn modelId="{655DF406-F593-4EC3-A850-94B0D9036F75}" type="presParOf" srcId="{03DE1D20-29E8-4FA1-B5F1-5C555DDB98A1}" destId="{D9F42932-1A8D-44DC-A481-2E68B1C8C205}" srcOrd="14" destOrd="0" presId="urn:microsoft.com/office/officeart/2005/8/layout/target3"/>
    <dgm:cxn modelId="{2D7B08E4-D6AA-45F1-803C-2CC1E620BE1B}" type="presParOf" srcId="{03DE1D20-29E8-4FA1-B5F1-5C555DDB98A1}" destId="{482B82DC-F7FE-4673-9C60-BFEB7B895B63}" srcOrd="15"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E47C97-F4C1-42C6-BEB2-FC13112153AE}" type="doc">
      <dgm:prSet loTypeId="urn:microsoft.com/office/officeart/2005/8/layout/process1" loCatId="process" qsTypeId="urn:microsoft.com/office/officeart/2005/8/quickstyle/simple1" qsCatId="simple" csTypeId="urn:microsoft.com/office/officeart/2005/8/colors/accent1_2" csCatId="accent1" phldr="1"/>
      <dgm:spPr/>
    </dgm:pt>
    <dgm:pt modelId="{5BE86BF3-D341-4155-9484-306A3B20C102}">
      <dgm:prSet phldrT="[Text]"/>
      <dgm:spPr>
        <a:solidFill>
          <a:schemeClr val="accent4">
            <a:lumMod val="75000"/>
          </a:schemeClr>
        </a:solidFill>
      </dgm:spPr>
      <dgm:t>
        <a:bodyPr/>
        <a:lstStyle/>
        <a:p>
          <a:r>
            <a:rPr lang="fr-FR" dirty="0"/>
            <a:t>Input (</a:t>
          </a:r>
          <a:r>
            <a:rPr lang="fr-FR" dirty="0" err="1"/>
            <a:t>Given</a:t>
          </a:r>
          <a:r>
            <a:rPr lang="fr-FR" dirty="0"/>
            <a:t>)</a:t>
          </a:r>
        </a:p>
      </dgm:t>
    </dgm:pt>
    <dgm:pt modelId="{6EB35FA6-7C13-4889-AEB9-1C80013BD367}" type="parTrans" cxnId="{A2076AF0-E5F5-4FEA-8C3A-45FA8AD83D60}">
      <dgm:prSet/>
      <dgm:spPr/>
      <dgm:t>
        <a:bodyPr/>
        <a:lstStyle/>
        <a:p>
          <a:endParaRPr lang="fr-FR"/>
        </a:p>
      </dgm:t>
    </dgm:pt>
    <dgm:pt modelId="{ABB67F8B-DEC3-4D09-9E17-3A37C7506A51}" type="sibTrans" cxnId="{A2076AF0-E5F5-4FEA-8C3A-45FA8AD83D60}">
      <dgm:prSet/>
      <dgm:spPr/>
      <dgm:t>
        <a:bodyPr/>
        <a:lstStyle/>
        <a:p>
          <a:endParaRPr lang="fr-FR"/>
        </a:p>
      </dgm:t>
    </dgm:pt>
    <dgm:pt modelId="{3C134AC3-C6F5-4ABB-8FA1-78D409436E64}">
      <dgm:prSet phldrT="[Text]"/>
      <dgm:spPr>
        <a:solidFill>
          <a:schemeClr val="accent4">
            <a:lumMod val="75000"/>
          </a:schemeClr>
        </a:solidFill>
      </dgm:spPr>
      <dgm:t>
        <a:bodyPr/>
        <a:lstStyle/>
        <a:p>
          <a:r>
            <a:rPr lang="fr-FR" dirty="0" err="1"/>
            <a:t>Function</a:t>
          </a:r>
          <a:endParaRPr lang="fr-FR" dirty="0"/>
        </a:p>
        <a:p>
          <a:r>
            <a:rPr lang="fr-FR" dirty="0"/>
            <a:t>(</a:t>
          </a:r>
          <a:r>
            <a:rPr lang="fr-FR" dirty="0" err="1"/>
            <a:t>Created</a:t>
          </a:r>
          <a:r>
            <a:rPr lang="fr-FR" dirty="0"/>
            <a:t>)</a:t>
          </a:r>
        </a:p>
      </dgm:t>
    </dgm:pt>
    <dgm:pt modelId="{8676FC33-775E-4430-AD1D-0806E3A69C3B}" type="parTrans" cxnId="{BDCE60FB-719B-45D4-8E9C-00C4009E7530}">
      <dgm:prSet/>
      <dgm:spPr/>
      <dgm:t>
        <a:bodyPr/>
        <a:lstStyle/>
        <a:p>
          <a:endParaRPr lang="fr-FR"/>
        </a:p>
      </dgm:t>
    </dgm:pt>
    <dgm:pt modelId="{3DFA66E1-F929-47B6-9416-F195AE18DE4A}" type="sibTrans" cxnId="{BDCE60FB-719B-45D4-8E9C-00C4009E7530}">
      <dgm:prSet/>
      <dgm:spPr/>
      <dgm:t>
        <a:bodyPr/>
        <a:lstStyle/>
        <a:p>
          <a:endParaRPr lang="fr-FR"/>
        </a:p>
      </dgm:t>
    </dgm:pt>
    <dgm:pt modelId="{ED9451A4-6723-4A3E-BB22-0D9B915F5821}">
      <dgm:prSet phldrT="[Text]"/>
      <dgm:spPr>
        <a:solidFill>
          <a:srgbClr val="C00000"/>
        </a:solidFill>
      </dgm:spPr>
      <dgm:t>
        <a:bodyPr/>
        <a:lstStyle/>
        <a:p>
          <a:r>
            <a:rPr lang="fr-FR" dirty="0"/>
            <a:t>Output</a:t>
          </a:r>
        </a:p>
        <a:p>
          <a:r>
            <a:rPr lang="fr-FR" dirty="0"/>
            <a:t>(</a:t>
          </a:r>
          <a:r>
            <a:rPr lang="fr-FR" dirty="0" err="1"/>
            <a:t>Obtained</a:t>
          </a:r>
          <a:r>
            <a:rPr lang="fr-FR" dirty="0"/>
            <a:t>)</a:t>
          </a:r>
        </a:p>
      </dgm:t>
    </dgm:pt>
    <dgm:pt modelId="{C9961E67-019C-48A8-953D-6DB9DBD191D6}" type="parTrans" cxnId="{E93A3E40-822A-49E3-BB7F-9F11F45D10D2}">
      <dgm:prSet/>
      <dgm:spPr/>
      <dgm:t>
        <a:bodyPr/>
        <a:lstStyle/>
        <a:p>
          <a:endParaRPr lang="fr-FR"/>
        </a:p>
      </dgm:t>
    </dgm:pt>
    <dgm:pt modelId="{F4CD8F25-0B8B-4356-8181-23C92E32B6F4}" type="sibTrans" cxnId="{E93A3E40-822A-49E3-BB7F-9F11F45D10D2}">
      <dgm:prSet/>
      <dgm:spPr/>
      <dgm:t>
        <a:bodyPr/>
        <a:lstStyle/>
        <a:p>
          <a:endParaRPr lang="fr-FR"/>
        </a:p>
      </dgm:t>
    </dgm:pt>
    <dgm:pt modelId="{64323CED-4B76-470C-968C-F1E81F93F046}" type="pres">
      <dgm:prSet presAssocID="{66E47C97-F4C1-42C6-BEB2-FC13112153AE}" presName="Name0" presStyleCnt="0">
        <dgm:presLayoutVars>
          <dgm:dir/>
          <dgm:resizeHandles val="exact"/>
        </dgm:presLayoutVars>
      </dgm:prSet>
      <dgm:spPr/>
    </dgm:pt>
    <dgm:pt modelId="{83E38CBC-CC3E-40D3-B584-F97F97FA64F6}" type="pres">
      <dgm:prSet presAssocID="{5BE86BF3-D341-4155-9484-306A3B20C102}" presName="node" presStyleLbl="node1" presStyleIdx="0" presStyleCnt="3">
        <dgm:presLayoutVars>
          <dgm:bulletEnabled val="1"/>
        </dgm:presLayoutVars>
      </dgm:prSet>
      <dgm:spPr/>
    </dgm:pt>
    <dgm:pt modelId="{5CD182C0-800E-432C-8B73-854A903CC72D}" type="pres">
      <dgm:prSet presAssocID="{ABB67F8B-DEC3-4D09-9E17-3A37C7506A51}" presName="sibTrans" presStyleLbl="sibTrans2D1" presStyleIdx="0" presStyleCnt="2"/>
      <dgm:spPr/>
    </dgm:pt>
    <dgm:pt modelId="{D8051973-2211-4448-A4B9-4F6B25297EDD}" type="pres">
      <dgm:prSet presAssocID="{ABB67F8B-DEC3-4D09-9E17-3A37C7506A51}" presName="connectorText" presStyleLbl="sibTrans2D1" presStyleIdx="0" presStyleCnt="2"/>
      <dgm:spPr/>
    </dgm:pt>
    <dgm:pt modelId="{3C5C6723-04AD-4C68-9F49-07CB9D90BE94}" type="pres">
      <dgm:prSet presAssocID="{3C134AC3-C6F5-4ABB-8FA1-78D409436E64}" presName="node" presStyleLbl="node1" presStyleIdx="1" presStyleCnt="3">
        <dgm:presLayoutVars>
          <dgm:bulletEnabled val="1"/>
        </dgm:presLayoutVars>
      </dgm:prSet>
      <dgm:spPr/>
    </dgm:pt>
    <dgm:pt modelId="{612254E6-4C17-4782-95A1-649BB671D6BB}" type="pres">
      <dgm:prSet presAssocID="{3DFA66E1-F929-47B6-9416-F195AE18DE4A}" presName="sibTrans" presStyleLbl="sibTrans2D1" presStyleIdx="1" presStyleCnt="2"/>
      <dgm:spPr/>
    </dgm:pt>
    <dgm:pt modelId="{6DAE01C6-F71E-4AF2-99DB-1214DCF063A6}" type="pres">
      <dgm:prSet presAssocID="{3DFA66E1-F929-47B6-9416-F195AE18DE4A}" presName="connectorText" presStyleLbl="sibTrans2D1" presStyleIdx="1" presStyleCnt="2"/>
      <dgm:spPr/>
    </dgm:pt>
    <dgm:pt modelId="{04100F71-2CD1-4228-86AA-477CAA37CF23}" type="pres">
      <dgm:prSet presAssocID="{ED9451A4-6723-4A3E-BB22-0D9B915F5821}" presName="node" presStyleLbl="node1" presStyleIdx="2" presStyleCnt="3">
        <dgm:presLayoutVars>
          <dgm:bulletEnabled val="1"/>
        </dgm:presLayoutVars>
      </dgm:prSet>
      <dgm:spPr/>
    </dgm:pt>
  </dgm:ptLst>
  <dgm:cxnLst>
    <dgm:cxn modelId="{D4637A09-D4EC-4E7F-9777-0A233ABD818D}" type="presOf" srcId="{ABB67F8B-DEC3-4D09-9E17-3A37C7506A51}" destId="{D8051973-2211-4448-A4B9-4F6B25297EDD}" srcOrd="1" destOrd="0" presId="urn:microsoft.com/office/officeart/2005/8/layout/process1"/>
    <dgm:cxn modelId="{C748F50C-14D1-4A5D-8190-9B27234876CD}" type="presOf" srcId="{ED9451A4-6723-4A3E-BB22-0D9B915F5821}" destId="{04100F71-2CD1-4228-86AA-477CAA37CF23}" srcOrd="0" destOrd="0" presId="urn:microsoft.com/office/officeart/2005/8/layout/process1"/>
    <dgm:cxn modelId="{0035093C-C95E-43D8-B326-8EBC6C670E0C}" type="presOf" srcId="{3C134AC3-C6F5-4ABB-8FA1-78D409436E64}" destId="{3C5C6723-04AD-4C68-9F49-07CB9D90BE94}" srcOrd="0" destOrd="0" presId="urn:microsoft.com/office/officeart/2005/8/layout/process1"/>
    <dgm:cxn modelId="{E93A3E40-822A-49E3-BB7F-9F11F45D10D2}" srcId="{66E47C97-F4C1-42C6-BEB2-FC13112153AE}" destId="{ED9451A4-6723-4A3E-BB22-0D9B915F5821}" srcOrd="2" destOrd="0" parTransId="{C9961E67-019C-48A8-953D-6DB9DBD191D6}" sibTransId="{F4CD8F25-0B8B-4356-8181-23C92E32B6F4}"/>
    <dgm:cxn modelId="{89B69F4B-629A-4A33-B31E-A94DEBFA9690}" type="presOf" srcId="{ABB67F8B-DEC3-4D09-9E17-3A37C7506A51}" destId="{5CD182C0-800E-432C-8B73-854A903CC72D}" srcOrd="0" destOrd="0" presId="urn:microsoft.com/office/officeart/2005/8/layout/process1"/>
    <dgm:cxn modelId="{53E70178-87C5-43FA-90D1-FFD0D01BA7AD}" type="presOf" srcId="{5BE86BF3-D341-4155-9484-306A3B20C102}" destId="{83E38CBC-CC3E-40D3-B584-F97F97FA64F6}" srcOrd="0" destOrd="0" presId="urn:microsoft.com/office/officeart/2005/8/layout/process1"/>
    <dgm:cxn modelId="{D88736D8-7912-4963-B7D4-11B91A973DC7}" type="presOf" srcId="{3DFA66E1-F929-47B6-9416-F195AE18DE4A}" destId="{612254E6-4C17-4782-95A1-649BB671D6BB}" srcOrd="0" destOrd="0" presId="urn:microsoft.com/office/officeart/2005/8/layout/process1"/>
    <dgm:cxn modelId="{446FA0E4-0BCC-432C-A377-15B5785B110C}" type="presOf" srcId="{66E47C97-F4C1-42C6-BEB2-FC13112153AE}" destId="{64323CED-4B76-470C-968C-F1E81F93F046}" srcOrd="0" destOrd="0" presId="urn:microsoft.com/office/officeart/2005/8/layout/process1"/>
    <dgm:cxn modelId="{4B7F0CED-53AB-46D7-B6A9-7A6BE48865D2}" type="presOf" srcId="{3DFA66E1-F929-47B6-9416-F195AE18DE4A}" destId="{6DAE01C6-F71E-4AF2-99DB-1214DCF063A6}" srcOrd="1" destOrd="0" presId="urn:microsoft.com/office/officeart/2005/8/layout/process1"/>
    <dgm:cxn modelId="{A2076AF0-E5F5-4FEA-8C3A-45FA8AD83D60}" srcId="{66E47C97-F4C1-42C6-BEB2-FC13112153AE}" destId="{5BE86BF3-D341-4155-9484-306A3B20C102}" srcOrd="0" destOrd="0" parTransId="{6EB35FA6-7C13-4889-AEB9-1C80013BD367}" sibTransId="{ABB67F8B-DEC3-4D09-9E17-3A37C7506A51}"/>
    <dgm:cxn modelId="{BDCE60FB-719B-45D4-8E9C-00C4009E7530}" srcId="{66E47C97-F4C1-42C6-BEB2-FC13112153AE}" destId="{3C134AC3-C6F5-4ABB-8FA1-78D409436E64}" srcOrd="1" destOrd="0" parTransId="{8676FC33-775E-4430-AD1D-0806E3A69C3B}" sibTransId="{3DFA66E1-F929-47B6-9416-F195AE18DE4A}"/>
    <dgm:cxn modelId="{21F98D6F-B222-471C-88CF-C39E7E161B2B}" type="presParOf" srcId="{64323CED-4B76-470C-968C-F1E81F93F046}" destId="{83E38CBC-CC3E-40D3-B584-F97F97FA64F6}" srcOrd="0" destOrd="0" presId="urn:microsoft.com/office/officeart/2005/8/layout/process1"/>
    <dgm:cxn modelId="{DE18B930-543F-4B39-BF80-54B179410BF2}" type="presParOf" srcId="{64323CED-4B76-470C-968C-F1E81F93F046}" destId="{5CD182C0-800E-432C-8B73-854A903CC72D}" srcOrd="1" destOrd="0" presId="urn:microsoft.com/office/officeart/2005/8/layout/process1"/>
    <dgm:cxn modelId="{72F5816F-9A0E-4C9C-9A1D-CDBA3CA2C5E8}" type="presParOf" srcId="{5CD182C0-800E-432C-8B73-854A903CC72D}" destId="{D8051973-2211-4448-A4B9-4F6B25297EDD}" srcOrd="0" destOrd="0" presId="urn:microsoft.com/office/officeart/2005/8/layout/process1"/>
    <dgm:cxn modelId="{9A2A168D-6CB5-4AA1-B250-71485F946E2E}" type="presParOf" srcId="{64323CED-4B76-470C-968C-F1E81F93F046}" destId="{3C5C6723-04AD-4C68-9F49-07CB9D90BE94}" srcOrd="2" destOrd="0" presId="urn:microsoft.com/office/officeart/2005/8/layout/process1"/>
    <dgm:cxn modelId="{F8723296-1C36-460D-BD96-DB978ED852DB}" type="presParOf" srcId="{64323CED-4B76-470C-968C-F1E81F93F046}" destId="{612254E6-4C17-4782-95A1-649BB671D6BB}" srcOrd="3" destOrd="0" presId="urn:microsoft.com/office/officeart/2005/8/layout/process1"/>
    <dgm:cxn modelId="{E7168600-118F-490B-992C-536E26BD6CCA}" type="presParOf" srcId="{612254E6-4C17-4782-95A1-649BB671D6BB}" destId="{6DAE01C6-F71E-4AF2-99DB-1214DCF063A6}" srcOrd="0" destOrd="0" presId="urn:microsoft.com/office/officeart/2005/8/layout/process1"/>
    <dgm:cxn modelId="{A0CCDE21-BC6B-4E08-8900-FD26D63DB5DD}" type="presParOf" srcId="{64323CED-4B76-470C-968C-F1E81F93F046}" destId="{04100F71-2CD1-4228-86AA-477CAA37CF23}"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6E47C97-F4C1-42C6-BEB2-FC13112153AE}" type="doc">
      <dgm:prSet loTypeId="urn:microsoft.com/office/officeart/2005/8/layout/process1" loCatId="process" qsTypeId="urn:microsoft.com/office/officeart/2005/8/quickstyle/simple1" qsCatId="simple" csTypeId="urn:microsoft.com/office/officeart/2005/8/colors/accent1_2" csCatId="accent1" phldr="1"/>
      <dgm:spPr/>
    </dgm:pt>
    <dgm:pt modelId="{5BE86BF3-D341-4155-9484-306A3B20C102}">
      <dgm:prSet phldrT="[Text]"/>
      <dgm:spPr>
        <a:solidFill>
          <a:schemeClr val="accent4">
            <a:lumMod val="75000"/>
          </a:schemeClr>
        </a:solidFill>
      </dgm:spPr>
      <dgm:t>
        <a:bodyPr/>
        <a:lstStyle/>
        <a:p>
          <a:r>
            <a:rPr lang="fr-FR" dirty="0"/>
            <a:t>Input (</a:t>
          </a:r>
          <a:r>
            <a:rPr lang="fr-FR" dirty="0" err="1"/>
            <a:t>Available</a:t>
          </a:r>
          <a:r>
            <a:rPr lang="fr-FR" dirty="0"/>
            <a:t>)</a:t>
          </a:r>
        </a:p>
      </dgm:t>
    </dgm:pt>
    <dgm:pt modelId="{6EB35FA6-7C13-4889-AEB9-1C80013BD367}" type="parTrans" cxnId="{A2076AF0-E5F5-4FEA-8C3A-45FA8AD83D60}">
      <dgm:prSet/>
      <dgm:spPr/>
      <dgm:t>
        <a:bodyPr/>
        <a:lstStyle/>
        <a:p>
          <a:endParaRPr lang="fr-FR"/>
        </a:p>
      </dgm:t>
    </dgm:pt>
    <dgm:pt modelId="{ABB67F8B-DEC3-4D09-9E17-3A37C7506A51}" type="sibTrans" cxnId="{A2076AF0-E5F5-4FEA-8C3A-45FA8AD83D60}">
      <dgm:prSet/>
      <dgm:spPr/>
      <dgm:t>
        <a:bodyPr/>
        <a:lstStyle/>
        <a:p>
          <a:endParaRPr lang="fr-FR"/>
        </a:p>
      </dgm:t>
    </dgm:pt>
    <dgm:pt modelId="{3C134AC3-C6F5-4ABB-8FA1-78D409436E64}">
      <dgm:prSet phldrT="[Text]"/>
      <dgm:spPr>
        <a:solidFill>
          <a:srgbClr val="C00000"/>
        </a:solidFill>
      </dgm:spPr>
      <dgm:t>
        <a:bodyPr/>
        <a:lstStyle/>
        <a:p>
          <a:r>
            <a:rPr lang="fr-FR" dirty="0" err="1"/>
            <a:t>Function</a:t>
          </a:r>
          <a:endParaRPr lang="fr-FR" dirty="0"/>
        </a:p>
        <a:p>
          <a:r>
            <a:rPr lang="fr-FR" dirty="0"/>
            <a:t>(?)</a:t>
          </a:r>
        </a:p>
      </dgm:t>
    </dgm:pt>
    <dgm:pt modelId="{8676FC33-775E-4430-AD1D-0806E3A69C3B}" type="parTrans" cxnId="{BDCE60FB-719B-45D4-8E9C-00C4009E7530}">
      <dgm:prSet/>
      <dgm:spPr/>
      <dgm:t>
        <a:bodyPr/>
        <a:lstStyle/>
        <a:p>
          <a:endParaRPr lang="fr-FR"/>
        </a:p>
      </dgm:t>
    </dgm:pt>
    <dgm:pt modelId="{3DFA66E1-F929-47B6-9416-F195AE18DE4A}" type="sibTrans" cxnId="{BDCE60FB-719B-45D4-8E9C-00C4009E7530}">
      <dgm:prSet/>
      <dgm:spPr/>
      <dgm:t>
        <a:bodyPr/>
        <a:lstStyle/>
        <a:p>
          <a:endParaRPr lang="fr-FR"/>
        </a:p>
      </dgm:t>
    </dgm:pt>
    <dgm:pt modelId="{ED9451A4-6723-4A3E-BB22-0D9B915F5821}">
      <dgm:prSet phldrT="[Text]"/>
      <dgm:spPr>
        <a:solidFill>
          <a:schemeClr val="accent4">
            <a:lumMod val="75000"/>
          </a:schemeClr>
        </a:solidFill>
      </dgm:spPr>
      <dgm:t>
        <a:bodyPr/>
        <a:lstStyle/>
        <a:p>
          <a:r>
            <a:rPr lang="fr-FR" dirty="0"/>
            <a:t>Output</a:t>
          </a:r>
        </a:p>
        <a:p>
          <a:r>
            <a:rPr lang="fr-FR" dirty="0"/>
            <a:t>(</a:t>
          </a:r>
          <a:r>
            <a:rPr lang="fr-FR" dirty="0" err="1"/>
            <a:t>Available</a:t>
          </a:r>
          <a:r>
            <a:rPr lang="fr-FR" dirty="0"/>
            <a:t>)</a:t>
          </a:r>
        </a:p>
      </dgm:t>
    </dgm:pt>
    <dgm:pt modelId="{C9961E67-019C-48A8-953D-6DB9DBD191D6}" type="parTrans" cxnId="{E93A3E40-822A-49E3-BB7F-9F11F45D10D2}">
      <dgm:prSet/>
      <dgm:spPr/>
      <dgm:t>
        <a:bodyPr/>
        <a:lstStyle/>
        <a:p>
          <a:endParaRPr lang="fr-FR"/>
        </a:p>
      </dgm:t>
    </dgm:pt>
    <dgm:pt modelId="{F4CD8F25-0B8B-4356-8181-23C92E32B6F4}" type="sibTrans" cxnId="{E93A3E40-822A-49E3-BB7F-9F11F45D10D2}">
      <dgm:prSet/>
      <dgm:spPr/>
      <dgm:t>
        <a:bodyPr/>
        <a:lstStyle/>
        <a:p>
          <a:endParaRPr lang="fr-FR"/>
        </a:p>
      </dgm:t>
    </dgm:pt>
    <dgm:pt modelId="{64323CED-4B76-470C-968C-F1E81F93F046}" type="pres">
      <dgm:prSet presAssocID="{66E47C97-F4C1-42C6-BEB2-FC13112153AE}" presName="Name0" presStyleCnt="0">
        <dgm:presLayoutVars>
          <dgm:dir/>
          <dgm:resizeHandles val="exact"/>
        </dgm:presLayoutVars>
      </dgm:prSet>
      <dgm:spPr/>
    </dgm:pt>
    <dgm:pt modelId="{83E38CBC-CC3E-40D3-B584-F97F97FA64F6}" type="pres">
      <dgm:prSet presAssocID="{5BE86BF3-D341-4155-9484-306A3B20C102}" presName="node" presStyleLbl="node1" presStyleIdx="0" presStyleCnt="3">
        <dgm:presLayoutVars>
          <dgm:bulletEnabled val="1"/>
        </dgm:presLayoutVars>
      </dgm:prSet>
      <dgm:spPr/>
    </dgm:pt>
    <dgm:pt modelId="{5CD182C0-800E-432C-8B73-854A903CC72D}" type="pres">
      <dgm:prSet presAssocID="{ABB67F8B-DEC3-4D09-9E17-3A37C7506A51}" presName="sibTrans" presStyleLbl="sibTrans2D1" presStyleIdx="0" presStyleCnt="2"/>
      <dgm:spPr/>
    </dgm:pt>
    <dgm:pt modelId="{D8051973-2211-4448-A4B9-4F6B25297EDD}" type="pres">
      <dgm:prSet presAssocID="{ABB67F8B-DEC3-4D09-9E17-3A37C7506A51}" presName="connectorText" presStyleLbl="sibTrans2D1" presStyleIdx="0" presStyleCnt="2"/>
      <dgm:spPr/>
    </dgm:pt>
    <dgm:pt modelId="{3C5C6723-04AD-4C68-9F49-07CB9D90BE94}" type="pres">
      <dgm:prSet presAssocID="{3C134AC3-C6F5-4ABB-8FA1-78D409436E64}" presName="node" presStyleLbl="node1" presStyleIdx="1" presStyleCnt="3">
        <dgm:presLayoutVars>
          <dgm:bulletEnabled val="1"/>
        </dgm:presLayoutVars>
      </dgm:prSet>
      <dgm:spPr/>
    </dgm:pt>
    <dgm:pt modelId="{612254E6-4C17-4782-95A1-649BB671D6BB}" type="pres">
      <dgm:prSet presAssocID="{3DFA66E1-F929-47B6-9416-F195AE18DE4A}" presName="sibTrans" presStyleLbl="sibTrans2D1" presStyleIdx="1" presStyleCnt="2"/>
      <dgm:spPr/>
    </dgm:pt>
    <dgm:pt modelId="{6DAE01C6-F71E-4AF2-99DB-1214DCF063A6}" type="pres">
      <dgm:prSet presAssocID="{3DFA66E1-F929-47B6-9416-F195AE18DE4A}" presName="connectorText" presStyleLbl="sibTrans2D1" presStyleIdx="1" presStyleCnt="2"/>
      <dgm:spPr/>
    </dgm:pt>
    <dgm:pt modelId="{04100F71-2CD1-4228-86AA-477CAA37CF23}" type="pres">
      <dgm:prSet presAssocID="{ED9451A4-6723-4A3E-BB22-0D9B915F5821}" presName="node" presStyleLbl="node1" presStyleIdx="2" presStyleCnt="3">
        <dgm:presLayoutVars>
          <dgm:bulletEnabled val="1"/>
        </dgm:presLayoutVars>
      </dgm:prSet>
      <dgm:spPr/>
    </dgm:pt>
  </dgm:ptLst>
  <dgm:cxnLst>
    <dgm:cxn modelId="{D4637A09-D4EC-4E7F-9777-0A233ABD818D}" type="presOf" srcId="{ABB67F8B-DEC3-4D09-9E17-3A37C7506A51}" destId="{D8051973-2211-4448-A4B9-4F6B25297EDD}" srcOrd="1" destOrd="0" presId="urn:microsoft.com/office/officeart/2005/8/layout/process1"/>
    <dgm:cxn modelId="{C748F50C-14D1-4A5D-8190-9B27234876CD}" type="presOf" srcId="{ED9451A4-6723-4A3E-BB22-0D9B915F5821}" destId="{04100F71-2CD1-4228-86AA-477CAA37CF23}" srcOrd="0" destOrd="0" presId="urn:microsoft.com/office/officeart/2005/8/layout/process1"/>
    <dgm:cxn modelId="{0035093C-C95E-43D8-B326-8EBC6C670E0C}" type="presOf" srcId="{3C134AC3-C6F5-4ABB-8FA1-78D409436E64}" destId="{3C5C6723-04AD-4C68-9F49-07CB9D90BE94}" srcOrd="0" destOrd="0" presId="urn:microsoft.com/office/officeart/2005/8/layout/process1"/>
    <dgm:cxn modelId="{E93A3E40-822A-49E3-BB7F-9F11F45D10D2}" srcId="{66E47C97-F4C1-42C6-BEB2-FC13112153AE}" destId="{ED9451A4-6723-4A3E-BB22-0D9B915F5821}" srcOrd="2" destOrd="0" parTransId="{C9961E67-019C-48A8-953D-6DB9DBD191D6}" sibTransId="{F4CD8F25-0B8B-4356-8181-23C92E32B6F4}"/>
    <dgm:cxn modelId="{89B69F4B-629A-4A33-B31E-A94DEBFA9690}" type="presOf" srcId="{ABB67F8B-DEC3-4D09-9E17-3A37C7506A51}" destId="{5CD182C0-800E-432C-8B73-854A903CC72D}" srcOrd="0" destOrd="0" presId="urn:microsoft.com/office/officeart/2005/8/layout/process1"/>
    <dgm:cxn modelId="{53E70178-87C5-43FA-90D1-FFD0D01BA7AD}" type="presOf" srcId="{5BE86BF3-D341-4155-9484-306A3B20C102}" destId="{83E38CBC-CC3E-40D3-B584-F97F97FA64F6}" srcOrd="0" destOrd="0" presId="urn:microsoft.com/office/officeart/2005/8/layout/process1"/>
    <dgm:cxn modelId="{D88736D8-7912-4963-B7D4-11B91A973DC7}" type="presOf" srcId="{3DFA66E1-F929-47B6-9416-F195AE18DE4A}" destId="{612254E6-4C17-4782-95A1-649BB671D6BB}" srcOrd="0" destOrd="0" presId="urn:microsoft.com/office/officeart/2005/8/layout/process1"/>
    <dgm:cxn modelId="{446FA0E4-0BCC-432C-A377-15B5785B110C}" type="presOf" srcId="{66E47C97-F4C1-42C6-BEB2-FC13112153AE}" destId="{64323CED-4B76-470C-968C-F1E81F93F046}" srcOrd="0" destOrd="0" presId="urn:microsoft.com/office/officeart/2005/8/layout/process1"/>
    <dgm:cxn modelId="{4B7F0CED-53AB-46D7-B6A9-7A6BE48865D2}" type="presOf" srcId="{3DFA66E1-F929-47B6-9416-F195AE18DE4A}" destId="{6DAE01C6-F71E-4AF2-99DB-1214DCF063A6}" srcOrd="1" destOrd="0" presId="urn:microsoft.com/office/officeart/2005/8/layout/process1"/>
    <dgm:cxn modelId="{A2076AF0-E5F5-4FEA-8C3A-45FA8AD83D60}" srcId="{66E47C97-F4C1-42C6-BEB2-FC13112153AE}" destId="{5BE86BF3-D341-4155-9484-306A3B20C102}" srcOrd="0" destOrd="0" parTransId="{6EB35FA6-7C13-4889-AEB9-1C80013BD367}" sibTransId="{ABB67F8B-DEC3-4D09-9E17-3A37C7506A51}"/>
    <dgm:cxn modelId="{BDCE60FB-719B-45D4-8E9C-00C4009E7530}" srcId="{66E47C97-F4C1-42C6-BEB2-FC13112153AE}" destId="{3C134AC3-C6F5-4ABB-8FA1-78D409436E64}" srcOrd="1" destOrd="0" parTransId="{8676FC33-775E-4430-AD1D-0806E3A69C3B}" sibTransId="{3DFA66E1-F929-47B6-9416-F195AE18DE4A}"/>
    <dgm:cxn modelId="{21F98D6F-B222-471C-88CF-C39E7E161B2B}" type="presParOf" srcId="{64323CED-4B76-470C-968C-F1E81F93F046}" destId="{83E38CBC-CC3E-40D3-B584-F97F97FA64F6}" srcOrd="0" destOrd="0" presId="urn:microsoft.com/office/officeart/2005/8/layout/process1"/>
    <dgm:cxn modelId="{DE18B930-543F-4B39-BF80-54B179410BF2}" type="presParOf" srcId="{64323CED-4B76-470C-968C-F1E81F93F046}" destId="{5CD182C0-800E-432C-8B73-854A903CC72D}" srcOrd="1" destOrd="0" presId="urn:microsoft.com/office/officeart/2005/8/layout/process1"/>
    <dgm:cxn modelId="{72F5816F-9A0E-4C9C-9A1D-CDBA3CA2C5E8}" type="presParOf" srcId="{5CD182C0-800E-432C-8B73-854A903CC72D}" destId="{D8051973-2211-4448-A4B9-4F6B25297EDD}" srcOrd="0" destOrd="0" presId="urn:microsoft.com/office/officeart/2005/8/layout/process1"/>
    <dgm:cxn modelId="{9A2A168D-6CB5-4AA1-B250-71485F946E2E}" type="presParOf" srcId="{64323CED-4B76-470C-968C-F1E81F93F046}" destId="{3C5C6723-04AD-4C68-9F49-07CB9D90BE94}" srcOrd="2" destOrd="0" presId="urn:microsoft.com/office/officeart/2005/8/layout/process1"/>
    <dgm:cxn modelId="{F8723296-1C36-460D-BD96-DB978ED852DB}" type="presParOf" srcId="{64323CED-4B76-470C-968C-F1E81F93F046}" destId="{612254E6-4C17-4782-95A1-649BB671D6BB}" srcOrd="3" destOrd="0" presId="urn:microsoft.com/office/officeart/2005/8/layout/process1"/>
    <dgm:cxn modelId="{E7168600-118F-490B-992C-536E26BD6CCA}" type="presParOf" srcId="{612254E6-4C17-4782-95A1-649BB671D6BB}" destId="{6DAE01C6-F71E-4AF2-99DB-1214DCF063A6}" srcOrd="0" destOrd="0" presId="urn:microsoft.com/office/officeart/2005/8/layout/process1"/>
    <dgm:cxn modelId="{A0CCDE21-BC6B-4E08-8900-FD26D63DB5DD}" type="presParOf" srcId="{64323CED-4B76-470C-968C-F1E81F93F046}" destId="{04100F71-2CD1-4228-86AA-477CAA37CF23}" srcOrd="4"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6E47C97-F4C1-42C6-BEB2-FC13112153AE}" type="doc">
      <dgm:prSet loTypeId="urn:microsoft.com/office/officeart/2005/8/layout/process1" loCatId="process" qsTypeId="urn:microsoft.com/office/officeart/2005/8/quickstyle/simple1" qsCatId="simple" csTypeId="urn:microsoft.com/office/officeart/2005/8/colors/accent1_2" csCatId="accent1" phldr="1"/>
      <dgm:spPr/>
    </dgm:pt>
    <dgm:pt modelId="{5BE86BF3-D341-4155-9484-306A3B20C102}">
      <dgm:prSet phldrT="[Text]"/>
      <dgm:spPr>
        <a:solidFill>
          <a:schemeClr val="accent4">
            <a:lumMod val="75000"/>
          </a:schemeClr>
        </a:solidFill>
      </dgm:spPr>
      <dgm:t>
        <a:bodyPr/>
        <a:lstStyle/>
        <a:p>
          <a:r>
            <a:rPr lang="fr-FR" dirty="0"/>
            <a:t>Input (</a:t>
          </a:r>
          <a:r>
            <a:rPr lang="fr-FR" dirty="0" err="1"/>
            <a:t>Available</a:t>
          </a:r>
          <a:r>
            <a:rPr lang="fr-FR" dirty="0"/>
            <a:t>)</a:t>
          </a:r>
        </a:p>
      </dgm:t>
    </dgm:pt>
    <dgm:pt modelId="{6EB35FA6-7C13-4889-AEB9-1C80013BD367}" type="parTrans" cxnId="{A2076AF0-E5F5-4FEA-8C3A-45FA8AD83D60}">
      <dgm:prSet/>
      <dgm:spPr/>
      <dgm:t>
        <a:bodyPr/>
        <a:lstStyle/>
        <a:p>
          <a:endParaRPr lang="fr-FR"/>
        </a:p>
      </dgm:t>
    </dgm:pt>
    <dgm:pt modelId="{ABB67F8B-DEC3-4D09-9E17-3A37C7506A51}" type="sibTrans" cxnId="{A2076AF0-E5F5-4FEA-8C3A-45FA8AD83D60}">
      <dgm:prSet/>
      <dgm:spPr/>
      <dgm:t>
        <a:bodyPr/>
        <a:lstStyle/>
        <a:p>
          <a:endParaRPr lang="fr-FR"/>
        </a:p>
      </dgm:t>
    </dgm:pt>
    <dgm:pt modelId="{3C134AC3-C6F5-4ABB-8FA1-78D409436E64}">
      <dgm:prSet phldrT="[Text]"/>
      <dgm:spPr>
        <a:solidFill>
          <a:srgbClr val="C00000"/>
        </a:solidFill>
      </dgm:spPr>
      <dgm:t>
        <a:bodyPr/>
        <a:lstStyle/>
        <a:p>
          <a:r>
            <a:rPr lang="fr-FR" dirty="0" err="1"/>
            <a:t>Function</a:t>
          </a:r>
          <a:endParaRPr lang="fr-FR" dirty="0"/>
        </a:p>
        <a:p>
          <a:r>
            <a:rPr lang="fr-FR" dirty="0"/>
            <a:t>(?)</a:t>
          </a:r>
        </a:p>
      </dgm:t>
    </dgm:pt>
    <dgm:pt modelId="{8676FC33-775E-4430-AD1D-0806E3A69C3B}" type="parTrans" cxnId="{BDCE60FB-719B-45D4-8E9C-00C4009E7530}">
      <dgm:prSet/>
      <dgm:spPr/>
      <dgm:t>
        <a:bodyPr/>
        <a:lstStyle/>
        <a:p>
          <a:endParaRPr lang="fr-FR"/>
        </a:p>
      </dgm:t>
    </dgm:pt>
    <dgm:pt modelId="{3DFA66E1-F929-47B6-9416-F195AE18DE4A}" type="sibTrans" cxnId="{BDCE60FB-719B-45D4-8E9C-00C4009E7530}">
      <dgm:prSet/>
      <dgm:spPr/>
      <dgm:t>
        <a:bodyPr/>
        <a:lstStyle/>
        <a:p>
          <a:endParaRPr lang="fr-FR"/>
        </a:p>
      </dgm:t>
    </dgm:pt>
    <dgm:pt modelId="{ED9451A4-6723-4A3E-BB22-0D9B915F5821}">
      <dgm:prSet phldrT="[Text]"/>
      <dgm:spPr>
        <a:solidFill>
          <a:schemeClr val="accent4">
            <a:lumMod val="75000"/>
          </a:schemeClr>
        </a:solidFill>
      </dgm:spPr>
      <dgm:t>
        <a:bodyPr/>
        <a:lstStyle/>
        <a:p>
          <a:r>
            <a:rPr lang="fr-FR" dirty="0"/>
            <a:t>Output</a:t>
          </a:r>
        </a:p>
        <a:p>
          <a:r>
            <a:rPr lang="fr-FR" dirty="0"/>
            <a:t>(</a:t>
          </a:r>
          <a:r>
            <a:rPr lang="fr-FR" dirty="0" err="1"/>
            <a:t>Available</a:t>
          </a:r>
          <a:r>
            <a:rPr lang="fr-FR" dirty="0"/>
            <a:t>)</a:t>
          </a:r>
        </a:p>
      </dgm:t>
    </dgm:pt>
    <dgm:pt modelId="{C9961E67-019C-48A8-953D-6DB9DBD191D6}" type="parTrans" cxnId="{E93A3E40-822A-49E3-BB7F-9F11F45D10D2}">
      <dgm:prSet/>
      <dgm:spPr/>
      <dgm:t>
        <a:bodyPr/>
        <a:lstStyle/>
        <a:p>
          <a:endParaRPr lang="fr-FR"/>
        </a:p>
      </dgm:t>
    </dgm:pt>
    <dgm:pt modelId="{F4CD8F25-0B8B-4356-8181-23C92E32B6F4}" type="sibTrans" cxnId="{E93A3E40-822A-49E3-BB7F-9F11F45D10D2}">
      <dgm:prSet/>
      <dgm:spPr/>
      <dgm:t>
        <a:bodyPr/>
        <a:lstStyle/>
        <a:p>
          <a:endParaRPr lang="fr-FR"/>
        </a:p>
      </dgm:t>
    </dgm:pt>
    <dgm:pt modelId="{64323CED-4B76-470C-968C-F1E81F93F046}" type="pres">
      <dgm:prSet presAssocID="{66E47C97-F4C1-42C6-BEB2-FC13112153AE}" presName="Name0" presStyleCnt="0">
        <dgm:presLayoutVars>
          <dgm:dir/>
          <dgm:resizeHandles val="exact"/>
        </dgm:presLayoutVars>
      </dgm:prSet>
      <dgm:spPr/>
    </dgm:pt>
    <dgm:pt modelId="{83E38CBC-CC3E-40D3-B584-F97F97FA64F6}" type="pres">
      <dgm:prSet presAssocID="{5BE86BF3-D341-4155-9484-306A3B20C102}" presName="node" presStyleLbl="node1" presStyleIdx="0" presStyleCnt="3">
        <dgm:presLayoutVars>
          <dgm:bulletEnabled val="1"/>
        </dgm:presLayoutVars>
      </dgm:prSet>
      <dgm:spPr/>
    </dgm:pt>
    <dgm:pt modelId="{5CD182C0-800E-432C-8B73-854A903CC72D}" type="pres">
      <dgm:prSet presAssocID="{ABB67F8B-DEC3-4D09-9E17-3A37C7506A51}" presName="sibTrans" presStyleLbl="sibTrans2D1" presStyleIdx="0" presStyleCnt="2"/>
      <dgm:spPr/>
    </dgm:pt>
    <dgm:pt modelId="{D8051973-2211-4448-A4B9-4F6B25297EDD}" type="pres">
      <dgm:prSet presAssocID="{ABB67F8B-DEC3-4D09-9E17-3A37C7506A51}" presName="connectorText" presStyleLbl="sibTrans2D1" presStyleIdx="0" presStyleCnt="2"/>
      <dgm:spPr/>
    </dgm:pt>
    <dgm:pt modelId="{3C5C6723-04AD-4C68-9F49-07CB9D90BE94}" type="pres">
      <dgm:prSet presAssocID="{3C134AC3-C6F5-4ABB-8FA1-78D409436E64}" presName="node" presStyleLbl="node1" presStyleIdx="1" presStyleCnt="3">
        <dgm:presLayoutVars>
          <dgm:bulletEnabled val="1"/>
        </dgm:presLayoutVars>
      </dgm:prSet>
      <dgm:spPr/>
    </dgm:pt>
    <dgm:pt modelId="{612254E6-4C17-4782-95A1-649BB671D6BB}" type="pres">
      <dgm:prSet presAssocID="{3DFA66E1-F929-47B6-9416-F195AE18DE4A}" presName="sibTrans" presStyleLbl="sibTrans2D1" presStyleIdx="1" presStyleCnt="2"/>
      <dgm:spPr/>
    </dgm:pt>
    <dgm:pt modelId="{6DAE01C6-F71E-4AF2-99DB-1214DCF063A6}" type="pres">
      <dgm:prSet presAssocID="{3DFA66E1-F929-47B6-9416-F195AE18DE4A}" presName="connectorText" presStyleLbl="sibTrans2D1" presStyleIdx="1" presStyleCnt="2"/>
      <dgm:spPr/>
    </dgm:pt>
    <dgm:pt modelId="{04100F71-2CD1-4228-86AA-477CAA37CF23}" type="pres">
      <dgm:prSet presAssocID="{ED9451A4-6723-4A3E-BB22-0D9B915F5821}" presName="node" presStyleLbl="node1" presStyleIdx="2" presStyleCnt="3">
        <dgm:presLayoutVars>
          <dgm:bulletEnabled val="1"/>
        </dgm:presLayoutVars>
      </dgm:prSet>
      <dgm:spPr/>
    </dgm:pt>
  </dgm:ptLst>
  <dgm:cxnLst>
    <dgm:cxn modelId="{D4637A09-D4EC-4E7F-9777-0A233ABD818D}" type="presOf" srcId="{ABB67F8B-DEC3-4D09-9E17-3A37C7506A51}" destId="{D8051973-2211-4448-A4B9-4F6B25297EDD}" srcOrd="1" destOrd="0" presId="urn:microsoft.com/office/officeart/2005/8/layout/process1"/>
    <dgm:cxn modelId="{C748F50C-14D1-4A5D-8190-9B27234876CD}" type="presOf" srcId="{ED9451A4-6723-4A3E-BB22-0D9B915F5821}" destId="{04100F71-2CD1-4228-86AA-477CAA37CF23}" srcOrd="0" destOrd="0" presId="urn:microsoft.com/office/officeart/2005/8/layout/process1"/>
    <dgm:cxn modelId="{0035093C-C95E-43D8-B326-8EBC6C670E0C}" type="presOf" srcId="{3C134AC3-C6F5-4ABB-8FA1-78D409436E64}" destId="{3C5C6723-04AD-4C68-9F49-07CB9D90BE94}" srcOrd="0" destOrd="0" presId="urn:microsoft.com/office/officeart/2005/8/layout/process1"/>
    <dgm:cxn modelId="{E93A3E40-822A-49E3-BB7F-9F11F45D10D2}" srcId="{66E47C97-F4C1-42C6-BEB2-FC13112153AE}" destId="{ED9451A4-6723-4A3E-BB22-0D9B915F5821}" srcOrd="2" destOrd="0" parTransId="{C9961E67-019C-48A8-953D-6DB9DBD191D6}" sibTransId="{F4CD8F25-0B8B-4356-8181-23C92E32B6F4}"/>
    <dgm:cxn modelId="{89B69F4B-629A-4A33-B31E-A94DEBFA9690}" type="presOf" srcId="{ABB67F8B-DEC3-4D09-9E17-3A37C7506A51}" destId="{5CD182C0-800E-432C-8B73-854A903CC72D}" srcOrd="0" destOrd="0" presId="urn:microsoft.com/office/officeart/2005/8/layout/process1"/>
    <dgm:cxn modelId="{53E70178-87C5-43FA-90D1-FFD0D01BA7AD}" type="presOf" srcId="{5BE86BF3-D341-4155-9484-306A3B20C102}" destId="{83E38CBC-CC3E-40D3-B584-F97F97FA64F6}" srcOrd="0" destOrd="0" presId="urn:microsoft.com/office/officeart/2005/8/layout/process1"/>
    <dgm:cxn modelId="{D88736D8-7912-4963-B7D4-11B91A973DC7}" type="presOf" srcId="{3DFA66E1-F929-47B6-9416-F195AE18DE4A}" destId="{612254E6-4C17-4782-95A1-649BB671D6BB}" srcOrd="0" destOrd="0" presId="urn:microsoft.com/office/officeart/2005/8/layout/process1"/>
    <dgm:cxn modelId="{446FA0E4-0BCC-432C-A377-15B5785B110C}" type="presOf" srcId="{66E47C97-F4C1-42C6-BEB2-FC13112153AE}" destId="{64323CED-4B76-470C-968C-F1E81F93F046}" srcOrd="0" destOrd="0" presId="urn:microsoft.com/office/officeart/2005/8/layout/process1"/>
    <dgm:cxn modelId="{4B7F0CED-53AB-46D7-B6A9-7A6BE48865D2}" type="presOf" srcId="{3DFA66E1-F929-47B6-9416-F195AE18DE4A}" destId="{6DAE01C6-F71E-4AF2-99DB-1214DCF063A6}" srcOrd="1" destOrd="0" presId="urn:microsoft.com/office/officeart/2005/8/layout/process1"/>
    <dgm:cxn modelId="{A2076AF0-E5F5-4FEA-8C3A-45FA8AD83D60}" srcId="{66E47C97-F4C1-42C6-BEB2-FC13112153AE}" destId="{5BE86BF3-D341-4155-9484-306A3B20C102}" srcOrd="0" destOrd="0" parTransId="{6EB35FA6-7C13-4889-AEB9-1C80013BD367}" sibTransId="{ABB67F8B-DEC3-4D09-9E17-3A37C7506A51}"/>
    <dgm:cxn modelId="{BDCE60FB-719B-45D4-8E9C-00C4009E7530}" srcId="{66E47C97-F4C1-42C6-BEB2-FC13112153AE}" destId="{3C134AC3-C6F5-4ABB-8FA1-78D409436E64}" srcOrd="1" destOrd="0" parTransId="{8676FC33-775E-4430-AD1D-0806E3A69C3B}" sibTransId="{3DFA66E1-F929-47B6-9416-F195AE18DE4A}"/>
    <dgm:cxn modelId="{21F98D6F-B222-471C-88CF-C39E7E161B2B}" type="presParOf" srcId="{64323CED-4B76-470C-968C-F1E81F93F046}" destId="{83E38CBC-CC3E-40D3-B584-F97F97FA64F6}" srcOrd="0" destOrd="0" presId="urn:microsoft.com/office/officeart/2005/8/layout/process1"/>
    <dgm:cxn modelId="{DE18B930-543F-4B39-BF80-54B179410BF2}" type="presParOf" srcId="{64323CED-4B76-470C-968C-F1E81F93F046}" destId="{5CD182C0-800E-432C-8B73-854A903CC72D}" srcOrd="1" destOrd="0" presId="urn:microsoft.com/office/officeart/2005/8/layout/process1"/>
    <dgm:cxn modelId="{72F5816F-9A0E-4C9C-9A1D-CDBA3CA2C5E8}" type="presParOf" srcId="{5CD182C0-800E-432C-8B73-854A903CC72D}" destId="{D8051973-2211-4448-A4B9-4F6B25297EDD}" srcOrd="0" destOrd="0" presId="urn:microsoft.com/office/officeart/2005/8/layout/process1"/>
    <dgm:cxn modelId="{9A2A168D-6CB5-4AA1-B250-71485F946E2E}" type="presParOf" srcId="{64323CED-4B76-470C-968C-F1E81F93F046}" destId="{3C5C6723-04AD-4C68-9F49-07CB9D90BE94}" srcOrd="2" destOrd="0" presId="urn:microsoft.com/office/officeart/2005/8/layout/process1"/>
    <dgm:cxn modelId="{F8723296-1C36-460D-BD96-DB978ED852DB}" type="presParOf" srcId="{64323CED-4B76-470C-968C-F1E81F93F046}" destId="{612254E6-4C17-4782-95A1-649BB671D6BB}" srcOrd="3" destOrd="0" presId="urn:microsoft.com/office/officeart/2005/8/layout/process1"/>
    <dgm:cxn modelId="{E7168600-118F-490B-992C-536E26BD6CCA}" type="presParOf" srcId="{612254E6-4C17-4782-95A1-649BB671D6BB}" destId="{6DAE01C6-F71E-4AF2-99DB-1214DCF063A6}" srcOrd="0" destOrd="0" presId="urn:microsoft.com/office/officeart/2005/8/layout/process1"/>
    <dgm:cxn modelId="{A0CCDE21-BC6B-4E08-8900-FD26D63DB5DD}" type="presParOf" srcId="{64323CED-4B76-470C-968C-F1E81F93F046}" destId="{04100F71-2CD1-4228-86AA-477CAA37CF23}"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6E47C97-F4C1-42C6-BEB2-FC13112153AE}" type="doc">
      <dgm:prSet loTypeId="urn:microsoft.com/office/officeart/2005/8/layout/process1" loCatId="process" qsTypeId="urn:microsoft.com/office/officeart/2005/8/quickstyle/simple1" qsCatId="simple" csTypeId="urn:microsoft.com/office/officeart/2005/8/colors/accent1_2" csCatId="accent1" phldr="1"/>
      <dgm:spPr/>
    </dgm:pt>
    <dgm:pt modelId="{5BE86BF3-D341-4155-9484-306A3B20C102}">
      <dgm:prSet phldrT="[Text]"/>
      <dgm:spPr>
        <a:solidFill>
          <a:schemeClr val="accent4">
            <a:lumMod val="75000"/>
          </a:schemeClr>
        </a:solidFill>
      </dgm:spPr>
      <dgm:t>
        <a:bodyPr/>
        <a:lstStyle/>
        <a:p>
          <a:r>
            <a:rPr lang="fr-FR" dirty="0"/>
            <a:t>Input (</a:t>
          </a:r>
          <a:r>
            <a:rPr lang="fr-FR" dirty="0" err="1"/>
            <a:t>Given</a:t>
          </a:r>
          <a:r>
            <a:rPr lang="fr-FR" dirty="0"/>
            <a:t>)</a:t>
          </a:r>
        </a:p>
      </dgm:t>
    </dgm:pt>
    <dgm:pt modelId="{6EB35FA6-7C13-4889-AEB9-1C80013BD367}" type="parTrans" cxnId="{A2076AF0-E5F5-4FEA-8C3A-45FA8AD83D60}">
      <dgm:prSet/>
      <dgm:spPr/>
      <dgm:t>
        <a:bodyPr/>
        <a:lstStyle/>
        <a:p>
          <a:endParaRPr lang="fr-FR"/>
        </a:p>
      </dgm:t>
    </dgm:pt>
    <dgm:pt modelId="{ABB67F8B-DEC3-4D09-9E17-3A37C7506A51}" type="sibTrans" cxnId="{A2076AF0-E5F5-4FEA-8C3A-45FA8AD83D60}">
      <dgm:prSet/>
      <dgm:spPr/>
      <dgm:t>
        <a:bodyPr/>
        <a:lstStyle/>
        <a:p>
          <a:endParaRPr lang="fr-FR"/>
        </a:p>
      </dgm:t>
    </dgm:pt>
    <dgm:pt modelId="{3C134AC3-C6F5-4ABB-8FA1-78D409436E64}">
      <dgm:prSet phldrT="[Text]"/>
      <dgm:spPr>
        <a:solidFill>
          <a:schemeClr val="accent4">
            <a:lumMod val="75000"/>
          </a:schemeClr>
        </a:solidFill>
      </dgm:spPr>
      <dgm:t>
        <a:bodyPr/>
        <a:lstStyle/>
        <a:p>
          <a:r>
            <a:rPr lang="fr-FR" dirty="0" err="1"/>
            <a:t>Function</a:t>
          </a:r>
          <a:endParaRPr lang="fr-FR" dirty="0"/>
        </a:p>
        <a:p>
          <a:r>
            <a:rPr lang="fr-FR" dirty="0"/>
            <a:t>(</a:t>
          </a:r>
          <a:r>
            <a:rPr lang="fr-FR" dirty="0" err="1"/>
            <a:t>Created</a:t>
          </a:r>
          <a:r>
            <a:rPr lang="fr-FR" dirty="0"/>
            <a:t>)</a:t>
          </a:r>
        </a:p>
      </dgm:t>
    </dgm:pt>
    <dgm:pt modelId="{8676FC33-775E-4430-AD1D-0806E3A69C3B}" type="parTrans" cxnId="{BDCE60FB-719B-45D4-8E9C-00C4009E7530}">
      <dgm:prSet/>
      <dgm:spPr/>
      <dgm:t>
        <a:bodyPr/>
        <a:lstStyle/>
        <a:p>
          <a:endParaRPr lang="fr-FR"/>
        </a:p>
      </dgm:t>
    </dgm:pt>
    <dgm:pt modelId="{3DFA66E1-F929-47B6-9416-F195AE18DE4A}" type="sibTrans" cxnId="{BDCE60FB-719B-45D4-8E9C-00C4009E7530}">
      <dgm:prSet/>
      <dgm:spPr/>
      <dgm:t>
        <a:bodyPr/>
        <a:lstStyle/>
        <a:p>
          <a:endParaRPr lang="fr-FR"/>
        </a:p>
      </dgm:t>
    </dgm:pt>
    <dgm:pt modelId="{ED9451A4-6723-4A3E-BB22-0D9B915F5821}">
      <dgm:prSet phldrT="[Text]"/>
      <dgm:spPr>
        <a:solidFill>
          <a:srgbClr val="C00000"/>
        </a:solidFill>
      </dgm:spPr>
      <dgm:t>
        <a:bodyPr/>
        <a:lstStyle/>
        <a:p>
          <a:r>
            <a:rPr lang="fr-FR" dirty="0"/>
            <a:t>Output</a:t>
          </a:r>
        </a:p>
        <a:p>
          <a:r>
            <a:rPr lang="fr-FR" dirty="0"/>
            <a:t>(</a:t>
          </a:r>
          <a:r>
            <a:rPr lang="fr-FR" dirty="0" err="1"/>
            <a:t>Obtained</a:t>
          </a:r>
          <a:r>
            <a:rPr lang="fr-FR" dirty="0"/>
            <a:t>)</a:t>
          </a:r>
        </a:p>
      </dgm:t>
    </dgm:pt>
    <dgm:pt modelId="{C9961E67-019C-48A8-953D-6DB9DBD191D6}" type="parTrans" cxnId="{E93A3E40-822A-49E3-BB7F-9F11F45D10D2}">
      <dgm:prSet/>
      <dgm:spPr/>
      <dgm:t>
        <a:bodyPr/>
        <a:lstStyle/>
        <a:p>
          <a:endParaRPr lang="fr-FR"/>
        </a:p>
      </dgm:t>
    </dgm:pt>
    <dgm:pt modelId="{F4CD8F25-0B8B-4356-8181-23C92E32B6F4}" type="sibTrans" cxnId="{E93A3E40-822A-49E3-BB7F-9F11F45D10D2}">
      <dgm:prSet/>
      <dgm:spPr/>
      <dgm:t>
        <a:bodyPr/>
        <a:lstStyle/>
        <a:p>
          <a:endParaRPr lang="fr-FR"/>
        </a:p>
      </dgm:t>
    </dgm:pt>
    <dgm:pt modelId="{64323CED-4B76-470C-968C-F1E81F93F046}" type="pres">
      <dgm:prSet presAssocID="{66E47C97-F4C1-42C6-BEB2-FC13112153AE}" presName="Name0" presStyleCnt="0">
        <dgm:presLayoutVars>
          <dgm:dir/>
          <dgm:resizeHandles val="exact"/>
        </dgm:presLayoutVars>
      </dgm:prSet>
      <dgm:spPr/>
    </dgm:pt>
    <dgm:pt modelId="{83E38CBC-CC3E-40D3-B584-F97F97FA64F6}" type="pres">
      <dgm:prSet presAssocID="{5BE86BF3-D341-4155-9484-306A3B20C102}" presName="node" presStyleLbl="node1" presStyleIdx="0" presStyleCnt="3">
        <dgm:presLayoutVars>
          <dgm:bulletEnabled val="1"/>
        </dgm:presLayoutVars>
      </dgm:prSet>
      <dgm:spPr/>
    </dgm:pt>
    <dgm:pt modelId="{5CD182C0-800E-432C-8B73-854A903CC72D}" type="pres">
      <dgm:prSet presAssocID="{ABB67F8B-DEC3-4D09-9E17-3A37C7506A51}" presName="sibTrans" presStyleLbl="sibTrans2D1" presStyleIdx="0" presStyleCnt="2"/>
      <dgm:spPr/>
    </dgm:pt>
    <dgm:pt modelId="{D8051973-2211-4448-A4B9-4F6B25297EDD}" type="pres">
      <dgm:prSet presAssocID="{ABB67F8B-DEC3-4D09-9E17-3A37C7506A51}" presName="connectorText" presStyleLbl="sibTrans2D1" presStyleIdx="0" presStyleCnt="2"/>
      <dgm:spPr/>
    </dgm:pt>
    <dgm:pt modelId="{3C5C6723-04AD-4C68-9F49-07CB9D90BE94}" type="pres">
      <dgm:prSet presAssocID="{3C134AC3-C6F5-4ABB-8FA1-78D409436E64}" presName="node" presStyleLbl="node1" presStyleIdx="1" presStyleCnt="3">
        <dgm:presLayoutVars>
          <dgm:bulletEnabled val="1"/>
        </dgm:presLayoutVars>
      </dgm:prSet>
      <dgm:spPr/>
    </dgm:pt>
    <dgm:pt modelId="{612254E6-4C17-4782-95A1-649BB671D6BB}" type="pres">
      <dgm:prSet presAssocID="{3DFA66E1-F929-47B6-9416-F195AE18DE4A}" presName="sibTrans" presStyleLbl="sibTrans2D1" presStyleIdx="1" presStyleCnt="2"/>
      <dgm:spPr/>
    </dgm:pt>
    <dgm:pt modelId="{6DAE01C6-F71E-4AF2-99DB-1214DCF063A6}" type="pres">
      <dgm:prSet presAssocID="{3DFA66E1-F929-47B6-9416-F195AE18DE4A}" presName="connectorText" presStyleLbl="sibTrans2D1" presStyleIdx="1" presStyleCnt="2"/>
      <dgm:spPr/>
    </dgm:pt>
    <dgm:pt modelId="{04100F71-2CD1-4228-86AA-477CAA37CF23}" type="pres">
      <dgm:prSet presAssocID="{ED9451A4-6723-4A3E-BB22-0D9B915F5821}" presName="node" presStyleLbl="node1" presStyleIdx="2" presStyleCnt="3">
        <dgm:presLayoutVars>
          <dgm:bulletEnabled val="1"/>
        </dgm:presLayoutVars>
      </dgm:prSet>
      <dgm:spPr/>
    </dgm:pt>
  </dgm:ptLst>
  <dgm:cxnLst>
    <dgm:cxn modelId="{D4637A09-D4EC-4E7F-9777-0A233ABD818D}" type="presOf" srcId="{ABB67F8B-DEC3-4D09-9E17-3A37C7506A51}" destId="{D8051973-2211-4448-A4B9-4F6B25297EDD}" srcOrd="1" destOrd="0" presId="urn:microsoft.com/office/officeart/2005/8/layout/process1"/>
    <dgm:cxn modelId="{C748F50C-14D1-4A5D-8190-9B27234876CD}" type="presOf" srcId="{ED9451A4-6723-4A3E-BB22-0D9B915F5821}" destId="{04100F71-2CD1-4228-86AA-477CAA37CF23}" srcOrd="0" destOrd="0" presId="urn:microsoft.com/office/officeart/2005/8/layout/process1"/>
    <dgm:cxn modelId="{0035093C-C95E-43D8-B326-8EBC6C670E0C}" type="presOf" srcId="{3C134AC3-C6F5-4ABB-8FA1-78D409436E64}" destId="{3C5C6723-04AD-4C68-9F49-07CB9D90BE94}" srcOrd="0" destOrd="0" presId="urn:microsoft.com/office/officeart/2005/8/layout/process1"/>
    <dgm:cxn modelId="{E93A3E40-822A-49E3-BB7F-9F11F45D10D2}" srcId="{66E47C97-F4C1-42C6-BEB2-FC13112153AE}" destId="{ED9451A4-6723-4A3E-BB22-0D9B915F5821}" srcOrd="2" destOrd="0" parTransId="{C9961E67-019C-48A8-953D-6DB9DBD191D6}" sibTransId="{F4CD8F25-0B8B-4356-8181-23C92E32B6F4}"/>
    <dgm:cxn modelId="{89B69F4B-629A-4A33-B31E-A94DEBFA9690}" type="presOf" srcId="{ABB67F8B-DEC3-4D09-9E17-3A37C7506A51}" destId="{5CD182C0-800E-432C-8B73-854A903CC72D}" srcOrd="0" destOrd="0" presId="urn:microsoft.com/office/officeart/2005/8/layout/process1"/>
    <dgm:cxn modelId="{53E70178-87C5-43FA-90D1-FFD0D01BA7AD}" type="presOf" srcId="{5BE86BF3-D341-4155-9484-306A3B20C102}" destId="{83E38CBC-CC3E-40D3-B584-F97F97FA64F6}" srcOrd="0" destOrd="0" presId="urn:microsoft.com/office/officeart/2005/8/layout/process1"/>
    <dgm:cxn modelId="{D88736D8-7912-4963-B7D4-11B91A973DC7}" type="presOf" srcId="{3DFA66E1-F929-47B6-9416-F195AE18DE4A}" destId="{612254E6-4C17-4782-95A1-649BB671D6BB}" srcOrd="0" destOrd="0" presId="urn:microsoft.com/office/officeart/2005/8/layout/process1"/>
    <dgm:cxn modelId="{446FA0E4-0BCC-432C-A377-15B5785B110C}" type="presOf" srcId="{66E47C97-F4C1-42C6-BEB2-FC13112153AE}" destId="{64323CED-4B76-470C-968C-F1E81F93F046}" srcOrd="0" destOrd="0" presId="urn:microsoft.com/office/officeart/2005/8/layout/process1"/>
    <dgm:cxn modelId="{4B7F0CED-53AB-46D7-B6A9-7A6BE48865D2}" type="presOf" srcId="{3DFA66E1-F929-47B6-9416-F195AE18DE4A}" destId="{6DAE01C6-F71E-4AF2-99DB-1214DCF063A6}" srcOrd="1" destOrd="0" presId="urn:microsoft.com/office/officeart/2005/8/layout/process1"/>
    <dgm:cxn modelId="{A2076AF0-E5F5-4FEA-8C3A-45FA8AD83D60}" srcId="{66E47C97-F4C1-42C6-BEB2-FC13112153AE}" destId="{5BE86BF3-D341-4155-9484-306A3B20C102}" srcOrd="0" destOrd="0" parTransId="{6EB35FA6-7C13-4889-AEB9-1C80013BD367}" sibTransId="{ABB67F8B-DEC3-4D09-9E17-3A37C7506A51}"/>
    <dgm:cxn modelId="{BDCE60FB-719B-45D4-8E9C-00C4009E7530}" srcId="{66E47C97-F4C1-42C6-BEB2-FC13112153AE}" destId="{3C134AC3-C6F5-4ABB-8FA1-78D409436E64}" srcOrd="1" destOrd="0" parTransId="{8676FC33-775E-4430-AD1D-0806E3A69C3B}" sibTransId="{3DFA66E1-F929-47B6-9416-F195AE18DE4A}"/>
    <dgm:cxn modelId="{21F98D6F-B222-471C-88CF-C39E7E161B2B}" type="presParOf" srcId="{64323CED-4B76-470C-968C-F1E81F93F046}" destId="{83E38CBC-CC3E-40D3-B584-F97F97FA64F6}" srcOrd="0" destOrd="0" presId="urn:microsoft.com/office/officeart/2005/8/layout/process1"/>
    <dgm:cxn modelId="{DE18B930-543F-4B39-BF80-54B179410BF2}" type="presParOf" srcId="{64323CED-4B76-470C-968C-F1E81F93F046}" destId="{5CD182C0-800E-432C-8B73-854A903CC72D}" srcOrd="1" destOrd="0" presId="urn:microsoft.com/office/officeart/2005/8/layout/process1"/>
    <dgm:cxn modelId="{72F5816F-9A0E-4C9C-9A1D-CDBA3CA2C5E8}" type="presParOf" srcId="{5CD182C0-800E-432C-8B73-854A903CC72D}" destId="{D8051973-2211-4448-A4B9-4F6B25297EDD}" srcOrd="0" destOrd="0" presId="urn:microsoft.com/office/officeart/2005/8/layout/process1"/>
    <dgm:cxn modelId="{9A2A168D-6CB5-4AA1-B250-71485F946E2E}" type="presParOf" srcId="{64323CED-4B76-470C-968C-F1E81F93F046}" destId="{3C5C6723-04AD-4C68-9F49-07CB9D90BE94}" srcOrd="2" destOrd="0" presId="urn:microsoft.com/office/officeart/2005/8/layout/process1"/>
    <dgm:cxn modelId="{F8723296-1C36-460D-BD96-DB978ED852DB}" type="presParOf" srcId="{64323CED-4B76-470C-968C-F1E81F93F046}" destId="{612254E6-4C17-4782-95A1-649BB671D6BB}" srcOrd="3" destOrd="0" presId="urn:microsoft.com/office/officeart/2005/8/layout/process1"/>
    <dgm:cxn modelId="{E7168600-118F-490B-992C-536E26BD6CCA}" type="presParOf" srcId="{612254E6-4C17-4782-95A1-649BB671D6BB}" destId="{6DAE01C6-F71E-4AF2-99DB-1214DCF063A6}" srcOrd="0" destOrd="0" presId="urn:microsoft.com/office/officeart/2005/8/layout/process1"/>
    <dgm:cxn modelId="{A0CCDE21-BC6B-4E08-8900-FD26D63DB5DD}" type="presParOf" srcId="{64323CED-4B76-470C-968C-F1E81F93F046}" destId="{04100F71-2CD1-4228-86AA-477CAA37CF23}" srcOrd="4"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6E47C97-F4C1-42C6-BEB2-FC13112153AE}" type="doc">
      <dgm:prSet loTypeId="urn:microsoft.com/office/officeart/2005/8/layout/process1" loCatId="process" qsTypeId="urn:microsoft.com/office/officeart/2005/8/quickstyle/simple1" qsCatId="simple" csTypeId="urn:microsoft.com/office/officeart/2005/8/colors/accent1_2" csCatId="accent1" phldr="1"/>
      <dgm:spPr/>
    </dgm:pt>
    <dgm:pt modelId="{5BE86BF3-D341-4155-9484-306A3B20C102}">
      <dgm:prSet phldrT="[Text]"/>
      <dgm:spPr>
        <a:solidFill>
          <a:schemeClr val="accent4">
            <a:lumMod val="75000"/>
          </a:schemeClr>
        </a:solidFill>
      </dgm:spPr>
      <dgm:t>
        <a:bodyPr/>
        <a:lstStyle/>
        <a:p>
          <a:r>
            <a:rPr lang="fr-FR" dirty="0"/>
            <a:t>Input x (</a:t>
          </a:r>
          <a:r>
            <a:rPr lang="fr-FR" dirty="0" err="1"/>
            <a:t>available</a:t>
          </a:r>
          <a:r>
            <a:rPr lang="fr-FR" dirty="0"/>
            <a:t>)</a:t>
          </a:r>
        </a:p>
      </dgm:t>
    </dgm:pt>
    <dgm:pt modelId="{6EB35FA6-7C13-4889-AEB9-1C80013BD367}" type="parTrans" cxnId="{A2076AF0-E5F5-4FEA-8C3A-45FA8AD83D60}">
      <dgm:prSet/>
      <dgm:spPr/>
      <dgm:t>
        <a:bodyPr/>
        <a:lstStyle/>
        <a:p>
          <a:endParaRPr lang="fr-FR"/>
        </a:p>
      </dgm:t>
    </dgm:pt>
    <dgm:pt modelId="{ABB67F8B-DEC3-4D09-9E17-3A37C7506A51}" type="sibTrans" cxnId="{A2076AF0-E5F5-4FEA-8C3A-45FA8AD83D60}">
      <dgm:prSet/>
      <dgm:spPr/>
      <dgm:t>
        <a:bodyPr/>
        <a:lstStyle/>
        <a:p>
          <a:endParaRPr lang="fr-FR"/>
        </a:p>
      </dgm:t>
    </dgm:pt>
    <dgm:pt modelId="{3C134AC3-C6F5-4ABB-8FA1-78D409436E64}">
      <dgm:prSet phldrT="[Text]"/>
      <dgm:spPr>
        <a:solidFill>
          <a:srgbClr val="C00000"/>
        </a:solidFill>
      </dgm:spPr>
      <dgm:t>
        <a:bodyPr/>
        <a:lstStyle/>
        <a:p>
          <a:r>
            <a:rPr lang="fr-FR" dirty="0" err="1"/>
            <a:t>Function</a:t>
          </a:r>
          <a:r>
            <a:rPr lang="fr-FR" dirty="0"/>
            <a:t> f</a:t>
          </a:r>
        </a:p>
        <a:p>
          <a:r>
            <a:rPr lang="fr-FR" dirty="0"/>
            <a:t>(?)</a:t>
          </a:r>
        </a:p>
      </dgm:t>
    </dgm:pt>
    <dgm:pt modelId="{8676FC33-775E-4430-AD1D-0806E3A69C3B}" type="parTrans" cxnId="{BDCE60FB-719B-45D4-8E9C-00C4009E7530}">
      <dgm:prSet/>
      <dgm:spPr/>
      <dgm:t>
        <a:bodyPr/>
        <a:lstStyle/>
        <a:p>
          <a:endParaRPr lang="fr-FR"/>
        </a:p>
      </dgm:t>
    </dgm:pt>
    <dgm:pt modelId="{3DFA66E1-F929-47B6-9416-F195AE18DE4A}" type="sibTrans" cxnId="{BDCE60FB-719B-45D4-8E9C-00C4009E7530}">
      <dgm:prSet/>
      <dgm:spPr/>
      <dgm:t>
        <a:bodyPr/>
        <a:lstStyle/>
        <a:p>
          <a:endParaRPr lang="fr-FR"/>
        </a:p>
      </dgm:t>
    </dgm:pt>
    <dgm:pt modelId="{ED9451A4-6723-4A3E-BB22-0D9B915F5821}">
      <dgm:prSet phldrT="[Text]"/>
      <dgm:spPr>
        <a:solidFill>
          <a:schemeClr val="accent4">
            <a:lumMod val="75000"/>
          </a:schemeClr>
        </a:solidFill>
      </dgm:spPr>
      <dgm:t>
        <a:bodyPr/>
        <a:lstStyle/>
        <a:p>
          <a:r>
            <a:rPr lang="fr-FR" dirty="0"/>
            <a:t>Output y = f(x)</a:t>
          </a:r>
        </a:p>
        <a:p>
          <a:r>
            <a:rPr lang="fr-FR" dirty="0"/>
            <a:t>(</a:t>
          </a:r>
          <a:r>
            <a:rPr lang="fr-FR" dirty="0" err="1"/>
            <a:t>available</a:t>
          </a:r>
          <a:r>
            <a:rPr lang="fr-FR" dirty="0"/>
            <a:t>)</a:t>
          </a:r>
        </a:p>
      </dgm:t>
    </dgm:pt>
    <dgm:pt modelId="{C9961E67-019C-48A8-953D-6DB9DBD191D6}" type="parTrans" cxnId="{E93A3E40-822A-49E3-BB7F-9F11F45D10D2}">
      <dgm:prSet/>
      <dgm:spPr/>
      <dgm:t>
        <a:bodyPr/>
        <a:lstStyle/>
        <a:p>
          <a:endParaRPr lang="fr-FR"/>
        </a:p>
      </dgm:t>
    </dgm:pt>
    <dgm:pt modelId="{F4CD8F25-0B8B-4356-8181-23C92E32B6F4}" type="sibTrans" cxnId="{E93A3E40-822A-49E3-BB7F-9F11F45D10D2}">
      <dgm:prSet/>
      <dgm:spPr/>
      <dgm:t>
        <a:bodyPr/>
        <a:lstStyle/>
        <a:p>
          <a:endParaRPr lang="fr-FR"/>
        </a:p>
      </dgm:t>
    </dgm:pt>
    <dgm:pt modelId="{64323CED-4B76-470C-968C-F1E81F93F046}" type="pres">
      <dgm:prSet presAssocID="{66E47C97-F4C1-42C6-BEB2-FC13112153AE}" presName="Name0" presStyleCnt="0">
        <dgm:presLayoutVars>
          <dgm:dir/>
          <dgm:resizeHandles val="exact"/>
        </dgm:presLayoutVars>
      </dgm:prSet>
      <dgm:spPr/>
    </dgm:pt>
    <dgm:pt modelId="{83E38CBC-CC3E-40D3-B584-F97F97FA64F6}" type="pres">
      <dgm:prSet presAssocID="{5BE86BF3-D341-4155-9484-306A3B20C102}" presName="node" presStyleLbl="node1" presStyleIdx="0" presStyleCnt="3">
        <dgm:presLayoutVars>
          <dgm:bulletEnabled val="1"/>
        </dgm:presLayoutVars>
      </dgm:prSet>
      <dgm:spPr/>
    </dgm:pt>
    <dgm:pt modelId="{5CD182C0-800E-432C-8B73-854A903CC72D}" type="pres">
      <dgm:prSet presAssocID="{ABB67F8B-DEC3-4D09-9E17-3A37C7506A51}" presName="sibTrans" presStyleLbl="sibTrans2D1" presStyleIdx="0" presStyleCnt="2"/>
      <dgm:spPr/>
    </dgm:pt>
    <dgm:pt modelId="{D8051973-2211-4448-A4B9-4F6B25297EDD}" type="pres">
      <dgm:prSet presAssocID="{ABB67F8B-DEC3-4D09-9E17-3A37C7506A51}" presName="connectorText" presStyleLbl="sibTrans2D1" presStyleIdx="0" presStyleCnt="2"/>
      <dgm:spPr/>
    </dgm:pt>
    <dgm:pt modelId="{3C5C6723-04AD-4C68-9F49-07CB9D90BE94}" type="pres">
      <dgm:prSet presAssocID="{3C134AC3-C6F5-4ABB-8FA1-78D409436E64}" presName="node" presStyleLbl="node1" presStyleIdx="1" presStyleCnt="3">
        <dgm:presLayoutVars>
          <dgm:bulletEnabled val="1"/>
        </dgm:presLayoutVars>
      </dgm:prSet>
      <dgm:spPr/>
    </dgm:pt>
    <dgm:pt modelId="{612254E6-4C17-4782-95A1-649BB671D6BB}" type="pres">
      <dgm:prSet presAssocID="{3DFA66E1-F929-47B6-9416-F195AE18DE4A}" presName="sibTrans" presStyleLbl="sibTrans2D1" presStyleIdx="1" presStyleCnt="2"/>
      <dgm:spPr/>
    </dgm:pt>
    <dgm:pt modelId="{6DAE01C6-F71E-4AF2-99DB-1214DCF063A6}" type="pres">
      <dgm:prSet presAssocID="{3DFA66E1-F929-47B6-9416-F195AE18DE4A}" presName="connectorText" presStyleLbl="sibTrans2D1" presStyleIdx="1" presStyleCnt="2"/>
      <dgm:spPr/>
    </dgm:pt>
    <dgm:pt modelId="{04100F71-2CD1-4228-86AA-477CAA37CF23}" type="pres">
      <dgm:prSet presAssocID="{ED9451A4-6723-4A3E-BB22-0D9B915F5821}" presName="node" presStyleLbl="node1" presStyleIdx="2" presStyleCnt="3">
        <dgm:presLayoutVars>
          <dgm:bulletEnabled val="1"/>
        </dgm:presLayoutVars>
      </dgm:prSet>
      <dgm:spPr/>
    </dgm:pt>
  </dgm:ptLst>
  <dgm:cxnLst>
    <dgm:cxn modelId="{D4637A09-D4EC-4E7F-9777-0A233ABD818D}" type="presOf" srcId="{ABB67F8B-DEC3-4D09-9E17-3A37C7506A51}" destId="{D8051973-2211-4448-A4B9-4F6B25297EDD}" srcOrd="1" destOrd="0" presId="urn:microsoft.com/office/officeart/2005/8/layout/process1"/>
    <dgm:cxn modelId="{C748F50C-14D1-4A5D-8190-9B27234876CD}" type="presOf" srcId="{ED9451A4-6723-4A3E-BB22-0D9B915F5821}" destId="{04100F71-2CD1-4228-86AA-477CAA37CF23}" srcOrd="0" destOrd="0" presId="urn:microsoft.com/office/officeart/2005/8/layout/process1"/>
    <dgm:cxn modelId="{0035093C-C95E-43D8-B326-8EBC6C670E0C}" type="presOf" srcId="{3C134AC3-C6F5-4ABB-8FA1-78D409436E64}" destId="{3C5C6723-04AD-4C68-9F49-07CB9D90BE94}" srcOrd="0" destOrd="0" presId="urn:microsoft.com/office/officeart/2005/8/layout/process1"/>
    <dgm:cxn modelId="{E93A3E40-822A-49E3-BB7F-9F11F45D10D2}" srcId="{66E47C97-F4C1-42C6-BEB2-FC13112153AE}" destId="{ED9451A4-6723-4A3E-BB22-0D9B915F5821}" srcOrd="2" destOrd="0" parTransId="{C9961E67-019C-48A8-953D-6DB9DBD191D6}" sibTransId="{F4CD8F25-0B8B-4356-8181-23C92E32B6F4}"/>
    <dgm:cxn modelId="{89B69F4B-629A-4A33-B31E-A94DEBFA9690}" type="presOf" srcId="{ABB67F8B-DEC3-4D09-9E17-3A37C7506A51}" destId="{5CD182C0-800E-432C-8B73-854A903CC72D}" srcOrd="0" destOrd="0" presId="urn:microsoft.com/office/officeart/2005/8/layout/process1"/>
    <dgm:cxn modelId="{53E70178-87C5-43FA-90D1-FFD0D01BA7AD}" type="presOf" srcId="{5BE86BF3-D341-4155-9484-306A3B20C102}" destId="{83E38CBC-CC3E-40D3-B584-F97F97FA64F6}" srcOrd="0" destOrd="0" presId="urn:microsoft.com/office/officeart/2005/8/layout/process1"/>
    <dgm:cxn modelId="{D88736D8-7912-4963-B7D4-11B91A973DC7}" type="presOf" srcId="{3DFA66E1-F929-47B6-9416-F195AE18DE4A}" destId="{612254E6-4C17-4782-95A1-649BB671D6BB}" srcOrd="0" destOrd="0" presId="urn:microsoft.com/office/officeart/2005/8/layout/process1"/>
    <dgm:cxn modelId="{446FA0E4-0BCC-432C-A377-15B5785B110C}" type="presOf" srcId="{66E47C97-F4C1-42C6-BEB2-FC13112153AE}" destId="{64323CED-4B76-470C-968C-F1E81F93F046}" srcOrd="0" destOrd="0" presId="urn:microsoft.com/office/officeart/2005/8/layout/process1"/>
    <dgm:cxn modelId="{4B7F0CED-53AB-46D7-B6A9-7A6BE48865D2}" type="presOf" srcId="{3DFA66E1-F929-47B6-9416-F195AE18DE4A}" destId="{6DAE01C6-F71E-4AF2-99DB-1214DCF063A6}" srcOrd="1" destOrd="0" presId="urn:microsoft.com/office/officeart/2005/8/layout/process1"/>
    <dgm:cxn modelId="{A2076AF0-E5F5-4FEA-8C3A-45FA8AD83D60}" srcId="{66E47C97-F4C1-42C6-BEB2-FC13112153AE}" destId="{5BE86BF3-D341-4155-9484-306A3B20C102}" srcOrd="0" destOrd="0" parTransId="{6EB35FA6-7C13-4889-AEB9-1C80013BD367}" sibTransId="{ABB67F8B-DEC3-4D09-9E17-3A37C7506A51}"/>
    <dgm:cxn modelId="{BDCE60FB-719B-45D4-8E9C-00C4009E7530}" srcId="{66E47C97-F4C1-42C6-BEB2-FC13112153AE}" destId="{3C134AC3-C6F5-4ABB-8FA1-78D409436E64}" srcOrd="1" destOrd="0" parTransId="{8676FC33-775E-4430-AD1D-0806E3A69C3B}" sibTransId="{3DFA66E1-F929-47B6-9416-F195AE18DE4A}"/>
    <dgm:cxn modelId="{21F98D6F-B222-471C-88CF-C39E7E161B2B}" type="presParOf" srcId="{64323CED-4B76-470C-968C-F1E81F93F046}" destId="{83E38CBC-CC3E-40D3-B584-F97F97FA64F6}" srcOrd="0" destOrd="0" presId="urn:microsoft.com/office/officeart/2005/8/layout/process1"/>
    <dgm:cxn modelId="{DE18B930-543F-4B39-BF80-54B179410BF2}" type="presParOf" srcId="{64323CED-4B76-470C-968C-F1E81F93F046}" destId="{5CD182C0-800E-432C-8B73-854A903CC72D}" srcOrd="1" destOrd="0" presId="urn:microsoft.com/office/officeart/2005/8/layout/process1"/>
    <dgm:cxn modelId="{72F5816F-9A0E-4C9C-9A1D-CDBA3CA2C5E8}" type="presParOf" srcId="{5CD182C0-800E-432C-8B73-854A903CC72D}" destId="{D8051973-2211-4448-A4B9-4F6B25297EDD}" srcOrd="0" destOrd="0" presId="urn:microsoft.com/office/officeart/2005/8/layout/process1"/>
    <dgm:cxn modelId="{9A2A168D-6CB5-4AA1-B250-71485F946E2E}" type="presParOf" srcId="{64323CED-4B76-470C-968C-F1E81F93F046}" destId="{3C5C6723-04AD-4C68-9F49-07CB9D90BE94}" srcOrd="2" destOrd="0" presId="urn:microsoft.com/office/officeart/2005/8/layout/process1"/>
    <dgm:cxn modelId="{F8723296-1C36-460D-BD96-DB978ED852DB}" type="presParOf" srcId="{64323CED-4B76-470C-968C-F1E81F93F046}" destId="{612254E6-4C17-4782-95A1-649BB671D6BB}" srcOrd="3" destOrd="0" presId="urn:microsoft.com/office/officeart/2005/8/layout/process1"/>
    <dgm:cxn modelId="{E7168600-118F-490B-992C-536E26BD6CCA}" type="presParOf" srcId="{612254E6-4C17-4782-95A1-649BB671D6BB}" destId="{6DAE01C6-F71E-4AF2-99DB-1214DCF063A6}" srcOrd="0" destOrd="0" presId="urn:microsoft.com/office/officeart/2005/8/layout/process1"/>
    <dgm:cxn modelId="{A0CCDE21-BC6B-4E08-8900-FD26D63DB5DD}" type="presParOf" srcId="{64323CED-4B76-470C-968C-F1E81F93F046}" destId="{04100F71-2CD1-4228-86AA-477CAA37CF23}"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59CD5B6-2E69-4C73-B794-76F70FDB2A55}"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SG"/>
        </a:p>
      </dgm:t>
    </dgm:pt>
    <dgm:pt modelId="{104306D0-3A8A-49FB-B4F7-483AEE3B08E8}">
      <dgm:prSet phldrT="[Text]"/>
      <dgm:spPr/>
      <dgm:t>
        <a:bodyPr/>
        <a:lstStyle/>
        <a:p>
          <a:r>
            <a:rPr lang="en-GB" dirty="0"/>
            <a:t>Artificial intelligence</a:t>
          </a:r>
          <a:endParaRPr lang="en-SG" dirty="0"/>
        </a:p>
      </dgm:t>
    </dgm:pt>
    <dgm:pt modelId="{D52E967E-1588-44E9-B2EA-3A8EEF4F0001}" type="parTrans" cxnId="{FD34B811-D5B8-4964-B1EA-E7A8B7F54E19}">
      <dgm:prSet/>
      <dgm:spPr/>
      <dgm:t>
        <a:bodyPr/>
        <a:lstStyle/>
        <a:p>
          <a:endParaRPr lang="en-SG"/>
        </a:p>
      </dgm:t>
    </dgm:pt>
    <dgm:pt modelId="{EDFAEF29-F7A1-4665-97EA-CC41F5304347}" type="sibTrans" cxnId="{FD34B811-D5B8-4964-B1EA-E7A8B7F54E19}">
      <dgm:prSet/>
      <dgm:spPr/>
      <dgm:t>
        <a:bodyPr/>
        <a:lstStyle/>
        <a:p>
          <a:endParaRPr lang="en-SG"/>
        </a:p>
      </dgm:t>
    </dgm:pt>
    <dgm:pt modelId="{EED824A5-E231-46F4-88C7-DB795B0C840F}">
      <dgm:prSet phldrT="[Text]"/>
      <dgm:spPr/>
      <dgm:t>
        <a:bodyPr/>
        <a:lstStyle/>
        <a:p>
          <a:r>
            <a:rPr lang="en-GB" dirty="0"/>
            <a:t>Machine Learning</a:t>
          </a:r>
          <a:endParaRPr lang="en-SG" dirty="0"/>
        </a:p>
      </dgm:t>
    </dgm:pt>
    <dgm:pt modelId="{5C50D54F-9828-42E9-B013-F9C4AF23B0DE}" type="parTrans" cxnId="{8C4BEA51-C5BC-4BE5-B7A1-3C6EB014CE5F}">
      <dgm:prSet/>
      <dgm:spPr/>
      <dgm:t>
        <a:bodyPr/>
        <a:lstStyle/>
        <a:p>
          <a:endParaRPr lang="en-SG"/>
        </a:p>
      </dgm:t>
    </dgm:pt>
    <dgm:pt modelId="{CC992ECD-F8D0-464D-ACCE-131CCEDCD9DC}" type="sibTrans" cxnId="{8C4BEA51-C5BC-4BE5-B7A1-3C6EB014CE5F}">
      <dgm:prSet/>
      <dgm:spPr/>
      <dgm:t>
        <a:bodyPr/>
        <a:lstStyle/>
        <a:p>
          <a:endParaRPr lang="en-SG"/>
        </a:p>
      </dgm:t>
    </dgm:pt>
    <dgm:pt modelId="{BCE4C676-D709-46D1-AC02-4CDFDA47C515}">
      <dgm:prSet phldrT="[Text]"/>
      <dgm:spPr/>
      <dgm:t>
        <a:bodyPr/>
        <a:lstStyle/>
        <a:p>
          <a:r>
            <a:rPr lang="en-GB" dirty="0"/>
            <a:t>Neural Networks</a:t>
          </a:r>
          <a:endParaRPr lang="en-SG" dirty="0"/>
        </a:p>
      </dgm:t>
    </dgm:pt>
    <dgm:pt modelId="{A83AE9C8-973A-4B9D-B81C-DD68D07C2DFE}" type="parTrans" cxnId="{E5066507-AEC8-4CD6-9767-3A5D4E8B4D44}">
      <dgm:prSet/>
      <dgm:spPr/>
      <dgm:t>
        <a:bodyPr/>
        <a:lstStyle/>
        <a:p>
          <a:endParaRPr lang="en-SG"/>
        </a:p>
      </dgm:t>
    </dgm:pt>
    <dgm:pt modelId="{4C719ABB-8AAC-4615-9F42-64DD8BB3E053}" type="sibTrans" cxnId="{E5066507-AEC8-4CD6-9767-3A5D4E8B4D44}">
      <dgm:prSet/>
      <dgm:spPr/>
      <dgm:t>
        <a:bodyPr/>
        <a:lstStyle/>
        <a:p>
          <a:endParaRPr lang="en-SG"/>
        </a:p>
      </dgm:t>
    </dgm:pt>
    <dgm:pt modelId="{2AAAFBF7-83C7-479D-AC65-8C3488A6BFA8}">
      <dgm:prSet phldrT="[Text]"/>
      <dgm:spPr/>
      <dgm:t>
        <a:bodyPr/>
        <a:lstStyle/>
        <a:p>
          <a:r>
            <a:rPr lang="en-GB" dirty="0"/>
            <a:t>Deep Learning</a:t>
          </a:r>
          <a:endParaRPr lang="en-SG" dirty="0"/>
        </a:p>
      </dgm:t>
    </dgm:pt>
    <dgm:pt modelId="{A4467761-A0D9-4C09-9CA6-E346179BEDC8}" type="parTrans" cxnId="{CA957AA7-A0E1-49EE-BF60-5E25628389CD}">
      <dgm:prSet/>
      <dgm:spPr/>
      <dgm:t>
        <a:bodyPr/>
        <a:lstStyle/>
        <a:p>
          <a:endParaRPr lang="en-SG"/>
        </a:p>
      </dgm:t>
    </dgm:pt>
    <dgm:pt modelId="{E62172F1-3B23-43C3-96D2-C8E794DA35A0}" type="sibTrans" cxnId="{CA957AA7-A0E1-49EE-BF60-5E25628389CD}">
      <dgm:prSet/>
      <dgm:spPr/>
      <dgm:t>
        <a:bodyPr/>
        <a:lstStyle/>
        <a:p>
          <a:endParaRPr lang="en-SG"/>
        </a:p>
      </dgm:t>
    </dgm:pt>
    <dgm:pt modelId="{03DE1D20-29E8-4FA1-B5F1-5C555DDB98A1}" type="pres">
      <dgm:prSet presAssocID="{159CD5B6-2E69-4C73-B794-76F70FDB2A55}" presName="Name0" presStyleCnt="0">
        <dgm:presLayoutVars>
          <dgm:chMax val="7"/>
          <dgm:dir/>
          <dgm:animLvl val="lvl"/>
          <dgm:resizeHandles val="exact"/>
        </dgm:presLayoutVars>
      </dgm:prSet>
      <dgm:spPr/>
    </dgm:pt>
    <dgm:pt modelId="{49603298-A817-4B69-A7CC-ACE624EE54EB}" type="pres">
      <dgm:prSet presAssocID="{104306D0-3A8A-49FB-B4F7-483AEE3B08E8}" presName="circle1" presStyleLbl="node1" presStyleIdx="0" presStyleCnt="4"/>
      <dgm:spPr/>
    </dgm:pt>
    <dgm:pt modelId="{ACED1C0C-8BDF-406E-A4FB-C18C62C53904}" type="pres">
      <dgm:prSet presAssocID="{104306D0-3A8A-49FB-B4F7-483AEE3B08E8}" presName="space" presStyleCnt="0"/>
      <dgm:spPr/>
    </dgm:pt>
    <dgm:pt modelId="{4B64177B-3AAD-407C-81EB-47E5DE27D2FD}" type="pres">
      <dgm:prSet presAssocID="{104306D0-3A8A-49FB-B4F7-483AEE3B08E8}" presName="rect1" presStyleLbl="alignAcc1" presStyleIdx="0" presStyleCnt="4" custLinFactX="49537" custLinFactNeighborX="100000" custLinFactNeighborY="-63851"/>
      <dgm:spPr/>
    </dgm:pt>
    <dgm:pt modelId="{692DD63C-0FF1-4F35-893E-4F53D083F70B}" type="pres">
      <dgm:prSet presAssocID="{EED824A5-E231-46F4-88C7-DB795B0C840F}" presName="vertSpace2" presStyleLbl="node1" presStyleIdx="0" presStyleCnt="4"/>
      <dgm:spPr/>
    </dgm:pt>
    <dgm:pt modelId="{82D0C9BC-AB35-41ED-B5AA-19E1A0BC3DB9}" type="pres">
      <dgm:prSet presAssocID="{EED824A5-E231-46F4-88C7-DB795B0C840F}" presName="circle2" presStyleLbl="node1" presStyleIdx="1" presStyleCnt="4"/>
      <dgm:spPr/>
    </dgm:pt>
    <dgm:pt modelId="{0EF61DF8-F923-4D5C-8375-DF1BCAF7B5F6}" type="pres">
      <dgm:prSet presAssocID="{EED824A5-E231-46F4-88C7-DB795B0C840F}" presName="rect2" presStyleLbl="alignAcc1" presStyleIdx="1" presStyleCnt="4"/>
      <dgm:spPr/>
    </dgm:pt>
    <dgm:pt modelId="{B680FBA8-38B0-43B6-9489-BD39087633B2}" type="pres">
      <dgm:prSet presAssocID="{BCE4C676-D709-46D1-AC02-4CDFDA47C515}" presName="vertSpace3" presStyleLbl="node1" presStyleIdx="1" presStyleCnt="4"/>
      <dgm:spPr/>
    </dgm:pt>
    <dgm:pt modelId="{D6E232F9-A506-41A3-9B36-CE9DEC8D4034}" type="pres">
      <dgm:prSet presAssocID="{BCE4C676-D709-46D1-AC02-4CDFDA47C515}" presName="circle3" presStyleLbl="node1" presStyleIdx="2" presStyleCnt="4"/>
      <dgm:spPr/>
    </dgm:pt>
    <dgm:pt modelId="{D0639CE7-4EB7-41D0-82BF-E6CBF2145603}" type="pres">
      <dgm:prSet presAssocID="{BCE4C676-D709-46D1-AC02-4CDFDA47C515}" presName="rect3" presStyleLbl="alignAcc1" presStyleIdx="2" presStyleCnt="4"/>
      <dgm:spPr/>
    </dgm:pt>
    <dgm:pt modelId="{AF318DB6-73F6-4E86-B3D7-B7AE913E339A}" type="pres">
      <dgm:prSet presAssocID="{2AAAFBF7-83C7-479D-AC65-8C3488A6BFA8}" presName="vertSpace4" presStyleLbl="node1" presStyleIdx="2" presStyleCnt="4"/>
      <dgm:spPr/>
    </dgm:pt>
    <dgm:pt modelId="{DBC2DDC1-AE94-4F82-BDDC-398D3F9B144A}" type="pres">
      <dgm:prSet presAssocID="{2AAAFBF7-83C7-479D-AC65-8C3488A6BFA8}" presName="circle4" presStyleLbl="node1" presStyleIdx="3" presStyleCnt="4"/>
      <dgm:spPr/>
    </dgm:pt>
    <dgm:pt modelId="{C32C61C9-97BE-43E6-94DF-2C93AA227736}" type="pres">
      <dgm:prSet presAssocID="{2AAAFBF7-83C7-479D-AC65-8C3488A6BFA8}" presName="rect4" presStyleLbl="alignAcc1" presStyleIdx="3" presStyleCnt="4"/>
      <dgm:spPr/>
    </dgm:pt>
    <dgm:pt modelId="{A32EB1EA-449B-48C9-8704-957B4DD88C1A}" type="pres">
      <dgm:prSet presAssocID="{104306D0-3A8A-49FB-B4F7-483AEE3B08E8}" presName="rect1ParTxNoCh" presStyleLbl="alignAcc1" presStyleIdx="3" presStyleCnt="4">
        <dgm:presLayoutVars>
          <dgm:chMax val="1"/>
          <dgm:bulletEnabled val="1"/>
        </dgm:presLayoutVars>
      </dgm:prSet>
      <dgm:spPr/>
    </dgm:pt>
    <dgm:pt modelId="{25AF7C3F-C9D5-49B3-966D-C9BE736AAA6D}" type="pres">
      <dgm:prSet presAssocID="{EED824A5-E231-46F4-88C7-DB795B0C840F}" presName="rect2ParTxNoCh" presStyleLbl="alignAcc1" presStyleIdx="3" presStyleCnt="4">
        <dgm:presLayoutVars>
          <dgm:chMax val="1"/>
          <dgm:bulletEnabled val="1"/>
        </dgm:presLayoutVars>
      </dgm:prSet>
      <dgm:spPr/>
    </dgm:pt>
    <dgm:pt modelId="{D9F42932-1A8D-44DC-A481-2E68B1C8C205}" type="pres">
      <dgm:prSet presAssocID="{BCE4C676-D709-46D1-AC02-4CDFDA47C515}" presName="rect3ParTxNoCh" presStyleLbl="alignAcc1" presStyleIdx="3" presStyleCnt="4">
        <dgm:presLayoutVars>
          <dgm:chMax val="1"/>
          <dgm:bulletEnabled val="1"/>
        </dgm:presLayoutVars>
      </dgm:prSet>
      <dgm:spPr/>
    </dgm:pt>
    <dgm:pt modelId="{482B82DC-F7FE-4673-9C60-BFEB7B895B63}" type="pres">
      <dgm:prSet presAssocID="{2AAAFBF7-83C7-479D-AC65-8C3488A6BFA8}" presName="rect4ParTxNoCh" presStyleLbl="alignAcc1" presStyleIdx="3" presStyleCnt="4">
        <dgm:presLayoutVars>
          <dgm:chMax val="1"/>
          <dgm:bulletEnabled val="1"/>
        </dgm:presLayoutVars>
      </dgm:prSet>
      <dgm:spPr/>
    </dgm:pt>
  </dgm:ptLst>
  <dgm:cxnLst>
    <dgm:cxn modelId="{E5066507-AEC8-4CD6-9767-3A5D4E8B4D44}" srcId="{159CD5B6-2E69-4C73-B794-76F70FDB2A55}" destId="{BCE4C676-D709-46D1-AC02-4CDFDA47C515}" srcOrd="2" destOrd="0" parTransId="{A83AE9C8-973A-4B9D-B81C-DD68D07C2DFE}" sibTransId="{4C719ABB-8AAC-4615-9F42-64DD8BB3E053}"/>
    <dgm:cxn modelId="{38B60E0A-3875-4560-ADAF-1D5BD1A2BD6E}" type="presOf" srcId="{2AAAFBF7-83C7-479D-AC65-8C3488A6BFA8}" destId="{482B82DC-F7FE-4673-9C60-BFEB7B895B63}" srcOrd="1" destOrd="0" presId="urn:microsoft.com/office/officeart/2005/8/layout/target3"/>
    <dgm:cxn modelId="{FD34B811-D5B8-4964-B1EA-E7A8B7F54E19}" srcId="{159CD5B6-2E69-4C73-B794-76F70FDB2A55}" destId="{104306D0-3A8A-49FB-B4F7-483AEE3B08E8}" srcOrd="0" destOrd="0" parTransId="{D52E967E-1588-44E9-B2EA-3A8EEF4F0001}" sibTransId="{EDFAEF29-F7A1-4665-97EA-CC41F5304347}"/>
    <dgm:cxn modelId="{048DEE16-1D6F-40FC-B275-9BE7BF460DB1}" type="presOf" srcId="{EED824A5-E231-46F4-88C7-DB795B0C840F}" destId="{0EF61DF8-F923-4D5C-8375-DF1BCAF7B5F6}" srcOrd="0" destOrd="0" presId="urn:microsoft.com/office/officeart/2005/8/layout/target3"/>
    <dgm:cxn modelId="{1132A734-07AE-4970-898A-EAA2463C6CC9}" type="presOf" srcId="{BCE4C676-D709-46D1-AC02-4CDFDA47C515}" destId="{D9F42932-1A8D-44DC-A481-2E68B1C8C205}" srcOrd="1" destOrd="0" presId="urn:microsoft.com/office/officeart/2005/8/layout/target3"/>
    <dgm:cxn modelId="{8C4BEA51-C5BC-4BE5-B7A1-3C6EB014CE5F}" srcId="{159CD5B6-2E69-4C73-B794-76F70FDB2A55}" destId="{EED824A5-E231-46F4-88C7-DB795B0C840F}" srcOrd="1" destOrd="0" parTransId="{5C50D54F-9828-42E9-B013-F9C4AF23B0DE}" sibTransId="{CC992ECD-F8D0-464D-ACCE-131CCEDCD9DC}"/>
    <dgm:cxn modelId="{0393E277-CEFA-4A96-AE8F-B8BD1A9F9FBF}" type="presOf" srcId="{159CD5B6-2E69-4C73-B794-76F70FDB2A55}" destId="{03DE1D20-29E8-4FA1-B5F1-5C555DDB98A1}" srcOrd="0" destOrd="0" presId="urn:microsoft.com/office/officeart/2005/8/layout/target3"/>
    <dgm:cxn modelId="{EC36849D-025A-42F1-AE09-2817278DAC90}" type="presOf" srcId="{104306D0-3A8A-49FB-B4F7-483AEE3B08E8}" destId="{4B64177B-3AAD-407C-81EB-47E5DE27D2FD}" srcOrd="0" destOrd="0" presId="urn:microsoft.com/office/officeart/2005/8/layout/target3"/>
    <dgm:cxn modelId="{CA957AA7-A0E1-49EE-BF60-5E25628389CD}" srcId="{159CD5B6-2E69-4C73-B794-76F70FDB2A55}" destId="{2AAAFBF7-83C7-479D-AC65-8C3488A6BFA8}" srcOrd="3" destOrd="0" parTransId="{A4467761-A0D9-4C09-9CA6-E346179BEDC8}" sibTransId="{E62172F1-3B23-43C3-96D2-C8E794DA35A0}"/>
    <dgm:cxn modelId="{0FF7D9A7-4642-4FC4-8653-51E11E311AB9}" type="presOf" srcId="{2AAAFBF7-83C7-479D-AC65-8C3488A6BFA8}" destId="{C32C61C9-97BE-43E6-94DF-2C93AA227736}" srcOrd="0" destOrd="0" presId="urn:microsoft.com/office/officeart/2005/8/layout/target3"/>
    <dgm:cxn modelId="{543C51B2-2E8A-47BA-93BC-FEB8034F8405}" type="presOf" srcId="{BCE4C676-D709-46D1-AC02-4CDFDA47C515}" destId="{D0639CE7-4EB7-41D0-82BF-E6CBF2145603}" srcOrd="0" destOrd="0" presId="urn:microsoft.com/office/officeart/2005/8/layout/target3"/>
    <dgm:cxn modelId="{5980DBC7-A72B-44A2-9045-B0E166235376}" type="presOf" srcId="{104306D0-3A8A-49FB-B4F7-483AEE3B08E8}" destId="{A32EB1EA-449B-48C9-8704-957B4DD88C1A}" srcOrd="1" destOrd="0" presId="urn:microsoft.com/office/officeart/2005/8/layout/target3"/>
    <dgm:cxn modelId="{04B582EF-9DBA-49DA-A51F-68402758BECA}" type="presOf" srcId="{EED824A5-E231-46F4-88C7-DB795B0C840F}" destId="{25AF7C3F-C9D5-49B3-966D-C9BE736AAA6D}" srcOrd="1" destOrd="0" presId="urn:microsoft.com/office/officeart/2005/8/layout/target3"/>
    <dgm:cxn modelId="{42B90ACC-AB08-4AF3-803F-F5F801BBE95D}" type="presParOf" srcId="{03DE1D20-29E8-4FA1-B5F1-5C555DDB98A1}" destId="{49603298-A817-4B69-A7CC-ACE624EE54EB}" srcOrd="0" destOrd="0" presId="urn:microsoft.com/office/officeart/2005/8/layout/target3"/>
    <dgm:cxn modelId="{83F7434A-3A32-4C5A-A35B-EF17AF155E20}" type="presParOf" srcId="{03DE1D20-29E8-4FA1-B5F1-5C555DDB98A1}" destId="{ACED1C0C-8BDF-406E-A4FB-C18C62C53904}" srcOrd="1" destOrd="0" presId="urn:microsoft.com/office/officeart/2005/8/layout/target3"/>
    <dgm:cxn modelId="{ECDDE5BB-152E-42E1-837B-D1B09AC1BAD9}" type="presParOf" srcId="{03DE1D20-29E8-4FA1-B5F1-5C555DDB98A1}" destId="{4B64177B-3AAD-407C-81EB-47E5DE27D2FD}" srcOrd="2" destOrd="0" presId="urn:microsoft.com/office/officeart/2005/8/layout/target3"/>
    <dgm:cxn modelId="{4BCEAC5C-638D-4D93-860F-99532470697F}" type="presParOf" srcId="{03DE1D20-29E8-4FA1-B5F1-5C555DDB98A1}" destId="{692DD63C-0FF1-4F35-893E-4F53D083F70B}" srcOrd="3" destOrd="0" presId="urn:microsoft.com/office/officeart/2005/8/layout/target3"/>
    <dgm:cxn modelId="{322AC884-0FBB-45A8-8533-599EAEE1E2BC}" type="presParOf" srcId="{03DE1D20-29E8-4FA1-B5F1-5C555DDB98A1}" destId="{82D0C9BC-AB35-41ED-B5AA-19E1A0BC3DB9}" srcOrd="4" destOrd="0" presId="urn:microsoft.com/office/officeart/2005/8/layout/target3"/>
    <dgm:cxn modelId="{917B7D63-7E60-458E-8F90-4782C82802DA}" type="presParOf" srcId="{03DE1D20-29E8-4FA1-B5F1-5C555DDB98A1}" destId="{0EF61DF8-F923-4D5C-8375-DF1BCAF7B5F6}" srcOrd="5" destOrd="0" presId="urn:microsoft.com/office/officeart/2005/8/layout/target3"/>
    <dgm:cxn modelId="{65CD77EA-72DA-4721-96ED-7EDE4C118E9E}" type="presParOf" srcId="{03DE1D20-29E8-4FA1-B5F1-5C555DDB98A1}" destId="{B680FBA8-38B0-43B6-9489-BD39087633B2}" srcOrd="6" destOrd="0" presId="urn:microsoft.com/office/officeart/2005/8/layout/target3"/>
    <dgm:cxn modelId="{5159D7A5-76EF-497F-B7D8-3CF300AC2E60}" type="presParOf" srcId="{03DE1D20-29E8-4FA1-B5F1-5C555DDB98A1}" destId="{D6E232F9-A506-41A3-9B36-CE9DEC8D4034}" srcOrd="7" destOrd="0" presId="urn:microsoft.com/office/officeart/2005/8/layout/target3"/>
    <dgm:cxn modelId="{547F72F9-2F61-496F-8B7F-34BDA10424FC}" type="presParOf" srcId="{03DE1D20-29E8-4FA1-B5F1-5C555DDB98A1}" destId="{D0639CE7-4EB7-41D0-82BF-E6CBF2145603}" srcOrd="8" destOrd="0" presId="urn:microsoft.com/office/officeart/2005/8/layout/target3"/>
    <dgm:cxn modelId="{BDC0B71D-B685-4E70-8846-9A2B29F3261C}" type="presParOf" srcId="{03DE1D20-29E8-4FA1-B5F1-5C555DDB98A1}" destId="{AF318DB6-73F6-4E86-B3D7-B7AE913E339A}" srcOrd="9" destOrd="0" presId="urn:microsoft.com/office/officeart/2005/8/layout/target3"/>
    <dgm:cxn modelId="{C2B30010-A12D-42A2-A855-4C7868F303C7}" type="presParOf" srcId="{03DE1D20-29E8-4FA1-B5F1-5C555DDB98A1}" destId="{DBC2DDC1-AE94-4F82-BDDC-398D3F9B144A}" srcOrd="10" destOrd="0" presId="urn:microsoft.com/office/officeart/2005/8/layout/target3"/>
    <dgm:cxn modelId="{A94408F5-E2B1-4292-830D-0EDC90AA2B76}" type="presParOf" srcId="{03DE1D20-29E8-4FA1-B5F1-5C555DDB98A1}" destId="{C32C61C9-97BE-43E6-94DF-2C93AA227736}" srcOrd="11" destOrd="0" presId="urn:microsoft.com/office/officeart/2005/8/layout/target3"/>
    <dgm:cxn modelId="{B9165EB6-966A-4F84-B51B-86A8F4D9474B}" type="presParOf" srcId="{03DE1D20-29E8-4FA1-B5F1-5C555DDB98A1}" destId="{A32EB1EA-449B-48C9-8704-957B4DD88C1A}" srcOrd="12" destOrd="0" presId="urn:microsoft.com/office/officeart/2005/8/layout/target3"/>
    <dgm:cxn modelId="{D1538CFF-0994-4EE6-B8FC-E7344E59FBCF}" type="presParOf" srcId="{03DE1D20-29E8-4FA1-B5F1-5C555DDB98A1}" destId="{25AF7C3F-C9D5-49B3-966D-C9BE736AAA6D}" srcOrd="13" destOrd="0" presId="urn:microsoft.com/office/officeart/2005/8/layout/target3"/>
    <dgm:cxn modelId="{655DF406-F593-4EC3-A850-94B0D9036F75}" type="presParOf" srcId="{03DE1D20-29E8-4FA1-B5F1-5C555DDB98A1}" destId="{D9F42932-1A8D-44DC-A481-2E68B1C8C205}" srcOrd="14" destOrd="0" presId="urn:microsoft.com/office/officeart/2005/8/layout/target3"/>
    <dgm:cxn modelId="{2D7B08E4-D6AA-45F1-803C-2CC1E620BE1B}" type="presParOf" srcId="{03DE1D20-29E8-4FA1-B5F1-5C555DDB98A1}" destId="{482B82DC-F7FE-4673-9C60-BFEB7B895B63}" srcOrd="15"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603298-A817-4B69-A7CC-ACE624EE54EB}">
      <dsp:nvSpPr>
        <dsp:cNvPr id="0" name=""/>
        <dsp:cNvSpPr/>
      </dsp:nvSpPr>
      <dsp:spPr>
        <a:xfrm>
          <a:off x="0" y="588925"/>
          <a:ext cx="2685757" cy="2685757"/>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64177B-3AAD-407C-81EB-47E5DE27D2FD}">
      <dsp:nvSpPr>
        <dsp:cNvPr id="0" name=""/>
        <dsp:cNvSpPr/>
      </dsp:nvSpPr>
      <dsp:spPr>
        <a:xfrm>
          <a:off x="1342878" y="0"/>
          <a:ext cx="3133383" cy="268575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dirty="0"/>
            <a:t>Artificial intelligence</a:t>
          </a:r>
          <a:endParaRPr lang="en-SG" sz="2600" kern="1200" dirty="0"/>
        </a:p>
      </dsp:txBody>
      <dsp:txXfrm>
        <a:off x="1342878" y="0"/>
        <a:ext cx="3133383" cy="570723"/>
      </dsp:txXfrm>
    </dsp:sp>
    <dsp:sp modelId="{82D0C9BC-AB35-41ED-B5AA-19E1A0BC3DB9}">
      <dsp:nvSpPr>
        <dsp:cNvPr id="0" name=""/>
        <dsp:cNvSpPr/>
      </dsp:nvSpPr>
      <dsp:spPr>
        <a:xfrm>
          <a:off x="352505" y="1159649"/>
          <a:ext cx="1980745" cy="198074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F61DF8-F923-4D5C-8375-DF1BCAF7B5F6}">
      <dsp:nvSpPr>
        <dsp:cNvPr id="0" name=""/>
        <dsp:cNvSpPr/>
      </dsp:nvSpPr>
      <dsp:spPr>
        <a:xfrm>
          <a:off x="1342878" y="1159649"/>
          <a:ext cx="3133383" cy="198074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dirty="0"/>
            <a:t>Machine Learning</a:t>
          </a:r>
          <a:endParaRPr lang="en-SG" sz="2600" kern="1200" dirty="0"/>
        </a:p>
      </dsp:txBody>
      <dsp:txXfrm>
        <a:off x="1342878" y="1159649"/>
        <a:ext cx="3133383" cy="570723"/>
      </dsp:txXfrm>
    </dsp:sp>
    <dsp:sp modelId="{D6E232F9-A506-41A3-9B36-CE9DEC8D4034}">
      <dsp:nvSpPr>
        <dsp:cNvPr id="0" name=""/>
        <dsp:cNvSpPr/>
      </dsp:nvSpPr>
      <dsp:spPr>
        <a:xfrm>
          <a:off x="705011" y="1730372"/>
          <a:ext cx="1275734" cy="1275734"/>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639CE7-4EB7-41D0-82BF-E6CBF2145603}">
      <dsp:nvSpPr>
        <dsp:cNvPr id="0" name=""/>
        <dsp:cNvSpPr/>
      </dsp:nvSpPr>
      <dsp:spPr>
        <a:xfrm>
          <a:off x="1342878" y="1730372"/>
          <a:ext cx="3133383" cy="127573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dirty="0"/>
            <a:t>Neural Networks</a:t>
          </a:r>
          <a:endParaRPr lang="en-SG" sz="2600" kern="1200" dirty="0"/>
        </a:p>
      </dsp:txBody>
      <dsp:txXfrm>
        <a:off x="1342878" y="1730372"/>
        <a:ext cx="3133383" cy="570723"/>
      </dsp:txXfrm>
    </dsp:sp>
    <dsp:sp modelId="{DBC2DDC1-AE94-4F82-BDDC-398D3F9B144A}">
      <dsp:nvSpPr>
        <dsp:cNvPr id="0" name=""/>
        <dsp:cNvSpPr/>
      </dsp:nvSpPr>
      <dsp:spPr>
        <a:xfrm>
          <a:off x="1057516" y="2301096"/>
          <a:ext cx="570723" cy="57072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2C61C9-97BE-43E6-94DF-2C93AA227736}">
      <dsp:nvSpPr>
        <dsp:cNvPr id="0" name=""/>
        <dsp:cNvSpPr/>
      </dsp:nvSpPr>
      <dsp:spPr>
        <a:xfrm>
          <a:off x="1342878" y="2301096"/>
          <a:ext cx="3133383" cy="57072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dirty="0"/>
            <a:t>Deep Learning</a:t>
          </a:r>
          <a:endParaRPr lang="en-SG" sz="2600" kern="1200" dirty="0"/>
        </a:p>
      </dsp:txBody>
      <dsp:txXfrm>
        <a:off x="1342878" y="2301096"/>
        <a:ext cx="3133383" cy="5707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E38CBC-CC3E-40D3-B584-F97F97FA64F6}">
      <dsp:nvSpPr>
        <dsp:cNvPr id="0" name=""/>
        <dsp:cNvSpPr/>
      </dsp:nvSpPr>
      <dsp:spPr>
        <a:xfrm>
          <a:off x="4082" y="220936"/>
          <a:ext cx="1220226" cy="800773"/>
        </a:xfrm>
        <a:prstGeom prst="roundRect">
          <a:avLst>
            <a:gd name="adj" fmla="val 10000"/>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Input (</a:t>
          </a:r>
          <a:r>
            <a:rPr lang="fr-FR" sz="1800" kern="1200" dirty="0" err="1"/>
            <a:t>Given</a:t>
          </a:r>
          <a:r>
            <a:rPr lang="fr-FR" sz="1800" kern="1200" dirty="0"/>
            <a:t>)</a:t>
          </a:r>
        </a:p>
      </dsp:txBody>
      <dsp:txXfrm>
        <a:off x="27536" y="244390"/>
        <a:ext cx="1173318" cy="753865"/>
      </dsp:txXfrm>
    </dsp:sp>
    <dsp:sp modelId="{5CD182C0-800E-432C-8B73-854A903CC72D}">
      <dsp:nvSpPr>
        <dsp:cNvPr id="0" name=""/>
        <dsp:cNvSpPr/>
      </dsp:nvSpPr>
      <dsp:spPr>
        <a:xfrm>
          <a:off x="1346331" y="470015"/>
          <a:ext cx="258687" cy="3026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1346331" y="530538"/>
        <a:ext cx="181081" cy="181570"/>
      </dsp:txXfrm>
    </dsp:sp>
    <dsp:sp modelId="{3C5C6723-04AD-4C68-9F49-07CB9D90BE94}">
      <dsp:nvSpPr>
        <dsp:cNvPr id="0" name=""/>
        <dsp:cNvSpPr/>
      </dsp:nvSpPr>
      <dsp:spPr>
        <a:xfrm>
          <a:off x="1712399" y="220936"/>
          <a:ext cx="1220226" cy="800773"/>
        </a:xfrm>
        <a:prstGeom prst="roundRect">
          <a:avLst>
            <a:gd name="adj" fmla="val 10000"/>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err="1"/>
            <a:t>Function</a:t>
          </a:r>
          <a:endParaRPr lang="fr-FR" sz="1800" kern="1200" dirty="0"/>
        </a:p>
        <a:p>
          <a:pPr marL="0" lvl="0" indent="0" algn="ctr" defTabSz="800100">
            <a:lnSpc>
              <a:spcPct val="90000"/>
            </a:lnSpc>
            <a:spcBef>
              <a:spcPct val="0"/>
            </a:spcBef>
            <a:spcAft>
              <a:spcPct val="35000"/>
            </a:spcAft>
            <a:buNone/>
          </a:pPr>
          <a:r>
            <a:rPr lang="fr-FR" sz="1800" kern="1200" dirty="0"/>
            <a:t>(</a:t>
          </a:r>
          <a:r>
            <a:rPr lang="fr-FR" sz="1800" kern="1200" dirty="0" err="1"/>
            <a:t>Created</a:t>
          </a:r>
          <a:r>
            <a:rPr lang="fr-FR" sz="1800" kern="1200" dirty="0"/>
            <a:t>)</a:t>
          </a:r>
        </a:p>
      </dsp:txBody>
      <dsp:txXfrm>
        <a:off x="1735853" y="244390"/>
        <a:ext cx="1173318" cy="753865"/>
      </dsp:txXfrm>
    </dsp:sp>
    <dsp:sp modelId="{612254E6-4C17-4782-95A1-649BB671D6BB}">
      <dsp:nvSpPr>
        <dsp:cNvPr id="0" name=""/>
        <dsp:cNvSpPr/>
      </dsp:nvSpPr>
      <dsp:spPr>
        <a:xfrm>
          <a:off x="3054648" y="470015"/>
          <a:ext cx="258687" cy="3026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3054648" y="530538"/>
        <a:ext cx="181081" cy="181570"/>
      </dsp:txXfrm>
    </dsp:sp>
    <dsp:sp modelId="{04100F71-2CD1-4228-86AA-477CAA37CF23}">
      <dsp:nvSpPr>
        <dsp:cNvPr id="0" name=""/>
        <dsp:cNvSpPr/>
      </dsp:nvSpPr>
      <dsp:spPr>
        <a:xfrm>
          <a:off x="3420716" y="220936"/>
          <a:ext cx="1220226" cy="800773"/>
        </a:xfrm>
        <a:prstGeom prst="roundRect">
          <a:avLst>
            <a:gd name="adj" fmla="val 1000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Output</a:t>
          </a:r>
        </a:p>
        <a:p>
          <a:pPr marL="0" lvl="0" indent="0" algn="ctr" defTabSz="800100">
            <a:lnSpc>
              <a:spcPct val="90000"/>
            </a:lnSpc>
            <a:spcBef>
              <a:spcPct val="0"/>
            </a:spcBef>
            <a:spcAft>
              <a:spcPct val="35000"/>
            </a:spcAft>
            <a:buNone/>
          </a:pPr>
          <a:r>
            <a:rPr lang="fr-FR" sz="1800" kern="1200" dirty="0"/>
            <a:t>(</a:t>
          </a:r>
          <a:r>
            <a:rPr lang="fr-FR" sz="1800" kern="1200" dirty="0" err="1"/>
            <a:t>Obtained</a:t>
          </a:r>
          <a:r>
            <a:rPr lang="fr-FR" sz="1800" kern="1200" dirty="0"/>
            <a:t>)</a:t>
          </a:r>
        </a:p>
      </dsp:txBody>
      <dsp:txXfrm>
        <a:off x="3444170" y="244390"/>
        <a:ext cx="1173318" cy="7538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E38CBC-CC3E-40D3-B584-F97F97FA64F6}">
      <dsp:nvSpPr>
        <dsp:cNvPr id="0" name=""/>
        <dsp:cNvSpPr/>
      </dsp:nvSpPr>
      <dsp:spPr>
        <a:xfrm>
          <a:off x="4082" y="220936"/>
          <a:ext cx="1220226" cy="800773"/>
        </a:xfrm>
        <a:prstGeom prst="roundRect">
          <a:avLst>
            <a:gd name="adj" fmla="val 10000"/>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Input (</a:t>
          </a:r>
          <a:r>
            <a:rPr lang="fr-FR" sz="1800" kern="1200" dirty="0" err="1"/>
            <a:t>Available</a:t>
          </a:r>
          <a:r>
            <a:rPr lang="fr-FR" sz="1800" kern="1200" dirty="0"/>
            <a:t>)</a:t>
          </a:r>
        </a:p>
      </dsp:txBody>
      <dsp:txXfrm>
        <a:off x="27536" y="244390"/>
        <a:ext cx="1173318" cy="753865"/>
      </dsp:txXfrm>
    </dsp:sp>
    <dsp:sp modelId="{5CD182C0-800E-432C-8B73-854A903CC72D}">
      <dsp:nvSpPr>
        <dsp:cNvPr id="0" name=""/>
        <dsp:cNvSpPr/>
      </dsp:nvSpPr>
      <dsp:spPr>
        <a:xfrm>
          <a:off x="1346331" y="470015"/>
          <a:ext cx="258687" cy="3026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1346331" y="530538"/>
        <a:ext cx="181081" cy="181570"/>
      </dsp:txXfrm>
    </dsp:sp>
    <dsp:sp modelId="{3C5C6723-04AD-4C68-9F49-07CB9D90BE94}">
      <dsp:nvSpPr>
        <dsp:cNvPr id="0" name=""/>
        <dsp:cNvSpPr/>
      </dsp:nvSpPr>
      <dsp:spPr>
        <a:xfrm>
          <a:off x="1712399" y="220936"/>
          <a:ext cx="1220226" cy="800773"/>
        </a:xfrm>
        <a:prstGeom prst="roundRect">
          <a:avLst>
            <a:gd name="adj" fmla="val 1000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err="1"/>
            <a:t>Function</a:t>
          </a:r>
          <a:endParaRPr lang="fr-FR" sz="1800" kern="1200" dirty="0"/>
        </a:p>
        <a:p>
          <a:pPr marL="0" lvl="0" indent="0" algn="ctr" defTabSz="800100">
            <a:lnSpc>
              <a:spcPct val="90000"/>
            </a:lnSpc>
            <a:spcBef>
              <a:spcPct val="0"/>
            </a:spcBef>
            <a:spcAft>
              <a:spcPct val="35000"/>
            </a:spcAft>
            <a:buNone/>
          </a:pPr>
          <a:r>
            <a:rPr lang="fr-FR" sz="1800" kern="1200" dirty="0"/>
            <a:t>(?)</a:t>
          </a:r>
        </a:p>
      </dsp:txBody>
      <dsp:txXfrm>
        <a:off x="1735853" y="244390"/>
        <a:ext cx="1173318" cy="753865"/>
      </dsp:txXfrm>
    </dsp:sp>
    <dsp:sp modelId="{612254E6-4C17-4782-95A1-649BB671D6BB}">
      <dsp:nvSpPr>
        <dsp:cNvPr id="0" name=""/>
        <dsp:cNvSpPr/>
      </dsp:nvSpPr>
      <dsp:spPr>
        <a:xfrm>
          <a:off x="3054648" y="470015"/>
          <a:ext cx="258687" cy="3026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3054648" y="530538"/>
        <a:ext cx="181081" cy="181570"/>
      </dsp:txXfrm>
    </dsp:sp>
    <dsp:sp modelId="{04100F71-2CD1-4228-86AA-477CAA37CF23}">
      <dsp:nvSpPr>
        <dsp:cNvPr id="0" name=""/>
        <dsp:cNvSpPr/>
      </dsp:nvSpPr>
      <dsp:spPr>
        <a:xfrm>
          <a:off x="3420716" y="220936"/>
          <a:ext cx="1220226" cy="800773"/>
        </a:xfrm>
        <a:prstGeom prst="roundRect">
          <a:avLst>
            <a:gd name="adj" fmla="val 10000"/>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Output</a:t>
          </a:r>
        </a:p>
        <a:p>
          <a:pPr marL="0" lvl="0" indent="0" algn="ctr" defTabSz="800100">
            <a:lnSpc>
              <a:spcPct val="90000"/>
            </a:lnSpc>
            <a:spcBef>
              <a:spcPct val="0"/>
            </a:spcBef>
            <a:spcAft>
              <a:spcPct val="35000"/>
            </a:spcAft>
            <a:buNone/>
          </a:pPr>
          <a:r>
            <a:rPr lang="fr-FR" sz="1800" kern="1200" dirty="0"/>
            <a:t>(</a:t>
          </a:r>
          <a:r>
            <a:rPr lang="fr-FR" sz="1800" kern="1200" dirty="0" err="1"/>
            <a:t>Available</a:t>
          </a:r>
          <a:r>
            <a:rPr lang="fr-FR" sz="1800" kern="1200" dirty="0"/>
            <a:t>)</a:t>
          </a:r>
        </a:p>
      </dsp:txBody>
      <dsp:txXfrm>
        <a:off x="3444170" y="244390"/>
        <a:ext cx="1173318" cy="7538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E38CBC-CC3E-40D3-B584-F97F97FA64F6}">
      <dsp:nvSpPr>
        <dsp:cNvPr id="0" name=""/>
        <dsp:cNvSpPr/>
      </dsp:nvSpPr>
      <dsp:spPr>
        <a:xfrm>
          <a:off x="4082" y="220936"/>
          <a:ext cx="1220226" cy="800773"/>
        </a:xfrm>
        <a:prstGeom prst="roundRect">
          <a:avLst>
            <a:gd name="adj" fmla="val 10000"/>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Input (</a:t>
          </a:r>
          <a:r>
            <a:rPr lang="fr-FR" sz="1800" kern="1200" dirty="0" err="1"/>
            <a:t>Available</a:t>
          </a:r>
          <a:r>
            <a:rPr lang="fr-FR" sz="1800" kern="1200" dirty="0"/>
            <a:t>)</a:t>
          </a:r>
        </a:p>
      </dsp:txBody>
      <dsp:txXfrm>
        <a:off x="27536" y="244390"/>
        <a:ext cx="1173318" cy="753865"/>
      </dsp:txXfrm>
    </dsp:sp>
    <dsp:sp modelId="{5CD182C0-800E-432C-8B73-854A903CC72D}">
      <dsp:nvSpPr>
        <dsp:cNvPr id="0" name=""/>
        <dsp:cNvSpPr/>
      </dsp:nvSpPr>
      <dsp:spPr>
        <a:xfrm>
          <a:off x="1346331" y="470015"/>
          <a:ext cx="258687" cy="3026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1346331" y="530538"/>
        <a:ext cx="181081" cy="181570"/>
      </dsp:txXfrm>
    </dsp:sp>
    <dsp:sp modelId="{3C5C6723-04AD-4C68-9F49-07CB9D90BE94}">
      <dsp:nvSpPr>
        <dsp:cNvPr id="0" name=""/>
        <dsp:cNvSpPr/>
      </dsp:nvSpPr>
      <dsp:spPr>
        <a:xfrm>
          <a:off x="1712399" y="220936"/>
          <a:ext cx="1220226" cy="800773"/>
        </a:xfrm>
        <a:prstGeom prst="roundRect">
          <a:avLst>
            <a:gd name="adj" fmla="val 1000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err="1"/>
            <a:t>Function</a:t>
          </a:r>
          <a:endParaRPr lang="fr-FR" sz="1800" kern="1200" dirty="0"/>
        </a:p>
        <a:p>
          <a:pPr marL="0" lvl="0" indent="0" algn="ctr" defTabSz="800100">
            <a:lnSpc>
              <a:spcPct val="90000"/>
            </a:lnSpc>
            <a:spcBef>
              <a:spcPct val="0"/>
            </a:spcBef>
            <a:spcAft>
              <a:spcPct val="35000"/>
            </a:spcAft>
            <a:buNone/>
          </a:pPr>
          <a:r>
            <a:rPr lang="fr-FR" sz="1800" kern="1200" dirty="0"/>
            <a:t>(?)</a:t>
          </a:r>
        </a:p>
      </dsp:txBody>
      <dsp:txXfrm>
        <a:off x="1735853" y="244390"/>
        <a:ext cx="1173318" cy="753865"/>
      </dsp:txXfrm>
    </dsp:sp>
    <dsp:sp modelId="{612254E6-4C17-4782-95A1-649BB671D6BB}">
      <dsp:nvSpPr>
        <dsp:cNvPr id="0" name=""/>
        <dsp:cNvSpPr/>
      </dsp:nvSpPr>
      <dsp:spPr>
        <a:xfrm>
          <a:off x="3054648" y="470015"/>
          <a:ext cx="258687" cy="3026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3054648" y="530538"/>
        <a:ext cx="181081" cy="181570"/>
      </dsp:txXfrm>
    </dsp:sp>
    <dsp:sp modelId="{04100F71-2CD1-4228-86AA-477CAA37CF23}">
      <dsp:nvSpPr>
        <dsp:cNvPr id="0" name=""/>
        <dsp:cNvSpPr/>
      </dsp:nvSpPr>
      <dsp:spPr>
        <a:xfrm>
          <a:off x="3420716" y="220936"/>
          <a:ext cx="1220226" cy="800773"/>
        </a:xfrm>
        <a:prstGeom prst="roundRect">
          <a:avLst>
            <a:gd name="adj" fmla="val 10000"/>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Output</a:t>
          </a:r>
        </a:p>
        <a:p>
          <a:pPr marL="0" lvl="0" indent="0" algn="ctr" defTabSz="800100">
            <a:lnSpc>
              <a:spcPct val="90000"/>
            </a:lnSpc>
            <a:spcBef>
              <a:spcPct val="0"/>
            </a:spcBef>
            <a:spcAft>
              <a:spcPct val="35000"/>
            </a:spcAft>
            <a:buNone/>
          </a:pPr>
          <a:r>
            <a:rPr lang="fr-FR" sz="1800" kern="1200" dirty="0"/>
            <a:t>(</a:t>
          </a:r>
          <a:r>
            <a:rPr lang="fr-FR" sz="1800" kern="1200" dirty="0" err="1"/>
            <a:t>Available</a:t>
          </a:r>
          <a:r>
            <a:rPr lang="fr-FR" sz="1800" kern="1200" dirty="0"/>
            <a:t>)</a:t>
          </a:r>
        </a:p>
      </dsp:txBody>
      <dsp:txXfrm>
        <a:off x="3444170" y="244390"/>
        <a:ext cx="1173318" cy="7538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E38CBC-CC3E-40D3-B584-F97F97FA64F6}">
      <dsp:nvSpPr>
        <dsp:cNvPr id="0" name=""/>
        <dsp:cNvSpPr/>
      </dsp:nvSpPr>
      <dsp:spPr>
        <a:xfrm>
          <a:off x="4082" y="220936"/>
          <a:ext cx="1220226" cy="800773"/>
        </a:xfrm>
        <a:prstGeom prst="roundRect">
          <a:avLst>
            <a:gd name="adj" fmla="val 10000"/>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Input (</a:t>
          </a:r>
          <a:r>
            <a:rPr lang="fr-FR" sz="1800" kern="1200" dirty="0" err="1"/>
            <a:t>Given</a:t>
          </a:r>
          <a:r>
            <a:rPr lang="fr-FR" sz="1800" kern="1200" dirty="0"/>
            <a:t>)</a:t>
          </a:r>
        </a:p>
      </dsp:txBody>
      <dsp:txXfrm>
        <a:off x="27536" y="244390"/>
        <a:ext cx="1173318" cy="753865"/>
      </dsp:txXfrm>
    </dsp:sp>
    <dsp:sp modelId="{5CD182C0-800E-432C-8B73-854A903CC72D}">
      <dsp:nvSpPr>
        <dsp:cNvPr id="0" name=""/>
        <dsp:cNvSpPr/>
      </dsp:nvSpPr>
      <dsp:spPr>
        <a:xfrm>
          <a:off x="1346331" y="470015"/>
          <a:ext cx="258687" cy="3026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1346331" y="530538"/>
        <a:ext cx="181081" cy="181570"/>
      </dsp:txXfrm>
    </dsp:sp>
    <dsp:sp modelId="{3C5C6723-04AD-4C68-9F49-07CB9D90BE94}">
      <dsp:nvSpPr>
        <dsp:cNvPr id="0" name=""/>
        <dsp:cNvSpPr/>
      </dsp:nvSpPr>
      <dsp:spPr>
        <a:xfrm>
          <a:off x="1712399" y="220936"/>
          <a:ext cx="1220226" cy="800773"/>
        </a:xfrm>
        <a:prstGeom prst="roundRect">
          <a:avLst>
            <a:gd name="adj" fmla="val 10000"/>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err="1"/>
            <a:t>Function</a:t>
          </a:r>
          <a:endParaRPr lang="fr-FR" sz="1800" kern="1200" dirty="0"/>
        </a:p>
        <a:p>
          <a:pPr marL="0" lvl="0" indent="0" algn="ctr" defTabSz="800100">
            <a:lnSpc>
              <a:spcPct val="90000"/>
            </a:lnSpc>
            <a:spcBef>
              <a:spcPct val="0"/>
            </a:spcBef>
            <a:spcAft>
              <a:spcPct val="35000"/>
            </a:spcAft>
            <a:buNone/>
          </a:pPr>
          <a:r>
            <a:rPr lang="fr-FR" sz="1800" kern="1200" dirty="0"/>
            <a:t>(</a:t>
          </a:r>
          <a:r>
            <a:rPr lang="fr-FR" sz="1800" kern="1200" dirty="0" err="1"/>
            <a:t>Created</a:t>
          </a:r>
          <a:r>
            <a:rPr lang="fr-FR" sz="1800" kern="1200" dirty="0"/>
            <a:t>)</a:t>
          </a:r>
        </a:p>
      </dsp:txBody>
      <dsp:txXfrm>
        <a:off x="1735853" y="244390"/>
        <a:ext cx="1173318" cy="753865"/>
      </dsp:txXfrm>
    </dsp:sp>
    <dsp:sp modelId="{612254E6-4C17-4782-95A1-649BB671D6BB}">
      <dsp:nvSpPr>
        <dsp:cNvPr id="0" name=""/>
        <dsp:cNvSpPr/>
      </dsp:nvSpPr>
      <dsp:spPr>
        <a:xfrm>
          <a:off x="3054648" y="470015"/>
          <a:ext cx="258687" cy="3026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3054648" y="530538"/>
        <a:ext cx="181081" cy="181570"/>
      </dsp:txXfrm>
    </dsp:sp>
    <dsp:sp modelId="{04100F71-2CD1-4228-86AA-477CAA37CF23}">
      <dsp:nvSpPr>
        <dsp:cNvPr id="0" name=""/>
        <dsp:cNvSpPr/>
      </dsp:nvSpPr>
      <dsp:spPr>
        <a:xfrm>
          <a:off x="3420716" y="220936"/>
          <a:ext cx="1220226" cy="800773"/>
        </a:xfrm>
        <a:prstGeom prst="roundRect">
          <a:avLst>
            <a:gd name="adj" fmla="val 1000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Output</a:t>
          </a:r>
        </a:p>
        <a:p>
          <a:pPr marL="0" lvl="0" indent="0" algn="ctr" defTabSz="800100">
            <a:lnSpc>
              <a:spcPct val="90000"/>
            </a:lnSpc>
            <a:spcBef>
              <a:spcPct val="0"/>
            </a:spcBef>
            <a:spcAft>
              <a:spcPct val="35000"/>
            </a:spcAft>
            <a:buNone/>
          </a:pPr>
          <a:r>
            <a:rPr lang="fr-FR" sz="1800" kern="1200" dirty="0"/>
            <a:t>(</a:t>
          </a:r>
          <a:r>
            <a:rPr lang="fr-FR" sz="1800" kern="1200" dirty="0" err="1"/>
            <a:t>Obtained</a:t>
          </a:r>
          <a:r>
            <a:rPr lang="fr-FR" sz="1800" kern="1200" dirty="0"/>
            <a:t>)</a:t>
          </a:r>
        </a:p>
      </dsp:txBody>
      <dsp:txXfrm>
        <a:off x="3444170" y="244390"/>
        <a:ext cx="1173318" cy="75386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E38CBC-CC3E-40D3-B584-F97F97FA64F6}">
      <dsp:nvSpPr>
        <dsp:cNvPr id="0" name=""/>
        <dsp:cNvSpPr/>
      </dsp:nvSpPr>
      <dsp:spPr>
        <a:xfrm>
          <a:off x="10069" y="0"/>
          <a:ext cx="3009793" cy="1049235"/>
        </a:xfrm>
        <a:prstGeom prst="roundRect">
          <a:avLst>
            <a:gd name="adj" fmla="val 10000"/>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Input x (</a:t>
          </a:r>
          <a:r>
            <a:rPr lang="fr-FR" sz="2400" kern="1200" dirty="0" err="1"/>
            <a:t>available</a:t>
          </a:r>
          <a:r>
            <a:rPr lang="fr-FR" sz="2400" kern="1200" dirty="0"/>
            <a:t>)</a:t>
          </a:r>
        </a:p>
      </dsp:txBody>
      <dsp:txXfrm>
        <a:off x="40800" y="30731"/>
        <a:ext cx="2948331" cy="987773"/>
      </dsp:txXfrm>
    </dsp:sp>
    <dsp:sp modelId="{5CD182C0-800E-432C-8B73-854A903CC72D}">
      <dsp:nvSpPr>
        <dsp:cNvPr id="0" name=""/>
        <dsp:cNvSpPr/>
      </dsp:nvSpPr>
      <dsp:spPr>
        <a:xfrm>
          <a:off x="3320842" y="151403"/>
          <a:ext cx="638076" cy="7464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fr-FR" sz="1900" kern="1200"/>
        </a:p>
      </dsp:txBody>
      <dsp:txXfrm>
        <a:off x="3320842" y="300689"/>
        <a:ext cx="446653" cy="447856"/>
      </dsp:txXfrm>
    </dsp:sp>
    <dsp:sp modelId="{3C5C6723-04AD-4C68-9F49-07CB9D90BE94}">
      <dsp:nvSpPr>
        <dsp:cNvPr id="0" name=""/>
        <dsp:cNvSpPr/>
      </dsp:nvSpPr>
      <dsp:spPr>
        <a:xfrm>
          <a:off x="4223780" y="0"/>
          <a:ext cx="3009793" cy="1049235"/>
        </a:xfrm>
        <a:prstGeom prst="roundRect">
          <a:avLst>
            <a:gd name="adj" fmla="val 1000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err="1"/>
            <a:t>Function</a:t>
          </a:r>
          <a:r>
            <a:rPr lang="fr-FR" sz="2400" kern="1200" dirty="0"/>
            <a:t> f</a:t>
          </a:r>
        </a:p>
        <a:p>
          <a:pPr marL="0" lvl="0" indent="0" algn="ctr" defTabSz="1066800">
            <a:lnSpc>
              <a:spcPct val="90000"/>
            </a:lnSpc>
            <a:spcBef>
              <a:spcPct val="0"/>
            </a:spcBef>
            <a:spcAft>
              <a:spcPct val="35000"/>
            </a:spcAft>
            <a:buNone/>
          </a:pPr>
          <a:r>
            <a:rPr lang="fr-FR" sz="2400" kern="1200" dirty="0"/>
            <a:t>(?)</a:t>
          </a:r>
        </a:p>
      </dsp:txBody>
      <dsp:txXfrm>
        <a:off x="4254511" y="30731"/>
        <a:ext cx="2948331" cy="987773"/>
      </dsp:txXfrm>
    </dsp:sp>
    <dsp:sp modelId="{612254E6-4C17-4782-95A1-649BB671D6BB}">
      <dsp:nvSpPr>
        <dsp:cNvPr id="0" name=""/>
        <dsp:cNvSpPr/>
      </dsp:nvSpPr>
      <dsp:spPr>
        <a:xfrm>
          <a:off x="7534552" y="151403"/>
          <a:ext cx="638076" cy="7464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fr-FR" sz="1900" kern="1200"/>
        </a:p>
      </dsp:txBody>
      <dsp:txXfrm>
        <a:off x="7534552" y="300689"/>
        <a:ext cx="446653" cy="447856"/>
      </dsp:txXfrm>
    </dsp:sp>
    <dsp:sp modelId="{04100F71-2CD1-4228-86AA-477CAA37CF23}">
      <dsp:nvSpPr>
        <dsp:cNvPr id="0" name=""/>
        <dsp:cNvSpPr/>
      </dsp:nvSpPr>
      <dsp:spPr>
        <a:xfrm>
          <a:off x="8437490" y="0"/>
          <a:ext cx="3009793" cy="1049235"/>
        </a:xfrm>
        <a:prstGeom prst="roundRect">
          <a:avLst>
            <a:gd name="adj" fmla="val 10000"/>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Output y = f(x)</a:t>
          </a:r>
        </a:p>
        <a:p>
          <a:pPr marL="0" lvl="0" indent="0" algn="ctr" defTabSz="1066800">
            <a:lnSpc>
              <a:spcPct val="90000"/>
            </a:lnSpc>
            <a:spcBef>
              <a:spcPct val="0"/>
            </a:spcBef>
            <a:spcAft>
              <a:spcPct val="35000"/>
            </a:spcAft>
            <a:buNone/>
          </a:pPr>
          <a:r>
            <a:rPr lang="fr-FR" sz="2400" kern="1200" dirty="0"/>
            <a:t>(</a:t>
          </a:r>
          <a:r>
            <a:rPr lang="fr-FR" sz="2400" kern="1200" dirty="0" err="1"/>
            <a:t>available</a:t>
          </a:r>
          <a:r>
            <a:rPr lang="fr-FR" sz="2400" kern="1200" dirty="0"/>
            <a:t>)</a:t>
          </a:r>
        </a:p>
      </dsp:txBody>
      <dsp:txXfrm>
        <a:off x="8468221" y="30731"/>
        <a:ext cx="2948331" cy="98777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603298-A817-4B69-A7CC-ACE624EE54EB}">
      <dsp:nvSpPr>
        <dsp:cNvPr id="0" name=""/>
        <dsp:cNvSpPr/>
      </dsp:nvSpPr>
      <dsp:spPr>
        <a:xfrm>
          <a:off x="0" y="609001"/>
          <a:ext cx="1746954" cy="1746954"/>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64177B-3AAD-407C-81EB-47E5DE27D2FD}">
      <dsp:nvSpPr>
        <dsp:cNvPr id="0" name=""/>
        <dsp:cNvSpPr/>
      </dsp:nvSpPr>
      <dsp:spPr>
        <a:xfrm>
          <a:off x="873477" y="0"/>
          <a:ext cx="2038113" cy="174695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Artificial intelligence</a:t>
          </a:r>
          <a:endParaRPr lang="en-SG" sz="1700" kern="1200" dirty="0"/>
        </a:p>
      </dsp:txBody>
      <dsp:txXfrm>
        <a:off x="873477" y="0"/>
        <a:ext cx="2038113" cy="371227"/>
      </dsp:txXfrm>
    </dsp:sp>
    <dsp:sp modelId="{82D0C9BC-AB35-41ED-B5AA-19E1A0BC3DB9}">
      <dsp:nvSpPr>
        <dsp:cNvPr id="0" name=""/>
        <dsp:cNvSpPr/>
      </dsp:nvSpPr>
      <dsp:spPr>
        <a:xfrm>
          <a:off x="229287" y="980229"/>
          <a:ext cx="1288379" cy="1288379"/>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F61DF8-F923-4D5C-8375-DF1BCAF7B5F6}">
      <dsp:nvSpPr>
        <dsp:cNvPr id="0" name=""/>
        <dsp:cNvSpPr/>
      </dsp:nvSpPr>
      <dsp:spPr>
        <a:xfrm>
          <a:off x="873477" y="980229"/>
          <a:ext cx="2038113" cy="128837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Machine Learning</a:t>
          </a:r>
          <a:endParaRPr lang="en-SG" sz="1700" kern="1200" dirty="0"/>
        </a:p>
      </dsp:txBody>
      <dsp:txXfrm>
        <a:off x="873477" y="980229"/>
        <a:ext cx="2038113" cy="371227"/>
      </dsp:txXfrm>
    </dsp:sp>
    <dsp:sp modelId="{D6E232F9-A506-41A3-9B36-CE9DEC8D4034}">
      <dsp:nvSpPr>
        <dsp:cNvPr id="0" name=""/>
        <dsp:cNvSpPr/>
      </dsp:nvSpPr>
      <dsp:spPr>
        <a:xfrm>
          <a:off x="458575" y="1351456"/>
          <a:ext cx="829803" cy="82980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639CE7-4EB7-41D0-82BF-E6CBF2145603}">
      <dsp:nvSpPr>
        <dsp:cNvPr id="0" name=""/>
        <dsp:cNvSpPr/>
      </dsp:nvSpPr>
      <dsp:spPr>
        <a:xfrm>
          <a:off x="873477" y="1351456"/>
          <a:ext cx="2038113" cy="82980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Neural Networks</a:t>
          </a:r>
          <a:endParaRPr lang="en-SG" sz="1700" kern="1200" dirty="0"/>
        </a:p>
      </dsp:txBody>
      <dsp:txXfrm>
        <a:off x="873477" y="1351456"/>
        <a:ext cx="2038113" cy="371227"/>
      </dsp:txXfrm>
    </dsp:sp>
    <dsp:sp modelId="{DBC2DDC1-AE94-4F82-BDDC-398D3F9B144A}">
      <dsp:nvSpPr>
        <dsp:cNvPr id="0" name=""/>
        <dsp:cNvSpPr/>
      </dsp:nvSpPr>
      <dsp:spPr>
        <a:xfrm>
          <a:off x="687863" y="1722684"/>
          <a:ext cx="371227" cy="371227"/>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2C61C9-97BE-43E6-94DF-2C93AA227736}">
      <dsp:nvSpPr>
        <dsp:cNvPr id="0" name=""/>
        <dsp:cNvSpPr/>
      </dsp:nvSpPr>
      <dsp:spPr>
        <a:xfrm>
          <a:off x="873477" y="1722684"/>
          <a:ext cx="2038113" cy="37122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Deep Learning</a:t>
          </a:r>
          <a:endParaRPr lang="en-SG" sz="1700" kern="1200" dirty="0"/>
        </a:p>
      </dsp:txBody>
      <dsp:txXfrm>
        <a:off x="873477" y="1722684"/>
        <a:ext cx="2038113" cy="371227"/>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14/01/2026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Date Placeholder 6">
            <a:extLst>
              <a:ext uri="{FF2B5EF4-FFF2-40B4-BE49-F238E27FC236}">
                <a16:creationId xmlns:a16="http://schemas.microsoft.com/office/drawing/2014/main" id="{D0C667B5-0EA0-5B7D-5AEE-75464B75E8F0}"/>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8" name="Footer Placeholder 7">
            <a:extLst>
              <a:ext uri="{FF2B5EF4-FFF2-40B4-BE49-F238E27FC236}">
                <a16:creationId xmlns:a16="http://schemas.microsoft.com/office/drawing/2014/main" id="{E338AF35-AF85-FAE0-DA12-DCCA36BE7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14E54A8-13DD-C9EE-C130-6ACE32C2002B}"/>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14/01/2026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mailto:matthieu_demari@sutd.edu.sg"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hyperlink" Target="mailto:dileepa_fernando@sutd.edu.sg"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deeplearningbook.org/" TargetMode="External"/><Relationship Id="rId7" Type="http://schemas.openxmlformats.org/officeDocument/2006/relationships/image" Target="../media/image6.png"/><Relationship Id="rId2" Type="http://schemas.openxmlformats.org/officeDocument/2006/relationships/hyperlink" Target="http://neuralnetworksanddeeplearning.com/" TargetMode="Externa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hyperlink" Target="https://www.manning.com/books/deep-learning-with-pytorch"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hyperlink" Target="https://arxiv.org/abs/2508.04035" TargetMode="External"/><Relationship Id="rId2" Type="http://schemas.openxmlformats.org/officeDocument/2006/relationships/hyperlink" Target="https://www.assemblyai.com/blog/pytorch-vs-tensorflow-in-2022/" TargetMode="Externa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pytorch.org/get-started/locally/"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29.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4.jpe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7.xml"/><Relationship Id="rId5" Type="http://schemas.openxmlformats.org/officeDocument/2006/relationships/diagramQuickStyle" Target="../diagrams/quickStyle7.xml"/><Relationship Id="rId10" Type="http://schemas.openxmlformats.org/officeDocument/2006/relationships/image" Target="../media/image18.png"/><Relationship Id="rId4" Type="http://schemas.openxmlformats.org/officeDocument/2006/relationships/diagramLayout" Target="../diagrams/layout7.xml"/><Relationship Id="rId9" Type="http://schemas.openxmlformats.org/officeDocument/2006/relationships/image" Target="../media/image19.png"/></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0.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40.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hyperlink" Target="https://developer.nvidia.com/cuda-downloads" TargetMode="External"/><Relationship Id="rId2" Type="http://schemas.openxmlformats.org/officeDocument/2006/relationships/hyperlink" Target="https://developer.nvidia.com/cuda-gpus" TargetMode="Externa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8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9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92.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image" Target="../media/image62.jpg"/><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4.png"/><Relationship Id="rId1" Type="http://schemas.openxmlformats.org/officeDocument/2006/relationships/slideLayout" Target="../slideLayouts/slideLayout4.xml"/><Relationship Id="rId5" Type="http://schemas.openxmlformats.org/officeDocument/2006/relationships/image" Target="../media/image68.png"/><Relationship Id="rId4" Type="http://schemas.openxmlformats.org/officeDocument/2006/relationships/image" Target="../media/image67.jpg"/></Relationships>
</file>

<file path=ppt/slides/_rels/slide99.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540.png"/><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image" Target="../media/image56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7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8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9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Course Introduction</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7D89A-B685-431D-8A42-BB210F5A54AB}"/>
              </a:ext>
            </a:extLst>
          </p:cNvPr>
          <p:cNvSpPr>
            <a:spLocks noGrp="1"/>
          </p:cNvSpPr>
          <p:nvPr>
            <p:ph type="title"/>
          </p:nvPr>
        </p:nvSpPr>
        <p:spPr/>
        <p:txBody>
          <a:bodyPr/>
          <a:lstStyle/>
          <a:p>
            <a:r>
              <a:rPr lang="en-US" dirty="0"/>
              <a:t>A quick word about instructors</a:t>
            </a:r>
          </a:p>
        </p:txBody>
      </p:sp>
      <p:sp>
        <p:nvSpPr>
          <p:cNvPr id="13" name="Content Placeholder 12">
            <a:extLst>
              <a:ext uri="{FF2B5EF4-FFF2-40B4-BE49-F238E27FC236}">
                <a16:creationId xmlns:a16="http://schemas.microsoft.com/office/drawing/2014/main" id="{100642B6-C432-4551-A081-D2685D9CE257}"/>
              </a:ext>
            </a:extLst>
          </p:cNvPr>
          <p:cNvSpPr>
            <a:spLocks noGrp="1"/>
          </p:cNvSpPr>
          <p:nvPr>
            <p:ph sz="half" idx="1"/>
          </p:nvPr>
        </p:nvSpPr>
        <p:spPr>
          <a:xfrm>
            <a:off x="838199" y="1825624"/>
            <a:ext cx="6688016" cy="4958129"/>
          </a:xfrm>
        </p:spPr>
        <p:txBody>
          <a:bodyPr>
            <a:normAutofit/>
          </a:bodyPr>
          <a:lstStyle/>
          <a:p>
            <a:pPr marL="0" indent="0">
              <a:buNone/>
            </a:pPr>
            <a:r>
              <a:rPr lang="en-US" b="1" dirty="0"/>
              <a:t>Matthieu (Matt) De Mari</a:t>
            </a:r>
          </a:p>
          <a:p>
            <a:r>
              <a:rPr lang="en-US" dirty="0"/>
              <a:t>Senior Lecturer at SUTD (Python, Deep Learning, Prog. Language Concepts, Capstone, etc.)</a:t>
            </a:r>
          </a:p>
          <a:p>
            <a:r>
              <a:rPr lang="en-US" dirty="0"/>
              <a:t>Director of the Master of Science in Design and Artificial Intelligence for Enterprise (MSc DAI-E)</a:t>
            </a:r>
          </a:p>
          <a:p>
            <a:r>
              <a:rPr lang="en-US" dirty="0"/>
              <a:t>PhD from </a:t>
            </a:r>
            <a:r>
              <a:rPr lang="en-US" dirty="0" err="1"/>
              <a:t>CentraleSupelec</a:t>
            </a:r>
            <a:r>
              <a:rPr lang="en-US" dirty="0"/>
              <a:t> (France)</a:t>
            </a:r>
          </a:p>
          <a:p>
            <a:r>
              <a:rPr lang="en-US" dirty="0"/>
              <a:t>Email: </a:t>
            </a:r>
            <a:r>
              <a:rPr lang="en-US" dirty="0">
                <a:hlinkClick r:id="rId2"/>
              </a:rPr>
              <a:t>matthieu_demari@sutd.edu.sg</a:t>
            </a:r>
            <a:endParaRPr lang="en-US" dirty="0"/>
          </a:p>
          <a:p>
            <a:r>
              <a:rPr lang="en-US" dirty="0"/>
              <a:t>Office @ SUTD: 2.401-07 (located in SUTD Academy/AI cluster).</a:t>
            </a:r>
          </a:p>
          <a:p>
            <a:endParaRPr lang="en-GB" dirty="0"/>
          </a:p>
        </p:txBody>
      </p:sp>
      <p:pic>
        <p:nvPicPr>
          <p:cNvPr id="3" name="Picture 2">
            <a:extLst>
              <a:ext uri="{FF2B5EF4-FFF2-40B4-BE49-F238E27FC236}">
                <a16:creationId xmlns:a16="http://schemas.microsoft.com/office/drawing/2014/main" id="{241FF3A6-B11F-1ADC-D3BE-E26F2188589F}"/>
              </a:ext>
            </a:extLst>
          </p:cNvPr>
          <p:cNvPicPr>
            <a:picLocks noChangeAspect="1"/>
          </p:cNvPicPr>
          <p:nvPr/>
        </p:nvPicPr>
        <p:blipFill>
          <a:blip r:embed="rId3"/>
          <a:stretch>
            <a:fillRect/>
          </a:stretch>
        </p:blipFill>
        <p:spPr>
          <a:xfrm>
            <a:off x="8144691" y="1690688"/>
            <a:ext cx="3486869" cy="4754822"/>
          </a:xfrm>
          <a:prstGeom prst="rect">
            <a:avLst/>
          </a:prstGeom>
        </p:spPr>
      </p:pic>
    </p:spTree>
    <p:extLst>
      <p:ext uri="{BB962C8B-B14F-4D97-AF65-F5344CB8AC3E}">
        <p14:creationId xmlns:p14="http://schemas.microsoft.com/office/powerpoint/2010/main" val="3338565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EF0D4-B243-BC69-E547-A4CB23DA68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4A739-8FD6-EF1F-95E1-BF44FA51D6EF}"/>
              </a:ext>
            </a:extLst>
          </p:cNvPr>
          <p:cNvSpPr>
            <a:spLocks noGrp="1"/>
          </p:cNvSpPr>
          <p:nvPr>
            <p:ph type="title"/>
          </p:nvPr>
        </p:nvSpPr>
        <p:spPr/>
        <p:txBody>
          <a:bodyPr/>
          <a:lstStyle/>
          <a:p>
            <a:r>
              <a:rPr lang="en-US" dirty="0"/>
              <a:t>A quick word about instructors</a:t>
            </a:r>
          </a:p>
        </p:txBody>
      </p:sp>
      <p:sp>
        <p:nvSpPr>
          <p:cNvPr id="13" name="Content Placeholder 12">
            <a:extLst>
              <a:ext uri="{FF2B5EF4-FFF2-40B4-BE49-F238E27FC236}">
                <a16:creationId xmlns:a16="http://schemas.microsoft.com/office/drawing/2014/main" id="{C88CA437-D2F8-2CB0-563E-C1BE9DE281AA}"/>
              </a:ext>
            </a:extLst>
          </p:cNvPr>
          <p:cNvSpPr>
            <a:spLocks noGrp="1"/>
          </p:cNvSpPr>
          <p:nvPr>
            <p:ph sz="half" idx="1"/>
          </p:nvPr>
        </p:nvSpPr>
        <p:spPr>
          <a:xfrm>
            <a:off x="838199" y="1825624"/>
            <a:ext cx="6688016" cy="4958129"/>
          </a:xfrm>
        </p:spPr>
        <p:txBody>
          <a:bodyPr>
            <a:normAutofit/>
          </a:bodyPr>
          <a:lstStyle/>
          <a:p>
            <a:pPr marL="0" indent="0">
              <a:buNone/>
            </a:pPr>
            <a:r>
              <a:rPr lang="en-US" b="1" dirty="0"/>
              <a:t>Dileepa Fernando</a:t>
            </a:r>
          </a:p>
          <a:p>
            <a:r>
              <a:rPr lang="en-GB" dirty="0"/>
              <a:t>Lecturer at SUTD (Python, Software Engineering, Programming Language Concepts and more)</a:t>
            </a:r>
          </a:p>
          <a:p>
            <a:r>
              <a:rPr lang="en-GB" dirty="0"/>
              <a:t>Computer Science and Design (CSD)</a:t>
            </a:r>
          </a:p>
          <a:p>
            <a:r>
              <a:rPr lang="en-GB" dirty="0"/>
              <a:t>PhD from NUS</a:t>
            </a:r>
          </a:p>
          <a:p>
            <a:r>
              <a:rPr lang="en-GB" dirty="0"/>
              <a:t>Email: </a:t>
            </a:r>
            <a:r>
              <a:rPr lang="en-GB" dirty="0">
                <a:hlinkClick r:id="rId2"/>
              </a:rPr>
              <a:t>dileepa_fernando@sutd.edu.sg</a:t>
            </a:r>
            <a:r>
              <a:rPr lang="en-GB" dirty="0"/>
              <a:t> </a:t>
            </a:r>
          </a:p>
          <a:p>
            <a:r>
              <a:rPr lang="en-GB" dirty="0"/>
              <a:t>Office @ SUTD: 1.402.24</a:t>
            </a:r>
          </a:p>
          <a:p>
            <a:endParaRPr lang="en-GB" dirty="0"/>
          </a:p>
        </p:txBody>
      </p:sp>
      <p:pic>
        <p:nvPicPr>
          <p:cNvPr id="4" name="Picture 3">
            <a:extLst>
              <a:ext uri="{FF2B5EF4-FFF2-40B4-BE49-F238E27FC236}">
                <a16:creationId xmlns:a16="http://schemas.microsoft.com/office/drawing/2014/main" id="{53644A91-A70B-F34E-6F82-F2AF1F827CE0}"/>
              </a:ext>
            </a:extLst>
          </p:cNvPr>
          <p:cNvPicPr>
            <a:picLocks noChangeAspect="1"/>
          </p:cNvPicPr>
          <p:nvPr/>
        </p:nvPicPr>
        <p:blipFill>
          <a:blip r:embed="rId3"/>
          <a:stretch>
            <a:fillRect/>
          </a:stretch>
        </p:blipFill>
        <p:spPr>
          <a:xfrm>
            <a:off x="7782225" y="1690688"/>
            <a:ext cx="3747744" cy="4681197"/>
          </a:xfrm>
          <a:prstGeom prst="rect">
            <a:avLst/>
          </a:prstGeom>
        </p:spPr>
      </p:pic>
    </p:spTree>
    <p:extLst>
      <p:ext uri="{BB962C8B-B14F-4D97-AF65-F5344CB8AC3E}">
        <p14:creationId xmlns:p14="http://schemas.microsoft.com/office/powerpoint/2010/main" val="117647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7D874-74ED-3802-060B-8D78B58A4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A4E56-9BDA-0354-EF2E-214A8E49AA33}"/>
              </a:ext>
            </a:extLst>
          </p:cNvPr>
          <p:cNvSpPr>
            <a:spLocks noGrp="1"/>
          </p:cNvSpPr>
          <p:nvPr>
            <p:ph type="title"/>
          </p:nvPr>
        </p:nvSpPr>
        <p:spPr/>
        <p:txBody>
          <a:bodyPr/>
          <a:lstStyle/>
          <a:p>
            <a:r>
              <a:rPr lang="en-US" dirty="0"/>
              <a:t>A quick word about instructors</a:t>
            </a:r>
          </a:p>
        </p:txBody>
      </p:sp>
      <p:sp>
        <p:nvSpPr>
          <p:cNvPr id="13" name="Content Placeholder 12">
            <a:extLst>
              <a:ext uri="{FF2B5EF4-FFF2-40B4-BE49-F238E27FC236}">
                <a16:creationId xmlns:a16="http://schemas.microsoft.com/office/drawing/2014/main" id="{65BFD3FD-703A-C67B-198F-FF0A8F9EB273}"/>
              </a:ext>
            </a:extLst>
          </p:cNvPr>
          <p:cNvSpPr>
            <a:spLocks noGrp="1"/>
          </p:cNvSpPr>
          <p:nvPr>
            <p:ph sz="half" idx="1"/>
          </p:nvPr>
        </p:nvSpPr>
        <p:spPr>
          <a:xfrm>
            <a:off x="838199" y="1825624"/>
            <a:ext cx="6688016" cy="4958129"/>
          </a:xfrm>
        </p:spPr>
        <p:txBody>
          <a:bodyPr>
            <a:normAutofit/>
          </a:bodyPr>
          <a:lstStyle/>
          <a:p>
            <a:pPr marL="0" indent="0">
              <a:buNone/>
            </a:pPr>
            <a:r>
              <a:rPr lang="en-US" b="1" dirty="0"/>
              <a:t>TA</a:t>
            </a:r>
          </a:p>
          <a:p>
            <a:r>
              <a:rPr lang="en-GB" dirty="0"/>
              <a:t>XXX</a:t>
            </a:r>
          </a:p>
          <a:p>
            <a:endParaRPr lang="en-GB" dirty="0"/>
          </a:p>
        </p:txBody>
      </p:sp>
    </p:spTree>
    <p:extLst>
      <p:ext uri="{BB962C8B-B14F-4D97-AF65-F5344CB8AC3E}">
        <p14:creationId xmlns:p14="http://schemas.microsoft.com/office/powerpoint/2010/main" val="1509591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41CB0-8783-AFA5-4679-4A0C84678455}"/>
              </a:ext>
            </a:extLst>
          </p:cNvPr>
          <p:cNvSpPr>
            <a:spLocks noGrp="1"/>
          </p:cNvSpPr>
          <p:nvPr>
            <p:ph type="title"/>
          </p:nvPr>
        </p:nvSpPr>
        <p:spPr/>
        <p:txBody>
          <a:bodyPr/>
          <a:lstStyle/>
          <a:p>
            <a:r>
              <a:rPr lang="en-GB" dirty="0"/>
              <a:t>Objectives of 50.039 DL</a:t>
            </a:r>
            <a:endParaRPr lang="en-SG" dirty="0"/>
          </a:p>
        </p:txBody>
      </p:sp>
      <p:sp>
        <p:nvSpPr>
          <p:cNvPr id="3" name="Content Placeholder 2">
            <a:extLst>
              <a:ext uri="{FF2B5EF4-FFF2-40B4-BE49-F238E27FC236}">
                <a16:creationId xmlns:a16="http://schemas.microsoft.com/office/drawing/2014/main" id="{D75CBEFE-1E34-9689-F127-9C649BD6EACA}"/>
              </a:ext>
            </a:extLst>
          </p:cNvPr>
          <p:cNvSpPr>
            <a:spLocks noGrp="1"/>
          </p:cNvSpPr>
          <p:nvPr>
            <p:ph idx="1"/>
          </p:nvPr>
        </p:nvSpPr>
        <p:spPr>
          <a:xfrm>
            <a:off x="838200" y="1825624"/>
            <a:ext cx="10515600" cy="5032375"/>
          </a:xfrm>
        </p:spPr>
        <p:txBody>
          <a:bodyPr>
            <a:normAutofit/>
          </a:bodyPr>
          <a:lstStyle/>
          <a:p>
            <a:r>
              <a:rPr lang="en-GB" dirty="0"/>
              <a:t>Introduce the technical aspects related to the </a:t>
            </a:r>
            <a:r>
              <a:rPr lang="en-GB" b="1" dirty="0"/>
              <a:t>implementation of Deep Neural Networks from scratch</a:t>
            </a:r>
            <a:r>
              <a:rPr lang="en-GB" dirty="0"/>
              <a:t>.</a:t>
            </a:r>
          </a:p>
          <a:p>
            <a:r>
              <a:rPr lang="en-GB" dirty="0"/>
              <a:t>Teach the students about the </a:t>
            </a:r>
            <a:r>
              <a:rPr lang="en-GB" b="1" dirty="0"/>
              <a:t>most popular framework </a:t>
            </a:r>
            <a:r>
              <a:rPr lang="en-GB" dirty="0"/>
              <a:t>for implementing Deep Neural Networks (as of Jan 2025): </a:t>
            </a:r>
            <a:r>
              <a:rPr lang="en-GB" b="1" dirty="0" err="1"/>
              <a:t>PyTorch</a:t>
            </a:r>
            <a:r>
              <a:rPr lang="en-GB" b="1" dirty="0"/>
              <a:t>.</a:t>
            </a:r>
          </a:p>
          <a:p>
            <a:r>
              <a:rPr lang="en-GB" dirty="0"/>
              <a:t>Discuss the </a:t>
            </a:r>
            <a:r>
              <a:rPr lang="en-GB" b="1" dirty="0"/>
              <a:t>mathematical</a:t>
            </a:r>
            <a:r>
              <a:rPr lang="en-GB" dirty="0"/>
              <a:t> </a:t>
            </a:r>
            <a:r>
              <a:rPr lang="en-GB" b="1" dirty="0"/>
              <a:t>foundations</a:t>
            </a:r>
            <a:r>
              <a:rPr lang="en-GB" dirty="0"/>
              <a:t> </a:t>
            </a:r>
            <a:r>
              <a:rPr lang="en-GB" b="1" dirty="0"/>
              <a:t>and</a:t>
            </a:r>
            <a:r>
              <a:rPr lang="en-GB" dirty="0"/>
              <a:t> </a:t>
            </a:r>
            <a:r>
              <a:rPr lang="en-GB" b="1" dirty="0"/>
              <a:t>intuitions</a:t>
            </a:r>
            <a:r>
              <a:rPr lang="en-GB" dirty="0"/>
              <a:t> behind Deep Learning tools, layers and techniques.</a:t>
            </a:r>
          </a:p>
          <a:p>
            <a:r>
              <a:rPr lang="en-GB" dirty="0"/>
              <a:t>Give the students a </a:t>
            </a:r>
            <a:r>
              <a:rPr lang="en-GB" b="1" dirty="0"/>
              <a:t>global overview of the foundational and advanced techniques </a:t>
            </a:r>
            <a:r>
              <a:rPr lang="en-GB" dirty="0"/>
              <a:t>related to Deep Learning and Neural Networks.</a:t>
            </a:r>
          </a:p>
          <a:p>
            <a:r>
              <a:rPr lang="en-GB" dirty="0"/>
              <a:t>Describe </a:t>
            </a:r>
            <a:r>
              <a:rPr lang="en-GB" b="1" dirty="0"/>
              <a:t>examples of practical applications </a:t>
            </a:r>
            <a:r>
              <a:rPr lang="en-GB" dirty="0"/>
              <a:t>of Deep Learning, showing how some key AI tools are implemented.</a:t>
            </a:r>
            <a:endParaRPr lang="en-SG" dirty="0"/>
          </a:p>
        </p:txBody>
      </p:sp>
    </p:spTree>
    <p:extLst>
      <p:ext uri="{BB962C8B-B14F-4D97-AF65-F5344CB8AC3E}">
        <p14:creationId xmlns:p14="http://schemas.microsoft.com/office/powerpoint/2010/main" val="286985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41CB0-8783-AFA5-4679-4A0C84678455}"/>
              </a:ext>
            </a:extLst>
          </p:cNvPr>
          <p:cNvSpPr>
            <a:spLocks noGrp="1"/>
          </p:cNvSpPr>
          <p:nvPr>
            <p:ph type="title"/>
          </p:nvPr>
        </p:nvSpPr>
        <p:spPr/>
        <p:txBody>
          <a:bodyPr/>
          <a:lstStyle/>
          <a:p>
            <a:r>
              <a:rPr lang="en-GB" dirty="0"/>
              <a:t>Objectives of 50.039 DL</a:t>
            </a:r>
            <a:endParaRPr lang="en-SG" dirty="0"/>
          </a:p>
        </p:txBody>
      </p:sp>
      <p:sp>
        <p:nvSpPr>
          <p:cNvPr id="3" name="Content Placeholder 2">
            <a:extLst>
              <a:ext uri="{FF2B5EF4-FFF2-40B4-BE49-F238E27FC236}">
                <a16:creationId xmlns:a16="http://schemas.microsoft.com/office/drawing/2014/main" id="{D75CBEFE-1E34-9689-F127-9C649BD6EACA}"/>
              </a:ext>
            </a:extLst>
          </p:cNvPr>
          <p:cNvSpPr>
            <a:spLocks noGrp="1"/>
          </p:cNvSpPr>
          <p:nvPr>
            <p:ph idx="1"/>
          </p:nvPr>
        </p:nvSpPr>
        <p:spPr>
          <a:xfrm>
            <a:off x="838200" y="1825624"/>
            <a:ext cx="10515600" cy="5032375"/>
          </a:xfrm>
        </p:spPr>
        <p:txBody>
          <a:bodyPr>
            <a:normAutofit/>
          </a:bodyPr>
          <a:lstStyle/>
          <a:p>
            <a:r>
              <a:rPr lang="en-GB" dirty="0"/>
              <a:t>Eventually, </a:t>
            </a:r>
            <a:r>
              <a:rPr lang="en-GB" b="1" dirty="0"/>
              <a:t>assemble all concepts and tricks of the trade </a:t>
            </a:r>
            <a:r>
              <a:rPr lang="en-GB" dirty="0"/>
              <a:t>discussed in this course to produce big architecture models that are close to the current state-of-the-art ones (e.g. </a:t>
            </a:r>
            <a:r>
              <a:rPr lang="en-GB" dirty="0" err="1"/>
              <a:t>ChatGPT</a:t>
            </a:r>
            <a:r>
              <a:rPr lang="en-GB" dirty="0"/>
              <a:t>, Dall-E, etc.).</a:t>
            </a:r>
          </a:p>
          <a:p>
            <a:r>
              <a:rPr lang="en-GB" dirty="0"/>
              <a:t>Discuss </a:t>
            </a:r>
            <a:r>
              <a:rPr lang="en-GB" b="1" dirty="0"/>
              <a:t>ethical</a:t>
            </a:r>
            <a:r>
              <a:rPr lang="en-GB" dirty="0"/>
              <a:t> </a:t>
            </a:r>
            <a:r>
              <a:rPr lang="en-GB" b="1" dirty="0"/>
              <a:t>aspects</a:t>
            </a:r>
            <a:r>
              <a:rPr lang="en-GB" dirty="0"/>
              <a:t> related to some of the concepts discussed.</a:t>
            </a:r>
          </a:p>
          <a:p>
            <a:r>
              <a:rPr lang="en-GB" dirty="0"/>
              <a:t>Give students </a:t>
            </a:r>
            <a:r>
              <a:rPr lang="en-GB" b="1" dirty="0"/>
              <a:t>an understanding of the current state of research in the Deep Learning community</a:t>
            </a:r>
            <a:r>
              <a:rPr lang="en-GB" dirty="0"/>
              <a:t>, and more specifically </a:t>
            </a:r>
            <a:r>
              <a:rPr lang="en-GB" b="1" dirty="0"/>
              <a:t>pointers</a:t>
            </a:r>
            <a:r>
              <a:rPr lang="en-GB" dirty="0"/>
              <a:t> on how to stay up-to-date in this fast-evolving field.</a:t>
            </a:r>
          </a:p>
          <a:p>
            <a:r>
              <a:rPr lang="en-GB" dirty="0"/>
              <a:t>This includes </a:t>
            </a:r>
            <a:r>
              <a:rPr lang="en-GB" b="1" dirty="0"/>
              <a:t>tracking</a:t>
            </a:r>
            <a:r>
              <a:rPr lang="en-GB" dirty="0"/>
              <a:t> </a:t>
            </a:r>
            <a:r>
              <a:rPr lang="en-GB" b="1" dirty="0"/>
              <a:t>big</a:t>
            </a:r>
            <a:r>
              <a:rPr lang="en-GB" dirty="0"/>
              <a:t> </a:t>
            </a:r>
            <a:r>
              <a:rPr lang="en-GB" b="1" dirty="0"/>
              <a:t>names</a:t>
            </a:r>
            <a:r>
              <a:rPr lang="en-GB" dirty="0"/>
              <a:t> in the field, identifying </a:t>
            </a:r>
            <a:r>
              <a:rPr lang="en-GB" b="1" dirty="0"/>
              <a:t>key</a:t>
            </a:r>
            <a:r>
              <a:rPr lang="en-GB" dirty="0"/>
              <a:t> </a:t>
            </a:r>
            <a:r>
              <a:rPr lang="en-GB" b="1" dirty="0"/>
              <a:t>scientific</a:t>
            </a:r>
            <a:r>
              <a:rPr lang="en-GB" dirty="0"/>
              <a:t> </a:t>
            </a:r>
            <a:r>
              <a:rPr lang="en-GB" b="1" dirty="0"/>
              <a:t>papers</a:t>
            </a:r>
            <a:r>
              <a:rPr lang="en-GB" dirty="0"/>
              <a:t> that have changed the field, but also </a:t>
            </a:r>
            <a:r>
              <a:rPr lang="en-GB" b="1" dirty="0"/>
              <a:t>newsletters</a:t>
            </a:r>
            <a:r>
              <a:rPr lang="en-GB" dirty="0"/>
              <a:t>,</a:t>
            </a:r>
            <a:r>
              <a:rPr lang="en-GB" b="1" dirty="0"/>
              <a:t> websites </a:t>
            </a:r>
            <a:r>
              <a:rPr lang="en-GB" dirty="0"/>
              <a:t>or </a:t>
            </a:r>
            <a:r>
              <a:rPr lang="en-GB" b="1" dirty="0"/>
              <a:t>magazines</a:t>
            </a:r>
            <a:r>
              <a:rPr lang="en-GB" dirty="0"/>
              <a:t> that disclose information in Layman terms.</a:t>
            </a:r>
          </a:p>
          <a:p>
            <a:endParaRPr lang="en-SG" dirty="0"/>
          </a:p>
        </p:txBody>
      </p:sp>
    </p:spTree>
    <p:extLst>
      <p:ext uri="{BB962C8B-B14F-4D97-AF65-F5344CB8AC3E}">
        <p14:creationId xmlns:p14="http://schemas.microsoft.com/office/powerpoint/2010/main" val="2465108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A71E-22EF-7351-69C3-49A12FF0C15F}"/>
              </a:ext>
            </a:extLst>
          </p:cNvPr>
          <p:cNvSpPr>
            <a:spLocks noGrp="1"/>
          </p:cNvSpPr>
          <p:nvPr>
            <p:ph type="title"/>
          </p:nvPr>
        </p:nvSpPr>
        <p:spPr/>
        <p:txBody>
          <a:bodyPr/>
          <a:lstStyle/>
          <a:p>
            <a:r>
              <a:rPr lang="en-GB" dirty="0"/>
              <a:t>Skills needed for this course</a:t>
            </a:r>
            <a:endParaRPr lang="en-SG" dirty="0"/>
          </a:p>
        </p:txBody>
      </p:sp>
      <p:sp>
        <p:nvSpPr>
          <p:cNvPr id="4" name="Content Placeholder 3">
            <a:extLst>
              <a:ext uri="{FF2B5EF4-FFF2-40B4-BE49-F238E27FC236}">
                <a16:creationId xmlns:a16="http://schemas.microsoft.com/office/drawing/2014/main" id="{61167C31-41F1-58EC-49B1-BE1AF7A8E13D}"/>
              </a:ext>
            </a:extLst>
          </p:cNvPr>
          <p:cNvSpPr>
            <a:spLocks noGrp="1"/>
          </p:cNvSpPr>
          <p:nvPr>
            <p:ph idx="1"/>
          </p:nvPr>
        </p:nvSpPr>
        <p:spPr>
          <a:xfrm>
            <a:off x="838200" y="1825624"/>
            <a:ext cx="10515600" cy="5032375"/>
          </a:xfrm>
        </p:spPr>
        <p:txBody>
          <a:bodyPr>
            <a:normAutofit/>
          </a:bodyPr>
          <a:lstStyle/>
          <a:p>
            <a:r>
              <a:rPr lang="en-GB" b="1" dirty="0">
                <a:solidFill>
                  <a:srgbClr val="FF0000"/>
                </a:solidFill>
              </a:rPr>
              <a:t>Must-have CS: </a:t>
            </a:r>
            <a:r>
              <a:rPr lang="en-GB" dirty="0"/>
              <a:t>Python, </a:t>
            </a:r>
            <a:r>
              <a:rPr lang="en-GB" dirty="0" err="1"/>
              <a:t>Numpy</a:t>
            </a:r>
            <a:r>
              <a:rPr lang="en-GB" dirty="0"/>
              <a:t>, Matplotlib.</a:t>
            </a:r>
          </a:p>
          <a:p>
            <a:r>
              <a:rPr lang="en-GB" b="1" dirty="0">
                <a:solidFill>
                  <a:srgbClr val="FF0000"/>
                </a:solidFill>
              </a:rPr>
              <a:t>Must-have Math: </a:t>
            </a:r>
            <a:r>
              <a:rPr lang="en-GB" dirty="0"/>
              <a:t>Linear Algebra, Multiple Variables Calculus</a:t>
            </a:r>
            <a:r>
              <a:rPr lang="en-GB"/>
              <a:t>, Differentiation/Derivatives, Optimization, </a:t>
            </a:r>
            <a:r>
              <a:rPr lang="en-GB" dirty="0"/>
              <a:t>P</a:t>
            </a:r>
            <a:r>
              <a:rPr lang="en-GB"/>
              <a:t>robability and Statistics</a:t>
            </a:r>
            <a:r>
              <a:rPr lang="en-GB" dirty="0"/>
              <a:t>.</a:t>
            </a:r>
          </a:p>
          <a:p>
            <a:r>
              <a:rPr lang="en-GB" b="1" dirty="0">
                <a:solidFill>
                  <a:srgbClr val="00B050"/>
                </a:solidFill>
              </a:rPr>
              <a:t>Good-to-have CS: </a:t>
            </a:r>
            <a:r>
              <a:rPr lang="en-GB" dirty="0"/>
              <a:t>ML, Data Processing, Pandas, </a:t>
            </a:r>
            <a:r>
              <a:rPr lang="en-GB" dirty="0" err="1"/>
              <a:t>Scipy</a:t>
            </a:r>
            <a:r>
              <a:rPr lang="en-GB" dirty="0"/>
              <a:t>, </a:t>
            </a:r>
            <a:r>
              <a:rPr lang="en-GB" dirty="0" err="1"/>
              <a:t>Sklearn</a:t>
            </a:r>
            <a:r>
              <a:rPr lang="en-GB" dirty="0"/>
              <a:t>.</a:t>
            </a:r>
          </a:p>
          <a:p>
            <a:r>
              <a:rPr lang="en-GB" b="1" dirty="0">
                <a:solidFill>
                  <a:srgbClr val="00B050"/>
                </a:solidFill>
              </a:rPr>
              <a:t>Good-to-have Math: </a:t>
            </a:r>
            <a:r>
              <a:rPr lang="en-GB" dirty="0"/>
              <a:t>Graph Theory, Game theory.</a:t>
            </a:r>
          </a:p>
          <a:p>
            <a:endParaRPr lang="en-SG" dirty="0"/>
          </a:p>
          <a:p>
            <a:pPr marL="0" indent="0" algn="ctr">
              <a:buNone/>
            </a:pPr>
            <a:r>
              <a:rPr lang="en-SG" b="1" dirty="0"/>
              <a:t>Need to revise? No </a:t>
            </a:r>
            <a:r>
              <a:rPr lang="en-SG" b="1" dirty="0" err="1"/>
              <a:t>homeworks</a:t>
            </a:r>
            <a:r>
              <a:rPr lang="en-SG" b="1" dirty="0"/>
              <a:t> for the first couple of weeks…!</a:t>
            </a:r>
          </a:p>
          <a:p>
            <a:pPr marL="0" indent="0" algn="ctr">
              <a:buNone/>
            </a:pPr>
            <a:r>
              <a:rPr lang="en-SG" dirty="0"/>
              <a:t>Use this time to revise your 10.014 CTD, 10.013 M&amp;A, 10.018 MS&amp;S, 10.022 MU, 10.020 DDW, and 50.007 ML!</a:t>
            </a:r>
            <a:br>
              <a:rPr lang="en-SG" dirty="0"/>
            </a:br>
            <a:r>
              <a:rPr lang="en-SG" dirty="0"/>
              <a:t>(Look at bonus slides for details on what to revise…)</a:t>
            </a:r>
          </a:p>
        </p:txBody>
      </p:sp>
    </p:spTree>
    <p:extLst>
      <p:ext uri="{BB962C8B-B14F-4D97-AF65-F5344CB8AC3E}">
        <p14:creationId xmlns:p14="http://schemas.microsoft.com/office/powerpoint/2010/main" val="2102240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6E47F-EE41-14EC-57C7-619AC0EC550B}"/>
              </a:ext>
            </a:extLst>
          </p:cNvPr>
          <p:cNvSpPr>
            <a:spLocks noGrp="1"/>
          </p:cNvSpPr>
          <p:nvPr>
            <p:ph type="title"/>
          </p:nvPr>
        </p:nvSpPr>
        <p:spPr/>
        <p:txBody>
          <a:bodyPr/>
          <a:lstStyle/>
          <a:p>
            <a:r>
              <a:rPr lang="en-GB" dirty="0"/>
              <a:t>The way we teach things</a:t>
            </a:r>
            <a:endParaRPr lang="en-SG" dirty="0"/>
          </a:p>
        </p:txBody>
      </p:sp>
      <p:sp>
        <p:nvSpPr>
          <p:cNvPr id="3" name="Content Placeholder 2">
            <a:extLst>
              <a:ext uri="{FF2B5EF4-FFF2-40B4-BE49-F238E27FC236}">
                <a16:creationId xmlns:a16="http://schemas.microsoft.com/office/drawing/2014/main" id="{F9359CBB-2BA1-6409-CE17-97C6B596059A}"/>
              </a:ext>
            </a:extLst>
          </p:cNvPr>
          <p:cNvSpPr>
            <a:spLocks noGrp="1"/>
          </p:cNvSpPr>
          <p:nvPr>
            <p:ph sz="half" idx="1"/>
          </p:nvPr>
        </p:nvSpPr>
        <p:spPr>
          <a:xfrm>
            <a:off x="491412" y="1825625"/>
            <a:ext cx="5528388" cy="5032374"/>
          </a:xfrm>
        </p:spPr>
        <p:txBody>
          <a:bodyPr>
            <a:normAutofit/>
          </a:bodyPr>
          <a:lstStyle/>
          <a:p>
            <a:pPr marL="0" indent="0">
              <a:buNone/>
            </a:pPr>
            <a:r>
              <a:rPr lang="en-GB" b="1" dirty="0">
                <a:solidFill>
                  <a:srgbClr val="FF0000"/>
                </a:solidFill>
              </a:rPr>
              <a:t>An expert is not someone who</a:t>
            </a:r>
          </a:p>
          <a:p>
            <a:r>
              <a:rPr lang="en-GB" dirty="0"/>
              <a:t>Took a 6h-long online video course,</a:t>
            </a:r>
          </a:p>
          <a:p>
            <a:r>
              <a:rPr lang="en-GB" dirty="0"/>
              <a:t>Implements Neural Networks by randomly connecting basic layers (typically Linear and Conv),</a:t>
            </a:r>
          </a:p>
          <a:p>
            <a:r>
              <a:rPr lang="en-GB" dirty="0"/>
              <a:t>Uses a random framework they do not understand (or </a:t>
            </a:r>
            <a:r>
              <a:rPr lang="en-GB" dirty="0" err="1"/>
              <a:t>autoML</a:t>
            </a:r>
            <a:r>
              <a:rPr lang="en-GB" dirty="0"/>
              <a:t>!),</a:t>
            </a:r>
          </a:p>
          <a:p>
            <a:r>
              <a:rPr lang="en-GB" dirty="0"/>
              <a:t>Cannot obtain more than 90% accuracy on a simple dataset like MNIST or CIFAR-10.</a:t>
            </a:r>
          </a:p>
          <a:p>
            <a:endParaRPr lang="en-SG" dirty="0"/>
          </a:p>
        </p:txBody>
      </p:sp>
      <p:sp>
        <p:nvSpPr>
          <p:cNvPr id="4" name="Content Placeholder 3">
            <a:extLst>
              <a:ext uri="{FF2B5EF4-FFF2-40B4-BE49-F238E27FC236}">
                <a16:creationId xmlns:a16="http://schemas.microsoft.com/office/drawing/2014/main" id="{A9128ADB-0675-1D96-82EC-7D8A9E26F74A}"/>
              </a:ext>
            </a:extLst>
          </p:cNvPr>
          <p:cNvSpPr>
            <a:spLocks noGrp="1"/>
          </p:cNvSpPr>
          <p:nvPr>
            <p:ph sz="half" idx="2"/>
          </p:nvPr>
        </p:nvSpPr>
        <p:spPr>
          <a:xfrm>
            <a:off x="6172200" y="1825624"/>
            <a:ext cx="5689833" cy="5032375"/>
          </a:xfrm>
        </p:spPr>
        <p:txBody>
          <a:bodyPr>
            <a:normAutofit/>
          </a:bodyPr>
          <a:lstStyle/>
          <a:p>
            <a:pPr marL="0" indent="0">
              <a:buNone/>
            </a:pPr>
            <a:r>
              <a:rPr lang="en-GB" b="1" dirty="0">
                <a:solidFill>
                  <a:srgbClr val="00B050"/>
                </a:solidFill>
              </a:rPr>
              <a:t>An expert is someone who</a:t>
            </a:r>
          </a:p>
          <a:p>
            <a:r>
              <a:rPr lang="en-GB" dirty="0"/>
              <a:t>Understands how Neural Networks operate and the mathematical intuition behind typical (advanced) operations used in layers,</a:t>
            </a:r>
          </a:p>
          <a:p>
            <a:r>
              <a:rPr lang="en-GB" dirty="0"/>
              <a:t>Understands how the frameworks have been built and what they do behind the scenes,</a:t>
            </a:r>
          </a:p>
          <a:p>
            <a:r>
              <a:rPr lang="en-GB" dirty="0"/>
              <a:t>Understands that AI is a fast-evolving field and knows how to stay up to date when it comes to AI.</a:t>
            </a:r>
          </a:p>
          <a:p>
            <a:endParaRPr lang="en-SG" dirty="0"/>
          </a:p>
          <a:p>
            <a:pPr marL="0" indent="0">
              <a:buNone/>
            </a:pPr>
            <a:endParaRPr lang="en-SG" dirty="0"/>
          </a:p>
        </p:txBody>
      </p:sp>
    </p:spTree>
    <p:extLst>
      <p:ext uri="{BB962C8B-B14F-4D97-AF65-F5344CB8AC3E}">
        <p14:creationId xmlns:p14="http://schemas.microsoft.com/office/powerpoint/2010/main" val="105170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6E47F-EE41-14EC-57C7-619AC0EC550B}"/>
              </a:ext>
            </a:extLst>
          </p:cNvPr>
          <p:cNvSpPr>
            <a:spLocks noGrp="1"/>
          </p:cNvSpPr>
          <p:nvPr>
            <p:ph type="title"/>
          </p:nvPr>
        </p:nvSpPr>
        <p:spPr/>
        <p:txBody>
          <a:bodyPr/>
          <a:lstStyle/>
          <a:p>
            <a:r>
              <a:rPr lang="en-GB" dirty="0"/>
              <a:t>The way we teach things</a:t>
            </a:r>
            <a:endParaRPr lang="en-SG" dirty="0"/>
          </a:p>
        </p:txBody>
      </p:sp>
      <p:sp>
        <p:nvSpPr>
          <p:cNvPr id="3" name="Content Placeholder 2">
            <a:extLst>
              <a:ext uri="{FF2B5EF4-FFF2-40B4-BE49-F238E27FC236}">
                <a16:creationId xmlns:a16="http://schemas.microsoft.com/office/drawing/2014/main" id="{F9359CBB-2BA1-6409-CE17-97C6B596059A}"/>
              </a:ext>
            </a:extLst>
          </p:cNvPr>
          <p:cNvSpPr>
            <a:spLocks noGrp="1"/>
          </p:cNvSpPr>
          <p:nvPr>
            <p:ph idx="1"/>
          </p:nvPr>
        </p:nvSpPr>
        <p:spPr>
          <a:xfrm>
            <a:off x="838200" y="1825624"/>
            <a:ext cx="10515600" cy="5032375"/>
          </a:xfrm>
        </p:spPr>
        <p:txBody>
          <a:bodyPr>
            <a:normAutofit/>
          </a:bodyPr>
          <a:lstStyle/>
          <a:p>
            <a:pPr marL="0" indent="0">
              <a:buNone/>
            </a:pPr>
            <a:r>
              <a:rPr lang="en-GB" b="1" dirty="0"/>
              <a:t>One topic per week </a:t>
            </a:r>
            <a:r>
              <a:rPr lang="en-GB" dirty="0"/>
              <a:t>(or so) and hopefully, we will cover all the important concepts and important directions of DL these days. </a:t>
            </a:r>
            <a:endParaRPr lang="en-GB" b="1" dirty="0"/>
          </a:p>
          <a:p>
            <a:r>
              <a:rPr lang="en-GB" b="1" dirty="0"/>
              <a:t>Lectures</a:t>
            </a:r>
            <a:r>
              <a:rPr lang="en-GB" dirty="0"/>
              <a:t> </a:t>
            </a:r>
            <a:r>
              <a:rPr lang="en-GB" b="1" dirty="0"/>
              <a:t>slides</a:t>
            </a:r>
            <a:r>
              <a:rPr lang="en-GB" dirty="0"/>
              <a:t>, along with </a:t>
            </a:r>
            <a:r>
              <a:rPr lang="en-GB" b="1" dirty="0"/>
              <a:t>supporting</a:t>
            </a:r>
            <a:r>
              <a:rPr lang="en-GB" dirty="0"/>
              <a:t> </a:t>
            </a:r>
            <a:r>
              <a:rPr lang="en-GB" b="1" dirty="0"/>
              <a:t>notebooks</a:t>
            </a:r>
            <a:r>
              <a:rPr lang="en-GB" dirty="0"/>
              <a:t>.</a:t>
            </a:r>
          </a:p>
          <a:p>
            <a:r>
              <a:rPr lang="en-GB" b="1" dirty="0"/>
              <a:t>Mathematical</a:t>
            </a:r>
            <a:r>
              <a:rPr lang="en-GB" dirty="0"/>
              <a:t> </a:t>
            </a:r>
            <a:r>
              <a:rPr lang="en-GB" b="1" dirty="0"/>
              <a:t>aspects</a:t>
            </a:r>
            <a:r>
              <a:rPr lang="en-GB" dirty="0"/>
              <a:t> discussed in class (to show what is happening behind the scenes of Neural Networks/Deep Learning).</a:t>
            </a:r>
          </a:p>
          <a:p>
            <a:r>
              <a:rPr lang="en-GB" b="1" dirty="0"/>
              <a:t>Made a choice: </a:t>
            </a:r>
            <a:r>
              <a:rPr lang="en-GB" dirty="0"/>
              <a:t>providing lots of code to demonstrate concepts but </a:t>
            </a:r>
            <a:r>
              <a:rPr lang="en-GB" b="1" u="sng" dirty="0"/>
              <a:t>need you to play with them autonomously</a:t>
            </a:r>
            <a:r>
              <a:rPr lang="en-GB" dirty="0"/>
              <a:t>!</a:t>
            </a:r>
          </a:p>
          <a:p>
            <a:r>
              <a:rPr lang="en-GB" b="1" dirty="0"/>
              <a:t>Extra</a:t>
            </a:r>
            <a:r>
              <a:rPr lang="en-GB" dirty="0"/>
              <a:t> </a:t>
            </a:r>
            <a:r>
              <a:rPr lang="en-GB" b="1" dirty="0"/>
              <a:t>reading</a:t>
            </a:r>
            <a:r>
              <a:rPr lang="en-GB" dirty="0"/>
              <a:t>, for curiosity (supporting papers, articles, etc.) and suggestions of pointers to stay up-to-date.</a:t>
            </a:r>
          </a:p>
          <a:p>
            <a:r>
              <a:rPr lang="en-GB" dirty="0"/>
              <a:t>Suggestions for </a:t>
            </a:r>
            <a:r>
              <a:rPr lang="en-GB" b="1" dirty="0"/>
              <a:t>continuing your</a:t>
            </a:r>
            <a:r>
              <a:rPr lang="en-GB" dirty="0"/>
              <a:t> </a:t>
            </a:r>
            <a:r>
              <a:rPr lang="en-GB" b="1" dirty="0"/>
              <a:t>learning</a:t>
            </a:r>
            <a:r>
              <a:rPr lang="en-GB" dirty="0"/>
              <a:t>, after this course.</a:t>
            </a:r>
          </a:p>
          <a:p>
            <a:endParaRPr lang="en-GB" dirty="0"/>
          </a:p>
        </p:txBody>
      </p:sp>
    </p:spTree>
    <p:extLst>
      <p:ext uri="{BB962C8B-B14F-4D97-AF65-F5344CB8AC3E}">
        <p14:creationId xmlns:p14="http://schemas.microsoft.com/office/powerpoint/2010/main" val="106661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6E47F-EE41-14EC-57C7-619AC0EC550B}"/>
              </a:ext>
            </a:extLst>
          </p:cNvPr>
          <p:cNvSpPr>
            <a:spLocks noGrp="1"/>
          </p:cNvSpPr>
          <p:nvPr>
            <p:ph type="title"/>
          </p:nvPr>
        </p:nvSpPr>
        <p:spPr/>
        <p:txBody>
          <a:bodyPr/>
          <a:lstStyle/>
          <a:p>
            <a:r>
              <a:rPr lang="en-GB" dirty="0"/>
              <a:t>The way we teach things</a:t>
            </a:r>
            <a:endParaRPr lang="en-SG" dirty="0"/>
          </a:p>
        </p:txBody>
      </p:sp>
      <p:sp>
        <p:nvSpPr>
          <p:cNvPr id="3" name="Content Placeholder 2">
            <a:extLst>
              <a:ext uri="{FF2B5EF4-FFF2-40B4-BE49-F238E27FC236}">
                <a16:creationId xmlns:a16="http://schemas.microsoft.com/office/drawing/2014/main" id="{F9359CBB-2BA1-6409-CE17-97C6B596059A}"/>
              </a:ext>
            </a:extLst>
          </p:cNvPr>
          <p:cNvSpPr>
            <a:spLocks noGrp="1"/>
          </p:cNvSpPr>
          <p:nvPr>
            <p:ph idx="1"/>
          </p:nvPr>
        </p:nvSpPr>
        <p:spPr>
          <a:xfrm>
            <a:off x="838200" y="1825624"/>
            <a:ext cx="10515600" cy="5032375"/>
          </a:xfrm>
        </p:spPr>
        <p:txBody>
          <a:bodyPr>
            <a:normAutofit/>
          </a:bodyPr>
          <a:lstStyle/>
          <a:p>
            <a:pPr marL="0" indent="0">
              <a:buNone/>
            </a:pPr>
            <a:r>
              <a:rPr lang="en-GB" dirty="0"/>
              <a:t>Every week, I will upload materials on both </a:t>
            </a:r>
            <a:r>
              <a:rPr lang="en-GB" b="1" dirty="0" err="1"/>
              <a:t>eDimension</a:t>
            </a:r>
            <a:endParaRPr lang="en-GB" b="1" dirty="0"/>
          </a:p>
          <a:p>
            <a:r>
              <a:rPr lang="en-GB" b="1" dirty="0" err="1"/>
              <a:t>eDimension</a:t>
            </a:r>
            <a:r>
              <a:rPr lang="en-GB" b="1" dirty="0"/>
              <a:t> lecture materials: </a:t>
            </a:r>
            <a:r>
              <a:rPr lang="en-GB" dirty="0"/>
              <a:t>Read-only, reference slides, and supporting </a:t>
            </a:r>
            <a:r>
              <a:rPr lang="en-GB" dirty="0" err="1"/>
              <a:t>Jupyter</a:t>
            </a:r>
            <a:r>
              <a:rPr lang="en-GB" dirty="0"/>
              <a:t> notebooks.</a:t>
            </a:r>
          </a:p>
          <a:p>
            <a:r>
              <a:rPr lang="en-GB" b="1" dirty="0"/>
              <a:t>Video recaps (from previous years, being revised as time allows).</a:t>
            </a:r>
          </a:p>
          <a:p>
            <a:pPr marL="0" indent="0">
              <a:buNone/>
            </a:pPr>
            <a:endParaRPr lang="en-GB" b="1" dirty="0"/>
          </a:p>
          <a:p>
            <a:pPr marL="0" indent="0">
              <a:buNone/>
            </a:pPr>
            <a:r>
              <a:rPr lang="en-GB" b="1" dirty="0"/>
              <a:t>Note: </a:t>
            </a:r>
            <a:r>
              <a:rPr lang="en-GB" dirty="0"/>
              <a:t>The videos can be used for revision and self-study, but they clearly do not mean you should not come to class!</a:t>
            </a:r>
            <a:br>
              <a:rPr lang="en-GB" dirty="0"/>
            </a:br>
            <a:r>
              <a:rPr lang="en-GB" b="1" dirty="0">
                <a:solidFill>
                  <a:srgbClr val="C00000"/>
                </a:solidFill>
              </a:rPr>
              <a:t>Attendance will be a key component for the participation score.</a:t>
            </a:r>
          </a:p>
        </p:txBody>
      </p:sp>
    </p:spTree>
    <p:extLst>
      <p:ext uri="{BB962C8B-B14F-4D97-AF65-F5344CB8AC3E}">
        <p14:creationId xmlns:p14="http://schemas.microsoft.com/office/powerpoint/2010/main" val="3811521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87710-E994-858C-736B-B256E5D31B1B}"/>
              </a:ext>
            </a:extLst>
          </p:cNvPr>
          <p:cNvSpPr>
            <a:spLocks noGrp="1"/>
          </p:cNvSpPr>
          <p:nvPr>
            <p:ph type="title"/>
          </p:nvPr>
        </p:nvSpPr>
        <p:spPr/>
        <p:txBody>
          <a:bodyPr/>
          <a:lstStyle/>
          <a:p>
            <a:r>
              <a:rPr lang="en-GB" dirty="0"/>
              <a:t>Syllabus (Detailed syllabus on </a:t>
            </a:r>
            <a:r>
              <a:rPr lang="en-GB" dirty="0" err="1"/>
              <a:t>eDimension</a:t>
            </a:r>
            <a:r>
              <a:rPr lang="en-GB" dirty="0"/>
              <a:t>)</a:t>
            </a:r>
            <a:endParaRPr lang="en-SG" dirty="0"/>
          </a:p>
        </p:txBody>
      </p:sp>
      <p:sp>
        <p:nvSpPr>
          <p:cNvPr id="3" name="Content Placeholder 2">
            <a:extLst>
              <a:ext uri="{FF2B5EF4-FFF2-40B4-BE49-F238E27FC236}">
                <a16:creationId xmlns:a16="http://schemas.microsoft.com/office/drawing/2014/main" id="{EF77FA4B-0B20-5BC7-9427-1BB2CFAA30B3}"/>
              </a:ext>
            </a:extLst>
          </p:cNvPr>
          <p:cNvSpPr>
            <a:spLocks noGrp="1"/>
          </p:cNvSpPr>
          <p:nvPr>
            <p:ph idx="1"/>
          </p:nvPr>
        </p:nvSpPr>
        <p:spPr>
          <a:xfrm>
            <a:off x="838200" y="1825624"/>
            <a:ext cx="10515600" cy="5032375"/>
          </a:xfrm>
        </p:spPr>
        <p:txBody>
          <a:bodyPr>
            <a:normAutofit/>
          </a:bodyPr>
          <a:lstStyle/>
          <a:p>
            <a:r>
              <a:rPr lang="en-GB" b="1" dirty="0"/>
              <a:t>Week 1: </a:t>
            </a:r>
            <a:r>
              <a:rPr lang="en-GB" dirty="0"/>
              <a:t>Introduction to course and some ML reminders, including linear and polynomial regression, generalization, ridge regression and regularization, overfitting/underfitting, logistic regression, neurons objects and how they relate to biology. Building our first shallow neural network in </a:t>
            </a:r>
            <a:r>
              <a:rPr lang="en-GB" dirty="0" err="1"/>
              <a:t>Numpy</a:t>
            </a:r>
            <a:r>
              <a:rPr lang="en-GB" dirty="0"/>
              <a:t>, with gradient descent, training and testing.</a:t>
            </a:r>
          </a:p>
          <a:p>
            <a:endParaRPr lang="en-GB" dirty="0"/>
          </a:p>
          <a:p>
            <a:r>
              <a:rPr lang="en-GB" b="1" dirty="0"/>
              <a:t>Week 2: </a:t>
            </a:r>
            <a:r>
              <a:rPr lang="en-GB" dirty="0"/>
              <a:t>Introduction to </a:t>
            </a:r>
            <a:r>
              <a:rPr lang="en-GB" dirty="0" err="1"/>
              <a:t>PyTorch</a:t>
            </a:r>
            <a:r>
              <a:rPr lang="en-GB" dirty="0"/>
              <a:t> framework, tensors and </a:t>
            </a:r>
            <a:r>
              <a:rPr lang="en-GB" dirty="0" err="1"/>
              <a:t>dataloaders</a:t>
            </a:r>
            <a:r>
              <a:rPr lang="en-GB" dirty="0"/>
              <a:t>. Implementing a shallow neural network in </a:t>
            </a:r>
            <a:r>
              <a:rPr lang="en-GB" dirty="0" err="1"/>
              <a:t>PyTorch</a:t>
            </a:r>
            <a:r>
              <a:rPr lang="en-GB" dirty="0"/>
              <a:t>, using backpropagation in </a:t>
            </a:r>
            <a:r>
              <a:rPr lang="en-GB" dirty="0" err="1"/>
              <a:t>PyTorch</a:t>
            </a:r>
            <a:r>
              <a:rPr lang="en-GB" dirty="0"/>
              <a:t> with </a:t>
            </a:r>
            <a:r>
              <a:rPr lang="en-GB" dirty="0" err="1"/>
              <a:t>AutoGrad</a:t>
            </a:r>
            <a:r>
              <a:rPr lang="en-GB" dirty="0"/>
              <a:t>, advanced optimizers. Multi-label classification with shallow neural networks, moving from shallow to deep neural networks.</a:t>
            </a:r>
            <a:endParaRPr lang="en-SG" dirty="0"/>
          </a:p>
        </p:txBody>
      </p:sp>
    </p:spTree>
    <p:extLst>
      <p:ext uri="{BB962C8B-B14F-4D97-AF65-F5344CB8AC3E}">
        <p14:creationId xmlns:p14="http://schemas.microsoft.com/office/powerpoint/2010/main" val="1027151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87710-E994-858C-736B-B256E5D31B1B}"/>
              </a:ext>
            </a:extLst>
          </p:cNvPr>
          <p:cNvSpPr>
            <a:spLocks noGrp="1"/>
          </p:cNvSpPr>
          <p:nvPr>
            <p:ph type="title"/>
          </p:nvPr>
        </p:nvSpPr>
        <p:spPr/>
        <p:txBody>
          <a:bodyPr/>
          <a:lstStyle/>
          <a:p>
            <a:r>
              <a:rPr lang="en-GB" dirty="0"/>
              <a:t>Syllabus</a:t>
            </a:r>
            <a:endParaRPr lang="en-SG" dirty="0"/>
          </a:p>
        </p:txBody>
      </p:sp>
      <p:sp>
        <p:nvSpPr>
          <p:cNvPr id="3" name="Content Placeholder 2">
            <a:extLst>
              <a:ext uri="{FF2B5EF4-FFF2-40B4-BE49-F238E27FC236}">
                <a16:creationId xmlns:a16="http://schemas.microsoft.com/office/drawing/2014/main" id="{EF77FA4B-0B20-5BC7-9427-1BB2CFAA30B3}"/>
              </a:ext>
            </a:extLst>
          </p:cNvPr>
          <p:cNvSpPr>
            <a:spLocks noGrp="1"/>
          </p:cNvSpPr>
          <p:nvPr>
            <p:ph idx="1"/>
          </p:nvPr>
        </p:nvSpPr>
        <p:spPr>
          <a:xfrm>
            <a:off x="838200" y="1825624"/>
            <a:ext cx="10515600" cy="5032375"/>
          </a:xfrm>
        </p:spPr>
        <p:txBody>
          <a:bodyPr/>
          <a:lstStyle/>
          <a:p>
            <a:r>
              <a:rPr lang="en-GB" b="1" dirty="0"/>
              <a:t>Week 3: </a:t>
            </a:r>
            <a:r>
              <a:rPr lang="en-GB" dirty="0"/>
              <a:t>Guided project and good practices for Deep Learning projects (train/test/dev, bias/variance, advanced regularization, dropout, normalizing inputs/outputs/layers, trainer functions, savers/loader functions for reproducibility and transfer learning).</a:t>
            </a:r>
            <a:br>
              <a:rPr lang="en-GB" dirty="0"/>
            </a:br>
            <a:r>
              <a:rPr lang="en-GB" dirty="0"/>
              <a:t>Discussion about the project assessment component.</a:t>
            </a:r>
          </a:p>
          <a:p>
            <a:endParaRPr lang="en-GB" dirty="0"/>
          </a:p>
          <a:p>
            <a:r>
              <a:rPr lang="en-GB" b="1" dirty="0"/>
              <a:t>Week 4: </a:t>
            </a:r>
            <a:r>
              <a:rPr lang="en-GB" dirty="0"/>
              <a:t>The image data type, image processing techniques and typical computer vision operations, the convolution operation and layers, Convolutional Neural Networks, advanced CNNs, foundational vision models and transfer learning. Preparing transition to the 50.035 Computer Vision course.</a:t>
            </a:r>
            <a:endParaRPr lang="en-SG" dirty="0"/>
          </a:p>
        </p:txBody>
      </p:sp>
    </p:spTree>
    <p:extLst>
      <p:ext uri="{BB962C8B-B14F-4D97-AF65-F5344CB8AC3E}">
        <p14:creationId xmlns:p14="http://schemas.microsoft.com/office/powerpoint/2010/main" val="2668007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87710-E994-858C-736B-B256E5D31B1B}"/>
              </a:ext>
            </a:extLst>
          </p:cNvPr>
          <p:cNvSpPr>
            <a:spLocks noGrp="1"/>
          </p:cNvSpPr>
          <p:nvPr>
            <p:ph type="title"/>
          </p:nvPr>
        </p:nvSpPr>
        <p:spPr/>
        <p:txBody>
          <a:bodyPr/>
          <a:lstStyle/>
          <a:p>
            <a:r>
              <a:rPr lang="en-GB" dirty="0"/>
              <a:t>Syllabus</a:t>
            </a:r>
            <a:endParaRPr lang="en-SG" dirty="0"/>
          </a:p>
        </p:txBody>
      </p:sp>
      <p:sp>
        <p:nvSpPr>
          <p:cNvPr id="3" name="Content Placeholder 2">
            <a:extLst>
              <a:ext uri="{FF2B5EF4-FFF2-40B4-BE49-F238E27FC236}">
                <a16:creationId xmlns:a16="http://schemas.microsoft.com/office/drawing/2014/main" id="{EF77FA4B-0B20-5BC7-9427-1BB2CFAA30B3}"/>
              </a:ext>
            </a:extLst>
          </p:cNvPr>
          <p:cNvSpPr>
            <a:spLocks noGrp="1"/>
          </p:cNvSpPr>
          <p:nvPr>
            <p:ph idx="1"/>
          </p:nvPr>
        </p:nvSpPr>
        <p:spPr>
          <a:xfrm>
            <a:off x="838200" y="1825625"/>
            <a:ext cx="10515600" cy="5032376"/>
          </a:xfrm>
        </p:spPr>
        <p:txBody>
          <a:bodyPr/>
          <a:lstStyle/>
          <a:p>
            <a:r>
              <a:rPr lang="en-GB" b="1" dirty="0"/>
              <a:t>Week 5: </a:t>
            </a:r>
            <a:r>
              <a:rPr lang="en-GB" dirty="0"/>
              <a:t>Continuation of Week 4, and more advanced concepts of Computer Vision. Adversarial machine learning, attacking a Neural Network with basic gradient-based attacks, fundamental limits of Neural Networks, defence mechanisms and state-of-the-art of some advanced attacks techniques.</a:t>
            </a:r>
          </a:p>
          <a:p>
            <a:endParaRPr lang="en-GB" b="1" dirty="0"/>
          </a:p>
          <a:p>
            <a:r>
              <a:rPr lang="en-GB" b="1" dirty="0"/>
              <a:t>Week 6: </a:t>
            </a:r>
            <a:r>
              <a:rPr lang="en-GB" dirty="0"/>
              <a:t>Introduction to sequential data (numerical series, times series, etc.), vanilla Recurrent Neural Networks, Gated Recurrent Units, Long-Short Term Memory cells, advanced RNN networks, mixing models for advanced architectures. Recap before </a:t>
            </a:r>
            <a:r>
              <a:rPr lang="en-GB" dirty="0" err="1"/>
              <a:t>MidTerm</a:t>
            </a:r>
            <a:r>
              <a:rPr lang="en-GB" dirty="0"/>
              <a:t>.</a:t>
            </a:r>
          </a:p>
        </p:txBody>
      </p:sp>
    </p:spTree>
    <p:extLst>
      <p:ext uri="{BB962C8B-B14F-4D97-AF65-F5344CB8AC3E}">
        <p14:creationId xmlns:p14="http://schemas.microsoft.com/office/powerpoint/2010/main" val="3313062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87710-E994-858C-736B-B256E5D31B1B}"/>
              </a:ext>
            </a:extLst>
          </p:cNvPr>
          <p:cNvSpPr>
            <a:spLocks noGrp="1"/>
          </p:cNvSpPr>
          <p:nvPr>
            <p:ph type="title"/>
          </p:nvPr>
        </p:nvSpPr>
        <p:spPr/>
        <p:txBody>
          <a:bodyPr/>
          <a:lstStyle/>
          <a:p>
            <a:r>
              <a:rPr lang="en-GB" dirty="0"/>
              <a:t>Syllabus</a:t>
            </a:r>
            <a:endParaRPr lang="en-SG" dirty="0"/>
          </a:p>
        </p:txBody>
      </p:sp>
      <p:sp>
        <p:nvSpPr>
          <p:cNvPr id="3" name="Content Placeholder 2">
            <a:extLst>
              <a:ext uri="{FF2B5EF4-FFF2-40B4-BE49-F238E27FC236}">
                <a16:creationId xmlns:a16="http://schemas.microsoft.com/office/drawing/2014/main" id="{EF77FA4B-0B20-5BC7-9427-1BB2CFAA30B3}"/>
              </a:ext>
            </a:extLst>
          </p:cNvPr>
          <p:cNvSpPr>
            <a:spLocks noGrp="1"/>
          </p:cNvSpPr>
          <p:nvPr>
            <p:ph idx="1"/>
          </p:nvPr>
        </p:nvSpPr>
        <p:spPr>
          <a:xfrm>
            <a:off x="838200" y="1825624"/>
            <a:ext cx="10515600" cy="5032375"/>
          </a:xfrm>
        </p:spPr>
        <p:txBody>
          <a:bodyPr/>
          <a:lstStyle/>
          <a:p>
            <a:r>
              <a:rPr lang="en-GB" b="1" dirty="0"/>
              <a:t>Week 8: </a:t>
            </a:r>
            <a:r>
              <a:rPr lang="en-GB" dirty="0"/>
              <a:t>The embedding problem, more advanced concepts on RNNs, introduction to Natural Language Processing (NLP) and Word Embeddings for NLP, brief state-of-the-art on NLP, attention and transformers architectures. Preparing transition to the 50.040 Natural Language Processing course. </a:t>
            </a:r>
            <a:r>
              <a:rPr lang="en-GB" dirty="0" err="1"/>
              <a:t>MidTerm</a:t>
            </a:r>
            <a:r>
              <a:rPr lang="en-GB" dirty="0"/>
              <a:t> exam (based on W1-6).</a:t>
            </a:r>
            <a:r>
              <a:rPr lang="en-SG" dirty="0"/>
              <a:t> One lecture might move to Week 6 to make space for </a:t>
            </a:r>
            <a:r>
              <a:rPr lang="en-SG" dirty="0" err="1"/>
              <a:t>MidTerm</a:t>
            </a:r>
            <a:r>
              <a:rPr lang="en-SG" dirty="0"/>
              <a:t> exam.</a:t>
            </a:r>
            <a:endParaRPr lang="en-GB" dirty="0"/>
          </a:p>
          <a:p>
            <a:endParaRPr lang="en-GB" dirty="0"/>
          </a:p>
          <a:p>
            <a:r>
              <a:rPr lang="en-GB" b="1" dirty="0"/>
              <a:t>Week 9: </a:t>
            </a:r>
            <a:r>
              <a:rPr lang="en-GB" dirty="0"/>
              <a:t>Introduction to Vision Transformers and how it relates to concepts in W4 and W8. Quick introduction to Graph Theory, typical graph datasets and problems, basics of Graph Convolutional Networks, brief state-of-the-art of advanced GCNs.</a:t>
            </a:r>
            <a:endParaRPr lang="en-SG" dirty="0"/>
          </a:p>
        </p:txBody>
      </p:sp>
    </p:spTree>
    <p:extLst>
      <p:ext uri="{BB962C8B-B14F-4D97-AF65-F5344CB8AC3E}">
        <p14:creationId xmlns:p14="http://schemas.microsoft.com/office/powerpoint/2010/main" val="919173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87710-E994-858C-736B-B256E5D31B1B}"/>
              </a:ext>
            </a:extLst>
          </p:cNvPr>
          <p:cNvSpPr>
            <a:spLocks noGrp="1"/>
          </p:cNvSpPr>
          <p:nvPr>
            <p:ph type="title"/>
          </p:nvPr>
        </p:nvSpPr>
        <p:spPr/>
        <p:txBody>
          <a:bodyPr/>
          <a:lstStyle/>
          <a:p>
            <a:r>
              <a:rPr lang="en-GB" dirty="0"/>
              <a:t>Syllabus</a:t>
            </a:r>
            <a:endParaRPr lang="en-SG" dirty="0"/>
          </a:p>
        </p:txBody>
      </p:sp>
      <p:sp>
        <p:nvSpPr>
          <p:cNvPr id="3" name="Content Placeholder 2">
            <a:extLst>
              <a:ext uri="{FF2B5EF4-FFF2-40B4-BE49-F238E27FC236}">
                <a16:creationId xmlns:a16="http://schemas.microsoft.com/office/drawing/2014/main" id="{EF77FA4B-0B20-5BC7-9427-1BB2CFAA30B3}"/>
              </a:ext>
            </a:extLst>
          </p:cNvPr>
          <p:cNvSpPr>
            <a:spLocks noGrp="1"/>
          </p:cNvSpPr>
          <p:nvPr>
            <p:ph idx="1"/>
          </p:nvPr>
        </p:nvSpPr>
        <p:spPr>
          <a:xfrm>
            <a:off x="838200" y="1825624"/>
            <a:ext cx="10515600" cy="5032375"/>
          </a:xfrm>
        </p:spPr>
        <p:txBody>
          <a:bodyPr>
            <a:normAutofit/>
          </a:bodyPr>
          <a:lstStyle/>
          <a:p>
            <a:r>
              <a:rPr lang="en-GB" b="1" dirty="0"/>
              <a:t>Week 10: </a:t>
            </a:r>
            <a:r>
              <a:rPr lang="en-GB" dirty="0"/>
              <a:t>Generative Models, Autoencoders and Variational Autoencoders, Generative Adversarial Networks (GANs), Advanced concepts on Generative Adversarial Networks, why is it so difficult to train GANs in practice. If time allows, practice on GANs.</a:t>
            </a:r>
          </a:p>
          <a:p>
            <a:endParaRPr lang="en-GB" b="1" dirty="0"/>
          </a:p>
          <a:p>
            <a:r>
              <a:rPr lang="en-GB" b="1" dirty="0"/>
              <a:t>Week 11: </a:t>
            </a:r>
            <a:r>
              <a:rPr lang="en-GB" dirty="0"/>
              <a:t>Brief introduction to reinforcement learning, and state-action-rewards systems, multi-armed bandit problem and the exploration/exploitation trade-off, Q-learning and Deep Q-Learning. Reinforcement Learning with Human Feedback. Brief state-of-the-art discussion about further works in Reinforcement Learning.</a:t>
            </a:r>
          </a:p>
          <a:p>
            <a:endParaRPr lang="en-GB" dirty="0"/>
          </a:p>
        </p:txBody>
      </p:sp>
    </p:spTree>
    <p:extLst>
      <p:ext uri="{BB962C8B-B14F-4D97-AF65-F5344CB8AC3E}">
        <p14:creationId xmlns:p14="http://schemas.microsoft.com/office/powerpoint/2010/main" val="1135317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87710-E994-858C-736B-B256E5D31B1B}"/>
              </a:ext>
            </a:extLst>
          </p:cNvPr>
          <p:cNvSpPr>
            <a:spLocks noGrp="1"/>
          </p:cNvSpPr>
          <p:nvPr>
            <p:ph type="title"/>
          </p:nvPr>
        </p:nvSpPr>
        <p:spPr/>
        <p:txBody>
          <a:bodyPr/>
          <a:lstStyle/>
          <a:p>
            <a:r>
              <a:rPr lang="en-GB" dirty="0"/>
              <a:t>Syllabus</a:t>
            </a:r>
            <a:endParaRPr lang="en-SG" dirty="0"/>
          </a:p>
        </p:txBody>
      </p:sp>
      <p:sp>
        <p:nvSpPr>
          <p:cNvPr id="3" name="Content Placeholder 2">
            <a:extLst>
              <a:ext uri="{FF2B5EF4-FFF2-40B4-BE49-F238E27FC236}">
                <a16:creationId xmlns:a16="http://schemas.microsoft.com/office/drawing/2014/main" id="{EF77FA4B-0B20-5BC7-9427-1BB2CFAA30B3}"/>
              </a:ext>
            </a:extLst>
          </p:cNvPr>
          <p:cNvSpPr>
            <a:spLocks noGrp="1"/>
          </p:cNvSpPr>
          <p:nvPr>
            <p:ph idx="1"/>
          </p:nvPr>
        </p:nvSpPr>
        <p:spPr>
          <a:xfrm>
            <a:off x="838200" y="1825624"/>
            <a:ext cx="10515600" cy="5032375"/>
          </a:xfrm>
        </p:spPr>
        <p:txBody>
          <a:bodyPr>
            <a:normAutofit lnSpcReduction="10000"/>
          </a:bodyPr>
          <a:lstStyle/>
          <a:p>
            <a:r>
              <a:rPr lang="en-GB" b="1" dirty="0"/>
              <a:t>Week 12: </a:t>
            </a:r>
            <a:r>
              <a:rPr lang="en-GB" dirty="0"/>
              <a:t>Topics for curiosity. Introduction to Physics-Informed Neural Networks. Basic introduction to deep belief and diffusion models (more details to be covered in the 50.035 Computer Vision course). Introduction to Explainability/Interpretability, ethical questions on Deep Learning and open questions in research about Neural Networks.</a:t>
            </a:r>
          </a:p>
          <a:p>
            <a:endParaRPr lang="en-GB" dirty="0"/>
          </a:p>
          <a:p>
            <a:r>
              <a:rPr lang="en-GB" b="1" dirty="0"/>
              <a:t>Week 13: </a:t>
            </a:r>
            <a:r>
              <a:rPr lang="en-GB" dirty="0"/>
              <a:t>A word about ChatGPT, from a Deep Learning expert point of view. Closing and future directions for studying Deep Learning. Project presentations and possibly some guest conferences (TBA).</a:t>
            </a:r>
          </a:p>
          <a:p>
            <a:endParaRPr lang="en-GB" dirty="0"/>
          </a:p>
          <a:p>
            <a:r>
              <a:rPr lang="en-SG" b="1" dirty="0"/>
              <a:t>Week 14: </a:t>
            </a:r>
            <a:r>
              <a:rPr lang="en-SG" dirty="0"/>
              <a:t>Final exam (probably on content from W1-12).</a:t>
            </a:r>
          </a:p>
        </p:txBody>
      </p:sp>
    </p:spTree>
    <p:extLst>
      <p:ext uri="{BB962C8B-B14F-4D97-AF65-F5344CB8AC3E}">
        <p14:creationId xmlns:p14="http://schemas.microsoft.com/office/powerpoint/2010/main" val="2964357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6F96E-2941-74BC-F17E-3EE0BC3A9471}"/>
              </a:ext>
            </a:extLst>
          </p:cNvPr>
          <p:cNvSpPr>
            <a:spLocks noGrp="1"/>
          </p:cNvSpPr>
          <p:nvPr>
            <p:ph type="title"/>
          </p:nvPr>
        </p:nvSpPr>
        <p:spPr/>
        <p:txBody>
          <a:bodyPr/>
          <a:lstStyle/>
          <a:p>
            <a:r>
              <a:rPr lang="en-GB" dirty="0"/>
              <a:t>Supporting Textbooks</a:t>
            </a:r>
            <a:endParaRPr lang="en-SG" dirty="0"/>
          </a:p>
        </p:txBody>
      </p:sp>
      <p:sp>
        <p:nvSpPr>
          <p:cNvPr id="4" name="Content Placeholder 3">
            <a:extLst>
              <a:ext uri="{FF2B5EF4-FFF2-40B4-BE49-F238E27FC236}">
                <a16:creationId xmlns:a16="http://schemas.microsoft.com/office/drawing/2014/main" id="{9153A28C-95D3-2045-78E8-BEAFD0347A89}"/>
              </a:ext>
            </a:extLst>
          </p:cNvPr>
          <p:cNvSpPr>
            <a:spLocks noGrp="1"/>
          </p:cNvSpPr>
          <p:nvPr>
            <p:ph idx="1"/>
          </p:nvPr>
        </p:nvSpPr>
        <p:spPr>
          <a:xfrm>
            <a:off x="838200" y="1825624"/>
            <a:ext cx="8604380" cy="5032375"/>
          </a:xfrm>
        </p:spPr>
        <p:txBody>
          <a:bodyPr>
            <a:normAutofit/>
          </a:bodyPr>
          <a:lstStyle/>
          <a:p>
            <a:pPr marL="0" indent="0">
              <a:buNone/>
            </a:pPr>
            <a:r>
              <a:rPr lang="en-GB" dirty="0"/>
              <a:t>Supporting textbooks, for your curiosity (not needed to understand this course, just for reference).</a:t>
            </a:r>
          </a:p>
          <a:p>
            <a:r>
              <a:rPr lang="en-GB" dirty="0"/>
              <a:t>Michael A. Nielsen, “Neural networks and deep learning”, 2015. (</a:t>
            </a:r>
            <a:r>
              <a:rPr lang="en-GB" dirty="0">
                <a:hlinkClick r:id="rId2"/>
              </a:rPr>
              <a:t>http://neuralnetworksanddeeplearning.com/</a:t>
            </a:r>
            <a:r>
              <a:rPr lang="en-GB" dirty="0"/>
              <a:t>)</a:t>
            </a:r>
          </a:p>
          <a:p>
            <a:r>
              <a:rPr lang="en-GB" dirty="0"/>
              <a:t>Ian Goodfellow, </a:t>
            </a:r>
            <a:r>
              <a:rPr lang="en-GB" dirty="0" err="1"/>
              <a:t>Yoshua</a:t>
            </a:r>
            <a:r>
              <a:rPr lang="en-GB" dirty="0"/>
              <a:t> </a:t>
            </a:r>
            <a:r>
              <a:rPr lang="en-GB" dirty="0" err="1"/>
              <a:t>Bengio</a:t>
            </a:r>
            <a:r>
              <a:rPr lang="en-GB" dirty="0"/>
              <a:t> and Aaron Courville, “Deep learning”, 2016. (</a:t>
            </a:r>
            <a:r>
              <a:rPr lang="en-GB" dirty="0">
                <a:hlinkClick r:id="rId3"/>
              </a:rPr>
              <a:t>https://www.deeplearningbook.org/</a:t>
            </a:r>
            <a:r>
              <a:rPr lang="en-GB" dirty="0"/>
              <a:t>)</a:t>
            </a:r>
          </a:p>
          <a:p>
            <a:r>
              <a:rPr lang="en-GB" dirty="0"/>
              <a:t>Stevens et al., “Deep Learning with </a:t>
            </a:r>
            <a:r>
              <a:rPr lang="en-GB" dirty="0" err="1"/>
              <a:t>PyTorch</a:t>
            </a:r>
            <a:r>
              <a:rPr lang="en-GB" dirty="0"/>
              <a:t>”, 2020. (</a:t>
            </a:r>
            <a:r>
              <a:rPr lang="en-GB" dirty="0">
                <a:hlinkClick r:id="rId4"/>
              </a:rPr>
              <a:t>https://www.manning.com/books/deep-learning-with-pytorch</a:t>
            </a:r>
            <a:r>
              <a:rPr lang="en-GB" dirty="0"/>
              <a:t>)</a:t>
            </a:r>
            <a:endParaRPr lang="en-SG" dirty="0"/>
          </a:p>
        </p:txBody>
      </p:sp>
      <p:pic>
        <p:nvPicPr>
          <p:cNvPr id="7" name="Picture 6">
            <a:extLst>
              <a:ext uri="{FF2B5EF4-FFF2-40B4-BE49-F238E27FC236}">
                <a16:creationId xmlns:a16="http://schemas.microsoft.com/office/drawing/2014/main" id="{B56C8823-C103-3CE1-B38D-3C48663B4AE1}"/>
              </a:ext>
            </a:extLst>
          </p:cNvPr>
          <p:cNvPicPr>
            <a:picLocks noChangeAspect="1"/>
          </p:cNvPicPr>
          <p:nvPr/>
        </p:nvPicPr>
        <p:blipFill>
          <a:blip r:embed="rId5"/>
          <a:stretch>
            <a:fillRect/>
          </a:stretch>
        </p:blipFill>
        <p:spPr>
          <a:xfrm>
            <a:off x="10099408" y="4833257"/>
            <a:ext cx="1614858" cy="1939685"/>
          </a:xfrm>
          <a:prstGeom prst="rect">
            <a:avLst/>
          </a:prstGeom>
        </p:spPr>
      </p:pic>
      <p:pic>
        <p:nvPicPr>
          <p:cNvPr id="9" name="Picture 8" descr="A picture containing text, plant&#10;&#10;Description automatically generated">
            <a:extLst>
              <a:ext uri="{FF2B5EF4-FFF2-40B4-BE49-F238E27FC236}">
                <a16:creationId xmlns:a16="http://schemas.microsoft.com/office/drawing/2014/main" id="{27054BCD-226C-642D-79D1-F83C787B61FB}"/>
              </a:ext>
            </a:extLst>
          </p:cNvPr>
          <p:cNvPicPr>
            <a:picLocks noChangeAspect="1"/>
          </p:cNvPicPr>
          <p:nvPr/>
        </p:nvPicPr>
        <p:blipFill rotWithShape="1">
          <a:blip r:embed="rId6">
            <a:extLst>
              <a:ext uri="{28A0092B-C50C-407E-A947-70E740481C1C}">
                <a14:useLocalDpi xmlns:a14="http://schemas.microsoft.com/office/drawing/2010/main" val="0"/>
              </a:ext>
            </a:extLst>
          </a:blip>
          <a:srcRect l="25102" r="20653"/>
          <a:stretch/>
        </p:blipFill>
        <p:spPr>
          <a:xfrm>
            <a:off x="10099408" y="2619261"/>
            <a:ext cx="1616504" cy="2086007"/>
          </a:xfrm>
          <a:prstGeom prst="rect">
            <a:avLst/>
          </a:prstGeom>
        </p:spPr>
      </p:pic>
      <p:pic>
        <p:nvPicPr>
          <p:cNvPr id="11" name="Picture 10">
            <a:extLst>
              <a:ext uri="{FF2B5EF4-FFF2-40B4-BE49-F238E27FC236}">
                <a16:creationId xmlns:a16="http://schemas.microsoft.com/office/drawing/2014/main" id="{3E899614-E0B3-FF83-C910-37419D7FD44A}"/>
              </a:ext>
            </a:extLst>
          </p:cNvPr>
          <p:cNvPicPr>
            <a:picLocks noChangeAspect="1"/>
          </p:cNvPicPr>
          <p:nvPr/>
        </p:nvPicPr>
        <p:blipFill>
          <a:blip r:embed="rId7"/>
          <a:stretch>
            <a:fillRect/>
          </a:stretch>
        </p:blipFill>
        <p:spPr>
          <a:xfrm>
            <a:off x="9822971" y="251925"/>
            <a:ext cx="2167732" cy="2239347"/>
          </a:xfrm>
          <a:prstGeom prst="rect">
            <a:avLst/>
          </a:prstGeom>
        </p:spPr>
      </p:pic>
    </p:spTree>
    <p:extLst>
      <p:ext uri="{BB962C8B-B14F-4D97-AF65-F5344CB8AC3E}">
        <p14:creationId xmlns:p14="http://schemas.microsoft.com/office/powerpoint/2010/main" val="1174628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F1B8-AAC0-BD3B-71B7-558D7C404185}"/>
              </a:ext>
            </a:extLst>
          </p:cNvPr>
          <p:cNvSpPr>
            <a:spLocks noGrp="1"/>
          </p:cNvSpPr>
          <p:nvPr>
            <p:ph type="title"/>
          </p:nvPr>
        </p:nvSpPr>
        <p:spPr/>
        <p:txBody>
          <a:bodyPr/>
          <a:lstStyle/>
          <a:p>
            <a:r>
              <a:rPr lang="en-GB" dirty="0"/>
              <a:t>Evaluation and grading</a:t>
            </a:r>
            <a:endParaRPr lang="en-SG" dirty="0"/>
          </a:p>
        </p:txBody>
      </p:sp>
      <p:sp>
        <p:nvSpPr>
          <p:cNvPr id="3" name="Content Placeholder 2">
            <a:extLst>
              <a:ext uri="{FF2B5EF4-FFF2-40B4-BE49-F238E27FC236}">
                <a16:creationId xmlns:a16="http://schemas.microsoft.com/office/drawing/2014/main" id="{00158227-B71F-87CC-D0F3-AE23B9DE10AA}"/>
              </a:ext>
            </a:extLst>
          </p:cNvPr>
          <p:cNvSpPr>
            <a:spLocks noGrp="1"/>
          </p:cNvSpPr>
          <p:nvPr>
            <p:ph idx="1"/>
          </p:nvPr>
        </p:nvSpPr>
        <p:spPr>
          <a:xfrm>
            <a:off x="838200" y="1825625"/>
            <a:ext cx="10515600" cy="4817452"/>
          </a:xfrm>
        </p:spPr>
        <p:txBody>
          <a:bodyPr>
            <a:normAutofit/>
          </a:bodyPr>
          <a:lstStyle/>
          <a:p>
            <a:r>
              <a:rPr lang="en-GB" b="1" dirty="0" err="1"/>
              <a:t>Homeworks</a:t>
            </a:r>
            <a:r>
              <a:rPr lang="en-GB" b="1" dirty="0"/>
              <a:t> (15%): </a:t>
            </a:r>
            <a:r>
              <a:rPr lang="en-GB" dirty="0"/>
              <a:t>Given on Weeks 3, 5, 8, 10 (tentative)</a:t>
            </a:r>
            <a:br>
              <a:rPr lang="en-GB" dirty="0"/>
            </a:br>
            <a:r>
              <a:rPr lang="en-GB" dirty="0"/>
              <a:t>Usually come in the form of a </a:t>
            </a:r>
            <a:r>
              <a:rPr lang="en-GB" dirty="0" err="1"/>
              <a:t>Jupyter</a:t>
            </a:r>
            <a:r>
              <a:rPr lang="en-GB" dirty="0"/>
              <a:t> Notebook, containing explanations, code snippets and questions.</a:t>
            </a:r>
            <a:br>
              <a:rPr lang="en-GB" dirty="0"/>
            </a:br>
            <a:r>
              <a:rPr lang="en-GB" dirty="0"/>
              <a:t>Submissions on </a:t>
            </a:r>
            <a:r>
              <a:rPr lang="en-GB" dirty="0" err="1"/>
              <a:t>eDimension</a:t>
            </a:r>
            <a:r>
              <a:rPr lang="en-GB" dirty="0"/>
              <a:t>, two weeks later or so, as a small PDF report containing code, figures and answers to questions.</a:t>
            </a:r>
            <a:br>
              <a:rPr lang="en-GB" dirty="0"/>
            </a:br>
            <a:r>
              <a:rPr lang="en-GB" dirty="0"/>
              <a:t>When time allows, debrief of </a:t>
            </a:r>
            <a:r>
              <a:rPr lang="en-GB" dirty="0" err="1"/>
              <a:t>homeworks</a:t>
            </a:r>
            <a:r>
              <a:rPr lang="en-GB" dirty="0"/>
              <a:t> in class.</a:t>
            </a:r>
          </a:p>
          <a:p>
            <a:endParaRPr lang="en-GB" dirty="0"/>
          </a:p>
          <a:p>
            <a:r>
              <a:rPr lang="en-GB" b="1" dirty="0" err="1"/>
              <a:t>MidTerm</a:t>
            </a:r>
            <a:r>
              <a:rPr lang="en-GB" b="1" dirty="0"/>
              <a:t> Exam (25%): </a:t>
            </a:r>
            <a:r>
              <a:rPr lang="en-GB" dirty="0"/>
              <a:t>Usually given on Week 6, to be confirmed.</a:t>
            </a:r>
            <a:br>
              <a:rPr lang="en-GB" dirty="0"/>
            </a:br>
            <a:r>
              <a:rPr lang="en-GB" dirty="0"/>
              <a:t>Theoretical, paper exam, notions of Week 1-6 to be tested.</a:t>
            </a:r>
            <a:br>
              <a:rPr lang="en-GB" dirty="0"/>
            </a:br>
            <a:r>
              <a:rPr lang="en-GB" dirty="0"/>
              <a:t>More details about venue and exam to be announced closer to the exam date.</a:t>
            </a:r>
          </a:p>
          <a:p>
            <a:endParaRPr lang="en-SG" dirty="0"/>
          </a:p>
        </p:txBody>
      </p:sp>
    </p:spTree>
    <p:extLst>
      <p:ext uri="{BB962C8B-B14F-4D97-AF65-F5344CB8AC3E}">
        <p14:creationId xmlns:p14="http://schemas.microsoft.com/office/powerpoint/2010/main" val="1437705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F1B8-AAC0-BD3B-71B7-558D7C404185}"/>
              </a:ext>
            </a:extLst>
          </p:cNvPr>
          <p:cNvSpPr>
            <a:spLocks noGrp="1"/>
          </p:cNvSpPr>
          <p:nvPr>
            <p:ph type="title"/>
          </p:nvPr>
        </p:nvSpPr>
        <p:spPr/>
        <p:txBody>
          <a:bodyPr/>
          <a:lstStyle/>
          <a:p>
            <a:r>
              <a:rPr lang="en-GB" dirty="0"/>
              <a:t>Evaluation and grading</a:t>
            </a:r>
            <a:endParaRPr lang="en-SG" dirty="0"/>
          </a:p>
        </p:txBody>
      </p:sp>
      <p:sp>
        <p:nvSpPr>
          <p:cNvPr id="3" name="Content Placeholder 2">
            <a:extLst>
              <a:ext uri="{FF2B5EF4-FFF2-40B4-BE49-F238E27FC236}">
                <a16:creationId xmlns:a16="http://schemas.microsoft.com/office/drawing/2014/main" id="{00158227-B71F-87CC-D0F3-AE23B9DE10AA}"/>
              </a:ext>
            </a:extLst>
          </p:cNvPr>
          <p:cNvSpPr>
            <a:spLocks noGrp="1"/>
          </p:cNvSpPr>
          <p:nvPr>
            <p:ph idx="1"/>
          </p:nvPr>
        </p:nvSpPr>
        <p:spPr>
          <a:xfrm>
            <a:off x="838200" y="1825624"/>
            <a:ext cx="10515600" cy="5032375"/>
          </a:xfrm>
        </p:spPr>
        <p:txBody>
          <a:bodyPr>
            <a:normAutofit/>
          </a:bodyPr>
          <a:lstStyle/>
          <a:p>
            <a:r>
              <a:rPr lang="en-GB" b="1" dirty="0"/>
              <a:t>Final Exam (25%): </a:t>
            </a:r>
            <a:r>
              <a:rPr lang="en-GB" dirty="0"/>
              <a:t>Given on Week 14, date to be confirmed.</a:t>
            </a:r>
            <a:br>
              <a:rPr lang="en-GB" dirty="0"/>
            </a:br>
            <a:r>
              <a:rPr lang="en-GB" dirty="0"/>
              <a:t>Theoretical, paper exam, notions of Week 1-13 to be tested.</a:t>
            </a:r>
            <a:br>
              <a:rPr lang="en-GB" dirty="0"/>
            </a:br>
            <a:r>
              <a:rPr lang="en-GB" dirty="0"/>
              <a:t>More details about venue and exam to be announced.</a:t>
            </a:r>
          </a:p>
          <a:p>
            <a:endParaRPr lang="en-GB" dirty="0"/>
          </a:p>
          <a:p>
            <a:r>
              <a:rPr lang="en-GB" b="1" dirty="0"/>
              <a:t>Project (28%): </a:t>
            </a:r>
            <a:r>
              <a:rPr lang="en-GB" dirty="0"/>
              <a:t>Groups of 2-3 students. Submission for project (code, report, presentation) expected on Week 13. More details about the project will be given on Week 3.</a:t>
            </a:r>
          </a:p>
          <a:p>
            <a:pPr marL="0" indent="0">
              <a:buNone/>
            </a:pPr>
            <a:endParaRPr lang="en-GB" dirty="0"/>
          </a:p>
          <a:p>
            <a:r>
              <a:rPr lang="en-GB" b="1" dirty="0"/>
              <a:t>Participation (5%): </a:t>
            </a:r>
            <a:r>
              <a:rPr lang="en-GB" dirty="0"/>
              <a:t>To our discretion.</a:t>
            </a:r>
          </a:p>
          <a:p>
            <a:r>
              <a:rPr lang="en-GB" b="1" dirty="0"/>
              <a:t>Student Feedback Survey (2%): </a:t>
            </a:r>
            <a:r>
              <a:rPr lang="en-GB" dirty="0"/>
              <a:t>As per usual.</a:t>
            </a:r>
          </a:p>
          <a:p>
            <a:pPr marL="0" indent="0">
              <a:buNone/>
            </a:pPr>
            <a:endParaRPr lang="en-SG" dirty="0"/>
          </a:p>
        </p:txBody>
      </p:sp>
    </p:spTree>
    <p:extLst>
      <p:ext uri="{BB962C8B-B14F-4D97-AF65-F5344CB8AC3E}">
        <p14:creationId xmlns:p14="http://schemas.microsoft.com/office/powerpoint/2010/main" val="2463050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Logo, company name&#10;&#10;Description automatically generated">
            <a:extLst>
              <a:ext uri="{FF2B5EF4-FFF2-40B4-BE49-F238E27FC236}">
                <a16:creationId xmlns:a16="http://schemas.microsoft.com/office/drawing/2014/main" id="{BFA7CA6E-5CDB-E94A-8BCF-45FFF37CBC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6114" y="531527"/>
            <a:ext cx="5609911" cy="1894862"/>
          </a:xfrm>
          <a:prstGeom prst="rect">
            <a:avLst/>
          </a:prstGeom>
        </p:spPr>
      </p:pic>
      <p:sp>
        <p:nvSpPr>
          <p:cNvPr id="2" name="Title 1">
            <a:extLst>
              <a:ext uri="{FF2B5EF4-FFF2-40B4-BE49-F238E27FC236}">
                <a16:creationId xmlns:a16="http://schemas.microsoft.com/office/drawing/2014/main" id="{FDF64693-5090-BB52-ECF3-0666AAD2507C}"/>
              </a:ext>
            </a:extLst>
          </p:cNvPr>
          <p:cNvSpPr>
            <a:spLocks noGrp="1"/>
          </p:cNvSpPr>
          <p:nvPr>
            <p:ph type="title"/>
          </p:nvPr>
        </p:nvSpPr>
        <p:spPr/>
        <p:txBody>
          <a:bodyPr/>
          <a:lstStyle/>
          <a:p>
            <a:r>
              <a:rPr lang="en-GB" dirty="0"/>
              <a:t>Technical pre-requisites</a:t>
            </a:r>
            <a:endParaRPr lang="en-SG" dirty="0"/>
          </a:p>
        </p:txBody>
      </p:sp>
      <p:sp>
        <p:nvSpPr>
          <p:cNvPr id="3" name="Content Placeholder 2">
            <a:extLst>
              <a:ext uri="{FF2B5EF4-FFF2-40B4-BE49-F238E27FC236}">
                <a16:creationId xmlns:a16="http://schemas.microsoft.com/office/drawing/2014/main" id="{FF686CDA-C22E-B272-5CB5-BE1E309AAA29}"/>
              </a:ext>
            </a:extLst>
          </p:cNvPr>
          <p:cNvSpPr>
            <a:spLocks noGrp="1"/>
          </p:cNvSpPr>
          <p:nvPr>
            <p:ph sz="half" idx="1"/>
          </p:nvPr>
        </p:nvSpPr>
        <p:spPr>
          <a:xfrm>
            <a:off x="838199" y="1825624"/>
            <a:ext cx="6367889" cy="5032375"/>
          </a:xfrm>
        </p:spPr>
        <p:txBody>
          <a:bodyPr>
            <a:normAutofit lnSpcReduction="10000"/>
          </a:bodyPr>
          <a:lstStyle/>
          <a:p>
            <a:r>
              <a:rPr lang="en-GB" dirty="0"/>
              <a:t>Install </a:t>
            </a:r>
            <a:r>
              <a:rPr lang="en-GB" b="1" dirty="0"/>
              <a:t>Python</a:t>
            </a:r>
            <a:r>
              <a:rPr lang="en-GB" dirty="0"/>
              <a:t> </a:t>
            </a:r>
            <a:r>
              <a:rPr lang="en-GB" b="1" dirty="0"/>
              <a:t>3</a:t>
            </a:r>
            <a:r>
              <a:rPr lang="en-GB" dirty="0"/>
              <a:t>, if you have not done</a:t>
            </a:r>
            <a:br>
              <a:rPr lang="en-GB" dirty="0"/>
            </a:br>
            <a:r>
              <a:rPr lang="en-GB" dirty="0"/>
              <a:t>so already (</a:t>
            </a:r>
            <a:r>
              <a:rPr lang="en-GB" u="sng" dirty="0"/>
              <a:t>this course does use the C++/Java version of </a:t>
            </a:r>
            <a:r>
              <a:rPr lang="en-GB" u="sng" dirty="0" err="1"/>
              <a:t>PyTorch</a:t>
            </a:r>
            <a:r>
              <a:rPr lang="en-GB" dirty="0"/>
              <a:t>).</a:t>
            </a:r>
          </a:p>
          <a:p>
            <a:r>
              <a:rPr lang="en-GB" b="1" dirty="0"/>
              <a:t>Libraries needed (maybe more based</a:t>
            </a:r>
            <a:br>
              <a:rPr lang="en-GB" b="1" dirty="0"/>
            </a:br>
            <a:r>
              <a:rPr lang="en-GB" b="1" dirty="0"/>
              <a:t>on projects/</a:t>
            </a:r>
            <a:r>
              <a:rPr lang="en-GB" b="1" dirty="0" err="1"/>
              <a:t>homeworks</a:t>
            </a:r>
            <a:r>
              <a:rPr lang="en-GB" b="1" dirty="0"/>
              <a:t>):</a:t>
            </a:r>
            <a:br>
              <a:rPr lang="en-GB" b="1" dirty="0"/>
            </a:br>
            <a:r>
              <a:rPr lang="en-GB" dirty="0" err="1"/>
              <a:t>numpy</a:t>
            </a:r>
            <a:r>
              <a:rPr lang="en-GB" dirty="0"/>
              <a:t>, matplotlib, </a:t>
            </a:r>
            <a:r>
              <a:rPr lang="en-GB" dirty="0" err="1"/>
              <a:t>scipy</a:t>
            </a:r>
            <a:r>
              <a:rPr lang="en-GB" dirty="0"/>
              <a:t>, </a:t>
            </a:r>
            <a:r>
              <a:rPr lang="en-GB" dirty="0" err="1"/>
              <a:t>sklearn</a:t>
            </a:r>
            <a:r>
              <a:rPr lang="en-GB" dirty="0"/>
              <a:t>, </a:t>
            </a:r>
            <a:r>
              <a:rPr lang="en-GB" dirty="0" err="1"/>
              <a:t>networkx</a:t>
            </a:r>
            <a:r>
              <a:rPr lang="en-GB" dirty="0"/>
              <a:t>, pillow, gym, torch, </a:t>
            </a:r>
            <a:r>
              <a:rPr lang="en-GB" dirty="0" err="1"/>
              <a:t>torchvision</a:t>
            </a:r>
            <a:r>
              <a:rPr lang="en-GB" dirty="0"/>
              <a:t>, </a:t>
            </a:r>
            <a:r>
              <a:rPr lang="en-GB" dirty="0" err="1"/>
              <a:t>torchmetrics</a:t>
            </a:r>
            <a:r>
              <a:rPr lang="en-GB" dirty="0"/>
              <a:t>, possibly more.</a:t>
            </a:r>
          </a:p>
          <a:p>
            <a:r>
              <a:rPr lang="en-GB" b="1" dirty="0" err="1"/>
              <a:t>Jupyter</a:t>
            </a:r>
            <a:r>
              <a:rPr lang="en-GB" dirty="0"/>
              <a:t> </a:t>
            </a:r>
            <a:r>
              <a:rPr lang="en-GB" b="1" dirty="0"/>
              <a:t>notebooks</a:t>
            </a:r>
            <a:r>
              <a:rPr lang="en-GB" dirty="0"/>
              <a:t> for demos of code, along with the slides.</a:t>
            </a:r>
          </a:p>
          <a:p>
            <a:r>
              <a:rPr lang="en-GB" dirty="0"/>
              <a:t>In doubt, you can always use </a:t>
            </a:r>
            <a:r>
              <a:rPr lang="en-GB" b="1" dirty="0"/>
              <a:t>Google</a:t>
            </a:r>
            <a:r>
              <a:rPr lang="en-GB" dirty="0"/>
              <a:t> </a:t>
            </a:r>
            <a:r>
              <a:rPr lang="en-GB" b="1" dirty="0" err="1"/>
              <a:t>Colab</a:t>
            </a:r>
            <a:r>
              <a:rPr lang="en-GB" b="1" dirty="0"/>
              <a:t> </a:t>
            </a:r>
            <a:r>
              <a:rPr lang="en-GB" dirty="0"/>
              <a:t>to run the codes.</a:t>
            </a:r>
          </a:p>
          <a:p>
            <a:endParaRPr lang="en-GB" dirty="0"/>
          </a:p>
          <a:p>
            <a:endParaRPr lang="en-SG" dirty="0"/>
          </a:p>
        </p:txBody>
      </p:sp>
      <p:pic>
        <p:nvPicPr>
          <p:cNvPr id="12" name="Picture 11" descr="Logo, company name&#10;&#10;Description automatically generated">
            <a:extLst>
              <a:ext uri="{FF2B5EF4-FFF2-40B4-BE49-F238E27FC236}">
                <a16:creationId xmlns:a16="http://schemas.microsoft.com/office/drawing/2014/main" id="{AA8AD514-CE28-D625-2C90-20F6161E69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1932" y="2265054"/>
            <a:ext cx="4655782" cy="2327891"/>
          </a:xfrm>
          <a:prstGeom prst="rect">
            <a:avLst/>
          </a:prstGeom>
        </p:spPr>
      </p:pic>
      <p:pic>
        <p:nvPicPr>
          <p:cNvPr id="14" name="Picture 13" descr="A picture containing icon&#10;&#10;Description automatically generated">
            <a:extLst>
              <a:ext uri="{FF2B5EF4-FFF2-40B4-BE49-F238E27FC236}">
                <a16:creationId xmlns:a16="http://schemas.microsoft.com/office/drawing/2014/main" id="{87C01E8D-A578-BDA1-72B7-01BFFF2FEC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6088" y="4596729"/>
            <a:ext cx="4655781" cy="1991640"/>
          </a:xfrm>
          <a:prstGeom prst="rect">
            <a:avLst/>
          </a:prstGeom>
        </p:spPr>
      </p:pic>
    </p:spTree>
    <p:extLst>
      <p:ext uri="{BB962C8B-B14F-4D97-AF65-F5344CB8AC3E}">
        <p14:creationId xmlns:p14="http://schemas.microsoft.com/office/powerpoint/2010/main" val="305053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64693-5090-BB52-ECF3-0666AAD2507C}"/>
              </a:ext>
            </a:extLst>
          </p:cNvPr>
          <p:cNvSpPr>
            <a:spLocks noGrp="1"/>
          </p:cNvSpPr>
          <p:nvPr>
            <p:ph type="title"/>
          </p:nvPr>
        </p:nvSpPr>
        <p:spPr/>
        <p:txBody>
          <a:bodyPr/>
          <a:lstStyle/>
          <a:p>
            <a:r>
              <a:rPr lang="en-GB" dirty="0"/>
              <a:t>Technical pre-requisites</a:t>
            </a:r>
            <a:endParaRPr lang="en-SG" dirty="0"/>
          </a:p>
        </p:txBody>
      </p:sp>
      <p:sp>
        <p:nvSpPr>
          <p:cNvPr id="3" name="Content Placeholder 2">
            <a:extLst>
              <a:ext uri="{FF2B5EF4-FFF2-40B4-BE49-F238E27FC236}">
                <a16:creationId xmlns:a16="http://schemas.microsoft.com/office/drawing/2014/main" id="{FF686CDA-C22E-B272-5CB5-BE1E309AAA29}"/>
              </a:ext>
            </a:extLst>
          </p:cNvPr>
          <p:cNvSpPr>
            <a:spLocks noGrp="1"/>
          </p:cNvSpPr>
          <p:nvPr>
            <p:ph sz="half" idx="1"/>
          </p:nvPr>
        </p:nvSpPr>
        <p:spPr>
          <a:xfrm>
            <a:off x="838199" y="1825624"/>
            <a:ext cx="5604545" cy="5032375"/>
          </a:xfrm>
        </p:spPr>
        <p:txBody>
          <a:bodyPr>
            <a:normAutofit/>
          </a:bodyPr>
          <a:lstStyle/>
          <a:p>
            <a:r>
              <a:rPr lang="en-GB" dirty="0"/>
              <a:t>Framework of choice will be </a:t>
            </a:r>
            <a:r>
              <a:rPr lang="en-GB" b="1" dirty="0" err="1"/>
              <a:t>PyTorch</a:t>
            </a:r>
            <a:r>
              <a:rPr lang="en-GB" b="1" dirty="0"/>
              <a:t>! </a:t>
            </a:r>
            <a:r>
              <a:rPr lang="en-GB" dirty="0"/>
              <a:t>(not </a:t>
            </a:r>
            <a:r>
              <a:rPr lang="en-GB" dirty="0" err="1"/>
              <a:t>Tensorflow</a:t>
            </a:r>
            <a:r>
              <a:rPr lang="en-GB" dirty="0"/>
              <a:t>, not </a:t>
            </a:r>
            <a:r>
              <a:rPr lang="en-GB" dirty="0" err="1"/>
              <a:t>Keras</a:t>
            </a:r>
            <a:r>
              <a:rPr lang="en-GB" dirty="0"/>
              <a:t>, not </a:t>
            </a:r>
            <a:r>
              <a:rPr lang="en-GB" dirty="0" err="1"/>
              <a:t>MXNet</a:t>
            </a:r>
            <a:r>
              <a:rPr lang="en-GB" dirty="0"/>
              <a:t>, etc.)</a:t>
            </a:r>
          </a:p>
          <a:p>
            <a:r>
              <a:rPr lang="en-GB" dirty="0"/>
              <a:t>Increasing popularity and preferred to Google’s </a:t>
            </a:r>
            <a:r>
              <a:rPr lang="en-GB" dirty="0" err="1"/>
              <a:t>Tensorflow</a:t>
            </a:r>
            <a:r>
              <a:rPr lang="en-GB" dirty="0"/>
              <a:t> these days for many reasons.</a:t>
            </a:r>
          </a:p>
          <a:p>
            <a:r>
              <a:rPr lang="en-GB" dirty="0"/>
              <a:t>Learn more, if curious: </a:t>
            </a:r>
            <a:r>
              <a:rPr lang="en-GB" dirty="0">
                <a:hlinkClick r:id="rId2"/>
              </a:rPr>
              <a:t>https://www.assemblyai.com/blog/pytorch-vs-tensorflow-in-2022/</a:t>
            </a:r>
            <a:endParaRPr lang="en-GB" dirty="0"/>
          </a:p>
          <a:p>
            <a:r>
              <a:rPr lang="en-GB" dirty="0"/>
              <a:t>Also, this: </a:t>
            </a:r>
            <a:r>
              <a:rPr lang="en-GB" dirty="0">
                <a:hlinkClick r:id="rId3"/>
              </a:rPr>
              <a:t>https://arxiv.org/abs/2508.04035</a:t>
            </a:r>
            <a:r>
              <a:rPr lang="en-GB" dirty="0"/>
              <a:t> </a:t>
            </a:r>
          </a:p>
          <a:p>
            <a:endParaRPr lang="en-GB" dirty="0"/>
          </a:p>
          <a:p>
            <a:endParaRPr lang="en-SG" dirty="0"/>
          </a:p>
        </p:txBody>
      </p:sp>
      <p:pic>
        <p:nvPicPr>
          <p:cNvPr id="8" name="Picture 7" descr="Chart&#10;&#10;Description automatically generated">
            <a:extLst>
              <a:ext uri="{FF2B5EF4-FFF2-40B4-BE49-F238E27FC236}">
                <a16:creationId xmlns:a16="http://schemas.microsoft.com/office/drawing/2014/main" id="{A5EAB954-957E-D4B7-7CEA-B5B5FA43AA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8581" y="3328011"/>
            <a:ext cx="5719960" cy="3529989"/>
          </a:xfrm>
          <a:prstGeom prst="rect">
            <a:avLst/>
          </a:prstGeom>
        </p:spPr>
      </p:pic>
      <p:pic>
        <p:nvPicPr>
          <p:cNvPr id="5" name="Picture 4" descr="Logo, company name&#10;&#10;Description automatically generated">
            <a:extLst>
              <a:ext uri="{FF2B5EF4-FFF2-40B4-BE49-F238E27FC236}">
                <a16:creationId xmlns:a16="http://schemas.microsoft.com/office/drawing/2014/main" id="{00EC893D-A9C0-E3AD-91DA-F3EAD655B0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02157" y="1219994"/>
            <a:ext cx="4216034" cy="2108017"/>
          </a:xfrm>
          <a:prstGeom prst="rect">
            <a:avLst/>
          </a:prstGeom>
        </p:spPr>
      </p:pic>
    </p:spTree>
    <p:extLst>
      <p:ext uri="{BB962C8B-B14F-4D97-AF65-F5344CB8AC3E}">
        <p14:creationId xmlns:p14="http://schemas.microsoft.com/office/powerpoint/2010/main" val="3843402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7E22-87CF-02A5-3F5F-93789E5D559D}"/>
              </a:ext>
            </a:extLst>
          </p:cNvPr>
          <p:cNvSpPr>
            <a:spLocks noGrp="1"/>
          </p:cNvSpPr>
          <p:nvPr>
            <p:ph type="title"/>
          </p:nvPr>
        </p:nvSpPr>
        <p:spPr/>
        <p:txBody>
          <a:bodyPr/>
          <a:lstStyle/>
          <a:p>
            <a:r>
              <a:rPr lang="en-GB" dirty="0"/>
              <a:t>Installing </a:t>
            </a:r>
            <a:r>
              <a:rPr lang="en-GB" dirty="0" err="1"/>
              <a:t>PyTorch</a:t>
            </a:r>
            <a:r>
              <a:rPr lang="en-GB" dirty="0"/>
              <a:t> and CUDA</a:t>
            </a:r>
            <a:endParaRPr lang="en-SG" dirty="0"/>
          </a:p>
        </p:txBody>
      </p:sp>
      <p:sp>
        <p:nvSpPr>
          <p:cNvPr id="3" name="Content Placeholder 2">
            <a:extLst>
              <a:ext uri="{FF2B5EF4-FFF2-40B4-BE49-F238E27FC236}">
                <a16:creationId xmlns:a16="http://schemas.microsoft.com/office/drawing/2014/main" id="{E6A39174-3E5F-1239-C016-DEB828F2BE91}"/>
              </a:ext>
            </a:extLst>
          </p:cNvPr>
          <p:cNvSpPr>
            <a:spLocks noGrp="1"/>
          </p:cNvSpPr>
          <p:nvPr>
            <p:ph idx="1"/>
          </p:nvPr>
        </p:nvSpPr>
        <p:spPr/>
        <p:txBody>
          <a:bodyPr>
            <a:normAutofit/>
          </a:bodyPr>
          <a:lstStyle/>
          <a:p>
            <a:r>
              <a:rPr lang="en-GB" dirty="0"/>
              <a:t>Install </a:t>
            </a:r>
            <a:r>
              <a:rPr lang="en-GB" dirty="0" err="1"/>
              <a:t>PyTorch</a:t>
            </a:r>
            <a:r>
              <a:rPr lang="en-GB" dirty="0"/>
              <a:t>, by getting the latest version (not the one shown below!) from </a:t>
            </a:r>
            <a:r>
              <a:rPr lang="en-GB" dirty="0">
                <a:hlinkClick r:id="rId2"/>
              </a:rPr>
              <a:t>https://pytorch.org/get-started/locally/</a:t>
            </a:r>
            <a:endParaRPr lang="en-GB" dirty="0"/>
          </a:p>
          <a:p>
            <a:r>
              <a:rPr lang="en-GB" dirty="0"/>
              <a:t>Setting up CUDA/GPU acceleration is always a good idea!</a:t>
            </a:r>
            <a:br>
              <a:rPr lang="en-GB" dirty="0"/>
            </a:br>
            <a:r>
              <a:rPr lang="en-GB" dirty="0"/>
              <a:t>(More details in bonus slides).</a:t>
            </a:r>
          </a:p>
          <a:p>
            <a:endParaRPr lang="en-SG" dirty="0"/>
          </a:p>
        </p:txBody>
      </p:sp>
      <p:pic>
        <p:nvPicPr>
          <p:cNvPr id="5" name="Picture 4">
            <a:extLst>
              <a:ext uri="{FF2B5EF4-FFF2-40B4-BE49-F238E27FC236}">
                <a16:creationId xmlns:a16="http://schemas.microsoft.com/office/drawing/2014/main" id="{BA8B9707-E3C3-C8AC-1495-88C014E7D5D6}"/>
              </a:ext>
            </a:extLst>
          </p:cNvPr>
          <p:cNvPicPr>
            <a:picLocks noChangeAspect="1"/>
          </p:cNvPicPr>
          <p:nvPr/>
        </p:nvPicPr>
        <p:blipFill>
          <a:blip r:embed="rId3"/>
          <a:stretch>
            <a:fillRect/>
          </a:stretch>
        </p:blipFill>
        <p:spPr>
          <a:xfrm>
            <a:off x="2025444" y="3667737"/>
            <a:ext cx="8331051" cy="3190263"/>
          </a:xfrm>
          <a:prstGeom prst="rect">
            <a:avLst/>
          </a:prstGeom>
        </p:spPr>
      </p:pic>
    </p:spTree>
    <p:extLst>
      <p:ext uri="{BB962C8B-B14F-4D97-AF65-F5344CB8AC3E}">
        <p14:creationId xmlns:p14="http://schemas.microsoft.com/office/powerpoint/2010/main" val="4206316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W1-S1 Introduction and Machine Learning Reminders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2458435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1)</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lstStyle/>
          <a:p>
            <a:pPr marL="514350" indent="-514350">
              <a:buFont typeface="+mj-lt"/>
              <a:buAutoNum type="arabicPeriod"/>
            </a:pPr>
            <a:r>
              <a:rPr lang="en-US" dirty="0"/>
              <a:t>What are the </a:t>
            </a:r>
            <a:r>
              <a:rPr lang="en-US" b="1" dirty="0"/>
              <a:t>typical</a:t>
            </a:r>
            <a:r>
              <a:rPr lang="en-US" dirty="0"/>
              <a:t> </a:t>
            </a:r>
            <a:r>
              <a:rPr lang="en-US" b="1" dirty="0"/>
              <a:t>concepts</a:t>
            </a:r>
            <a:r>
              <a:rPr lang="en-US" dirty="0"/>
              <a:t> </a:t>
            </a:r>
            <a:r>
              <a:rPr lang="en-US" b="1" dirty="0"/>
              <a:t>of</a:t>
            </a:r>
            <a:r>
              <a:rPr lang="en-US" dirty="0"/>
              <a:t> </a:t>
            </a:r>
            <a:r>
              <a:rPr lang="en-US" b="1" dirty="0"/>
              <a:t>Machine</a:t>
            </a:r>
            <a:r>
              <a:rPr lang="en-US" dirty="0"/>
              <a:t> </a:t>
            </a:r>
            <a:r>
              <a:rPr lang="en-US" b="1" dirty="0"/>
              <a:t>Learning</a:t>
            </a:r>
            <a:r>
              <a:rPr lang="en-US" dirty="0"/>
              <a:t> to be used as a starting point for this course?</a:t>
            </a:r>
          </a:p>
          <a:p>
            <a:pPr marL="514350" indent="-514350">
              <a:buFont typeface="+mj-lt"/>
              <a:buAutoNum type="arabicPeriod"/>
            </a:pPr>
            <a:r>
              <a:rPr lang="en-GB" dirty="0"/>
              <a:t>What are the </a:t>
            </a:r>
            <a:r>
              <a:rPr lang="en-GB" b="1" dirty="0"/>
              <a:t>different</a:t>
            </a:r>
            <a:r>
              <a:rPr lang="en-GB" dirty="0"/>
              <a:t> </a:t>
            </a:r>
            <a:r>
              <a:rPr lang="en-GB" b="1" dirty="0"/>
              <a:t>families</a:t>
            </a:r>
            <a:r>
              <a:rPr lang="en-GB" dirty="0"/>
              <a:t> </a:t>
            </a:r>
            <a:r>
              <a:rPr lang="en-GB" b="1" dirty="0"/>
              <a:t>of</a:t>
            </a:r>
            <a:r>
              <a:rPr lang="en-GB" dirty="0"/>
              <a:t> </a:t>
            </a:r>
            <a:r>
              <a:rPr lang="en-GB" b="1" dirty="0"/>
              <a:t>problems</a:t>
            </a:r>
            <a:r>
              <a:rPr lang="en-GB" dirty="0"/>
              <a:t> in Deep Learning?</a:t>
            </a:r>
          </a:p>
          <a:p>
            <a:pPr marL="514350" indent="-514350">
              <a:buFont typeface="+mj-lt"/>
              <a:buAutoNum type="arabicPeriod"/>
            </a:pPr>
            <a:r>
              <a:rPr lang="en-GB" dirty="0"/>
              <a:t>What is the </a:t>
            </a:r>
            <a:r>
              <a:rPr lang="en-GB" b="1" dirty="0"/>
              <a:t>typical</a:t>
            </a:r>
            <a:r>
              <a:rPr lang="en-GB" dirty="0"/>
              <a:t> </a:t>
            </a:r>
            <a:r>
              <a:rPr lang="en-GB" b="1" dirty="0"/>
              <a:t>structure</a:t>
            </a:r>
            <a:r>
              <a:rPr lang="en-GB" dirty="0"/>
              <a:t> </a:t>
            </a:r>
            <a:r>
              <a:rPr lang="en-GB" b="1" dirty="0"/>
              <a:t>of a Deep Learning problem</a:t>
            </a:r>
            <a:r>
              <a:rPr lang="en-GB" dirty="0"/>
              <a:t>?</a:t>
            </a:r>
          </a:p>
          <a:p>
            <a:pPr marL="514350" indent="-514350">
              <a:buFont typeface="+mj-lt"/>
              <a:buAutoNum type="arabicPeriod"/>
            </a:pPr>
            <a:r>
              <a:rPr lang="en-GB" dirty="0"/>
              <a:t>What is </a:t>
            </a:r>
            <a:r>
              <a:rPr lang="en-GB" b="1" dirty="0"/>
              <a:t>linear</a:t>
            </a:r>
            <a:r>
              <a:rPr lang="en-GB" dirty="0"/>
              <a:t> </a:t>
            </a:r>
            <a:r>
              <a:rPr lang="en-GB" b="1" dirty="0"/>
              <a:t>regression</a:t>
            </a:r>
            <a:r>
              <a:rPr lang="en-GB" dirty="0"/>
              <a:t> and how to implement it?</a:t>
            </a:r>
          </a:p>
          <a:p>
            <a:pPr marL="514350" indent="-514350">
              <a:buFont typeface="+mj-lt"/>
              <a:buAutoNum type="arabicPeriod"/>
            </a:pPr>
            <a:r>
              <a:rPr lang="en-GB" dirty="0"/>
              <a:t>What is the </a:t>
            </a:r>
            <a:r>
              <a:rPr lang="en-GB" b="1" dirty="0"/>
              <a:t>gradient</a:t>
            </a:r>
            <a:r>
              <a:rPr lang="en-GB" dirty="0"/>
              <a:t> </a:t>
            </a:r>
            <a:r>
              <a:rPr lang="en-GB" b="1" dirty="0"/>
              <a:t>descent</a:t>
            </a:r>
            <a:r>
              <a:rPr lang="en-GB" dirty="0"/>
              <a:t> </a:t>
            </a:r>
            <a:r>
              <a:rPr lang="en-GB" b="1" dirty="0"/>
              <a:t>algorithm</a:t>
            </a:r>
            <a:r>
              <a:rPr lang="en-GB" dirty="0"/>
              <a:t> and how is it used to </a:t>
            </a:r>
            <a:r>
              <a:rPr lang="en-GB" b="1" dirty="0"/>
              <a:t>train</a:t>
            </a:r>
            <a:r>
              <a:rPr lang="en-GB" dirty="0"/>
              <a:t> </a:t>
            </a:r>
            <a:r>
              <a:rPr lang="en-GB" b="1" dirty="0"/>
              <a:t>Machine</a:t>
            </a:r>
            <a:r>
              <a:rPr lang="en-GB" dirty="0"/>
              <a:t> </a:t>
            </a:r>
            <a:r>
              <a:rPr lang="en-GB" b="1" dirty="0"/>
              <a:t>Learning</a:t>
            </a:r>
            <a:r>
              <a:rPr lang="en-GB" dirty="0"/>
              <a:t> </a:t>
            </a:r>
            <a:r>
              <a:rPr lang="en-GB" b="1" dirty="0"/>
              <a:t>models</a:t>
            </a:r>
            <a:r>
              <a:rPr lang="en-GB" dirty="0"/>
              <a:t>?</a:t>
            </a:r>
          </a:p>
          <a:p>
            <a:pPr marL="514350" indent="-514350">
              <a:buFont typeface="+mj-lt"/>
              <a:buAutoNum type="arabicPeriod"/>
            </a:pPr>
            <a:r>
              <a:rPr lang="en-GB" dirty="0"/>
              <a:t>What is </a:t>
            </a:r>
            <a:r>
              <a:rPr lang="en-GB" b="1" dirty="0"/>
              <a:t>polynomial</a:t>
            </a:r>
            <a:r>
              <a:rPr lang="en-GB" dirty="0"/>
              <a:t> </a:t>
            </a:r>
            <a:r>
              <a:rPr lang="en-GB" b="1" dirty="0"/>
              <a:t>regression</a:t>
            </a:r>
            <a:r>
              <a:rPr lang="en-GB" dirty="0"/>
              <a:t> and how to implement it?</a:t>
            </a:r>
          </a:p>
          <a:p>
            <a:pPr marL="514350" indent="-514350">
              <a:buFont typeface="+mj-lt"/>
              <a:buAutoNum type="arabicPeriod"/>
            </a:pPr>
            <a:r>
              <a:rPr lang="en-GB" dirty="0"/>
              <a:t>What is </a:t>
            </a:r>
            <a:r>
              <a:rPr lang="en-GB" b="1" dirty="0"/>
              <a:t>regularization</a:t>
            </a:r>
            <a:r>
              <a:rPr lang="en-GB" dirty="0"/>
              <a:t> and how to implement it in </a:t>
            </a:r>
            <a:r>
              <a:rPr lang="en-GB" b="1" dirty="0"/>
              <a:t>Ridge</a:t>
            </a:r>
            <a:r>
              <a:rPr lang="en-GB" dirty="0"/>
              <a:t> </a:t>
            </a:r>
            <a:r>
              <a:rPr lang="en-GB" b="1" dirty="0"/>
              <a:t>regression</a:t>
            </a:r>
            <a:r>
              <a:rPr lang="en-GB" dirty="0"/>
              <a:t>?</a:t>
            </a:r>
          </a:p>
          <a:p>
            <a:pPr marL="514350" indent="-514350">
              <a:buFont typeface="+mj-lt"/>
              <a:buAutoNum type="arabicPeriod"/>
            </a:pPr>
            <a:endParaRPr lang="en-GB" dirty="0"/>
          </a:p>
        </p:txBody>
      </p:sp>
    </p:spTree>
    <p:extLst>
      <p:ext uri="{BB962C8B-B14F-4D97-AF65-F5344CB8AC3E}">
        <p14:creationId xmlns:p14="http://schemas.microsoft.com/office/powerpoint/2010/main" val="3442501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1)</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lstStyle/>
          <a:p>
            <a:pPr marL="514350" indent="-514350">
              <a:buFont typeface="+mj-lt"/>
              <a:buAutoNum type="arabicPeriod" startAt="8"/>
            </a:pPr>
            <a:r>
              <a:rPr lang="en-US" dirty="0"/>
              <a:t>What is </a:t>
            </a:r>
            <a:r>
              <a:rPr lang="en-US" b="1" dirty="0"/>
              <a:t>overfitting</a:t>
            </a:r>
            <a:r>
              <a:rPr lang="en-US" dirty="0"/>
              <a:t> and why is it bad?</a:t>
            </a:r>
          </a:p>
          <a:p>
            <a:pPr marL="514350" indent="-514350">
              <a:buFont typeface="+mj-lt"/>
              <a:buAutoNum type="arabicPeriod" startAt="8"/>
            </a:pPr>
            <a:r>
              <a:rPr lang="en-US" dirty="0"/>
              <a:t>What is </a:t>
            </a:r>
            <a:r>
              <a:rPr lang="en-US" b="1" dirty="0"/>
              <a:t>underfitting</a:t>
            </a:r>
            <a:r>
              <a:rPr lang="en-US" dirty="0"/>
              <a:t> and why is it bad?</a:t>
            </a:r>
          </a:p>
          <a:p>
            <a:pPr marL="514350" indent="-514350">
              <a:buFont typeface="+mj-lt"/>
              <a:buAutoNum type="arabicPeriod" startAt="8"/>
            </a:pPr>
            <a:r>
              <a:rPr lang="en-US" dirty="0"/>
              <a:t>What is </a:t>
            </a:r>
            <a:r>
              <a:rPr lang="en-US" b="1" dirty="0"/>
              <a:t>generalization</a:t>
            </a:r>
            <a:r>
              <a:rPr lang="en-US" dirty="0"/>
              <a:t> and how to evaluate it?</a:t>
            </a:r>
          </a:p>
          <a:p>
            <a:pPr marL="514350" indent="-514350">
              <a:buFont typeface="+mj-lt"/>
              <a:buAutoNum type="arabicPeriod" startAt="8"/>
            </a:pPr>
            <a:r>
              <a:rPr lang="en-US" dirty="0"/>
              <a:t>What is a </a:t>
            </a:r>
            <a:r>
              <a:rPr lang="en-US" b="1" dirty="0"/>
              <a:t>train-test</a:t>
            </a:r>
            <a:r>
              <a:rPr lang="en-US" dirty="0"/>
              <a:t> </a:t>
            </a:r>
            <a:r>
              <a:rPr lang="en-US" b="1" dirty="0"/>
              <a:t>split</a:t>
            </a:r>
            <a:r>
              <a:rPr lang="en-US" dirty="0"/>
              <a:t> and why is it related to </a:t>
            </a:r>
            <a:r>
              <a:rPr lang="en-US" b="1" dirty="0"/>
              <a:t>generalization</a:t>
            </a:r>
            <a:r>
              <a:rPr lang="en-US" dirty="0"/>
              <a:t>?</a:t>
            </a:r>
          </a:p>
          <a:p>
            <a:pPr marL="514350" indent="-514350">
              <a:buFont typeface="+mj-lt"/>
              <a:buAutoNum type="arabicPeriod" startAt="8"/>
            </a:pPr>
            <a:r>
              <a:rPr lang="en-US" dirty="0"/>
              <a:t>What is a </a:t>
            </a:r>
            <a:r>
              <a:rPr lang="en-US" b="1" dirty="0"/>
              <a:t>sigmoid</a:t>
            </a:r>
            <a:r>
              <a:rPr lang="en-US" dirty="0"/>
              <a:t> function? What is a </a:t>
            </a:r>
            <a:r>
              <a:rPr lang="en-US" b="1" dirty="0"/>
              <a:t>logistic</a:t>
            </a:r>
            <a:r>
              <a:rPr lang="en-US" dirty="0"/>
              <a:t> function?</a:t>
            </a:r>
          </a:p>
          <a:p>
            <a:pPr marL="514350" indent="-514350">
              <a:buFont typeface="+mj-lt"/>
              <a:buAutoNum type="arabicPeriod" startAt="8"/>
            </a:pPr>
            <a:r>
              <a:rPr lang="en-US" dirty="0"/>
              <a:t>How to perform </a:t>
            </a:r>
            <a:r>
              <a:rPr lang="en-US" b="1" dirty="0"/>
              <a:t>binary</a:t>
            </a:r>
            <a:r>
              <a:rPr lang="en-US" dirty="0"/>
              <a:t> </a:t>
            </a:r>
            <a:r>
              <a:rPr lang="en-US" b="1" dirty="0"/>
              <a:t>classification</a:t>
            </a:r>
            <a:r>
              <a:rPr lang="en-US" dirty="0"/>
              <a:t> using a </a:t>
            </a:r>
            <a:r>
              <a:rPr lang="en-US" b="1" dirty="0"/>
              <a:t>logistic</a:t>
            </a:r>
            <a:r>
              <a:rPr lang="en-US" dirty="0"/>
              <a:t> </a:t>
            </a:r>
            <a:r>
              <a:rPr lang="en-US" b="1" dirty="0"/>
              <a:t>regressor</a:t>
            </a:r>
            <a:r>
              <a:rPr lang="en-US" dirty="0"/>
              <a:t> and how is it related to linear regression?</a:t>
            </a:r>
          </a:p>
          <a:p>
            <a:pPr marL="514350" indent="-514350">
              <a:buFont typeface="+mj-lt"/>
              <a:buAutoNum type="arabicPeriod" startAt="8"/>
            </a:pPr>
            <a:endParaRPr lang="en-GB" dirty="0"/>
          </a:p>
        </p:txBody>
      </p:sp>
    </p:spTree>
    <p:extLst>
      <p:ext uri="{BB962C8B-B14F-4D97-AF65-F5344CB8AC3E}">
        <p14:creationId xmlns:p14="http://schemas.microsoft.com/office/powerpoint/2010/main" val="1464669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1)</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lstStyle/>
          <a:p>
            <a:pPr marL="514350" indent="-514350">
              <a:buFont typeface="+mj-lt"/>
              <a:buAutoNum type="arabicPeriod" startAt="14"/>
            </a:pPr>
            <a:r>
              <a:rPr lang="en-US" dirty="0"/>
              <a:t>What are </a:t>
            </a:r>
            <a:r>
              <a:rPr lang="en-US" b="1" dirty="0"/>
              <a:t>Neural</a:t>
            </a:r>
            <a:r>
              <a:rPr lang="en-US" dirty="0"/>
              <a:t> </a:t>
            </a:r>
            <a:r>
              <a:rPr lang="en-US" b="1" dirty="0"/>
              <a:t>Networks</a:t>
            </a:r>
            <a:r>
              <a:rPr lang="en-US" dirty="0"/>
              <a:t> and how do they relate to the </a:t>
            </a:r>
            <a:r>
              <a:rPr lang="en-US" b="1" dirty="0"/>
              <a:t>biology</a:t>
            </a:r>
            <a:r>
              <a:rPr lang="en-US" dirty="0"/>
              <a:t> </a:t>
            </a:r>
            <a:r>
              <a:rPr lang="en-US" b="1" dirty="0"/>
              <a:t>of a</a:t>
            </a:r>
            <a:r>
              <a:rPr lang="en-US" dirty="0"/>
              <a:t> </a:t>
            </a:r>
            <a:r>
              <a:rPr lang="en-US" b="1" dirty="0"/>
              <a:t>human</a:t>
            </a:r>
            <a:r>
              <a:rPr lang="en-US" dirty="0"/>
              <a:t> </a:t>
            </a:r>
            <a:r>
              <a:rPr lang="en-US" b="1" dirty="0"/>
              <a:t>brain</a:t>
            </a:r>
            <a:r>
              <a:rPr lang="en-US" dirty="0"/>
              <a:t>?</a:t>
            </a:r>
          </a:p>
          <a:p>
            <a:pPr marL="514350" indent="-514350">
              <a:buFont typeface="+mj-lt"/>
              <a:buAutoNum type="arabicPeriod" startAt="14"/>
            </a:pPr>
            <a:r>
              <a:rPr lang="en-US" dirty="0"/>
              <a:t>What is a </a:t>
            </a:r>
            <a:r>
              <a:rPr lang="en-US" b="1" dirty="0"/>
              <a:t>Neuron</a:t>
            </a:r>
            <a:r>
              <a:rPr lang="en-US" dirty="0"/>
              <a:t> in a Neural Network and how does it relate to linear/logistic regression?</a:t>
            </a:r>
          </a:p>
          <a:p>
            <a:pPr marL="514350" indent="-514350">
              <a:buFont typeface="+mj-lt"/>
              <a:buAutoNum type="arabicPeriod" startAt="14"/>
            </a:pPr>
            <a:r>
              <a:rPr lang="en-US" dirty="0"/>
              <a:t>What is the </a:t>
            </a:r>
            <a:r>
              <a:rPr lang="en-US" b="1" dirty="0"/>
              <a:t>difference</a:t>
            </a:r>
            <a:r>
              <a:rPr lang="en-US" dirty="0"/>
              <a:t> between a </a:t>
            </a:r>
            <a:r>
              <a:rPr lang="en-US" b="1" dirty="0"/>
              <a:t>shallow</a:t>
            </a:r>
            <a:r>
              <a:rPr lang="en-US" dirty="0"/>
              <a:t> and a </a:t>
            </a:r>
            <a:r>
              <a:rPr lang="en-US" b="1" dirty="0"/>
              <a:t>deep neural network</a:t>
            </a:r>
            <a:r>
              <a:rPr lang="en-US" dirty="0"/>
              <a:t>?</a:t>
            </a:r>
          </a:p>
          <a:p>
            <a:pPr marL="514350" indent="-514350">
              <a:buFont typeface="+mj-lt"/>
              <a:buAutoNum type="arabicPeriod" startAt="14"/>
            </a:pPr>
            <a:r>
              <a:rPr lang="en-US" dirty="0"/>
              <a:t>How to </a:t>
            </a:r>
            <a:r>
              <a:rPr lang="en-US" b="1" dirty="0"/>
              <a:t>implement</a:t>
            </a:r>
            <a:r>
              <a:rPr lang="en-US" dirty="0"/>
              <a:t> </a:t>
            </a:r>
            <a:r>
              <a:rPr lang="en-US" b="1" dirty="0"/>
              <a:t>a</a:t>
            </a:r>
            <a:r>
              <a:rPr lang="en-US" dirty="0"/>
              <a:t> </a:t>
            </a:r>
            <a:r>
              <a:rPr lang="en-US" b="1" dirty="0"/>
              <a:t>shallow</a:t>
            </a:r>
            <a:r>
              <a:rPr lang="en-US" dirty="0"/>
              <a:t> </a:t>
            </a:r>
            <a:r>
              <a:rPr lang="en-US" b="1" dirty="0"/>
              <a:t>Neural</a:t>
            </a:r>
            <a:r>
              <a:rPr lang="en-US" dirty="0"/>
              <a:t> </a:t>
            </a:r>
            <a:r>
              <a:rPr lang="en-US" b="1" dirty="0"/>
              <a:t>Network</a:t>
            </a:r>
            <a:r>
              <a:rPr lang="en-US" dirty="0"/>
              <a:t> manually and define a </a:t>
            </a:r>
            <a:r>
              <a:rPr lang="en-US" b="1" dirty="0"/>
              <a:t>forward</a:t>
            </a:r>
            <a:r>
              <a:rPr lang="en-US" dirty="0"/>
              <a:t> </a:t>
            </a:r>
            <a:r>
              <a:rPr lang="en-US" b="1" dirty="0"/>
              <a:t>propagation</a:t>
            </a:r>
            <a:r>
              <a:rPr lang="en-US" dirty="0"/>
              <a:t> method for it?</a:t>
            </a:r>
          </a:p>
          <a:p>
            <a:pPr marL="514350" indent="-514350">
              <a:buFont typeface="+mj-lt"/>
              <a:buAutoNum type="arabicPeriod" startAt="14"/>
            </a:pPr>
            <a:r>
              <a:rPr lang="en-US" dirty="0"/>
              <a:t>How to </a:t>
            </a:r>
            <a:r>
              <a:rPr lang="en-US" b="1" dirty="0"/>
              <a:t>train</a:t>
            </a:r>
            <a:r>
              <a:rPr lang="en-US" dirty="0"/>
              <a:t> </a:t>
            </a:r>
            <a:r>
              <a:rPr lang="en-US" b="1" dirty="0"/>
              <a:t>a shallow Neural Network </a:t>
            </a:r>
            <a:r>
              <a:rPr lang="en-US" dirty="0"/>
              <a:t>using </a:t>
            </a:r>
            <a:r>
              <a:rPr lang="en-US" b="1" dirty="0"/>
              <a:t>backpropagation</a:t>
            </a:r>
            <a:r>
              <a:rPr lang="en-US" dirty="0"/>
              <a:t>? How to define </a:t>
            </a:r>
            <a:r>
              <a:rPr lang="en-US" b="1" dirty="0"/>
              <a:t>backward</a:t>
            </a:r>
            <a:r>
              <a:rPr lang="en-US" dirty="0"/>
              <a:t> </a:t>
            </a:r>
            <a:r>
              <a:rPr lang="en-US" b="1" dirty="0"/>
              <a:t>propagation</a:t>
            </a:r>
            <a:r>
              <a:rPr lang="en-US" dirty="0"/>
              <a:t> and </a:t>
            </a:r>
            <a:r>
              <a:rPr lang="en-US" b="1" dirty="0"/>
              <a:t>trainer</a:t>
            </a:r>
            <a:r>
              <a:rPr lang="en-US" dirty="0"/>
              <a:t> functions?</a:t>
            </a:r>
          </a:p>
          <a:p>
            <a:pPr marL="514350" indent="-514350">
              <a:buFont typeface="+mj-lt"/>
              <a:buAutoNum type="arabicPeriod" startAt="14"/>
            </a:pPr>
            <a:endParaRPr lang="en-GB" dirty="0"/>
          </a:p>
        </p:txBody>
      </p:sp>
    </p:spTree>
    <p:extLst>
      <p:ext uri="{BB962C8B-B14F-4D97-AF65-F5344CB8AC3E}">
        <p14:creationId xmlns:p14="http://schemas.microsoft.com/office/powerpoint/2010/main" val="3190584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680C4-60DB-6E09-43FB-74235C03AC52}"/>
              </a:ext>
            </a:extLst>
          </p:cNvPr>
          <p:cNvSpPr>
            <a:spLocks noGrp="1"/>
          </p:cNvSpPr>
          <p:nvPr>
            <p:ph type="title"/>
          </p:nvPr>
        </p:nvSpPr>
        <p:spPr/>
        <p:txBody>
          <a:bodyPr/>
          <a:lstStyle/>
          <a:p>
            <a:r>
              <a:rPr lang="en-GB" dirty="0"/>
              <a:t>What is AI/ML/NN/DL?</a:t>
            </a:r>
            <a:endParaRPr lang="en-SG" dirty="0"/>
          </a:p>
        </p:txBody>
      </p:sp>
      <p:pic>
        <p:nvPicPr>
          <p:cNvPr id="7" name="Picture 6">
            <a:extLst>
              <a:ext uri="{FF2B5EF4-FFF2-40B4-BE49-F238E27FC236}">
                <a16:creationId xmlns:a16="http://schemas.microsoft.com/office/drawing/2014/main" id="{20E02448-3801-471A-05BA-5A89814634F9}"/>
              </a:ext>
            </a:extLst>
          </p:cNvPr>
          <p:cNvPicPr>
            <a:picLocks noChangeAspect="1"/>
          </p:cNvPicPr>
          <p:nvPr/>
        </p:nvPicPr>
        <p:blipFill>
          <a:blip r:embed="rId2"/>
          <a:stretch>
            <a:fillRect/>
          </a:stretch>
        </p:blipFill>
        <p:spPr>
          <a:xfrm>
            <a:off x="6518031" y="3936012"/>
            <a:ext cx="5495201" cy="2659442"/>
          </a:xfrm>
          <a:prstGeom prst="rect">
            <a:avLst/>
          </a:prstGeom>
        </p:spPr>
      </p:pic>
      <p:sp>
        <p:nvSpPr>
          <p:cNvPr id="11" name="Content Placeholder 10">
            <a:extLst>
              <a:ext uri="{FF2B5EF4-FFF2-40B4-BE49-F238E27FC236}">
                <a16:creationId xmlns:a16="http://schemas.microsoft.com/office/drawing/2014/main" id="{8FB938B3-49AA-64A9-0AE5-33A8966854C4}"/>
              </a:ext>
            </a:extLst>
          </p:cNvPr>
          <p:cNvSpPr>
            <a:spLocks noGrp="1"/>
          </p:cNvSpPr>
          <p:nvPr>
            <p:ph sz="half" idx="1"/>
          </p:nvPr>
        </p:nvSpPr>
        <p:spPr>
          <a:xfrm>
            <a:off x="838200" y="1825624"/>
            <a:ext cx="5181600" cy="5032375"/>
          </a:xfrm>
        </p:spPr>
        <p:txBody>
          <a:bodyPr/>
          <a:lstStyle/>
          <a:p>
            <a:pPr marL="0" indent="0">
              <a:buNone/>
            </a:pPr>
            <a:r>
              <a:rPr lang="en-GB" b="1" dirty="0"/>
              <a:t>Definition (</a:t>
            </a:r>
            <a:r>
              <a:rPr lang="en-GB" b="1" dirty="0">
                <a:solidFill>
                  <a:srgbClr val="00B050"/>
                </a:solidFill>
              </a:rPr>
              <a:t>Artificial</a:t>
            </a:r>
            <a:r>
              <a:rPr lang="en-GB" b="1" dirty="0"/>
              <a:t> </a:t>
            </a:r>
            <a:r>
              <a:rPr lang="en-GB" b="1" dirty="0">
                <a:solidFill>
                  <a:srgbClr val="00B050"/>
                </a:solidFill>
              </a:rPr>
              <a:t>Intelligence</a:t>
            </a:r>
            <a:r>
              <a:rPr lang="en-GB" b="1" dirty="0"/>
              <a:t>):</a:t>
            </a:r>
          </a:p>
          <a:p>
            <a:pPr marL="0" indent="0">
              <a:buNone/>
            </a:pPr>
            <a:r>
              <a:rPr lang="en-SG" dirty="0"/>
              <a:t>In Computer Science, </a:t>
            </a:r>
            <a:r>
              <a:rPr lang="en-SG" b="1" dirty="0">
                <a:solidFill>
                  <a:srgbClr val="00B050"/>
                </a:solidFill>
              </a:rPr>
              <a:t>Artificial</a:t>
            </a:r>
            <a:r>
              <a:rPr lang="en-SG" b="1" dirty="0"/>
              <a:t> </a:t>
            </a:r>
            <a:r>
              <a:rPr lang="en-SG" b="1" dirty="0">
                <a:solidFill>
                  <a:srgbClr val="00B050"/>
                </a:solidFill>
              </a:rPr>
              <a:t>Intelligence</a:t>
            </a:r>
            <a:r>
              <a:rPr lang="en-SG" b="1" dirty="0"/>
              <a:t> (AI) </a:t>
            </a:r>
            <a:r>
              <a:rPr lang="en-SG" dirty="0"/>
              <a:t>refers to </a:t>
            </a:r>
            <a:r>
              <a:rPr lang="en-GB" dirty="0"/>
              <a:t>the theory and development of computer systems capable to </a:t>
            </a:r>
            <a:r>
              <a:rPr lang="en-GB" b="1" dirty="0"/>
              <a:t>replicate/emulate the human brain</a:t>
            </a:r>
            <a:r>
              <a:rPr lang="en-GB" dirty="0"/>
              <a:t>, more specifically </a:t>
            </a:r>
            <a:r>
              <a:rPr lang="en-GB" b="1" dirty="0"/>
              <a:t>perform cognitive tasks</a:t>
            </a:r>
            <a:r>
              <a:rPr lang="en-GB" dirty="0"/>
              <a:t> that normally require human intelligence, such as visual perception, speech recognition, decision-making, and translation between languages.</a:t>
            </a:r>
          </a:p>
        </p:txBody>
      </p:sp>
      <p:graphicFrame>
        <p:nvGraphicFramePr>
          <p:cNvPr id="12" name="Content Placeholder 7">
            <a:extLst>
              <a:ext uri="{FF2B5EF4-FFF2-40B4-BE49-F238E27FC236}">
                <a16:creationId xmlns:a16="http://schemas.microsoft.com/office/drawing/2014/main" id="{BCC3C7A5-B077-6F5F-45EA-4FDC58A4BFB1}"/>
              </a:ext>
            </a:extLst>
          </p:cNvPr>
          <p:cNvGraphicFramePr>
            <a:graphicFrameLocks/>
          </p:cNvGraphicFramePr>
          <p:nvPr>
            <p:extLst>
              <p:ext uri="{D42A27DB-BD31-4B8C-83A1-F6EECF244321}">
                <p14:modId xmlns:p14="http://schemas.microsoft.com/office/powerpoint/2010/main" val="897827673"/>
              </p:ext>
            </p:extLst>
          </p:nvPr>
        </p:nvGraphicFramePr>
        <p:xfrm>
          <a:off x="7137400" y="365125"/>
          <a:ext cx="4476262" cy="38636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5876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680C4-60DB-6E09-43FB-74235C03AC52}"/>
              </a:ext>
            </a:extLst>
          </p:cNvPr>
          <p:cNvSpPr>
            <a:spLocks noGrp="1"/>
          </p:cNvSpPr>
          <p:nvPr>
            <p:ph type="title"/>
          </p:nvPr>
        </p:nvSpPr>
        <p:spPr/>
        <p:txBody>
          <a:bodyPr/>
          <a:lstStyle/>
          <a:p>
            <a:r>
              <a:rPr lang="en-GB" dirty="0"/>
              <a:t>What is AI/ML/NN/DL?</a:t>
            </a:r>
            <a:endParaRPr lang="en-SG" dirty="0"/>
          </a:p>
        </p:txBody>
      </p:sp>
      <p:sp>
        <p:nvSpPr>
          <p:cNvPr id="4" name="Content Placeholder 3">
            <a:extLst>
              <a:ext uri="{FF2B5EF4-FFF2-40B4-BE49-F238E27FC236}">
                <a16:creationId xmlns:a16="http://schemas.microsoft.com/office/drawing/2014/main" id="{88798E55-5E88-863A-E590-8857F1B9337A}"/>
              </a:ext>
            </a:extLst>
          </p:cNvPr>
          <p:cNvSpPr>
            <a:spLocks noGrp="1"/>
          </p:cNvSpPr>
          <p:nvPr>
            <p:ph sz="half" idx="1"/>
          </p:nvPr>
        </p:nvSpPr>
        <p:spPr>
          <a:xfrm>
            <a:off x="838200" y="1825624"/>
            <a:ext cx="5181600" cy="5161330"/>
          </a:xfrm>
        </p:spPr>
        <p:txBody>
          <a:bodyPr>
            <a:normAutofit/>
          </a:bodyPr>
          <a:lstStyle/>
          <a:p>
            <a:pPr marL="0" indent="0">
              <a:buNone/>
            </a:pPr>
            <a:r>
              <a:rPr lang="en-GB" b="1" dirty="0"/>
              <a:t>Definition (</a:t>
            </a:r>
            <a:r>
              <a:rPr lang="en-GB" b="1" dirty="0">
                <a:solidFill>
                  <a:srgbClr val="00B050"/>
                </a:solidFill>
              </a:rPr>
              <a:t>Machine Learning</a:t>
            </a:r>
            <a:r>
              <a:rPr lang="en-GB" b="1" dirty="0"/>
              <a:t>):</a:t>
            </a:r>
          </a:p>
          <a:p>
            <a:pPr marL="0" indent="0">
              <a:buNone/>
            </a:pPr>
            <a:r>
              <a:rPr lang="en-GB" dirty="0"/>
              <a:t>In Computer Science, </a:t>
            </a:r>
            <a:r>
              <a:rPr lang="en-GB" b="1" dirty="0">
                <a:solidFill>
                  <a:srgbClr val="00B050"/>
                </a:solidFill>
              </a:rPr>
              <a:t>Machine Learning</a:t>
            </a:r>
            <a:r>
              <a:rPr lang="en-GB" dirty="0"/>
              <a:t> </a:t>
            </a:r>
            <a:r>
              <a:rPr lang="en-GB" b="1" dirty="0"/>
              <a:t>(ML)</a:t>
            </a:r>
            <a:r>
              <a:rPr lang="en-GB" dirty="0"/>
              <a:t> refers to the field of study that describes </a:t>
            </a:r>
            <a:r>
              <a:rPr lang="en-GB" b="1" dirty="0"/>
              <a:t>techniques</a:t>
            </a:r>
            <a:r>
              <a:rPr lang="en-GB" dirty="0"/>
              <a:t> and </a:t>
            </a:r>
            <a:r>
              <a:rPr lang="en-GB" b="1" dirty="0"/>
              <a:t>algorithms</a:t>
            </a:r>
            <a:r>
              <a:rPr lang="en-GB" dirty="0"/>
              <a:t> that give computers the </a:t>
            </a:r>
            <a:r>
              <a:rPr lang="en-GB" b="1" dirty="0"/>
              <a:t>ability to learn without being explicitly programmed</a:t>
            </a:r>
            <a:r>
              <a:rPr lang="en-GB" dirty="0"/>
              <a:t>.</a:t>
            </a:r>
          </a:p>
          <a:p>
            <a:pPr marL="0" indent="0">
              <a:buNone/>
            </a:pPr>
            <a:r>
              <a:rPr lang="en-GB" b="1" u="sng" dirty="0"/>
              <a:t>Some</a:t>
            </a:r>
            <a:r>
              <a:rPr lang="en-GB" dirty="0"/>
              <a:t> implementations of machine learning may rely on </a:t>
            </a:r>
            <a:r>
              <a:rPr lang="en-GB" b="1" dirty="0"/>
              <a:t>data</a:t>
            </a:r>
            <a:r>
              <a:rPr lang="en-GB" dirty="0"/>
              <a:t> and </a:t>
            </a:r>
            <a:r>
              <a:rPr lang="en-GB" b="1" dirty="0"/>
              <a:t>neural</a:t>
            </a:r>
            <a:r>
              <a:rPr lang="en-GB" dirty="0"/>
              <a:t> </a:t>
            </a:r>
            <a:r>
              <a:rPr lang="en-GB" b="1" dirty="0"/>
              <a:t>networks</a:t>
            </a:r>
            <a:r>
              <a:rPr lang="en-GB" dirty="0"/>
              <a:t>.</a:t>
            </a:r>
          </a:p>
        </p:txBody>
      </p:sp>
      <p:graphicFrame>
        <p:nvGraphicFramePr>
          <p:cNvPr id="7" name="Content Placeholder 5">
            <a:extLst>
              <a:ext uri="{FF2B5EF4-FFF2-40B4-BE49-F238E27FC236}">
                <a16:creationId xmlns:a16="http://schemas.microsoft.com/office/drawing/2014/main" id="{CD44B9A1-537C-8FAD-9312-28EA40B67374}"/>
              </a:ext>
            </a:extLst>
          </p:cNvPr>
          <p:cNvGraphicFramePr>
            <a:graphicFrameLocks/>
          </p:cNvGraphicFramePr>
          <p:nvPr>
            <p:extLst>
              <p:ext uri="{D42A27DB-BD31-4B8C-83A1-F6EECF244321}">
                <p14:modId xmlns:p14="http://schemas.microsoft.com/office/powerpoint/2010/main" val="294579052"/>
              </p:ext>
            </p:extLst>
          </p:nvPr>
        </p:nvGraphicFramePr>
        <p:xfrm>
          <a:off x="7151077" y="1914767"/>
          <a:ext cx="4645025" cy="12426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Content Placeholder 5">
            <a:extLst>
              <a:ext uri="{FF2B5EF4-FFF2-40B4-BE49-F238E27FC236}">
                <a16:creationId xmlns:a16="http://schemas.microsoft.com/office/drawing/2014/main" id="{80214A9B-AEF2-000F-C87F-D02A05A27DD0}"/>
              </a:ext>
            </a:extLst>
          </p:cNvPr>
          <p:cNvGraphicFramePr>
            <a:graphicFrameLocks/>
          </p:cNvGraphicFramePr>
          <p:nvPr>
            <p:extLst>
              <p:ext uri="{D42A27DB-BD31-4B8C-83A1-F6EECF244321}">
                <p14:modId xmlns:p14="http://schemas.microsoft.com/office/powerpoint/2010/main" val="2192586585"/>
              </p:ext>
            </p:extLst>
          </p:nvPr>
        </p:nvGraphicFramePr>
        <p:xfrm>
          <a:off x="7151076" y="5079999"/>
          <a:ext cx="4645025" cy="124264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 name="TextBox 8">
            <a:extLst>
              <a:ext uri="{FF2B5EF4-FFF2-40B4-BE49-F238E27FC236}">
                <a16:creationId xmlns:a16="http://schemas.microsoft.com/office/drawing/2014/main" id="{FF185986-30C4-409E-4CCE-C31ABDC63CE2}"/>
              </a:ext>
            </a:extLst>
          </p:cNvPr>
          <p:cNvSpPr txBox="1"/>
          <p:nvPr/>
        </p:nvSpPr>
        <p:spPr>
          <a:xfrm>
            <a:off x="7151075" y="1640958"/>
            <a:ext cx="4645025" cy="369332"/>
          </a:xfrm>
          <a:prstGeom prst="rect">
            <a:avLst/>
          </a:prstGeom>
          <a:noFill/>
        </p:spPr>
        <p:txBody>
          <a:bodyPr wrap="square" rtlCol="0">
            <a:spAutoFit/>
          </a:bodyPr>
          <a:lstStyle/>
          <a:p>
            <a:pPr algn="ctr"/>
            <a:r>
              <a:rPr lang="en-GB" b="1" dirty="0"/>
              <a:t>Conventional programming</a:t>
            </a:r>
            <a:endParaRPr lang="en-SG" b="1" dirty="0"/>
          </a:p>
        </p:txBody>
      </p:sp>
      <p:sp>
        <p:nvSpPr>
          <p:cNvPr id="10" name="TextBox 9">
            <a:extLst>
              <a:ext uri="{FF2B5EF4-FFF2-40B4-BE49-F238E27FC236}">
                <a16:creationId xmlns:a16="http://schemas.microsoft.com/office/drawing/2014/main" id="{8EAC98E0-52CF-30C6-2263-89612014B5AD}"/>
              </a:ext>
            </a:extLst>
          </p:cNvPr>
          <p:cNvSpPr txBox="1"/>
          <p:nvPr/>
        </p:nvSpPr>
        <p:spPr>
          <a:xfrm>
            <a:off x="7151075" y="4760397"/>
            <a:ext cx="4645025" cy="369332"/>
          </a:xfrm>
          <a:prstGeom prst="rect">
            <a:avLst/>
          </a:prstGeom>
          <a:noFill/>
        </p:spPr>
        <p:txBody>
          <a:bodyPr wrap="square" rtlCol="0">
            <a:spAutoFit/>
          </a:bodyPr>
          <a:lstStyle/>
          <a:p>
            <a:pPr algn="ctr"/>
            <a:r>
              <a:rPr lang="en-GB" b="1" dirty="0"/>
              <a:t>Machine Learning</a:t>
            </a:r>
            <a:endParaRPr lang="en-SG" b="1" dirty="0"/>
          </a:p>
        </p:txBody>
      </p:sp>
      <p:sp>
        <p:nvSpPr>
          <p:cNvPr id="11" name="TextBox 10">
            <a:extLst>
              <a:ext uri="{FF2B5EF4-FFF2-40B4-BE49-F238E27FC236}">
                <a16:creationId xmlns:a16="http://schemas.microsoft.com/office/drawing/2014/main" id="{7C8A78D0-5585-4A73-CBAC-4BE6346D2322}"/>
              </a:ext>
            </a:extLst>
          </p:cNvPr>
          <p:cNvSpPr txBox="1"/>
          <p:nvPr/>
        </p:nvSpPr>
        <p:spPr>
          <a:xfrm>
            <a:off x="8860079" y="3774239"/>
            <a:ext cx="1227015" cy="369332"/>
          </a:xfrm>
          <a:prstGeom prst="rect">
            <a:avLst/>
          </a:prstGeom>
          <a:noFill/>
        </p:spPr>
        <p:txBody>
          <a:bodyPr wrap="square" rtlCol="0">
            <a:spAutoFit/>
          </a:bodyPr>
          <a:lstStyle/>
          <a:p>
            <a:pPr algn="ctr"/>
            <a:r>
              <a:rPr lang="en-GB" dirty="0"/>
              <a:t>VS.</a:t>
            </a:r>
            <a:endParaRPr lang="en-SG" dirty="0"/>
          </a:p>
        </p:txBody>
      </p:sp>
    </p:spTree>
    <p:extLst>
      <p:ext uri="{BB962C8B-B14F-4D97-AF65-F5344CB8AC3E}">
        <p14:creationId xmlns:p14="http://schemas.microsoft.com/office/powerpoint/2010/main" val="303120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38712-EB65-4616-96D6-33BA9B87C8D3}"/>
              </a:ext>
            </a:extLst>
          </p:cNvPr>
          <p:cNvSpPr>
            <a:spLocks noGrp="1"/>
          </p:cNvSpPr>
          <p:nvPr>
            <p:ph type="title"/>
          </p:nvPr>
        </p:nvSpPr>
        <p:spPr/>
        <p:txBody>
          <a:bodyPr/>
          <a:lstStyle/>
          <a:p>
            <a:r>
              <a:rPr lang="en-GB" dirty="0"/>
              <a:t>What is AI/ML/NN/DL?</a:t>
            </a:r>
            <a:endParaRPr lang="fr-FR" dirty="0"/>
          </a:p>
        </p:txBody>
      </p:sp>
      <p:sp>
        <p:nvSpPr>
          <p:cNvPr id="4" name="Content Placeholder 3">
            <a:extLst>
              <a:ext uri="{FF2B5EF4-FFF2-40B4-BE49-F238E27FC236}">
                <a16:creationId xmlns:a16="http://schemas.microsoft.com/office/drawing/2014/main" id="{5399EDF6-A627-45EA-8B4E-4EB7B5AECE32}"/>
              </a:ext>
            </a:extLst>
          </p:cNvPr>
          <p:cNvSpPr>
            <a:spLocks noGrp="1"/>
          </p:cNvSpPr>
          <p:nvPr>
            <p:ph sz="half" idx="1"/>
          </p:nvPr>
        </p:nvSpPr>
        <p:spPr/>
        <p:txBody>
          <a:bodyPr>
            <a:normAutofit/>
          </a:bodyPr>
          <a:lstStyle/>
          <a:p>
            <a:pPr marL="0" indent="0">
              <a:buNone/>
            </a:pPr>
            <a:r>
              <a:rPr lang="fr-FR" dirty="0" err="1"/>
              <a:t>What</a:t>
            </a:r>
            <a:r>
              <a:rPr lang="fr-FR" dirty="0"/>
              <a:t> </a:t>
            </a:r>
            <a:r>
              <a:rPr lang="fr-FR" dirty="0" err="1"/>
              <a:t>we</a:t>
            </a:r>
            <a:r>
              <a:rPr lang="fr-FR" dirty="0"/>
              <a:t> have </a:t>
            </a:r>
            <a:r>
              <a:rPr lang="fr-FR" dirty="0" err="1"/>
              <a:t>done</a:t>
            </a:r>
            <a:r>
              <a:rPr lang="fr-FR" dirty="0"/>
              <a:t> in </a:t>
            </a:r>
            <a:r>
              <a:rPr lang="fr-FR" dirty="0" err="1"/>
              <a:t>programming</a:t>
            </a:r>
            <a:r>
              <a:rPr lang="fr-FR" dirty="0"/>
              <a:t> </a:t>
            </a:r>
            <a:r>
              <a:rPr lang="fr-FR" dirty="0" err="1"/>
              <a:t>so</a:t>
            </a:r>
            <a:r>
              <a:rPr lang="fr-FR" dirty="0"/>
              <a:t> far </a:t>
            </a:r>
            <a:r>
              <a:rPr lang="fr-FR" dirty="0" err="1"/>
              <a:t>was</a:t>
            </a:r>
            <a:r>
              <a:rPr lang="fr-FR" dirty="0"/>
              <a:t> to design </a:t>
            </a:r>
            <a:r>
              <a:rPr lang="fr-FR" dirty="0" err="1"/>
              <a:t>functions</a:t>
            </a:r>
            <a:r>
              <a:rPr lang="fr-FR" dirty="0"/>
              <a:t>, </a:t>
            </a:r>
          </a:p>
          <a:p>
            <a:r>
              <a:rPr lang="fr-FR" dirty="0" err="1"/>
              <a:t>which</a:t>
            </a:r>
            <a:r>
              <a:rPr lang="fr-FR" dirty="0"/>
              <a:t> </a:t>
            </a:r>
            <a:r>
              <a:rPr lang="fr-FR" dirty="0" err="1"/>
              <a:t>would</a:t>
            </a:r>
            <a:r>
              <a:rPr lang="fr-FR" dirty="0"/>
              <a:t> do </a:t>
            </a:r>
            <a:r>
              <a:rPr lang="fr-FR" b="1" dirty="0" err="1"/>
              <a:t>specific</a:t>
            </a:r>
            <a:r>
              <a:rPr lang="fr-FR" dirty="0"/>
              <a:t> </a:t>
            </a:r>
            <a:r>
              <a:rPr lang="fr-FR" b="1" dirty="0" err="1"/>
              <a:t>operations</a:t>
            </a:r>
            <a:r>
              <a:rPr lang="fr-FR" b="1" dirty="0"/>
              <a:t>,</a:t>
            </a:r>
            <a:endParaRPr lang="fr-FR" dirty="0"/>
          </a:p>
          <a:p>
            <a:r>
              <a:rPr lang="fr-FR" dirty="0"/>
              <a:t>and return </a:t>
            </a:r>
            <a:r>
              <a:rPr lang="fr-FR" b="1" dirty="0"/>
              <a:t>outputs,</a:t>
            </a:r>
            <a:endParaRPr lang="fr-FR" dirty="0"/>
          </a:p>
          <a:p>
            <a:r>
              <a:rPr lang="fr-FR" dirty="0"/>
              <a:t>for </a:t>
            </a:r>
            <a:r>
              <a:rPr lang="fr-FR" dirty="0" err="1"/>
              <a:t>any</a:t>
            </a:r>
            <a:r>
              <a:rPr lang="fr-FR" dirty="0"/>
              <a:t> </a:t>
            </a:r>
            <a:r>
              <a:rPr lang="fr-FR" b="1" dirty="0"/>
              <a:t>input</a:t>
            </a:r>
            <a:r>
              <a:rPr lang="fr-FR" dirty="0"/>
              <a:t> </a:t>
            </a:r>
            <a:r>
              <a:rPr lang="fr-FR" dirty="0" err="1"/>
              <a:t>we</a:t>
            </a:r>
            <a:r>
              <a:rPr lang="fr-FR" dirty="0"/>
              <a:t> </a:t>
            </a:r>
            <a:r>
              <a:rPr lang="fr-FR" dirty="0" err="1"/>
              <a:t>could</a:t>
            </a:r>
            <a:r>
              <a:rPr lang="fr-FR" dirty="0"/>
              <a:t> </a:t>
            </a:r>
            <a:r>
              <a:rPr lang="fr-FR" dirty="0" err="1"/>
              <a:t>give</a:t>
            </a:r>
            <a:r>
              <a:rPr lang="fr-FR" dirty="0"/>
              <a:t> </a:t>
            </a:r>
            <a:r>
              <a:rPr lang="fr-FR" dirty="0" err="1"/>
              <a:t>it</a:t>
            </a:r>
            <a:r>
              <a:rPr lang="fr-FR" dirty="0"/>
              <a:t>.</a:t>
            </a:r>
          </a:p>
        </p:txBody>
      </p:sp>
      <p:graphicFrame>
        <p:nvGraphicFramePr>
          <p:cNvPr id="7" name="Content Placeholder 5">
            <a:extLst>
              <a:ext uri="{FF2B5EF4-FFF2-40B4-BE49-F238E27FC236}">
                <a16:creationId xmlns:a16="http://schemas.microsoft.com/office/drawing/2014/main" id="{BA152880-B18E-4280-B4E6-A8C33492EC97}"/>
              </a:ext>
            </a:extLst>
          </p:cNvPr>
          <p:cNvGraphicFramePr>
            <a:graphicFrameLocks/>
          </p:cNvGraphicFramePr>
          <p:nvPr>
            <p:extLst>
              <p:ext uri="{D42A27DB-BD31-4B8C-83A1-F6EECF244321}">
                <p14:modId xmlns:p14="http://schemas.microsoft.com/office/powerpoint/2010/main" val="704610827"/>
              </p:ext>
            </p:extLst>
          </p:nvPr>
        </p:nvGraphicFramePr>
        <p:xfrm>
          <a:off x="7022124" y="5072183"/>
          <a:ext cx="4645025" cy="12426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ontent Placeholder 7">
            <a:extLst>
              <a:ext uri="{FF2B5EF4-FFF2-40B4-BE49-F238E27FC236}">
                <a16:creationId xmlns:a16="http://schemas.microsoft.com/office/drawing/2014/main" id="{317EBCDF-AF94-4764-9BFD-2B84E5C3F6C5}"/>
              </a:ext>
            </a:extLst>
          </p:cNvPr>
          <p:cNvSpPr>
            <a:spLocks noGrp="1"/>
          </p:cNvSpPr>
          <p:nvPr>
            <p:ph sz="half" idx="2"/>
          </p:nvPr>
        </p:nvSpPr>
        <p:spPr/>
        <p:txBody>
          <a:bodyPr>
            <a:normAutofit/>
          </a:bodyPr>
          <a:lstStyle/>
          <a:p>
            <a:pPr marL="0" indent="0">
              <a:buNone/>
            </a:pPr>
            <a:r>
              <a:rPr lang="fr-FR" dirty="0"/>
              <a:t>But </a:t>
            </a:r>
            <a:r>
              <a:rPr lang="fr-FR" dirty="0" err="1"/>
              <a:t>sometimes</a:t>
            </a:r>
            <a:r>
              <a:rPr lang="fr-FR" dirty="0"/>
              <a:t>, </a:t>
            </a:r>
            <a:r>
              <a:rPr lang="fr-FR" dirty="0" err="1"/>
              <a:t>we</a:t>
            </a:r>
            <a:r>
              <a:rPr lang="fr-FR" dirty="0"/>
              <a:t> can </a:t>
            </a:r>
            <a:r>
              <a:rPr lang="fr-FR" dirty="0" err="1"/>
              <a:t>encounter</a:t>
            </a:r>
            <a:r>
              <a:rPr lang="fr-FR" dirty="0"/>
              <a:t> </a:t>
            </a:r>
            <a:r>
              <a:rPr lang="fr-FR" dirty="0" err="1"/>
              <a:t>problems</a:t>
            </a:r>
            <a:r>
              <a:rPr lang="fr-FR" dirty="0"/>
              <a:t> </a:t>
            </a:r>
            <a:r>
              <a:rPr lang="fr-FR" dirty="0" err="1"/>
              <a:t>where</a:t>
            </a:r>
            <a:endParaRPr lang="fr-FR" dirty="0"/>
          </a:p>
          <a:p>
            <a:r>
              <a:rPr lang="fr-FR" dirty="0" err="1"/>
              <a:t>we</a:t>
            </a:r>
            <a:r>
              <a:rPr lang="fr-FR" dirty="0"/>
              <a:t> can </a:t>
            </a:r>
            <a:r>
              <a:rPr lang="fr-FR" dirty="0" err="1"/>
              <a:t>easily</a:t>
            </a:r>
            <a:r>
              <a:rPr lang="fr-FR" dirty="0"/>
              <a:t> </a:t>
            </a:r>
            <a:r>
              <a:rPr lang="fr-FR" dirty="0" err="1"/>
              <a:t>find</a:t>
            </a:r>
            <a:r>
              <a:rPr lang="fr-FR" dirty="0"/>
              <a:t> </a:t>
            </a:r>
            <a:r>
              <a:rPr lang="fr-FR" b="1" dirty="0"/>
              <a:t>inputs</a:t>
            </a:r>
            <a:r>
              <a:rPr lang="fr-FR" dirty="0"/>
              <a:t> and </a:t>
            </a:r>
            <a:r>
              <a:rPr lang="fr-FR" b="1" dirty="0" err="1"/>
              <a:t>expected</a:t>
            </a:r>
            <a:r>
              <a:rPr lang="fr-FR" dirty="0"/>
              <a:t> outputs,</a:t>
            </a:r>
          </a:p>
          <a:p>
            <a:r>
              <a:rPr lang="fr-FR" dirty="0"/>
              <a:t>but the </a:t>
            </a:r>
            <a:r>
              <a:rPr lang="fr-FR" b="1" dirty="0" err="1"/>
              <a:t>function</a:t>
            </a:r>
            <a:r>
              <a:rPr lang="fr-FR" dirty="0"/>
              <a:t> to </a:t>
            </a:r>
            <a:r>
              <a:rPr lang="fr-FR" dirty="0" err="1"/>
              <a:t>be</a:t>
            </a:r>
            <a:r>
              <a:rPr lang="fr-FR" dirty="0"/>
              <a:t> </a:t>
            </a:r>
            <a:r>
              <a:rPr lang="fr-FR" dirty="0" err="1"/>
              <a:t>coded</a:t>
            </a:r>
            <a:r>
              <a:rPr lang="fr-FR" dirty="0"/>
              <a:t> </a:t>
            </a:r>
            <a:r>
              <a:rPr lang="fr-FR" dirty="0" err="1"/>
              <a:t>is</a:t>
            </a:r>
            <a:r>
              <a:rPr lang="fr-FR" dirty="0"/>
              <a:t> </a:t>
            </a:r>
            <a:r>
              <a:rPr lang="fr-FR" b="1" dirty="0"/>
              <a:t>not simple </a:t>
            </a:r>
            <a:r>
              <a:rPr lang="fr-FR" dirty="0"/>
              <a:t>to figure out.</a:t>
            </a:r>
          </a:p>
          <a:p>
            <a:r>
              <a:rPr lang="fr-FR" b="1" dirty="0">
                <a:solidFill>
                  <a:srgbClr val="7030A0"/>
                </a:solidFill>
              </a:rPr>
              <a:t>E.g., </a:t>
            </a:r>
            <a:r>
              <a:rPr lang="fr-FR" b="1" dirty="0" err="1">
                <a:solidFill>
                  <a:srgbClr val="7030A0"/>
                </a:solidFill>
              </a:rPr>
              <a:t>what</a:t>
            </a:r>
            <a:r>
              <a:rPr lang="fr-FR" b="1" dirty="0">
                <a:solidFill>
                  <a:srgbClr val="7030A0"/>
                </a:solidFill>
              </a:rPr>
              <a:t> animal in </a:t>
            </a:r>
            <a:r>
              <a:rPr lang="fr-FR" b="1" dirty="0" err="1">
                <a:solidFill>
                  <a:srgbClr val="7030A0"/>
                </a:solidFill>
              </a:rPr>
              <a:t>picture</a:t>
            </a:r>
            <a:r>
              <a:rPr lang="fr-FR" b="1" dirty="0">
                <a:solidFill>
                  <a:srgbClr val="7030A0"/>
                </a:solidFill>
              </a:rPr>
              <a:t>?</a:t>
            </a:r>
          </a:p>
        </p:txBody>
      </p:sp>
      <p:graphicFrame>
        <p:nvGraphicFramePr>
          <p:cNvPr id="9" name="Content Placeholder 5">
            <a:extLst>
              <a:ext uri="{FF2B5EF4-FFF2-40B4-BE49-F238E27FC236}">
                <a16:creationId xmlns:a16="http://schemas.microsoft.com/office/drawing/2014/main" id="{7E787324-96AB-4EB4-9953-71DB07B4865D}"/>
              </a:ext>
            </a:extLst>
          </p:cNvPr>
          <p:cNvGraphicFramePr>
            <a:graphicFrameLocks/>
          </p:cNvGraphicFramePr>
          <p:nvPr>
            <p:extLst>
              <p:ext uri="{D42A27DB-BD31-4B8C-83A1-F6EECF244321}">
                <p14:modId xmlns:p14="http://schemas.microsoft.com/office/powerpoint/2010/main" val="3221487915"/>
              </p:ext>
            </p:extLst>
          </p:nvPr>
        </p:nvGraphicFramePr>
        <p:xfrm>
          <a:off x="859692" y="5072183"/>
          <a:ext cx="4645025" cy="124264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161190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4AB6F-5999-4074-9E40-17BB01C5731A}"/>
              </a:ext>
            </a:extLst>
          </p:cNvPr>
          <p:cNvSpPr>
            <a:spLocks noGrp="1"/>
          </p:cNvSpPr>
          <p:nvPr>
            <p:ph type="title"/>
          </p:nvPr>
        </p:nvSpPr>
        <p:spPr/>
        <p:txBody>
          <a:bodyPr/>
          <a:lstStyle/>
          <a:p>
            <a:r>
              <a:rPr lang="en-GB" dirty="0"/>
              <a:t>What is AI/ML/NN/DL?</a:t>
            </a:r>
            <a:endParaRPr lang="fr-FR" dirty="0"/>
          </a:p>
        </p:txBody>
      </p:sp>
      <p:sp>
        <p:nvSpPr>
          <p:cNvPr id="3" name="Content Placeholder 2">
            <a:extLst>
              <a:ext uri="{FF2B5EF4-FFF2-40B4-BE49-F238E27FC236}">
                <a16:creationId xmlns:a16="http://schemas.microsoft.com/office/drawing/2014/main" id="{8498DCDA-D7C7-42F2-ACC9-65962DF9399D}"/>
              </a:ext>
            </a:extLst>
          </p:cNvPr>
          <p:cNvSpPr>
            <a:spLocks noGrp="1"/>
          </p:cNvSpPr>
          <p:nvPr>
            <p:ph idx="1"/>
          </p:nvPr>
        </p:nvSpPr>
        <p:spPr/>
        <p:txBody>
          <a:bodyPr>
            <a:normAutofit/>
          </a:bodyPr>
          <a:lstStyle/>
          <a:p>
            <a:pPr marL="0" indent="0">
              <a:buNone/>
            </a:pPr>
            <a:r>
              <a:rPr lang="fr-FR" b="1" dirty="0">
                <a:solidFill>
                  <a:srgbClr val="7030A0"/>
                </a:solidFill>
              </a:rPr>
              <a:t>E.g., </a:t>
            </a:r>
            <a:r>
              <a:rPr lang="fr-FR" b="1" dirty="0" err="1">
                <a:solidFill>
                  <a:srgbClr val="7030A0"/>
                </a:solidFill>
              </a:rPr>
              <a:t>what</a:t>
            </a:r>
            <a:r>
              <a:rPr lang="fr-FR" b="1" dirty="0">
                <a:solidFill>
                  <a:srgbClr val="7030A0"/>
                </a:solidFill>
              </a:rPr>
              <a:t> animal </a:t>
            </a:r>
            <a:r>
              <a:rPr lang="fr-FR" b="1" dirty="0" err="1">
                <a:solidFill>
                  <a:srgbClr val="7030A0"/>
                </a:solidFill>
              </a:rPr>
              <a:t>is</a:t>
            </a:r>
            <a:r>
              <a:rPr lang="fr-FR" b="1" dirty="0">
                <a:solidFill>
                  <a:srgbClr val="7030A0"/>
                </a:solidFill>
              </a:rPr>
              <a:t> in the </a:t>
            </a:r>
            <a:r>
              <a:rPr lang="fr-FR" b="1" dirty="0" err="1">
                <a:solidFill>
                  <a:srgbClr val="7030A0"/>
                </a:solidFill>
              </a:rPr>
              <a:t>picture</a:t>
            </a:r>
            <a:r>
              <a:rPr lang="fr-FR" b="1" dirty="0">
                <a:solidFill>
                  <a:srgbClr val="7030A0"/>
                </a:solidFill>
              </a:rPr>
              <a:t>?</a:t>
            </a:r>
          </a:p>
          <a:p>
            <a:pPr marL="0" indent="0">
              <a:buNone/>
            </a:pPr>
            <a:r>
              <a:rPr lang="fr-FR" dirty="0" err="1"/>
              <a:t>Typical</a:t>
            </a:r>
            <a:r>
              <a:rPr lang="fr-FR" dirty="0"/>
              <a:t> </a:t>
            </a:r>
            <a:r>
              <a:rPr lang="fr-FR" dirty="0" err="1"/>
              <a:t>problem</a:t>
            </a:r>
            <a:r>
              <a:rPr lang="fr-FR" dirty="0"/>
              <a:t> in </a:t>
            </a:r>
            <a:r>
              <a:rPr lang="fr-FR" b="1" dirty="0"/>
              <a:t>Computer</a:t>
            </a:r>
            <a:r>
              <a:rPr lang="fr-FR" dirty="0"/>
              <a:t> </a:t>
            </a:r>
            <a:r>
              <a:rPr lang="fr-FR" b="1" dirty="0"/>
              <a:t>Vision</a:t>
            </a:r>
            <a:r>
              <a:rPr lang="fr-FR" dirty="0"/>
              <a:t>, </a:t>
            </a:r>
            <a:r>
              <a:rPr lang="fr-FR" dirty="0" err="1"/>
              <a:t>called</a:t>
            </a:r>
            <a:r>
              <a:rPr lang="fr-FR" dirty="0"/>
              <a:t> </a:t>
            </a:r>
            <a:r>
              <a:rPr lang="fr-FR" b="1" dirty="0"/>
              <a:t>Image</a:t>
            </a:r>
            <a:r>
              <a:rPr lang="fr-FR" dirty="0"/>
              <a:t> </a:t>
            </a:r>
            <a:r>
              <a:rPr lang="fr-FR" b="1" dirty="0"/>
              <a:t>Recognition</a:t>
            </a:r>
            <a:r>
              <a:rPr lang="fr-FR" dirty="0"/>
              <a:t>.</a:t>
            </a:r>
          </a:p>
        </p:txBody>
      </p:sp>
      <p:graphicFrame>
        <p:nvGraphicFramePr>
          <p:cNvPr id="4" name="Content Placeholder 5">
            <a:extLst>
              <a:ext uri="{FF2B5EF4-FFF2-40B4-BE49-F238E27FC236}">
                <a16:creationId xmlns:a16="http://schemas.microsoft.com/office/drawing/2014/main" id="{49116E2A-DCE2-4670-8B4D-957F10EE8C41}"/>
              </a:ext>
            </a:extLst>
          </p:cNvPr>
          <p:cNvGraphicFramePr>
            <a:graphicFrameLocks/>
          </p:cNvGraphicFramePr>
          <p:nvPr/>
        </p:nvGraphicFramePr>
        <p:xfrm>
          <a:off x="304800" y="3931138"/>
          <a:ext cx="11457354" cy="10492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8" name="Picture 2" descr="RÃ©sultat de recherche d'images pour &quot;cat image&quot;">
            <a:extLst>
              <a:ext uri="{FF2B5EF4-FFF2-40B4-BE49-F238E27FC236}">
                <a16:creationId xmlns:a16="http://schemas.microsoft.com/office/drawing/2014/main" id="{445E1ED3-5041-4B99-9846-CFDD367F5A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2083" y="5263136"/>
            <a:ext cx="2217126" cy="14766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6F6A81F-02D6-412C-BA11-892D93F00BCB}"/>
              </a:ext>
            </a:extLst>
          </p:cNvPr>
          <p:cNvSpPr txBox="1"/>
          <p:nvPr/>
        </p:nvSpPr>
        <p:spPr>
          <a:xfrm>
            <a:off x="9566030" y="5413725"/>
            <a:ext cx="1570893" cy="461665"/>
          </a:xfrm>
          <a:prstGeom prst="rect">
            <a:avLst/>
          </a:prstGeom>
          <a:noFill/>
        </p:spPr>
        <p:txBody>
          <a:bodyPr wrap="square" rtlCol="0">
            <a:spAutoFit/>
          </a:bodyPr>
          <a:lstStyle/>
          <a:p>
            <a:r>
              <a:rPr lang="fr-FR" sz="2400" dirty="0" err="1"/>
              <a:t>It’s</a:t>
            </a:r>
            <a:r>
              <a:rPr lang="fr-FR" sz="2400" dirty="0"/>
              <a:t> a cat!</a:t>
            </a:r>
          </a:p>
        </p:txBody>
      </p:sp>
      <p:sp>
        <p:nvSpPr>
          <p:cNvPr id="7" name="TextBox 6">
            <a:extLst>
              <a:ext uri="{FF2B5EF4-FFF2-40B4-BE49-F238E27FC236}">
                <a16:creationId xmlns:a16="http://schemas.microsoft.com/office/drawing/2014/main" id="{658495B9-7D81-4995-BE71-C827D37C7801}"/>
              </a:ext>
            </a:extLst>
          </p:cNvPr>
          <p:cNvSpPr txBox="1"/>
          <p:nvPr/>
        </p:nvSpPr>
        <p:spPr>
          <a:xfrm>
            <a:off x="3806091" y="5281679"/>
            <a:ext cx="4431323" cy="1200329"/>
          </a:xfrm>
          <a:prstGeom prst="rect">
            <a:avLst/>
          </a:prstGeom>
          <a:noFill/>
        </p:spPr>
        <p:txBody>
          <a:bodyPr wrap="square" rtlCol="0">
            <a:spAutoFit/>
          </a:bodyPr>
          <a:lstStyle/>
          <a:p>
            <a:pPr algn="ctr"/>
            <a:r>
              <a:rPr lang="fr-FR" sz="2400" dirty="0"/>
              <a:t>Very </a:t>
            </a:r>
            <a:r>
              <a:rPr lang="fr-FR" sz="2400" dirty="0" err="1"/>
              <a:t>easy</a:t>
            </a:r>
            <a:r>
              <a:rPr lang="fr-FR" sz="2400" dirty="0"/>
              <a:t> for a </a:t>
            </a:r>
            <a:r>
              <a:rPr lang="fr-FR" sz="2400" dirty="0" err="1"/>
              <a:t>human</a:t>
            </a:r>
            <a:r>
              <a:rPr lang="fr-FR" sz="2400" dirty="0"/>
              <a:t>… </a:t>
            </a:r>
          </a:p>
          <a:p>
            <a:pPr algn="ctr"/>
            <a:r>
              <a:rPr lang="fr-FR" sz="2400" b="1" dirty="0"/>
              <a:t>But, how </a:t>
            </a:r>
            <a:r>
              <a:rPr lang="fr-FR" sz="2400" b="1" dirty="0" err="1"/>
              <a:t>would</a:t>
            </a:r>
            <a:r>
              <a:rPr lang="fr-FR" sz="2400" b="1" dirty="0"/>
              <a:t> </a:t>
            </a:r>
            <a:r>
              <a:rPr lang="fr-FR" sz="2400" b="1" dirty="0" err="1"/>
              <a:t>we</a:t>
            </a:r>
            <a:r>
              <a:rPr lang="fr-FR" sz="2400" b="1" dirty="0"/>
              <a:t> </a:t>
            </a:r>
            <a:r>
              <a:rPr lang="fr-FR" sz="2400" b="1" dirty="0" err="1"/>
              <a:t>explain</a:t>
            </a:r>
            <a:r>
              <a:rPr lang="fr-FR" sz="2400" b="1" dirty="0"/>
              <a:t> the </a:t>
            </a:r>
            <a:r>
              <a:rPr lang="fr-FR" sz="2400" b="1" dirty="0" err="1"/>
              <a:t>logic</a:t>
            </a:r>
            <a:r>
              <a:rPr lang="fr-FR" sz="2400" b="1" dirty="0"/>
              <a:t> of </a:t>
            </a:r>
            <a:r>
              <a:rPr lang="fr-FR" sz="2400" b="1" dirty="0" err="1"/>
              <a:t>it</a:t>
            </a:r>
            <a:r>
              <a:rPr lang="fr-FR" sz="2400" b="1" dirty="0"/>
              <a:t> to a computer?</a:t>
            </a:r>
          </a:p>
        </p:txBody>
      </p:sp>
    </p:spTree>
    <p:extLst>
      <p:ext uri="{BB962C8B-B14F-4D97-AF65-F5344CB8AC3E}">
        <p14:creationId xmlns:p14="http://schemas.microsoft.com/office/powerpoint/2010/main" val="1629532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7626C-E353-4DDB-8BFA-C92B0BFB9FBE}"/>
              </a:ext>
            </a:extLst>
          </p:cNvPr>
          <p:cNvSpPr>
            <a:spLocks noGrp="1"/>
          </p:cNvSpPr>
          <p:nvPr>
            <p:ph type="title"/>
          </p:nvPr>
        </p:nvSpPr>
        <p:spPr/>
        <p:txBody>
          <a:bodyPr/>
          <a:lstStyle/>
          <a:p>
            <a:r>
              <a:rPr lang="en-GB" dirty="0"/>
              <a:t>What is AI/ML/NN/DL?</a:t>
            </a:r>
            <a:endParaRPr lang="fr-FR" dirty="0"/>
          </a:p>
        </p:txBody>
      </p:sp>
      <p:sp>
        <p:nvSpPr>
          <p:cNvPr id="3" name="Content Placeholder 2">
            <a:extLst>
              <a:ext uri="{FF2B5EF4-FFF2-40B4-BE49-F238E27FC236}">
                <a16:creationId xmlns:a16="http://schemas.microsoft.com/office/drawing/2014/main" id="{C9C64C1D-F89A-4578-B4F7-6181FAC67178}"/>
              </a:ext>
            </a:extLst>
          </p:cNvPr>
          <p:cNvSpPr>
            <a:spLocks noGrp="1"/>
          </p:cNvSpPr>
          <p:nvPr>
            <p:ph sz="half" idx="1"/>
          </p:nvPr>
        </p:nvSpPr>
        <p:spPr>
          <a:xfrm>
            <a:off x="838200" y="1825624"/>
            <a:ext cx="5181600" cy="5032375"/>
          </a:xfrm>
        </p:spPr>
        <p:txBody>
          <a:bodyPr>
            <a:normAutofit/>
          </a:bodyPr>
          <a:lstStyle/>
          <a:p>
            <a:pPr marL="0" indent="0">
              <a:buNone/>
            </a:pPr>
            <a:r>
              <a:rPr lang="fr-FR" dirty="0" err="1"/>
              <a:t>Other</a:t>
            </a:r>
            <a:r>
              <a:rPr lang="fr-FR" dirty="0"/>
              <a:t> scenarios have to do </a:t>
            </a:r>
            <a:r>
              <a:rPr lang="fr-FR" dirty="0" err="1"/>
              <a:t>with</a:t>
            </a:r>
            <a:r>
              <a:rPr lang="fr-FR" dirty="0"/>
              <a:t> </a:t>
            </a:r>
            <a:r>
              <a:rPr lang="fr-FR" dirty="0" err="1"/>
              <a:t>tasks</a:t>
            </a:r>
            <a:r>
              <a:rPr lang="fr-FR" dirty="0"/>
              <a:t> </a:t>
            </a:r>
            <a:r>
              <a:rPr lang="fr-FR" dirty="0" err="1"/>
              <a:t>where</a:t>
            </a:r>
            <a:r>
              <a:rPr lang="fr-FR" dirty="0"/>
              <a:t> </a:t>
            </a:r>
            <a:r>
              <a:rPr lang="fr-FR" dirty="0" err="1"/>
              <a:t>there</a:t>
            </a:r>
            <a:r>
              <a:rPr lang="fr-FR" dirty="0"/>
              <a:t> </a:t>
            </a:r>
            <a:r>
              <a:rPr lang="fr-FR" dirty="0" err="1"/>
              <a:t>is</a:t>
            </a:r>
            <a:r>
              <a:rPr lang="fr-FR" dirty="0"/>
              <a:t> </a:t>
            </a:r>
            <a:r>
              <a:rPr lang="fr-FR" b="1" dirty="0"/>
              <a:t>no </a:t>
            </a:r>
            <a:r>
              <a:rPr lang="fr-FR" b="1" dirty="0" err="1"/>
              <a:t>easy</a:t>
            </a:r>
            <a:r>
              <a:rPr lang="fr-FR" b="1" dirty="0"/>
              <a:t> </a:t>
            </a:r>
            <a:r>
              <a:rPr lang="fr-FR" b="1" dirty="0" err="1"/>
              <a:t>closed-form</a:t>
            </a:r>
            <a:r>
              <a:rPr lang="fr-FR" b="1" dirty="0"/>
              <a:t> expression </a:t>
            </a:r>
            <a:r>
              <a:rPr lang="fr-FR" b="1" dirty="0" err="1"/>
              <a:t>connecting</a:t>
            </a:r>
            <a:r>
              <a:rPr lang="fr-FR" b="1" dirty="0"/>
              <a:t> inputs to outputs.</a:t>
            </a:r>
          </a:p>
          <a:p>
            <a:r>
              <a:rPr lang="fr-FR" b="1" dirty="0">
                <a:solidFill>
                  <a:srgbClr val="7030A0"/>
                </a:solidFill>
              </a:rPr>
              <a:t>E.g., </a:t>
            </a:r>
            <a:r>
              <a:rPr lang="fr-FR" b="1" dirty="0" err="1">
                <a:solidFill>
                  <a:srgbClr val="7030A0"/>
                </a:solidFill>
              </a:rPr>
              <a:t>what</a:t>
            </a:r>
            <a:r>
              <a:rPr lang="fr-FR" b="1" dirty="0">
                <a:solidFill>
                  <a:srgbClr val="7030A0"/>
                </a:solidFill>
              </a:rPr>
              <a:t> </a:t>
            </a:r>
            <a:r>
              <a:rPr lang="fr-FR" b="1" dirty="0" err="1">
                <a:solidFill>
                  <a:srgbClr val="7030A0"/>
                </a:solidFill>
              </a:rPr>
              <a:t>is</a:t>
            </a:r>
            <a:r>
              <a:rPr lang="fr-FR" b="1" dirty="0">
                <a:solidFill>
                  <a:srgbClr val="7030A0"/>
                </a:solidFill>
              </a:rPr>
              <a:t> a good </a:t>
            </a:r>
            <a:r>
              <a:rPr lang="fr-FR" b="1" dirty="0" err="1">
                <a:solidFill>
                  <a:srgbClr val="7030A0"/>
                </a:solidFill>
              </a:rPr>
              <a:t>selling</a:t>
            </a:r>
            <a:r>
              <a:rPr lang="fr-FR" b="1" dirty="0">
                <a:solidFill>
                  <a:srgbClr val="7030A0"/>
                </a:solidFill>
              </a:rPr>
              <a:t> </a:t>
            </a:r>
            <a:r>
              <a:rPr lang="fr-FR" b="1" dirty="0" err="1">
                <a:solidFill>
                  <a:srgbClr val="7030A0"/>
                </a:solidFill>
              </a:rPr>
              <a:t>price</a:t>
            </a:r>
            <a:r>
              <a:rPr lang="fr-FR" b="1" dirty="0">
                <a:solidFill>
                  <a:srgbClr val="7030A0"/>
                </a:solidFill>
              </a:rPr>
              <a:t> for </a:t>
            </a:r>
            <a:r>
              <a:rPr lang="fr-FR" b="1" dirty="0" err="1">
                <a:solidFill>
                  <a:srgbClr val="7030A0"/>
                </a:solidFill>
              </a:rPr>
              <a:t>my</a:t>
            </a:r>
            <a:r>
              <a:rPr lang="fr-FR" b="1" dirty="0">
                <a:solidFill>
                  <a:srgbClr val="7030A0"/>
                </a:solidFill>
              </a:rPr>
              <a:t> </a:t>
            </a:r>
            <a:r>
              <a:rPr lang="fr-FR" b="1" dirty="0" err="1">
                <a:solidFill>
                  <a:srgbClr val="7030A0"/>
                </a:solidFill>
              </a:rPr>
              <a:t>appartment</a:t>
            </a:r>
            <a:r>
              <a:rPr lang="fr-FR" b="1" dirty="0">
                <a:solidFill>
                  <a:srgbClr val="7030A0"/>
                </a:solidFill>
              </a:rPr>
              <a:t>?</a:t>
            </a:r>
          </a:p>
          <a:p>
            <a:r>
              <a:rPr lang="fr-FR" dirty="0"/>
              <a:t>How </a:t>
            </a:r>
            <a:r>
              <a:rPr lang="fr-FR" dirty="0" err="1"/>
              <a:t>would</a:t>
            </a:r>
            <a:r>
              <a:rPr lang="fr-FR" dirty="0"/>
              <a:t> </a:t>
            </a:r>
            <a:r>
              <a:rPr lang="fr-FR" dirty="0" err="1"/>
              <a:t>you</a:t>
            </a:r>
            <a:r>
              <a:rPr lang="fr-FR" dirty="0"/>
              <a:t> </a:t>
            </a:r>
            <a:r>
              <a:rPr lang="fr-FR" dirty="0" err="1"/>
              <a:t>guess</a:t>
            </a:r>
            <a:r>
              <a:rPr lang="fr-FR" dirty="0"/>
              <a:t> the </a:t>
            </a:r>
            <a:r>
              <a:rPr lang="fr-FR" dirty="0" err="1"/>
              <a:t>selling</a:t>
            </a:r>
            <a:r>
              <a:rPr lang="fr-FR" dirty="0"/>
              <a:t> </a:t>
            </a:r>
            <a:r>
              <a:rPr lang="fr-FR" dirty="0" err="1"/>
              <a:t>price</a:t>
            </a:r>
            <a:r>
              <a:rPr lang="fr-FR" dirty="0"/>
              <a:t> of an </a:t>
            </a:r>
            <a:r>
              <a:rPr lang="fr-FR" dirty="0" err="1"/>
              <a:t>appartment</a:t>
            </a:r>
            <a:r>
              <a:rPr lang="fr-FR" dirty="0"/>
              <a:t> </a:t>
            </a:r>
            <a:r>
              <a:rPr lang="fr-FR" dirty="0" err="1"/>
              <a:t>based</a:t>
            </a:r>
            <a:r>
              <a:rPr lang="fr-FR" dirty="0"/>
              <a:t> on </a:t>
            </a:r>
            <a:r>
              <a:rPr lang="fr-FR" dirty="0" err="1"/>
              <a:t>its</a:t>
            </a:r>
            <a:r>
              <a:rPr lang="fr-FR" dirty="0"/>
              <a:t> </a:t>
            </a:r>
            <a:r>
              <a:rPr lang="fr-FR" dirty="0" err="1"/>
              <a:t>parameters</a:t>
            </a:r>
            <a:r>
              <a:rPr lang="fr-FR" dirty="0"/>
              <a:t> (size, location, etc.) and </a:t>
            </a:r>
            <a:r>
              <a:rPr lang="fr-FR" dirty="0" err="1"/>
              <a:t>previous</a:t>
            </a:r>
            <a:r>
              <a:rPr lang="fr-FR" dirty="0"/>
              <a:t> sales?</a:t>
            </a:r>
          </a:p>
          <a:p>
            <a:endParaRPr lang="fr-FR" dirty="0"/>
          </a:p>
        </p:txBody>
      </p:sp>
      <p:pic>
        <p:nvPicPr>
          <p:cNvPr id="2052" name="Picture 4" descr="RÃ©sultat de recherche d'images pour &quot;apartment seller agent&quot;">
            <a:extLst>
              <a:ext uri="{FF2B5EF4-FFF2-40B4-BE49-F238E27FC236}">
                <a16:creationId xmlns:a16="http://schemas.microsoft.com/office/drawing/2014/main" id="{B6F46F7C-7D06-4F1E-91FE-6F09A6E4B9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6154" y="4840851"/>
            <a:ext cx="2790092" cy="186006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D6A91BF-E1F7-E9E5-EBE1-51D5DEB7190C}"/>
              </a:ext>
            </a:extLst>
          </p:cNvPr>
          <p:cNvPicPr>
            <a:picLocks noChangeAspect="1"/>
          </p:cNvPicPr>
          <p:nvPr/>
        </p:nvPicPr>
        <p:blipFill>
          <a:blip r:embed="rId3"/>
          <a:stretch>
            <a:fillRect/>
          </a:stretch>
        </p:blipFill>
        <p:spPr>
          <a:xfrm>
            <a:off x="7315198" y="2017149"/>
            <a:ext cx="4173415" cy="2720236"/>
          </a:xfrm>
          <a:prstGeom prst="rect">
            <a:avLst/>
          </a:prstGeom>
        </p:spPr>
      </p:pic>
      <p:pic>
        <p:nvPicPr>
          <p:cNvPr id="8" name="Picture 7">
            <a:extLst>
              <a:ext uri="{FF2B5EF4-FFF2-40B4-BE49-F238E27FC236}">
                <a16:creationId xmlns:a16="http://schemas.microsoft.com/office/drawing/2014/main" id="{27DD679B-9F39-744F-5FC7-F4FE5219B703}"/>
              </a:ext>
            </a:extLst>
          </p:cNvPr>
          <p:cNvPicPr>
            <a:picLocks noChangeAspect="1"/>
          </p:cNvPicPr>
          <p:nvPr/>
        </p:nvPicPr>
        <p:blipFill>
          <a:blip r:embed="rId4"/>
          <a:stretch>
            <a:fillRect/>
          </a:stretch>
        </p:blipFill>
        <p:spPr>
          <a:xfrm>
            <a:off x="7315198" y="851300"/>
            <a:ext cx="4630471" cy="1076854"/>
          </a:xfrm>
          <a:prstGeom prst="rect">
            <a:avLst/>
          </a:prstGeom>
        </p:spPr>
      </p:pic>
    </p:spTree>
    <p:extLst>
      <p:ext uri="{BB962C8B-B14F-4D97-AF65-F5344CB8AC3E}">
        <p14:creationId xmlns:p14="http://schemas.microsoft.com/office/powerpoint/2010/main" val="1694737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680C4-60DB-6E09-43FB-74235C03AC52}"/>
              </a:ext>
            </a:extLst>
          </p:cNvPr>
          <p:cNvSpPr>
            <a:spLocks noGrp="1"/>
          </p:cNvSpPr>
          <p:nvPr>
            <p:ph type="title"/>
          </p:nvPr>
        </p:nvSpPr>
        <p:spPr/>
        <p:txBody>
          <a:bodyPr/>
          <a:lstStyle/>
          <a:p>
            <a:r>
              <a:rPr lang="en-GB" dirty="0"/>
              <a:t>What is AI/ML/NN/DL?</a:t>
            </a:r>
            <a:endParaRPr lang="en-SG" dirty="0"/>
          </a:p>
        </p:txBody>
      </p:sp>
      <p:sp>
        <p:nvSpPr>
          <p:cNvPr id="4" name="Content Placeholder 3">
            <a:extLst>
              <a:ext uri="{FF2B5EF4-FFF2-40B4-BE49-F238E27FC236}">
                <a16:creationId xmlns:a16="http://schemas.microsoft.com/office/drawing/2014/main" id="{88798E55-5E88-863A-E590-8857F1B9337A}"/>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Neural Networks</a:t>
            </a:r>
            <a:r>
              <a:rPr lang="en-GB" b="1" dirty="0"/>
              <a:t>):</a:t>
            </a:r>
          </a:p>
          <a:p>
            <a:pPr marL="0" indent="0">
              <a:buNone/>
            </a:pPr>
            <a:r>
              <a:rPr lang="en-GB" b="1" dirty="0">
                <a:solidFill>
                  <a:srgbClr val="00B050"/>
                </a:solidFill>
              </a:rPr>
              <a:t>Neural</a:t>
            </a:r>
            <a:r>
              <a:rPr lang="en-GB" dirty="0"/>
              <a:t> </a:t>
            </a:r>
            <a:r>
              <a:rPr lang="en-GB" b="1" dirty="0">
                <a:solidFill>
                  <a:srgbClr val="00B050"/>
                </a:solidFill>
              </a:rPr>
              <a:t>Networks</a:t>
            </a:r>
            <a:r>
              <a:rPr lang="en-GB" dirty="0"/>
              <a:t> (</a:t>
            </a:r>
            <a:r>
              <a:rPr lang="en-GB" b="1" dirty="0"/>
              <a:t>NNs</a:t>
            </a:r>
            <a:r>
              <a:rPr lang="en-GB" dirty="0"/>
              <a:t>) are computing systems inspired by the biological neural networks that constitute animal brains.</a:t>
            </a:r>
          </a:p>
          <a:p>
            <a:pPr marL="0" indent="0">
              <a:buNone/>
            </a:pPr>
            <a:r>
              <a:rPr lang="en-GB" dirty="0"/>
              <a:t>NNs are based on a </a:t>
            </a:r>
            <a:r>
              <a:rPr lang="en-GB" b="1" dirty="0"/>
              <a:t>collection of connected units (or nodes) called artificial neurons</a:t>
            </a:r>
            <a:r>
              <a:rPr lang="en-GB" dirty="0"/>
              <a:t>, which are a (loose) model for the neurons in a biological brain.</a:t>
            </a:r>
          </a:p>
        </p:txBody>
      </p:sp>
      <p:pic>
        <p:nvPicPr>
          <p:cNvPr id="13" name="Picture 12" descr="A close up of a spider&#10;&#10;Description automatically generated with low confidence">
            <a:extLst>
              <a:ext uri="{FF2B5EF4-FFF2-40B4-BE49-F238E27FC236}">
                <a16:creationId xmlns:a16="http://schemas.microsoft.com/office/drawing/2014/main" id="{04C9B43B-40BD-8F2B-A299-B54466A2A0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5511" y="365125"/>
            <a:ext cx="5072155" cy="3378247"/>
          </a:xfrm>
          <a:prstGeom prst="rect">
            <a:avLst/>
          </a:prstGeom>
        </p:spPr>
      </p:pic>
      <p:pic>
        <p:nvPicPr>
          <p:cNvPr id="14" name="Picture 13" descr="Diagram&#10;&#10;Description automatically generated">
            <a:extLst>
              <a:ext uri="{FF2B5EF4-FFF2-40B4-BE49-F238E27FC236}">
                <a16:creationId xmlns:a16="http://schemas.microsoft.com/office/drawing/2014/main" id="{96B42433-DD46-C0B9-7EFC-E3F3E4EC7040}"/>
              </a:ext>
            </a:extLst>
          </p:cNvPr>
          <p:cNvPicPr>
            <a:picLocks noChangeAspect="1"/>
          </p:cNvPicPr>
          <p:nvPr/>
        </p:nvPicPr>
        <p:blipFill rotWithShape="1">
          <a:blip r:embed="rId3">
            <a:extLst>
              <a:ext uri="{28A0092B-C50C-407E-A947-70E740481C1C}">
                <a14:useLocalDpi xmlns:a14="http://schemas.microsoft.com/office/drawing/2010/main" val="0"/>
              </a:ext>
            </a:extLst>
          </a:blip>
          <a:srcRect t="11677" r="64395"/>
          <a:stretch/>
        </p:blipFill>
        <p:spPr>
          <a:xfrm>
            <a:off x="7846882" y="3837790"/>
            <a:ext cx="3144967" cy="2973810"/>
          </a:xfrm>
          <a:prstGeom prst="rect">
            <a:avLst/>
          </a:prstGeom>
        </p:spPr>
      </p:pic>
    </p:spTree>
    <p:extLst>
      <p:ext uri="{BB962C8B-B14F-4D97-AF65-F5344CB8AC3E}">
        <p14:creationId xmlns:p14="http://schemas.microsoft.com/office/powerpoint/2010/main" val="31767573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680C4-60DB-6E09-43FB-74235C03AC52}"/>
              </a:ext>
            </a:extLst>
          </p:cNvPr>
          <p:cNvSpPr>
            <a:spLocks noGrp="1"/>
          </p:cNvSpPr>
          <p:nvPr>
            <p:ph type="title"/>
          </p:nvPr>
        </p:nvSpPr>
        <p:spPr/>
        <p:txBody>
          <a:bodyPr/>
          <a:lstStyle/>
          <a:p>
            <a:r>
              <a:rPr lang="en-GB" dirty="0"/>
              <a:t>What is AI/ML/NN/DL?</a:t>
            </a:r>
            <a:endParaRPr lang="en-SG" dirty="0"/>
          </a:p>
        </p:txBody>
      </p:sp>
      <p:sp>
        <p:nvSpPr>
          <p:cNvPr id="4" name="Content Placeholder 3">
            <a:extLst>
              <a:ext uri="{FF2B5EF4-FFF2-40B4-BE49-F238E27FC236}">
                <a16:creationId xmlns:a16="http://schemas.microsoft.com/office/drawing/2014/main" id="{88798E55-5E88-863A-E590-8857F1B9337A}"/>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Neural Networks</a:t>
            </a:r>
            <a:r>
              <a:rPr lang="en-GB" b="1" dirty="0"/>
              <a:t>):</a:t>
            </a:r>
          </a:p>
          <a:p>
            <a:pPr marL="0" indent="0">
              <a:buNone/>
            </a:pPr>
            <a:r>
              <a:rPr lang="en-GB" b="1" dirty="0">
                <a:solidFill>
                  <a:srgbClr val="00B050"/>
                </a:solidFill>
              </a:rPr>
              <a:t>Neural</a:t>
            </a:r>
            <a:r>
              <a:rPr lang="en-GB" dirty="0"/>
              <a:t> </a:t>
            </a:r>
            <a:r>
              <a:rPr lang="en-GB" b="1" dirty="0">
                <a:solidFill>
                  <a:srgbClr val="00B050"/>
                </a:solidFill>
              </a:rPr>
              <a:t>Networks</a:t>
            </a:r>
            <a:r>
              <a:rPr lang="en-GB" dirty="0"/>
              <a:t> (</a:t>
            </a:r>
            <a:r>
              <a:rPr lang="en-GB" b="1" dirty="0"/>
              <a:t>NNs</a:t>
            </a:r>
            <a:r>
              <a:rPr lang="en-GB" dirty="0"/>
              <a:t>) are computing systems inspired by the biological neural networks that constitute animal brains.</a:t>
            </a:r>
          </a:p>
          <a:p>
            <a:pPr marL="0" indent="0">
              <a:buNone/>
            </a:pPr>
            <a:r>
              <a:rPr lang="en-GB" dirty="0"/>
              <a:t>NNs are based on a </a:t>
            </a:r>
            <a:r>
              <a:rPr lang="en-GB" b="1" dirty="0"/>
              <a:t>collection of connected units (or nodes) called artificial neurons</a:t>
            </a:r>
            <a:r>
              <a:rPr lang="en-GB" dirty="0"/>
              <a:t>, which are a (loose) model for the neurons in a biological brain.</a:t>
            </a:r>
          </a:p>
        </p:txBody>
      </p:sp>
      <p:sp>
        <p:nvSpPr>
          <p:cNvPr id="7" name="Content Placeholder 6">
            <a:extLst>
              <a:ext uri="{FF2B5EF4-FFF2-40B4-BE49-F238E27FC236}">
                <a16:creationId xmlns:a16="http://schemas.microsoft.com/office/drawing/2014/main" id="{248779FB-09DB-842B-5D47-010A55395ACD}"/>
              </a:ext>
            </a:extLst>
          </p:cNvPr>
          <p:cNvSpPr>
            <a:spLocks noGrp="1"/>
          </p:cNvSpPr>
          <p:nvPr>
            <p:ph sz="half" idx="2"/>
          </p:nvPr>
        </p:nvSpPr>
        <p:spPr/>
        <p:txBody>
          <a:bodyPr>
            <a:normAutofit/>
          </a:bodyPr>
          <a:lstStyle/>
          <a:p>
            <a:pPr marL="0" indent="0">
              <a:buNone/>
            </a:pPr>
            <a:r>
              <a:rPr lang="en-GB" dirty="0"/>
              <a:t>Each connection, like the synapses in a biological brain, can transmit a signal to other neurons, therefore </a:t>
            </a:r>
            <a:r>
              <a:rPr lang="en-GB" b="1" dirty="0"/>
              <a:t>processing any information given as inputs and producing a final signal as output</a:t>
            </a:r>
            <a:r>
              <a:rPr lang="en-GB" dirty="0"/>
              <a:t>.</a:t>
            </a:r>
            <a:endParaRPr lang="en-SG" dirty="0"/>
          </a:p>
        </p:txBody>
      </p:sp>
      <p:pic>
        <p:nvPicPr>
          <p:cNvPr id="3" name="Picture 2" descr="A close up of a spider&#10;&#10;Description automatically generated with low confidence">
            <a:extLst>
              <a:ext uri="{FF2B5EF4-FFF2-40B4-BE49-F238E27FC236}">
                <a16:creationId xmlns:a16="http://schemas.microsoft.com/office/drawing/2014/main" id="{2DD93DF7-B9C7-7900-A89C-6F0DE1F7D3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4601119"/>
            <a:ext cx="2796590" cy="1862635"/>
          </a:xfrm>
          <a:prstGeom prst="rect">
            <a:avLst/>
          </a:prstGeom>
        </p:spPr>
      </p:pic>
      <p:pic>
        <p:nvPicPr>
          <p:cNvPr id="5" name="Picture 4" descr="Diagram&#10;&#10;Description automatically generated">
            <a:extLst>
              <a:ext uri="{FF2B5EF4-FFF2-40B4-BE49-F238E27FC236}">
                <a16:creationId xmlns:a16="http://schemas.microsoft.com/office/drawing/2014/main" id="{7B9C9C99-5ADC-5F5B-8E86-A945C88E213A}"/>
              </a:ext>
            </a:extLst>
          </p:cNvPr>
          <p:cNvPicPr>
            <a:picLocks noChangeAspect="1"/>
          </p:cNvPicPr>
          <p:nvPr/>
        </p:nvPicPr>
        <p:blipFill rotWithShape="1">
          <a:blip r:embed="rId3">
            <a:extLst>
              <a:ext uri="{28A0092B-C50C-407E-A947-70E740481C1C}">
                <a14:useLocalDpi xmlns:a14="http://schemas.microsoft.com/office/drawing/2010/main" val="0"/>
              </a:ext>
            </a:extLst>
          </a:blip>
          <a:srcRect t="11677" r="64395"/>
          <a:stretch/>
        </p:blipFill>
        <p:spPr>
          <a:xfrm>
            <a:off x="9282967" y="4293794"/>
            <a:ext cx="2619863" cy="2477284"/>
          </a:xfrm>
          <a:prstGeom prst="rect">
            <a:avLst/>
          </a:prstGeom>
        </p:spPr>
      </p:pic>
    </p:spTree>
    <p:extLst>
      <p:ext uri="{BB962C8B-B14F-4D97-AF65-F5344CB8AC3E}">
        <p14:creationId xmlns:p14="http://schemas.microsoft.com/office/powerpoint/2010/main" val="7334644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680C4-60DB-6E09-43FB-74235C03AC52}"/>
              </a:ext>
            </a:extLst>
          </p:cNvPr>
          <p:cNvSpPr>
            <a:spLocks noGrp="1"/>
          </p:cNvSpPr>
          <p:nvPr>
            <p:ph type="title"/>
          </p:nvPr>
        </p:nvSpPr>
        <p:spPr/>
        <p:txBody>
          <a:bodyPr/>
          <a:lstStyle/>
          <a:p>
            <a:r>
              <a:rPr lang="en-GB" dirty="0"/>
              <a:t>What is AI/ML/NN/DL?</a:t>
            </a:r>
            <a:endParaRPr lang="en-SG" dirty="0"/>
          </a:p>
        </p:txBody>
      </p:sp>
      <p:sp>
        <p:nvSpPr>
          <p:cNvPr id="4" name="Content Placeholder 3">
            <a:extLst>
              <a:ext uri="{FF2B5EF4-FFF2-40B4-BE49-F238E27FC236}">
                <a16:creationId xmlns:a16="http://schemas.microsoft.com/office/drawing/2014/main" id="{88798E55-5E88-863A-E590-8857F1B9337A}"/>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Deep Learning</a:t>
            </a:r>
            <a:r>
              <a:rPr lang="en-GB" b="1" dirty="0"/>
              <a:t>):</a:t>
            </a:r>
          </a:p>
          <a:p>
            <a:pPr marL="0" indent="0">
              <a:buNone/>
            </a:pPr>
            <a:r>
              <a:rPr lang="en-GB" b="1" dirty="0">
                <a:solidFill>
                  <a:srgbClr val="00B050"/>
                </a:solidFill>
              </a:rPr>
              <a:t>Deep</a:t>
            </a:r>
            <a:r>
              <a:rPr lang="en-GB" b="1" dirty="0"/>
              <a:t> </a:t>
            </a:r>
            <a:r>
              <a:rPr lang="en-GB" b="1" dirty="0">
                <a:solidFill>
                  <a:srgbClr val="00B050"/>
                </a:solidFill>
              </a:rPr>
              <a:t>Learning</a:t>
            </a:r>
            <a:r>
              <a:rPr lang="en-GB" b="1" dirty="0"/>
              <a:t> (DL) </a:t>
            </a:r>
            <a:r>
              <a:rPr lang="en-GB" dirty="0"/>
              <a:t>is a subfield of machine learning, and </a:t>
            </a:r>
            <a:r>
              <a:rPr lang="en-GB" b="1" u="sng" dirty="0"/>
              <a:t>deep</a:t>
            </a:r>
            <a:r>
              <a:rPr lang="en-GB" dirty="0"/>
              <a:t> </a:t>
            </a:r>
            <a:r>
              <a:rPr lang="en-GB" b="1" dirty="0"/>
              <a:t>neural</a:t>
            </a:r>
            <a:r>
              <a:rPr lang="en-GB" dirty="0"/>
              <a:t> </a:t>
            </a:r>
            <a:r>
              <a:rPr lang="en-GB" b="1" dirty="0"/>
              <a:t>networks</a:t>
            </a:r>
            <a:r>
              <a:rPr lang="en-GB" dirty="0"/>
              <a:t> make up the backbone of deep learning algorithms.</a:t>
            </a:r>
          </a:p>
          <a:p>
            <a:pPr marL="0" indent="0">
              <a:buNone/>
            </a:pPr>
            <a:r>
              <a:rPr lang="en-GB" dirty="0"/>
              <a:t>The </a:t>
            </a:r>
            <a:r>
              <a:rPr lang="en-GB" b="1" dirty="0"/>
              <a:t>number of node layers, </a:t>
            </a:r>
            <a:r>
              <a:rPr lang="en-GB" dirty="0"/>
              <a:t>or</a:t>
            </a:r>
            <a:r>
              <a:rPr lang="en-GB" b="1" dirty="0"/>
              <a:t> depth</a:t>
            </a:r>
            <a:r>
              <a:rPr lang="en-GB" dirty="0"/>
              <a:t>, of neural networks is what distinguishes a </a:t>
            </a:r>
            <a:r>
              <a:rPr lang="en-GB" b="1" u="sng" dirty="0"/>
              <a:t>shallow</a:t>
            </a:r>
            <a:r>
              <a:rPr lang="en-GB" dirty="0"/>
              <a:t> </a:t>
            </a:r>
            <a:r>
              <a:rPr lang="en-GB" b="1" dirty="0"/>
              <a:t>neural</a:t>
            </a:r>
            <a:r>
              <a:rPr lang="en-GB" dirty="0"/>
              <a:t> </a:t>
            </a:r>
            <a:r>
              <a:rPr lang="en-GB" b="1" dirty="0"/>
              <a:t>network</a:t>
            </a:r>
            <a:r>
              <a:rPr lang="en-GB" dirty="0"/>
              <a:t> from a </a:t>
            </a:r>
            <a:r>
              <a:rPr lang="en-GB" b="1" u="sng" dirty="0"/>
              <a:t>deep</a:t>
            </a:r>
            <a:r>
              <a:rPr lang="en-GB" dirty="0"/>
              <a:t> </a:t>
            </a:r>
            <a:r>
              <a:rPr lang="en-GB" b="1" dirty="0"/>
              <a:t>neural</a:t>
            </a:r>
            <a:r>
              <a:rPr lang="en-GB" dirty="0"/>
              <a:t> </a:t>
            </a:r>
            <a:r>
              <a:rPr lang="en-GB" b="1" dirty="0"/>
              <a:t>network</a:t>
            </a:r>
            <a:r>
              <a:rPr lang="en-GB" dirty="0"/>
              <a:t>, which must have more than three.</a:t>
            </a:r>
            <a:endParaRPr lang="en-SG" dirty="0"/>
          </a:p>
        </p:txBody>
      </p:sp>
      <p:pic>
        <p:nvPicPr>
          <p:cNvPr id="8" name="Picture 7" descr="Diagram&#10;&#10;Description automatically generated">
            <a:extLst>
              <a:ext uri="{FF2B5EF4-FFF2-40B4-BE49-F238E27FC236}">
                <a16:creationId xmlns:a16="http://schemas.microsoft.com/office/drawing/2014/main" id="{5E84C124-D1CE-668B-3F41-F4530F8849C5}"/>
              </a:ext>
            </a:extLst>
          </p:cNvPr>
          <p:cNvPicPr>
            <a:picLocks noChangeAspect="1"/>
          </p:cNvPicPr>
          <p:nvPr/>
        </p:nvPicPr>
        <p:blipFill rotWithShape="1">
          <a:blip r:embed="rId2">
            <a:extLst>
              <a:ext uri="{28A0092B-C50C-407E-A947-70E740481C1C}">
                <a14:useLocalDpi xmlns:a14="http://schemas.microsoft.com/office/drawing/2010/main" val="0"/>
              </a:ext>
            </a:extLst>
          </a:blip>
          <a:srcRect l="43050" t="11677"/>
          <a:stretch/>
        </p:blipFill>
        <p:spPr>
          <a:xfrm>
            <a:off x="6955691" y="3856279"/>
            <a:ext cx="4610833" cy="2725739"/>
          </a:xfrm>
          <a:prstGeom prst="rect">
            <a:avLst/>
          </a:prstGeom>
        </p:spPr>
      </p:pic>
      <p:pic>
        <p:nvPicPr>
          <p:cNvPr id="10" name="Picture 9" descr="Diagram&#10;&#10;Description automatically generated">
            <a:extLst>
              <a:ext uri="{FF2B5EF4-FFF2-40B4-BE49-F238E27FC236}">
                <a16:creationId xmlns:a16="http://schemas.microsoft.com/office/drawing/2014/main" id="{620C15EF-BF44-3EB9-0304-0411E6CCAF0E}"/>
              </a:ext>
            </a:extLst>
          </p:cNvPr>
          <p:cNvPicPr>
            <a:picLocks noChangeAspect="1"/>
          </p:cNvPicPr>
          <p:nvPr/>
        </p:nvPicPr>
        <p:blipFill rotWithShape="1">
          <a:blip r:embed="rId2">
            <a:extLst>
              <a:ext uri="{28A0092B-C50C-407E-A947-70E740481C1C}">
                <a14:useLocalDpi xmlns:a14="http://schemas.microsoft.com/office/drawing/2010/main" val="0"/>
              </a:ext>
            </a:extLst>
          </a:blip>
          <a:srcRect t="11677" r="58784"/>
          <a:stretch/>
        </p:blipFill>
        <p:spPr>
          <a:xfrm>
            <a:off x="7893783" y="523629"/>
            <a:ext cx="3336925" cy="2725738"/>
          </a:xfrm>
          <a:prstGeom prst="rect">
            <a:avLst/>
          </a:prstGeom>
        </p:spPr>
      </p:pic>
    </p:spTree>
    <p:extLst>
      <p:ext uri="{BB962C8B-B14F-4D97-AF65-F5344CB8AC3E}">
        <p14:creationId xmlns:p14="http://schemas.microsoft.com/office/powerpoint/2010/main" val="16767157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680C4-60DB-6E09-43FB-74235C03AC52}"/>
              </a:ext>
            </a:extLst>
          </p:cNvPr>
          <p:cNvSpPr>
            <a:spLocks noGrp="1"/>
          </p:cNvSpPr>
          <p:nvPr>
            <p:ph type="title"/>
          </p:nvPr>
        </p:nvSpPr>
        <p:spPr/>
        <p:txBody>
          <a:bodyPr/>
          <a:lstStyle/>
          <a:p>
            <a:r>
              <a:rPr lang="en-GB" dirty="0"/>
              <a:t>What is AI/ML/NN/DL?</a:t>
            </a:r>
            <a:endParaRPr lang="en-SG" dirty="0"/>
          </a:p>
        </p:txBody>
      </p:sp>
      <p:pic>
        <p:nvPicPr>
          <p:cNvPr id="6" name="Picture 5">
            <a:extLst>
              <a:ext uri="{FF2B5EF4-FFF2-40B4-BE49-F238E27FC236}">
                <a16:creationId xmlns:a16="http://schemas.microsoft.com/office/drawing/2014/main" id="{118C01C3-BC43-CCB4-739E-04E83EE58F97}"/>
              </a:ext>
            </a:extLst>
          </p:cNvPr>
          <p:cNvPicPr>
            <a:picLocks noChangeAspect="1"/>
          </p:cNvPicPr>
          <p:nvPr/>
        </p:nvPicPr>
        <p:blipFill>
          <a:blip r:embed="rId2"/>
          <a:stretch>
            <a:fillRect/>
          </a:stretch>
        </p:blipFill>
        <p:spPr>
          <a:xfrm>
            <a:off x="390575" y="4563329"/>
            <a:ext cx="4640786" cy="2245942"/>
          </a:xfrm>
          <a:prstGeom prst="rect">
            <a:avLst/>
          </a:prstGeom>
        </p:spPr>
      </p:pic>
      <p:graphicFrame>
        <p:nvGraphicFramePr>
          <p:cNvPr id="7" name="Content Placeholder 7">
            <a:extLst>
              <a:ext uri="{FF2B5EF4-FFF2-40B4-BE49-F238E27FC236}">
                <a16:creationId xmlns:a16="http://schemas.microsoft.com/office/drawing/2014/main" id="{14978745-F435-EFB2-F0FD-EFBAA9DE25DF}"/>
              </a:ext>
            </a:extLst>
          </p:cNvPr>
          <p:cNvGraphicFramePr>
            <a:graphicFrameLocks noGrp="1"/>
          </p:cNvGraphicFramePr>
          <p:nvPr>
            <p:ph sz="half" idx="1"/>
            <p:extLst>
              <p:ext uri="{D42A27DB-BD31-4B8C-83A1-F6EECF244321}">
                <p14:modId xmlns:p14="http://schemas.microsoft.com/office/powerpoint/2010/main" val="2645937885"/>
              </p:ext>
            </p:extLst>
          </p:nvPr>
        </p:nvGraphicFramePr>
        <p:xfrm>
          <a:off x="683486" y="1810407"/>
          <a:ext cx="2911591" cy="29649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2" descr="RÃ©sultat de recherche d'images pour &quot;keywords behind data science&quot;">
            <a:extLst>
              <a:ext uri="{FF2B5EF4-FFF2-40B4-BE49-F238E27FC236}">
                <a16:creationId xmlns:a16="http://schemas.microsoft.com/office/drawing/2014/main" id="{05C717F0-57FD-6CCB-159B-060DBAC462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7067" y="1565912"/>
            <a:ext cx="4995655" cy="247259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iagram&#10;&#10;Description automatically generated">
            <a:extLst>
              <a:ext uri="{FF2B5EF4-FFF2-40B4-BE49-F238E27FC236}">
                <a16:creationId xmlns:a16="http://schemas.microsoft.com/office/drawing/2014/main" id="{758C89A2-82AC-E043-4DEC-4A0F9EDC84A9}"/>
              </a:ext>
            </a:extLst>
          </p:cNvPr>
          <p:cNvPicPr>
            <a:picLocks noChangeAspect="1"/>
          </p:cNvPicPr>
          <p:nvPr/>
        </p:nvPicPr>
        <p:blipFill rotWithShape="1">
          <a:blip r:embed="rId9">
            <a:extLst>
              <a:ext uri="{28A0092B-C50C-407E-A947-70E740481C1C}">
                <a14:useLocalDpi xmlns:a14="http://schemas.microsoft.com/office/drawing/2010/main" val="0"/>
              </a:ext>
            </a:extLst>
          </a:blip>
          <a:srcRect l="43050" t="11677"/>
          <a:stretch/>
        </p:blipFill>
        <p:spPr>
          <a:xfrm>
            <a:off x="8290942" y="4588978"/>
            <a:ext cx="3799213" cy="2245942"/>
          </a:xfrm>
          <a:prstGeom prst="rect">
            <a:avLst/>
          </a:prstGeom>
        </p:spPr>
      </p:pic>
      <p:pic>
        <p:nvPicPr>
          <p:cNvPr id="10" name="Picture 9" descr="Diagram&#10;&#10;Description automatically generated">
            <a:extLst>
              <a:ext uri="{FF2B5EF4-FFF2-40B4-BE49-F238E27FC236}">
                <a16:creationId xmlns:a16="http://schemas.microsoft.com/office/drawing/2014/main" id="{9B63E14B-9A42-F774-03CE-08533573C0EE}"/>
              </a:ext>
            </a:extLst>
          </p:cNvPr>
          <p:cNvPicPr>
            <a:picLocks noChangeAspect="1"/>
          </p:cNvPicPr>
          <p:nvPr/>
        </p:nvPicPr>
        <p:blipFill rotWithShape="1">
          <a:blip r:embed="rId9">
            <a:extLst>
              <a:ext uri="{28A0092B-C50C-407E-A947-70E740481C1C}">
                <a14:useLocalDpi xmlns:a14="http://schemas.microsoft.com/office/drawing/2010/main" val="0"/>
              </a:ext>
            </a:extLst>
          </a:blip>
          <a:srcRect t="11677" r="58784"/>
          <a:stretch/>
        </p:blipFill>
        <p:spPr>
          <a:xfrm>
            <a:off x="5541397" y="4178671"/>
            <a:ext cx="2749545" cy="2245942"/>
          </a:xfrm>
          <a:prstGeom prst="rect">
            <a:avLst/>
          </a:prstGeom>
        </p:spPr>
      </p:pic>
      <p:pic>
        <p:nvPicPr>
          <p:cNvPr id="11" name="Picture 10" descr="A close up of a spider&#10;&#10;Description automatically generated with low confidence">
            <a:extLst>
              <a:ext uri="{FF2B5EF4-FFF2-40B4-BE49-F238E27FC236}">
                <a16:creationId xmlns:a16="http://schemas.microsoft.com/office/drawing/2014/main" id="{136DEE69-FEF1-EC5E-1B2B-B226AC7EED7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214999" y="1810407"/>
            <a:ext cx="2796590" cy="1862635"/>
          </a:xfrm>
          <a:prstGeom prst="rect">
            <a:avLst/>
          </a:prstGeom>
        </p:spPr>
      </p:pic>
    </p:spTree>
    <p:extLst>
      <p:ext uri="{BB962C8B-B14F-4D97-AF65-F5344CB8AC3E}">
        <p14:creationId xmlns:p14="http://schemas.microsoft.com/office/powerpoint/2010/main" val="13341941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F06AE-BE85-D05A-4ACC-C9832753A142}"/>
              </a:ext>
            </a:extLst>
          </p:cNvPr>
          <p:cNvSpPr>
            <a:spLocks noGrp="1"/>
          </p:cNvSpPr>
          <p:nvPr>
            <p:ph type="title"/>
          </p:nvPr>
        </p:nvSpPr>
        <p:spPr/>
        <p:txBody>
          <a:bodyPr/>
          <a:lstStyle/>
          <a:p>
            <a:r>
              <a:rPr lang="en-GB" dirty="0"/>
              <a:t>Supervised vs Unsupervised Learning</a:t>
            </a:r>
            <a:endParaRPr lang="en-SG" dirty="0"/>
          </a:p>
        </p:txBody>
      </p:sp>
      <p:sp>
        <p:nvSpPr>
          <p:cNvPr id="3" name="Content Placeholder 2">
            <a:extLst>
              <a:ext uri="{FF2B5EF4-FFF2-40B4-BE49-F238E27FC236}">
                <a16:creationId xmlns:a16="http://schemas.microsoft.com/office/drawing/2014/main" id="{DFE696BC-BC79-7B38-76F4-69E530908CB4}"/>
              </a:ext>
            </a:extLst>
          </p:cNvPr>
          <p:cNvSpPr>
            <a:spLocks noGrp="1"/>
          </p:cNvSpPr>
          <p:nvPr>
            <p:ph sz="half" idx="1"/>
          </p:nvPr>
        </p:nvSpPr>
        <p:spPr>
          <a:xfrm>
            <a:off x="838200" y="1825624"/>
            <a:ext cx="6092952" cy="5032375"/>
          </a:xfrm>
        </p:spPr>
        <p:txBody>
          <a:bodyPr>
            <a:normAutofit/>
          </a:bodyPr>
          <a:lstStyle/>
          <a:p>
            <a:pPr marL="0" indent="0">
              <a:buNone/>
            </a:pPr>
            <a:r>
              <a:rPr lang="en-GB" b="1" dirty="0"/>
              <a:t>Definition (</a:t>
            </a:r>
            <a:r>
              <a:rPr lang="en-GB" b="1" dirty="0">
                <a:solidFill>
                  <a:srgbClr val="00B050"/>
                </a:solidFill>
              </a:rPr>
              <a:t>Supervised vs.</a:t>
            </a:r>
            <a:br>
              <a:rPr lang="en-GB" b="1" dirty="0">
                <a:solidFill>
                  <a:srgbClr val="00B050"/>
                </a:solidFill>
              </a:rPr>
            </a:br>
            <a:r>
              <a:rPr lang="en-GB" b="1" dirty="0">
                <a:solidFill>
                  <a:srgbClr val="00B050"/>
                </a:solidFill>
              </a:rPr>
              <a:t>Unsupervised Learning</a:t>
            </a:r>
            <a:r>
              <a:rPr lang="en-GB" b="1" dirty="0"/>
              <a:t>):</a:t>
            </a:r>
          </a:p>
          <a:p>
            <a:pPr marL="0" indent="0">
              <a:buNone/>
            </a:pPr>
            <a:r>
              <a:rPr lang="en-GB" b="1" dirty="0">
                <a:solidFill>
                  <a:srgbClr val="00B050"/>
                </a:solidFill>
              </a:rPr>
              <a:t>Supervised</a:t>
            </a:r>
            <a:r>
              <a:rPr lang="en-GB" dirty="0"/>
              <a:t> and </a:t>
            </a:r>
            <a:r>
              <a:rPr lang="en-GB" b="1" dirty="0">
                <a:solidFill>
                  <a:srgbClr val="00B050"/>
                </a:solidFill>
              </a:rPr>
              <a:t>Unsupervised</a:t>
            </a:r>
            <a:r>
              <a:rPr lang="en-GB" dirty="0"/>
              <a:t> </a:t>
            </a:r>
            <a:r>
              <a:rPr lang="en-GB" b="1" dirty="0">
                <a:solidFill>
                  <a:srgbClr val="00B050"/>
                </a:solidFill>
              </a:rPr>
              <a:t>Learning</a:t>
            </a:r>
            <a:r>
              <a:rPr lang="en-GB" dirty="0"/>
              <a:t> are the two techniques of ML. </a:t>
            </a:r>
          </a:p>
          <a:p>
            <a:pPr marL="0" indent="0">
              <a:buNone/>
            </a:pPr>
            <a:r>
              <a:rPr lang="en-GB" dirty="0"/>
              <a:t>The main difference is </a:t>
            </a:r>
            <a:r>
              <a:rPr lang="en-GB" b="1" dirty="0"/>
              <a:t>the need for labelled training data</a:t>
            </a:r>
            <a:r>
              <a:rPr lang="en-GB" dirty="0"/>
              <a:t>:</a:t>
            </a:r>
          </a:p>
          <a:p>
            <a:r>
              <a:rPr lang="en-GB" b="1" dirty="0"/>
              <a:t>Supervised machine learning </a:t>
            </a:r>
            <a:r>
              <a:rPr lang="en-GB" dirty="0"/>
              <a:t>relies on </a:t>
            </a:r>
            <a:r>
              <a:rPr lang="en-GB" b="1" dirty="0"/>
              <a:t>labelled input and output data </a:t>
            </a:r>
            <a:r>
              <a:rPr lang="en-GB" dirty="0"/>
              <a:t>to learn and make predictions,</a:t>
            </a:r>
          </a:p>
          <a:p>
            <a:r>
              <a:rPr lang="en-GB" dirty="0"/>
              <a:t>while </a:t>
            </a:r>
            <a:r>
              <a:rPr lang="en-GB" b="1" dirty="0"/>
              <a:t>unsupervised machine learning does not require labelled data. </a:t>
            </a:r>
            <a:endParaRPr lang="en-SG" b="1" dirty="0"/>
          </a:p>
        </p:txBody>
      </p:sp>
      <p:pic>
        <p:nvPicPr>
          <p:cNvPr id="6" name="Picture 5" descr="Chart, scatter chart&#10;&#10;Description automatically generated">
            <a:extLst>
              <a:ext uri="{FF2B5EF4-FFF2-40B4-BE49-F238E27FC236}">
                <a16:creationId xmlns:a16="http://schemas.microsoft.com/office/drawing/2014/main" id="{D66BDE37-8D5D-471C-64FD-C3EF691B4C8D}"/>
              </a:ext>
            </a:extLst>
          </p:cNvPr>
          <p:cNvPicPr>
            <a:picLocks noChangeAspect="1"/>
          </p:cNvPicPr>
          <p:nvPr/>
        </p:nvPicPr>
        <p:blipFill rotWithShape="1">
          <a:blip r:embed="rId2">
            <a:extLst>
              <a:ext uri="{28A0092B-C50C-407E-A947-70E740481C1C}">
                <a14:useLocalDpi xmlns:a14="http://schemas.microsoft.com/office/drawing/2010/main" val="0"/>
              </a:ext>
            </a:extLst>
          </a:blip>
          <a:srcRect t="3413"/>
          <a:stretch/>
        </p:blipFill>
        <p:spPr>
          <a:xfrm>
            <a:off x="7053416" y="1690688"/>
            <a:ext cx="5045354" cy="4913311"/>
          </a:xfrm>
          <a:prstGeom prst="rect">
            <a:avLst/>
          </a:prstGeom>
        </p:spPr>
      </p:pic>
    </p:spTree>
    <p:extLst>
      <p:ext uri="{BB962C8B-B14F-4D97-AF65-F5344CB8AC3E}">
        <p14:creationId xmlns:p14="http://schemas.microsoft.com/office/powerpoint/2010/main" val="39071429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F06AE-BE85-D05A-4ACC-C9832753A142}"/>
              </a:ext>
            </a:extLst>
          </p:cNvPr>
          <p:cNvSpPr>
            <a:spLocks noGrp="1"/>
          </p:cNvSpPr>
          <p:nvPr>
            <p:ph type="title"/>
          </p:nvPr>
        </p:nvSpPr>
        <p:spPr/>
        <p:txBody>
          <a:bodyPr/>
          <a:lstStyle/>
          <a:p>
            <a:r>
              <a:rPr lang="en-GB" dirty="0"/>
              <a:t>Supervised Learning Examples</a:t>
            </a:r>
            <a:endParaRPr lang="en-SG" dirty="0"/>
          </a:p>
        </p:txBody>
      </p:sp>
      <p:sp>
        <p:nvSpPr>
          <p:cNvPr id="3" name="Content Placeholder 2">
            <a:extLst>
              <a:ext uri="{FF2B5EF4-FFF2-40B4-BE49-F238E27FC236}">
                <a16:creationId xmlns:a16="http://schemas.microsoft.com/office/drawing/2014/main" id="{DFE696BC-BC79-7B38-76F4-69E530908CB4}"/>
              </a:ext>
            </a:extLst>
          </p:cNvPr>
          <p:cNvSpPr>
            <a:spLocks noGrp="1"/>
          </p:cNvSpPr>
          <p:nvPr>
            <p:ph sz="half" idx="1"/>
          </p:nvPr>
        </p:nvSpPr>
        <p:spPr/>
        <p:txBody>
          <a:bodyPr>
            <a:normAutofit/>
          </a:bodyPr>
          <a:lstStyle/>
          <a:p>
            <a:r>
              <a:rPr lang="en-GB" dirty="0"/>
              <a:t>Examples of </a:t>
            </a:r>
            <a:r>
              <a:rPr lang="en-GB" b="1" dirty="0"/>
              <a:t>supervised</a:t>
            </a:r>
            <a:r>
              <a:rPr lang="en-GB" dirty="0"/>
              <a:t> </a:t>
            </a:r>
            <a:r>
              <a:rPr lang="en-GB" b="1" dirty="0"/>
              <a:t>learning:</a:t>
            </a:r>
            <a:r>
              <a:rPr lang="en-GB" dirty="0"/>
              <a:t> spam detection, text classification, predicting the stock market, etc.</a:t>
            </a:r>
          </a:p>
          <a:p>
            <a:pPr marL="0" indent="0">
              <a:buNone/>
            </a:pPr>
            <a:endParaRPr lang="en-GB" dirty="0"/>
          </a:p>
        </p:txBody>
      </p:sp>
      <p:pic>
        <p:nvPicPr>
          <p:cNvPr id="6" name="Picture 5" descr="Diagram&#10;&#10;Description automatically generated">
            <a:extLst>
              <a:ext uri="{FF2B5EF4-FFF2-40B4-BE49-F238E27FC236}">
                <a16:creationId xmlns:a16="http://schemas.microsoft.com/office/drawing/2014/main" id="{06308B0C-B80A-8F5E-64C2-ABCE80C126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594" y="4056605"/>
            <a:ext cx="4419655" cy="2208097"/>
          </a:xfrm>
          <a:prstGeom prst="rect">
            <a:avLst/>
          </a:prstGeom>
        </p:spPr>
      </p:pic>
      <p:pic>
        <p:nvPicPr>
          <p:cNvPr id="8" name="Picture 7">
            <a:extLst>
              <a:ext uri="{FF2B5EF4-FFF2-40B4-BE49-F238E27FC236}">
                <a16:creationId xmlns:a16="http://schemas.microsoft.com/office/drawing/2014/main" id="{F5242E59-7666-31A4-2AD1-857900B71193}"/>
              </a:ext>
            </a:extLst>
          </p:cNvPr>
          <p:cNvPicPr>
            <a:picLocks noChangeAspect="1"/>
          </p:cNvPicPr>
          <p:nvPr/>
        </p:nvPicPr>
        <p:blipFill>
          <a:blip r:embed="rId3"/>
          <a:stretch>
            <a:fillRect/>
          </a:stretch>
        </p:blipFill>
        <p:spPr>
          <a:xfrm>
            <a:off x="6372228" y="1570786"/>
            <a:ext cx="5486452" cy="4796162"/>
          </a:xfrm>
          <a:prstGeom prst="rect">
            <a:avLst/>
          </a:prstGeom>
        </p:spPr>
      </p:pic>
    </p:spTree>
    <p:extLst>
      <p:ext uri="{BB962C8B-B14F-4D97-AF65-F5344CB8AC3E}">
        <p14:creationId xmlns:p14="http://schemas.microsoft.com/office/powerpoint/2010/main" val="36089048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0558E-04AA-1E98-7827-BC3AFBCFB8DC}"/>
              </a:ext>
            </a:extLst>
          </p:cNvPr>
          <p:cNvSpPr>
            <a:spLocks noGrp="1"/>
          </p:cNvSpPr>
          <p:nvPr>
            <p:ph type="title"/>
          </p:nvPr>
        </p:nvSpPr>
        <p:spPr/>
        <p:txBody>
          <a:bodyPr/>
          <a:lstStyle/>
          <a:p>
            <a:r>
              <a:rPr lang="en-GB" dirty="0"/>
              <a:t>Regression vs. Classification (Supervised)</a:t>
            </a:r>
            <a:endParaRPr lang="en-SG" dirty="0"/>
          </a:p>
        </p:txBody>
      </p:sp>
      <p:sp>
        <p:nvSpPr>
          <p:cNvPr id="3" name="Content Placeholder 2">
            <a:extLst>
              <a:ext uri="{FF2B5EF4-FFF2-40B4-BE49-F238E27FC236}">
                <a16:creationId xmlns:a16="http://schemas.microsoft.com/office/drawing/2014/main" id="{2CAC5612-DA1C-B920-F4AC-1A2C33918BA4}"/>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Classification</a:t>
            </a:r>
            <a:r>
              <a:rPr lang="en-GB" b="1" dirty="0"/>
              <a:t>):</a:t>
            </a:r>
          </a:p>
          <a:p>
            <a:pPr marL="0" indent="0">
              <a:buNone/>
            </a:pPr>
            <a:r>
              <a:rPr lang="en-GB" dirty="0"/>
              <a:t>Classification models are used to divide the samples in the dataset into different </a:t>
            </a:r>
            <a:r>
              <a:rPr lang="en-GB" b="1" dirty="0"/>
              <a:t>classes</a:t>
            </a:r>
            <a:r>
              <a:rPr lang="en-GB" dirty="0"/>
              <a:t>.</a:t>
            </a:r>
          </a:p>
          <a:p>
            <a:pPr marL="0" indent="0">
              <a:buNone/>
            </a:pPr>
            <a:r>
              <a:rPr lang="en-GB" dirty="0"/>
              <a:t>Classification algorithms are then used to predict/classify </a:t>
            </a:r>
            <a:r>
              <a:rPr lang="en-GB" b="1" dirty="0"/>
              <a:t>discrete or finite number</a:t>
            </a:r>
            <a:r>
              <a:rPr lang="en-GB" dirty="0"/>
              <a:t> </a:t>
            </a:r>
            <a:r>
              <a:rPr lang="en-GB" b="1" dirty="0"/>
              <a:t>values</a:t>
            </a:r>
            <a:r>
              <a:rPr lang="en-GB" dirty="0"/>
              <a:t>, such as Male or Female, True or False, Spam or Not Spam, etc. </a:t>
            </a:r>
          </a:p>
          <a:p>
            <a:pPr marL="0" indent="0">
              <a:buNone/>
            </a:pPr>
            <a:r>
              <a:rPr lang="en-GB" dirty="0"/>
              <a:t>In Classification, the outputs are </a:t>
            </a:r>
            <a:r>
              <a:rPr lang="en-GB" b="1" dirty="0"/>
              <a:t>discrete</a:t>
            </a:r>
            <a:r>
              <a:rPr lang="en-GB" dirty="0"/>
              <a:t> or </a:t>
            </a:r>
            <a:r>
              <a:rPr lang="en-GB" b="1" dirty="0"/>
              <a:t>categorical</a:t>
            </a:r>
            <a:r>
              <a:rPr lang="en-GB" dirty="0"/>
              <a:t> </a:t>
            </a:r>
            <a:r>
              <a:rPr lang="en-GB" b="1" dirty="0"/>
              <a:t>values</a:t>
            </a:r>
            <a:r>
              <a:rPr lang="en-GB" dirty="0"/>
              <a:t>. </a:t>
            </a:r>
          </a:p>
          <a:p>
            <a:endParaRPr lang="en-SG" dirty="0"/>
          </a:p>
        </p:txBody>
      </p:sp>
      <p:pic>
        <p:nvPicPr>
          <p:cNvPr id="4" name="Picture 3" descr="Diagram&#10;&#10;Description automatically generated">
            <a:extLst>
              <a:ext uri="{FF2B5EF4-FFF2-40B4-BE49-F238E27FC236}">
                <a16:creationId xmlns:a16="http://schemas.microsoft.com/office/drawing/2014/main" id="{583C7EF1-C4AC-713C-63B9-4157061F41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8835" y="2509159"/>
            <a:ext cx="5697686" cy="2846612"/>
          </a:xfrm>
          <a:prstGeom prst="rect">
            <a:avLst/>
          </a:prstGeom>
        </p:spPr>
      </p:pic>
    </p:spTree>
    <p:extLst>
      <p:ext uri="{BB962C8B-B14F-4D97-AF65-F5344CB8AC3E}">
        <p14:creationId xmlns:p14="http://schemas.microsoft.com/office/powerpoint/2010/main" val="39176101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0558E-04AA-1E98-7827-BC3AFBCFB8DC}"/>
              </a:ext>
            </a:extLst>
          </p:cNvPr>
          <p:cNvSpPr>
            <a:spLocks noGrp="1"/>
          </p:cNvSpPr>
          <p:nvPr>
            <p:ph type="title"/>
          </p:nvPr>
        </p:nvSpPr>
        <p:spPr/>
        <p:txBody>
          <a:bodyPr/>
          <a:lstStyle/>
          <a:p>
            <a:r>
              <a:rPr lang="en-GB" dirty="0"/>
              <a:t>Regression vs. Classification</a:t>
            </a:r>
            <a:endParaRPr lang="en-SG" dirty="0"/>
          </a:p>
        </p:txBody>
      </p:sp>
      <p:sp>
        <p:nvSpPr>
          <p:cNvPr id="3" name="Content Placeholder 2">
            <a:extLst>
              <a:ext uri="{FF2B5EF4-FFF2-40B4-BE49-F238E27FC236}">
                <a16:creationId xmlns:a16="http://schemas.microsoft.com/office/drawing/2014/main" id="{2CAC5612-DA1C-B920-F4AC-1A2C33918BA4}"/>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Regression</a:t>
            </a:r>
            <a:r>
              <a:rPr lang="en-GB" b="1" dirty="0"/>
              <a:t>):</a:t>
            </a:r>
          </a:p>
          <a:p>
            <a:pPr marL="0" indent="0">
              <a:buNone/>
            </a:pPr>
            <a:r>
              <a:rPr lang="en-GB" dirty="0"/>
              <a:t>Regression models are used to identify the relationships between the input and output variables. </a:t>
            </a:r>
          </a:p>
          <a:p>
            <a:pPr marL="0" indent="0">
              <a:buNone/>
            </a:pPr>
            <a:r>
              <a:rPr lang="en-GB" dirty="0"/>
              <a:t>Regression algorithms are used to </a:t>
            </a:r>
            <a:r>
              <a:rPr lang="en-GB" b="1" dirty="0"/>
              <a:t>predict</a:t>
            </a:r>
            <a:r>
              <a:rPr lang="en-GB" dirty="0"/>
              <a:t> </a:t>
            </a:r>
            <a:r>
              <a:rPr lang="en-GB" b="1" dirty="0"/>
              <a:t>continuous</a:t>
            </a:r>
            <a:r>
              <a:rPr lang="en-GB" dirty="0"/>
              <a:t> </a:t>
            </a:r>
            <a:r>
              <a:rPr lang="en-GB" b="1" dirty="0"/>
              <a:t>values</a:t>
            </a:r>
            <a:r>
              <a:rPr lang="en-GB" dirty="0"/>
              <a:t> such as price, salary, age, etc.</a:t>
            </a:r>
          </a:p>
          <a:p>
            <a:pPr marL="0" indent="0">
              <a:buNone/>
            </a:pPr>
            <a:r>
              <a:rPr lang="en-GB" dirty="0"/>
              <a:t>In regression, the outputs are often </a:t>
            </a:r>
            <a:r>
              <a:rPr lang="en-GB" b="1" dirty="0"/>
              <a:t>continuous</a:t>
            </a:r>
            <a:r>
              <a:rPr lang="en-GB" dirty="0"/>
              <a:t> </a:t>
            </a:r>
            <a:r>
              <a:rPr lang="en-GB" b="1" dirty="0"/>
              <a:t>numerical</a:t>
            </a:r>
            <a:r>
              <a:rPr lang="en-GB" dirty="0"/>
              <a:t> </a:t>
            </a:r>
            <a:r>
              <a:rPr lang="en-GB" b="1" dirty="0"/>
              <a:t>values</a:t>
            </a:r>
            <a:r>
              <a:rPr lang="en-GB" dirty="0"/>
              <a:t>. </a:t>
            </a:r>
          </a:p>
          <a:p>
            <a:endParaRPr lang="en-SG" dirty="0"/>
          </a:p>
        </p:txBody>
      </p:sp>
      <p:pic>
        <p:nvPicPr>
          <p:cNvPr id="5" name="Picture 4" descr="RÃ©sultat de recherche d'images pour &quot;apartment seller agent&quot;">
            <a:extLst>
              <a:ext uri="{FF2B5EF4-FFF2-40B4-BE49-F238E27FC236}">
                <a16:creationId xmlns:a16="http://schemas.microsoft.com/office/drawing/2014/main" id="{CCD4D58C-EB87-859D-CDD7-DDBEA8CD35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6154" y="4840851"/>
            <a:ext cx="2790092" cy="186006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E0A3EE8-95B0-834B-B276-6BA2F57BEDAE}"/>
              </a:ext>
            </a:extLst>
          </p:cNvPr>
          <p:cNvPicPr>
            <a:picLocks noChangeAspect="1"/>
          </p:cNvPicPr>
          <p:nvPr/>
        </p:nvPicPr>
        <p:blipFill>
          <a:blip r:embed="rId3"/>
          <a:stretch>
            <a:fillRect/>
          </a:stretch>
        </p:blipFill>
        <p:spPr>
          <a:xfrm>
            <a:off x="7315198" y="2017149"/>
            <a:ext cx="4173415" cy="2720236"/>
          </a:xfrm>
          <a:prstGeom prst="rect">
            <a:avLst/>
          </a:prstGeom>
        </p:spPr>
      </p:pic>
      <p:pic>
        <p:nvPicPr>
          <p:cNvPr id="7" name="Picture 6">
            <a:extLst>
              <a:ext uri="{FF2B5EF4-FFF2-40B4-BE49-F238E27FC236}">
                <a16:creationId xmlns:a16="http://schemas.microsoft.com/office/drawing/2014/main" id="{B3A5D5C7-2482-B979-6D00-79594D128A44}"/>
              </a:ext>
            </a:extLst>
          </p:cNvPr>
          <p:cNvPicPr>
            <a:picLocks noChangeAspect="1"/>
          </p:cNvPicPr>
          <p:nvPr/>
        </p:nvPicPr>
        <p:blipFill>
          <a:blip r:embed="rId4"/>
          <a:stretch>
            <a:fillRect/>
          </a:stretch>
        </p:blipFill>
        <p:spPr>
          <a:xfrm>
            <a:off x="7315198" y="851300"/>
            <a:ext cx="4630471" cy="1076854"/>
          </a:xfrm>
          <a:prstGeom prst="rect">
            <a:avLst/>
          </a:prstGeom>
        </p:spPr>
      </p:pic>
    </p:spTree>
    <p:extLst>
      <p:ext uri="{BB962C8B-B14F-4D97-AF65-F5344CB8AC3E}">
        <p14:creationId xmlns:p14="http://schemas.microsoft.com/office/powerpoint/2010/main" val="40784903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F06AE-BE85-D05A-4ACC-C9832753A142}"/>
              </a:ext>
            </a:extLst>
          </p:cNvPr>
          <p:cNvSpPr>
            <a:spLocks noGrp="1"/>
          </p:cNvSpPr>
          <p:nvPr>
            <p:ph type="title"/>
          </p:nvPr>
        </p:nvSpPr>
        <p:spPr/>
        <p:txBody>
          <a:bodyPr/>
          <a:lstStyle/>
          <a:p>
            <a:r>
              <a:rPr lang="en-GB" dirty="0"/>
              <a:t>Supervised Learning Examples</a:t>
            </a:r>
            <a:endParaRPr lang="en-SG" dirty="0"/>
          </a:p>
        </p:txBody>
      </p:sp>
      <p:sp>
        <p:nvSpPr>
          <p:cNvPr id="3" name="Content Placeholder 2">
            <a:extLst>
              <a:ext uri="{FF2B5EF4-FFF2-40B4-BE49-F238E27FC236}">
                <a16:creationId xmlns:a16="http://schemas.microsoft.com/office/drawing/2014/main" id="{DFE696BC-BC79-7B38-76F4-69E530908CB4}"/>
              </a:ext>
            </a:extLst>
          </p:cNvPr>
          <p:cNvSpPr>
            <a:spLocks noGrp="1"/>
          </p:cNvSpPr>
          <p:nvPr>
            <p:ph sz="half" idx="1"/>
          </p:nvPr>
        </p:nvSpPr>
        <p:spPr/>
        <p:txBody>
          <a:bodyPr>
            <a:normAutofit/>
          </a:bodyPr>
          <a:lstStyle/>
          <a:p>
            <a:pPr marL="0" indent="0">
              <a:buNone/>
            </a:pPr>
            <a:r>
              <a:rPr lang="en-GB" b="1" dirty="0"/>
              <a:t>Example: </a:t>
            </a:r>
            <a:r>
              <a:rPr lang="en-GB" dirty="0"/>
              <a:t>predicting the market.</a:t>
            </a:r>
          </a:p>
          <a:p>
            <a:pPr marL="0" indent="0">
              <a:buNone/>
            </a:pPr>
            <a:r>
              <a:rPr lang="en-GB" b="1" dirty="0"/>
              <a:t>Question: </a:t>
            </a:r>
            <a:r>
              <a:rPr lang="en-GB" dirty="0"/>
              <a:t>is it a </a:t>
            </a:r>
            <a:r>
              <a:rPr lang="en-GB" b="1" dirty="0"/>
              <a:t>regression</a:t>
            </a:r>
            <a:r>
              <a:rPr lang="en-GB" dirty="0"/>
              <a:t> or a </a:t>
            </a:r>
            <a:r>
              <a:rPr lang="en-GB" b="1" dirty="0"/>
              <a:t>classification</a:t>
            </a:r>
            <a:r>
              <a:rPr lang="en-GB" dirty="0"/>
              <a:t> task?</a:t>
            </a:r>
          </a:p>
          <a:p>
            <a:pPr marL="0" indent="0">
              <a:buNone/>
            </a:pPr>
            <a:endParaRPr lang="en-GB" dirty="0"/>
          </a:p>
        </p:txBody>
      </p:sp>
      <p:pic>
        <p:nvPicPr>
          <p:cNvPr id="8" name="Picture 7">
            <a:extLst>
              <a:ext uri="{FF2B5EF4-FFF2-40B4-BE49-F238E27FC236}">
                <a16:creationId xmlns:a16="http://schemas.microsoft.com/office/drawing/2014/main" id="{F5242E59-7666-31A4-2AD1-857900B71193}"/>
              </a:ext>
            </a:extLst>
          </p:cNvPr>
          <p:cNvPicPr>
            <a:picLocks noChangeAspect="1"/>
          </p:cNvPicPr>
          <p:nvPr/>
        </p:nvPicPr>
        <p:blipFill>
          <a:blip r:embed="rId2"/>
          <a:stretch>
            <a:fillRect/>
          </a:stretch>
        </p:blipFill>
        <p:spPr>
          <a:xfrm>
            <a:off x="6372228" y="1570786"/>
            <a:ext cx="5486452" cy="4796162"/>
          </a:xfrm>
          <a:prstGeom prst="rect">
            <a:avLst/>
          </a:prstGeom>
        </p:spPr>
      </p:pic>
    </p:spTree>
    <p:extLst>
      <p:ext uri="{BB962C8B-B14F-4D97-AF65-F5344CB8AC3E}">
        <p14:creationId xmlns:p14="http://schemas.microsoft.com/office/powerpoint/2010/main" val="111364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F06AE-BE85-D05A-4ACC-C9832753A142}"/>
              </a:ext>
            </a:extLst>
          </p:cNvPr>
          <p:cNvSpPr>
            <a:spLocks noGrp="1"/>
          </p:cNvSpPr>
          <p:nvPr>
            <p:ph type="title"/>
          </p:nvPr>
        </p:nvSpPr>
        <p:spPr/>
        <p:txBody>
          <a:bodyPr/>
          <a:lstStyle/>
          <a:p>
            <a:r>
              <a:rPr lang="en-GB" dirty="0"/>
              <a:t>Supervised Learning Examples</a:t>
            </a:r>
            <a:endParaRPr lang="en-SG" dirty="0"/>
          </a:p>
        </p:txBody>
      </p:sp>
      <p:sp>
        <p:nvSpPr>
          <p:cNvPr id="3" name="Content Placeholder 2">
            <a:extLst>
              <a:ext uri="{FF2B5EF4-FFF2-40B4-BE49-F238E27FC236}">
                <a16:creationId xmlns:a16="http://schemas.microsoft.com/office/drawing/2014/main" id="{DFE696BC-BC79-7B38-76F4-69E530908CB4}"/>
              </a:ext>
            </a:extLst>
          </p:cNvPr>
          <p:cNvSpPr>
            <a:spLocks noGrp="1"/>
          </p:cNvSpPr>
          <p:nvPr>
            <p:ph sz="half" idx="1"/>
          </p:nvPr>
        </p:nvSpPr>
        <p:spPr>
          <a:xfrm>
            <a:off x="838200" y="1825624"/>
            <a:ext cx="5181600" cy="5032375"/>
          </a:xfrm>
        </p:spPr>
        <p:txBody>
          <a:bodyPr>
            <a:normAutofit/>
          </a:bodyPr>
          <a:lstStyle/>
          <a:p>
            <a:pPr marL="0" indent="0">
              <a:buNone/>
            </a:pPr>
            <a:r>
              <a:rPr lang="en-GB" b="1" dirty="0"/>
              <a:t>Example: </a:t>
            </a:r>
            <a:r>
              <a:rPr lang="en-GB" dirty="0"/>
              <a:t>predicting the market.</a:t>
            </a:r>
          </a:p>
          <a:p>
            <a:pPr marL="0" indent="0">
              <a:buNone/>
            </a:pPr>
            <a:r>
              <a:rPr lang="en-GB" b="1" dirty="0"/>
              <a:t>Question: </a:t>
            </a:r>
            <a:r>
              <a:rPr lang="en-GB" dirty="0"/>
              <a:t>is it a </a:t>
            </a:r>
            <a:r>
              <a:rPr lang="en-GB" b="1" dirty="0"/>
              <a:t>regression</a:t>
            </a:r>
            <a:r>
              <a:rPr lang="en-GB" dirty="0"/>
              <a:t> or a </a:t>
            </a:r>
            <a:r>
              <a:rPr lang="en-GB" b="1" dirty="0"/>
              <a:t>classification</a:t>
            </a:r>
            <a:r>
              <a:rPr lang="en-GB" dirty="0"/>
              <a:t> task?</a:t>
            </a:r>
          </a:p>
          <a:p>
            <a:pPr marL="0" indent="0">
              <a:buNone/>
            </a:pPr>
            <a:endParaRPr lang="en-GB" dirty="0"/>
          </a:p>
          <a:p>
            <a:pPr marL="0" indent="0">
              <a:buNone/>
            </a:pPr>
            <a:r>
              <a:rPr lang="en-GB" b="1" dirty="0">
                <a:solidFill>
                  <a:schemeClr val="accent2"/>
                </a:solidFill>
              </a:rPr>
              <a:t>Depends.</a:t>
            </a:r>
          </a:p>
          <a:p>
            <a:pPr marL="0" indent="0">
              <a:buNone/>
            </a:pPr>
            <a:r>
              <a:rPr lang="en-GB" dirty="0"/>
              <a:t>If the output we are </a:t>
            </a:r>
            <a:r>
              <a:rPr lang="en-GB" b="1" dirty="0"/>
              <a:t>predicting is the value of the stock in the future</a:t>
            </a:r>
            <a:r>
              <a:rPr lang="en-GB" dirty="0"/>
              <a:t>, then probably </a:t>
            </a:r>
            <a:r>
              <a:rPr lang="en-GB" b="1" dirty="0">
                <a:solidFill>
                  <a:schemeClr val="accent2"/>
                </a:solidFill>
              </a:rPr>
              <a:t>regression</a:t>
            </a:r>
            <a:r>
              <a:rPr lang="en-GB" dirty="0"/>
              <a:t>.</a:t>
            </a:r>
          </a:p>
          <a:p>
            <a:pPr marL="0" indent="0">
              <a:buNone/>
            </a:pPr>
            <a:r>
              <a:rPr lang="en-GB" dirty="0"/>
              <a:t>If the plan is to </a:t>
            </a:r>
            <a:r>
              <a:rPr lang="en-GB" b="1" dirty="0"/>
              <a:t>predict whether we should buy, sell or hold</a:t>
            </a:r>
            <a:r>
              <a:rPr lang="en-GB" dirty="0"/>
              <a:t>, then probably </a:t>
            </a:r>
            <a:r>
              <a:rPr lang="en-GB" b="1" dirty="0">
                <a:solidFill>
                  <a:schemeClr val="accent2"/>
                </a:solidFill>
              </a:rPr>
              <a:t>classification</a:t>
            </a:r>
            <a:r>
              <a:rPr lang="en-GB" dirty="0"/>
              <a:t>.</a:t>
            </a:r>
          </a:p>
          <a:p>
            <a:pPr marL="0" indent="0">
              <a:buNone/>
            </a:pPr>
            <a:endParaRPr lang="en-GB" dirty="0"/>
          </a:p>
        </p:txBody>
      </p:sp>
      <p:pic>
        <p:nvPicPr>
          <p:cNvPr id="8" name="Picture 7">
            <a:extLst>
              <a:ext uri="{FF2B5EF4-FFF2-40B4-BE49-F238E27FC236}">
                <a16:creationId xmlns:a16="http://schemas.microsoft.com/office/drawing/2014/main" id="{F5242E59-7666-31A4-2AD1-857900B71193}"/>
              </a:ext>
            </a:extLst>
          </p:cNvPr>
          <p:cNvPicPr>
            <a:picLocks noChangeAspect="1"/>
          </p:cNvPicPr>
          <p:nvPr/>
        </p:nvPicPr>
        <p:blipFill>
          <a:blip r:embed="rId2"/>
          <a:stretch>
            <a:fillRect/>
          </a:stretch>
        </p:blipFill>
        <p:spPr>
          <a:xfrm>
            <a:off x="6372228" y="1570786"/>
            <a:ext cx="5486452" cy="4796162"/>
          </a:xfrm>
          <a:prstGeom prst="rect">
            <a:avLst/>
          </a:prstGeom>
        </p:spPr>
      </p:pic>
    </p:spTree>
    <p:extLst>
      <p:ext uri="{BB962C8B-B14F-4D97-AF65-F5344CB8AC3E}">
        <p14:creationId xmlns:p14="http://schemas.microsoft.com/office/powerpoint/2010/main" val="2571034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2C151-78BC-FF7A-7302-FF4A4817FB60}"/>
              </a:ext>
            </a:extLst>
          </p:cNvPr>
          <p:cNvSpPr>
            <a:spLocks noGrp="1"/>
          </p:cNvSpPr>
          <p:nvPr>
            <p:ph type="title"/>
          </p:nvPr>
        </p:nvSpPr>
        <p:spPr/>
        <p:txBody>
          <a:bodyPr/>
          <a:lstStyle/>
          <a:p>
            <a:r>
              <a:rPr lang="en-GB" dirty="0"/>
              <a:t>Deep Learning and Supervised/Unsupervised</a:t>
            </a:r>
            <a:endParaRPr lang="en-SG" dirty="0"/>
          </a:p>
        </p:txBody>
      </p:sp>
      <p:sp>
        <p:nvSpPr>
          <p:cNvPr id="5" name="Content Placeholder 4">
            <a:extLst>
              <a:ext uri="{FF2B5EF4-FFF2-40B4-BE49-F238E27FC236}">
                <a16:creationId xmlns:a16="http://schemas.microsoft.com/office/drawing/2014/main" id="{E74BA30B-8195-4633-6744-AE86C2FDFC1E}"/>
              </a:ext>
            </a:extLst>
          </p:cNvPr>
          <p:cNvSpPr>
            <a:spLocks noGrp="1"/>
          </p:cNvSpPr>
          <p:nvPr>
            <p:ph idx="1"/>
          </p:nvPr>
        </p:nvSpPr>
        <p:spPr>
          <a:xfrm>
            <a:off x="838200" y="1825624"/>
            <a:ext cx="10515600" cy="4825267"/>
          </a:xfrm>
        </p:spPr>
        <p:txBody>
          <a:bodyPr>
            <a:normAutofit/>
          </a:bodyPr>
          <a:lstStyle/>
          <a:p>
            <a:pPr algn="ctr"/>
            <a:endParaRPr lang="en-GB" sz="3600" dirty="0"/>
          </a:p>
          <a:p>
            <a:pPr marL="0" indent="0" algn="ctr">
              <a:buNone/>
            </a:pPr>
            <a:r>
              <a:rPr lang="en-SG" sz="3600" dirty="0"/>
              <a:t>While it is possible to use Deep Learning models and Neural Networks to perform both Supervised and Unsupervised tasks…</a:t>
            </a:r>
          </a:p>
          <a:p>
            <a:pPr algn="ctr"/>
            <a:endParaRPr lang="en-SG" sz="3600" dirty="0"/>
          </a:p>
          <a:p>
            <a:pPr marL="0" indent="0" algn="ctr">
              <a:buNone/>
            </a:pPr>
            <a:r>
              <a:rPr lang="en-SG" sz="3600" dirty="0"/>
              <a:t>The vast majority of DL/NN tasks fall in the category of </a:t>
            </a:r>
            <a:r>
              <a:rPr lang="en-SG" sz="3600" b="1" dirty="0"/>
              <a:t>supervised</a:t>
            </a:r>
            <a:r>
              <a:rPr lang="en-SG" sz="3600" dirty="0"/>
              <a:t> </a:t>
            </a:r>
            <a:r>
              <a:rPr lang="en-SG" sz="3600" b="1" dirty="0"/>
              <a:t>learning</a:t>
            </a:r>
            <a:r>
              <a:rPr lang="en-SG" sz="3600" dirty="0"/>
              <a:t>. </a:t>
            </a:r>
          </a:p>
          <a:p>
            <a:pPr marL="0" indent="0" algn="ctr">
              <a:buNone/>
            </a:pPr>
            <a:r>
              <a:rPr lang="en-SG" sz="3600" dirty="0"/>
              <a:t>(And we will therefore mostly focus on that)</a:t>
            </a:r>
          </a:p>
        </p:txBody>
      </p:sp>
    </p:spTree>
    <p:extLst>
      <p:ext uri="{BB962C8B-B14F-4D97-AF65-F5344CB8AC3E}">
        <p14:creationId xmlns:p14="http://schemas.microsoft.com/office/powerpoint/2010/main" val="42051680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5F3FE-ECE7-5313-37C6-831A7971D996}"/>
              </a:ext>
            </a:extLst>
          </p:cNvPr>
          <p:cNvSpPr>
            <a:spLocks noGrp="1"/>
          </p:cNvSpPr>
          <p:nvPr>
            <p:ph type="title"/>
          </p:nvPr>
        </p:nvSpPr>
        <p:spPr/>
        <p:txBody>
          <a:bodyPr/>
          <a:lstStyle/>
          <a:p>
            <a:r>
              <a:rPr lang="en-GB" dirty="0"/>
              <a:t>Elements of an ML problem</a:t>
            </a:r>
            <a:endParaRPr lang="en-SG" dirty="0"/>
          </a:p>
        </p:txBody>
      </p:sp>
      <p:sp>
        <p:nvSpPr>
          <p:cNvPr id="3" name="Content Placeholder 2">
            <a:extLst>
              <a:ext uri="{FF2B5EF4-FFF2-40B4-BE49-F238E27FC236}">
                <a16:creationId xmlns:a16="http://schemas.microsoft.com/office/drawing/2014/main" id="{A8F9105B-275A-6368-138C-0B2E6CBEE91D}"/>
              </a:ext>
            </a:extLst>
          </p:cNvPr>
          <p:cNvSpPr>
            <a:spLocks noGrp="1"/>
          </p:cNvSpPr>
          <p:nvPr>
            <p:ph sz="half" idx="1"/>
          </p:nvPr>
        </p:nvSpPr>
        <p:spPr>
          <a:xfrm>
            <a:off x="838200" y="1825624"/>
            <a:ext cx="6015892" cy="5032375"/>
          </a:xfrm>
        </p:spPr>
        <p:txBody>
          <a:bodyPr>
            <a:normAutofit/>
          </a:bodyPr>
          <a:lstStyle/>
          <a:p>
            <a:pPr marL="0" indent="0">
              <a:buNone/>
            </a:pPr>
            <a:r>
              <a:rPr lang="en-GB" b="1" dirty="0"/>
              <a:t>Definition (</a:t>
            </a:r>
            <a:r>
              <a:rPr lang="en-GB" b="1" dirty="0">
                <a:solidFill>
                  <a:srgbClr val="00B050"/>
                </a:solidFill>
              </a:rPr>
              <a:t>Elements of a ML problem</a:t>
            </a:r>
            <a:r>
              <a:rPr lang="en-GB" b="1" dirty="0"/>
              <a:t>):</a:t>
            </a:r>
          </a:p>
          <a:p>
            <a:pPr marL="0" indent="0">
              <a:buNone/>
            </a:pPr>
            <a:r>
              <a:rPr lang="en-GB" dirty="0"/>
              <a:t>Machine learning problems should be well-defined, i.e. the following elements must be clearly identified:</a:t>
            </a:r>
          </a:p>
          <a:p>
            <a:pPr marL="514350" indent="-514350">
              <a:buFont typeface="+mj-lt"/>
              <a:buAutoNum type="arabicPeriod"/>
            </a:pPr>
            <a:r>
              <a:rPr lang="en-GB" b="1" dirty="0"/>
              <a:t>Task (T)</a:t>
            </a:r>
            <a:r>
              <a:rPr lang="en-GB" dirty="0"/>
              <a:t> at hand,</a:t>
            </a:r>
          </a:p>
          <a:p>
            <a:pPr marL="514350" indent="-514350">
              <a:buFont typeface="+mj-lt"/>
              <a:buAutoNum type="arabicPeriod"/>
            </a:pPr>
            <a:r>
              <a:rPr lang="en-GB" b="1" dirty="0"/>
              <a:t>Inputs (I)</a:t>
            </a:r>
            <a:r>
              <a:rPr lang="en-GB" dirty="0"/>
              <a:t> and </a:t>
            </a:r>
            <a:r>
              <a:rPr lang="en-GB" b="1" dirty="0"/>
              <a:t>Outputs (O),</a:t>
            </a:r>
          </a:p>
          <a:p>
            <a:pPr marL="514350" indent="-514350">
              <a:buFont typeface="+mj-lt"/>
              <a:buAutoNum type="arabicPeriod"/>
            </a:pPr>
            <a:r>
              <a:rPr lang="en-GB" b="1" dirty="0"/>
              <a:t>Model (M)</a:t>
            </a:r>
            <a:r>
              <a:rPr lang="en-GB" dirty="0"/>
              <a:t> definition and its </a:t>
            </a:r>
            <a:r>
              <a:rPr lang="en-GB" b="1" dirty="0"/>
              <a:t>trainable</a:t>
            </a:r>
            <a:r>
              <a:rPr lang="en-GB" dirty="0"/>
              <a:t> </a:t>
            </a:r>
            <a:r>
              <a:rPr lang="en-GB" b="1" dirty="0"/>
              <a:t>parameters (P),</a:t>
            </a:r>
          </a:p>
          <a:p>
            <a:pPr marL="514350" indent="-514350">
              <a:buFont typeface="+mj-lt"/>
              <a:buAutoNum type="arabicPeriod"/>
            </a:pPr>
            <a:r>
              <a:rPr lang="en-GB" b="1" dirty="0"/>
              <a:t>Loss</a:t>
            </a:r>
            <a:r>
              <a:rPr lang="en-GB" dirty="0"/>
              <a:t> </a:t>
            </a:r>
            <a:r>
              <a:rPr lang="en-GB" b="1" dirty="0"/>
              <a:t>(L) </a:t>
            </a:r>
            <a:r>
              <a:rPr lang="en-GB" dirty="0"/>
              <a:t>function to measure the performance of current model on said task and dataset.</a:t>
            </a:r>
          </a:p>
          <a:p>
            <a:pPr marL="0" indent="0">
              <a:buNone/>
            </a:pPr>
            <a:endParaRPr lang="en-SG" dirty="0"/>
          </a:p>
        </p:txBody>
      </p:sp>
      <p:pic>
        <p:nvPicPr>
          <p:cNvPr id="5" name="Picture 4" descr="RÃ©sultat de recherche d'images pour &quot;apartment seller agent&quot;">
            <a:extLst>
              <a:ext uri="{FF2B5EF4-FFF2-40B4-BE49-F238E27FC236}">
                <a16:creationId xmlns:a16="http://schemas.microsoft.com/office/drawing/2014/main" id="{31E662FD-58CF-1D67-F7DD-42E536F3FF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6154" y="4840851"/>
            <a:ext cx="2790092" cy="186006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BB68C2E-4569-1821-8077-FE4128C995F8}"/>
              </a:ext>
            </a:extLst>
          </p:cNvPr>
          <p:cNvPicPr>
            <a:picLocks noChangeAspect="1"/>
          </p:cNvPicPr>
          <p:nvPr/>
        </p:nvPicPr>
        <p:blipFill>
          <a:blip r:embed="rId3"/>
          <a:stretch>
            <a:fillRect/>
          </a:stretch>
        </p:blipFill>
        <p:spPr>
          <a:xfrm>
            <a:off x="7315198" y="2017149"/>
            <a:ext cx="4173415" cy="2720236"/>
          </a:xfrm>
          <a:prstGeom prst="rect">
            <a:avLst/>
          </a:prstGeom>
        </p:spPr>
      </p:pic>
      <p:pic>
        <p:nvPicPr>
          <p:cNvPr id="7" name="Picture 6">
            <a:extLst>
              <a:ext uri="{FF2B5EF4-FFF2-40B4-BE49-F238E27FC236}">
                <a16:creationId xmlns:a16="http://schemas.microsoft.com/office/drawing/2014/main" id="{357314E6-E4B2-C9CA-C8F7-62A9019D3BF9}"/>
              </a:ext>
            </a:extLst>
          </p:cNvPr>
          <p:cNvPicPr>
            <a:picLocks noChangeAspect="1"/>
          </p:cNvPicPr>
          <p:nvPr/>
        </p:nvPicPr>
        <p:blipFill>
          <a:blip r:embed="rId4"/>
          <a:stretch>
            <a:fillRect/>
          </a:stretch>
        </p:blipFill>
        <p:spPr>
          <a:xfrm>
            <a:off x="7315198" y="851300"/>
            <a:ext cx="4630471" cy="1076854"/>
          </a:xfrm>
          <a:prstGeom prst="rect">
            <a:avLst/>
          </a:prstGeom>
        </p:spPr>
      </p:pic>
    </p:spTree>
    <p:extLst>
      <p:ext uri="{BB962C8B-B14F-4D97-AF65-F5344CB8AC3E}">
        <p14:creationId xmlns:p14="http://schemas.microsoft.com/office/powerpoint/2010/main" val="36648272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Our first toy example</a:t>
            </a:r>
            <a:endParaRPr lang="en-SG" dirty="0"/>
          </a:p>
        </p:txBody>
      </p:sp>
      <p:sp>
        <p:nvSpPr>
          <p:cNvPr id="3" name="Content Placeholder 2">
            <a:extLst>
              <a:ext uri="{FF2B5EF4-FFF2-40B4-BE49-F238E27FC236}">
                <a16:creationId xmlns:a16="http://schemas.microsoft.com/office/drawing/2014/main" id="{09ACEEFD-8460-F540-F80C-BEACC2297773}"/>
              </a:ext>
            </a:extLst>
          </p:cNvPr>
          <p:cNvSpPr>
            <a:spLocks noGrp="1"/>
          </p:cNvSpPr>
          <p:nvPr>
            <p:ph sz="half" idx="1"/>
          </p:nvPr>
        </p:nvSpPr>
        <p:spPr>
          <a:xfrm>
            <a:off x="838199" y="1825624"/>
            <a:ext cx="6047155" cy="5032375"/>
          </a:xfrm>
        </p:spPr>
        <p:txBody>
          <a:bodyPr>
            <a:normAutofit/>
          </a:bodyPr>
          <a:lstStyle/>
          <a:p>
            <a:pPr marL="0" indent="0">
              <a:buNone/>
            </a:pPr>
            <a:r>
              <a:rPr lang="en-GB" b="1" dirty="0">
                <a:solidFill>
                  <a:srgbClr val="00B050"/>
                </a:solidFill>
              </a:rPr>
              <a:t>Our first toy example: </a:t>
            </a:r>
            <a:r>
              <a:rPr lang="en-GB" dirty="0"/>
              <a:t>simplified version of the apartment price prediction.</a:t>
            </a:r>
          </a:p>
          <a:p>
            <a:pPr marL="514350" indent="-514350">
              <a:buFont typeface="+mj-lt"/>
              <a:buAutoNum type="arabicPeriod"/>
            </a:pPr>
            <a:r>
              <a:rPr lang="en-GB" b="1" dirty="0"/>
              <a:t>Task (T)</a:t>
            </a:r>
            <a:r>
              <a:rPr lang="en-GB" dirty="0"/>
              <a:t> at hand:</a:t>
            </a:r>
          </a:p>
          <a:p>
            <a:r>
              <a:rPr lang="en-GB" b="1" dirty="0">
                <a:solidFill>
                  <a:srgbClr val="7030A0"/>
                </a:solidFill>
              </a:rPr>
              <a:t>Predict price of an apartment based on the apartment features.</a:t>
            </a:r>
          </a:p>
          <a:p>
            <a:r>
              <a:rPr lang="en-GB" dirty="0"/>
              <a:t>We will generate a “fake” dataset consisting of apartments with features and selling prices.</a:t>
            </a:r>
          </a:p>
          <a:p>
            <a:r>
              <a:rPr lang="en-GB" dirty="0"/>
              <a:t>It is a </a:t>
            </a:r>
            <a:r>
              <a:rPr lang="en-GB" b="1" dirty="0">
                <a:solidFill>
                  <a:srgbClr val="7030A0"/>
                </a:solidFill>
              </a:rPr>
              <a:t>supervised regression task</a:t>
            </a:r>
            <a:r>
              <a:rPr lang="en-GB" dirty="0"/>
              <a:t>.</a:t>
            </a:r>
          </a:p>
          <a:p>
            <a:pPr marL="0" indent="0">
              <a:buNone/>
            </a:pPr>
            <a:endParaRPr lang="en-GB" dirty="0"/>
          </a:p>
          <a:p>
            <a:endParaRPr lang="en-SG" dirty="0"/>
          </a:p>
        </p:txBody>
      </p:sp>
      <p:pic>
        <p:nvPicPr>
          <p:cNvPr id="5" name="Picture 4" descr="RÃ©sultat de recherche d'images pour &quot;apartment seller agent&quot;">
            <a:extLst>
              <a:ext uri="{FF2B5EF4-FFF2-40B4-BE49-F238E27FC236}">
                <a16:creationId xmlns:a16="http://schemas.microsoft.com/office/drawing/2014/main" id="{E79A8FF2-797D-AB75-C449-F1D7351E6F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6154" y="4840851"/>
            <a:ext cx="2790092" cy="186006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3866A6C-7EA3-A159-D0EE-01B47AA95425}"/>
              </a:ext>
            </a:extLst>
          </p:cNvPr>
          <p:cNvPicPr>
            <a:picLocks noChangeAspect="1"/>
          </p:cNvPicPr>
          <p:nvPr/>
        </p:nvPicPr>
        <p:blipFill>
          <a:blip r:embed="rId3"/>
          <a:stretch>
            <a:fillRect/>
          </a:stretch>
        </p:blipFill>
        <p:spPr>
          <a:xfrm>
            <a:off x="7315198" y="2017149"/>
            <a:ext cx="4173415" cy="2720236"/>
          </a:xfrm>
          <a:prstGeom prst="rect">
            <a:avLst/>
          </a:prstGeom>
        </p:spPr>
      </p:pic>
      <p:pic>
        <p:nvPicPr>
          <p:cNvPr id="7" name="Picture 6">
            <a:extLst>
              <a:ext uri="{FF2B5EF4-FFF2-40B4-BE49-F238E27FC236}">
                <a16:creationId xmlns:a16="http://schemas.microsoft.com/office/drawing/2014/main" id="{1CB63BDA-2C16-D522-FEAB-CECFC3D0BD1C}"/>
              </a:ext>
            </a:extLst>
          </p:cNvPr>
          <p:cNvPicPr>
            <a:picLocks noChangeAspect="1"/>
          </p:cNvPicPr>
          <p:nvPr/>
        </p:nvPicPr>
        <p:blipFill>
          <a:blip r:embed="rId4"/>
          <a:stretch>
            <a:fillRect/>
          </a:stretch>
        </p:blipFill>
        <p:spPr>
          <a:xfrm>
            <a:off x="7315198" y="851300"/>
            <a:ext cx="4630471" cy="1076854"/>
          </a:xfrm>
          <a:prstGeom prst="rect">
            <a:avLst/>
          </a:prstGeom>
        </p:spPr>
      </p:pic>
    </p:spTree>
    <p:extLst>
      <p:ext uri="{BB962C8B-B14F-4D97-AF65-F5344CB8AC3E}">
        <p14:creationId xmlns:p14="http://schemas.microsoft.com/office/powerpoint/2010/main" val="38801178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Our first toy example</a:t>
            </a:r>
            <a:endParaRPr lang="en-SG" dirty="0"/>
          </a:p>
        </p:txBody>
      </p:sp>
      <p:sp>
        <p:nvSpPr>
          <p:cNvPr id="3" name="Content Placeholder 2">
            <a:extLst>
              <a:ext uri="{FF2B5EF4-FFF2-40B4-BE49-F238E27FC236}">
                <a16:creationId xmlns:a16="http://schemas.microsoft.com/office/drawing/2014/main" id="{09ACEEFD-8460-F540-F80C-BEACC2297773}"/>
              </a:ext>
            </a:extLst>
          </p:cNvPr>
          <p:cNvSpPr>
            <a:spLocks noGrp="1"/>
          </p:cNvSpPr>
          <p:nvPr>
            <p:ph sz="half" idx="1"/>
          </p:nvPr>
        </p:nvSpPr>
        <p:spPr>
          <a:xfrm>
            <a:off x="838199" y="1825624"/>
            <a:ext cx="6047155" cy="5032375"/>
          </a:xfrm>
        </p:spPr>
        <p:txBody>
          <a:bodyPr>
            <a:normAutofit/>
          </a:bodyPr>
          <a:lstStyle/>
          <a:p>
            <a:pPr marL="0" indent="0">
              <a:buNone/>
            </a:pPr>
            <a:r>
              <a:rPr lang="en-GB" b="1" dirty="0">
                <a:solidFill>
                  <a:srgbClr val="00B050"/>
                </a:solidFill>
              </a:rPr>
              <a:t>Our first toy example: </a:t>
            </a:r>
            <a:r>
              <a:rPr lang="en-GB" dirty="0"/>
              <a:t>simplified version of the apartment price prediction.</a:t>
            </a:r>
          </a:p>
          <a:p>
            <a:pPr marL="514350" indent="-514350">
              <a:buFont typeface="+mj-lt"/>
              <a:buAutoNum type="arabicPeriod" startAt="2"/>
            </a:pPr>
            <a:r>
              <a:rPr lang="en-GB" b="1" dirty="0"/>
              <a:t>Inputs (I)</a:t>
            </a:r>
            <a:r>
              <a:rPr lang="en-GB" dirty="0"/>
              <a:t> and </a:t>
            </a:r>
            <a:r>
              <a:rPr lang="en-GB" b="1" dirty="0"/>
              <a:t>Outputs (O):</a:t>
            </a:r>
          </a:p>
          <a:p>
            <a:r>
              <a:rPr lang="en-GB" b="1" dirty="0">
                <a:solidFill>
                  <a:srgbClr val="7030A0"/>
                </a:solidFill>
              </a:rPr>
              <a:t>Inputs</a:t>
            </a:r>
            <a:r>
              <a:rPr lang="en-GB" dirty="0"/>
              <a:t> will be a </a:t>
            </a:r>
            <a:r>
              <a:rPr lang="en-GB" b="1" dirty="0">
                <a:solidFill>
                  <a:srgbClr val="7030A0"/>
                </a:solidFill>
              </a:rPr>
              <a:t>list of apartment features</a:t>
            </a:r>
            <a:r>
              <a:rPr lang="en-GB" dirty="0"/>
              <a:t>, which here will only consist of the </a:t>
            </a:r>
            <a:r>
              <a:rPr lang="en-GB" b="1" dirty="0"/>
              <a:t>surface of the apartment</a:t>
            </a:r>
            <a:r>
              <a:rPr lang="en-GB" dirty="0"/>
              <a:t>, in square meters (sqm).</a:t>
            </a:r>
          </a:p>
          <a:p>
            <a:r>
              <a:rPr lang="en-GB" dirty="0"/>
              <a:t> </a:t>
            </a:r>
            <a:r>
              <a:rPr lang="en-GB" b="1" dirty="0">
                <a:solidFill>
                  <a:srgbClr val="7030A0"/>
                </a:solidFill>
              </a:rPr>
              <a:t>Output</a:t>
            </a:r>
            <a:r>
              <a:rPr lang="en-GB" dirty="0"/>
              <a:t> will be the </a:t>
            </a:r>
            <a:r>
              <a:rPr lang="en-GB" b="1" dirty="0">
                <a:solidFill>
                  <a:srgbClr val="7030A0"/>
                </a:solidFill>
              </a:rPr>
              <a:t>selling price </a:t>
            </a:r>
            <a:r>
              <a:rPr lang="en-GB" dirty="0"/>
              <a:t>in millions of SGD (</a:t>
            </a:r>
            <a:r>
              <a:rPr lang="en-GB" dirty="0" err="1"/>
              <a:t>mSGD</a:t>
            </a:r>
            <a:r>
              <a:rPr lang="en-GB" dirty="0"/>
              <a:t>).</a:t>
            </a:r>
            <a:endParaRPr lang="en-GB" b="1" dirty="0"/>
          </a:p>
          <a:p>
            <a:pPr marL="0" indent="0">
              <a:buNone/>
            </a:pPr>
            <a:endParaRPr lang="en-GB" dirty="0"/>
          </a:p>
          <a:p>
            <a:endParaRPr lang="en-SG" dirty="0"/>
          </a:p>
        </p:txBody>
      </p:sp>
      <p:pic>
        <p:nvPicPr>
          <p:cNvPr id="5" name="Picture 4" descr="RÃ©sultat de recherche d'images pour &quot;apartment seller agent&quot;">
            <a:extLst>
              <a:ext uri="{FF2B5EF4-FFF2-40B4-BE49-F238E27FC236}">
                <a16:creationId xmlns:a16="http://schemas.microsoft.com/office/drawing/2014/main" id="{E79A8FF2-797D-AB75-C449-F1D7351E6F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6154" y="4840851"/>
            <a:ext cx="2790092" cy="186006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3866A6C-7EA3-A159-D0EE-01B47AA95425}"/>
              </a:ext>
            </a:extLst>
          </p:cNvPr>
          <p:cNvPicPr>
            <a:picLocks noChangeAspect="1"/>
          </p:cNvPicPr>
          <p:nvPr/>
        </p:nvPicPr>
        <p:blipFill>
          <a:blip r:embed="rId3"/>
          <a:stretch>
            <a:fillRect/>
          </a:stretch>
        </p:blipFill>
        <p:spPr>
          <a:xfrm>
            <a:off x="7315198" y="2017149"/>
            <a:ext cx="4173415" cy="2720236"/>
          </a:xfrm>
          <a:prstGeom prst="rect">
            <a:avLst/>
          </a:prstGeom>
        </p:spPr>
      </p:pic>
      <p:pic>
        <p:nvPicPr>
          <p:cNvPr id="7" name="Picture 6">
            <a:extLst>
              <a:ext uri="{FF2B5EF4-FFF2-40B4-BE49-F238E27FC236}">
                <a16:creationId xmlns:a16="http://schemas.microsoft.com/office/drawing/2014/main" id="{1CB63BDA-2C16-D522-FEAB-CECFC3D0BD1C}"/>
              </a:ext>
            </a:extLst>
          </p:cNvPr>
          <p:cNvPicPr>
            <a:picLocks noChangeAspect="1"/>
          </p:cNvPicPr>
          <p:nvPr/>
        </p:nvPicPr>
        <p:blipFill>
          <a:blip r:embed="rId4"/>
          <a:stretch>
            <a:fillRect/>
          </a:stretch>
        </p:blipFill>
        <p:spPr>
          <a:xfrm>
            <a:off x="7315198" y="851300"/>
            <a:ext cx="4630471" cy="1076854"/>
          </a:xfrm>
          <a:prstGeom prst="rect">
            <a:avLst/>
          </a:prstGeom>
        </p:spPr>
      </p:pic>
    </p:spTree>
    <p:extLst>
      <p:ext uri="{BB962C8B-B14F-4D97-AF65-F5344CB8AC3E}">
        <p14:creationId xmlns:p14="http://schemas.microsoft.com/office/powerpoint/2010/main" val="472720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Our first toy example (mock dataset)</a:t>
            </a:r>
            <a:endParaRPr lang="en-SG" dirty="0"/>
          </a:p>
        </p:txBody>
      </p:sp>
      <p:sp>
        <p:nvSpPr>
          <p:cNvPr id="3" name="Content Placeholder 2">
            <a:extLst>
              <a:ext uri="{FF2B5EF4-FFF2-40B4-BE49-F238E27FC236}">
                <a16:creationId xmlns:a16="http://schemas.microsoft.com/office/drawing/2014/main" id="{09ACEEFD-8460-F540-F80C-BEACC2297773}"/>
              </a:ext>
            </a:extLst>
          </p:cNvPr>
          <p:cNvSpPr>
            <a:spLocks noGrp="1"/>
          </p:cNvSpPr>
          <p:nvPr>
            <p:ph idx="1"/>
          </p:nvPr>
        </p:nvSpPr>
        <p:spPr>
          <a:xfrm>
            <a:off x="838200" y="1825625"/>
            <a:ext cx="10515600" cy="4743126"/>
          </a:xfrm>
        </p:spPr>
        <p:txBody>
          <a:bodyPr>
            <a:normAutofit/>
          </a:bodyPr>
          <a:lstStyle/>
          <a:p>
            <a:pPr marL="0" indent="0">
              <a:buNone/>
            </a:pPr>
            <a:r>
              <a:rPr lang="en-GB" b="1" dirty="0"/>
              <a:t>Have a look at Week 1, Notebook 1.</a:t>
            </a:r>
          </a:p>
          <a:p>
            <a:pPr marL="0" indent="0">
              <a:buNone/>
            </a:pPr>
            <a:endParaRPr lang="en-GB" b="1" dirty="0"/>
          </a:p>
          <a:p>
            <a:pPr marL="0" indent="0">
              <a:buNone/>
            </a:pPr>
            <a:r>
              <a:rPr lang="en-GB" dirty="0"/>
              <a:t>We will create a dataset, which uses surfaces as inputs, with values drawn randomly between 40 and 150 sqm.</a:t>
            </a:r>
          </a:p>
          <a:p>
            <a:pPr marL="0" indent="0">
              <a:buNone/>
            </a:pPr>
            <a:endParaRPr lang="en-GB" dirty="0"/>
          </a:p>
          <a:p>
            <a:pPr marL="0" indent="0">
              <a:buNone/>
            </a:pPr>
            <a:r>
              <a:rPr lang="en-GB" dirty="0"/>
              <a:t>We will assume that the price is randomly generated, using a uniform distribution, with:</a:t>
            </a:r>
          </a:p>
          <a:p>
            <a:r>
              <a:rPr lang="en-GB" dirty="0"/>
              <a:t>Average price being 100000 + 14373 times the surface in sqm,</a:t>
            </a:r>
          </a:p>
          <a:p>
            <a:r>
              <a:rPr lang="en-GB" dirty="0"/>
              <a:t>and a random "variation" of +/- 10% around the average value.</a:t>
            </a:r>
          </a:p>
          <a:p>
            <a:pPr marL="0" indent="0">
              <a:buNone/>
            </a:pPr>
            <a:endParaRPr lang="en-GB" b="1" dirty="0"/>
          </a:p>
          <a:p>
            <a:pPr marL="0" indent="0">
              <a:buNone/>
            </a:pPr>
            <a:endParaRPr lang="en-GB" dirty="0"/>
          </a:p>
          <a:p>
            <a:endParaRPr lang="en-SG" dirty="0"/>
          </a:p>
        </p:txBody>
      </p:sp>
    </p:spTree>
    <p:extLst>
      <p:ext uri="{BB962C8B-B14F-4D97-AF65-F5344CB8AC3E}">
        <p14:creationId xmlns:p14="http://schemas.microsoft.com/office/powerpoint/2010/main" val="41860558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Our first toy example (mock dataset)</a:t>
            </a:r>
            <a:endParaRPr lang="en-SG" dirty="0"/>
          </a:p>
        </p:txBody>
      </p:sp>
      <p:pic>
        <p:nvPicPr>
          <p:cNvPr id="6" name="Picture 5">
            <a:extLst>
              <a:ext uri="{FF2B5EF4-FFF2-40B4-BE49-F238E27FC236}">
                <a16:creationId xmlns:a16="http://schemas.microsoft.com/office/drawing/2014/main" id="{5ABF61CE-0941-BF4D-D808-3D63620FF361}"/>
              </a:ext>
            </a:extLst>
          </p:cNvPr>
          <p:cNvPicPr>
            <a:picLocks noChangeAspect="1"/>
          </p:cNvPicPr>
          <p:nvPr/>
        </p:nvPicPr>
        <p:blipFill>
          <a:blip r:embed="rId2"/>
          <a:stretch>
            <a:fillRect/>
          </a:stretch>
        </p:blipFill>
        <p:spPr>
          <a:xfrm>
            <a:off x="838200" y="1642813"/>
            <a:ext cx="10784828" cy="4627358"/>
          </a:xfrm>
          <a:prstGeom prst="rect">
            <a:avLst/>
          </a:prstGeom>
        </p:spPr>
      </p:pic>
    </p:spTree>
    <p:extLst>
      <p:ext uri="{BB962C8B-B14F-4D97-AF65-F5344CB8AC3E}">
        <p14:creationId xmlns:p14="http://schemas.microsoft.com/office/powerpoint/2010/main" val="21254108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Our first toy example (mock dataset)</a:t>
            </a:r>
            <a:endParaRPr lang="en-SG" dirty="0"/>
          </a:p>
        </p:txBody>
      </p:sp>
      <p:pic>
        <p:nvPicPr>
          <p:cNvPr id="4" name="Picture 3">
            <a:extLst>
              <a:ext uri="{FF2B5EF4-FFF2-40B4-BE49-F238E27FC236}">
                <a16:creationId xmlns:a16="http://schemas.microsoft.com/office/drawing/2014/main" id="{21263BE8-B0B6-C784-036F-FF8120F23B70}"/>
              </a:ext>
            </a:extLst>
          </p:cNvPr>
          <p:cNvPicPr>
            <a:picLocks noChangeAspect="1"/>
          </p:cNvPicPr>
          <p:nvPr/>
        </p:nvPicPr>
        <p:blipFill>
          <a:blip r:embed="rId2"/>
          <a:stretch>
            <a:fillRect/>
          </a:stretch>
        </p:blipFill>
        <p:spPr>
          <a:xfrm>
            <a:off x="2398674" y="1481977"/>
            <a:ext cx="7482444" cy="5330700"/>
          </a:xfrm>
          <a:prstGeom prst="rect">
            <a:avLst/>
          </a:prstGeom>
        </p:spPr>
      </p:pic>
    </p:spTree>
    <p:extLst>
      <p:ext uri="{BB962C8B-B14F-4D97-AF65-F5344CB8AC3E}">
        <p14:creationId xmlns:p14="http://schemas.microsoft.com/office/powerpoint/2010/main" val="28018402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14E316-F969-F6FF-0ABE-8B7D9BA1BBAB}"/>
              </a:ext>
            </a:extLst>
          </p:cNvPr>
          <p:cNvPicPr>
            <a:picLocks noChangeAspect="1"/>
          </p:cNvPicPr>
          <p:nvPr/>
        </p:nvPicPr>
        <p:blipFill>
          <a:blip r:embed="rId2"/>
          <a:stretch>
            <a:fillRect/>
          </a:stretch>
        </p:blipFill>
        <p:spPr>
          <a:xfrm>
            <a:off x="1749441" y="0"/>
            <a:ext cx="8693118" cy="6858000"/>
          </a:xfrm>
          <a:prstGeom prst="rect">
            <a:avLst/>
          </a:prstGeom>
        </p:spPr>
      </p:pic>
    </p:spTree>
    <p:extLst>
      <p:ext uri="{BB962C8B-B14F-4D97-AF65-F5344CB8AC3E}">
        <p14:creationId xmlns:p14="http://schemas.microsoft.com/office/powerpoint/2010/main" val="23391144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Our first toy example</a:t>
            </a:r>
            <a:endParaRPr lang="en-SG" dirty="0"/>
          </a:p>
        </p:txBody>
      </p:sp>
      <p:sp>
        <p:nvSpPr>
          <p:cNvPr id="3" name="Content Placeholder 2">
            <a:extLst>
              <a:ext uri="{FF2B5EF4-FFF2-40B4-BE49-F238E27FC236}">
                <a16:creationId xmlns:a16="http://schemas.microsoft.com/office/drawing/2014/main" id="{09ACEEFD-8460-F540-F80C-BEACC2297773}"/>
              </a:ext>
            </a:extLst>
          </p:cNvPr>
          <p:cNvSpPr>
            <a:spLocks noGrp="1"/>
          </p:cNvSpPr>
          <p:nvPr>
            <p:ph sz="half" idx="1"/>
          </p:nvPr>
        </p:nvSpPr>
        <p:spPr>
          <a:xfrm>
            <a:off x="838199" y="1825624"/>
            <a:ext cx="6047155" cy="5032375"/>
          </a:xfrm>
        </p:spPr>
        <p:txBody>
          <a:bodyPr>
            <a:normAutofit/>
          </a:bodyPr>
          <a:lstStyle/>
          <a:p>
            <a:pPr marL="0" indent="0">
              <a:buNone/>
            </a:pPr>
            <a:r>
              <a:rPr lang="en-GB" b="1" dirty="0">
                <a:solidFill>
                  <a:srgbClr val="00B050"/>
                </a:solidFill>
              </a:rPr>
              <a:t>Our first toy example: </a:t>
            </a:r>
            <a:r>
              <a:rPr lang="en-GB" dirty="0"/>
              <a:t>simplified version of the apartment price prediction.</a:t>
            </a:r>
          </a:p>
          <a:p>
            <a:pPr marL="514350" indent="-514350">
              <a:buFont typeface="+mj-lt"/>
              <a:buAutoNum type="arabicPeriod" startAt="3"/>
            </a:pPr>
            <a:r>
              <a:rPr lang="en-GB" b="1" dirty="0"/>
              <a:t>Model (M)</a:t>
            </a:r>
            <a:r>
              <a:rPr lang="en-GB" dirty="0"/>
              <a:t> definition and its </a:t>
            </a:r>
            <a:r>
              <a:rPr lang="en-GB" b="1" dirty="0"/>
              <a:t>trainable</a:t>
            </a:r>
            <a:r>
              <a:rPr lang="en-GB" dirty="0"/>
              <a:t> </a:t>
            </a:r>
            <a:r>
              <a:rPr lang="en-GB" b="1" dirty="0"/>
              <a:t>parameters (P):</a:t>
            </a:r>
          </a:p>
          <a:p>
            <a:r>
              <a:rPr lang="en-GB" dirty="0"/>
              <a:t>Here, our model will consist of a </a:t>
            </a:r>
            <a:r>
              <a:rPr lang="en-GB" b="1" dirty="0">
                <a:solidFill>
                  <a:srgbClr val="7030A0"/>
                </a:solidFill>
              </a:rPr>
              <a:t>linear regression model</a:t>
            </a:r>
            <a:r>
              <a:rPr lang="en-GB" dirty="0"/>
              <a:t>.</a:t>
            </a:r>
          </a:p>
          <a:p>
            <a:endParaRPr lang="en-SG" dirty="0"/>
          </a:p>
        </p:txBody>
      </p:sp>
      <p:pic>
        <p:nvPicPr>
          <p:cNvPr id="5" name="Picture 4" descr="RÃ©sultat de recherche d'images pour &quot;apartment seller agent&quot;">
            <a:extLst>
              <a:ext uri="{FF2B5EF4-FFF2-40B4-BE49-F238E27FC236}">
                <a16:creationId xmlns:a16="http://schemas.microsoft.com/office/drawing/2014/main" id="{E79A8FF2-797D-AB75-C449-F1D7351E6F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6154" y="4840851"/>
            <a:ext cx="2790092" cy="186006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3866A6C-7EA3-A159-D0EE-01B47AA95425}"/>
              </a:ext>
            </a:extLst>
          </p:cNvPr>
          <p:cNvPicPr>
            <a:picLocks noChangeAspect="1"/>
          </p:cNvPicPr>
          <p:nvPr/>
        </p:nvPicPr>
        <p:blipFill>
          <a:blip r:embed="rId3"/>
          <a:stretch>
            <a:fillRect/>
          </a:stretch>
        </p:blipFill>
        <p:spPr>
          <a:xfrm>
            <a:off x="7315198" y="2017149"/>
            <a:ext cx="4173415" cy="2720236"/>
          </a:xfrm>
          <a:prstGeom prst="rect">
            <a:avLst/>
          </a:prstGeom>
        </p:spPr>
      </p:pic>
      <p:pic>
        <p:nvPicPr>
          <p:cNvPr id="7" name="Picture 6">
            <a:extLst>
              <a:ext uri="{FF2B5EF4-FFF2-40B4-BE49-F238E27FC236}">
                <a16:creationId xmlns:a16="http://schemas.microsoft.com/office/drawing/2014/main" id="{1CB63BDA-2C16-D522-FEAB-CECFC3D0BD1C}"/>
              </a:ext>
            </a:extLst>
          </p:cNvPr>
          <p:cNvPicPr>
            <a:picLocks noChangeAspect="1"/>
          </p:cNvPicPr>
          <p:nvPr/>
        </p:nvPicPr>
        <p:blipFill>
          <a:blip r:embed="rId4"/>
          <a:stretch>
            <a:fillRect/>
          </a:stretch>
        </p:blipFill>
        <p:spPr>
          <a:xfrm>
            <a:off x="7315198" y="851300"/>
            <a:ext cx="4630471" cy="1076854"/>
          </a:xfrm>
          <a:prstGeom prst="rect">
            <a:avLst/>
          </a:prstGeom>
        </p:spPr>
      </p:pic>
    </p:spTree>
    <p:extLst>
      <p:ext uri="{BB962C8B-B14F-4D97-AF65-F5344CB8AC3E}">
        <p14:creationId xmlns:p14="http://schemas.microsoft.com/office/powerpoint/2010/main" val="28826275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Our first model, the linear regression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DE96C0-465C-7952-04EA-C267AC8BF678}"/>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Definition (</a:t>
                </a:r>
                <a:r>
                  <a:rPr lang="en-GB" b="1" dirty="0">
                    <a:solidFill>
                      <a:srgbClr val="00B050"/>
                    </a:solidFill>
                  </a:rPr>
                  <a:t>Linear</a:t>
                </a:r>
                <a:r>
                  <a:rPr lang="en-GB" b="1" dirty="0"/>
                  <a:t> </a:t>
                </a:r>
                <a:r>
                  <a:rPr lang="en-GB" b="1" dirty="0">
                    <a:solidFill>
                      <a:srgbClr val="00B050"/>
                    </a:solidFill>
                  </a:rPr>
                  <a:t>Regression</a:t>
                </a:r>
                <a:r>
                  <a:rPr lang="en-GB" b="1" dirty="0"/>
                  <a:t>):</a:t>
                </a:r>
              </a:p>
              <a:p>
                <a:pPr marL="0" indent="0">
                  <a:buNone/>
                </a:pPr>
                <a:r>
                  <a:rPr lang="en-GB" b="1" dirty="0">
                    <a:solidFill>
                      <a:srgbClr val="00B050"/>
                    </a:solidFill>
                  </a:rPr>
                  <a:t>Linear</a:t>
                </a:r>
                <a:r>
                  <a:rPr lang="en-GB" dirty="0"/>
                  <a:t> </a:t>
                </a:r>
                <a:r>
                  <a:rPr lang="en-GB" b="1" dirty="0">
                    <a:solidFill>
                      <a:srgbClr val="00B050"/>
                    </a:solidFill>
                  </a:rPr>
                  <a:t>Regression</a:t>
                </a:r>
                <a:r>
                  <a:rPr lang="en-GB" dirty="0"/>
                  <a:t> is a model, which </a:t>
                </a:r>
                <a:r>
                  <a:rPr lang="en-GB" b="1" dirty="0"/>
                  <a:t>assumes that there is a linear relationship between inputs and outputs.</a:t>
                </a:r>
              </a:p>
              <a:p>
                <a:pPr marL="0" indent="0">
                  <a:buNone/>
                </a:pPr>
                <a:r>
                  <a:rPr lang="en-GB" dirty="0"/>
                  <a:t>It therefore consists of </a:t>
                </a:r>
                <a:r>
                  <a:rPr lang="en-GB" b="1" dirty="0"/>
                  <a:t>two trainable parameters </a:t>
                </a:r>
                <a14:m>
                  <m:oMath xmlns:m="http://schemas.openxmlformats.org/officeDocument/2006/math">
                    <m:r>
                      <a:rPr lang="en-GB" b="1" i="1" dirty="0" smtClean="0">
                        <a:latin typeface="Cambria Math" panose="02040503050406030204" pitchFamily="18" charset="0"/>
                      </a:rPr>
                      <m:t>(</m:t>
                    </m:r>
                    <m:r>
                      <a:rPr lang="en-GB" b="1" i="1" dirty="0" smtClean="0">
                        <a:latin typeface="Cambria Math" panose="02040503050406030204" pitchFamily="18" charset="0"/>
                      </a:rPr>
                      <m:t>𝒂</m:t>
                    </m:r>
                    <m:r>
                      <a:rPr lang="en-GB" b="1" i="1" dirty="0" smtClean="0">
                        <a:latin typeface="Cambria Math" panose="02040503050406030204" pitchFamily="18" charset="0"/>
                      </a:rPr>
                      <m:t>, </m:t>
                    </m:r>
                    <m:r>
                      <a:rPr lang="en-GB" b="1" i="1" dirty="0" smtClean="0">
                        <a:latin typeface="Cambria Math" panose="02040503050406030204" pitchFamily="18" charset="0"/>
                      </a:rPr>
                      <m:t>𝒃</m:t>
                    </m:r>
                    <m:r>
                      <a:rPr lang="en-GB" b="1" i="1" dirty="0" smtClean="0">
                        <a:latin typeface="Cambria Math" panose="02040503050406030204" pitchFamily="18" charset="0"/>
                      </a:rPr>
                      <m:t>)</m:t>
                    </m:r>
                  </m:oMath>
                </a14:m>
                <a:r>
                  <a:rPr lang="en-GB" dirty="0"/>
                  <a:t>,</a:t>
                </a:r>
                <a:r>
                  <a:rPr lang="en-GB" b="1" dirty="0"/>
                  <a:t> </a:t>
                </a:r>
                <a:r>
                  <a:rPr lang="en-GB" dirty="0"/>
                  <a:t>to be freely chosen.</a:t>
                </a:r>
              </a:p>
              <a:p>
                <a:pPr marL="0" indent="0">
                  <a:buNone/>
                </a:pPr>
                <a:r>
                  <a:rPr lang="en-GB" dirty="0"/>
                  <a:t>These will connect any </a:t>
                </a:r>
                <a:r>
                  <a:rPr lang="en-GB" b="1" dirty="0"/>
                  <a:t>input</a:t>
                </a:r>
                <a:r>
                  <a:rPr lang="en-GB" dirty="0"/>
                  <a:t>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𝑖</m:t>
                        </m:r>
                      </m:sub>
                    </m:sSub>
                  </m:oMath>
                </a14:m>
                <a:r>
                  <a:rPr lang="en-GB" dirty="0"/>
                  <a:t> to its predicted </a:t>
                </a:r>
                <a:r>
                  <a:rPr lang="en-GB" b="1" dirty="0"/>
                  <a:t>output</a:t>
                </a:r>
                <a:r>
                  <a:rPr lang="en-GB" dirty="0"/>
                  <a:t>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𝑦</m:t>
                        </m:r>
                      </m:e>
                      <m:sub>
                        <m:r>
                          <a:rPr lang="en-GB" i="1" dirty="0" smtClean="0">
                            <a:latin typeface="Cambria Math" panose="02040503050406030204" pitchFamily="18" charset="0"/>
                          </a:rPr>
                          <m:t>𝑖</m:t>
                        </m:r>
                      </m:sub>
                    </m:sSub>
                  </m:oMath>
                </a14:m>
                <a:r>
                  <a:rPr lang="en-GB" dirty="0"/>
                  <a:t>, with the following equation:</a:t>
                </a:r>
              </a:p>
              <a:p>
                <a:pPr marL="0" indent="0">
                  <a:buNone/>
                </a:pPr>
                <a14:m>
                  <m:oMathPara xmlns:m="http://schemas.openxmlformats.org/officeDocument/2006/math">
                    <m:oMathParaPr>
                      <m:jc m:val="centerGroup"/>
                    </m:oMathParaPr>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𝑦</m:t>
                          </m:r>
                        </m:e>
                        <m:sub>
                          <m:r>
                            <a:rPr lang="en-GB" i="1" dirty="0" smtClean="0">
                              <a:latin typeface="Cambria Math" panose="02040503050406030204" pitchFamily="18" charset="0"/>
                            </a:rPr>
                            <m:t>𝑖</m:t>
                          </m:r>
                        </m:sub>
                      </m:sSub>
                      <m:r>
                        <a:rPr lang="en-GB" i="1" dirty="0" smtClean="0">
                          <a:latin typeface="Cambria Math" panose="02040503050406030204" pitchFamily="18" charset="0"/>
                        </a:rPr>
                        <m:t>≈ </m:t>
                      </m:r>
                      <m:r>
                        <a:rPr lang="en-GB" i="1" dirty="0" smtClean="0">
                          <a:latin typeface="Cambria Math" panose="02040503050406030204" pitchFamily="18" charset="0"/>
                        </a:rPr>
                        <m:t>𝑎</m:t>
                      </m:r>
                      <m:r>
                        <a:rPr lang="en-GB" i="1" dirty="0" smtClean="0">
                          <a:latin typeface="Cambria Math" panose="02040503050406030204" pitchFamily="18" charset="0"/>
                        </a:rPr>
                        <m:t> </m:t>
                      </m:r>
                      <m:sSub>
                        <m:sSubPr>
                          <m:ctrlPr>
                            <a:rPr lang="en-GB" i="1" dirty="0" err="1" smtClean="0">
                              <a:latin typeface="Cambria Math" panose="02040503050406030204" pitchFamily="18" charset="0"/>
                            </a:rPr>
                          </m:ctrlPr>
                        </m:sSubPr>
                        <m:e>
                          <m:r>
                            <a:rPr lang="en-GB" i="1" dirty="0" err="1" smtClean="0">
                              <a:latin typeface="Cambria Math" panose="02040503050406030204" pitchFamily="18" charset="0"/>
                            </a:rPr>
                            <m:t>𝑥</m:t>
                          </m:r>
                        </m:e>
                        <m:sub>
                          <m:r>
                            <a:rPr lang="en-GB" i="1" dirty="0" err="1" smtClean="0">
                              <a:latin typeface="Cambria Math" panose="02040503050406030204" pitchFamily="18" charset="0"/>
                            </a:rPr>
                            <m:t>𝑖</m:t>
                          </m:r>
                        </m:sub>
                      </m:sSub>
                      <m:r>
                        <a:rPr lang="en-GB" i="1" dirty="0" smtClean="0">
                          <a:latin typeface="Cambria Math" panose="02040503050406030204" pitchFamily="18" charset="0"/>
                        </a:rPr>
                        <m:t> + </m:t>
                      </m:r>
                      <m:r>
                        <a:rPr lang="en-GB" i="1" dirty="0" smtClean="0">
                          <a:latin typeface="Cambria Math" panose="02040503050406030204" pitchFamily="18" charset="0"/>
                        </a:rPr>
                        <m:t>𝑏</m:t>
                      </m:r>
                    </m:oMath>
                  </m:oMathPara>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7BDE96C0-465C-7952-04EA-C267AC8BF678}"/>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2663" r="-3294"/>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8D24B3D5-2FA4-6434-2E4A-2829B55C775D}"/>
              </a:ext>
            </a:extLst>
          </p:cNvPr>
          <p:cNvPicPr>
            <a:picLocks noChangeAspect="1"/>
          </p:cNvPicPr>
          <p:nvPr/>
        </p:nvPicPr>
        <p:blipFill>
          <a:blip r:embed="rId3"/>
          <a:stretch>
            <a:fillRect/>
          </a:stretch>
        </p:blipFill>
        <p:spPr>
          <a:xfrm>
            <a:off x="6019800" y="4749734"/>
            <a:ext cx="6078333" cy="1597857"/>
          </a:xfrm>
          <a:prstGeom prst="rect">
            <a:avLst/>
          </a:prstGeom>
        </p:spPr>
      </p:pic>
      <p:pic>
        <p:nvPicPr>
          <p:cNvPr id="5" name="Picture 4">
            <a:extLst>
              <a:ext uri="{FF2B5EF4-FFF2-40B4-BE49-F238E27FC236}">
                <a16:creationId xmlns:a16="http://schemas.microsoft.com/office/drawing/2014/main" id="{B348D44A-AA83-81F2-CBCE-9112156D3D52}"/>
              </a:ext>
            </a:extLst>
          </p:cNvPr>
          <p:cNvPicPr>
            <a:picLocks noChangeAspect="1"/>
          </p:cNvPicPr>
          <p:nvPr/>
        </p:nvPicPr>
        <p:blipFill rotWithShape="1">
          <a:blip r:embed="rId4"/>
          <a:srcRect t="17172"/>
          <a:stretch/>
        </p:blipFill>
        <p:spPr>
          <a:xfrm>
            <a:off x="6595744" y="1552834"/>
            <a:ext cx="4758056" cy="3196900"/>
          </a:xfrm>
          <a:prstGeom prst="rect">
            <a:avLst/>
          </a:prstGeom>
        </p:spPr>
      </p:pic>
    </p:spTree>
    <p:extLst>
      <p:ext uri="{BB962C8B-B14F-4D97-AF65-F5344CB8AC3E}">
        <p14:creationId xmlns:p14="http://schemas.microsoft.com/office/powerpoint/2010/main" val="34502733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Let us try different values of (a, b)</a:t>
            </a:r>
            <a:endParaRPr lang="en-SG" dirty="0"/>
          </a:p>
        </p:txBody>
      </p:sp>
      <p:pic>
        <p:nvPicPr>
          <p:cNvPr id="8" name="Picture 7">
            <a:extLst>
              <a:ext uri="{FF2B5EF4-FFF2-40B4-BE49-F238E27FC236}">
                <a16:creationId xmlns:a16="http://schemas.microsoft.com/office/drawing/2014/main" id="{DB3B4344-19C7-806B-06F8-220DD44C2E41}"/>
              </a:ext>
            </a:extLst>
          </p:cNvPr>
          <p:cNvPicPr>
            <a:picLocks noChangeAspect="1"/>
          </p:cNvPicPr>
          <p:nvPr/>
        </p:nvPicPr>
        <p:blipFill>
          <a:blip r:embed="rId2"/>
          <a:stretch>
            <a:fillRect/>
          </a:stretch>
        </p:blipFill>
        <p:spPr>
          <a:xfrm>
            <a:off x="1918197" y="1556867"/>
            <a:ext cx="9953372" cy="5301133"/>
          </a:xfrm>
          <a:prstGeom prst="rect">
            <a:avLst/>
          </a:prstGeom>
        </p:spPr>
      </p:pic>
      <p:sp>
        <p:nvSpPr>
          <p:cNvPr id="9" name="Left Brace 8">
            <a:extLst>
              <a:ext uri="{FF2B5EF4-FFF2-40B4-BE49-F238E27FC236}">
                <a16:creationId xmlns:a16="http://schemas.microsoft.com/office/drawing/2014/main" id="{6165BBB2-AE2F-EB86-BED0-8802CFB1A498}"/>
              </a:ext>
            </a:extLst>
          </p:cNvPr>
          <p:cNvSpPr/>
          <p:nvPr/>
        </p:nvSpPr>
        <p:spPr>
          <a:xfrm>
            <a:off x="1578708" y="2813538"/>
            <a:ext cx="339489" cy="953477"/>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10" name="Rectangle 9">
            <a:extLst>
              <a:ext uri="{FF2B5EF4-FFF2-40B4-BE49-F238E27FC236}">
                <a16:creationId xmlns:a16="http://schemas.microsoft.com/office/drawing/2014/main" id="{1E5AC416-64EA-9BF7-FA4A-DDDAB54809D4}"/>
              </a:ext>
            </a:extLst>
          </p:cNvPr>
          <p:cNvSpPr/>
          <p:nvPr/>
        </p:nvSpPr>
        <p:spPr>
          <a:xfrm>
            <a:off x="216877" y="3024552"/>
            <a:ext cx="1242646" cy="5314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Model 1</a:t>
            </a:r>
            <a:br>
              <a:rPr lang="en-GB" dirty="0"/>
            </a:br>
            <a:r>
              <a:rPr lang="en-GB" dirty="0"/>
              <a:t>(red)</a:t>
            </a:r>
            <a:endParaRPr lang="en-SG" dirty="0"/>
          </a:p>
        </p:txBody>
      </p:sp>
      <p:sp>
        <p:nvSpPr>
          <p:cNvPr id="11" name="Left Brace 10">
            <a:extLst>
              <a:ext uri="{FF2B5EF4-FFF2-40B4-BE49-F238E27FC236}">
                <a16:creationId xmlns:a16="http://schemas.microsoft.com/office/drawing/2014/main" id="{DA2785C3-6185-70A0-12A6-D99A63D185C6}"/>
              </a:ext>
            </a:extLst>
          </p:cNvPr>
          <p:cNvSpPr/>
          <p:nvPr/>
        </p:nvSpPr>
        <p:spPr>
          <a:xfrm>
            <a:off x="1578708" y="3979880"/>
            <a:ext cx="339489" cy="953477"/>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12" name="Rectangle 11">
            <a:extLst>
              <a:ext uri="{FF2B5EF4-FFF2-40B4-BE49-F238E27FC236}">
                <a16:creationId xmlns:a16="http://schemas.microsoft.com/office/drawing/2014/main" id="{7C183724-1784-2493-4DBB-A112357F6851}"/>
              </a:ext>
            </a:extLst>
          </p:cNvPr>
          <p:cNvSpPr/>
          <p:nvPr/>
        </p:nvSpPr>
        <p:spPr>
          <a:xfrm>
            <a:off x="216877" y="4190894"/>
            <a:ext cx="1242646" cy="5314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Model 2</a:t>
            </a:r>
          </a:p>
          <a:p>
            <a:pPr algn="ctr"/>
            <a:r>
              <a:rPr lang="en-GB" dirty="0"/>
              <a:t>(green)</a:t>
            </a:r>
            <a:endParaRPr lang="en-SG" dirty="0"/>
          </a:p>
        </p:txBody>
      </p:sp>
      <p:sp>
        <p:nvSpPr>
          <p:cNvPr id="13" name="Left Brace 12">
            <a:extLst>
              <a:ext uri="{FF2B5EF4-FFF2-40B4-BE49-F238E27FC236}">
                <a16:creationId xmlns:a16="http://schemas.microsoft.com/office/drawing/2014/main" id="{FAE76E91-B35A-D5E2-50F0-33B923A05BA2}"/>
              </a:ext>
            </a:extLst>
          </p:cNvPr>
          <p:cNvSpPr/>
          <p:nvPr/>
        </p:nvSpPr>
        <p:spPr>
          <a:xfrm>
            <a:off x="1578708" y="5090119"/>
            <a:ext cx="339489" cy="953477"/>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14" name="Rectangle 13">
            <a:extLst>
              <a:ext uri="{FF2B5EF4-FFF2-40B4-BE49-F238E27FC236}">
                <a16:creationId xmlns:a16="http://schemas.microsoft.com/office/drawing/2014/main" id="{FBEDE596-BC49-CA2A-02C4-23F0AA094E2D}"/>
              </a:ext>
            </a:extLst>
          </p:cNvPr>
          <p:cNvSpPr/>
          <p:nvPr/>
        </p:nvSpPr>
        <p:spPr>
          <a:xfrm>
            <a:off x="216877" y="5301133"/>
            <a:ext cx="1242646" cy="5314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Model 3</a:t>
            </a:r>
          </a:p>
          <a:p>
            <a:pPr algn="ctr"/>
            <a:r>
              <a:rPr lang="en-GB" dirty="0"/>
              <a:t>(black)</a:t>
            </a:r>
            <a:endParaRPr lang="en-SG" dirty="0"/>
          </a:p>
        </p:txBody>
      </p:sp>
    </p:spTree>
    <p:extLst>
      <p:ext uri="{BB962C8B-B14F-4D97-AF65-F5344CB8AC3E}">
        <p14:creationId xmlns:p14="http://schemas.microsoft.com/office/powerpoint/2010/main" val="31277497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1A3B35-4C52-EF50-DF43-43239424587C}"/>
              </a:ext>
            </a:extLst>
          </p:cNvPr>
          <p:cNvPicPr>
            <a:picLocks noChangeAspect="1"/>
          </p:cNvPicPr>
          <p:nvPr/>
        </p:nvPicPr>
        <p:blipFill>
          <a:blip r:embed="rId2"/>
          <a:stretch>
            <a:fillRect/>
          </a:stretch>
        </p:blipFill>
        <p:spPr>
          <a:xfrm>
            <a:off x="1361414" y="266258"/>
            <a:ext cx="9469171" cy="6325483"/>
          </a:xfrm>
          <a:prstGeom prst="rect">
            <a:avLst/>
          </a:prstGeom>
        </p:spPr>
      </p:pic>
      <p:sp>
        <p:nvSpPr>
          <p:cNvPr id="15" name="TextBox 14">
            <a:extLst>
              <a:ext uri="{FF2B5EF4-FFF2-40B4-BE49-F238E27FC236}">
                <a16:creationId xmlns:a16="http://schemas.microsoft.com/office/drawing/2014/main" id="{F2010053-3709-8C70-9238-AF7D3149AA6C}"/>
              </a:ext>
            </a:extLst>
          </p:cNvPr>
          <p:cNvSpPr txBox="1"/>
          <p:nvPr/>
        </p:nvSpPr>
        <p:spPr>
          <a:xfrm>
            <a:off x="2063421" y="1120675"/>
            <a:ext cx="4298462" cy="2308324"/>
          </a:xfrm>
          <a:prstGeom prst="rect">
            <a:avLst/>
          </a:prstGeom>
          <a:noFill/>
        </p:spPr>
        <p:txBody>
          <a:bodyPr wrap="square" rtlCol="0">
            <a:spAutoFit/>
          </a:bodyPr>
          <a:lstStyle/>
          <a:p>
            <a:pPr algn="ctr"/>
            <a:r>
              <a:rPr lang="en-GB" sz="2400" b="1" dirty="0">
                <a:solidFill>
                  <a:schemeClr val="accent2"/>
                </a:solidFill>
              </a:rPr>
              <a:t>Which model is the best fit for this task in your opinion?</a:t>
            </a:r>
            <a:br>
              <a:rPr lang="en-GB" sz="2400" b="1" dirty="0">
                <a:solidFill>
                  <a:schemeClr val="accent2"/>
                </a:solidFill>
              </a:rPr>
            </a:br>
            <a:r>
              <a:rPr lang="en-GB" sz="2400" b="1" dirty="0">
                <a:solidFill>
                  <a:schemeClr val="accent2"/>
                </a:solidFill>
              </a:rPr>
              <a:t>(red, green or black?)</a:t>
            </a:r>
          </a:p>
          <a:p>
            <a:pPr algn="ctr"/>
            <a:endParaRPr lang="en-GB" sz="2400" b="1" dirty="0">
              <a:solidFill>
                <a:schemeClr val="accent2"/>
              </a:solidFill>
            </a:endParaRPr>
          </a:p>
          <a:p>
            <a:pPr algn="ctr"/>
            <a:r>
              <a:rPr lang="en-GB" sz="2400" b="1" dirty="0">
                <a:solidFill>
                  <a:schemeClr val="accent2"/>
                </a:solidFill>
              </a:rPr>
              <a:t>Why is one better than another?</a:t>
            </a:r>
            <a:endParaRPr lang="en-SG" sz="2400" b="1" dirty="0">
              <a:solidFill>
                <a:schemeClr val="accent2"/>
              </a:solidFill>
            </a:endParaRPr>
          </a:p>
        </p:txBody>
      </p:sp>
    </p:spTree>
    <p:extLst>
      <p:ext uri="{BB962C8B-B14F-4D97-AF65-F5344CB8AC3E}">
        <p14:creationId xmlns:p14="http://schemas.microsoft.com/office/powerpoint/2010/main" val="38668671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4629-7F60-E5FD-B47D-000457F3C699}"/>
              </a:ext>
            </a:extLst>
          </p:cNvPr>
          <p:cNvSpPr>
            <a:spLocks noGrp="1"/>
          </p:cNvSpPr>
          <p:nvPr>
            <p:ph type="title"/>
          </p:nvPr>
        </p:nvSpPr>
        <p:spPr/>
        <p:txBody>
          <a:bodyPr/>
          <a:lstStyle/>
          <a:p>
            <a:r>
              <a:rPr lang="en-GB" dirty="0"/>
              <a:t>The need for a loss function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AE63A8-7CB3-9103-18B5-4F57A6F933B5}"/>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Telling which model is best at a given ML task can prove difficult, especially for close values of its trainable parameters, here </a:t>
                </a:r>
                <a14:m>
                  <m:oMath xmlns:m="http://schemas.openxmlformats.org/officeDocument/2006/math">
                    <m:r>
                      <a:rPr lang="en-GB" b="1" i="1" dirty="0" smtClean="0">
                        <a:latin typeface="Cambria Math" panose="02040503050406030204" pitchFamily="18" charset="0"/>
                      </a:rPr>
                      <m:t>(</m:t>
                    </m:r>
                    <m:r>
                      <a:rPr lang="en-GB" b="1" i="1" dirty="0" smtClean="0">
                        <a:latin typeface="Cambria Math" panose="02040503050406030204" pitchFamily="18" charset="0"/>
                      </a:rPr>
                      <m:t>𝒂</m:t>
                    </m:r>
                    <m:r>
                      <a:rPr lang="en-GB" b="1" i="1" dirty="0" smtClean="0">
                        <a:latin typeface="Cambria Math" panose="02040503050406030204" pitchFamily="18" charset="0"/>
                      </a:rPr>
                      <m:t>, </m:t>
                    </m:r>
                    <m:r>
                      <a:rPr lang="en-GB" b="1" i="1" dirty="0" smtClean="0">
                        <a:latin typeface="Cambria Math" panose="02040503050406030204" pitchFamily="18" charset="0"/>
                      </a:rPr>
                      <m:t>𝒃</m:t>
                    </m:r>
                    <m:r>
                      <a:rPr lang="en-GB" b="1" i="1" dirty="0" smtClean="0">
                        <a:latin typeface="Cambria Math" panose="02040503050406030204" pitchFamily="18" charset="0"/>
                      </a:rPr>
                      <m:t>).</m:t>
                    </m:r>
                  </m:oMath>
                </a14:m>
                <a:endParaRPr lang="en-GB" b="1" dirty="0"/>
              </a:p>
              <a:p>
                <a:pPr marL="0" indent="0">
                  <a:buNone/>
                </a:pPr>
                <a:endParaRPr lang="en-GB" b="1" dirty="0"/>
              </a:p>
              <a:p>
                <a:pPr marL="0" indent="0">
                  <a:buNone/>
                </a:pPr>
                <a:r>
                  <a:rPr lang="en-GB" b="1" dirty="0"/>
                  <a:t>Good news, there is one last element we have not used yet.</a:t>
                </a:r>
              </a:p>
              <a:p>
                <a:pPr marL="514350" indent="-514350">
                  <a:buFont typeface="+mj-lt"/>
                  <a:buAutoNum type="arabicPeriod" startAt="4"/>
                </a:pPr>
                <a:r>
                  <a:rPr lang="en-GB" b="1" dirty="0"/>
                  <a:t>Loss</a:t>
                </a:r>
                <a:r>
                  <a:rPr lang="en-GB" dirty="0"/>
                  <a:t> </a:t>
                </a:r>
                <a:r>
                  <a:rPr lang="en-GB" b="1" dirty="0"/>
                  <a:t>(L) </a:t>
                </a:r>
                <a:r>
                  <a:rPr lang="en-GB" dirty="0"/>
                  <a:t>function to measure the performance of the current model and its current parameters on said task and dataset.</a:t>
                </a:r>
              </a:p>
            </p:txBody>
          </p:sp>
        </mc:Choice>
        <mc:Fallback xmlns="">
          <p:sp>
            <p:nvSpPr>
              <p:cNvPr id="3" name="Content Placeholder 2">
                <a:extLst>
                  <a:ext uri="{FF2B5EF4-FFF2-40B4-BE49-F238E27FC236}">
                    <a16:creationId xmlns:a16="http://schemas.microsoft.com/office/drawing/2014/main" id="{9BAE63A8-7CB3-9103-18B5-4F57A6F933B5}"/>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2663" r="-1294"/>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32D88892-9633-DBDC-A0D0-C687B3D62E5D}"/>
              </a:ext>
            </a:extLst>
          </p:cNvPr>
          <p:cNvSpPr txBox="1"/>
          <p:nvPr/>
        </p:nvSpPr>
        <p:spPr>
          <a:xfrm>
            <a:off x="7381870" y="939798"/>
            <a:ext cx="4298462" cy="2308324"/>
          </a:xfrm>
          <a:prstGeom prst="rect">
            <a:avLst/>
          </a:prstGeom>
          <a:noFill/>
        </p:spPr>
        <p:txBody>
          <a:bodyPr wrap="square" rtlCol="0">
            <a:spAutoFit/>
          </a:bodyPr>
          <a:lstStyle/>
          <a:p>
            <a:pPr algn="ctr"/>
            <a:r>
              <a:rPr lang="en-GB" sz="2400" b="1" dirty="0">
                <a:solidFill>
                  <a:schemeClr val="accent2"/>
                </a:solidFill>
              </a:rPr>
              <a:t>Which model is the best fit for this task in your opinion?</a:t>
            </a:r>
            <a:br>
              <a:rPr lang="en-GB" sz="2400" b="1" dirty="0">
                <a:solidFill>
                  <a:schemeClr val="accent2"/>
                </a:solidFill>
              </a:rPr>
            </a:br>
            <a:r>
              <a:rPr lang="en-GB" sz="2400" b="1" dirty="0">
                <a:solidFill>
                  <a:schemeClr val="accent2"/>
                </a:solidFill>
              </a:rPr>
              <a:t>(red, green or black?)</a:t>
            </a:r>
          </a:p>
          <a:p>
            <a:pPr algn="ctr"/>
            <a:endParaRPr lang="en-GB" sz="2400" b="1" dirty="0">
              <a:solidFill>
                <a:schemeClr val="accent2"/>
              </a:solidFill>
            </a:endParaRPr>
          </a:p>
          <a:p>
            <a:pPr algn="ctr"/>
            <a:r>
              <a:rPr lang="en-GB" sz="2400" b="1" dirty="0">
                <a:solidFill>
                  <a:schemeClr val="accent2"/>
                </a:solidFill>
              </a:rPr>
              <a:t>Why is one better than another?</a:t>
            </a:r>
            <a:endParaRPr lang="en-SG" sz="2400" b="1" dirty="0">
              <a:solidFill>
                <a:schemeClr val="accent2"/>
              </a:solidFill>
            </a:endParaRPr>
          </a:p>
        </p:txBody>
      </p:sp>
      <p:pic>
        <p:nvPicPr>
          <p:cNvPr id="6" name="Picture 5">
            <a:extLst>
              <a:ext uri="{FF2B5EF4-FFF2-40B4-BE49-F238E27FC236}">
                <a16:creationId xmlns:a16="http://schemas.microsoft.com/office/drawing/2014/main" id="{50784584-1719-83C3-BA9E-BC257672B933}"/>
              </a:ext>
            </a:extLst>
          </p:cNvPr>
          <p:cNvPicPr>
            <a:picLocks noChangeAspect="1"/>
          </p:cNvPicPr>
          <p:nvPr/>
        </p:nvPicPr>
        <p:blipFill>
          <a:blip r:embed="rId3"/>
          <a:stretch>
            <a:fillRect/>
          </a:stretch>
        </p:blipFill>
        <p:spPr>
          <a:xfrm>
            <a:off x="6770077" y="3248122"/>
            <a:ext cx="5181600" cy="3461350"/>
          </a:xfrm>
          <a:prstGeom prst="rect">
            <a:avLst/>
          </a:prstGeom>
        </p:spPr>
      </p:pic>
    </p:spTree>
    <p:extLst>
      <p:ext uri="{BB962C8B-B14F-4D97-AF65-F5344CB8AC3E}">
        <p14:creationId xmlns:p14="http://schemas.microsoft.com/office/powerpoint/2010/main" val="33461558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4629-7F60-E5FD-B47D-000457F3C699}"/>
              </a:ext>
            </a:extLst>
          </p:cNvPr>
          <p:cNvSpPr>
            <a:spLocks noGrp="1"/>
          </p:cNvSpPr>
          <p:nvPr>
            <p:ph type="title"/>
          </p:nvPr>
        </p:nvSpPr>
        <p:spPr/>
        <p:txBody>
          <a:bodyPr/>
          <a:lstStyle/>
          <a:p>
            <a:r>
              <a:rPr lang="en-GB" dirty="0"/>
              <a:t>The need for a loss function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AE63A8-7CB3-9103-18B5-4F57A6F933B5}"/>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Loss</a:t>
                </a:r>
                <a:r>
                  <a:rPr lang="en-GB" b="1" dirty="0"/>
                  <a:t> function):</a:t>
                </a:r>
              </a:p>
              <a:p>
                <a:pPr marL="0" indent="0">
                  <a:buNone/>
                </a:pPr>
                <a:r>
                  <a:rPr lang="en-GB" dirty="0"/>
                  <a:t>A </a:t>
                </a:r>
                <a:r>
                  <a:rPr lang="en-GB" b="1" dirty="0">
                    <a:solidFill>
                      <a:srgbClr val="00B050"/>
                    </a:solidFill>
                  </a:rPr>
                  <a:t>loss</a:t>
                </a:r>
                <a:r>
                  <a:rPr lang="en-GB" dirty="0"/>
                  <a:t> </a:t>
                </a:r>
                <a:r>
                  <a:rPr lang="en-GB" b="1" dirty="0"/>
                  <a:t>function </a:t>
                </a:r>
                <a:r>
                  <a:rPr lang="en-GB" dirty="0"/>
                  <a:t>(also known as a </a:t>
                </a:r>
                <a:r>
                  <a:rPr lang="en-GB" b="1" dirty="0">
                    <a:solidFill>
                      <a:srgbClr val="00B050"/>
                    </a:solidFill>
                  </a:rPr>
                  <a:t>cost</a:t>
                </a:r>
                <a:r>
                  <a:rPr lang="en-GB" dirty="0"/>
                  <a:t> </a:t>
                </a:r>
                <a:r>
                  <a:rPr lang="en-GB" b="1" dirty="0"/>
                  <a:t>function</a:t>
                </a:r>
                <a:r>
                  <a:rPr lang="en-GB" dirty="0"/>
                  <a:t>) is a mathematical function that measures the difference between the predicted outputs of a model and the true outputs we should be matching.</a:t>
                </a:r>
              </a:p>
              <a:p>
                <a:pPr marL="0" indent="0">
                  <a:buNone/>
                </a:pPr>
                <a:r>
                  <a:rPr lang="en-GB" dirty="0"/>
                  <a:t>It is typically used to:</a:t>
                </a:r>
              </a:p>
              <a:p>
                <a:r>
                  <a:rPr lang="en-GB" b="1" dirty="0"/>
                  <a:t>Evaluate the performance of the model,</a:t>
                </a:r>
              </a:p>
              <a:p>
                <a:r>
                  <a:rPr lang="en-GB" dirty="0"/>
                  <a:t>And more specifically </a:t>
                </a:r>
                <a:r>
                  <a:rPr lang="en-GB" b="1" dirty="0"/>
                  <a:t>evaluate how good our choice of trainable parameters </a:t>
                </a:r>
                <a:r>
                  <a:rPr lang="en-GB" dirty="0"/>
                  <a:t>(here, the parameters </a:t>
                </a:r>
                <a14:m>
                  <m:oMath xmlns:m="http://schemas.openxmlformats.org/officeDocument/2006/math">
                    <m:r>
                      <a:rPr lang="en-GB" i="1" dirty="0" smtClean="0">
                        <a:latin typeface="Cambria Math" panose="02040503050406030204" pitchFamily="18" charset="0"/>
                      </a:rPr>
                      <m:t>𝑎</m:t>
                    </m:r>
                  </m:oMath>
                </a14:m>
                <a:r>
                  <a:rPr lang="en-GB" dirty="0"/>
                  <a:t> and </a:t>
                </a:r>
                <a14:m>
                  <m:oMath xmlns:m="http://schemas.openxmlformats.org/officeDocument/2006/math">
                    <m:r>
                      <a:rPr lang="en-GB" i="1" dirty="0" smtClean="0">
                        <a:latin typeface="Cambria Math" panose="02040503050406030204" pitchFamily="18" charset="0"/>
                      </a:rPr>
                      <m:t>𝑏</m:t>
                    </m:r>
                  </m:oMath>
                </a14:m>
                <a:r>
                  <a:rPr lang="en-GB" dirty="0"/>
                  <a:t>) are at fitting the data.</a:t>
                </a:r>
              </a:p>
              <a:p>
                <a:pPr marL="0" indent="0">
                  <a:buNone/>
                </a:pPr>
                <a:r>
                  <a:rPr lang="en-GB" dirty="0"/>
                  <a:t>More importantly, the </a:t>
                </a:r>
                <a:r>
                  <a:rPr lang="en-GB" b="1" dirty="0">
                    <a:solidFill>
                      <a:srgbClr val="00B050"/>
                    </a:solidFill>
                  </a:rPr>
                  <a:t>loss</a:t>
                </a:r>
                <a:r>
                  <a:rPr lang="en-GB" dirty="0"/>
                  <a:t> function is used to guide the optimization process during </a:t>
                </a:r>
                <a:r>
                  <a:rPr lang="en-GB" b="1" dirty="0">
                    <a:solidFill>
                      <a:srgbClr val="7030A0"/>
                    </a:solidFill>
                  </a:rPr>
                  <a:t>training</a:t>
                </a:r>
                <a:r>
                  <a:rPr lang="en-GB" dirty="0"/>
                  <a:t>.</a:t>
                </a:r>
              </a:p>
            </p:txBody>
          </p:sp>
        </mc:Choice>
        <mc:Fallback xmlns="">
          <p:sp>
            <p:nvSpPr>
              <p:cNvPr id="3" name="Content Placeholder 2">
                <a:extLst>
                  <a:ext uri="{FF2B5EF4-FFF2-40B4-BE49-F238E27FC236}">
                    <a16:creationId xmlns:a16="http://schemas.microsoft.com/office/drawing/2014/main" id="{9BAE63A8-7CB3-9103-18B5-4F57A6F933B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24912886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4629-7F60-E5FD-B47D-000457F3C699}"/>
              </a:ext>
            </a:extLst>
          </p:cNvPr>
          <p:cNvSpPr>
            <a:spLocks noGrp="1"/>
          </p:cNvSpPr>
          <p:nvPr>
            <p:ph type="title"/>
          </p:nvPr>
        </p:nvSpPr>
        <p:spPr/>
        <p:txBody>
          <a:bodyPr/>
          <a:lstStyle/>
          <a:p>
            <a:r>
              <a:rPr lang="en-GB" dirty="0"/>
              <a:t>The need for a loss function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AE63A8-7CB3-9103-18B5-4F57A6F933B5}"/>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Definition (</a:t>
                </a:r>
                <a:r>
                  <a:rPr lang="en-GB" b="1" dirty="0">
                    <a:solidFill>
                      <a:srgbClr val="00B050"/>
                    </a:solidFill>
                  </a:rPr>
                  <a:t>The Mean Square Error loss function</a:t>
                </a:r>
                <a:r>
                  <a:rPr lang="en-GB" b="1" dirty="0"/>
                  <a:t>):</a:t>
                </a:r>
              </a:p>
              <a:p>
                <a:pPr marL="0" indent="0">
                  <a:buNone/>
                </a:pPr>
                <a:r>
                  <a:rPr lang="en-GB" dirty="0"/>
                  <a:t>In our linear model, a good loss function we could use consists of the </a:t>
                </a:r>
                <a:r>
                  <a:rPr lang="en-GB" b="1" dirty="0">
                    <a:solidFill>
                      <a:srgbClr val="00B050"/>
                    </a:solidFill>
                  </a:rPr>
                  <a:t>Mean Square Error (MSE) loss function</a:t>
                </a:r>
                <a:r>
                  <a:rPr lang="en-GB" dirty="0"/>
                  <a:t>.</a:t>
                </a:r>
              </a:p>
              <a:p>
                <a:pPr marL="0" indent="0">
                  <a:buNone/>
                </a:pPr>
                <a:r>
                  <a:rPr lang="en-GB" dirty="0"/>
                  <a:t>The MSE is computed by calculating the square difference between:</a:t>
                </a:r>
              </a:p>
              <a:p>
                <a:r>
                  <a:rPr lang="en-GB" dirty="0"/>
                  <a:t>The </a:t>
                </a:r>
                <a:r>
                  <a:rPr lang="en-GB" b="1" dirty="0"/>
                  <a:t>prediction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𝒑</m:t>
                        </m:r>
                      </m:e>
                      <m:sub>
                        <m:r>
                          <a:rPr lang="en-GB" b="1" i="1" smtClean="0">
                            <a:latin typeface="Cambria Math" panose="02040503050406030204" pitchFamily="18" charset="0"/>
                          </a:rPr>
                          <m:t>𝒊</m:t>
                        </m:r>
                      </m:sub>
                    </m:sSub>
                    <m:r>
                      <a:rPr lang="en-GB" b="1"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r>
                          <a:rPr lang="en-GB" b="1" i="1" smtClean="0">
                            <a:latin typeface="Cambria Math" panose="02040503050406030204" pitchFamily="18" charset="0"/>
                          </a:rPr>
                          <m:t>𝒊</m:t>
                        </m:r>
                      </m:sub>
                    </m:sSub>
                    <m:r>
                      <a:rPr lang="en-GB" b="1" i="1" smtClean="0">
                        <a:latin typeface="Cambria Math" panose="02040503050406030204" pitchFamily="18" charset="0"/>
                      </a:rPr>
                      <m:t>,</m:t>
                    </m:r>
                    <m:r>
                      <a:rPr lang="en-GB" b="1" i="1" smtClean="0">
                        <a:latin typeface="Cambria Math" panose="02040503050406030204" pitchFamily="18" charset="0"/>
                      </a:rPr>
                      <m:t>𝒂</m:t>
                    </m:r>
                    <m:r>
                      <a:rPr lang="en-GB" b="1" i="1" smtClean="0">
                        <a:latin typeface="Cambria Math" panose="02040503050406030204" pitchFamily="18" charset="0"/>
                      </a:rPr>
                      <m:t>,</m:t>
                    </m:r>
                    <m:r>
                      <a:rPr lang="en-GB" b="1" i="1" smtClean="0">
                        <a:latin typeface="Cambria Math" panose="02040503050406030204" pitchFamily="18" charset="0"/>
                      </a:rPr>
                      <m:t>𝒃</m:t>
                    </m:r>
                    <m:r>
                      <a:rPr lang="en-GB" b="1" i="1" smtClean="0">
                        <a:latin typeface="Cambria Math" panose="02040503050406030204" pitchFamily="18" charset="0"/>
                      </a:rPr>
                      <m:t>)=</m:t>
                    </m:r>
                    <m:r>
                      <a:rPr lang="en-GB" b="1" i="1" smtClean="0">
                        <a:latin typeface="Cambria Math" panose="02040503050406030204" pitchFamily="18" charset="0"/>
                      </a:rPr>
                      <m:t>𝒂</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r>
                          <a:rPr lang="en-GB" b="1" i="1" smtClean="0">
                            <a:latin typeface="Cambria Math" panose="02040503050406030204" pitchFamily="18" charset="0"/>
                          </a:rPr>
                          <m:t>𝒊</m:t>
                        </m:r>
                      </m:sub>
                    </m:sSub>
                    <m:r>
                      <a:rPr lang="en-GB" b="1" i="1" smtClean="0">
                        <a:latin typeface="Cambria Math" panose="02040503050406030204" pitchFamily="18" charset="0"/>
                      </a:rPr>
                      <m:t>+</m:t>
                    </m:r>
                    <m:r>
                      <a:rPr lang="en-GB" b="1" i="1" smtClean="0">
                        <a:latin typeface="Cambria Math" panose="02040503050406030204" pitchFamily="18" charset="0"/>
                      </a:rPr>
                      <m:t>𝒃</m:t>
                    </m:r>
                    <m:r>
                      <a:rPr lang="en-GB" b="1" i="1" smtClean="0">
                        <a:latin typeface="Cambria Math" panose="02040503050406030204" pitchFamily="18" charset="0"/>
                      </a:rPr>
                      <m:t> </m:t>
                    </m:r>
                  </m:oMath>
                </a14:m>
                <a:r>
                  <a:rPr lang="en-GB" dirty="0"/>
                  <a:t>formed by the model for some given inputs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a14:m>
                <a:r>
                  <a:rPr lang="en-GB" dirty="0"/>
                  <a:t>,</a:t>
                </a:r>
              </a:p>
              <a:p>
                <a:r>
                  <a:rPr lang="en-GB" dirty="0"/>
                  <a:t>The </a:t>
                </a:r>
                <a:r>
                  <a:rPr lang="en-GB" b="1" dirty="0"/>
                  <a:t>true value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𝒚</m:t>
                        </m:r>
                      </m:e>
                      <m:sub>
                        <m:r>
                          <a:rPr lang="en-GB" b="1" i="1" smtClean="0">
                            <a:latin typeface="Cambria Math" panose="02040503050406030204" pitchFamily="18" charset="0"/>
                          </a:rPr>
                          <m:t>𝒊</m:t>
                        </m:r>
                      </m:sub>
                    </m:sSub>
                  </m:oMath>
                </a14:m>
                <a:r>
                  <a:rPr lang="en-GB" dirty="0"/>
                  <a:t> that we should be matching.</a:t>
                </a:r>
              </a:p>
              <a:p>
                <a:pPr marL="0" indent="0">
                  <a:buNone/>
                </a:pPr>
                <a:r>
                  <a:rPr lang="en-GB" dirty="0"/>
                  <a:t>We then repeat this operation for every sample </a:t>
                </a:r>
                <a14:m>
                  <m:oMath xmlns:m="http://schemas.openxmlformats.org/officeDocument/2006/math">
                    <m:r>
                      <a:rPr lang="en-GB" b="0" i="1" dirty="0" smtClean="0">
                        <a:latin typeface="Cambria Math" panose="02040503050406030204" pitchFamily="18" charset="0"/>
                      </a:rPr>
                      <m:t>𝑖</m:t>
                    </m:r>
                  </m:oMath>
                </a14:m>
                <a:r>
                  <a:rPr lang="en-GB" dirty="0"/>
                  <a:t>, and average those errors together, i.e.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𝐿</m:t>
                      </m:r>
                      <m:d>
                        <m:dPr>
                          <m:ctrlPr>
                            <a:rPr lang="en-GB" b="0" i="1" smtClean="0">
                              <a:latin typeface="Cambria Math" panose="02040503050406030204" pitchFamily="18" charset="0"/>
                            </a:rPr>
                          </m:ctrlPr>
                        </m:dPr>
                        <m:e>
                          <m:r>
                            <a:rPr lang="en-GB" b="0" i="1" smtClean="0">
                              <a:latin typeface="Cambria Math" panose="02040503050406030204" pitchFamily="18" charset="0"/>
                            </a:rPr>
                            <m:t>𝑎</m:t>
                          </m:r>
                          <m:r>
                            <a:rPr lang="en-GB" b="0" i="1" smtClean="0">
                              <a:latin typeface="Cambria Math" panose="02040503050406030204" pitchFamily="18" charset="0"/>
                            </a:rPr>
                            <m:t>, </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 </m:t>
                          </m:r>
                          <m:r>
                            <a:rPr lang="en-GB" b="0" i="1" smtClean="0">
                              <a:latin typeface="Cambria Math" panose="02040503050406030204" pitchFamily="18" charset="0"/>
                            </a:rPr>
                            <m:t>𝑦</m:t>
                          </m:r>
                        </m:e>
                      </m:d>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𝑁</m:t>
                          </m:r>
                        </m:den>
                      </m:f>
                      <m:nary>
                        <m:naryPr>
                          <m:chr m:val="∑"/>
                          <m:ctrlPr>
                            <a:rPr lang="en-GB" i="1">
                              <a:latin typeface="Cambria Math" panose="02040503050406030204" pitchFamily="18" charset="0"/>
                            </a:rPr>
                          </m:ctrlPr>
                        </m:naryPr>
                        <m:sub>
                          <m: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r>
                                        <a:rPr lang="en-GB" b="0" i="1" smtClean="0">
                                          <a:latin typeface="Cambria Math" panose="02040503050406030204" pitchFamily="18" charset="0"/>
                                        </a:rPr>
                                        <m:t>, </m:t>
                                      </m:r>
                                      <m:r>
                                        <a:rPr lang="en-GB" b="0" i="1" smtClean="0">
                                          <a:latin typeface="Cambria Math" panose="02040503050406030204" pitchFamily="18" charset="0"/>
                                        </a:rPr>
                                        <m:t>𝑎</m:t>
                                      </m:r>
                                      <m:r>
                                        <a:rPr lang="en-GB" b="0" i="1" smtClean="0">
                                          <a:latin typeface="Cambria Math" panose="02040503050406030204" pitchFamily="18" charset="0"/>
                                        </a:rPr>
                                        <m:t>, </m:t>
                                      </m:r>
                                      <m:r>
                                        <a:rPr lang="en-GB" b="0" i="1" smtClean="0">
                                          <a:latin typeface="Cambria Math" panose="02040503050406030204" pitchFamily="18" charset="0"/>
                                        </a:rPr>
                                        <m:t>𝑏</m:t>
                                      </m:r>
                                    </m:e>
                                  </m:d>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e>
                              </m:d>
                            </m:e>
                            <m:sup>
                              <m:r>
                                <a:rPr lang="en-GB" i="1">
                                  <a:latin typeface="Cambria Math" panose="02040503050406030204" pitchFamily="18" charset="0"/>
                                </a:rPr>
                                <m:t>2</m:t>
                              </m:r>
                            </m:sup>
                          </m:sSup>
                        </m:e>
                      </m:nary>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𝑁</m:t>
                          </m:r>
                        </m:den>
                      </m:f>
                      <m:nary>
                        <m:naryPr>
                          <m:chr m:val="∑"/>
                          <m:ctrlPr>
                            <a:rPr lang="en-GB" b="0" i="1" smtClean="0">
                              <a:latin typeface="Cambria Math" panose="02040503050406030204" pitchFamily="18" charset="0"/>
                            </a:rPr>
                          </m:ctrlPr>
                        </m:naryPr>
                        <m:sub>
                          <m: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𝑁</m:t>
                          </m:r>
                        </m:sup>
                        <m:e>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𝑎</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e>
                              </m:d>
                            </m:e>
                            <m:sup>
                              <m:r>
                                <a:rPr lang="en-GB" b="0" i="1" smtClean="0">
                                  <a:latin typeface="Cambria Math" panose="02040503050406030204" pitchFamily="18" charset="0"/>
                                </a:rPr>
                                <m:t>2</m:t>
                              </m:r>
                            </m:sup>
                          </m:sSup>
                        </m:e>
                      </m:nary>
                    </m:oMath>
                  </m:oMathPara>
                </a14:m>
                <a:endParaRPr lang="en-GB" dirty="0"/>
              </a:p>
            </p:txBody>
          </p:sp>
        </mc:Choice>
        <mc:Fallback xmlns="">
          <p:sp>
            <p:nvSpPr>
              <p:cNvPr id="3" name="Content Placeholder 2">
                <a:extLst>
                  <a:ext uri="{FF2B5EF4-FFF2-40B4-BE49-F238E27FC236}">
                    <a16:creationId xmlns:a16="http://schemas.microsoft.com/office/drawing/2014/main" id="{9BAE63A8-7CB3-9103-18B5-4F57A6F933B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2663" r="-754"/>
                </a:stretch>
              </a:blipFill>
            </p:spPr>
            <p:txBody>
              <a:bodyPr/>
              <a:lstStyle/>
              <a:p>
                <a:r>
                  <a:rPr lang="en-GB">
                    <a:noFill/>
                  </a:rPr>
                  <a:t> </a:t>
                </a:r>
              </a:p>
            </p:txBody>
          </p:sp>
        </mc:Fallback>
      </mc:AlternateContent>
    </p:spTree>
    <p:extLst>
      <p:ext uri="{BB962C8B-B14F-4D97-AF65-F5344CB8AC3E}">
        <p14:creationId xmlns:p14="http://schemas.microsoft.com/office/powerpoint/2010/main" val="27594855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4629-7F60-E5FD-B47D-000457F3C699}"/>
              </a:ext>
            </a:extLst>
          </p:cNvPr>
          <p:cNvSpPr>
            <a:spLocks noGrp="1"/>
          </p:cNvSpPr>
          <p:nvPr>
            <p:ph type="title"/>
          </p:nvPr>
        </p:nvSpPr>
        <p:spPr/>
        <p:txBody>
          <a:bodyPr/>
          <a:lstStyle/>
          <a:p>
            <a:r>
              <a:rPr lang="en-GB" dirty="0"/>
              <a:t>The need for a loss function</a:t>
            </a:r>
            <a:endParaRPr lang="en-SG" dirty="0"/>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C01F69F6-3E0F-E38F-484D-3B30241DEB79}"/>
                  </a:ext>
                </a:extLst>
              </p:cNvPr>
              <p:cNvSpPr>
                <a:spLocks noGrp="1"/>
              </p:cNvSpPr>
              <p:nvPr>
                <p:ph idx="1"/>
              </p:nvPr>
            </p:nvSpPr>
            <p:spPr/>
            <p:txBody>
              <a:bodyPr/>
              <a:lstStyle/>
              <a:p>
                <a:pPr marL="0" indent="0">
                  <a:buNone/>
                </a:pPr>
                <a:r>
                  <a:rPr lang="en-GB" b="0" dirty="0"/>
                  <a:t>Recall the definition of the MSE loss function</a:t>
                </a: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𝐿</m:t>
                      </m:r>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 </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 </m:t>
                      </m:r>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𝑁</m:t>
                          </m:r>
                        </m:den>
                      </m:f>
                      <m:nary>
                        <m:naryPr>
                          <m:chr m:val="∑"/>
                          <m:ctrlPr>
                            <a:rPr lang="en-GB" b="0" i="1" smtClean="0">
                              <a:latin typeface="Cambria Math" panose="02040503050406030204" pitchFamily="18" charset="0"/>
                            </a:rPr>
                          </m:ctrlPr>
                        </m:naryPr>
                        <m:sub>
                          <m: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𝑁</m:t>
                          </m:r>
                        </m:sup>
                        <m:e>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𝑎</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e>
                              </m:d>
                            </m:e>
                            <m:sup>
                              <m:r>
                                <a:rPr lang="en-GB" b="0" i="1" smtClean="0">
                                  <a:latin typeface="Cambria Math" panose="02040503050406030204" pitchFamily="18" charset="0"/>
                                </a:rPr>
                                <m:t>2</m:t>
                              </m:r>
                            </m:sup>
                          </m:sSup>
                        </m:e>
                      </m:nary>
                    </m:oMath>
                  </m:oMathPara>
                </a14:m>
                <a:endParaRPr lang="en-GB" dirty="0"/>
              </a:p>
              <a:p>
                <a:pPr marL="0" indent="0">
                  <a:buNone/>
                </a:pPr>
                <a:endParaRPr lang="en-SG" dirty="0"/>
              </a:p>
            </p:txBody>
          </p:sp>
        </mc:Choice>
        <mc:Fallback xmlns="">
          <p:sp>
            <p:nvSpPr>
              <p:cNvPr id="9" name="Content Placeholder 8">
                <a:extLst>
                  <a:ext uri="{FF2B5EF4-FFF2-40B4-BE49-F238E27FC236}">
                    <a16:creationId xmlns:a16="http://schemas.microsoft.com/office/drawing/2014/main" id="{C01F69F6-3E0F-E38F-484D-3B30241DEB79}"/>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pic>
        <p:nvPicPr>
          <p:cNvPr id="7" name="Picture 6">
            <a:extLst>
              <a:ext uri="{FF2B5EF4-FFF2-40B4-BE49-F238E27FC236}">
                <a16:creationId xmlns:a16="http://schemas.microsoft.com/office/drawing/2014/main" id="{A2077BDC-86D6-5F7D-C01A-29B9F57D8431}"/>
              </a:ext>
            </a:extLst>
          </p:cNvPr>
          <p:cNvPicPr>
            <a:picLocks noChangeAspect="1"/>
          </p:cNvPicPr>
          <p:nvPr/>
        </p:nvPicPr>
        <p:blipFill>
          <a:blip r:embed="rId3"/>
          <a:stretch>
            <a:fillRect/>
          </a:stretch>
        </p:blipFill>
        <p:spPr>
          <a:xfrm>
            <a:off x="1225055" y="4018772"/>
            <a:ext cx="10128745" cy="2794530"/>
          </a:xfrm>
          <a:prstGeom prst="rect">
            <a:avLst/>
          </a:prstGeom>
        </p:spPr>
      </p:pic>
    </p:spTree>
    <p:extLst>
      <p:ext uri="{BB962C8B-B14F-4D97-AF65-F5344CB8AC3E}">
        <p14:creationId xmlns:p14="http://schemas.microsoft.com/office/powerpoint/2010/main" val="35779310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C6B1DC-B350-C577-509C-E6AD15AD34C7}"/>
              </a:ext>
            </a:extLst>
          </p:cNvPr>
          <p:cNvPicPr>
            <a:picLocks noChangeAspect="1"/>
          </p:cNvPicPr>
          <p:nvPr/>
        </p:nvPicPr>
        <p:blipFill>
          <a:blip r:embed="rId2"/>
          <a:stretch>
            <a:fillRect/>
          </a:stretch>
        </p:blipFill>
        <p:spPr>
          <a:xfrm>
            <a:off x="1351888" y="266258"/>
            <a:ext cx="9488224" cy="6325483"/>
          </a:xfrm>
          <a:prstGeom prst="rect">
            <a:avLst/>
          </a:prstGeom>
        </p:spPr>
      </p:pic>
      <p:sp>
        <p:nvSpPr>
          <p:cNvPr id="3" name="TextBox 2">
            <a:extLst>
              <a:ext uri="{FF2B5EF4-FFF2-40B4-BE49-F238E27FC236}">
                <a16:creationId xmlns:a16="http://schemas.microsoft.com/office/drawing/2014/main" id="{BDCB8F96-4164-EB2B-649A-BA19BCB86069}"/>
              </a:ext>
            </a:extLst>
          </p:cNvPr>
          <p:cNvSpPr txBox="1"/>
          <p:nvPr/>
        </p:nvSpPr>
        <p:spPr>
          <a:xfrm>
            <a:off x="2021930" y="1120675"/>
            <a:ext cx="4298462" cy="2308324"/>
          </a:xfrm>
          <a:prstGeom prst="rect">
            <a:avLst/>
          </a:prstGeom>
          <a:noFill/>
        </p:spPr>
        <p:txBody>
          <a:bodyPr wrap="square" rtlCol="0">
            <a:spAutoFit/>
          </a:bodyPr>
          <a:lstStyle/>
          <a:p>
            <a:pPr algn="ctr"/>
            <a:r>
              <a:rPr lang="en-GB" sz="2400" b="1" dirty="0">
                <a:solidFill>
                  <a:schemeClr val="accent2"/>
                </a:solidFill>
              </a:rPr>
              <a:t>Which model is the best fit for this task in your opinion?</a:t>
            </a:r>
            <a:br>
              <a:rPr lang="en-GB" sz="2400" b="1" dirty="0">
                <a:solidFill>
                  <a:schemeClr val="accent2"/>
                </a:solidFill>
              </a:rPr>
            </a:br>
            <a:r>
              <a:rPr lang="en-GB" sz="2400" b="1" dirty="0">
                <a:solidFill>
                  <a:schemeClr val="accent2"/>
                </a:solidFill>
              </a:rPr>
              <a:t>(red, green or black?)</a:t>
            </a:r>
          </a:p>
          <a:p>
            <a:pPr algn="ctr"/>
            <a:endParaRPr lang="en-GB" sz="2400" b="1" dirty="0">
              <a:solidFill>
                <a:schemeClr val="accent2"/>
              </a:solidFill>
            </a:endParaRPr>
          </a:p>
          <a:p>
            <a:pPr algn="ctr"/>
            <a:r>
              <a:rPr lang="en-GB" sz="2400" b="1" dirty="0">
                <a:solidFill>
                  <a:schemeClr val="accent2"/>
                </a:solidFill>
              </a:rPr>
              <a:t>Why is one better than another?</a:t>
            </a:r>
            <a:endParaRPr lang="en-SG" sz="2400" b="1" dirty="0">
              <a:solidFill>
                <a:schemeClr val="accent2"/>
              </a:solidFill>
            </a:endParaRPr>
          </a:p>
        </p:txBody>
      </p:sp>
      <p:sp>
        <p:nvSpPr>
          <p:cNvPr id="5" name="TextBox 4">
            <a:extLst>
              <a:ext uri="{FF2B5EF4-FFF2-40B4-BE49-F238E27FC236}">
                <a16:creationId xmlns:a16="http://schemas.microsoft.com/office/drawing/2014/main" id="{2E1189FF-04D0-097A-69F9-D5077EE6D0B6}"/>
              </a:ext>
            </a:extLst>
          </p:cNvPr>
          <p:cNvSpPr txBox="1"/>
          <p:nvPr/>
        </p:nvSpPr>
        <p:spPr>
          <a:xfrm>
            <a:off x="6320392" y="4753041"/>
            <a:ext cx="4298462" cy="1200329"/>
          </a:xfrm>
          <a:prstGeom prst="rect">
            <a:avLst/>
          </a:prstGeom>
          <a:noFill/>
        </p:spPr>
        <p:txBody>
          <a:bodyPr wrap="square" rtlCol="0">
            <a:spAutoFit/>
          </a:bodyPr>
          <a:lstStyle/>
          <a:p>
            <a:pPr algn="ctr"/>
            <a:r>
              <a:rPr lang="en-GB" sz="2400" b="1" dirty="0">
                <a:solidFill>
                  <a:schemeClr val="accent2"/>
                </a:solidFill>
              </a:rPr>
              <a:t>Answer: Black model, because it has a lower loss value than the green and red ones!</a:t>
            </a:r>
            <a:endParaRPr lang="en-SG" sz="2400" b="1" dirty="0">
              <a:solidFill>
                <a:schemeClr val="accent2"/>
              </a:solidFill>
            </a:endParaRPr>
          </a:p>
        </p:txBody>
      </p:sp>
      <p:sp>
        <p:nvSpPr>
          <p:cNvPr id="2" name="Oval 1">
            <a:extLst>
              <a:ext uri="{FF2B5EF4-FFF2-40B4-BE49-F238E27FC236}">
                <a16:creationId xmlns:a16="http://schemas.microsoft.com/office/drawing/2014/main" id="{D9F1BF25-44AF-96CD-3D22-6DFB8468D505}"/>
              </a:ext>
            </a:extLst>
          </p:cNvPr>
          <p:cNvSpPr/>
          <p:nvPr/>
        </p:nvSpPr>
        <p:spPr>
          <a:xfrm>
            <a:off x="5321030" y="266258"/>
            <a:ext cx="1935804" cy="854417"/>
          </a:xfrm>
          <a:prstGeom prst="ellipse">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900436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4629-7F60-E5FD-B47D-000457F3C699}"/>
              </a:ext>
            </a:extLst>
          </p:cNvPr>
          <p:cNvSpPr>
            <a:spLocks noGrp="1"/>
          </p:cNvSpPr>
          <p:nvPr>
            <p:ph type="title"/>
          </p:nvPr>
        </p:nvSpPr>
        <p:spPr/>
        <p:txBody>
          <a:bodyPr/>
          <a:lstStyle/>
          <a:p>
            <a:r>
              <a:rPr lang="en-GB" dirty="0"/>
              <a:t>Training a model</a:t>
            </a:r>
            <a:endParaRPr lang="en-SG" dirty="0"/>
          </a:p>
        </p:txBody>
      </p:sp>
      <p:sp>
        <p:nvSpPr>
          <p:cNvPr id="3" name="Content Placeholder 2">
            <a:extLst>
              <a:ext uri="{FF2B5EF4-FFF2-40B4-BE49-F238E27FC236}">
                <a16:creationId xmlns:a16="http://schemas.microsoft.com/office/drawing/2014/main" id="{9BAE63A8-7CB3-9103-18B5-4F57A6F933B5}"/>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Training a model</a:t>
            </a:r>
            <a:r>
              <a:rPr lang="en-GB" b="1" dirty="0"/>
              <a:t>):</a:t>
            </a:r>
            <a:endParaRPr lang="en-GB" dirty="0"/>
          </a:p>
          <a:p>
            <a:pPr marL="0" indent="0">
              <a:buNone/>
            </a:pPr>
            <a:r>
              <a:rPr lang="en-GB" b="1" dirty="0">
                <a:solidFill>
                  <a:srgbClr val="00B050"/>
                </a:solidFill>
              </a:rPr>
              <a:t>Training a model </a:t>
            </a:r>
            <a:r>
              <a:rPr lang="en-GB" dirty="0"/>
              <a:t>consists of </a:t>
            </a:r>
            <a:r>
              <a:rPr lang="en-GB" b="1" dirty="0"/>
              <a:t>finding the best values for the trainable parameters of the chosen model</a:t>
            </a:r>
            <a:r>
              <a:rPr lang="en-GB" dirty="0"/>
              <a:t>, for the given task and dataset.</a:t>
            </a:r>
          </a:p>
          <a:p>
            <a:pPr marL="0" indent="0">
              <a:buNone/>
            </a:pPr>
            <a:r>
              <a:rPr lang="en-GB" dirty="0"/>
              <a:t>By best values for the trainable parameters, we mean the values that </a:t>
            </a:r>
            <a:r>
              <a:rPr lang="en-GB" b="1" dirty="0"/>
              <a:t>minimize the chosen loss function</a:t>
            </a:r>
            <a:r>
              <a:rPr lang="en-GB" dirty="0"/>
              <a:t>. It is therefore an optimization problem of some sort!</a:t>
            </a:r>
          </a:p>
          <a:p>
            <a:pPr marL="0" indent="0">
              <a:buNone/>
            </a:pPr>
            <a:endParaRPr lang="en-GB" dirty="0"/>
          </a:p>
          <a:p>
            <a:pPr marL="0" indent="0">
              <a:buNone/>
            </a:pPr>
            <a:r>
              <a:rPr lang="en-GB" dirty="0"/>
              <a:t>Once a minimal value is obtained on the loss function, then we can claim that the “optimal” trainable parameters have been found.</a:t>
            </a:r>
          </a:p>
          <a:p>
            <a:pPr marL="0" indent="0">
              <a:buNone/>
            </a:pPr>
            <a:r>
              <a:rPr lang="en-GB" dirty="0"/>
              <a:t>Or in other words, that the model has been </a:t>
            </a:r>
            <a:r>
              <a:rPr lang="en-GB" b="1" dirty="0">
                <a:solidFill>
                  <a:srgbClr val="00B050"/>
                </a:solidFill>
              </a:rPr>
              <a:t>trained</a:t>
            </a:r>
            <a:r>
              <a:rPr lang="en-GB" dirty="0"/>
              <a:t>.</a:t>
            </a:r>
          </a:p>
          <a:p>
            <a:endParaRPr lang="en-SG" dirty="0"/>
          </a:p>
          <a:p>
            <a:pPr marL="0" indent="0">
              <a:buNone/>
            </a:pPr>
            <a:endParaRPr lang="en-GB" dirty="0"/>
          </a:p>
        </p:txBody>
      </p:sp>
    </p:spTree>
    <p:extLst>
      <p:ext uri="{BB962C8B-B14F-4D97-AF65-F5344CB8AC3E}">
        <p14:creationId xmlns:p14="http://schemas.microsoft.com/office/powerpoint/2010/main" val="27684339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4629-7F60-E5FD-B47D-000457F3C699}"/>
              </a:ext>
            </a:extLst>
          </p:cNvPr>
          <p:cNvSpPr>
            <a:spLocks noGrp="1"/>
          </p:cNvSpPr>
          <p:nvPr>
            <p:ph type="title"/>
          </p:nvPr>
        </p:nvSpPr>
        <p:spPr/>
        <p:txBody>
          <a:bodyPr/>
          <a:lstStyle/>
          <a:p>
            <a:r>
              <a:rPr lang="en-GB" dirty="0"/>
              <a:t>Training a linear regression model</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AE63A8-7CB3-9103-18B5-4F57A6F933B5}"/>
                  </a:ext>
                </a:extLst>
              </p:cNvPr>
              <p:cNvSpPr>
                <a:spLocks noGrp="1"/>
              </p:cNvSpPr>
              <p:nvPr>
                <p:ph idx="1"/>
              </p:nvPr>
            </p:nvSpPr>
            <p:spPr>
              <a:xfrm>
                <a:off x="838200" y="1825624"/>
                <a:ext cx="10515600" cy="5032375"/>
              </a:xfrm>
            </p:spPr>
            <p:txBody>
              <a:bodyPr>
                <a:normAutofit/>
              </a:bodyPr>
              <a:lstStyle/>
              <a:p>
                <a:pPr marL="0" indent="0">
                  <a:buNone/>
                </a:pPr>
                <a:r>
                  <a:rPr lang="en-GB" dirty="0"/>
                  <a:t>In the case of linear regression, training the model consists of solving the following optimization problem.</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m:t>
                              </m:r>
                            </m:sup>
                          </m:sSup>
                        </m:e>
                      </m:d>
                      <m:r>
                        <a:rPr lang="en-GB" b="0" i="1" smtClean="0">
                          <a:latin typeface="Cambria Math" panose="02040503050406030204" pitchFamily="18" charset="0"/>
                        </a:rPr>
                        <m:t>= </m:t>
                      </m:r>
                      <m:r>
                        <m:rPr>
                          <m:sty m:val="p"/>
                        </m:rPr>
                        <a:rPr lang="en-GB" b="0" i="1" smtClean="0">
                          <a:latin typeface="Cambria Math" panose="02040503050406030204" pitchFamily="18" charset="0"/>
                        </a:rPr>
                        <m:t>arg</m:t>
                      </m:r>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lim>
                      </m:limLow>
                      <m:r>
                        <a:rPr lang="en-GB" b="0" i="1" smtClean="0">
                          <a:latin typeface="Cambria Math" panose="02040503050406030204" pitchFamily="18" charset="0"/>
                        </a:rPr>
                        <m:t> </m:t>
                      </m:r>
                      <m:d>
                        <m:dPr>
                          <m:begChr m:val="["/>
                          <m:endChr m:val="]"/>
                          <m:ctrlPr>
                            <a:rPr lang="en-GB" b="0" i="1" smtClean="0">
                              <a:latin typeface="Cambria Math" panose="02040503050406030204" pitchFamily="18" charset="0"/>
                            </a:rPr>
                          </m:ctrlPr>
                        </m:dPr>
                        <m:e>
                          <m:r>
                            <a:rPr lang="en-GB" i="1">
                              <a:latin typeface="Cambria Math" panose="02040503050406030204" pitchFamily="18" charset="0"/>
                            </a:rPr>
                            <m:t>𝐿</m:t>
                          </m:r>
                          <m:r>
                            <a:rPr lang="en-GB" i="1">
                              <a:latin typeface="Cambria Math" panose="02040503050406030204" pitchFamily="18" charset="0"/>
                            </a:rPr>
                            <m:t>(</m:t>
                          </m:r>
                          <m:r>
                            <a:rPr lang="en-GB" i="1">
                              <a:latin typeface="Cambria Math" panose="02040503050406030204" pitchFamily="18" charset="0"/>
                            </a:rPr>
                            <m:t>𝑎</m:t>
                          </m:r>
                          <m:r>
                            <a:rPr lang="en-GB" i="1">
                              <a:latin typeface="Cambria Math" panose="02040503050406030204" pitchFamily="18" charset="0"/>
                            </a:rPr>
                            <m:t>, </m:t>
                          </m:r>
                          <m:r>
                            <a:rPr lang="en-GB" i="1">
                              <a:latin typeface="Cambria Math" panose="02040503050406030204" pitchFamily="18" charset="0"/>
                            </a:rPr>
                            <m:t>𝑏</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 </m:t>
                          </m:r>
                          <m:r>
                            <a:rPr lang="en-GB" i="1">
                              <a:latin typeface="Cambria Math" panose="02040503050406030204" pitchFamily="18" charset="0"/>
                            </a:rPr>
                            <m:t>𝑦</m:t>
                          </m:r>
                          <m:r>
                            <a:rPr lang="en-GB" b="0" i="1" smtClean="0">
                              <a:latin typeface="Cambria Math" panose="02040503050406030204" pitchFamily="18" charset="0"/>
                            </a:rPr>
                            <m:t>)</m:t>
                          </m:r>
                        </m:e>
                      </m:d>
                    </m:oMath>
                  </m:oMathPara>
                </a14:m>
                <a:endParaRPr lang="en-GB" b="0" dirty="0"/>
              </a:p>
              <a:p>
                <a:pPr marL="0" indent="0">
                  <a:buNone/>
                </a:pPr>
                <a:endParaRPr lang="en-GB" b="0" dirty="0"/>
              </a:p>
              <a:p>
                <a:pPr marL="0" indent="0" algn="ctr">
                  <a:buNone/>
                </a:pPr>
                <a:r>
                  <a:rPr lang="en-GB" dirty="0"/>
                  <a:t>That is, using the explicit formula of the loss function,</a:t>
                </a:r>
              </a:p>
              <a:p>
                <a:pPr marL="0" indent="0" algn="ctr">
                  <a:buNone/>
                </a:pPr>
                <a:endParaRPr lang="en-GB" dirty="0"/>
              </a:p>
              <a:p>
                <a:pPr marL="0" indent="0">
                  <a:buNone/>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m:t>
                              </m:r>
                            </m:sup>
                          </m:sSup>
                        </m:e>
                      </m:d>
                      <m:r>
                        <a:rPr lang="en-GB" b="0" i="1" smtClean="0">
                          <a:latin typeface="Cambria Math" panose="02040503050406030204" pitchFamily="18" charset="0"/>
                        </a:rPr>
                        <m:t>= </m:t>
                      </m:r>
                      <m:r>
                        <m:rPr>
                          <m:sty m:val="p"/>
                        </m:rPr>
                        <a:rPr lang="en-GB" b="0" i="1" smtClean="0">
                          <a:latin typeface="Cambria Math" panose="02040503050406030204" pitchFamily="18" charset="0"/>
                        </a:rPr>
                        <m:t>arg</m:t>
                      </m:r>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lim>
                      </m:limLow>
                      <m:r>
                        <a:rPr lang="en-GB" b="0" i="1" smtClean="0">
                          <a:latin typeface="Cambria Math" panose="02040503050406030204" pitchFamily="18" charset="0"/>
                        </a:rPr>
                        <m:t> </m:t>
                      </m:r>
                      <m:d>
                        <m:dPr>
                          <m:begChr m:val="["/>
                          <m:endChr m:val="]"/>
                          <m:ctrlPr>
                            <a:rPr lang="en-GB" b="0" i="1" smtClean="0">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𝑁</m:t>
                              </m:r>
                            </m:den>
                          </m:f>
                          <m:nary>
                            <m:naryPr>
                              <m:chr m:val="∑"/>
                              <m:ctrlPr>
                                <a:rPr lang="en-GB" i="1">
                                  <a:latin typeface="Cambria Math" panose="02040503050406030204" pitchFamily="18" charset="0"/>
                                </a:rPr>
                              </m:ctrlPr>
                            </m:naryPr>
                            <m:sub>
                              <m: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𝑎</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𝑏</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e>
                                  </m:d>
                                </m:e>
                                <m:sup>
                                  <m:r>
                                    <a:rPr lang="en-GB" i="1">
                                      <a:latin typeface="Cambria Math" panose="02040503050406030204" pitchFamily="18" charset="0"/>
                                    </a:rPr>
                                    <m:t>2</m:t>
                                  </m:r>
                                </m:sup>
                              </m:sSup>
                            </m:e>
                          </m:nary>
                        </m:e>
                      </m:d>
                      <m:r>
                        <a:rPr lang="en-GB" b="0" i="1" smtClean="0">
                          <a:latin typeface="Cambria Math" panose="02040503050406030204" pitchFamily="18" charset="0"/>
                        </a:rPr>
                        <m:t> </m:t>
                      </m:r>
                    </m:oMath>
                  </m:oMathPara>
                </a14:m>
                <a:endParaRPr lang="en-GB" dirty="0"/>
              </a:p>
              <a:p>
                <a:pPr marL="0" indent="0">
                  <a:buNone/>
                </a:pPr>
                <a:endParaRPr lang="en-GB" dirty="0"/>
              </a:p>
              <a:p>
                <a:endParaRPr lang="en-SG" dirty="0"/>
              </a:p>
            </p:txBody>
          </p:sp>
        </mc:Choice>
        <mc:Fallback xmlns="">
          <p:sp>
            <p:nvSpPr>
              <p:cNvPr id="3" name="Content Placeholder 2">
                <a:extLst>
                  <a:ext uri="{FF2B5EF4-FFF2-40B4-BE49-F238E27FC236}">
                    <a16:creationId xmlns:a16="http://schemas.microsoft.com/office/drawing/2014/main" id="{9BAE63A8-7CB3-9103-18B5-4F57A6F933B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40759167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4629-7F60-E5FD-B47D-000457F3C699}"/>
              </a:ext>
            </a:extLst>
          </p:cNvPr>
          <p:cNvSpPr>
            <a:spLocks noGrp="1"/>
          </p:cNvSpPr>
          <p:nvPr>
            <p:ph type="title"/>
          </p:nvPr>
        </p:nvSpPr>
        <p:spPr/>
        <p:txBody>
          <a:bodyPr/>
          <a:lstStyle/>
          <a:p>
            <a:r>
              <a:rPr lang="en-GB" dirty="0"/>
              <a:t>Training a linear regression model</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AE63A8-7CB3-9103-18B5-4F57A6F933B5}"/>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a:t>
                </a:r>
                <a:r>
                  <a:rPr lang="en-GB" b="1" dirty="0">
                    <a:solidFill>
                      <a:srgbClr val="00B050"/>
                    </a:solidFill>
                  </a:rPr>
                  <a:t>normal</a:t>
                </a:r>
                <a:r>
                  <a:rPr lang="en-GB" b="1" dirty="0"/>
                  <a:t> </a:t>
                </a:r>
                <a:r>
                  <a:rPr lang="en-GB" b="1" dirty="0">
                    <a:solidFill>
                      <a:srgbClr val="00B050"/>
                    </a:solidFill>
                  </a:rPr>
                  <a:t>equation</a:t>
                </a:r>
                <a:r>
                  <a:rPr lang="en-GB" b="1" dirty="0"/>
                  <a:t> for linear regression):</a:t>
                </a:r>
              </a:p>
              <a:p>
                <a:pPr marL="0" indent="0">
                  <a:buNone/>
                </a:pPr>
                <a:r>
                  <a:rPr lang="en-GB" dirty="0"/>
                  <a:t>Solving this optimization problem can be done analytically, as it can be proven that the optimal choice of parameters </a:t>
                </a:r>
                <a14:m>
                  <m:oMath xmlns:m="http://schemas.openxmlformats.org/officeDocument/2006/math">
                    <m:sSup>
                      <m:sSupPr>
                        <m:ctrlPr>
                          <a:rPr lang="fr-FR" i="1" dirty="0" smtClean="0">
                            <a:latin typeface="Cambria Math" panose="02040503050406030204" pitchFamily="18" charset="0"/>
                          </a:rPr>
                        </m:ctrlPr>
                      </m:sSupPr>
                      <m:e>
                        <m:r>
                          <a:rPr lang="fr-FR" i="1" dirty="0" smtClean="0">
                            <a:latin typeface="Cambria Math" panose="02040503050406030204" pitchFamily="18" charset="0"/>
                          </a:rPr>
                          <m:t>𝑊</m:t>
                        </m:r>
                      </m:e>
                      <m:sup>
                        <m:r>
                          <a:rPr lang="fr-FR" i="1" dirty="0" smtClean="0">
                            <a:latin typeface="Cambria Math" panose="02040503050406030204" pitchFamily="18" charset="0"/>
                          </a:rPr>
                          <m:t>∗</m:t>
                        </m:r>
                      </m:sup>
                    </m:sSup>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m>
                          <m:mPr>
                            <m:mcs>
                              <m:mc>
                                <m:mcPr>
                                  <m:count m:val="1"/>
                                  <m:mcJc m:val="center"/>
                                </m:mcPr>
                              </m:mc>
                            </m:mcs>
                            <m:ctrlPr>
                              <a:rPr lang="en-GB" b="0" i="1" dirty="0" smtClean="0">
                                <a:latin typeface="Cambria Math" panose="02040503050406030204" pitchFamily="18" charset="0"/>
                              </a:rPr>
                            </m:ctrlPr>
                          </m:mPr>
                          <m:mr>
                            <m:e>
                              <m:sSup>
                                <m:sSupPr>
                                  <m:ctrlPr>
                                    <a:rPr lang="en-GB" b="0" i="1" dirty="0" smtClean="0">
                                      <a:latin typeface="Cambria Math" panose="02040503050406030204" pitchFamily="18" charset="0"/>
                                    </a:rPr>
                                  </m:ctrlPr>
                                </m:sSupPr>
                                <m:e>
                                  <m:r>
                                    <m:rPr>
                                      <m:brk m:alnAt="7"/>
                                    </m:rPr>
                                    <a:rPr lang="en-GB" b="0" i="1" dirty="0" smtClean="0">
                                      <a:latin typeface="Cambria Math" panose="02040503050406030204" pitchFamily="18" charset="0"/>
                                    </a:rPr>
                                    <m:t>𝑏</m:t>
                                  </m:r>
                                </m:e>
                                <m:sup>
                                  <m:r>
                                    <m:rPr>
                                      <m:brk m:alnAt="7"/>
                                    </m:rPr>
                                    <a:rPr lang="en-GB" b="0" i="1" dirty="0" smtClean="0">
                                      <a:latin typeface="Cambria Math" panose="02040503050406030204" pitchFamily="18" charset="0"/>
                                    </a:rPr>
                                    <m:t>∗</m:t>
                                  </m:r>
                                </m:sup>
                              </m:sSup>
                            </m:e>
                          </m:mr>
                          <m:mr>
                            <m:e>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𝑎</m:t>
                                  </m:r>
                                </m:e>
                                <m:sup>
                                  <m:r>
                                    <a:rPr lang="en-GB" b="0" i="1" dirty="0" smtClean="0">
                                      <a:latin typeface="Cambria Math" panose="02040503050406030204" pitchFamily="18" charset="0"/>
                                    </a:rPr>
                                    <m:t>∗</m:t>
                                  </m:r>
                                </m:sup>
                              </m:sSup>
                            </m:e>
                          </m:mr>
                        </m:m>
                      </m:e>
                    </m:d>
                  </m:oMath>
                </a14:m>
                <a:r>
                  <a:rPr lang="en-GB" dirty="0"/>
                  <a:t> follows the </a:t>
                </a:r>
                <a:r>
                  <a:rPr lang="en-GB" b="1" dirty="0">
                    <a:solidFill>
                      <a:srgbClr val="00B050"/>
                    </a:solidFill>
                  </a:rPr>
                  <a:t>normal</a:t>
                </a:r>
                <a:r>
                  <a:rPr lang="en-GB" dirty="0"/>
                  <a:t> </a:t>
                </a:r>
                <a:r>
                  <a:rPr lang="en-GB" b="1" dirty="0">
                    <a:solidFill>
                      <a:srgbClr val="00B050"/>
                    </a:solidFill>
                  </a:rPr>
                  <a:t>equation</a:t>
                </a:r>
                <a:r>
                  <a:rPr lang="en-GB" dirty="0"/>
                  <a:t>, below.</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p>
                        <m:sSupPr>
                          <m:ctrlPr>
                            <a:rPr lang="fr-FR" i="1" dirty="0" smtClean="0">
                              <a:latin typeface="Cambria Math" panose="02040503050406030204" pitchFamily="18" charset="0"/>
                            </a:rPr>
                          </m:ctrlPr>
                        </m:sSupPr>
                        <m:e>
                          <m:r>
                            <a:rPr lang="fr-FR" i="1" dirty="0" smtClean="0">
                              <a:latin typeface="Cambria Math" panose="02040503050406030204" pitchFamily="18" charset="0"/>
                            </a:rPr>
                            <m:t>𝑊</m:t>
                          </m:r>
                        </m:e>
                        <m:sup>
                          <m:r>
                            <a:rPr lang="fr-FR" i="1" dirty="0" smtClean="0">
                              <a:latin typeface="Cambria Math" panose="02040503050406030204" pitchFamily="18" charset="0"/>
                            </a:rPr>
                            <m:t>∗</m:t>
                          </m:r>
                        </m:sup>
                      </m:sSup>
                      <m:r>
                        <a:rPr lang="fr-FR" i="1" dirty="0" smtClean="0">
                          <a:latin typeface="Cambria Math" panose="02040503050406030204" pitchFamily="18" charset="0"/>
                        </a:rPr>
                        <m:t> = </m:t>
                      </m:r>
                      <m:sSup>
                        <m:sSupPr>
                          <m:ctrlPr>
                            <a:rPr lang="en-GB" b="0" i="1" dirty="0" smtClean="0">
                              <a:latin typeface="Cambria Math" panose="02040503050406030204" pitchFamily="18" charset="0"/>
                            </a:rPr>
                          </m:ctrlPr>
                        </m:sSupPr>
                        <m:e>
                          <m:d>
                            <m:dPr>
                              <m:ctrlPr>
                                <a:rPr lang="fr-FR" i="1" dirty="0" smtClean="0">
                                  <a:latin typeface="Cambria Math" panose="02040503050406030204" pitchFamily="18" charset="0"/>
                                </a:rPr>
                              </m:ctrlPr>
                            </m:dPr>
                            <m:e>
                              <m:sSup>
                                <m:sSupPr>
                                  <m:ctrlPr>
                                    <a:rPr lang="fr-FR" i="1" dirty="0" smtClean="0">
                                      <a:latin typeface="Cambria Math" panose="02040503050406030204" pitchFamily="18" charset="0"/>
                                    </a:rPr>
                                  </m:ctrlPr>
                                </m:sSupPr>
                                <m:e>
                                  <m:r>
                                    <a:rPr lang="fr-FR" i="1" dirty="0" smtClean="0">
                                      <a:latin typeface="Cambria Math" panose="02040503050406030204" pitchFamily="18" charset="0"/>
                                    </a:rPr>
                                    <m:t>𝑋</m:t>
                                  </m:r>
                                </m:e>
                                <m:sup>
                                  <m:r>
                                    <a:rPr lang="fr-FR" i="1" dirty="0" smtClean="0">
                                      <a:latin typeface="Cambria Math" panose="02040503050406030204" pitchFamily="18" charset="0"/>
                                    </a:rPr>
                                    <m:t>𝑇</m:t>
                                  </m:r>
                                </m:sup>
                              </m:sSup>
                              <m:r>
                                <a:rPr lang="fr-FR" i="1" dirty="0" smtClean="0">
                                  <a:latin typeface="Cambria Math" panose="02040503050406030204" pitchFamily="18" charset="0"/>
                                </a:rPr>
                                <m:t> </m:t>
                              </m:r>
                              <m:r>
                                <a:rPr lang="fr-FR" i="1" dirty="0" smtClean="0">
                                  <a:latin typeface="Cambria Math" panose="02040503050406030204" pitchFamily="18" charset="0"/>
                                </a:rPr>
                                <m:t>𝑋</m:t>
                              </m:r>
                            </m:e>
                          </m:d>
                        </m:e>
                        <m:sup>
                          <m:r>
                            <a:rPr lang="en-GB" b="0" i="1" dirty="0" smtClean="0">
                              <a:latin typeface="Cambria Math" panose="02040503050406030204" pitchFamily="18" charset="0"/>
                            </a:rPr>
                            <m:t>−1</m:t>
                          </m:r>
                        </m:sup>
                      </m:sSup>
                      <m:r>
                        <a:rPr lang="fr-FR" i="1" dirty="0" smtClean="0">
                          <a:latin typeface="Cambria Math" panose="02040503050406030204" pitchFamily="18" charset="0"/>
                        </a:rPr>
                        <m:t> </m:t>
                      </m:r>
                      <m:sSup>
                        <m:sSupPr>
                          <m:ctrlPr>
                            <a:rPr lang="fr-FR" i="1" dirty="0" smtClean="0">
                              <a:latin typeface="Cambria Math" panose="02040503050406030204" pitchFamily="18" charset="0"/>
                            </a:rPr>
                          </m:ctrlPr>
                        </m:sSupPr>
                        <m:e>
                          <m:r>
                            <a:rPr lang="fr-FR" i="1" dirty="0" smtClean="0">
                              <a:latin typeface="Cambria Math" panose="02040503050406030204" pitchFamily="18" charset="0"/>
                            </a:rPr>
                            <m:t>𝑋</m:t>
                          </m:r>
                        </m:e>
                        <m:sup>
                          <m:r>
                            <a:rPr lang="fr-FR" i="1" dirty="0" smtClean="0">
                              <a:latin typeface="Cambria Math" panose="02040503050406030204" pitchFamily="18" charset="0"/>
                            </a:rPr>
                            <m:t>𝑇</m:t>
                          </m:r>
                        </m:sup>
                      </m:sSup>
                      <m:r>
                        <a:rPr lang="fr-FR" i="1" dirty="0" smtClean="0">
                          <a:latin typeface="Cambria Math" panose="02040503050406030204" pitchFamily="18" charset="0"/>
                        </a:rPr>
                        <m:t> </m:t>
                      </m:r>
                      <m:r>
                        <a:rPr lang="fr-FR" i="1" dirty="0" smtClean="0">
                          <a:latin typeface="Cambria Math" panose="02040503050406030204" pitchFamily="18" charset="0"/>
                        </a:rPr>
                        <m:t>𝑌</m:t>
                      </m:r>
                    </m:oMath>
                  </m:oMathPara>
                </a14:m>
                <a:endParaRPr lang="en-SG" dirty="0"/>
              </a:p>
              <a:p>
                <a:pPr marL="0" indent="0">
                  <a:buNone/>
                </a:pPr>
                <a:br>
                  <a:rPr lang="en-GB" b="0" dirty="0"/>
                </a:br>
                <a:r>
                  <a:rPr lang="en-GB" b="0" i="1" dirty="0"/>
                  <a:t>(Proof in bonus slides)</a:t>
                </a:r>
              </a:p>
              <a:p>
                <a:pPr marL="0" indent="0">
                  <a:buNone/>
                </a:pPr>
                <a:endParaRPr lang="en-SG"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9BAE63A8-7CB3-9103-18B5-4F57A6F933B5}"/>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882" b="-205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8CC4A7A-9293-F3BF-75E4-32E5E156B9BE}"/>
                  </a:ext>
                </a:extLst>
              </p:cNvPr>
              <p:cNvSpPr>
                <a:spLocks noGrp="1"/>
              </p:cNvSpPr>
              <p:nvPr>
                <p:ph sz="half" idx="2"/>
              </p:nvPr>
            </p:nvSpPr>
            <p:spPr>
              <a:xfrm>
                <a:off x="6172199" y="1825625"/>
                <a:ext cx="5629031" cy="5032374"/>
              </a:xfrm>
            </p:spPr>
            <p:txBody>
              <a:bodyPr>
                <a:normAutofit/>
              </a:bodyPr>
              <a:lstStyle/>
              <a:p>
                <a:pPr marL="0" indent="0">
                  <a:buNone/>
                </a:pPr>
                <a:r>
                  <a:rPr lang="en-SG" dirty="0"/>
                  <a:t>With</a:t>
                </a:r>
              </a:p>
              <a:p>
                <a:pPr marL="0" indent="0">
                  <a:buNone/>
                </a:pPr>
                <a14:m>
                  <m:oMathPara xmlns:m="http://schemas.openxmlformats.org/officeDocument/2006/math">
                    <m:oMathParaPr>
                      <m:jc m:val="centerGroup"/>
                    </m:oMathParaPr>
                    <m:oMath xmlns:m="http://schemas.openxmlformats.org/officeDocument/2006/math">
                      <m:r>
                        <a:rPr lang="en-SG" i="1" dirty="0" smtClean="0">
                          <a:latin typeface="Cambria Math" panose="02040503050406030204" pitchFamily="18" charset="0"/>
                        </a:rPr>
                        <m:t>𝑋</m:t>
                      </m:r>
                      <m:r>
                        <a:rPr lang="en-SG" i="1" dirty="0" smtClean="0">
                          <a:latin typeface="Cambria Math" panose="02040503050406030204" pitchFamily="18" charset="0"/>
                        </a:rPr>
                        <m:t> =</m:t>
                      </m:r>
                      <m:d>
                        <m:dPr>
                          <m:ctrlPr>
                            <a:rPr lang="en-GB" b="0" i="1" dirty="0" smtClean="0">
                              <a:latin typeface="Cambria Math" panose="02040503050406030204" pitchFamily="18" charset="0"/>
                            </a:rPr>
                          </m:ctrlPr>
                        </m:dPr>
                        <m:e>
                          <m:m>
                            <m:mPr>
                              <m:mcs>
                                <m:mc>
                                  <m:mcPr>
                                    <m:count m:val="2"/>
                                    <m:mcJc m:val="center"/>
                                  </m:mcPr>
                                </m:mc>
                              </m:mcs>
                              <m:ctrlPr>
                                <a:rPr lang="en-GB" b="0" i="1" dirty="0" smtClean="0">
                                  <a:latin typeface="Cambria Math" panose="02040503050406030204" pitchFamily="18" charset="0"/>
                                </a:rPr>
                              </m:ctrlPr>
                            </m:mPr>
                            <m:mr>
                              <m:e>
                                <m:r>
                                  <m:rPr>
                                    <m:brk m:alnAt="7"/>
                                  </m:rPr>
                                  <a:rPr lang="en-GB" b="0" i="1" dirty="0" smtClean="0">
                                    <a:latin typeface="Cambria Math" panose="02040503050406030204" pitchFamily="18" charset="0"/>
                                  </a:rPr>
                                  <m:t>1</m:t>
                                </m:r>
                              </m:e>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𝑥</m:t>
                                    </m:r>
                                  </m:e>
                                  <m:sub>
                                    <m:r>
                                      <a:rPr lang="en-GB" b="0" i="1" dirty="0" smtClean="0">
                                        <a:latin typeface="Cambria Math" panose="02040503050406030204" pitchFamily="18" charset="0"/>
                                      </a:rPr>
                                      <m:t>1</m:t>
                                    </m:r>
                                  </m:sub>
                                </m:sSub>
                              </m:e>
                            </m:mr>
                            <m:mr>
                              <m:e>
                                <m:r>
                                  <a:rPr lang="en-GB" b="0" i="1" dirty="0" smtClean="0">
                                    <a:latin typeface="Cambria Math" panose="02040503050406030204" pitchFamily="18" charset="0"/>
                                  </a:rPr>
                                  <m:t>…</m:t>
                                </m:r>
                              </m:e>
                              <m:e>
                                <m:r>
                                  <a:rPr lang="en-GB" b="0" i="1" dirty="0" smtClean="0">
                                    <a:latin typeface="Cambria Math" panose="02040503050406030204" pitchFamily="18" charset="0"/>
                                  </a:rPr>
                                  <m:t>…</m:t>
                                </m:r>
                              </m:e>
                            </m:mr>
                            <m:mr>
                              <m:e>
                                <m:r>
                                  <a:rPr lang="en-GB" b="0" i="1" dirty="0" smtClean="0">
                                    <a:latin typeface="Cambria Math" panose="02040503050406030204" pitchFamily="18" charset="0"/>
                                  </a:rPr>
                                  <m:t>1</m:t>
                                </m:r>
                              </m:e>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𝑥</m:t>
                                    </m:r>
                                  </m:e>
                                  <m:sub>
                                    <m:r>
                                      <a:rPr lang="en-GB" b="0" i="1" dirty="0" smtClean="0">
                                        <a:latin typeface="Cambria Math" panose="02040503050406030204" pitchFamily="18" charset="0"/>
                                      </a:rPr>
                                      <m:t>𝑁</m:t>
                                    </m:r>
                                  </m:sub>
                                </m:sSub>
                              </m:e>
                            </m:mr>
                          </m:m>
                        </m:e>
                      </m:d>
                    </m:oMath>
                  </m:oMathPara>
                </a14:m>
                <a:endParaRPr lang="en-SG" dirty="0"/>
              </a:p>
              <a:p>
                <a:pPr marL="0" indent="0">
                  <a:buNone/>
                </a:pPr>
                <a:r>
                  <a:rPr lang="en-SG" dirty="0"/>
                  <a:t>And</a:t>
                </a:r>
              </a:p>
              <a:p>
                <a:pPr marL="0" indent="0">
                  <a:buNone/>
                </a:pPr>
                <a14:m>
                  <m:oMathPara xmlns:m="http://schemas.openxmlformats.org/officeDocument/2006/math">
                    <m:oMathParaPr>
                      <m:jc m:val="centerGroup"/>
                    </m:oMathParaPr>
                    <m:oMath xmlns:m="http://schemas.openxmlformats.org/officeDocument/2006/math">
                      <m:r>
                        <a:rPr lang="en-SG" i="1" dirty="0" smtClean="0">
                          <a:latin typeface="Cambria Math" panose="02040503050406030204" pitchFamily="18" charset="0"/>
                        </a:rPr>
                        <m:t>𝑌</m:t>
                      </m:r>
                      <m:r>
                        <a:rPr lang="en-SG" i="1" dirty="0" smtClean="0">
                          <a:latin typeface="Cambria Math" panose="02040503050406030204" pitchFamily="18" charset="0"/>
                        </a:rPr>
                        <m:t> =</m:t>
                      </m:r>
                      <m:d>
                        <m:dPr>
                          <m:ctrlPr>
                            <a:rPr lang="en-GB" b="0" i="1" dirty="0" smtClean="0">
                              <a:latin typeface="Cambria Math" panose="02040503050406030204" pitchFamily="18" charset="0"/>
                            </a:rPr>
                          </m:ctrlPr>
                        </m:dPr>
                        <m:e>
                          <m:m>
                            <m:mPr>
                              <m:mcs>
                                <m:mc>
                                  <m:mcPr>
                                    <m:count m:val="1"/>
                                    <m:mcJc m:val="center"/>
                                  </m:mcPr>
                                </m:mc>
                              </m:mcs>
                              <m:ctrlPr>
                                <a:rPr lang="en-GB" b="0" i="1" dirty="0" smtClean="0">
                                  <a:latin typeface="Cambria Math" panose="02040503050406030204" pitchFamily="18" charset="0"/>
                                </a:rPr>
                              </m:ctrlPr>
                            </m:mPr>
                            <m:mr>
                              <m:e>
                                <m:sSub>
                                  <m:sSubPr>
                                    <m:ctrlPr>
                                      <a:rPr lang="en-GB" b="0" i="1" dirty="0" smtClean="0">
                                        <a:latin typeface="Cambria Math" panose="02040503050406030204" pitchFamily="18" charset="0"/>
                                      </a:rPr>
                                    </m:ctrlPr>
                                  </m:sSubPr>
                                  <m:e>
                                    <m:r>
                                      <m:rPr>
                                        <m:brk m:alnAt="7"/>
                                      </m:rPr>
                                      <a:rPr lang="en-GB" b="0" i="1" dirty="0" smtClean="0">
                                        <a:latin typeface="Cambria Math" panose="02040503050406030204" pitchFamily="18" charset="0"/>
                                      </a:rPr>
                                      <m:t>𝑦</m:t>
                                    </m:r>
                                  </m:e>
                                  <m:sub>
                                    <m:r>
                                      <m:rPr>
                                        <m:brk m:alnAt="7"/>
                                      </m:rPr>
                                      <a:rPr lang="en-GB" b="0" i="1" dirty="0" smtClean="0">
                                        <a:latin typeface="Cambria Math" panose="02040503050406030204" pitchFamily="18" charset="0"/>
                                      </a:rPr>
                                      <m:t>1</m:t>
                                    </m:r>
                                  </m:sub>
                                </m:sSub>
                                <m:r>
                                  <m:rPr>
                                    <m:brk m:alnAt="7"/>
                                  </m:rPr>
                                  <a:rPr lang="en-GB" b="0" i="1" dirty="0" smtClean="0">
                                    <a:latin typeface="Cambria Math" panose="02040503050406030204" pitchFamily="18" charset="0"/>
                                  </a:rPr>
                                  <m:t> </m:t>
                                </m:r>
                              </m:e>
                            </m:mr>
                            <m:mr>
                              <m:e>
                                <m:r>
                                  <a:rPr lang="en-GB" b="0" i="1" dirty="0" smtClean="0">
                                    <a:latin typeface="Cambria Math" panose="02040503050406030204" pitchFamily="18" charset="0"/>
                                  </a:rPr>
                                  <m:t>…</m:t>
                                </m:r>
                              </m:e>
                            </m:mr>
                            <m:m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𝑦</m:t>
                                    </m:r>
                                  </m:e>
                                  <m:sub>
                                    <m:r>
                                      <a:rPr lang="en-GB" b="0" i="1" dirty="0" smtClean="0">
                                        <a:latin typeface="Cambria Math" panose="02040503050406030204" pitchFamily="18" charset="0"/>
                                      </a:rPr>
                                      <m:t>𝑁</m:t>
                                    </m:r>
                                  </m:sub>
                                </m:sSub>
                              </m:e>
                            </m:mr>
                          </m:m>
                        </m:e>
                      </m:d>
                    </m:oMath>
                  </m:oMathPara>
                </a14:m>
                <a:endParaRPr lang="en-SG" dirty="0"/>
              </a:p>
              <a:p>
                <a:pPr marL="0" indent="0">
                  <a:buNone/>
                </a:pPr>
                <a:endParaRPr lang="en-SG" dirty="0"/>
              </a:p>
              <a:p>
                <a:pPr marL="0" indent="0">
                  <a:buNone/>
                </a:pPr>
                <a:r>
                  <a:rPr lang="fr-FR" dirty="0"/>
                  <a:t>Finally, </a:t>
                </a:r>
                <a14:m>
                  <m:oMath xmlns:m="http://schemas.openxmlformats.org/officeDocument/2006/math">
                    <m:sSup>
                      <m:sSupPr>
                        <m:ctrlPr>
                          <a:rPr lang="fr-FR" i="1" dirty="0" smtClean="0">
                            <a:latin typeface="Cambria Math" panose="02040503050406030204" pitchFamily="18" charset="0"/>
                          </a:rPr>
                        </m:ctrlPr>
                      </m:sSupPr>
                      <m:e>
                        <m:r>
                          <a:rPr lang="fr-FR" i="1" dirty="0" smtClean="0">
                            <a:latin typeface="Cambria Math" panose="02040503050406030204" pitchFamily="18" charset="0"/>
                          </a:rPr>
                          <m:t>𝑋</m:t>
                        </m:r>
                      </m:e>
                      <m:sup>
                        <m:r>
                          <a:rPr lang="fr-FR" i="1" dirty="0" smtClean="0">
                            <a:latin typeface="Cambria Math" panose="02040503050406030204" pitchFamily="18" charset="0"/>
                          </a:rPr>
                          <m:t>𝑇</m:t>
                        </m:r>
                      </m:sup>
                    </m:sSup>
                  </m:oMath>
                </a14:m>
                <a:r>
                  <a:rPr lang="en-SG" dirty="0"/>
                  <a:t> denotes the transposed matrix of </a:t>
                </a:r>
                <a14:m>
                  <m:oMath xmlns:m="http://schemas.openxmlformats.org/officeDocument/2006/math">
                    <m:r>
                      <a:rPr lang="en-SG" i="1" dirty="0" smtClean="0">
                        <a:latin typeface="Cambria Math" panose="02040503050406030204" pitchFamily="18" charset="0"/>
                      </a:rPr>
                      <m:t>𝑋</m:t>
                    </m:r>
                  </m:oMath>
                </a14:m>
                <a:r>
                  <a:rPr lang="en-SG" dirty="0"/>
                  <a:t> and </a:t>
                </a:r>
                <a14:m>
                  <m:oMath xmlns:m="http://schemas.openxmlformats.org/officeDocument/2006/math">
                    <m:sSup>
                      <m:sSupPr>
                        <m:ctrlPr>
                          <a:rPr lang="en-GB" i="1" dirty="0">
                            <a:latin typeface="Cambria Math" panose="02040503050406030204" pitchFamily="18" charset="0"/>
                          </a:rPr>
                        </m:ctrlPr>
                      </m:sSupPr>
                      <m:e>
                        <m:d>
                          <m:dPr>
                            <m:ctrlPr>
                              <a:rPr lang="fr-FR" i="1" dirty="0">
                                <a:latin typeface="Cambria Math" panose="02040503050406030204" pitchFamily="18" charset="0"/>
                              </a:rPr>
                            </m:ctrlPr>
                          </m:dPr>
                          <m:e>
                            <m:r>
                              <a:rPr lang="fr-FR" i="1" dirty="0">
                                <a:latin typeface="Cambria Math" panose="02040503050406030204" pitchFamily="18" charset="0"/>
                              </a:rPr>
                              <m:t>𝑋</m:t>
                            </m:r>
                          </m:e>
                        </m:d>
                      </m:e>
                      <m:sup>
                        <m:r>
                          <a:rPr lang="en-GB" i="1" dirty="0">
                            <a:latin typeface="Cambria Math" panose="02040503050406030204" pitchFamily="18" charset="0"/>
                          </a:rPr>
                          <m:t>−1</m:t>
                        </m:r>
                      </m:sup>
                    </m:sSup>
                    <m:r>
                      <a:rPr lang="fr-FR" i="1" dirty="0">
                        <a:latin typeface="Cambria Math" panose="02040503050406030204" pitchFamily="18" charset="0"/>
                      </a:rPr>
                      <m:t> </m:t>
                    </m:r>
                  </m:oMath>
                </a14:m>
                <a:r>
                  <a:rPr lang="en-SG" dirty="0"/>
                  <a:t>its inverse.</a:t>
                </a:r>
              </a:p>
            </p:txBody>
          </p:sp>
        </mc:Choice>
        <mc:Fallback xmlns="">
          <p:sp>
            <p:nvSpPr>
              <p:cNvPr id="4" name="Content Placeholder 3">
                <a:extLst>
                  <a:ext uri="{FF2B5EF4-FFF2-40B4-BE49-F238E27FC236}">
                    <a16:creationId xmlns:a16="http://schemas.microsoft.com/office/drawing/2014/main" id="{C8CC4A7A-9293-F3BF-75E4-32E5E156B9BE}"/>
                  </a:ext>
                </a:extLst>
              </p:cNvPr>
              <p:cNvSpPr>
                <a:spLocks noGrp="1" noRot="1" noChangeAspect="1" noMove="1" noResize="1" noEditPoints="1" noAdjustHandles="1" noChangeArrowheads="1" noChangeShapeType="1" noTextEdit="1"/>
              </p:cNvSpPr>
              <p:nvPr>
                <p:ph sz="half" idx="2"/>
              </p:nvPr>
            </p:nvSpPr>
            <p:spPr>
              <a:xfrm>
                <a:off x="6172199" y="1825625"/>
                <a:ext cx="5629031" cy="5032374"/>
              </a:xfrm>
              <a:blipFill>
                <a:blip r:embed="rId3"/>
                <a:stretch>
                  <a:fillRect l="-2165" t="-1937"/>
                </a:stretch>
              </a:blipFill>
            </p:spPr>
            <p:txBody>
              <a:bodyPr/>
              <a:lstStyle/>
              <a:p>
                <a:r>
                  <a:rPr lang="en-SG">
                    <a:noFill/>
                  </a:rPr>
                  <a:t> </a:t>
                </a:r>
              </a:p>
            </p:txBody>
          </p:sp>
        </mc:Fallback>
      </mc:AlternateContent>
    </p:spTree>
    <p:extLst>
      <p:ext uri="{BB962C8B-B14F-4D97-AF65-F5344CB8AC3E}">
        <p14:creationId xmlns:p14="http://schemas.microsoft.com/office/powerpoint/2010/main" val="38417488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4629-7F60-E5FD-B47D-000457F3C699}"/>
              </a:ext>
            </a:extLst>
          </p:cNvPr>
          <p:cNvSpPr>
            <a:spLocks noGrp="1"/>
          </p:cNvSpPr>
          <p:nvPr>
            <p:ph type="title"/>
          </p:nvPr>
        </p:nvSpPr>
        <p:spPr/>
        <p:txBody>
          <a:bodyPr/>
          <a:lstStyle/>
          <a:p>
            <a:r>
              <a:rPr lang="en-GB" dirty="0"/>
              <a:t>Training a linear regression model</a:t>
            </a:r>
            <a:endParaRPr lang="en-SG" dirty="0"/>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3FC4885D-D96C-48A4-C98F-2303966A0A24}"/>
                  </a:ext>
                </a:extLst>
              </p:cNvPr>
              <p:cNvSpPr>
                <a:spLocks noGrp="1"/>
              </p:cNvSpPr>
              <p:nvPr>
                <p:ph idx="1"/>
              </p:nvPr>
            </p:nvSpPr>
            <p:spPr/>
            <p:txBody>
              <a:bodyPr/>
              <a:lstStyle/>
              <a:p>
                <a:pPr marL="0" indent="0">
                  <a:buNone/>
                </a:pPr>
                <a:r>
                  <a:rPr lang="fr-FR" b="1" dirty="0"/>
                  <a:t>Normal Equation: </a:t>
                </a:r>
                <a14:m>
                  <m:oMath xmlns:m="http://schemas.openxmlformats.org/officeDocument/2006/math">
                    <m:sSup>
                      <m:sSupPr>
                        <m:ctrlPr>
                          <a:rPr lang="fr-FR" i="1" dirty="0" smtClean="0">
                            <a:latin typeface="Cambria Math" panose="02040503050406030204" pitchFamily="18" charset="0"/>
                          </a:rPr>
                        </m:ctrlPr>
                      </m:sSupPr>
                      <m:e>
                        <m:r>
                          <a:rPr lang="fr-FR" i="1" dirty="0" smtClean="0">
                            <a:latin typeface="Cambria Math" panose="02040503050406030204" pitchFamily="18" charset="0"/>
                          </a:rPr>
                          <m:t>𝑊</m:t>
                        </m:r>
                      </m:e>
                      <m:sup>
                        <m:r>
                          <a:rPr lang="fr-FR" i="1" dirty="0" smtClean="0">
                            <a:latin typeface="Cambria Math" panose="02040503050406030204" pitchFamily="18" charset="0"/>
                          </a:rPr>
                          <m:t>∗</m:t>
                        </m:r>
                      </m:sup>
                    </m:sSup>
                    <m:r>
                      <a:rPr lang="fr-FR" i="1" dirty="0" smtClean="0">
                        <a:latin typeface="Cambria Math" panose="02040503050406030204" pitchFamily="18" charset="0"/>
                      </a:rPr>
                      <m:t> = </m:t>
                    </m:r>
                    <m:sSup>
                      <m:sSupPr>
                        <m:ctrlPr>
                          <a:rPr lang="en-GB" b="0" i="1" dirty="0" smtClean="0">
                            <a:latin typeface="Cambria Math" panose="02040503050406030204" pitchFamily="18" charset="0"/>
                          </a:rPr>
                        </m:ctrlPr>
                      </m:sSupPr>
                      <m:e>
                        <m:d>
                          <m:dPr>
                            <m:ctrlPr>
                              <a:rPr lang="fr-FR" i="1" dirty="0" smtClean="0">
                                <a:latin typeface="Cambria Math" panose="02040503050406030204" pitchFamily="18" charset="0"/>
                              </a:rPr>
                            </m:ctrlPr>
                          </m:dPr>
                          <m:e>
                            <m:sSup>
                              <m:sSupPr>
                                <m:ctrlPr>
                                  <a:rPr lang="fr-FR" i="1" dirty="0" smtClean="0">
                                    <a:latin typeface="Cambria Math" panose="02040503050406030204" pitchFamily="18" charset="0"/>
                                  </a:rPr>
                                </m:ctrlPr>
                              </m:sSupPr>
                              <m:e>
                                <m:r>
                                  <a:rPr lang="fr-FR" i="1" dirty="0" smtClean="0">
                                    <a:latin typeface="Cambria Math" panose="02040503050406030204" pitchFamily="18" charset="0"/>
                                  </a:rPr>
                                  <m:t>𝑋</m:t>
                                </m:r>
                              </m:e>
                              <m:sup>
                                <m:r>
                                  <a:rPr lang="fr-FR" i="1" dirty="0" smtClean="0">
                                    <a:latin typeface="Cambria Math" panose="02040503050406030204" pitchFamily="18" charset="0"/>
                                  </a:rPr>
                                  <m:t>𝑇</m:t>
                                </m:r>
                              </m:sup>
                            </m:sSup>
                            <m:r>
                              <a:rPr lang="fr-FR" i="1" dirty="0" smtClean="0">
                                <a:latin typeface="Cambria Math" panose="02040503050406030204" pitchFamily="18" charset="0"/>
                              </a:rPr>
                              <m:t> </m:t>
                            </m:r>
                            <m:r>
                              <a:rPr lang="fr-FR" i="1" dirty="0" smtClean="0">
                                <a:latin typeface="Cambria Math" panose="02040503050406030204" pitchFamily="18" charset="0"/>
                              </a:rPr>
                              <m:t>𝑋</m:t>
                            </m:r>
                          </m:e>
                        </m:d>
                      </m:e>
                      <m:sup>
                        <m:r>
                          <a:rPr lang="en-GB" b="0" i="1" dirty="0" smtClean="0">
                            <a:latin typeface="Cambria Math" panose="02040503050406030204" pitchFamily="18" charset="0"/>
                          </a:rPr>
                          <m:t>−1</m:t>
                        </m:r>
                      </m:sup>
                    </m:sSup>
                    <m:r>
                      <a:rPr lang="fr-FR" i="1" dirty="0" smtClean="0">
                        <a:latin typeface="Cambria Math" panose="02040503050406030204" pitchFamily="18" charset="0"/>
                      </a:rPr>
                      <m:t> </m:t>
                    </m:r>
                    <m:sSup>
                      <m:sSupPr>
                        <m:ctrlPr>
                          <a:rPr lang="fr-FR" i="1" dirty="0" smtClean="0">
                            <a:latin typeface="Cambria Math" panose="02040503050406030204" pitchFamily="18" charset="0"/>
                          </a:rPr>
                        </m:ctrlPr>
                      </m:sSupPr>
                      <m:e>
                        <m:r>
                          <a:rPr lang="fr-FR" i="1" dirty="0" smtClean="0">
                            <a:latin typeface="Cambria Math" panose="02040503050406030204" pitchFamily="18" charset="0"/>
                          </a:rPr>
                          <m:t>𝑋</m:t>
                        </m:r>
                      </m:e>
                      <m:sup>
                        <m:r>
                          <a:rPr lang="fr-FR" i="1" dirty="0" smtClean="0">
                            <a:latin typeface="Cambria Math" panose="02040503050406030204" pitchFamily="18" charset="0"/>
                          </a:rPr>
                          <m:t>𝑇</m:t>
                        </m:r>
                      </m:sup>
                    </m:sSup>
                    <m:r>
                      <a:rPr lang="fr-FR" i="1" dirty="0" smtClean="0">
                        <a:latin typeface="Cambria Math" panose="02040503050406030204" pitchFamily="18" charset="0"/>
                      </a:rPr>
                      <m:t> </m:t>
                    </m:r>
                    <m:r>
                      <a:rPr lang="fr-FR" i="1" dirty="0" smtClean="0">
                        <a:latin typeface="Cambria Math" panose="02040503050406030204" pitchFamily="18" charset="0"/>
                      </a:rPr>
                      <m:t>𝑌</m:t>
                    </m:r>
                  </m:oMath>
                </a14:m>
                <a:endParaRPr lang="en-SG" dirty="0"/>
              </a:p>
              <a:p>
                <a:endParaRPr lang="en-SG" dirty="0"/>
              </a:p>
            </p:txBody>
          </p:sp>
        </mc:Choice>
        <mc:Fallback xmlns="">
          <p:sp>
            <p:nvSpPr>
              <p:cNvPr id="11" name="Content Placeholder 10">
                <a:extLst>
                  <a:ext uri="{FF2B5EF4-FFF2-40B4-BE49-F238E27FC236}">
                    <a16:creationId xmlns:a16="http://schemas.microsoft.com/office/drawing/2014/main" id="{3FC4885D-D96C-48A4-C98F-2303966A0A24}"/>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10" name="Picture 9">
            <a:extLst>
              <a:ext uri="{FF2B5EF4-FFF2-40B4-BE49-F238E27FC236}">
                <a16:creationId xmlns:a16="http://schemas.microsoft.com/office/drawing/2014/main" id="{E886BF40-48AE-4447-9AED-733BFDD5F927}"/>
              </a:ext>
            </a:extLst>
          </p:cNvPr>
          <p:cNvPicPr>
            <a:picLocks noChangeAspect="1"/>
          </p:cNvPicPr>
          <p:nvPr/>
        </p:nvPicPr>
        <p:blipFill>
          <a:blip r:embed="rId3"/>
          <a:stretch>
            <a:fillRect/>
          </a:stretch>
        </p:blipFill>
        <p:spPr>
          <a:xfrm>
            <a:off x="1809650" y="2411852"/>
            <a:ext cx="7623519" cy="4446148"/>
          </a:xfrm>
          <a:prstGeom prst="rect">
            <a:avLst/>
          </a:prstGeom>
        </p:spPr>
      </p:pic>
    </p:spTree>
    <p:extLst>
      <p:ext uri="{BB962C8B-B14F-4D97-AF65-F5344CB8AC3E}">
        <p14:creationId xmlns:p14="http://schemas.microsoft.com/office/powerpoint/2010/main" val="36195682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C04D3AE-6054-5962-9876-6BD5F58DC386}"/>
              </a:ext>
            </a:extLst>
          </p:cNvPr>
          <p:cNvPicPr>
            <a:picLocks noChangeAspect="1"/>
          </p:cNvPicPr>
          <p:nvPr/>
        </p:nvPicPr>
        <p:blipFill>
          <a:blip r:embed="rId2"/>
          <a:stretch>
            <a:fillRect/>
          </a:stretch>
        </p:blipFill>
        <p:spPr>
          <a:xfrm>
            <a:off x="1332835" y="271022"/>
            <a:ext cx="9526329" cy="6315956"/>
          </a:xfrm>
          <a:prstGeom prst="rect">
            <a:avLst/>
          </a:prstGeom>
        </p:spPr>
      </p:pic>
      <p:sp>
        <p:nvSpPr>
          <p:cNvPr id="2" name="TextBox 1">
            <a:extLst>
              <a:ext uri="{FF2B5EF4-FFF2-40B4-BE49-F238E27FC236}">
                <a16:creationId xmlns:a16="http://schemas.microsoft.com/office/drawing/2014/main" id="{92B6E31A-E890-26C8-4B56-79FB68AFF7F3}"/>
              </a:ext>
            </a:extLst>
          </p:cNvPr>
          <p:cNvSpPr txBox="1"/>
          <p:nvPr/>
        </p:nvSpPr>
        <p:spPr>
          <a:xfrm>
            <a:off x="6423029" y="4566429"/>
            <a:ext cx="4298462" cy="1569660"/>
          </a:xfrm>
          <a:prstGeom prst="rect">
            <a:avLst/>
          </a:prstGeom>
          <a:noFill/>
        </p:spPr>
        <p:txBody>
          <a:bodyPr wrap="square" rtlCol="0">
            <a:spAutoFit/>
          </a:bodyPr>
          <a:lstStyle/>
          <a:p>
            <a:pPr algn="ctr"/>
            <a:r>
              <a:rPr lang="en-GB" sz="2400" b="1" dirty="0">
                <a:solidFill>
                  <a:schemeClr val="accent2"/>
                </a:solidFill>
              </a:rPr>
              <a:t>Purple line is the optimal set of parameters for our model on the given task and dataset!</a:t>
            </a:r>
          </a:p>
          <a:p>
            <a:pPr algn="ctr"/>
            <a:r>
              <a:rPr lang="en-GB" sz="2400" b="1" dirty="0">
                <a:solidFill>
                  <a:schemeClr val="accent2"/>
                </a:solidFill>
              </a:rPr>
              <a:t>Black was pretty close!</a:t>
            </a:r>
            <a:endParaRPr lang="en-SG" sz="2400" b="1" dirty="0">
              <a:solidFill>
                <a:schemeClr val="accent2"/>
              </a:solidFill>
            </a:endParaRPr>
          </a:p>
        </p:txBody>
      </p:sp>
    </p:spTree>
    <p:extLst>
      <p:ext uri="{BB962C8B-B14F-4D97-AF65-F5344CB8AC3E}">
        <p14:creationId xmlns:p14="http://schemas.microsoft.com/office/powerpoint/2010/main" val="23810611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2475A-1D2B-A371-BBF5-4CF58182D2F1}"/>
              </a:ext>
            </a:extLst>
          </p:cNvPr>
          <p:cNvSpPr>
            <a:spLocks noGrp="1"/>
          </p:cNvSpPr>
          <p:nvPr>
            <p:ph type="title"/>
          </p:nvPr>
        </p:nvSpPr>
        <p:spPr/>
        <p:txBody>
          <a:bodyPr/>
          <a:lstStyle/>
          <a:p>
            <a:r>
              <a:rPr lang="en-GB" dirty="0"/>
              <a:t>The problem with the normal equation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B07062-8C65-24A8-A029-407C69D7BDA2}"/>
                  </a:ext>
                </a:extLst>
              </p:cNvPr>
              <p:cNvSpPr>
                <a:spLocks noGrp="1"/>
              </p:cNvSpPr>
              <p:nvPr>
                <p:ph idx="1"/>
              </p:nvPr>
            </p:nvSpPr>
            <p:spPr>
              <a:xfrm>
                <a:off x="838200" y="1825624"/>
                <a:ext cx="10515600" cy="5032375"/>
              </a:xfrm>
            </p:spPr>
            <p:txBody>
              <a:bodyPr>
                <a:normAutofit/>
              </a:bodyPr>
              <a:lstStyle/>
              <a:p>
                <a:pPr marL="0" indent="0">
                  <a:buNone/>
                </a:pPr>
                <a:r>
                  <a:rPr lang="en-GB" dirty="0"/>
                  <a:t>The normal equation </a:t>
                </a:r>
                <a14:m>
                  <m:oMath xmlns:m="http://schemas.openxmlformats.org/officeDocument/2006/math">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fr-FR" i="1" dirty="0">
                        <a:latin typeface="Cambria Math" panose="02040503050406030204" pitchFamily="18" charset="0"/>
                      </a:rPr>
                      <m:t> = </m:t>
                    </m:r>
                    <m:sSup>
                      <m:sSupPr>
                        <m:ctrlPr>
                          <a:rPr lang="en-GB" i="1" dirty="0">
                            <a:latin typeface="Cambria Math" panose="02040503050406030204" pitchFamily="18" charset="0"/>
                          </a:rPr>
                        </m:ctrlPr>
                      </m:sSupPr>
                      <m:e>
                        <m:d>
                          <m:dPr>
                            <m:ctrlPr>
                              <a:rPr lang="fr-FR" i="1" dirty="0">
                                <a:latin typeface="Cambria Math" panose="02040503050406030204" pitchFamily="18" charset="0"/>
                              </a:rPr>
                            </m:ctrlPr>
                          </m:dPr>
                          <m:e>
                            <m:sSup>
                              <m:sSupPr>
                                <m:ctrlPr>
                                  <a:rPr lang="fr-FR" i="1" dirty="0">
                                    <a:latin typeface="Cambria Math" panose="02040503050406030204" pitchFamily="18" charset="0"/>
                                  </a:rPr>
                                </m:ctrlPr>
                              </m:sSupPr>
                              <m:e>
                                <m:r>
                                  <a:rPr lang="fr-FR" i="1" dirty="0">
                                    <a:latin typeface="Cambria Math" panose="02040503050406030204" pitchFamily="18" charset="0"/>
                                  </a:rPr>
                                  <m:t>𝑋</m:t>
                                </m:r>
                              </m:e>
                              <m:sup>
                                <m:r>
                                  <a:rPr lang="fr-FR" i="1" dirty="0">
                                    <a:latin typeface="Cambria Math" panose="02040503050406030204" pitchFamily="18" charset="0"/>
                                  </a:rPr>
                                  <m:t>𝑇</m:t>
                                </m:r>
                              </m:sup>
                            </m:sSup>
                            <m:r>
                              <a:rPr lang="fr-FR" i="1" dirty="0">
                                <a:latin typeface="Cambria Math" panose="02040503050406030204" pitchFamily="18" charset="0"/>
                              </a:rPr>
                              <m:t> </m:t>
                            </m:r>
                            <m:r>
                              <a:rPr lang="fr-FR" i="1" dirty="0">
                                <a:latin typeface="Cambria Math" panose="02040503050406030204" pitchFamily="18" charset="0"/>
                              </a:rPr>
                              <m:t>𝑋</m:t>
                            </m:r>
                          </m:e>
                        </m:d>
                      </m:e>
                      <m:sup>
                        <m:r>
                          <a:rPr lang="en-GB" i="1" dirty="0">
                            <a:latin typeface="Cambria Math" panose="02040503050406030204" pitchFamily="18" charset="0"/>
                          </a:rPr>
                          <m:t>−1</m:t>
                        </m:r>
                      </m:sup>
                    </m:sSup>
                    <m:r>
                      <a:rPr lang="fr-FR" i="1" dirty="0">
                        <a:latin typeface="Cambria Math" panose="02040503050406030204" pitchFamily="18" charset="0"/>
                      </a:rPr>
                      <m:t> </m:t>
                    </m:r>
                    <m:sSup>
                      <m:sSupPr>
                        <m:ctrlPr>
                          <a:rPr lang="fr-FR" i="1" dirty="0">
                            <a:latin typeface="Cambria Math" panose="02040503050406030204" pitchFamily="18" charset="0"/>
                          </a:rPr>
                        </m:ctrlPr>
                      </m:sSupPr>
                      <m:e>
                        <m:r>
                          <a:rPr lang="fr-FR" i="1" dirty="0">
                            <a:latin typeface="Cambria Math" panose="02040503050406030204" pitchFamily="18" charset="0"/>
                          </a:rPr>
                          <m:t>𝑋</m:t>
                        </m:r>
                      </m:e>
                      <m:sup>
                        <m:r>
                          <a:rPr lang="fr-FR" i="1" dirty="0">
                            <a:latin typeface="Cambria Math" panose="02040503050406030204" pitchFamily="18" charset="0"/>
                          </a:rPr>
                          <m:t>𝑇</m:t>
                        </m:r>
                      </m:sup>
                    </m:sSup>
                    <m:r>
                      <a:rPr lang="fr-FR" i="1" dirty="0">
                        <a:latin typeface="Cambria Math" panose="02040503050406030204" pitchFamily="18" charset="0"/>
                      </a:rPr>
                      <m:t> </m:t>
                    </m:r>
                    <m:r>
                      <a:rPr lang="fr-FR" i="1" dirty="0">
                        <a:latin typeface="Cambria Math" panose="02040503050406030204" pitchFamily="18" charset="0"/>
                      </a:rPr>
                      <m:t>𝑌</m:t>
                    </m:r>
                    <m:r>
                      <a:rPr lang="en-GB" b="0" i="0" dirty="0" smtClean="0">
                        <a:latin typeface="Cambria Math" panose="02040503050406030204" pitchFamily="18" charset="0"/>
                      </a:rPr>
                      <m:t> </m:t>
                    </m:r>
                  </m:oMath>
                </a14:m>
                <a:r>
                  <a:rPr lang="en-GB" dirty="0"/>
                  <a:t>immediately gives the optimal set of parameters </a:t>
                </a:r>
                <a14:m>
                  <m:oMath xmlns:m="http://schemas.openxmlformats.org/officeDocument/2006/math">
                    <m:r>
                      <a:rPr lang="en-GB" i="1" dirty="0" smtClean="0">
                        <a:latin typeface="Cambria Math" panose="02040503050406030204" pitchFamily="18" charset="0"/>
                      </a:rPr>
                      <m:t>(</m:t>
                    </m:r>
                    <m:sSup>
                      <m:sSupPr>
                        <m:ctrlPr>
                          <a:rPr lang="en-GB" b="0" i="1" dirty="0" smtClean="0">
                            <a:latin typeface="Cambria Math" panose="02040503050406030204" pitchFamily="18" charset="0"/>
                          </a:rPr>
                        </m:ctrlPr>
                      </m:sSupPr>
                      <m:e>
                        <m:r>
                          <a:rPr lang="en-GB" i="1" dirty="0" smtClean="0">
                            <a:latin typeface="Cambria Math" panose="02040503050406030204" pitchFamily="18" charset="0"/>
                          </a:rPr>
                          <m:t>𝑎</m:t>
                        </m:r>
                      </m:e>
                      <m:sup>
                        <m:r>
                          <a:rPr lang="en-GB" b="0" i="1" dirty="0" smtClean="0">
                            <a:latin typeface="Cambria Math" panose="02040503050406030204" pitchFamily="18" charset="0"/>
                          </a:rPr>
                          <m:t>∗</m:t>
                        </m:r>
                      </m:sup>
                    </m:sSup>
                    <m:r>
                      <a:rPr lang="en-GB" i="1" dirty="0" smtClean="0">
                        <a:latin typeface="Cambria Math" panose="02040503050406030204" pitchFamily="18" charset="0"/>
                      </a:rPr>
                      <m:t>, </m:t>
                    </m:r>
                    <m:sSup>
                      <m:sSupPr>
                        <m:ctrlPr>
                          <a:rPr lang="en-GB" b="0" i="1" dirty="0" smtClean="0">
                            <a:latin typeface="Cambria Math" panose="02040503050406030204" pitchFamily="18" charset="0"/>
                          </a:rPr>
                        </m:ctrlPr>
                      </m:sSupPr>
                      <m:e>
                        <m:r>
                          <a:rPr lang="en-GB" i="1" dirty="0" smtClean="0">
                            <a:latin typeface="Cambria Math" panose="02040503050406030204" pitchFamily="18" charset="0"/>
                          </a:rPr>
                          <m:t>𝑏</m:t>
                        </m:r>
                      </m:e>
                      <m:sup>
                        <m:r>
                          <a:rPr lang="en-GB" b="0" i="1" dirty="0" smtClean="0">
                            <a:latin typeface="Cambria Math" panose="02040503050406030204" pitchFamily="18" charset="0"/>
                          </a:rPr>
                          <m:t>∗</m:t>
                        </m:r>
                      </m:sup>
                    </m:sSup>
                    <m:r>
                      <a:rPr lang="en-GB" i="1" dirty="0" smtClean="0">
                        <a:latin typeface="Cambria Math" panose="02040503050406030204" pitchFamily="18" charset="0"/>
                      </a:rPr>
                      <m:t>) </m:t>
                    </m:r>
                  </m:oMath>
                </a14:m>
                <a:r>
                  <a:rPr lang="en-GB" dirty="0"/>
                  <a:t>to use for linear regression.</a:t>
                </a:r>
              </a:p>
              <a:p>
                <a:pPr marL="0" indent="0">
                  <a:buNone/>
                </a:pPr>
                <a:r>
                  <a:rPr lang="en-GB" dirty="0"/>
                  <a:t>A few problems when using the normal equation:</a:t>
                </a:r>
              </a:p>
              <a:p>
                <a:r>
                  <a:rPr lang="en-GB" dirty="0"/>
                  <a:t>It can become </a:t>
                </a:r>
                <a:r>
                  <a:rPr lang="en-GB" b="1" dirty="0"/>
                  <a:t>computationally expensive when the number of samples (or features) in the dataset, and therefore the dimensions in </a:t>
                </a:r>
                <a14:m>
                  <m:oMath xmlns:m="http://schemas.openxmlformats.org/officeDocument/2006/math">
                    <m:r>
                      <a:rPr lang="en-GB" b="1" i="1" dirty="0" smtClean="0">
                        <a:latin typeface="Cambria Math" panose="02040503050406030204" pitchFamily="18" charset="0"/>
                      </a:rPr>
                      <m:t>𝑿</m:t>
                    </m:r>
                  </m:oMath>
                </a14:m>
                <a:r>
                  <a:rPr lang="en-GB" b="1" dirty="0"/>
                  <a:t> are large</a:t>
                </a:r>
                <a:r>
                  <a:rPr lang="en-GB" dirty="0"/>
                  <a:t>.</a:t>
                </a:r>
              </a:p>
              <a:p>
                <a:r>
                  <a:rPr lang="en-GB" dirty="0"/>
                  <a:t>In some scenarios, it might even be </a:t>
                </a:r>
                <a:r>
                  <a:rPr lang="en-GB" b="1" dirty="0"/>
                  <a:t>impossible</a:t>
                </a:r>
                <a:r>
                  <a:rPr lang="en-GB" dirty="0"/>
                  <a:t> </a:t>
                </a:r>
                <a:r>
                  <a:rPr lang="en-GB" b="1" dirty="0"/>
                  <a:t>to use when the matrix product of feature variables </a:t>
                </a:r>
                <a14:m>
                  <m:oMath xmlns:m="http://schemas.openxmlformats.org/officeDocument/2006/math">
                    <m:sSup>
                      <m:sSupPr>
                        <m:ctrlPr>
                          <a:rPr lang="en-GB" b="1" i="1" dirty="0" smtClean="0">
                            <a:latin typeface="Cambria Math" panose="02040503050406030204" pitchFamily="18" charset="0"/>
                          </a:rPr>
                        </m:ctrlPr>
                      </m:sSupPr>
                      <m:e>
                        <m:d>
                          <m:dPr>
                            <m:ctrlPr>
                              <a:rPr lang="fr-FR" b="1" i="1" dirty="0">
                                <a:latin typeface="Cambria Math" panose="02040503050406030204" pitchFamily="18" charset="0"/>
                              </a:rPr>
                            </m:ctrlPr>
                          </m:dPr>
                          <m:e>
                            <m:sSup>
                              <m:sSupPr>
                                <m:ctrlPr>
                                  <a:rPr lang="fr-FR" b="1" i="1" dirty="0">
                                    <a:latin typeface="Cambria Math" panose="02040503050406030204" pitchFamily="18" charset="0"/>
                                  </a:rPr>
                                </m:ctrlPr>
                              </m:sSupPr>
                              <m:e>
                                <m:r>
                                  <a:rPr lang="fr-FR" b="1" i="1" dirty="0">
                                    <a:latin typeface="Cambria Math" panose="02040503050406030204" pitchFamily="18" charset="0"/>
                                  </a:rPr>
                                  <m:t>𝑿</m:t>
                                </m:r>
                              </m:e>
                              <m:sup>
                                <m:r>
                                  <a:rPr lang="fr-FR" b="1" i="1" dirty="0">
                                    <a:latin typeface="Cambria Math" panose="02040503050406030204" pitchFamily="18" charset="0"/>
                                  </a:rPr>
                                  <m:t>𝑻</m:t>
                                </m:r>
                              </m:sup>
                            </m:sSup>
                            <m:r>
                              <a:rPr lang="fr-FR" b="1" i="1" dirty="0">
                                <a:latin typeface="Cambria Math" panose="02040503050406030204" pitchFamily="18" charset="0"/>
                              </a:rPr>
                              <m:t> </m:t>
                            </m:r>
                            <m:r>
                              <a:rPr lang="fr-FR" b="1" i="1" dirty="0">
                                <a:latin typeface="Cambria Math" panose="02040503050406030204" pitchFamily="18" charset="0"/>
                              </a:rPr>
                              <m:t>𝑿</m:t>
                            </m:r>
                          </m:e>
                        </m:d>
                      </m:e>
                      <m:sup>
                        <m:r>
                          <a:rPr lang="en-GB" b="1" i="1" dirty="0" smtClean="0">
                            <a:latin typeface="Cambria Math" panose="02040503050406030204" pitchFamily="18" charset="0"/>
                          </a:rPr>
                          <m:t>−</m:t>
                        </m:r>
                        <m:r>
                          <a:rPr lang="en-GB" b="1" i="1" dirty="0" smtClean="0">
                            <a:latin typeface="Cambria Math" panose="02040503050406030204" pitchFamily="18" charset="0"/>
                          </a:rPr>
                          <m:t>𝟏</m:t>
                        </m:r>
                      </m:sup>
                    </m:sSup>
                  </m:oMath>
                </a14:m>
                <a:r>
                  <a:rPr lang="en-GB" b="1" dirty="0"/>
                  <a:t> cannot be calculated (</a:t>
                </a:r>
                <a14:m>
                  <m:oMath xmlns:m="http://schemas.openxmlformats.org/officeDocument/2006/math">
                    <m:sSup>
                      <m:sSupPr>
                        <m:ctrlPr>
                          <a:rPr lang="fr-FR" b="1" i="1" dirty="0">
                            <a:latin typeface="Cambria Math" panose="02040503050406030204" pitchFamily="18" charset="0"/>
                          </a:rPr>
                        </m:ctrlPr>
                      </m:sSupPr>
                      <m:e>
                        <m:r>
                          <a:rPr lang="fr-FR" b="1" i="1" dirty="0">
                            <a:latin typeface="Cambria Math" panose="02040503050406030204" pitchFamily="18" charset="0"/>
                          </a:rPr>
                          <m:t>𝑿</m:t>
                        </m:r>
                      </m:e>
                      <m:sup>
                        <m:r>
                          <a:rPr lang="fr-FR" b="1" i="1" dirty="0">
                            <a:latin typeface="Cambria Math" panose="02040503050406030204" pitchFamily="18" charset="0"/>
                          </a:rPr>
                          <m:t>𝑻</m:t>
                        </m:r>
                      </m:sup>
                    </m:sSup>
                    <m:r>
                      <a:rPr lang="fr-FR" b="1" i="1" dirty="0">
                        <a:latin typeface="Cambria Math" panose="02040503050406030204" pitchFamily="18" charset="0"/>
                      </a:rPr>
                      <m:t> </m:t>
                    </m:r>
                    <m:r>
                      <a:rPr lang="fr-FR" b="1" i="1" dirty="0">
                        <a:latin typeface="Cambria Math" panose="02040503050406030204" pitchFamily="18" charset="0"/>
                      </a:rPr>
                      <m:t>𝑿</m:t>
                    </m:r>
                    <m:r>
                      <a:rPr lang="fr-FR" b="1" i="1" dirty="0">
                        <a:latin typeface="Cambria Math" panose="02040503050406030204" pitchFamily="18" charset="0"/>
                      </a:rPr>
                      <m:t> </m:t>
                    </m:r>
                  </m:oMath>
                </a14:m>
                <a:r>
                  <a:rPr lang="en-GB" b="1" dirty="0"/>
                  <a:t>might not always be invertible)</a:t>
                </a:r>
                <a:r>
                  <a:rPr lang="en-GB" dirty="0"/>
                  <a:t>.</a:t>
                </a:r>
                <a:endParaRPr lang="en-GB" b="1" dirty="0">
                  <a:solidFill>
                    <a:srgbClr val="7030A0"/>
                  </a:solidFill>
                </a:endParaRPr>
              </a:p>
              <a:p>
                <a:pPr marL="0" indent="0">
                  <a:buNone/>
                </a:pPr>
                <a:r>
                  <a:rPr lang="en-GB" b="1" dirty="0">
                    <a:solidFill>
                      <a:srgbClr val="7030A0"/>
                    </a:solidFill>
                  </a:rPr>
                  <a:t>Another problem: More sophisticated models than linear regression will NOT have a normal equation, anyway.</a:t>
                </a:r>
                <a:endParaRPr lang="en-SG" b="1" dirty="0">
                  <a:solidFill>
                    <a:srgbClr val="7030A0"/>
                  </a:solidFill>
                </a:endParaRPr>
              </a:p>
            </p:txBody>
          </p:sp>
        </mc:Choice>
        <mc:Fallback xmlns="">
          <p:sp>
            <p:nvSpPr>
              <p:cNvPr id="3" name="Content Placeholder 2">
                <a:extLst>
                  <a:ext uri="{FF2B5EF4-FFF2-40B4-BE49-F238E27FC236}">
                    <a16:creationId xmlns:a16="http://schemas.microsoft.com/office/drawing/2014/main" id="{D9B07062-8C65-24A8-A029-407C69D7BDA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b="-2058"/>
                </a:stretch>
              </a:blipFill>
            </p:spPr>
            <p:txBody>
              <a:bodyPr/>
              <a:lstStyle/>
              <a:p>
                <a:r>
                  <a:rPr lang="en-GB">
                    <a:noFill/>
                  </a:rPr>
                  <a:t> </a:t>
                </a:r>
              </a:p>
            </p:txBody>
          </p:sp>
        </mc:Fallback>
      </mc:AlternateContent>
    </p:spTree>
    <p:extLst>
      <p:ext uri="{BB962C8B-B14F-4D97-AF65-F5344CB8AC3E}">
        <p14:creationId xmlns:p14="http://schemas.microsoft.com/office/powerpoint/2010/main" val="1658418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0BE4C-272B-C03E-DD88-7571A261CA82}"/>
              </a:ext>
            </a:extLst>
          </p:cNvPr>
          <p:cNvSpPr>
            <a:spLocks noGrp="1"/>
          </p:cNvSpPr>
          <p:nvPr>
            <p:ph type="title"/>
          </p:nvPr>
        </p:nvSpPr>
        <p:spPr/>
        <p:txBody>
          <a:bodyPr/>
          <a:lstStyle/>
          <a:p>
            <a:r>
              <a:rPr lang="en-GB" dirty="0"/>
              <a:t>Gradient Descent, to the rescue!</a:t>
            </a:r>
            <a:endParaRPr lang="en-SG" dirty="0"/>
          </a:p>
        </p:txBody>
      </p:sp>
      <p:sp>
        <p:nvSpPr>
          <p:cNvPr id="3" name="Content Placeholder 2">
            <a:extLst>
              <a:ext uri="{FF2B5EF4-FFF2-40B4-BE49-F238E27FC236}">
                <a16:creationId xmlns:a16="http://schemas.microsoft.com/office/drawing/2014/main" id="{D4388233-A388-8683-C544-050DFB799AF8}"/>
              </a:ext>
            </a:extLst>
          </p:cNvPr>
          <p:cNvSpPr>
            <a:spLocks noGrp="1"/>
          </p:cNvSpPr>
          <p:nvPr>
            <p:ph sz="half" idx="1"/>
          </p:nvPr>
        </p:nvSpPr>
        <p:spPr>
          <a:xfrm>
            <a:off x="838200" y="1825624"/>
            <a:ext cx="5492260" cy="5032375"/>
          </a:xfrm>
        </p:spPr>
        <p:txBody>
          <a:bodyPr>
            <a:normAutofit/>
          </a:bodyPr>
          <a:lstStyle/>
          <a:p>
            <a:pPr marL="0" indent="0">
              <a:buNone/>
            </a:pPr>
            <a:r>
              <a:rPr lang="en-GB" b="1" dirty="0"/>
              <a:t>Definition (</a:t>
            </a:r>
            <a:r>
              <a:rPr lang="en-GB" b="1" dirty="0">
                <a:solidFill>
                  <a:srgbClr val="00B050"/>
                </a:solidFill>
              </a:rPr>
              <a:t>Gradient</a:t>
            </a:r>
            <a:r>
              <a:rPr lang="en-GB" b="1" dirty="0"/>
              <a:t> </a:t>
            </a:r>
            <a:r>
              <a:rPr lang="en-GB" b="1" dirty="0">
                <a:solidFill>
                  <a:srgbClr val="00B050"/>
                </a:solidFill>
              </a:rPr>
              <a:t>Descent</a:t>
            </a:r>
            <a:r>
              <a:rPr lang="en-GB" b="1" dirty="0"/>
              <a:t>):</a:t>
            </a:r>
          </a:p>
          <a:p>
            <a:pPr marL="0" indent="0">
              <a:buNone/>
            </a:pPr>
            <a:r>
              <a:rPr lang="en-GB" b="1" dirty="0">
                <a:solidFill>
                  <a:srgbClr val="00B050"/>
                </a:solidFill>
              </a:rPr>
              <a:t>Gradient</a:t>
            </a:r>
            <a:r>
              <a:rPr lang="en-GB" dirty="0"/>
              <a:t> </a:t>
            </a:r>
            <a:r>
              <a:rPr lang="en-GB" b="1" dirty="0">
                <a:solidFill>
                  <a:srgbClr val="00B050"/>
                </a:solidFill>
              </a:rPr>
              <a:t>Descent</a:t>
            </a:r>
            <a:r>
              <a:rPr lang="en-GB" b="1" dirty="0"/>
              <a:t> (GD) </a:t>
            </a:r>
            <a:r>
              <a:rPr lang="en-GB" dirty="0"/>
              <a:t>is an iterative algorithm used to solve optimization problems. </a:t>
            </a:r>
          </a:p>
          <a:p>
            <a:r>
              <a:rPr lang="en-GB" dirty="0"/>
              <a:t>It starts with an initial non-optimal set of parameters for our model.</a:t>
            </a:r>
          </a:p>
          <a:p>
            <a:r>
              <a:rPr lang="en-GB" dirty="0"/>
              <a:t>It then repeatedly updates the parameters in the direction of the negative gradient of the given loss/cost function, until it converges to a local minimum.</a:t>
            </a:r>
          </a:p>
        </p:txBody>
      </p:sp>
      <p:pic>
        <p:nvPicPr>
          <p:cNvPr id="8" name="Picture 7" descr="Chart, surface chart&#10;&#10;Description automatically generated">
            <a:extLst>
              <a:ext uri="{FF2B5EF4-FFF2-40B4-BE49-F238E27FC236}">
                <a16:creationId xmlns:a16="http://schemas.microsoft.com/office/drawing/2014/main" id="{B29F6DF0-27F6-C63D-18AE-44293D1822A1}"/>
              </a:ext>
            </a:extLst>
          </p:cNvPr>
          <p:cNvPicPr>
            <a:picLocks noChangeAspect="1"/>
          </p:cNvPicPr>
          <p:nvPr/>
        </p:nvPicPr>
        <p:blipFill rotWithShape="1">
          <a:blip r:embed="rId2">
            <a:extLst>
              <a:ext uri="{28A0092B-C50C-407E-A947-70E740481C1C}">
                <a14:useLocalDpi xmlns:a14="http://schemas.microsoft.com/office/drawing/2010/main" val="0"/>
              </a:ext>
            </a:extLst>
          </a:blip>
          <a:srcRect l="7730" r="6859"/>
          <a:stretch/>
        </p:blipFill>
        <p:spPr>
          <a:xfrm>
            <a:off x="6497501" y="1825624"/>
            <a:ext cx="5694500" cy="3752293"/>
          </a:xfrm>
          <a:prstGeom prst="rect">
            <a:avLst/>
          </a:prstGeom>
        </p:spPr>
      </p:pic>
      <p:sp>
        <p:nvSpPr>
          <p:cNvPr id="9" name="TextBox 8">
            <a:extLst>
              <a:ext uri="{FF2B5EF4-FFF2-40B4-BE49-F238E27FC236}">
                <a16:creationId xmlns:a16="http://schemas.microsoft.com/office/drawing/2014/main" id="{0BB1C582-47CF-4AFA-EA8B-86B2941D6F9A}"/>
              </a:ext>
            </a:extLst>
          </p:cNvPr>
          <p:cNvSpPr txBox="1"/>
          <p:nvPr/>
        </p:nvSpPr>
        <p:spPr>
          <a:xfrm>
            <a:off x="6869723" y="5963138"/>
            <a:ext cx="4986215" cy="707886"/>
          </a:xfrm>
          <a:prstGeom prst="rect">
            <a:avLst/>
          </a:prstGeom>
          <a:noFill/>
        </p:spPr>
        <p:txBody>
          <a:bodyPr wrap="square" rtlCol="0">
            <a:spAutoFit/>
          </a:bodyPr>
          <a:lstStyle/>
          <a:p>
            <a:pPr algn="ctr"/>
            <a:r>
              <a:rPr lang="en-GB" sz="2000" i="1" dirty="0"/>
              <a:t>Forgot about GD?</a:t>
            </a:r>
            <a:br>
              <a:rPr lang="en-GB" sz="2000" i="1" dirty="0"/>
            </a:br>
            <a:r>
              <a:rPr lang="en-GB" sz="2000" i="1" dirty="0"/>
              <a:t>Have a look at your notes from </a:t>
            </a:r>
            <a:r>
              <a:rPr lang="en-SG" sz="2000" i="1" dirty="0"/>
              <a:t>10.013 M&amp;A!</a:t>
            </a:r>
          </a:p>
        </p:txBody>
      </p:sp>
    </p:spTree>
    <p:extLst>
      <p:ext uri="{BB962C8B-B14F-4D97-AF65-F5344CB8AC3E}">
        <p14:creationId xmlns:p14="http://schemas.microsoft.com/office/powerpoint/2010/main" val="1833514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0BE4C-272B-C03E-DD88-7571A261CA82}"/>
              </a:ext>
            </a:extLst>
          </p:cNvPr>
          <p:cNvSpPr>
            <a:spLocks noGrp="1"/>
          </p:cNvSpPr>
          <p:nvPr>
            <p:ph type="title"/>
          </p:nvPr>
        </p:nvSpPr>
        <p:spPr/>
        <p:txBody>
          <a:bodyPr/>
          <a:lstStyle/>
          <a:p>
            <a:r>
              <a:rPr lang="en-GB" dirty="0"/>
              <a:t>Gradient Descent, to the rescue!</a:t>
            </a:r>
            <a:endParaRPr lang="en-SG" dirty="0"/>
          </a:p>
        </p:txBody>
      </p:sp>
      <p:sp>
        <p:nvSpPr>
          <p:cNvPr id="4" name="Content Placeholder 3">
            <a:extLst>
              <a:ext uri="{FF2B5EF4-FFF2-40B4-BE49-F238E27FC236}">
                <a16:creationId xmlns:a16="http://schemas.microsoft.com/office/drawing/2014/main" id="{ADB51212-91C2-7F91-BA3D-6836564C1BC7}"/>
              </a:ext>
            </a:extLst>
          </p:cNvPr>
          <p:cNvSpPr>
            <a:spLocks noGrp="1"/>
          </p:cNvSpPr>
          <p:nvPr>
            <p:ph sz="half" idx="2"/>
          </p:nvPr>
        </p:nvSpPr>
        <p:spPr>
          <a:xfrm>
            <a:off x="6172200" y="1825624"/>
            <a:ext cx="5181600" cy="5032375"/>
          </a:xfrm>
        </p:spPr>
        <p:txBody>
          <a:bodyPr>
            <a:normAutofit/>
          </a:bodyPr>
          <a:lstStyle/>
          <a:p>
            <a:r>
              <a:rPr lang="en-GB" dirty="0"/>
              <a:t>The normal equation has many problems…</a:t>
            </a:r>
          </a:p>
          <a:p>
            <a:r>
              <a:rPr lang="en-GB" dirty="0"/>
              <a:t>But GD, on the other hand can be used to find the optimal solution even when the normal equation is not applicable.</a:t>
            </a:r>
          </a:p>
          <a:p>
            <a:r>
              <a:rPr lang="en-GB" b="1" dirty="0"/>
              <a:t>While sub-optimal, the main advantage of gradient descent is that it can handle very large datasets and it can also be used for non-linear models.</a:t>
            </a:r>
            <a:endParaRPr lang="en-SG" b="1" dirty="0"/>
          </a:p>
        </p:txBody>
      </p:sp>
      <p:sp>
        <p:nvSpPr>
          <p:cNvPr id="7" name="Content Placeholder 2">
            <a:extLst>
              <a:ext uri="{FF2B5EF4-FFF2-40B4-BE49-F238E27FC236}">
                <a16:creationId xmlns:a16="http://schemas.microsoft.com/office/drawing/2014/main" id="{A7D54EF7-1264-F3B3-C8EE-CAC4D50A8A10}"/>
              </a:ext>
            </a:extLst>
          </p:cNvPr>
          <p:cNvSpPr>
            <a:spLocks noGrp="1"/>
          </p:cNvSpPr>
          <p:nvPr>
            <p:ph sz="half" idx="1"/>
          </p:nvPr>
        </p:nvSpPr>
        <p:spPr>
          <a:xfrm>
            <a:off x="838200" y="1825624"/>
            <a:ext cx="5492260" cy="5032375"/>
          </a:xfrm>
        </p:spPr>
        <p:txBody>
          <a:bodyPr>
            <a:normAutofit/>
          </a:bodyPr>
          <a:lstStyle/>
          <a:p>
            <a:pPr marL="0" indent="0">
              <a:buNone/>
            </a:pPr>
            <a:r>
              <a:rPr lang="en-GB" b="1" dirty="0"/>
              <a:t>Definition (</a:t>
            </a:r>
            <a:r>
              <a:rPr lang="en-GB" b="1" dirty="0">
                <a:solidFill>
                  <a:srgbClr val="00B050"/>
                </a:solidFill>
              </a:rPr>
              <a:t>Gradient</a:t>
            </a:r>
            <a:r>
              <a:rPr lang="en-GB" b="1" dirty="0"/>
              <a:t> </a:t>
            </a:r>
            <a:r>
              <a:rPr lang="en-GB" b="1" dirty="0">
                <a:solidFill>
                  <a:srgbClr val="00B050"/>
                </a:solidFill>
              </a:rPr>
              <a:t>Descent</a:t>
            </a:r>
            <a:r>
              <a:rPr lang="en-GB" b="1" dirty="0"/>
              <a:t>):</a:t>
            </a:r>
          </a:p>
          <a:p>
            <a:pPr marL="0" indent="0">
              <a:buNone/>
            </a:pPr>
            <a:r>
              <a:rPr lang="en-GB" b="1" dirty="0">
                <a:solidFill>
                  <a:srgbClr val="00B050"/>
                </a:solidFill>
              </a:rPr>
              <a:t>Gradient</a:t>
            </a:r>
            <a:r>
              <a:rPr lang="en-GB" dirty="0"/>
              <a:t> </a:t>
            </a:r>
            <a:r>
              <a:rPr lang="en-GB" b="1" dirty="0">
                <a:solidFill>
                  <a:srgbClr val="00B050"/>
                </a:solidFill>
              </a:rPr>
              <a:t>Descent</a:t>
            </a:r>
            <a:r>
              <a:rPr lang="en-GB" b="1" dirty="0"/>
              <a:t> (GD) </a:t>
            </a:r>
            <a:r>
              <a:rPr lang="en-GB" dirty="0"/>
              <a:t>is an iterative algorithm used to solve optimization problems. </a:t>
            </a:r>
          </a:p>
          <a:p>
            <a:r>
              <a:rPr lang="en-GB" dirty="0"/>
              <a:t>It starts with an initial non-optimal set of parameters for our model.</a:t>
            </a:r>
          </a:p>
          <a:p>
            <a:r>
              <a:rPr lang="en-GB" dirty="0"/>
              <a:t>It then repeatedly updates the parameters in the direction of the negative gradient of the given loss/cost function, until it converges to a local minimum.</a:t>
            </a:r>
          </a:p>
        </p:txBody>
      </p:sp>
    </p:spTree>
    <p:extLst>
      <p:ext uri="{BB962C8B-B14F-4D97-AF65-F5344CB8AC3E}">
        <p14:creationId xmlns:p14="http://schemas.microsoft.com/office/powerpoint/2010/main" val="20016512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B0C19-90C2-8B32-3357-7B5D99021CCF}"/>
              </a:ext>
            </a:extLst>
          </p:cNvPr>
          <p:cNvSpPr>
            <a:spLocks noGrp="1"/>
          </p:cNvSpPr>
          <p:nvPr>
            <p:ph type="title"/>
          </p:nvPr>
        </p:nvSpPr>
        <p:spPr/>
        <p:txBody>
          <a:bodyPr/>
          <a:lstStyle/>
          <a:p>
            <a:r>
              <a:rPr lang="en-GB" dirty="0"/>
              <a:t>GD in Linear Regression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3B45AA-E77B-DA7C-3867-37E7BBE08437}"/>
                  </a:ext>
                </a:extLst>
              </p:cNvPr>
              <p:cNvSpPr>
                <a:spLocks noGrp="1"/>
              </p:cNvSpPr>
              <p:nvPr>
                <p:ph idx="1"/>
              </p:nvPr>
            </p:nvSpPr>
            <p:spPr>
              <a:xfrm>
                <a:off x="615821" y="1825625"/>
                <a:ext cx="11280710" cy="4351338"/>
              </a:xfrm>
            </p:spPr>
            <p:txBody>
              <a:bodyPr>
                <a:normAutofit/>
              </a:bodyPr>
              <a:lstStyle/>
              <a:p>
                <a:pPr marL="0" indent="0">
                  <a:buNone/>
                </a:pPr>
                <a:r>
                  <a:rPr lang="en-GB" dirty="0"/>
                  <a:t>In the case of Linear Regression, with the MSE loss defined earlier, we have</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m:t>
                              </m:r>
                            </m:sup>
                          </m:sSup>
                        </m:e>
                      </m:d>
                      <m:r>
                        <a:rPr lang="en-GB" b="0" i="1" smtClean="0">
                          <a:latin typeface="Cambria Math" panose="02040503050406030204" pitchFamily="18" charset="0"/>
                        </a:rPr>
                        <m:t>= </m:t>
                      </m:r>
                      <m:r>
                        <m:rPr>
                          <m:sty m:val="p"/>
                        </m:rPr>
                        <a:rPr lang="en-GB" b="0" i="1" smtClean="0">
                          <a:latin typeface="Cambria Math" panose="02040503050406030204" pitchFamily="18" charset="0"/>
                        </a:rPr>
                        <m:t>arg</m:t>
                      </m:r>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lim>
                      </m:limLow>
                      <m:r>
                        <a:rPr lang="en-GB" b="0" i="1" smtClean="0">
                          <a:latin typeface="Cambria Math" panose="02040503050406030204" pitchFamily="18" charset="0"/>
                        </a:rPr>
                        <m:t> </m:t>
                      </m:r>
                      <m:d>
                        <m:dPr>
                          <m:begChr m:val="["/>
                          <m:endChr m:val="]"/>
                          <m:ctrlPr>
                            <a:rPr lang="en-GB" b="0" i="1" smtClean="0">
                              <a:latin typeface="Cambria Math" panose="02040503050406030204" pitchFamily="18" charset="0"/>
                            </a:rPr>
                          </m:ctrlPr>
                        </m:dPr>
                        <m:e>
                          <m:r>
                            <a:rPr lang="en-GB" i="1">
                              <a:latin typeface="Cambria Math" panose="02040503050406030204" pitchFamily="18" charset="0"/>
                            </a:rPr>
                            <m:t>𝐿</m:t>
                          </m:r>
                          <m:r>
                            <a:rPr lang="en-GB" i="1">
                              <a:latin typeface="Cambria Math" panose="02040503050406030204" pitchFamily="18" charset="0"/>
                            </a:rPr>
                            <m:t>(</m:t>
                          </m:r>
                          <m:r>
                            <a:rPr lang="en-GB" i="1">
                              <a:latin typeface="Cambria Math" panose="02040503050406030204" pitchFamily="18" charset="0"/>
                            </a:rPr>
                            <m:t>𝑎</m:t>
                          </m:r>
                          <m:r>
                            <a:rPr lang="en-GB" i="1">
                              <a:latin typeface="Cambria Math" panose="02040503050406030204" pitchFamily="18" charset="0"/>
                            </a:rPr>
                            <m:t>, </m:t>
                          </m:r>
                          <m:r>
                            <a:rPr lang="en-GB" i="1">
                              <a:latin typeface="Cambria Math" panose="02040503050406030204" pitchFamily="18" charset="0"/>
                            </a:rPr>
                            <m:t>𝑏</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 </m:t>
                          </m:r>
                          <m:r>
                            <a:rPr lang="en-GB" i="1">
                              <a:latin typeface="Cambria Math" panose="02040503050406030204" pitchFamily="18" charset="0"/>
                            </a:rPr>
                            <m:t>𝑦</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𝑁</m:t>
                              </m:r>
                            </m:den>
                          </m:f>
                          <m:nary>
                            <m:naryPr>
                              <m:chr m:val="∑"/>
                              <m:ctrlPr>
                                <a:rPr lang="en-GB" i="1">
                                  <a:latin typeface="Cambria Math" panose="02040503050406030204" pitchFamily="18" charset="0"/>
                                </a:rPr>
                              </m:ctrlPr>
                            </m:naryPr>
                            <m:sub>
                              <m: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𝑎</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𝑏</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e>
                                  </m:d>
                                </m:e>
                                <m:sup>
                                  <m:r>
                                    <a:rPr lang="en-GB" i="1">
                                      <a:latin typeface="Cambria Math" panose="02040503050406030204" pitchFamily="18" charset="0"/>
                                    </a:rPr>
                                    <m:t>2</m:t>
                                  </m:r>
                                </m:sup>
                              </m:sSup>
                            </m:e>
                          </m:nary>
                        </m:e>
                      </m:d>
                      <m:r>
                        <a:rPr lang="en-GB" b="0" i="1" smtClean="0">
                          <a:latin typeface="Cambria Math" panose="02040503050406030204" pitchFamily="18" charset="0"/>
                        </a:rPr>
                        <m:t> </m:t>
                      </m:r>
                    </m:oMath>
                  </m:oMathPara>
                </a14:m>
                <a:endParaRPr lang="en-GB" dirty="0"/>
              </a:p>
              <a:p>
                <a:pPr marL="0" indent="0">
                  <a:buNone/>
                </a:pPr>
                <a:endParaRPr lang="en-GB" dirty="0"/>
              </a:p>
              <a:p>
                <a:endParaRPr lang="en-GB" dirty="0"/>
              </a:p>
            </p:txBody>
          </p:sp>
        </mc:Choice>
        <mc:Fallback xmlns="">
          <p:sp>
            <p:nvSpPr>
              <p:cNvPr id="3" name="Content Placeholder 2">
                <a:extLst>
                  <a:ext uri="{FF2B5EF4-FFF2-40B4-BE49-F238E27FC236}">
                    <a16:creationId xmlns:a16="http://schemas.microsoft.com/office/drawing/2014/main" id="{593B45AA-E77B-DA7C-3867-37E7BBE08437}"/>
                  </a:ext>
                </a:extLst>
              </p:cNvPr>
              <p:cNvSpPr>
                <a:spLocks noGrp="1" noRot="1" noChangeAspect="1" noMove="1" noResize="1" noEditPoints="1" noAdjustHandles="1" noChangeArrowheads="1" noChangeShapeType="1" noTextEdit="1"/>
              </p:cNvSpPr>
              <p:nvPr>
                <p:ph idx="1"/>
              </p:nvPr>
            </p:nvSpPr>
            <p:spPr>
              <a:xfrm>
                <a:off x="615821" y="1825625"/>
                <a:ext cx="11280710" cy="4351338"/>
              </a:xfrm>
              <a:blipFill>
                <a:blip r:embed="rId2"/>
                <a:stretch>
                  <a:fillRect l="-1080" t="-2241"/>
                </a:stretch>
              </a:blipFill>
            </p:spPr>
            <p:txBody>
              <a:bodyPr/>
              <a:lstStyle/>
              <a:p>
                <a:r>
                  <a:rPr lang="en-SG">
                    <a:noFill/>
                  </a:rPr>
                  <a:t> </a:t>
                </a:r>
              </a:p>
            </p:txBody>
          </p:sp>
        </mc:Fallback>
      </mc:AlternateContent>
    </p:spTree>
    <p:extLst>
      <p:ext uri="{BB962C8B-B14F-4D97-AF65-F5344CB8AC3E}">
        <p14:creationId xmlns:p14="http://schemas.microsoft.com/office/powerpoint/2010/main" val="18346045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B0C19-90C2-8B32-3357-7B5D99021CCF}"/>
              </a:ext>
            </a:extLst>
          </p:cNvPr>
          <p:cNvSpPr>
            <a:spLocks noGrp="1"/>
          </p:cNvSpPr>
          <p:nvPr>
            <p:ph type="title"/>
          </p:nvPr>
        </p:nvSpPr>
        <p:spPr/>
        <p:txBody>
          <a:bodyPr/>
          <a:lstStyle/>
          <a:p>
            <a:r>
              <a:rPr lang="en-GB" dirty="0"/>
              <a:t>GD in Linear Regression</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6FC8E3E-422C-DDA8-8AEA-BAC629653399}"/>
                  </a:ext>
                </a:extLst>
              </p:cNvPr>
              <p:cNvSpPr>
                <a:spLocks noGrp="1"/>
              </p:cNvSpPr>
              <p:nvPr>
                <p:ph idx="1"/>
              </p:nvPr>
            </p:nvSpPr>
            <p:spPr/>
            <p:txBody>
              <a:bodyPr>
                <a:normAutofit/>
              </a:bodyPr>
              <a:lstStyle/>
              <a:p>
                <a:pPr marL="0" indent="0">
                  <a:buNone/>
                </a:pPr>
                <a:r>
                  <a:rPr lang="en-GB" dirty="0"/>
                  <a:t>We can calculate (by hand) the derivatives, with respect to </a:t>
                </a:r>
                <a14:m>
                  <m:oMath xmlns:m="http://schemas.openxmlformats.org/officeDocument/2006/math">
                    <m:r>
                      <a:rPr lang="en-GB" i="1" dirty="0" smtClean="0">
                        <a:latin typeface="Cambria Math" panose="02040503050406030204" pitchFamily="18" charset="0"/>
                      </a:rPr>
                      <m:t>𝑎</m:t>
                    </m:r>
                  </m:oMath>
                </a14:m>
                <a:r>
                  <a:rPr lang="en-GB" dirty="0"/>
                  <a:t> and </a:t>
                </a:r>
                <a14:m>
                  <m:oMath xmlns:m="http://schemas.openxmlformats.org/officeDocument/2006/math">
                    <m:r>
                      <a:rPr lang="en-GB" i="1" dirty="0" smtClean="0">
                        <a:latin typeface="Cambria Math" panose="02040503050406030204" pitchFamily="18" charset="0"/>
                      </a:rPr>
                      <m:t>𝑏</m:t>
                    </m:r>
                  </m:oMath>
                </a14:m>
                <a:r>
                  <a:rPr lang="en-GB" dirty="0"/>
                  <a:t>:</a:t>
                </a: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𝐷</m:t>
                          </m:r>
                        </m:e>
                        <m:sub>
                          <m:r>
                            <a:rPr lang="en-GB" b="0" i="1" dirty="0" smtClean="0">
                              <a:latin typeface="Cambria Math" panose="02040503050406030204" pitchFamily="18" charset="0"/>
                            </a:rPr>
                            <m:t>𝑎</m:t>
                          </m:r>
                        </m:sub>
                      </m:sSub>
                      <m:r>
                        <a:rPr lang="en-GB" b="0" i="1" dirty="0" smtClean="0">
                          <a:latin typeface="Cambria Math" panose="02040503050406030204" pitchFamily="18" charset="0"/>
                        </a:rPr>
                        <m:t>=</m:t>
                      </m:r>
                      <m:f>
                        <m:fPr>
                          <m:ctrlPr>
                            <a:rPr lang="en-GB" b="0" i="1" dirty="0" smtClean="0">
                              <a:latin typeface="Cambria Math" panose="02040503050406030204" pitchFamily="18" charset="0"/>
                            </a:rPr>
                          </m:ctrlPr>
                        </m:fPr>
                        <m:num>
                          <m:r>
                            <a:rPr lang="en-SG" i="1" dirty="0">
                              <a:latin typeface="Cambria Math" panose="02040503050406030204" pitchFamily="18" charset="0"/>
                            </a:rPr>
                            <m:t>𝜕</m:t>
                          </m:r>
                          <m:r>
                            <a:rPr lang="en-SG" i="1" dirty="0" smtClean="0">
                              <a:latin typeface="Cambria Math" panose="02040503050406030204" pitchFamily="18" charset="0"/>
                            </a:rPr>
                            <m:t>𝐿</m:t>
                          </m:r>
                        </m:num>
                        <m:den>
                          <m:r>
                            <a:rPr lang="en-SG" i="1" dirty="0">
                              <a:latin typeface="Cambria Math" panose="02040503050406030204" pitchFamily="18" charset="0"/>
                            </a:rPr>
                            <m:t>𝜕</m:t>
                          </m:r>
                          <m:r>
                            <a:rPr lang="en-SG" i="1" dirty="0">
                              <a:latin typeface="Cambria Math" panose="02040503050406030204" pitchFamily="18" charset="0"/>
                            </a:rPr>
                            <m:t>𝑎</m:t>
                          </m:r>
                        </m:den>
                      </m:f>
                      <m:r>
                        <a:rPr lang="en-SG" i="1" dirty="0" smtClean="0">
                          <a:latin typeface="Cambria Math" panose="02040503050406030204" pitchFamily="18" charset="0"/>
                        </a:rPr>
                        <m:t>= </m:t>
                      </m:r>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m:t>
                          </m:r>
                          <m:r>
                            <a:rPr lang="en-SG" i="1" dirty="0" smtClean="0">
                              <a:latin typeface="Cambria Math" panose="02040503050406030204" pitchFamily="18" charset="0"/>
                            </a:rPr>
                            <m:t>2</m:t>
                          </m:r>
                        </m:num>
                        <m:den>
                          <m:r>
                            <a:rPr lang="en-GB" b="0" i="1" dirty="0" smtClean="0">
                              <a:latin typeface="Cambria Math" panose="02040503050406030204" pitchFamily="18" charset="0"/>
                            </a:rPr>
                            <m:t>𝑁</m:t>
                          </m:r>
                        </m:den>
                      </m:f>
                      <m:r>
                        <a:rPr lang="en-SG" i="1" dirty="0" smtClean="0">
                          <a:latin typeface="Cambria Math" panose="02040503050406030204" pitchFamily="18" charset="0"/>
                        </a:rPr>
                        <m:t> </m:t>
                      </m:r>
                      <m:nary>
                        <m:naryPr>
                          <m:chr m:val="∑"/>
                          <m:ctrlPr>
                            <a:rPr lang="en-SG" i="1" dirty="0" smtClean="0">
                              <a:latin typeface="Cambria Math" panose="02040503050406030204" pitchFamily="18" charset="0"/>
                            </a:rPr>
                          </m:ctrlPr>
                        </m:naryPr>
                        <m:sub>
                          <m:r>
                            <a:rPr lang="en-SG" i="1" dirty="0" err="1" smtClean="0">
                              <a:latin typeface="Cambria Math" panose="02040503050406030204" pitchFamily="18" charset="0"/>
                            </a:rPr>
                            <m:t>𝑖</m:t>
                          </m:r>
                          <m:r>
                            <a:rPr lang="en-GB" b="0" i="1" dirty="0" smtClean="0">
                              <a:latin typeface="Cambria Math" panose="02040503050406030204" pitchFamily="18" charset="0"/>
                            </a:rPr>
                            <m:t>=1</m:t>
                          </m:r>
                        </m:sub>
                        <m:sup>
                          <m:r>
                            <a:rPr lang="en-SG" i="1" dirty="0" smtClean="0">
                              <a:latin typeface="Cambria Math" panose="02040503050406030204" pitchFamily="18" charset="0"/>
                            </a:rPr>
                            <m:t>𝑁</m:t>
                          </m:r>
                        </m:sup>
                        <m:e>
                          <m:sSub>
                            <m:sSubPr>
                              <m:ctrlPr>
                                <a:rPr lang="en-SG" i="1" dirty="0">
                                  <a:latin typeface="Cambria Math" panose="02040503050406030204" pitchFamily="18" charset="0"/>
                                </a:rPr>
                              </m:ctrlPr>
                            </m:sSubPr>
                            <m:e>
                              <m:r>
                                <a:rPr lang="en-SG" i="1" dirty="0">
                                  <a:latin typeface="Cambria Math" panose="02040503050406030204" pitchFamily="18" charset="0"/>
                                </a:rPr>
                                <m:t>𝑥</m:t>
                              </m:r>
                            </m:e>
                            <m:sub>
                              <m:r>
                                <a:rPr lang="en-SG" i="1" dirty="0">
                                  <a:latin typeface="Cambria Math" panose="02040503050406030204" pitchFamily="18" charset="0"/>
                                </a:rPr>
                                <m:t>𝑖</m:t>
                              </m:r>
                            </m:sub>
                          </m:sSub>
                          <m:r>
                            <a:rPr lang="en-SG" i="1" dirty="0">
                              <a:latin typeface="Cambria Math" panose="02040503050406030204" pitchFamily="18" charset="0"/>
                            </a:rPr>
                            <m:t> </m:t>
                          </m:r>
                          <m:d>
                            <m:dPr>
                              <m:ctrlPr>
                                <a:rPr lang="en-SG" i="1" dirty="0">
                                  <a:latin typeface="Cambria Math" panose="02040503050406030204" pitchFamily="18" charset="0"/>
                                </a:rPr>
                              </m:ctrlPr>
                            </m:dPr>
                            <m:e>
                              <m:sSub>
                                <m:sSubPr>
                                  <m:ctrlPr>
                                    <a:rPr lang="en-SG" i="1" dirty="0" err="1">
                                      <a:latin typeface="Cambria Math" panose="02040503050406030204" pitchFamily="18" charset="0"/>
                                    </a:rPr>
                                  </m:ctrlPr>
                                </m:sSubPr>
                                <m:e>
                                  <m:r>
                                    <a:rPr lang="en-SG" i="1" dirty="0" err="1">
                                      <a:latin typeface="Cambria Math" panose="02040503050406030204" pitchFamily="18" charset="0"/>
                                    </a:rPr>
                                    <m:t>𝑦</m:t>
                                  </m:r>
                                </m:e>
                                <m:sub>
                                  <m:r>
                                    <a:rPr lang="en-SG" i="1" dirty="0" err="1">
                                      <a:latin typeface="Cambria Math" panose="02040503050406030204" pitchFamily="18" charset="0"/>
                                    </a:rPr>
                                    <m:t>𝑖</m:t>
                                  </m:r>
                                </m:sub>
                              </m:sSub>
                              <m:r>
                                <a:rPr lang="en-SG" i="1" dirty="0">
                                  <a:latin typeface="Cambria Math" panose="02040503050406030204" pitchFamily="18" charset="0"/>
                                </a:rPr>
                                <m:t> − </m:t>
                              </m:r>
                              <m:d>
                                <m:dPr>
                                  <m:ctrlPr>
                                    <a:rPr lang="en-SG" i="1" dirty="0">
                                      <a:latin typeface="Cambria Math" panose="02040503050406030204" pitchFamily="18" charset="0"/>
                                    </a:rPr>
                                  </m:ctrlPr>
                                </m:dPr>
                                <m:e>
                                  <m:r>
                                    <a:rPr lang="en-SG" i="1" dirty="0">
                                      <a:latin typeface="Cambria Math" panose="02040503050406030204" pitchFamily="18" charset="0"/>
                                    </a:rPr>
                                    <m:t>𝑎</m:t>
                                  </m:r>
                                  <m:r>
                                    <a:rPr lang="en-SG" i="1" dirty="0">
                                      <a:latin typeface="Cambria Math" panose="02040503050406030204" pitchFamily="18" charset="0"/>
                                    </a:rPr>
                                    <m:t> </m:t>
                                  </m:r>
                                  <m:sSub>
                                    <m:sSubPr>
                                      <m:ctrlPr>
                                        <a:rPr lang="en-SG" i="1" dirty="0" err="1">
                                          <a:latin typeface="Cambria Math" panose="02040503050406030204" pitchFamily="18" charset="0"/>
                                        </a:rPr>
                                      </m:ctrlPr>
                                    </m:sSubPr>
                                    <m:e>
                                      <m:r>
                                        <a:rPr lang="en-SG" i="1" dirty="0" err="1">
                                          <a:latin typeface="Cambria Math" panose="02040503050406030204" pitchFamily="18" charset="0"/>
                                        </a:rPr>
                                        <m:t>𝑥</m:t>
                                      </m:r>
                                    </m:e>
                                    <m:sub>
                                      <m:r>
                                        <a:rPr lang="en-SG" i="1" dirty="0" err="1">
                                          <a:latin typeface="Cambria Math" panose="02040503050406030204" pitchFamily="18" charset="0"/>
                                        </a:rPr>
                                        <m:t>𝑖</m:t>
                                      </m:r>
                                    </m:sub>
                                  </m:sSub>
                                  <m:r>
                                    <a:rPr lang="en-SG" i="1" dirty="0">
                                      <a:latin typeface="Cambria Math" panose="02040503050406030204" pitchFamily="18" charset="0"/>
                                    </a:rPr>
                                    <m:t> + </m:t>
                                  </m:r>
                                  <m:r>
                                    <a:rPr lang="en-SG" i="1" dirty="0">
                                      <a:latin typeface="Cambria Math" panose="02040503050406030204" pitchFamily="18" charset="0"/>
                                    </a:rPr>
                                    <m:t>𝑏</m:t>
                                  </m:r>
                                </m:e>
                              </m:d>
                            </m:e>
                          </m:d>
                        </m:e>
                      </m:nary>
                      <m:r>
                        <a:rPr lang="en-SG" i="1" dirty="0" smtClean="0">
                          <a:latin typeface="Cambria Math" panose="02040503050406030204" pitchFamily="18" charset="0"/>
                        </a:rPr>
                        <m:t> </m:t>
                      </m:r>
                    </m:oMath>
                  </m:oMathPara>
                </a14:m>
                <a:endParaRPr lang="en-SG" dirty="0"/>
              </a:p>
              <a:p>
                <a:pPr marL="0" indent="0">
                  <a:buNone/>
                </a:pPr>
                <a:endParaRPr lang="en-SG" dirty="0"/>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𝐷</m:t>
                          </m:r>
                        </m:e>
                        <m:sub>
                          <m:r>
                            <a:rPr lang="en-GB" b="0" i="1" dirty="0" smtClean="0">
                              <a:latin typeface="Cambria Math" panose="02040503050406030204" pitchFamily="18" charset="0"/>
                            </a:rPr>
                            <m:t>𝑏</m:t>
                          </m:r>
                        </m:sub>
                      </m:sSub>
                      <m:r>
                        <a:rPr lang="en-GB" b="0" i="1" dirty="0" smtClean="0">
                          <a:latin typeface="Cambria Math" panose="02040503050406030204" pitchFamily="18" charset="0"/>
                        </a:rPr>
                        <m:t>= </m:t>
                      </m:r>
                      <m:f>
                        <m:fPr>
                          <m:ctrlPr>
                            <a:rPr lang="en-GB" b="0" i="1" dirty="0" smtClean="0">
                              <a:latin typeface="Cambria Math" panose="02040503050406030204" pitchFamily="18" charset="0"/>
                            </a:rPr>
                          </m:ctrlPr>
                        </m:fPr>
                        <m:num>
                          <m:r>
                            <a:rPr lang="en-SG" i="1" dirty="0" smtClean="0">
                              <a:latin typeface="Cambria Math" panose="02040503050406030204" pitchFamily="18" charset="0"/>
                            </a:rPr>
                            <m:t>𝜕</m:t>
                          </m:r>
                          <m:r>
                            <a:rPr lang="en-SG" i="1" dirty="0" smtClean="0">
                              <a:latin typeface="Cambria Math" panose="02040503050406030204" pitchFamily="18" charset="0"/>
                            </a:rPr>
                            <m:t>𝐿</m:t>
                          </m:r>
                        </m:num>
                        <m:den>
                          <m:r>
                            <a:rPr lang="en-SG" i="1" dirty="0">
                              <a:latin typeface="Cambria Math" panose="02040503050406030204" pitchFamily="18" charset="0"/>
                            </a:rPr>
                            <m:t>𝜕</m:t>
                          </m:r>
                          <m:r>
                            <a:rPr lang="en-SG" i="1" dirty="0">
                              <a:latin typeface="Cambria Math" panose="02040503050406030204" pitchFamily="18" charset="0"/>
                            </a:rPr>
                            <m:t>𝑏</m:t>
                          </m:r>
                        </m:den>
                      </m:f>
                      <m:r>
                        <a:rPr lang="en-SG" i="1" dirty="0" smtClean="0">
                          <a:latin typeface="Cambria Math" panose="02040503050406030204" pitchFamily="18" charset="0"/>
                        </a:rPr>
                        <m:t>  =</m:t>
                      </m:r>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−2</m:t>
                          </m:r>
                        </m:num>
                        <m:den>
                          <m:r>
                            <a:rPr lang="en-GB" b="0" i="1" dirty="0" smtClean="0">
                              <a:latin typeface="Cambria Math" panose="02040503050406030204" pitchFamily="18" charset="0"/>
                            </a:rPr>
                            <m:t>𝑁</m:t>
                          </m:r>
                        </m:den>
                      </m:f>
                      <m:nary>
                        <m:naryPr>
                          <m:chr m:val="∑"/>
                          <m:ctrlPr>
                            <a:rPr lang="en-SG" i="1" dirty="0" smtClean="0">
                              <a:latin typeface="Cambria Math" panose="02040503050406030204" pitchFamily="18" charset="0"/>
                            </a:rPr>
                          </m:ctrlPr>
                        </m:naryPr>
                        <m:sub>
                          <m:r>
                            <a:rPr lang="en-SG" i="1" dirty="0" err="1" smtClean="0">
                              <a:latin typeface="Cambria Math" panose="02040503050406030204" pitchFamily="18" charset="0"/>
                            </a:rPr>
                            <m:t>𝑖</m:t>
                          </m:r>
                        </m:sub>
                        <m:sup>
                          <m:r>
                            <a:rPr lang="en-SG" i="1" dirty="0" smtClean="0">
                              <a:latin typeface="Cambria Math" panose="02040503050406030204" pitchFamily="18" charset="0"/>
                            </a:rPr>
                            <m:t>𝑁</m:t>
                          </m:r>
                        </m:sup>
                        <m:e>
                          <m:sSub>
                            <m:sSubPr>
                              <m:ctrlPr>
                                <a:rPr lang="en-SG" i="1" dirty="0" err="1">
                                  <a:latin typeface="Cambria Math" panose="02040503050406030204" pitchFamily="18" charset="0"/>
                                </a:rPr>
                              </m:ctrlPr>
                            </m:sSubPr>
                            <m:e>
                              <m:r>
                                <a:rPr lang="en-SG" i="1" dirty="0" err="1">
                                  <a:latin typeface="Cambria Math" panose="02040503050406030204" pitchFamily="18" charset="0"/>
                                </a:rPr>
                                <m:t>𝑦</m:t>
                              </m:r>
                            </m:e>
                            <m:sub>
                              <m:r>
                                <a:rPr lang="en-SG" i="1" dirty="0" err="1">
                                  <a:latin typeface="Cambria Math" panose="02040503050406030204" pitchFamily="18" charset="0"/>
                                </a:rPr>
                                <m:t>𝑖</m:t>
                              </m:r>
                            </m:sub>
                          </m:sSub>
                          <m:r>
                            <a:rPr lang="en-SG" i="1" dirty="0">
                              <a:latin typeface="Cambria Math" panose="02040503050406030204" pitchFamily="18" charset="0"/>
                            </a:rPr>
                            <m:t> − (</m:t>
                          </m:r>
                          <m:r>
                            <a:rPr lang="en-SG" i="1" dirty="0">
                              <a:latin typeface="Cambria Math" panose="02040503050406030204" pitchFamily="18" charset="0"/>
                            </a:rPr>
                            <m:t>𝑎</m:t>
                          </m:r>
                          <m:r>
                            <a:rPr lang="en-SG" i="1" dirty="0">
                              <a:latin typeface="Cambria Math" panose="02040503050406030204" pitchFamily="18" charset="0"/>
                            </a:rPr>
                            <m:t> </m:t>
                          </m:r>
                          <m:sSub>
                            <m:sSubPr>
                              <m:ctrlPr>
                                <a:rPr lang="en-SG" i="1" dirty="0" err="1">
                                  <a:latin typeface="Cambria Math" panose="02040503050406030204" pitchFamily="18" charset="0"/>
                                </a:rPr>
                              </m:ctrlPr>
                            </m:sSubPr>
                            <m:e>
                              <m:r>
                                <a:rPr lang="en-SG" i="1" dirty="0" err="1">
                                  <a:latin typeface="Cambria Math" panose="02040503050406030204" pitchFamily="18" charset="0"/>
                                </a:rPr>
                                <m:t>𝑥</m:t>
                              </m:r>
                            </m:e>
                            <m:sub>
                              <m:r>
                                <a:rPr lang="en-SG" i="1" dirty="0" err="1">
                                  <a:latin typeface="Cambria Math" panose="02040503050406030204" pitchFamily="18" charset="0"/>
                                </a:rPr>
                                <m:t>𝑖</m:t>
                              </m:r>
                            </m:sub>
                          </m:sSub>
                          <m:r>
                            <a:rPr lang="en-SG" i="1" dirty="0">
                              <a:latin typeface="Cambria Math" panose="02040503050406030204" pitchFamily="18" charset="0"/>
                            </a:rPr>
                            <m:t> + </m:t>
                          </m:r>
                          <m:r>
                            <a:rPr lang="en-SG" i="1" dirty="0">
                              <a:latin typeface="Cambria Math" panose="02040503050406030204" pitchFamily="18" charset="0"/>
                            </a:rPr>
                            <m:t>𝑏</m:t>
                          </m:r>
                          <m:r>
                            <a:rPr lang="en-SG" i="1" dirty="0">
                              <a:latin typeface="Cambria Math" panose="02040503050406030204" pitchFamily="18" charset="0"/>
                            </a:rPr>
                            <m:t>)</m:t>
                          </m:r>
                        </m:e>
                      </m:nary>
                    </m:oMath>
                  </m:oMathPara>
                </a14:m>
                <a:endParaRPr lang="en-SG" dirty="0"/>
              </a:p>
              <a:p>
                <a:pPr marL="0" indent="0">
                  <a:buNone/>
                </a:pPr>
                <a:endParaRPr lang="en-SG" dirty="0"/>
              </a:p>
              <a:p>
                <a:endParaRPr lang="en-SG" dirty="0"/>
              </a:p>
            </p:txBody>
          </p:sp>
        </mc:Choice>
        <mc:Fallback xmlns="">
          <p:sp>
            <p:nvSpPr>
              <p:cNvPr id="4" name="Content Placeholder 3">
                <a:extLst>
                  <a:ext uri="{FF2B5EF4-FFF2-40B4-BE49-F238E27FC236}">
                    <a16:creationId xmlns:a16="http://schemas.microsoft.com/office/drawing/2014/main" id="{D6FC8E3E-422C-DDA8-8AEA-BAC629653399}"/>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24887464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B0C19-90C2-8B32-3357-7B5D99021CCF}"/>
              </a:ext>
            </a:extLst>
          </p:cNvPr>
          <p:cNvSpPr>
            <a:spLocks noGrp="1"/>
          </p:cNvSpPr>
          <p:nvPr>
            <p:ph type="title"/>
          </p:nvPr>
        </p:nvSpPr>
        <p:spPr/>
        <p:txBody>
          <a:bodyPr/>
          <a:lstStyle/>
          <a:p>
            <a:r>
              <a:rPr lang="en-GB" dirty="0"/>
              <a:t>GD in Linear Regression</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6FC8E3E-422C-DDA8-8AEA-BAC629653399}"/>
                  </a:ext>
                </a:extLst>
              </p:cNvPr>
              <p:cNvSpPr>
                <a:spLocks noGrp="1"/>
              </p:cNvSpPr>
              <p:nvPr>
                <p:ph idx="1"/>
              </p:nvPr>
            </p:nvSpPr>
            <p:spPr>
              <a:xfrm>
                <a:off x="838200" y="1825624"/>
                <a:ext cx="10515600" cy="5032375"/>
              </a:xfrm>
            </p:spPr>
            <p:txBody>
              <a:bodyPr>
                <a:normAutofit/>
              </a:bodyPr>
              <a:lstStyle/>
              <a:p>
                <a:pPr marL="0" indent="0">
                  <a:buNone/>
                </a:pPr>
                <a:r>
                  <a:rPr lang="en-GB" dirty="0"/>
                  <a:t>The gradient descent </a:t>
                </a:r>
                <a:r>
                  <a:rPr lang="en-GB" b="1" dirty="0"/>
                  <a:t>update</a:t>
                </a:r>
                <a:r>
                  <a:rPr lang="en-GB" dirty="0"/>
                  <a:t> </a:t>
                </a:r>
                <a:r>
                  <a:rPr lang="en-GB" b="1" dirty="0"/>
                  <a:t>rules</a:t>
                </a:r>
                <a:r>
                  <a:rPr lang="en-GB" dirty="0"/>
                  <a:t> are therefore defined as</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i="1">
                              <a:latin typeface="Cambria Math" panose="02040503050406030204" pitchFamily="18" charset="0"/>
                            </a:rPr>
                            <m:t>𝛼</m:t>
                          </m:r>
                          <m:r>
                            <a:rPr lang="en-GB" b="0" i="1" smtClean="0">
                              <a:latin typeface="Cambria Math" panose="02040503050406030204" pitchFamily="18" charset="0"/>
                            </a:rPr>
                            <m:t>𝐷</m:t>
                          </m:r>
                        </m:e>
                        <m:sub>
                          <m:r>
                            <a:rPr lang="en-GB" b="0" i="1" smtClean="0">
                              <a:latin typeface="Cambria Math" panose="02040503050406030204" pitchFamily="18" charset="0"/>
                            </a:rPr>
                            <m:t>𝑎</m:t>
                          </m:r>
                        </m:sub>
                      </m:sSub>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𝑎</m:t>
                      </m:r>
                      <m:r>
                        <a:rPr lang="en-GB" i="1">
                          <a:latin typeface="Cambria Math" panose="02040503050406030204" pitchFamily="18" charset="0"/>
                        </a:rPr>
                        <m:t>←</m:t>
                      </m:r>
                      <m:r>
                        <a:rPr lang="en-GB" i="1">
                          <a:latin typeface="Cambria Math" panose="02040503050406030204" pitchFamily="18" charset="0"/>
                        </a:rPr>
                        <m:t>𝑎</m:t>
                      </m:r>
                      <m:r>
                        <a:rPr lang="en-GB" b="0" i="1" smtClean="0">
                          <a:latin typeface="Cambria Math" panose="02040503050406030204" pitchFamily="18" charset="0"/>
                        </a:rPr>
                        <m:t>+</m:t>
                      </m:r>
                      <m:f>
                        <m:fPr>
                          <m:ctrlPr>
                            <a:rPr lang="en-GB" b="0" i="1" dirty="0" smtClean="0">
                              <a:latin typeface="Cambria Math" panose="02040503050406030204" pitchFamily="18" charset="0"/>
                            </a:rPr>
                          </m:ctrlPr>
                        </m:fPr>
                        <m:num>
                          <m:r>
                            <a:rPr lang="en-SG" i="1" dirty="0" smtClean="0">
                              <a:latin typeface="Cambria Math" panose="02040503050406030204" pitchFamily="18" charset="0"/>
                            </a:rPr>
                            <m:t>2</m:t>
                          </m:r>
                          <m:r>
                            <a:rPr lang="en-GB" i="1">
                              <a:latin typeface="Cambria Math" panose="02040503050406030204" pitchFamily="18" charset="0"/>
                            </a:rPr>
                            <m:t>𝛼</m:t>
                          </m:r>
                        </m:num>
                        <m:den>
                          <m:r>
                            <a:rPr lang="en-GB" b="0" i="1" dirty="0" smtClean="0">
                              <a:latin typeface="Cambria Math" panose="02040503050406030204" pitchFamily="18" charset="0"/>
                            </a:rPr>
                            <m:t>𝑁</m:t>
                          </m:r>
                        </m:den>
                      </m:f>
                      <m:r>
                        <a:rPr lang="en-SG" i="1" dirty="0" smtClean="0">
                          <a:latin typeface="Cambria Math" panose="02040503050406030204" pitchFamily="18" charset="0"/>
                        </a:rPr>
                        <m:t> </m:t>
                      </m:r>
                      <m:nary>
                        <m:naryPr>
                          <m:chr m:val="∑"/>
                          <m:ctrlPr>
                            <a:rPr lang="en-SG" i="1" dirty="0" smtClean="0">
                              <a:latin typeface="Cambria Math" panose="02040503050406030204" pitchFamily="18" charset="0"/>
                            </a:rPr>
                          </m:ctrlPr>
                        </m:naryPr>
                        <m:sub>
                          <m:r>
                            <a:rPr lang="en-SG" i="1" dirty="0" err="1" smtClean="0">
                              <a:latin typeface="Cambria Math" panose="02040503050406030204" pitchFamily="18" charset="0"/>
                            </a:rPr>
                            <m:t>𝑖</m:t>
                          </m:r>
                          <m:r>
                            <a:rPr lang="en-GB" b="0" i="1" dirty="0" smtClean="0">
                              <a:latin typeface="Cambria Math" panose="02040503050406030204" pitchFamily="18" charset="0"/>
                            </a:rPr>
                            <m:t>=1</m:t>
                          </m:r>
                        </m:sub>
                        <m:sup>
                          <m:r>
                            <a:rPr lang="en-SG" i="1" dirty="0" smtClean="0">
                              <a:latin typeface="Cambria Math" panose="02040503050406030204" pitchFamily="18" charset="0"/>
                            </a:rPr>
                            <m:t>𝑁</m:t>
                          </m:r>
                        </m:sup>
                        <m:e>
                          <m:sSub>
                            <m:sSubPr>
                              <m:ctrlPr>
                                <a:rPr lang="en-SG" i="1" dirty="0">
                                  <a:latin typeface="Cambria Math" panose="02040503050406030204" pitchFamily="18" charset="0"/>
                                </a:rPr>
                              </m:ctrlPr>
                            </m:sSubPr>
                            <m:e>
                              <m:r>
                                <a:rPr lang="en-SG" i="1" dirty="0">
                                  <a:latin typeface="Cambria Math" panose="02040503050406030204" pitchFamily="18" charset="0"/>
                                </a:rPr>
                                <m:t>𝑥</m:t>
                              </m:r>
                            </m:e>
                            <m:sub>
                              <m:r>
                                <a:rPr lang="en-SG" i="1" dirty="0">
                                  <a:latin typeface="Cambria Math" panose="02040503050406030204" pitchFamily="18" charset="0"/>
                                </a:rPr>
                                <m:t>𝑖</m:t>
                              </m:r>
                            </m:sub>
                          </m:sSub>
                          <m:r>
                            <a:rPr lang="en-SG" i="1" dirty="0">
                              <a:latin typeface="Cambria Math" panose="02040503050406030204" pitchFamily="18" charset="0"/>
                            </a:rPr>
                            <m:t> </m:t>
                          </m:r>
                          <m:d>
                            <m:dPr>
                              <m:ctrlPr>
                                <a:rPr lang="en-SG" i="1" dirty="0">
                                  <a:latin typeface="Cambria Math" panose="02040503050406030204" pitchFamily="18" charset="0"/>
                                </a:rPr>
                              </m:ctrlPr>
                            </m:dPr>
                            <m:e>
                              <m:sSub>
                                <m:sSubPr>
                                  <m:ctrlPr>
                                    <a:rPr lang="en-SG" i="1" dirty="0" err="1">
                                      <a:latin typeface="Cambria Math" panose="02040503050406030204" pitchFamily="18" charset="0"/>
                                    </a:rPr>
                                  </m:ctrlPr>
                                </m:sSubPr>
                                <m:e>
                                  <m:r>
                                    <a:rPr lang="en-SG" i="1" dirty="0" err="1">
                                      <a:latin typeface="Cambria Math" panose="02040503050406030204" pitchFamily="18" charset="0"/>
                                    </a:rPr>
                                    <m:t>𝑦</m:t>
                                  </m:r>
                                </m:e>
                                <m:sub>
                                  <m:r>
                                    <a:rPr lang="en-SG" i="1" dirty="0" err="1">
                                      <a:latin typeface="Cambria Math" panose="02040503050406030204" pitchFamily="18" charset="0"/>
                                    </a:rPr>
                                    <m:t>𝑖</m:t>
                                  </m:r>
                                </m:sub>
                              </m:sSub>
                              <m:r>
                                <a:rPr lang="en-SG" i="1" dirty="0">
                                  <a:latin typeface="Cambria Math" panose="02040503050406030204" pitchFamily="18" charset="0"/>
                                </a:rPr>
                                <m:t> − </m:t>
                              </m:r>
                              <m:d>
                                <m:dPr>
                                  <m:ctrlPr>
                                    <a:rPr lang="en-SG" i="1" dirty="0">
                                      <a:latin typeface="Cambria Math" panose="02040503050406030204" pitchFamily="18" charset="0"/>
                                    </a:rPr>
                                  </m:ctrlPr>
                                </m:dPr>
                                <m:e>
                                  <m:r>
                                    <a:rPr lang="en-SG" i="1" dirty="0">
                                      <a:latin typeface="Cambria Math" panose="02040503050406030204" pitchFamily="18" charset="0"/>
                                    </a:rPr>
                                    <m:t>𝑎</m:t>
                                  </m:r>
                                  <m:r>
                                    <a:rPr lang="en-SG" i="1" dirty="0">
                                      <a:latin typeface="Cambria Math" panose="02040503050406030204" pitchFamily="18" charset="0"/>
                                    </a:rPr>
                                    <m:t> </m:t>
                                  </m:r>
                                  <m:sSub>
                                    <m:sSubPr>
                                      <m:ctrlPr>
                                        <a:rPr lang="en-SG" i="1" dirty="0" err="1">
                                          <a:latin typeface="Cambria Math" panose="02040503050406030204" pitchFamily="18" charset="0"/>
                                        </a:rPr>
                                      </m:ctrlPr>
                                    </m:sSubPr>
                                    <m:e>
                                      <m:r>
                                        <a:rPr lang="en-SG" i="1" dirty="0" err="1">
                                          <a:latin typeface="Cambria Math" panose="02040503050406030204" pitchFamily="18" charset="0"/>
                                        </a:rPr>
                                        <m:t>𝑥</m:t>
                                      </m:r>
                                    </m:e>
                                    <m:sub>
                                      <m:r>
                                        <a:rPr lang="en-SG" i="1" dirty="0" err="1">
                                          <a:latin typeface="Cambria Math" panose="02040503050406030204" pitchFamily="18" charset="0"/>
                                        </a:rPr>
                                        <m:t>𝑖</m:t>
                                      </m:r>
                                    </m:sub>
                                  </m:sSub>
                                  <m:r>
                                    <a:rPr lang="en-SG" i="1" dirty="0">
                                      <a:latin typeface="Cambria Math" panose="02040503050406030204" pitchFamily="18" charset="0"/>
                                    </a:rPr>
                                    <m:t> + </m:t>
                                  </m:r>
                                  <m:r>
                                    <a:rPr lang="en-SG" i="1" dirty="0">
                                      <a:latin typeface="Cambria Math" panose="02040503050406030204" pitchFamily="18" charset="0"/>
                                    </a:rPr>
                                    <m:t>𝑏</m:t>
                                  </m:r>
                                </m:e>
                              </m:d>
                            </m:e>
                          </m:d>
                        </m:e>
                      </m:nary>
                    </m:oMath>
                  </m:oMathPara>
                </a14:m>
                <a:endParaRPr lang="en-SG" dirty="0"/>
              </a:p>
              <a:p>
                <a:pPr marL="0" indent="0">
                  <a:buNone/>
                </a:pPr>
                <a:r>
                  <a:rPr lang="en-SG" dirty="0"/>
                  <a:t>And</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 −</m:t>
                      </m:r>
                      <m:r>
                        <a:rPr lang="en-GB" b="0" i="1" smtClean="0">
                          <a:latin typeface="Cambria Math" panose="02040503050406030204" pitchFamily="18" charset="0"/>
                        </a:rPr>
                        <m:t>𝛼</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𝐷</m:t>
                          </m:r>
                        </m:e>
                        <m:sub>
                          <m:r>
                            <a:rPr lang="en-GB" b="0" i="1" smtClean="0">
                              <a:latin typeface="Cambria Math" panose="02040503050406030204" pitchFamily="18" charset="0"/>
                            </a:rPr>
                            <m:t>𝑏</m:t>
                          </m:r>
                        </m:sub>
                      </m:sSub>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𝑏</m:t>
                      </m:r>
                      <m:r>
                        <a:rPr lang="en-GB" i="1">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f>
                        <m:fPr>
                          <m:ctrlPr>
                            <a:rPr lang="en-GB" b="0" i="1" dirty="0" smtClean="0">
                              <a:latin typeface="Cambria Math" panose="02040503050406030204" pitchFamily="18" charset="0"/>
                            </a:rPr>
                          </m:ctrlPr>
                        </m:fPr>
                        <m:num>
                          <m:r>
                            <a:rPr lang="en-SG" i="1" dirty="0" smtClean="0">
                              <a:latin typeface="Cambria Math" panose="02040503050406030204" pitchFamily="18" charset="0"/>
                            </a:rPr>
                            <m:t>2</m:t>
                          </m:r>
                          <m:r>
                            <a:rPr lang="en-GB" i="1">
                              <a:latin typeface="Cambria Math" panose="02040503050406030204" pitchFamily="18" charset="0"/>
                            </a:rPr>
                            <m:t>𝛼</m:t>
                          </m:r>
                        </m:num>
                        <m:den>
                          <m:r>
                            <a:rPr lang="en-GB" b="0" i="1" dirty="0" smtClean="0">
                              <a:latin typeface="Cambria Math" panose="02040503050406030204" pitchFamily="18" charset="0"/>
                            </a:rPr>
                            <m:t>𝑁</m:t>
                          </m:r>
                        </m:den>
                      </m:f>
                      <m:nary>
                        <m:naryPr>
                          <m:chr m:val="∑"/>
                          <m:ctrlPr>
                            <a:rPr lang="en-SG" i="1" dirty="0">
                              <a:latin typeface="Cambria Math" panose="02040503050406030204" pitchFamily="18" charset="0"/>
                            </a:rPr>
                          </m:ctrlPr>
                        </m:naryPr>
                        <m:sub>
                          <m:r>
                            <a:rPr lang="en-SG" i="1" dirty="0" err="1">
                              <a:latin typeface="Cambria Math" panose="02040503050406030204" pitchFamily="18" charset="0"/>
                            </a:rPr>
                            <m:t>𝑖</m:t>
                          </m:r>
                        </m:sub>
                        <m:sup>
                          <m:r>
                            <a:rPr lang="en-SG" i="1" dirty="0">
                              <a:latin typeface="Cambria Math" panose="02040503050406030204" pitchFamily="18" charset="0"/>
                            </a:rPr>
                            <m:t>𝑁</m:t>
                          </m:r>
                        </m:sup>
                        <m:e>
                          <m:sSub>
                            <m:sSubPr>
                              <m:ctrlPr>
                                <a:rPr lang="en-SG" i="1" dirty="0" err="1">
                                  <a:latin typeface="Cambria Math" panose="02040503050406030204" pitchFamily="18" charset="0"/>
                                </a:rPr>
                              </m:ctrlPr>
                            </m:sSubPr>
                            <m:e>
                              <m:r>
                                <a:rPr lang="en-SG" i="1" dirty="0" err="1">
                                  <a:latin typeface="Cambria Math" panose="02040503050406030204" pitchFamily="18" charset="0"/>
                                </a:rPr>
                                <m:t>𝑦</m:t>
                              </m:r>
                            </m:e>
                            <m:sub>
                              <m:r>
                                <a:rPr lang="en-SG" i="1" dirty="0" err="1">
                                  <a:latin typeface="Cambria Math" panose="02040503050406030204" pitchFamily="18" charset="0"/>
                                </a:rPr>
                                <m:t>𝑖</m:t>
                              </m:r>
                            </m:sub>
                          </m:sSub>
                          <m:r>
                            <a:rPr lang="en-SG" i="1" dirty="0">
                              <a:latin typeface="Cambria Math" panose="02040503050406030204" pitchFamily="18" charset="0"/>
                            </a:rPr>
                            <m:t> − (</m:t>
                          </m:r>
                          <m:r>
                            <a:rPr lang="en-SG" i="1" dirty="0">
                              <a:latin typeface="Cambria Math" panose="02040503050406030204" pitchFamily="18" charset="0"/>
                            </a:rPr>
                            <m:t>𝑎</m:t>
                          </m:r>
                          <m:r>
                            <a:rPr lang="en-SG" i="1" dirty="0">
                              <a:latin typeface="Cambria Math" panose="02040503050406030204" pitchFamily="18" charset="0"/>
                            </a:rPr>
                            <m:t> </m:t>
                          </m:r>
                          <m:sSub>
                            <m:sSubPr>
                              <m:ctrlPr>
                                <a:rPr lang="en-SG" i="1" dirty="0" err="1">
                                  <a:latin typeface="Cambria Math" panose="02040503050406030204" pitchFamily="18" charset="0"/>
                                </a:rPr>
                              </m:ctrlPr>
                            </m:sSubPr>
                            <m:e>
                              <m:r>
                                <a:rPr lang="en-SG" i="1" dirty="0" err="1">
                                  <a:latin typeface="Cambria Math" panose="02040503050406030204" pitchFamily="18" charset="0"/>
                                </a:rPr>
                                <m:t>𝑥</m:t>
                              </m:r>
                            </m:e>
                            <m:sub>
                              <m:r>
                                <a:rPr lang="en-SG" i="1" dirty="0" err="1">
                                  <a:latin typeface="Cambria Math" panose="02040503050406030204" pitchFamily="18" charset="0"/>
                                </a:rPr>
                                <m:t>𝑖</m:t>
                              </m:r>
                            </m:sub>
                          </m:sSub>
                          <m:r>
                            <a:rPr lang="en-SG" i="1" dirty="0">
                              <a:latin typeface="Cambria Math" panose="02040503050406030204" pitchFamily="18" charset="0"/>
                            </a:rPr>
                            <m:t> + </m:t>
                          </m:r>
                          <m:r>
                            <a:rPr lang="en-SG" i="1" dirty="0">
                              <a:latin typeface="Cambria Math" panose="02040503050406030204" pitchFamily="18" charset="0"/>
                            </a:rPr>
                            <m:t>𝑏</m:t>
                          </m:r>
                          <m:r>
                            <a:rPr lang="en-SG" i="1" dirty="0">
                              <a:latin typeface="Cambria Math" panose="02040503050406030204" pitchFamily="18" charset="0"/>
                            </a:rPr>
                            <m:t>)</m:t>
                          </m:r>
                        </m:e>
                      </m:nary>
                    </m:oMath>
                  </m:oMathPara>
                </a14:m>
                <a:endParaRPr lang="en-SG" dirty="0"/>
              </a:p>
              <a:p>
                <a:pPr marL="0" indent="0">
                  <a:buNone/>
                </a:pPr>
                <a:r>
                  <a:rPr lang="en-SG" dirty="0"/>
                  <a:t>We call parameter </a:t>
                </a:r>
                <a:r>
                  <a:rPr lang="en-GB" dirty="0"/>
                  <a:t>𝛼 the </a:t>
                </a:r>
                <a:r>
                  <a:rPr lang="en-GB" b="1" dirty="0"/>
                  <a:t>learning</a:t>
                </a:r>
                <a:r>
                  <a:rPr lang="en-GB" dirty="0"/>
                  <a:t> </a:t>
                </a:r>
                <a:r>
                  <a:rPr lang="en-GB" b="1" dirty="0"/>
                  <a:t>rate</a:t>
                </a:r>
                <a:r>
                  <a:rPr lang="en-GB" dirty="0"/>
                  <a:t> for the gradient descent, and this parameter value will have to be decided manually, later. </a:t>
                </a:r>
                <a:endParaRPr lang="en-SG" dirty="0"/>
              </a:p>
              <a:p>
                <a:endParaRPr lang="en-SG" dirty="0"/>
              </a:p>
            </p:txBody>
          </p:sp>
        </mc:Choice>
        <mc:Fallback xmlns="">
          <p:sp>
            <p:nvSpPr>
              <p:cNvPr id="4" name="Content Placeholder 3">
                <a:extLst>
                  <a:ext uri="{FF2B5EF4-FFF2-40B4-BE49-F238E27FC236}">
                    <a16:creationId xmlns:a16="http://schemas.microsoft.com/office/drawing/2014/main" id="{D6FC8E3E-422C-DDA8-8AEA-BAC629653399}"/>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043"/>
                </a:stretch>
              </a:blipFill>
            </p:spPr>
            <p:txBody>
              <a:bodyPr/>
              <a:lstStyle/>
              <a:p>
                <a:r>
                  <a:rPr lang="en-GB">
                    <a:noFill/>
                  </a:rPr>
                  <a:t> </a:t>
                </a:r>
              </a:p>
            </p:txBody>
          </p:sp>
        </mc:Fallback>
      </mc:AlternateContent>
    </p:spTree>
    <p:extLst>
      <p:ext uri="{BB962C8B-B14F-4D97-AF65-F5344CB8AC3E}">
        <p14:creationId xmlns:p14="http://schemas.microsoft.com/office/powerpoint/2010/main" val="24833815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B0C19-90C2-8B32-3357-7B5D99021CCF}"/>
              </a:ext>
            </a:extLst>
          </p:cNvPr>
          <p:cNvSpPr>
            <a:spLocks noGrp="1"/>
          </p:cNvSpPr>
          <p:nvPr>
            <p:ph type="title"/>
          </p:nvPr>
        </p:nvSpPr>
        <p:spPr/>
        <p:txBody>
          <a:bodyPr/>
          <a:lstStyle/>
          <a:p>
            <a:r>
              <a:rPr lang="en-GB" dirty="0"/>
              <a:t>GD in Linear Regression</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6FC8E3E-422C-DDA8-8AEA-BAC629653399}"/>
                  </a:ext>
                </a:extLst>
              </p:cNvPr>
              <p:cNvSpPr>
                <a:spLocks noGrp="1"/>
              </p:cNvSpPr>
              <p:nvPr>
                <p:ph idx="1"/>
              </p:nvPr>
            </p:nvSpPr>
            <p:spPr>
              <a:xfrm>
                <a:off x="838200" y="1825624"/>
                <a:ext cx="10515600" cy="5032375"/>
              </a:xfrm>
            </p:spPr>
            <p:txBody>
              <a:bodyPr>
                <a:normAutofit/>
              </a:bodyPr>
              <a:lstStyle/>
              <a:p>
                <a:pPr marL="0" indent="0">
                  <a:buNone/>
                </a:pPr>
                <a:r>
                  <a:rPr lang="en-GB" b="1" dirty="0"/>
                  <a:t>Gradient Descent Linear Regression procedure:</a:t>
                </a:r>
              </a:p>
              <a:p>
                <a:r>
                  <a:rPr lang="en-GB" dirty="0"/>
                  <a:t>We initialize </a:t>
                </a:r>
                <a14:m>
                  <m:oMath xmlns:m="http://schemas.openxmlformats.org/officeDocument/2006/math">
                    <m:r>
                      <a:rPr lang="en-GB" i="1" dirty="0" smtClean="0">
                        <a:latin typeface="Cambria Math" panose="02040503050406030204" pitchFamily="18" charset="0"/>
                      </a:rPr>
                      <m:t>𝑎</m:t>
                    </m:r>
                  </m:oMath>
                </a14:m>
                <a:r>
                  <a:rPr lang="en-GB" dirty="0"/>
                  <a:t> and </a:t>
                </a:r>
                <a14:m>
                  <m:oMath xmlns:m="http://schemas.openxmlformats.org/officeDocument/2006/math">
                    <m:r>
                      <a:rPr lang="en-GB" i="1" dirty="0" smtClean="0">
                        <a:latin typeface="Cambria Math" panose="02040503050406030204" pitchFamily="18" charset="0"/>
                      </a:rPr>
                      <m:t>𝑏</m:t>
                    </m:r>
                  </m:oMath>
                </a14:m>
                <a:r>
                  <a:rPr lang="en-GB" dirty="0"/>
                  <a:t> with some initial values (could be zero, random values, or something else).</a:t>
                </a:r>
              </a:p>
              <a:p>
                <a:r>
                  <a:rPr lang="en-GB" dirty="0"/>
                  <a:t>For a given number of iterations, we will apply the two update rules defined earlier.</a:t>
                </a:r>
              </a:p>
              <a:p>
                <a:r>
                  <a:rPr lang="en-GB" i="1" dirty="0"/>
                  <a:t>(Optionally, we might decide to stop iterating, if we realize that the values of </a:t>
                </a:r>
                <a14:m>
                  <m:oMath xmlns:m="http://schemas.openxmlformats.org/officeDocument/2006/math">
                    <m:r>
                      <a:rPr lang="en-GB" i="1" dirty="0" smtClean="0">
                        <a:latin typeface="Cambria Math" panose="02040503050406030204" pitchFamily="18" charset="0"/>
                      </a:rPr>
                      <m:t>𝑎</m:t>
                    </m:r>
                  </m:oMath>
                </a14:m>
                <a:r>
                  <a:rPr lang="en-GB" i="1" dirty="0"/>
                  <a:t> and </a:t>
                </a:r>
                <a14:m>
                  <m:oMath xmlns:m="http://schemas.openxmlformats.org/officeDocument/2006/math">
                    <m:r>
                      <a:rPr lang="en-GB" i="1" dirty="0" smtClean="0">
                        <a:latin typeface="Cambria Math" panose="02040503050406030204" pitchFamily="18" charset="0"/>
                      </a:rPr>
                      <m:t>𝑏</m:t>
                    </m:r>
                  </m:oMath>
                </a14:m>
                <a:r>
                  <a:rPr lang="en-GB" i="1" dirty="0"/>
                  <a:t> are no longer changing.</a:t>
                </a:r>
                <a:br>
                  <a:rPr lang="en-GB" i="1" dirty="0"/>
                </a:br>
                <a:r>
                  <a:rPr lang="en-GB" i="1" dirty="0"/>
                  <a:t>This is called </a:t>
                </a:r>
                <a:r>
                  <a:rPr lang="en-GB" b="1" i="1" dirty="0">
                    <a:solidFill>
                      <a:srgbClr val="7030A0"/>
                    </a:solidFill>
                  </a:rPr>
                  <a:t>early</a:t>
                </a:r>
                <a:r>
                  <a:rPr lang="en-GB" i="1" dirty="0">
                    <a:solidFill>
                      <a:srgbClr val="7030A0"/>
                    </a:solidFill>
                  </a:rPr>
                  <a:t> </a:t>
                </a:r>
                <a:r>
                  <a:rPr lang="en-GB" b="1" i="1" dirty="0">
                    <a:solidFill>
                      <a:srgbClr val="7030A0"/>
                    </a:solidFill>
                  </a:rPr>
                  <a:t>stopping</a:t>
                </a:r>
                <a:r>
                  <a:rPr lang="en-GB" i="1" dirty="0"/>
                  <a:t>, and is typically implemented by tracking the changes on each iteration.</a:t>
                </a:r>
                <a:br>
                  <a:rPr lang="en-GB" i="1" dirty="0"/>
                </a:br>
                <a:r>
                  <a:rPr lang="en-GB" i="1" dirty="0"/>
                  <a:t>Typically, we could decide to break the GD loop if the changes on both parameters </a:t>
                </a:r>
                <a14:m>
                  <m:oMath xmlns:m="http://schemas.openxmlformats.org/officeDocument/2006/math">
                    <m:r>
                      <a:rPr lang="en-GB" i="1" dirty="0" smtClean="0">
                        <a:latin typeface="Cambria Math" panose="02040503050406030204" pitchFamily="18" charset="0"/>
                      </a:rPr>
                      <m:t>𝑎</m:t>
                    </m:r>
                  </m:oMath>
                </a14:m>
                <a:r>
                  <a:rPr lang="en-GB" i="1" dirty="0"/>
                  <a:t> and </a:t>
                </a:r>
                <a14:m>
                  <m:oMath xmlns:m="http://schemas.openxmlformats.org/officeDocument/2006/math">
                    <m:r>
                      <a:rPr lang="en-GB" i="1" dirty="0" smtClean="0">
                        <a:latin typeface="Cambria Math" panose="02040503050406030204" pitchFamily="18" charset="0"/>
                      </a:rPr>
                      <m:t>𝑏</m:t>
                    </m:r>
                  </m:oMath>
                </a14:m>
                <a:r>
                  <a:rPr lang="en-GB" i="1" dirty="0"/>
                  <a:t> are less than a given threshold </a:t>
                </a:r>
                <a14:m>
                  <m:oMath xmlns:m="http://schemas.openxmlformats.org/officeDocument/2006/math">
                    <m:r>
                      <a:rPr lang="en-GB" b="0" i="1" smtClean="0">
                        <a:latin typeface="Cambria Math" panose="02040503050406030204" pitchFamily="18" charset="0"/>
                      </a:rPr>
                      <m:t>𝛿</m:t>
                    </m:r>
                  </m:oMath>
                </a14:m>
                <a:r>
                  <a:rPr lang="en-SG" i="1" dirty="0"/>
                  <a:t>.)</a:t>
                </a:r>
              </a:p>
            </p:txBody>
          </p:sp>
        </mc:Choice>
        <mc:Fallback xmlns="">
          <p:sp>
            <p:nvSpPr>
              <p:cNvPr id="4" name="Content Placeholder 3">
                <a:extLst>
                  <a:ext uri="{FF2B5EF4-FFF2-40B4-BE49-F238E27FC236}">
                    <a16:creationId xmlns:a16="http://schemas.microsoft.com/office/drawing/2014/main" id="{D6FC8E3E-422C-DDA8-8AEA-BAC629653399}"/>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159"/>
                </a:stretch>
              </a:blipFill>
            </p:spPr>
            <p:txBody>
              <a:bodyPr/>
              <a:lstStyle/>
              <a:p>
                <a:r>
                  <a:rPr lang="en-GB">
                    <a:noFill/>
                  </a:rPr>
                  <a:t> </a:t>
                </a:r>
              </a:p>
            </p:txBody>
          </p:sp>
        </mc:Fallback>
      </mc:AlternateContent>
    </p:spTree>
    <p:extLst>
      <p:ext uri="{BB962C8B-B14F-4D97-AF65-F5344CB8AC3E}">
        <p14:creationId xmlns:p14="http://schemas.microsoft.com/office/powerpoint/2010/main" val="32080065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C20FAE-7F77-06D6-DA57-D58356E33857}"/>
              </a:ext>
            </a:extLst>
          </p:cNvPr>
          <p:cNvPicPr>
            <a:picLocks noChangeAspect="1"/>
          </p:cNvPicPr>
          <p:nvPr/>
        </p:nvPicPr>
        <p:blipFill>
          <a:blip r:embed="rId2"/>
          <a:stretch>
            <a:fillRect/>
          </a:stretch>
        </p:blipFill>
        <p:spPr>
          <a:xfrm>
            <a:off x="1695377" y="0"/>
            <a:ext cx="8801246" cy="6858000"/>
          </a:xfrm>
          <a:prstGeom prst="rect">
            <a:avLst/>
          </a:prstGeom>
        </p:spPr>
      </p:pic>
      <p:sp>
        <p:nvSpPr>
          <p:cNvPr id="10" name="Rectangle 9">
            <a:extLst>
              <a:ext uri="{FF2B5EF4-FFF2-40B4-BE49-F238E27FC236}">
                <a16:creationId xmlns:a16="http://schemas.microsoft.com/office/drawing/2014/main" id="{7C7C0750-C98E-E090-7550-A0818F035E30}"/>
              </a:ext>
            </a:extLst>
          </p:cNvPr>
          <p:cNvSpPr/>
          <p:nvPr/>
        </p:nvSpPr>
        <p:spPr>
          <a:xfrm>
            <a:off x="2250831" y="367323"/>
            <a:ext cx="1547446" cy="30480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FC3B1AF6-3090-2218-738E-B02F4E0E9B29}"/>
              </a:ext>
            </a:extLst>
          </p:cNvPr>
          <p:cNvSpPr txBox="1"/>
          <p:nvPr/>
        </p:nvSpPr>
        <p:spPr>
          <a:xfrm>
            <a:off x="7338567" y="398744"/>
            <a:ext cx="3235569" cy="369332"/>
          </a:xfrm>
          <a:prstGeom prst="rect">
            <a:avLst/>
          </a:prstGeom>
          <a:noFill/>
        </p:spPr>
        <p:txBody>
          <a:bodyPr wrap="square" rtlCol="0">
            <a:spAutoFit/>
          </a:bodyPr>
          <a:lstStyle/>
          <a:p>
            <a:r>
              <a:rPr lang="en-GB" b="1" dirty="0">
                <a:solidFill>
                  <a:schemeClr val="accent2"/>
                </a:solidFill>
              </a:rPr>
              <a:t>Initialize a and b as you please.</a:t>
            </a:r>
            <a:endParaRPr lang="en-SG" b="1" dirty="0">
              <a:solidFill>
                <a:schemeClr val="accent2"/>
              </a:solidFill>
            </a:endParaRPr>
          </a:p>
        </p:txBody>
      </p:sp>
    </p:spTree>
    <p:extLst>
      <p:ext uri="{BB962C8B-B14F-4D97-AF65-F5344CB8AC3E}">
        <p14:creationId xmlns:p14="http://schemas.microsoft.com/office/powerpoint/2010/main" val="5145934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55D0A4-7B2B-7BDF-1C8C-E9C72D6D4330}"/>
              </a:ext>
            </a:extLst>
          </p:cNvPr>
          <p:cNvPicPr>
            <a:picLocks noChangeAspect="1"/>
          </p:cNvPicPr>
          <p:nvPr/>
        </p:nvPicPr>
        <p:blipFill>
          <a:blip r:embed="rId2"/>
          <a:stretch>
            <a:fillRect/>
          </a:stretch>
        </p:blipFill>
        <p:spPr>
          <a:xfrm>
            <a:off x="1695377" y="0"/>
            <a:ext cx="8801246" cy="6858000"/>
          </a:xfrm>
          <a:prstGeom prst="rect">
            <a:avLst/>
          </a:prstGeom>
        </p:spPr>
      </p:pic>
      <p:sp>
        <p:nvSpPr>
          <p:cNvPr id="10" name="Rectangle 9">
            <a:extLst>
              <a:ext uri="{FF2B5EF4-FFF2-40B4-BE49-F238E27FC236}">
                <a16:creationId xmlns:a16="http://schemas.microsoft.com/office/drawing/2014/main" id="{7C7C0750-C98E-E090-7550-A0818F035E30}"/>
              </a:ext>
            </a:extLst>
          </p:cNvPr>
          <p:cNvSpPr/>
          <p:nvPr/>
        </p:nvSpPr>
        <p:spPr>
          <a:xfrm>
            <a:off x="2149230" y="797169"/>
            <a:ext cx="1312985" cy="30480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FC3B1AF6-3090-2218-738E-B02F4E0E9B29}"/>
              </a:ext>
            </a:extLst>
          </p:cNvPr>
          <p:cNvSpPr txBox="1"/>
          <p:nvPr/>
        </p:nvSpPr>
        <p:spPr>
          <a:xfrm>
            <a:off x="7261054" y="732637"/>
            <a:ext cx="3235569" cy="369332"/>
          </a:xfrm>
          <a:prstGeom prst="rect">
            <a:avLst/>
          </a:prstGeom>
          <a:noFill/>
        </p:spPr>
        <p:txBody>
          <a:bodyPr wrap="square" rtlCol="0">
            <a:spAutoFit/>
          </a:bodyPr>
          <a:lstStyle/>
          <a:p>
            <a:r>
              <a:rPr lang="en-GB" b="1" dirty="0">
                <a:solidFill>
                  <a:schemeClr val="accent2"/>
                </a:solidFill>
              </a:rPr>
              <a:t>Number of samples in dataset.</a:t>
            </a:r>
            <a:endParaRPr lang="en-SG" b="1" dirty="0">
              <a:solidFill>
                <a:schemeClr val="accent2"/>
              </a:solidFill>
            </a:endParaRPr>
          </a:p>
        </p:txBody>
      </p:sp>
    </p:spTree>
    <p:extLst>
      <p:ext uri="{BB962C8B-B14F-4D97-AF65-F5344CB8AC3E}">
        <p14:creationId xmlns:p14="http://schemas.microsoft.com/office/powerpoint/2010/main" val="5052632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31FB64-478A-B843-25C5-E6EF705D99C2}"/>
              </a:ext>
            </a:extLst>
          </p:cNvPr>
          <p:cNvPicPr>
            <a:picLocks noChangeAspect="1"/>
          </p:cNvPicPr>
          <p:nvPr/>
        </p:nvPicPr>
        <p:blipFill>
          <a:blip r:embed="rId2"/>
          <a:stretch>
            <a:fillRect/>
          </a:stretch>
        </p:blipFill>
        <p:spPr>
          <a:xfrm>
            <a:off x="1695377" y="0"/>
            <a:ext cx="8801246" cy="6858000"/>
          </a:xfrm>
          <a:prstGeom prst="rect">
            <a:avLst/>
          </a:prstGeom>
        </p:spPr>
      </p:pic>
      <p:sp>
        <p:nvSpPr>
          <p:cNvPr id="10" name="Rectangle 9">
            <a:extLst>
              <a:ext uri="{FF2B5EF4-FFF2-40B4-BE49-F238E27FC236}">
                <a16:creationId xmlns:a16="http://schemas.microsoft.com/office/drawing/2014/main" id="{7C7C0750-C98E-E090-7550-A0818F035E30}"/>
              </a:ext>
            </a:extLst>
          </p:cNvPr>
          <p:cNvSpPr/>
          <p:nvPr/>
        </p:nvSpPr>
        <p:spPr>
          <a:xfrm>
            <a:off x="2399322" y="1047262"/>
            <a:ext cx="4861170" cy="80498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FC3B1AF6-3090-2218-738E-B02F4E0E9B29}"/>
              </a:ext>
            </a:extLst>
          </p:cNvPr>
          <p:cNvSpPr txBox="1"/>
          <p:nvPr/>
        </p:nvSpPr>
        <p:spPr>
          <a:xfrm>
            <a:off x="7796086" y="988088"/>
            <a:ext cx="3235569" cy="923330"/>
          </a:xfrm>
          <a:prstGeom prst="rect">
            <a:avLst/>
          </a:prstGeom>
          <a:noFill/>
        </p:spPr>
        <p:txBody>
          <a:bodyPr wrap="square" rtlCol="0">
            <a:spAutoFit/>
          </a:bodyPr>
          <a:lstStyle/>
          <a:p>
            <a:r>
              <a:rPr lang="en-GB" b="1" dirty="0">
                <a:solidFill>
                  <a:schemeClr val="accent2"/>
                </a:solidFill>
              </a:rPr>
              <a:t>Two possible stopping conditions, change &lt; delta</a:t>
            </a:r>
            <a:br>
              <a:rPr lang="en-GB" b="1" dirty="0">
                <a:solidFill>
                  <a:schemeClr val="accent2"/>
                </a:solidFill>
              </a:rPr>
            </a:br>
            <a:r>
              <a:rPr lang="en-GB" b="1" dirty="0">
                <a:solidFill>
                  <a:schemeClr val="accent2"/>
                </a:solidFill>
              </a:rPr>
              <a:t>or counter &gt; </a:t>
            </a:r>
            <a:r>
              <a:rPr lang="en-GB" b="1" dirty="0" err="1">
                <a:solidFill>
                  <a:schemeClr val="accent2"/>
                </a:solidFill>
              </a:rPr>
              <a:t>max_count</a:t>
            </a:r>
            <a:r>
              <a:rPr lang="en-GB" b="1" dirty="0">
                <a:solidFill>
                  <a:schemeClr val="accent2"/>
                </a:solidFill>
              </a:rPr>
              <a:t>.</a:t>
            </a:r>
            <a:endParaRPr lang="en-SG" b="1" dirty="0">
              <a:solidFill>
                <a:schemeClr val="accent2"/>
              </a:solidFill>
            </a:endParaRPr>
          </a:p>
        </p:txBody>
      </p:sp>
      <p:sp>
        <p:nvSpPr>
          <p:cNvPr id="2" name="Rectangle 1">
            <a:extLst>
              <a:ext uri="{FF2B5EF4-FFF2-40B4-BE49-F238E27FC236}">
                <a16:creationId xmlns:a16="http://schemas.microsoft.com/office/drawing/2014/main" id="{29618B4C-3D7E-4A8D-719B-D6141BD09102}"/>
              </a:ext>
            </a:extLst>
          </p:cNvPr>
          <p:cNvSpPr/>
          <p:nvPr/>
        </p:nvSpPr>
        <p:spPr>
          <a:xfrm flipV="1">
            <a:off x="2368059" y="2053490"/>
            <a:ext cx="1820985" cy="203199"/>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D2F658F2-791D-2112-EEDF-CC260FD808E1}"/>
              </a:ext>
            </a:extLst>
          </p:cNvPr>
          <p:cNvSpPr/>
          <p:nvPr/>
        </p:nvSpPr>
        <p:spPr>
          <a:xfrm flipV="1">
            <a:off x="2684585" y="5810738"/>
            <a:ext cx="4427415" cy="707284"/>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4540935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B30C31-913D-2FF6-4924-40A881C20124}"/>
              </a:ext>
            </a:extLst>
          </p:cNvPr>
          <p:cNvPicPr>
            <a:picLocks noChangeAspect="1"/>
          </p:cNvPicPr>
          <p:nvPr/>
        </p:nvPicPr>
        <p:blipFill>
          <a:blip r:embed="rId2"/>
          <a:stretch>
            <a:fillRect/>
          </a:stretch>
        </p:blipFill>
        <p:spPr>
          <a:xfrm>
            <a:off x="1695377" y="0"/>
            <a:ext cx="8801246" cy="6858000"/>
          </a:xfrm>
          <a:prstGeom prst="rect">
            <a:avLst/>
          </a:prstGeom>
        </p:spPr>
      </p:pic>
      <p:sp>
        <p:nvSpPr>
          <p:cNvPr id="10" name="Rectangle 9">
            <a:extLst>
              <a:ext uri="{FF2B5EF4-FFF2-40B4-BE49-F238E27FC236}">
                <a16:creationId xmlns:a16="http://schemas.microsoft.com/office/drawing/2014/main" id="{7C7C0750-C98E-E090-7550-A0818F035E30}"/>
              </a:ext>
            </a:extLst>
          </p:cNvPr>
          <p:cNvSpPr/>
          <p:nvPr/>
        </p:nvSpPr>
        <p:spPr>
          <a:xfrm flipV="1">
            <a:off x="2446214" y="2644717"/>
            <a:ext cx="6033477" cy="85969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FC3B1AF6-3090-2218-738E-B02F4E0E9B29}"/>
              </a:ext>
            </a:extLst>
          </p:cNvPr>
          <p:cNvSpPr txBox="1"/>
          <p:nvPr/>
        </p:nvSpPr>
        <p:spPr>
          <a:xfrm>
            <a:off x="8644295" y="2612898"/>
            <a:ext cx="3235569" cy="923330"/>
          </a:xfrm>
          <a:prstGeom prst="rect">
            <a:avLst/>
          </a:prstGeom>
          <a:noFill/>
        </p:spPr>
        <p:txBody>
          <a:bodyPr wrap="square" rtlCol="0">
            <a:spAutoFit/>
          </a:bodyPr>
          <a:lstStyle/>
          <a:p>
            <a:r>
              <a:rPr lang="en-GB" b="1" dirty="0">
                <a:solidFill>
                  <a:schemeClr val="accent2"/>
                </a:solidFill>
              </a:rPr>
              <a:t>Update using our</a:t>
            </a:r>
            <a:br>
              <a:rPr lang="en-GB" b="1" dirty="0">
                <a:solidFill>
                  <a:schemeClr val="accent2"/>
                </a:solidFill>
              </a:rPr>
            </a:br>
            <a:r>
              <a:rPr lang="en-GB" b="1" dirty="0">
                <a:solidFill>
                  <a:schemeClr val="accent2"/>
                </a:solidFill>
              </a:rPr>
              <a:t>GD update rules</a:t>
            </a:r>
            <a:br>
              <a:rPr lang="en-GB" b="1" dirty="0">
                <a:solidFill>
                  <a:schemeClr val="accent2"/>
                </a:solidFill>
              </a:rPr>
            </a:br>
            <a:r>
              <a:rPr lang="en-GB" b="1" dirty="0">
                <a:solidFill>
                  <a:schemeClr val="accent2"/>
                </a:solidFill>
              </a:rPr>
              <a:t>from earlier.</a:t>
            </a:r>
          </a:p>
        </p:txBody>
      </p:sp>
    </p:spTree>
    <p:extLst>
      <p:ext uri="{BB962C8B-B14F-4D97-AF65-F5344CB8AC3E}">
        <p14:creationId xmlns:p14="http://schemas.microsoft.com/office/powerpoint/2010/main" val="9379519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EBA1E7-3E6C-C13C-DBE5-C0C42E206EED}"/>
              </a:ext>
            </a:extLst>
          </p:cNvPr>
          <p:cNvPicPr>
            <a:picLocks noChangeAspect="1"/>
          </p:cNvPicPr>
          <p:nvPr/>
        </p:nvPicPr>
        <p:blipFill>
          <a:blip r:embed="rId2"/>
          <a:stretch>
            <a:fillRect/>
          </a:stretch>
        </p:blipFill>
        <p:spPr>
          <a:xfrm>
            <a:off x="1695377" y="0"/>
            <a:ext cx="8801246" cy="6858000"/>
          </a:xfrm>
          <a:prstGeom prst="rect">
            <a:avLst/>
          </a:prstGeom>
        </p:spPr>
      </p:pic>
      <p:sp>
        <p:nvSpPr>
          <p:cNvPr id="10" name="Rectangle 9">
            <a:extLst>
              <a:ext uri="{FF2B5EF4-FFF2-40B4-BE49-F238E27FC236}">
                <a16:creationId xmlns:a16="http://schemas.microsoft.com/office/drawing/2014/main" id="{7C7C0750-C98E-E090-7550-A0818F035E30}"/>
              </a:ext>
            </a:extLst>
          </p:cNvPr>
          <p:cNvSpPr/>
          <p:nvPr/>
        </p:nvSpPr>
        <p:spPr>
          <a:xfrm>
            <a:off x="2688493" y="3821722"/>
            <a:ext cx="3806092" cy="609602"/>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FC3B1AF6-3090-2218-738E-B02F4E0E9B29}"/>
              </a:ext>
            </a:extLst>
          </p:cNvPr>
          <p:cNvSpPr txBox="1"/>
          <p:nvPr/>
        </p:nvSpPr>
        <p:spPr>
          <a:xfrm>
            <a:off x="6877819" y="3664858"/>
            <a:ext cx="3235569" cy="1200329"/>
          </a:xfrm>
          <a:prstGeom prst="rect">
            <a:avLst/>
          </a:prstGeom>
          <a:noFill/>
        </p:spPr>
        <p:txBody>
          <a:bodyPr wrap="square" rtlCol="0">
            <a:spAutoFit/>
          </a:bodyPr>
          <a:lstStyle/>
          <a:p>
            <a:r>
              <a:rPr lang="en-GB" b="1" dirty="0">
                <a:solidFill>
                  <a:schemeClr val="accent2"/>
                </a:solidFill>
              </a:rPr>
              <a:t>Compute change on this iteration (to decide on early stopping if changes become insignificant).</a:t>
            </a:r>
            <a:endParaRPr lang="en-SG" b="1" dirty="0">
              <a:solidFill>
                <a:schemeClr val="accent2"/>
              </a:solidFill>
            </a:endParaRPr>
          </a:p>
        </p:txBody>
      </p:sp>
      <p:sp>
        <p:nvSpPr>
          <p:cNvPr id="2" name="Rectangle 1">
            <a:extLst>
              <a:ext uri="{FF2B5EF4-FFF2-40B4-BE49-F238E27FC236}">
                <a16:creationId xmlns:a16="http://schemas.microsoft.com/office/drawing/2014/main" id="{948849C4-285E-89EE-A929-63AE33687D78}"/>
              </a:ext>
            </a:extLst>
          </p:cNvPr>
          <p:cNvSpPr/>
          <p:nvPr/>
        </p:nvSpPr>
        <p:spPr>
          <a:xfrm flipV="1">
            <a:off x="2840893" y="2086708"/>
            <a:ext cx="1363784" cy="211015"/>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0904594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87A591-A392-428A-EF60-F38DBB3A1483}"/>
              </a:ext>
            </a:extLst>
          </p:cNvPr>
          <p:cNvPicPr>
            <a:picLocks noChangeAspect="1"/>
          </p:cNvPicPr>
          <p:nvPr/>
        </p:nvPicPr>
        <p:blipFill>
          <a:blip r:embed="rId2"/>
          <a:stretch>
            <a:fillRect/>
          </a:stretch>
        </p:blipFill>
        <p:spPr>
          <a:xfrm>
            <a:off x="1695377" y="0"/>
            <a:ext cx="8801246" cy="6858000"/>
          </a:xfrm>
          <a:prstGeom prst="rect">
            <a:avLst/>
          </a:prstGeom>
        </p:spPr>
      </p:pic>
      <p:sp>
        <p:nvSpPr>
          <p:cNvPr id="10" name="Rectangle 9">
            <a:extLst>
              <a:ext uri="{FF2B5EF4-FFF2-40B4-BE49-F238E27FC236}">
                <a16:creationId xmlns:a16="http://schemas.microsoft.com/office/drawing/2014/main" id="{7C7C0750-C98E-E090-7550-A0818F035E30}"/>
              </a:ext>
            </a:extLst>
          </p:cNvPr>
          <p:cNvSpPr/>
          <p:nvPr/>
        </p:nvSpPr>
        <p:spPr>
          <a:xfrm flipV="1">
            <a:off x="2586894" y="4360983"/>
            <a:ext cx="2962030" cy="664308"/>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FC3B1AF6-3090-2218-738E-B02F4E0E9B29}"/>
              </a:ext>
            </a:extLst>
          </p:cNvPr>
          <p:cNvSpPr txBox="1"/>
          <p:nvPr/>
        </p:nvSpPr>
        <p:spPr>
          <a:xfrm>
            <a:off x="7261054" y="3429000"/>
            <a:ext cx="3235569" cy="1477328"/>
          </a:xfrm>
          <a:prstGeom prst="rect">
            <a:avLst/>
          </a:prstGeom>
          <a:noFill/>
        </p:spPr>
        <p:txBody>
          <a:bodyPr wrap="square" rtlCol="0">
            <a:spAutoFit/>
          </a:bodyPr>
          <a:lstStyle/>
          <a:p>
            <a:r>
              <a:rPr lang="en-GB" b="1" dirty="0">
                <a:solidFill>
                  <a:schemeClr val="accent2"/>
                </a:solidFill>
              </a:rPr>
              <a:t>Calculate new MSE value using the new parameters of a and b. We also keep track of these loss values by adding them to a list, used for display later.</a:t>
            </a:r>
            <a:endParaRPr lang="en-SG" b="1" dirty="0">
              <a:solidFill>
                <a:schemeClr val="accent2"/>
              </a:solidFill>
            </a:endParaRPr>
          </a:p>
        </p:txBody>
      </p:sp>
      <p:sp>
        <p:nvSpPr>
          <p:cNvPr id="2" name="Rectangle 1">
            <a:extLst>
              <a:ext uri="{FF2B5EF4-FFF2-40B4-BE49-F238E27FC236}">
                <a16:creationId xmlns:a16="http://schemas.microsoft.com/office/drawing/2014/main" id="{D9478039-E7A1-F51E-4DBC-D6C35F4BE739}"/>
              </a:ext>
            </a:extLst>
          </p:cNvPr>
          <p:cNvSpPr/>
          <p:nvPr/>
        </p:nvSpPr>
        <p:spPr>
          <a:xfrm flipV="1">
            <a:off x="2328984" y="1707659"/>
            <a:ext cx="3899877" cy="37904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627475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01AA8D-B839-C230-E56E-4F4F58E88EC0}"/>
              </a:ext>
            </a:extLst>
          </p:cNvPr>
          <p:cNvPicPr>
            <a:picLocks noChangeAspect="1"/>
          </p:cNvPicPr>
          <p:nvPr/>
        </p:nvPicPr>
        <p:blipFill>
          <a:blip r:embed="rId2"/>
          <a:stretch>
            <a:fillRect/>
          </a:stretch>
        </p:blipFill>
        <p:spPr>
          <a:xfrm>
            <a:off x="1695377" y="0"/>
            <a:ext cx="8801246" cy="6858000"/>
          </a:xfrm>
          <a:prstGeom prst="rect">
            <a:avLst/>
          </a:prstGeom>
        </p:spPr>
      </p:pic>
      <p:sp>
        <p:nvSpPr>
          <p:cNvPr id="10" name="Rectangle 9">
            <a:extLst>
              <a:ext uri="{FF2B5EF4-FFF2-40B4-BE49-F238E27FC236}">
                <a16:creationId xmlns:a16="http://schemas.microsoft.com/office/drawing/2014/main" id="{7C7C0750-C98E-E090-7550-A0818F035E30}"/>
              </a:ext>
            </a:extLst>
          </p:cNvPr>
          <p:cNvSpPr/>
          <p:nvPr/>
        </p:nvSpPr>
        <p:spPr>
          <a:xfrm>
            <a:off x="2274278" y="6462149"/>
            <a:ext cx="1867876" cy="257908"/>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FC3B1AF6-3090-2218-738E-B02F4E0E9B29}"/>
              </a:ext>
            </a:extLst>
          </p:cNvPr>
          <p:cNvSpPr txBox="1"/>
          <p:nvPr/>
        </p:nvSpPr>
        <p:spPr>
          <a:xfrm>
            <a:off x="7000749" y="6073726"/>
            <a:ext cx="3626818" cy="646331"/>
          </a:xfrm>
          <a:prstGeom prst="rect">
            <a:avLst/>
          </a:prstGeom>
          <a:noFill/>
        </p:spPr>
        <p:txBody>
          <a:bodyPr wrap="square" rtlCol="0">
            <a:spAutoFit/>
          </a:bodyPr>
          <a:lstStyle/>
          <a:p>
            <a:r>
              <a:rPr lang="en-GB" b="1" dirty="0">
                <a:solidFill>
                  <a:schemeClr val="accent2"/>
                </a:solidFill>
              </a:rPr>
              <a:t>Return trained parameters and</a:t>
            </a:r>
            <a:br>
              <a:rPr lang="en-GB" b="1" dirty="0">
                <a:solidFill>
                  <a:schemeClr val="accent2"/>
                </a:solidFill>
              </a:rPr>
            </a:br>
            <a:r>
              <a:rPr lang="en-GB" b="1" dirty="0">
                <a:solidFill>
                  <a:schemeClr val="accent2"/>
                </a:solidFill>
              </a:rPr>
              <a:t>loss values list on each iteration.</a:t>
            </a:r>
            <a:endParaRPr lang="en-SG" b="1" dirty="0">
              <a:solidFill>
                <a:schemeClr val="accent2"/>
              </a:solidFill>
            </a:endParaRPr>
          </a:p>
        </p:txBody>
      </p:sp>
    </p:spTree>
    <p:extLst>
      <p:ext uri="{BB962C8B-B14F-4D97-AF65-F5344CB8AC3E}">
        <p14:creationId xmlns:p14="http://schemas.microsoft.com/office/powerpoint/2010/main" val="39781955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E87949-550A-D0E5-CC85-0CF24E3FCA13}"/>
              </a:ext>
            </a:extLst>
          </p:cNvPr>
          <p:cNvPicPr>
            <a:picLocks noChangeAspect="1"/>
          </p:cNvPicPr>
          <p:nvPr/>
        </p:nvPicPr>
        <p:blipFill>
          <a:blip r:embed="rId2"/>
          <a:stretch>
            <a:fillRect/>
          </a:stretch>
        </p:blipFill>
        <p:spPr>
          <a:xfrm>
            <a:off x="447247" y="695070"/>
            <a:ext cx="11616617" cy="4384929"/>
          </a:xfrm>
          <a:prstGeom prst="rect">
            <a:avLst/>
          </a:prstGeom>
        </p:spPr>
      </p:pic>
      <p:sp>
        <p:nvSpPr>
          <p:cNvPr id="2" name="TextBox 1">
            <a:extLst>
              <a:ext uri="{FF2B5EF4-FFF2-40B4-BE49-F238E27FC236}">
                <a16:creationId xmlns:a16="http://schemas.microsoft.com/office/drawing/2014/main" id="{A0DE5AE8-418A-50BC-4BF6-18437350E28D}"/>
              </a:ext>
            </a:extLst>
          </p:cNvPr>
          <p:cNvSpPr txBox="1"/>
          <p:nvPr/>
        </p:nvSpPr>
        <p:spPr>
          <a:xfrm>
            <a:off x="1197108" y="5252632"/>
            <a:ext cx="10568794" cy="954107"/>
          </a:xfrm>
          <a:prstGeom prst="rect">
            <a:avLst/>
          </a:prstGeom>
          <a:noFill/>
        </p:spPr>
        <p:txBody>
          <a:bodyPr wrap="square" rtlCol="0">
            <a:spAutoFit/>
          </a:bodyPr>
          <a:lstStyle/>
          <a:p>
            <a:r>
              <a:rPr lang="en-GB" sz="2800" b="1" dirty="0">
                <a:solidFill>
                  <a:schemeClr val="accent2"/>
                </a:solidFill>
              </a:rPr>
              <a:t>Observation: Loss is decreasing over iterations</a:t>
            </a:r>
            <a:br>
              <a:rPr lang="en-GB" sz="2800" b="1" dirty="0">
                <a:solidFill>
                  <a:schemeClr val="accent2"/>
                </a:solidFill>
              </a:rPr>
            </a:br>
            <a:r>
              <a:rPr lang="en-GB" sz="2800" b="1" dirty="0">
                <a:solidFill>
                  <a:schemeClr val="accent2"/>
                </a:solidFill>
              </a:rPr>
              <a:t>(which is good news for us!)</a:t>
            </a:r>
            <a:endParaRPr lang="en-SG" sz="2800" b="1" dirty="0">
              <a:solidFill>
                <a:schemeClr val="accent2"/>
              </a:solidFill>
            </a:endParaRPr>
          </a:p>
        </p:txBody>
      </p:sp>
      <p:sp>
        <p:nvSpPr>
          <p:cNvPr id="4" name="Rectangle 3">
            <a:extLst>
              <a:ext uri="{FF2B5EF4-FFF2-40B4-BE49-F238E27FC236}">
                <a16:creationId xmlns:a16="http://schemas.microsoft.com/office/drawing/2014/main" id="{5B485755-D5AE-C8A3-030A-32424C289BD9}"/>
              </a:ext>
            </a:extLst>
          </p:cNvPr>
          <p:cNvSpPr/>
          <p:nvPr/>
        </p:nvSpPr>
        <p:spPr>
          <a:xfrm>
            <a:off x="587829" y="1996751"/>
            <a:ext cx="1520889" cy="24259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Rectangle 4">
            <a:extLst>
              <a:ext uri="{FF2B5EF4-FFF2-40B4-BE49-F238E27FC236}">
                <a16:creationId xmlns:a16="http://schemas.microsoft.com/office/drawing/2014/main" id="{76B73C20-8F6B-B7E5-E527-9EDD6EA3C14C}"/>
              </a:ext>
            </a:extLst>
          </p:cNvPr>
          <p:cNvSpPr/>
          <p:nvPr/>
        </p:nvSpPr>
        <p:spPr>
          <a:xfrm>
            <a:off x="587829" y="2970244"/>
            <a:ext cx="1520889" cy="24259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Rectangle 5">
            <a:extLst>
              <a:ext uri="{FF2B5EF4-FFF2-40B4-BE49-F238E27FC236}">
                <a16:creationId xmlns:a16="http://schemas.microsoft.com/office/drawing/2014/main" id="{127A0751-6A00-4616-0253-D2AD9DAB9A7B}"/>
              </a:ext>
            </a:extLst>
          </p:cNvPr>
          <p:cNvSpPr/>
          <p:nvPr/>
        </p:nvSpPr>
        <p:spPr>
          <a:xfrm>
            <a:off x="587829" y="3943737"/>
            <a:ext cx="1520889" cy="24259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7025401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4C8B15-6006-5D3F-3D0C-729B3BF4D2A1}"/>
              </a:ext>
            </a:extLst>
          </p:cNvPr>
          <p:cNvPicPr>
            <a:picLocks noChangeAspect="1"/>
          </p:cNvPicPr>
          <p:nvPr/>
        </p:nvPicPr>
        <p:blipFill>
          <a:blip r:embed="rId2"/>
          <a:stretch>
            <a:fillRect/>
          </a:stretch>
        </p:blipFill>
        <p:spPr>
          <a:xfrm>
            <a:off x="1328072" y="675891"/>
            <a:ext cx="9535856" cy="5506218"/>
          </a:xfrm>
          <a:prstGeom prst="rect">
            <a:avLst/>
          </a:prstGeom>
        </p:spPr>
      </p:pic>
      <p:sp>
        <p:nvSpPr>
          <p:cNvPr id="2" name="TextBox 1">
            <a:extLst>
              <a:ext uri="{FF2B5EF4-FFF2-40B4-BE49-F238E27FC236}">
                <a16:creationId xmlns:a16="http://schemas.microsoft.com/office/drawing/2014/main" id="{005AF7FF-0393-1164-480E-3E5CAD9A4570}"/>
              </a:ext>
            </a:extLst>
          </p:cNvPr>
          <p:cNvSpPr txBox="1"/>
          <p:nvPr/>
        </p:nvSpPr>
        <p:spPr>
          <a:xfrm>
            <a:off x="3255862" y="2617386"/>
            <a:ext cx="5866166" cy="2677656"/>
          </a:xfrm>
          <a:prstGeom prst="rect">
            <a:avLst/>
          </a:prstGeom>
          <a:noFill/>
        </p:spPr>
        <p:txBody>
          <a:bodyPr wrap="square" rtlCol="0">
            <a:spAutoFit/>
          </a:bodyPr>
          <a:lstStyle/>
          <a:p>
            <a:r>
              <a:rPr lang="en-GB" sz="2800" b="1" dirty="0">
                <a:solidFill>
                  <a:schemeClr val="accent2"/>
                </a:solidFill>
              </a:rPr>
              <a:t>Observation: Confirmed with a plot.</a:t>
            </a:r>
            <a:br>
              <a:rPr lang="en-GB" sz="2800" b="1" dirty="0">
                <a:solidFill>
                  <a:schemeClr val="accent2"/>
                </a:solidFill>
              </a:rPr>
            </a:br>
            <a:r>
              <a:rPr lang="en-GB" sz="2800" b="1" dirty="0">
                <a:solidFill>
                  <a:schemeClr val="accent2"/>
                </a:solidFill>
              </a:rPr>
              <a:t>Loss is decreasing over iterations</a:t>
            </a:r>
            <a:br>
              <a:rPr lang="en-GB" sz="2800" b="1" dirty="0">
                <a:solidFill>
                  <a:schemeClr val="accent2"/>
                </a:solidFill>
              </a:rPr>
            </a:br>
            <a:r>
              <a:rPr lang="en-GB" sz="2800" b="1" dirty="0">
                <a:solidFill>
                  <a:schemeClr val="accent2"/>
                </a:solidFill>
              </a:rPr>
              <a:t>(which is good news for us!)</a:t>
            </a:r>
          </a:p>
          <a:p>
            <a:r>
              <a:rPr lang="en-GB" sz="2800" b="1" dirty="0">
                <a:solidFill>
                  <a:schemeClr val="accent2"/>
                </a:solidFill>
              </a:rPr>
              <a:t>Even seems to converge to a minimum value, corresponding to the optimal set of trainable parameters?</a:t>
            </a:r>
            <a:endParaRPr lang="en-SG" sz="2800" b="1" dirty="0">
              <a:solidFill>
                <a:schemeClr val="accent2"/>
              </a:solidFill>
            </a:endParaRPr>
          </a:p>
        </p:txBody>
      </p:sp>
    </p:spTree>
    <p:extLst>
      <p:ext uri="{BB962C8B-B14F-4D97-AF65-F5344CB8AC3E}">
        <p14:creationId xmlns:p14="http://schemas.microsoft.com/office/powerpoint/2010/main" val="35741215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2D68B-35F6-3B34-9E39-F210E35E0EA1}"/>
              </a:ext>
            </a:extLst>
          </p:cNvPr>
          <p:cNvSpPr>
            <a:spLocks noGrp="1"/>
          </p:cNvSpPr>
          <p:nvPr>
            <p:ph type="title"/>
          </p:nvPr>
        </p:nvSpPr>
        <p:spPr/>
        <p:txBody>
          <a:bodyPr/>
          <a:lstStyle/>
          <a:p>
            <a:r>
              <a:rPr lang="en-GB" dirty="0"/>
              <a:t>Checking for optimal parameters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F22B87-451A-08A2-1021-B8B6CA607DEA}"/>
                  </a:ext>
                </a:extLst>
              </p:cNvPr>
              <p:cNvSpPr>
                <a:spLocks noGrp="1"/>
              </p:cNvSpPr>
              <p:nvPr>
                <p:ph idx="1"/>
              </p:nvPr>
            </p:nvSpPr>
            <p:spPr/>
            <p:txBody>
              <a:bodyPr/>
              <a:lstStyle/>
              <a:p>
                <a:pPr marL="0" indent="0">
                  <a:buNone/>
                </a:pPr>
                <a:r>
                  <a:rPr lang="en-GB" dirty="0"/>
                  <a:t>We have generated the dataset ourselves, so we know the optimal values for </a:t>
                </a:r>
                <a14:m>
                  <m:oMath xmlns:m="http://schemas.openxmlformats.org/officeDocument/2006/math">
                    <m:r>
                      <a:rPr lang="en-GB" i="1" dirty="0" smtClean="0">
                        <a:latin typeface="Cambria Math" panose="02040503050406030204" pitchFamily="18" charset="0"/>
                      </a:rPr>
                      <m:t>𝑎</m:t>
                    </m:r>
                  </m:oMath>
                </a14:m>
                <a:r>
                  <a:rPr lang="en-GB" dirty="0"/>
                  <a:t> and </a:t>
                </a:r>
                <a14:m>
                  <m:oMath xmlns:m="http://schemas.openxmlformats.org/officeDocument/2006/math">
                    <m:r>
                      <a:rPr lang="en-GB" i="1" dirty="0" smtClean="0">
                        <a:latin typeface="Cambria Math" panose="02040503050406030204" pitchFamily="18" charset="0"/>
                      </a:rPr>
                      <m:t>𝑏</m:t>
                    </m:r>
                  </m:oMath>
                </a14:m>
                <a:r>
                  <a:rPr lang="en-GB" dirty="0"/>
                  <a:t>! (And we can even compute using the normal equation anyway…)</a:t>
                </a:r>
              </a:p>
              <a:p>
                <a:endParaRPr lang="en-GB"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71F22B87-451A-08A2-1021-B8B6CA607DEA}"/>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6F3D94AE-5CF8-6DD6-C282-1C1A5565E40F}"/>
              </a:ext>
            </a:extLst>
          </p:cNvPr>
          <p:cNvPicPr>
            <a:picLocks noChangeAspect="1"/>
          </p:cNvPicPr>
          <p:nvPr/>
        </p:nvPicPr>
        <p:blipFill>
          <a:blip r:embed="rId3"/>
          <a:stretch>
            <a:fillRect/>
          </a:stretch>
        </p:blipFill>
        <p:spPr>
          <a:xfrm>
            <a:off x="598644" y="3086527"/>
            <a:ext cx="11114664" cy="3551051"/>
          </a:xfrm>
          <a:prstGeom prst="rect">
            <a:avLst/>
          </a:prstGeom>
        </p:spPr>
      </p:pic>
    </p:spTree>
    <p:extLst>
      <p:ext uri="{BB962C8B-B14F-4D97-AF65-F5344CB8AC3E}">
        <p14:creationId xmlns:p14="http://schemas.microsoft.com/office/powerpoint/2010/main" val="42341882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9F8E28-4BC0-251C-8E14-8508C555B024}"/>
              </a:ext>
            </a:extLst>
          </p:cNvPr>
          <p:cNvPicPr>
            <a:picLocks noChangeAspect="1"/>
          </p:cNvPicPr>
          <p:nvPr/>
        </p:nvPicPr>
        <p:blipFill>
          <a:blip r:embed="rId2"/>
          <a:stretch>
            <a:fillRect/>
          </a:stretch>
        </p:blipFill>
        <p:spPr>
          <a:xfrm>
            <a:off x="935355" y="0"/>
            <a:ext cx="10321290" cy="6858000"/>
          </a:xfrm>
          <a:prstGeom prst="rect">
            <a:avLst/>
          </a:prstGeom>
        </p:spPr>
      </p:pic>
      <p:sp>
        <p:nvSpPr>
          <p:cNvPr id="2" name="TextBox 1">
            <a:extLst>
              <a:ext uri="{FF2B5EF4-FFF2-40B4-BE49-F238E27FC236}">
                <a16:creationId xmlns:a16="http://schemas.microsoft.com/office/drawing/2014/main" id="{62A03694-FC87-4F8C-E035-C3C81CBCE66C}"/>
              </a:ext>
            </a:extLst>
          </p:cNvPr>
          <p:cNvSpPr txBox="1"/>
          <p:nvPr/>
        </p:nvSpPr>
        <p:spPr>
          <a:xfrm>
            <a:off x="2214144" y="1063187"/>
            <a:ext cx="5866166" cy="1815882"/>
          </a:xfrm>
          <a:prstGeom prst="rect">
            <a:avLst/>
          </a:prstGeom>
          <a:noFill/>
        </p:spPr>
        <p:txBody>
          <a:bodyPr wrap="square" rtlCol="0">
            <a:spAutoFit/>
          </a:bodyPr>
          <a:lstStyle/>
          <a:p>
            <a:r>
              <a:rPr lang="en-GB" sz="2800" b="1" dirty="0">
                <a:solidFill>
                  <a:schemeClr val="accent2"/>
                </a:solidFill>
              </a:rPr>
              <a:t>Observation: Close match,</a:t>
            </a:r>
            <a:br>
              <a:rPr lang="en-GB" sz="2800" b="1" dirty="0">
                <a:solidFill>
                  <a:schemeClr val="accent2"/>
                </a:solidFill>
              </a:rPr>
            </a:br>
            <a:r>
              <a:rPr lang="en-GB" sz="2800" b="1" dirty="0">
                <a:solidFill>
                  <a:schemeClr val="accent2"/>
                </a:solidFill>
              </a:rPr>
              <a:t>good enough for us.</a:t>
            </a:r>
            <a:br>
              <a:rPr lang="en-GB" sz="2800" b="1" dirty="0">
                <a:solidFill>
                  <a:schemeClr val="accent2"/>
                </a:solidFill>
              </a:rPr>
            </a:br>
            <a:r>
              <a:rPr lang="en-GB" sz="2800" b="1" dirty="0">
                <a:solidFill>
                  <a:schemeClr val="accent2"/>
                </a:solidFill>
              </a:rPr>
              <a:t>(Maybe could get better with</a:t>
            </a:r>
            <a:br>
              <a:rPr lang="en-GB" sz="2800" b="1" dirty="0">
                <a:solidFill>
                  <a:schemeClr val="accent2"/>
                </a:solidFill>
              </a:rPr>
            </a:br>
            <a:r>
              <a:rPr lang="en-GB" sz="2800" b="1" dirty="0">
                <a:solidFill>
                  <a:schemeClr val="accent2"/>
                </a:solidFill>
              </a:rPr>
              <a:t>more iterations of GD?)</a:t>
            </a:r>
            <a:endParaRPr lang="en-SG" sz="2800" b="1" dirty="0">
              <a:solidFill>
                <a:schemeClr val="accent2"/>
              </a:solidFill>
            </a:endParaRPr>
          </a:p>
        </p:txBody>
      </p:sp>
    </p:spTree>
    <p:extLst>
      <p:ext uri="{BB962C8B-B14F-4D97-AF65-F5344CB8AC3E}">
        <p14:creationId xmlns:p14="http://schemas.microsoft.com/office/powerpoint/2010/main" val="35532958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25830-53E6-084F-C939-FF283C0C7707}"/>
              </a:ext>
            </a:extLst>
          </p:cNvPr>
          <p:cNvSpPr>
            <a:spLocks noGrp="1"/>
          </p:cNvSpPr>
          <p:nvPr>
            <p:ph type="title"/>
          </p:nvPr>
        </p:nvSpPr>
        <p:spPr/>
        <p:txBody>
          <a:bodyPr/>
          <a:lstStyle/>
          <a:p>
            <a:r>
              <a:rPr lang="en-GB" dirty="0"/>
              <a:t>Using </a:t>
            </a:r>
            <a:r>
              <a:rPr lang="en-GB" dirty="0" err="1"/>
              <a:t>Sklearn</a:t>
            </a:r>
            <a:r>
              <a:rPr lang="en-GB" dirty="0"/>
              <a:t> for Linear regression</a:t>
            </a:r>
            <a:endParaRPr lang="en-SG" dirty="0"/>
          </a:p>
        </p:txBody>
      </p:sp>
      <p:sp>
        <p:nvSpPr>
          <p:cNvPr id="4" name="Content Placeholder 3">
            <a:extLst>
              <a:ext uri="{FF2B5EF4-FFF2-40B4-BE49-F238E27FC236}">
                <a16:creationId xmlns:a16="http://schemas.microsoft.com/office/drawing/2014/main" id="{C5B59CD9-14A1-20FA-6AC6-9BDA7E169C7B}"/>
              </a:ext>
            </a:extLst>
          </p:cNvPr>
          <p:cNvSpPr>
            <a:spLocks noGrp="1"/>
          </p:cNvSpPr>
          <p:nvPr>
            <p:ph idx="1"/>
          </p:nvPr>
        </p:nvSpPr>
        <p:spPr/>
        <p:txBody>
          <a:bodyPr/>
          <a:lstStyle/>
          <a:p>
            <a:pPr marL="0" indent="0">
              <a:buNone/>
            </a:pPr>
            <a:r>
              <a:rPr lang="en-GB" dirty="0"/>
              <a:t>In practice, we never implement the linear regression model ourselves (but like many other things in CS, it is a good practice to try </a:t>
            </a:r>
            <a:r>
              <a:rPr lang="en-GB"/>
              <a:t>it once</a:t>
            </a:r>
            <a:r>
              <a:rPr lang="en-GB" dirty="0"/>
              <a:t>!)</a:t>
            </a:r>
          </a:p>
          <a:p>
            <a:r>
              <a:rPr lang="en-SG" dirty="0"/>
              <a:t>It is often better/faster to rely on the </a:t>
            </a:r>
            <a:r>
              <a:rPr lang="en-SG" b="1" dirty="0" err="1"/>
              <a:t>sklearn</a:t>
            </a:r>
            <a:r>
              <a:rPr lang="en-SG" dirty="0"/>
              <a:t> library and use the </a:t>
            </a:r>
            <a:r>
              <a:rPr lang="en-SG" b="1" dirty="0" err="1"/>
              <a:t>LinearRegression</a:t>
            </a:r>
            <a:r>
              <a:rPr lang="en-SG" dirty="0"/>
              <a:t> object!</a:t>
            </a:r>
          </a:p>
        </p:txBody>
      </p:sp>
      <p:pic>
        <p:nvPicPr>
          <p:cNvPr id="7" name="Picture 6">
            <a:extLst>
              <a:ext uri="{FF2B5EF4-FFF2-40B4-BE49-F238E27FC236}">
                <a16:creationId xmlns:a16="http://schemas.microsoft.com/office/drawing/2014/main" id="{9CC126B1-C5BF-DC38-9BBC-1FE0F11C3590}"/>
              </a:ext>
            </a:extLst>
          </p:cNvPr>
          <p:cNvPicPr>
            <a:picLocks noChangeAspect="1"/>
          </p:cNvPicPr>
          <p:nvPr/>
        </p:nvPicPr>
        <p:blipFill>
          <a:blip r:embed="rId2"/>
          <a:stretch>
            <a:fillRect/>
          </a:stretch>
        </p:blipFill>
        <p:spPr>
          <a:xfrm>
            <a:off x="1950013" y="3643336"/>
            <a:ext cx="8220355" cy="3214664"/>
          </a:xfrm>
          <a:prstGeom prst="rect">
            <a:avLst/>
          </a:prstGeom>
        </p:spPr>
      </p:pic>
    </p:spTree>
    <p:extLst>
      <p:ext uri="{BB962C8B-B14F-4D97-AF65-F5344CB8AC3E}">
        <p14:creationId xmlns:p14="http://schemas.microsoft.com/office/powerpoint/2010/main" val="20721332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25830-53E6-084F-C939-FF283C0C7707}"/>
              </a:ext>
            </a:extLst>
          </p:cNvPr>
          <p:cNvSpPr>
            <a:spLocks noGrp="1"/>
          </p:cNvSpPr>
          <p:nvPr>
            <p:ph type="title"/>
          </p:nvPr>
        </p:nvSpPr>
        <p:spPr/>
        <p:txBody>
          <a:bodyPr/>
          <a:lstStyle/>
          <a:p>
            <a:r>
              <a:rPr lang="en-GB" dirty="0"/>
              <a:t>Predicting using </a:t>
            </a:r>
            <a:r>
              <a:rPr lang="en-GB" dirty="0" err="1"/>
              <a:t>Sklearn</a:t>
            </a:r>
            <a:r>
              <a:rPr lang="en-GB" dirty="0"/>
              <a:t> Linear regression</a:t>
            </a:r>
            <a:endParaRPr lang="en-SG" dirty="0"/>
          </a:p>
        </p:txBody>
      </p:sp>
      <p:sp>
        <p:nvSpPr>
          <p:cNvPr id="4" name="Content Placeholder 3">
            <a:extLst>
              <a:ext uri="{FF2B5EF4-FFF2-40B4-BE49-F238E27FC236}">
                <a16:creationId xmlns:a16="http://schemas.microsoft.com/office/drawing/2014/main" id="{C5B59CD9-14A1-20FA-6AC6-9BDA7E169C7B}"/>
              </a:ext>
            </a:extLst>
          </p:cNvPr>
          <p:cNvSpPr>
            <a:spLocks noGrp="1"/>
          </p:cNvSpPr>
          <p:nvPr>
            <p:ph idx="1"/>
          </p:nvPr>
        </p:nvSpPr>
        <p:spPr/>
        <p:txBody>
          <a:bodyPr/>
          <a:lstStyle/>
          <a:p>
            <a:pPr marL="0" indent="0">
              <a:buNone/>
            </a:pPr>
            <a:r>
              <a:rPr lang="en-GB" dirty="0"/>
              <a:t>After training, it is also good practice to check if the predictor makes sense, by </a:t>
            </a:r>
            <a:r>
              <a:rPr lang="en-GB" b="1" dirty="0"/>
              <a:t>testing</a:t>
            </a:r>
            <a:r>
              <a:rPr lang="en-GB" dirty="0"/>
              <a:t> it and asking it to predict the price of an apartment it has never seen before.</a:t>
            </a:r>
          </a:p>
          <a:p>
            <a:r>
              <a:rPr lang="en-GB" dirty="0"/>
              <a:t>Confirm the pertinence </a:t>
            </a:r>
            <a:r>
              <a:rPr lang="en-GB"/>
              <a:t>of predicted </a:t>
            </a:r>
            <a:r>
              <a:rPr lang="en-GB" dirty="0"/>
              <a:t>values manually, if possible.</a:t>
            </a:r>
            <a:endParaRPr lang="en-SG" dirty="0"/>
          </a:p>
        </p:txBody>
      </p:sp>
      <p:pic>
        <p:nvPicPr>
          <p:cNvPr id="5" name="Picture 4">
            <a:extLst>
              <a:ext uri="{FF2B5EF4-FFF2-40B4-BE49-F238E27FC236}">
                <a16:creationId xmlns:a16="http://schemas.microsoft.com/office/drawing/2014/main" id="{74A25D5F-2F06-C1E2-91F0-1B6EE4E34A89}"/>
              </a:ext>
            </a:extLst>
          </p:cNvPr>
          <p:cNvPicPr>
            <a:picLocks noChangeAspect="1"/>
          </p:cNvPicPr>
          <p:nvPr/>
        </p:nvPicPr>
        <p:blipFill>
          <a:blip r:embed="rId2"/>
          <a:stretch>
            <a:fillRect/>
          </a:stretch>
        </p:blipFill>
        <p:spPr>
          <a:xfrm>
            <a:off x="2053375" y="3585149"/>
            <a:ext cx="8246052" cy="3272851"/>
          </a:xfrm>
          <a:prstGeom prst="rect">
            <a:avLst/>
          </a:prstGeom>
        </p:spPr>
      </p:pic>
    </p:spTree>
    <p:extLst>
      <p:ext uri="{BB962C8B-B14F-4D97-AF65-F5344CB8AC3E}">
        <p14:creationId xmlns:p14="http://schemas.microsoft.com/office/powerpoint/2010/main" val="21807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EBB267-24B9-144C-E4DE-C6D6CD35E719}"/>
              </a:ext>
            </a:extLst>
          </p:cNvPr>
          <p:cNvSpPr>
            <a:spLocks noGrp="1"/>
          </p:cNvSpPr>
          <p:nvPr>
            <p:ph type="title"/>
          </p:nvPr>
        </p:nvSpPr>
        <p:spPr/>
        <p:txBody>
          <a:bodyPr/>
          <a:lstStyle/>
          <a:p>
            <a:r>
              <a:rPr lang="en-GB" dirty="0"/>
              <a:t>Let us call it a break for today</a:t>
            </a:r>
          </a:p>
        </p:txBody>
      </p:sp>
      <p:sp>
        <p:nvSpPr>
          <p:cNvPr id="5" name="Text Placeholder 4">
            <a:extLst>
              <a:ext uri="{FF2B5EF4-FFF2-40B4-BE49-F238E27FC236}">
                <a16:creationId xmlns:a16="http://schemas.microsoft.com/office/drawing/2014/main" id="{8784BD3C-A362-227F-DB67-10CF1E267B66}"/>
              </a:ext>
            </a:extLst>
          </p:cNvPr>
          <p:cNvSpPr>
            <a:spLocks noGrp="1"/>
          </p:cNvSpPr>
          <p:nvPr>
            <p:ph type="body" idx="1"/>
          </p:nvPr>
        </p:nvSpPr>
        <p:spPr/>
        <p:txBody>
          <a:bodyPr/>
          <a:lstStyle/>
          <a:p>
            <a:r>
              <a:rPr lang="en-GB" dirty="0"/>
              <a:t>We will continue on the next lecture with more reminders</a:t>
            </a:r>
            <a:br>
              <a:rPr lang="en-GB" dirty="0"/>
            </a:br>
            <a:r>
              <a:rPr lang="en-GB" i="1" dirty="0"/>
              <a:t>(Bonus slides after this)</a:t>
            </a:r>
          </a:p>
        </p:txBody>
      </p:sp>
    </p:spTree>
    <p:extLst>
      <p:ext uri="{BB962C8B-B14F-4D97-AF65-F5344CB8AC3E}">
        <p14:creationId xmlns:p14="http://schemas.microsoft.com/office/powerpoint/2010/main" val="42728362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A236-8A0A-B397-B252-C2294DDBA58A}"/>
              </a:ext>
            </a:extLst>
          </p:cNvPr>
          <p:cNvSpPr>
            <a:spLocks noGrp="1"/>
          </p:cNvSpPr>
          <p:nvPr>
            <p:ph type="title"/>
          </p:nvPr>
        </p:nvSpPr>
        <p:spPr/>
        <p:txBody>
          <a:bodyPr/>
          <a:lstStyle/>
          <a:p>
            <a:r>
              <a:rPr lang="en-GB" dirty="0"/>
              <a:t>More specifically</a:t>
            </a:r>
          </a:p>
        </p:txBody>
      </p:sp>
      <p:sp>
        <p:nvSpPr>
          <p:cNvPr id="3" name="Content Placeholder 2">
            <a:extLst>
              <a:ext uri="{FF2B5EF4-FFF2-40B4-BE49-F238E27FC236}">
                <a16:creationId xmlns:a16="http://schemas.microsoft.com/office/drawing/2014/main" id="{63A0C95C-5149-08F3-97C9-E3111F2C93C2}"/>
              </a:ext>
            </a:extLst>
          </p:cNvPr>
          <p:cNvSpPr>
            <a:spLocks noGrp="1"/>
          </p:cNvSpPr>
          <p:nvPr>
            <p:ph idx="1"/>
          </p:nvPr>
        </p:nvSpPr>
        <p:spPr>
          <a:xfrm>
            <a:off x="838200" y="1825624"/>
            <a:ext cx="10515600" cy="5032375"/>
          </a:xfrm>
        </p:spPr>
        <p:txBody>
          <a:bodyPr>
            <a:normAutofit/>
          </a:bodyPr>
          <a:lstStyle/>
          <a:p>
            <a:pPr marL="0" indent="0">
              <a:buNone/>
            </a:pPr>
            <a:r>
              <a:rPr lang="en-GB" dirty="0"/>
              <a:t>Specific topics in </a:t>
            </a:r>
            <a:r>
              <a:rPr lang="en-GB" b="1" dirty="0">
                <a:solidFill>
                  <a:srgbClr val="00B050"/>
                </a:solidFill>
              </a:rPr>
              <a:t>linear algebra </a:t>
            </a:r>
            <a:r>
              <a:rPr lang="en-GB" dirty="0"/>
              <a:t>to focus on:</a:t>
            </a:r>
          </a:p>
          <a:p>
            <a:r>
              <a:rPr lang="en-GB" b="1" dirty="0"/>
              <a:t>Vectors, dot product, norms of vectors</a:t>
            </a:r>
          </a:p>
          <a:p>
            <a:r>
              <a:rPr lang="en-GB" b="1" dirty="0"/>
              <a:t>Matrices and their properties: determinant, rank, norm, trace, transpose</a:t>
            </a:r>
          </a:p>
          <a:p>
            <a:r>
              <a:rPr lang="en-GB" b="1" dirty="0"/>
              <a:t>Matrix multiplication and inversion</a:t>
            </a:r>
          </a:p>
          <a:p>
            <a:r>
              <a:rPr lang="en-GB" b="1" dirty="0"/>
              <a:t>Solving systems of linear equations</a:t>
            </a:r>
          </a:p>
          <a:p>
            <a:r>
              <a:rPr lang="en-GB" b="1" dirty="0"/>
              <a:t>Eigenvectors and eigenvalues</a:t>
            </a:r>
          </a:p>
          <a:p>
            <a:r>
              <a:rPr lang="en-GB" b="1" dirty="0"/>
              <a:t>Projections and orthonormality</a:t>
            </a:r>
          </a:p>
          <a:p>
            <a:r>
              <a:rPr lang="en-GB" dirty="0"/>
              <a:t>(Symmetric matrices, positive semi-definite matrices)</a:t>
            </a:r>
          </a:p>
          <a:p>
            <a:r>
              <a:rPr lang="en-GB" dirty="0"/>
              <a:t>(Matrix decompositions, e.g. LU decomposition, SVD)</a:t>
            </a:r>
          </a:p>
          <a:p>
            <a:pPr marL="0" indent="0">
              <a:buNone/>
            </a:pPr>
            <a:endParaRPr lang="en-GB" dirty="0"/>
          </a:p>
        </p:txBody>
      </p:sp>
    </p:spTree>
    <p:extLst>
      <p:ext uri="{BB962C8B-B14F-4D97-AF65-F5344CB8AC3E}">
        <p14:creationId xmlns:p14="http://schemas.microsoft.com/office/powerpoint/2010/main" val="3200472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A236-8A0A-B397-B252-C2294DDBA58A}"/>
              </a:ext>
            </a:extLst>
          </p:cNvPr>
          <p:cNvSpPr>
            <a:spLocks noGrp="1"/>
          </p:cNvSpPr>
          <p:nvPr>
            <p:ph type="title"/>
          </p:nvPr>
        </p:nvSpPr>
        <p:spPr/>
        <p:txBody>
          <a:bodyPr/>
          <a:lstStyle/>
          <a:p>
            <a:r>
              <a:rPr lang="en-GB" dirty="0"/>
              <a:t>More specifically</a:t>
            </a:r>
          </a:p>
        </p:txBody>
      </p:sp>
      <p:sp>
        <p:nvSpPr>
          <p:cNvPr id="3" name="Content Placeholder 2">
            <a:extLst>
              <a:ext uri="{FF2B5EF4-FFF2-40B4-BE49-F238E27FC236}">
                <a16:creationId xmlns:a16="http://schemas.microsoft.com/office/drawing/2014/main" id="{63A0C95C-5149-08F3-97C9-E3111F2C93C2}"/>
              </a:ext>
            </a:extLst>
          </p:cNvPr>
          <p:cNvSpPr>
            <a:spLocks noGrp="1"/>
          </p:cNvSpPr>
          <p:nvPr>
            <p:ph idx="1"/>
          </p:nvPr>
        </p:nvSpPr>
        <p:spPr>
          <a:xfrm>
            <a:off x="838200" y="1825624"/>
            <a:ext cx="10515600" cy="5032375"/>
          </a:xfrm>
        </p:spPr>
        <p:txBody>
          <a:bodyPr>
            <a:normAutofit/>
          </a:bodyPr>
          <a:lstStyle/>
          <a:p>
            <a:pPr marL="0" indent="0">
              <a:buNone/>
            </a:pPr>
            <a:r>
              <a:rPr lang="en-GB" dirty="0"/>
              <a:t>Specific topics in </a:t>
            </a:r>
            <a:r>
              <a:rPr lang="en-GB" b="1" dirty="0">
                <a:solidFill>
                  <a:srgbClr val="00B050"/>
                </a:solidFill>
              </a:rPr>
              <a:t>calculus </a:t>
            </a:r>
            <a:r>
              <a:rPr lang="en-GB" dirty="0"/>
              <a:t>to focus on:</a:t>
            </a:r>
          </a:p>
          <a:p>
            <a:r>
              <a:rPr lang="en-GB" b="1" dirty="0"/>
              <a:t>Logarithmic and exponential functions</a:t>
            </a:r>
          </a:p>
          <a:p>
            <a:r>
              <a:rPr lang="en-GB" b="1" dirty="0"/>
              <a:t>Derivatives and partial derivatives, the chain rule of derivatives</a:t>
            </a:r>
          </a:p>
          <a:p>
            <a:r>
              <a:rPr lang="en-GB" dirty="0"/>
              <a:t>(Integrals basics)</a:t>
            </a:r>
          </a:p>
          <a:p>
            <a:r>
              <a:rPr lang="en-GB" b="1" dirty="0"/>
              <a:t>Multivariate calculus: functions of vectors and matrices and their gradients.</a:t>
            </a:r>
          </a:p>
          <a:p>
            <a:r>
              <a:rPr lang="en-GB" dirty="0"/>
              <a:t>(Jacobian and Hessian)</a:t>
            </a:r>
          </a:p>
          <a:p>
            <a:r>
              <a:rPr lang="en-GB" b="1" dirty="0"/>
              <a:t>Equations of lines and hyperplanes</a:t>
            </a:r>
          </a:p>
          <a:p>
            <a:r>
              <a:rPr lang="en-GB" b="1" dirty="0"/>
              <a:t>Solving optimization problems with Gradient Descent, Lagrange multipliers, and other methods.</a:t>
            </a:r>
            <a:endParaRPr lang="en-GB" dirty="0"/>
          </a:p>
        </p:txBody>
      </p:sp>
    </p:spTree>
    <p:extLst>
      <p:ext uri="{BB962C8B-B14F-4D97-AF65-F5344CB8AC3E}">
        <p14:creationId xmlns:p14="http://schemas.microsoft.com/office/powerpoint/2010/main" val="32573147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A236-8A0A-B397-B252-C2294DDBA58A}"/>
              </a:ext>
            </a:extLst>
          </p:cNvPr>
          <p:cNvSpPr>
            <a:spLocks noGrp="1"/>
          </p:cNvSpPr>
          <p:nvPr>
            <p:ph type="title"/>
          </p:nvPr>
        </p:nvSpPr>
        <p:spPr/>
        <p:txBody>
          <a:bodyPr/>
          <a:lstStyle/>
          <a:p>
            <a:r>
              <a:rPr lang="en-GB" dirty="0"/>
              <a:t>More specifically</a:t>
            </a:r>
          </a:p>
        </p:txBody>
      </p:sp>
      <p:sp>
        <p:nvSpPr>
          <p:cNvPr id="3" name="Content Placeholder 2">
            <a:extLst>
              <a:ext uri="{FF2B5EF4-FFF2-40B4-BE49-F238E27FC236}">
                <a16:creationId xmlns:a16="http://schemas.microsoft.com/office/drawing/2014/main" id="{63A0C95C-5149-08F3-97C9-E3111F2C93C2}"/>
              </a:ext>
            </a:extLst>
          </p:cNvPr>
          <p:cNvSpPr>
            <a:spLocks noGrp="1"/>
          </p:cNvSpPr>
          <p:nvPr>
            <p:ph idx="1"/>
          </p:nvPr>
        </p:nvSpPr>
        <p:spPr>
          <a:xfrm>
            <a:off x="838200" y="1825624"/>
            <a:ext cx="10515600" cy="5032375"/>
          </a:xfrm>
        </p:spPr>
        <p:txBody>
          <a:bodyPr>
            <a:normAutofit/>
          </a:bodyPr>
          <a:lstStyle/>
          <a:p>
            <a:pPr marL="0" indent="0">
              <a:buNone/>
            </a:pPr>
            <a:r>
              <a:rPr lang="en-GB" dirty="0"/>
              <a:t>Specific topics in </a:t>
            </a:r>
            <a:r>
              <a:rPr lang="en-GB" b="1" dirty="0">
                <a:solidFill>
                  <a:srgbClr val="00B050"/>
                </a:solidFill>
              </a:rPr>
              <a:t>probabilities and statistics </a:t>
            </a:r>
            <a:r>
              <a:rPr lang="en-GB" dirty="0"/>
              <a:t>to focus on:</a:t>
            </a:r>
          </a:p>
          <a:p>
            <a:r>
              <a:rPr lang="en-GB" b="1" dirty="0"/>
              <a:t>Probability rules and axioms, random variables (both discrete and continuous)</a:t>
            </a:r>
          </a:p>
          <a:p>
            <a:r>
              <a:rPr lang="en-GB" b="1" dirty="0"/>
              <a:t>Standard distributions (Bernoulli, Binomial, Multinomial, Uniform and Gaussian)</a:t>
            </a:r>
          </a:p>
          <a:p>
            <a:r>
              <a:rPr lang="en-GB" b="1" dirty="0"/>
              <a:t>Expectation, variance, covariance and correlation</a:t>
            </a:r>
          </a:p>
          <a:p>
            <a:r>
              <a:rPr lang="en-GB" b="1" dirty="0"/>
              <a:t>Conditional probability, Bayes’ theorem</a:t>
            </a:r>
          </a:p>
          <a:p>
            <a:r>
              <a:rPr lang="en-GB" dirty="0"/>
              <a:t>(Law of total probability)</a:t>
            </a:r>
          </a:p>
          <a:p>
            <a:r>
              <a:rPr lang="en-GB" dirty="0"/>
              <a:t>(Joint and marginal probability distributions)</a:t>
            </a:r>
          </a:p>
          <a:p>
            <a:r>
              <a:rPr lang="en-GB" b="1" dirty="0"/>
              <a:t>The central limit theorem</a:t>
            </a:r>
            <a:endParaRPr lang="en-GB" dirty="0"/>
          </a:p>
        </p:txBody>
      </p:sp>
    </p:spTree>
    <p:extLst>
      <p:ext uri="{BB962C8B-B14F-4D97-AF65-F5344CB8AC3E}">
        <p14:creationId xmlns:p14="http://schemas.microsoft.com/office/powerpoint/2010/main" val="5685687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7E22-87CF-02A5-3F5F-93789E5D559D}"/>
              </a:ext>
            </a:extLst>
          </p:cNvPr>
          <p:cNvSpPr>
            <a:spLocks noGrp="1"/>
          </p:cNvSpPr>
          <p:nvPr>
            <p:ph type="title"/>
          </p:nvPr>
        </p:nvSpPr>
        <p:spPr/>
        <p:txBody>
          <a:bodyPr/>
          <a:lstStyle/>
          <a:p>
            <a:r>
              <a:rPr lang="en-GB" dirty="0"/>
              <a:t>Installing </a:t>
            </a:r>
            <a:r>
              <a:rPr lang="en-GB" dirty="0" err="1"/>
              <a:t>PyTorch</a:t>
            </a:r>
            <a:r>
              <a:rPr lang="en-GB" dirty="0"/>
              <a:t> and CUDA</a:t>
            </a:r>
            <a:endParaRPr lang="en-SG" dirty="0"/>
          </a:p>
        </p:txBody>
      </p:sp>
      <p:sp>
        <p:nvSpPr>
          <p:cNvPr id="3" name="Content Placeholder 2">
            <a:extLst>
              <a:ext uri="{FF2B5EF4-FFF2-40B4-BE49-F238E27FC236}">
                <a16:creationId xmlns:a16="http://schemas.microsoft.com/office/drawing/2014/main" id="{E6A39174-3E5F-1239-C016-DEB828F2BE91}"/>
              </a:ext>
            </a:extLst>
          </p:cNvPr>
          <p:cNvSpPr>
            <a:spLocks noGrp="1"/>
          </p:cNvSpPr>
          <p:nvPr>
            <p:ph idx="1"/>
          </p:nvPr>
        </p:nvSpPr>
        <p:spPr/>
        <p:txBody>
          <a:bodyPr>
            <a:normAutofit/>
          </a:bodyPr>
          <a:lstStyle/>
          <a:p>
            <a:r>
              <a:rPr lang="en-GB" dirty="0"/>
              <a:t>Check if your GPU is in the list of acceptable GPUs.</a:t>
            </a:r>
            <a:br>
              <a:rPr lang="en-GB" dirty="0"/>
            </a:br>
            <a:r>
              <a:rPr lang="en-GB" dirty="0">
                <a:hlinkClick r:id="rId2"/>
              </a:rPr>
              <a:t>https://developer.nvidia.com/cuda-gpus</a:t>
            </a:r>
            <a:endParaRPr lang="en-GB" dirty="0"/>
          </a:p>
          <a:p>
            <a:r>
              <a:rPr lang="en-GB" dirty="0"/>
              <a:t>If so, install CUDA (check that you CUDA version number matches the one of your </a:t>
            </a:r>
            <a:r>
              <a:rPr lang="en-GB" dirty="0" err="1"/>
              <a:t>PyTorch</a:t>
            </a:r>
            <a:r>
              <a:rPr lang="en-GB" dirty="0"/>
              <a:t> install!)</a:t>
            </a:r>
            <a:br>
              <a:rPr lang="en-GB" dirty="0"/>
            </a:br>
            <a:r>
              <a:rPr lang="en-GB" dirty="0">
                <a:hlinkClick r:id="rId3"/>
              </a:rPr>
              <a:t>https://developer.nvidia.com/cuda-downloads</a:t>
            </a:r>
            <a:endParaRPr lang="en-GB" dirty="0"/>
          </a:p>
          <a:p>
            <a:endParaRPr lang="en-GB" dirty="0"/>
          </a:p>
          <a:p>
            <a:endParaRPr lang="en-SG" dirty="0"/>
          </a:p>
        </p:txBody>
      </p:sp>
      <p:pic>
        <p:nvPicPr>
          <p:cNvPr id="8" name="Picture 7">
            <a:extLst>
              <a:ext uri="{FF2B5EF4-FFF2-40B4-BE49-F238E27FC236}">
                <a16:creationId xmlns:a16="http://schemas.microsoft.com/office/drawing/2014/main" id="{AEC56A8F-215B-9954-5832-294D7883BB91}"/>
              </a:ext>
            </a:extLst>
          </p:cNvPr>
          <p:cNvPicPr>
            <a:picLocks noChangeAspect="1"/>
          </p:cNvPicPr>
          <p:nvPr/>
        </p:nvPicPr>
        <p:blipFill rotWithShape="1">
          <a:blip r:embed="rId4"/>
          <a:srcRect t="28537"/>
          <a:stretch/>
        </p:blipFill>
        <p:spPr>
          <a:xfrm>
            <a:off x="1309396" y="4070932"/>
            <a:ext cx="9573208" cy="2787068"/>
          </a:xfrm>
          <a:prstGeom prst="rect">
            <a:avLst/>
          </a:prstGeom>
        </p:spPr>
      </p:pic>
    </p:spTree>
    <p:extLst>
      <p:ext uri="{BB962C8B-B14F-4D97-AF65-F5344CB8AC3E}">
        <p14:creationId xmlns:p14="http://schemas.microsoft.com/office/powerpoint/2010/main" val="76660772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7E22-87CF-02A5-3F5F-93789E5D559D}"/>
              </a:ext>
            </a:extLst>
          </p:cNvPr>
          <p:cNvSpPr>
            <a:spLocks noGrp="1"/>
          </p:cNvSpPr>
          <p:nvPr>
            <p:ph type="title"/>
          </p:nvPr>
        </p:nvSpPr>
        <p:spPr/>
        <p:txBody>
          <a:bodyPr/>
          <a:lstStyle/>
          <a:p>
            <a:r>
              <a:rPr lang="en-GB" dirty="0"/>
              <a:t>Installing </a:t>
            </a:r>
            <a:r>
              <a:rPr lang="en-GB" dirty="0" err="1"/>
              <a:t>PyTorch</a:t>
            </a:r>
            <a:r>
              <a:rPr lang="en-GB" dirty="0"/>
              <a:t> and CUDA</a:t>
            </a:r>
            <a:endParaRPr lang="en-SG" dirty="0"/>
          </a:p>
        </p:txBody>
      </p:sp>
      <p:sp>
        <p:nvSpPr>
          <p:cNvPr id="3" name="Content Placeholder 2">
            <a:extLst>
              <a:ext uri="{FF2B5EF4-FFF2-40B4-BE49-F238E27FC236}">
                <a16:creationId xmlns:a16="http://schemas.microsoft.com/office/drawing/2014/main" id="{E6A39174-3E5F-1239-C016-DEB828F2BE91}"/>
              </a:ext>
            </a:extLst>
          </p:cNvPr>
          <p:cNvSpPr>
            <a:spLocks noGrp="1"/>
          </p:cNvSpPr>
          <p:nvPr>
            <p:ph sz="half" idx="1"/>
          </p:nvPr>
        </p:nvSpPr>
        <p:spPr>
          <a:xfrm>
            <a:off x="838199" y="1825625"/>
            <a:ext cx="6337041" cy="4351338"/>
          </a:xfrm>
        </p:spPr>
        <p:txBody>
          <a:bodyPr>
            <a:normAutofit/>
          </a:bodyPr>
          <a:lstStyle/>
          <a:p>
            <a:pPr marL="0" indent="0">
              <a:buNone/>
            </a:pPr>
            <a:r>
              <a:rPr lang="en-GB" b="1" dirty="0"/>
              <a:t>Question: </a:t>
            </a:r>
            <a:r>
              <a:rPr lang="en-GB" dirty="0"/>
              <a:t>How to use CUDA with MacOS?</a:t>
            </a:r>
          </a:p>
          <a:p>
            <a:pPr marL="0" indent="0">
              <a:buNone/>
            </a:pPr>
            <a:r>
              <a:rPr lang="en-GB" dirty="0"/>
              <a:t>Efforts are being made to make GPU computing compatible with AMD and MacOS GPUs, but not the best (</a:t>
            </a:r>
            <a:r>
              <a:rPr lang="en-GB" dirty="0" err="1"/>
              <a:t>afaik</a:t>
            </a:r>
            <a:r>
              <a:rPr lang="en-GB" dirty="0"/>
              <a:t>).</a:t>
            </a:r>
            <a:endParaRPr lang="en-SG" dirty="0"/>
          </a:p>
        </p:txBody>
      </p:sp>
      <p:pic>
        <p:nvPicPr>
          <p:cNvPr id="8" name="Picture 7">
            <a:extLst>
              <a:ext uri="{FF2B5EF4-FFF2-40B4-BE49-F238E27FC236}">
                <a16:creationId xmlns:a16="http://schemas.microsoft.com/office/drawing/2014/main" id="{AEC56A8F-215B-9954-5832-294D7883BB91}"/>
              </a:ext>
            </a:extLst>
          </p:cNvPr>
          <p:cNvPicPr>
            <a:picLocks noChangeAspect="1"/>
          </p:cNvPicPr>
          <p:nvPr/>
        </p:nvPicPr>
        <p:blipFill rotWithShape="1">
          <a:blip r:embed="rId2"/>
          <a:srcRect l="3379" t="28537" r="37508"/>
          <a:stretch/>
        </p:blipFill>
        <p:spPr>
          <a:xfrm>
            <a:off x="643631" y="3727675"/>
            <a:ext cx="6337040" cy="3120994"/>
          </a:xfrm>
          <a:prstGeom prst="rect">
            <a:avLst/>
          </a:prstGeom>
        </p:spPr>
      </p:pic>
      <p:pic>
        <p:nvPicPr>
          <p:cNvPr id="5" name="Picture 4">
            <a:extLst>
              <a:ext uri="{FF2B5EF4-FFF2-40B4-BE49-F238E27FC236}">
                <a16:creationId xmlns:a16="http://schemas.microsoft.com/office/drawing/2014/main" id="{E9FAC5A7-ECE5-243C-8714-41366B83FA9C}"/>
              </a:ext>
            </a:extLst>
          </p:cNvPr>
          <p:cNvPicPr>
            <a:picLocks noChangeAspect="1"/>
          </p:cNvPicPr>
          <p:nvPr/>
        </p:nvPicPr>
        <p:blipFill>
          <a:blip r:embed="rId3"/>
          <a:stretch>
            <a:fillRect/>
          </a:stretch>
        </p:blipFill>
        <p:spPr>
          <a:xfrm>
            <a:off x="7369808" y="486282"/>
            <a:ext cx="4628890" cy="6196620"/>
          </a:xfrm>
          <a:prstGeom prst="rect">
            <a:avLst/>
          </a:prstGeom>
        </p:spPr>
      </p:pic>
    </p:spTree>
    <p:extLst>
      <p:ext uri="{BB962C8B-B14F-4D97-AF65-F5344CB8AC3E}">
        <p14:creationId xmlns:p14="http://schemas.microsoft.com/office/powerpoint/2010/main" val="24613112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BD325-7DF3-3B98-1AA4-FEBDE0B5E8FD}"/>
              </a:ext>
            </a:extLst>
          </p:cNvPr>
          <p:cNvSpPr>
            <a:spLocks noGrp="1"/>
          </p:cNvSpPr>
          <p:nvPr>
            <p:ph type="title"/>
          </p:nvPr>
        </p:nvSpPr>
        <p:spPr/>
        <p:txBody>
          <a:bodyPr/>
          <a:lstStyle/>
          <a:p>
            <a:r>
              <a:rPr lang="en-GB" dirty="0"/>
              <a:t>Installing </a:t>
            </a:r>
            <a:r>
              <a:rPr lang="en-GB" dirty="0" err="1"/>
              <a:t>PyTorch</a:t>
            </a:r>
            <a:r>
              <a:rPr lang="en-GB" dirty="0"/>
              <a:t> and CUDA</a:t>
            </a:r>
            <a:endParaRPr lang="en-SG" dirty="0"/>
          </a:p>
        </p:txBody>
      </p:sp>
      <p:sp>
        <p:nvSpPr>
          <p:cNvPr id="3" name="Content Placeholder 2">
            <a:extLst>
              <a:ext uri="{FF2B5EF4-FFF2-40B4-BE49-F238E27FC236}">
                <a16:creationId xmlns:a16="http://schemas.microsoft.com/office/drawing/2014/main" id="{93F90C1D-8429-A9F5-70ED-9C87266E15D8}"/>
              </a:ext>
            </a:extLst>
          </p:cNvPr>
          <p:cNvSpPr>
            <a:spLocks noGrp="1"/>
          </p:cNvSpPr>
          <p:nvPr>
            <p:ph sz="half" idx="1"/>
          </p:nvPr>
        </p:nvSpPr>
        <p:spPr>
          <a:xfrm>
            <a:off x="838200" y="1825624"/>
            <a:ext cx="5181600" cy="5032375"/>
          </a:xfrm>
        </p:spPr>
        <p:txBody>
          <a:bodyPr>
            <a:normAutofit/>
          </a:bodyPr>
          <a:lstStyle/>
          <a:p>
            <a:pPr marL="0" indent="0">
              <a:buNone/>
            </a:pPr>
            <a:r>
              <a:rPr lang="en-GB" dirty="0"/>
              <a:t>Your GPU not in the list of CUDA-enabled GPUs?</a:t>
            </a:r>
          </a:p>
          <a:p>
            <a:pPr marL="0" indent="0">
              <a:buNone/>
            </a:pPr>
            <a:r>
              <a:rPr lang="en-GB" dirty="0"/>
              <a:t>You bought a MacOS laptop?</a:t>
            </a:r>
          </a:p>
          <a:p>
            <a:endParaRPr lang="en-GB" b="1" dirty="0"/>
          </a:p>
          <a:p>
            <a:r>
              <a:rPr lang="en-GB" b="1" dirty="0"/>
              <a:t>Most notebooks can still run on CPU (but they might take significantly longer to run).</a:t>
            </a:r>
            <a:endParaRPr lang="en-GB" dirty="0"/>
          </a:p>
          <a:p>
            <a:r>
              <a:rPr lang="en-GB" dirty="0"/>
              <a:t>Also, always the option of using </a:t>
            </a:r>
            <a:r>
              <a:rPr lang="en-GB" b="1" dirty="0"/>
              <a:t>Google </a:t>
            </a:r>
            <a:r>
              <a:rPr lang="en-GB" b="1" dirty="0" err="1"/>
              <a:t>Colab</a:t>
            </a:r>
            <a:r>
              <a:rPr lang="en-GB" dirty="0"/>
              <a:t>, or create an education account on AWS.</a:t>
            </a:r>
          </a:p>
          <a:p>
            <a:endParaRPr lang="en-SG" dirty="0"/>
          </a:p>
        </p:txBody>
      </p:sp>
      <p:pic>
        <p:nvPicPr>
          <p:cNvPr id="4" name="Picture 3" descr="A picture containing icon&#10;&#10;Description automatically generated">
            <a:extLst>
              <a:ext uri="{FF2B5EF4-FFF2-40B4-BE49-F238E27FC236}">
                <a16:creationId xmlns:a16="http://schemas.microsoft.com/office/drawing/2014/main" id="{AA52A89A-5796-289C-7EC1-5AEEB444F1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8651" y="3610892"/>
            <a:ext cx="4655781" cy="1991640"/>
          </a:xfrm>
          <a:prstGeom prst="rect">
            <a:avLst/>
          </a:prstGeom>
        </p:spPr>
      </p:pic>
      <p:pic>
        <p:nvPicPr>
          <p:cNvPr id="7" name="Picture 6" descr="Logo, company name&#10;&#10;Description automatically generated">
            <a:extLst>
              <a:ext uri="{FF2B5EF4-FFF2-40B4-BE49-F238E27FC236}">
                <a16:creationId xmlns:a16="http://schemas.microsoft.com/office/drawing/2014/main" id="{AD647818-47CA-E035-9783-1CE629E2B218}"/>
              </a:ext>
            </a:extLst>
          </p:cNvPr>
          <p:cNvPicPr>
            <a:picLocks noChangeAspect="1"/>
          </p:cNvPicPr>
          <p:nvPr/>
        </p:nvPicPr>
        <p:blipFill rotWithShape="1">
          <a:blip r:embed="rId3">
            <a:extLst>
              <a:ext uri="{28A0092B-C50C-407E-A947-70E740481C1C}">
                <a14:useLocalDpi xmlns:a14="http://schemas.microsoft.com/office/drawing/2010/main" val="0"/>
              </a:ext>
            </a:extLst>
          </a:blip>
          <a:srcRect t="25327" b="25839"/>
          <a:stretch/>
        </p:blipFill>
        <p:spPr>
          <a:xfrm>
            <a:off x="7256941" y="5602532"/>
            <a:ext cx="4705228" cy="1148862"/>
          </a:xfrm>
          <a:prstGeom prst="rect">
            <a:avLst/>
          </a:prstGeom>
        </p:spPr>
      </p:pic>
      <p:pic>
        <p:nvPicPr>
          <p:cNvPr id="9" name="Picture 8" descr="Chart, bar chart&#10;&#10;Description automatically generated">
            <a:extLst>
              <a:ext uri="{FF2B5EF4-FFF2-40B4-BE49-F238E27FC236}">
                <a16:creationId xmlns:a16="http://schemas.microsoft.com/office/drawing/2014/main" id="{F8D0A878-7AD3-C72A-C57F-77A0A74A37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7925" y="1733466"/>
            <a:ext cx="5754075" cy="1763213"/>
          </a:xfrm>
          <a:prstGeom prst="rect">
            <a:avLst/>
          </a:prstGeom>
        </p:spPr>
      </p:pic>
    </p:spTree>
    <p:extLst>
      <p:ext uri="{BB962C8B-B14F-4D97-AF65-F5344CB8AC3E}">
        <p14:creationId xmlns:p14="http://schemas.microsoft.com/office/powerpoint/2010/main" val="23550000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8E2B8-16B2-DFEB-21E8-D5EA9B09A62A}"/>
              </a:ext>
            </a:extLst>
          </p:cNvPr>
          <p:cNvSpPr>
            <a:spLocks noGrp="1"/>
          </p:cNvSpPr>
          <p:nvPr>
            <p:ph type="title"/>
          </p:nvPr>
        </p:nvSpPr>
        <p:spPr/>
        <p:txBody>
          <a:bodyPr/>
          <a:lstStyle/>
          <a:p>
            <a:r>
              <a:rPr lang="en-GB" dirty="0"/>
              <a:t>Checking your </a:t>
            </a:r>
            <a:r>
              <a:rPr lang="en-GB" dirty="0" err="1"/>
              <a:t>PyTorch</a:t>
            </a:r>
            <a:r>
              <a:rPr lang="en-GB" dirty="0"/>
              <a:t> and CUDA install</a:t>
            </a:r>
            <a:endParaRPr lang="en-SG" dirty="0"/>
          </a:p>
        </p:txBody>
      </p:sp>
      <p:sp>
        <p:nvSpPr>
          <p:cNvPr id="3" name="Content Placeholder 2">
            <a:extLst>
              <a:ext uri="{FF2B5EF4-FFF2-40B4-BE49-F238E27FC236}">
                <a16:creationId xmlns:a16="http://schemas.microsoft.com/office/drawing/2014/main" id="{40B01D2C-4BE4-C6CD-31D7-3F2E182779DF}"/>
              </a:ext>
            </a:extLst>
          </p:cNvPr>
          <p:cNvSpPr>
            <a:spLocks noGrp="1"/>
          </p:cNvSpPr>
          <p:nvPr>
            <p:ph sz="half" idx="1"/>
          </p:nvPr>
        </p:nvSpPr>
        <p:spPr/>
        <p:txBody>
          <a:bodyPr/>
          <a:lstStyle/>
          <a:p>
            <a:r>
              <a:rPr lang="en-GB" b="1" dirty="0"/>
              <a:t>Hello World for </a:t>
            </a:r>
            <a:r>
              <a:rPr lang="en-GB" b="1" dirty="0" err="1"/>
              <a:t>PyTorch</a:t>
            </a:r>
            <a:r>
              <a:rPr lang="en-GB" b="1" dirty="0"/>
              <a:t>: </a:t>
            </a:r>
            <a:r>
              <a:rPr lang="en-GB" dirty="0"/>
              <a:t>to check you have </a:t>
            </a:r>
            <a:r>
              <a:rPr lang="en-GB" dirty="0" err="1"/>
              <a:t>PyTorch</a:t>
            </a:r>
            <a:r>
              <a:rPr lang="en-GB" dirty="0"/>
              <a:t> installed correctly. The code below should run and display a tensor.</a:t>
            </a:r>
            <a:endParaRPr lang="en-SG" dirty="0"/>
          </a:p>
        </p:txBody>
      </p:sp>
      <p:sp>
        <p:nvSpPr>
          <p:cNvPr id="4" name="Content Placeholder 3">
            <a:extLst>
              <a:ext uri="{FF2B5EF4-FFF2-40B4-BE49-F238E27FC236}">
                <a16:creationId xmlns:a16="http://schemas.microsoft.com/office/drawing/2014/main" id="{D0D29EA2-9996-8782-66AE-561B2D472B85}"/>
              </a:ext>
            </a:extLst>
          </p:cNvPr>
          <p:cNvSpPr>
            <a:spLocks noGrp="1"/>
          </p:cNvSpPr>
          <p:nvPr>
            <p:ph sz="half" idx="2"/>
          </p:nvPr>
        </p:nvSpPr>
        <p:spPr/>
        <p:txBody>
          <a:bodyPr/>
          <a:lstStyle/>
          <a:p>
            <a:r>
              <a:rPr lang="en-GB" b="1" dirty="0"/>
              <a:t>Hello World for CUDA: </a:t>
            </a:r>
            <a:r>
              <a:rPr lang="en-GB" dirty="0"/>
              <a:t>to check you have correctly installed CUDA on top of </a:t>
            </a:r>
            <a:r>
              <a:rPr lang="en-GB" dirty="0" err="1"/>
              <a:t>PyTorch</a:t>
            </a:r>
            <a:r>
              <a:rPr lang="en-GB" dirty="0"/>
              <a:t>.</a:t>
            </a:r>
            <a:br>
              <a:rPr lang="en-GB" dirty="0"/>
            </a:br>
            <a:r>
              <a:rPr lang="en-GB" dirty="0"/>
              <a:t>The code below should print </a:t>
            </a:r>
            <a:r>
              <a:rPr lang="en-GB" i="1" dirty="0"/>
              <a:t>True</a:t>
            </a:r>
            <a:r>
              <a:rPr lang="en-GB" dirty="0"/>
              <a:t>, as the output of</a:t>
            </a:r>
            <a:br>
              <a:rPr lang="en-GB" dirty="0"/>
            </a:br>
            <a:r>
              <a:rPr lang="en-GB" i="1" dirty="0" err="1"/>
              <a:t>torch.cuda.is_available</a:t>
            </a:r>
            <a:r>
              <a:rPr lang="en-GB" i="1" dirty="0"/>
              <a:t>()</a:t>
            </a:r>
            <a:endParaRPr lang="en-SG" i="1" dirty="0"/>
          </a:p>
        </p:txBody>
      </p:sp>
      <p:pic>
        <p:nvPicPr>
          <p:cNvPr id="8" name="Picture 7">
            <a:extLst>
              <a:ext uri="{FF2B5EF4-FFF2-40B4-BE49-F238E27FC236}">
                <a16:creationId xmlns:a16="http://schemas.microsoft.com/office/drawing/2014/main" id="{8642BB61-5547-E779-25BC-07029F6867D4}"/>
              </a:ext>
            </a:extLst>
          </p:cNvPr>
          <p:cNvPicPr>
            <a:picLocks noChangeAspect="1"/>
          </p:cNvPicPr>
          <p:nvPr/>
        </p:nvPicPr>
        <p:blipFill rotWithShape="1">
          <a:blip r:embed="rId2"/>
          <a:srcRect b="16706"/>
          <a:stretch/>
        </p:blipFill>
        <p:spPr>
          <a:xfrm>
            <a:off x="1130375" y="4656724"/>
            <a:ext cx="4928802" cy="2037652"/>
          </a:xfrm>
          <a:prstGeom prst="rect">
            <a:avLst/>
          </a:prstGeom>
        </p:spPr>
      </p:pic>
      <p:pic>
        <p:nvPicPr>
          <p:cNvPr id="10" name="Picture 9">
            <a:extLst>
              <a:ext uri="{FF2B5EF4-FFF2-40B4-BE49-F238E27FC236}">
                <a16:creationId xmlns:a16="http://schemas.microsoft.com/office/drawing/2014/main" id="{AAA21B2A-5B1A-3237-C1A9-541D91EEB57A}"/>
              </a:ext>
            </a:extLst>
          </p:cNvPr>
          <p:cNvPicPr>
            <a:picLocks noChangeAspect="1"/>
          </p:cNvPicPr>
          <p:nvPr/>
        </p:nvPicPr>
        <p:blipFill>
          <a:blip r:embed="rId3"/>
          <a:stretch>
            <a:fillRect/>
          </a:stretch>
        </p:blipFill>
        <p:spPr>
          <a:xfrm>
            <a:off x="6172200" y="4474772"/>
            <a:ext cx="4792785" cy="1947544"/>
          </a:xfrm>
          <a:prstGeom prst="rect">
            <a:avLst/>
          </a:prstGeom>
        </p:spPr>
      </p:pic>
      <p:pic>
        <p:nvPicPr>
          <p:cNvPr id="6" name="Picture 5">
            <a:extLst>
              <a:ext uri="{FF2B5EF4-FFF2-40B4-BE49-F238E27FC236}">
                <a16:creationId xmlns:a16="http://schemas.microsoft.com/office/drawing/2014/main" id="{174A9CDE-B0B1-2295-86F9-490D9AEF3493}"/>
              </a:ext>
            </a:extLst>
          </p:cNvPr>
          <p:cNvPicPr>
            <a:picLocks noChangeAspect="1"/>
          </p:cNvPicPr>
          <p:nvPr/>
        </p:nvPicPr>
        <p:blipFill rotWithShape="1">
          <a:blip r:embed="rId4"/>
          <a:srcRect t="21849" r="74778" b="21063"/>
          <a:stretch/>
        </p:blipFill>
        <p:spPr>
          <a:xfrm>
            <a:off x="1099113" y="3774833"/>
            <a:ext cx="3660456" cy="1163248"/>
          </a:xfrm>
          <a:prstGeom prst="rect">
            <a:avLst/>
          </a:prstGeom>
        </p:spPr>
      </p:pic>
    </p:spTree>
    <p:extLst>
      <p:ext uri="{BB962C8B-B14F-4D97-AF65-F5344CB8AC3E}">
        <p14:creationId xmlns:p14="http://schemas.microsoft.com/office/powerpoint/2010/main" val="35818508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E6AE3-0783-2504-FB20-97620F12FAF1}"/>
              </a:ext>
            </a:extLst>
          </p:cNvPr>
          <p:cNvSpPr>
            <a:spLocks noGrp="1"/>
          </p:cNvSpPr>
          <p:nvPr>
            <p:ph type="title"/>
          </p:nvPr>
        </p:nvSpPr>
        <p:spPr/>
        <p:txBody>
          <a:bodyPr/>
          <a:lstStyle/>
          <a:p>
            <a:r>
              <a:rPr lang="en-GB" dirty="0"/>
              <a:t>A quick word about </a:t>
            </a:r>
            <a:r>
              <a:rPr lang="en-GB" dirty="0" err="1"/>
              <a:t>PyTorch</a:t>
            </a:r>
            <a:r>
              <a:rPr lang="en-GB" dirty="0"/>
              <a:t> 2.0</a:t>
            </a:r>
            <a:endParaRPr lang="en-SG" dirty="0"/>
          </a:p>
        </p:txBody>
      </p:sp>
      <p:sp>
        <p:nvSpPr>
          <p:cNvPr id="3" name="Content Placeholder 2">
            <a:extLst>
              <a:ext uri="{FF2B5EF4-FFF2-40B4-BE49-F238E27FC236}">
                <a16:creationId xmlns:a16="http://schemas.microsoft.com/office/drawing/2014/main" id="{E4D678C0-BD3C-5BF0-1339-4AFB8229F7DA}"/>
              </a:ext>
            </a:extLst>
          </p:cNvPr>
          <p:cNvSpPr>
            <a:spLocks noGrp="1"/>
          </p:cNvSpPr>
          <p:nvPr>
            <p:ph sz="half" idx="1"/>
          </p:nvPr>
        </p:nvSpPr>
        <p:spPr>
          <a:xfrm>
            <a:off x="838200" y="1825624"/>
            <a:ext cx="5181600" cy="5032375"/>
          </a:xfrm>
        </p:spPr>
        <p:txBody>
          <a:bodyPr>
            <a:normAutofit/>
          </a:bodyPr>
          <a:lstStyle/>
          <a:p>
            <a:pPr marL="0" indent="0">
              <a:buNone/>
            </a:pPr>
            <a:r>
              <a:rPr lang="en-GB" b="1" dirty="0" err="1"/>
              <a:t>PyTorch</a:t>
            </a:r>
            <a:r>
              <a:rPr lang="en-GB" b="1" dirty="0"/>
              <a:t> v2.0 </a:t>
            </a:r>
            <a:r>
              <a:rPr lang="en-GB" dirty="0"/>
              <a:t>is the current (latest version released in March 2023).</a:t>
            </a:r>
          </a:p>
          <a:p>
            <a:r>
              <a:rPr lang="en-GB" dirty="0"/>
              <a:t>Should be fully retro-compatible.</a:t>
            </a:r>
          </a:p>
          <a:p>
            <a:r>
              <a:rPr lang="en-SG" dirty="0"/>
              <a:t>Revising and testing notebooks (they were designed last year and tested on v1.13).</a:t>
            </a:r>
          </a:p>
          <a:p>
            <a:r>
              <a:rPr lang="en-SG" dirty="0"/>
              <a:t>Kindly let me know if you have any issues!</a:t>
            </a:r>
          </a:p>
          <a:p>
            <a:r>
              <a:rPr lang="en-SG" dirty="0"/>
              <a:t>Will let you know about new v2.0 features on W13.</a:t>
            </a:r>
          </a:p>
        </p:txBody>
      </p:sp>
      <p:pic>
        <p:nvPicPr>
          <p:cNvPr id="6" name="Picture 5" descr="Shape&#10;&#10;Description automatically generated">
            <a:extLst>
              <a:ext uri="{FF2B5EF4-FFF2-40B4-BE49-F238E27FC236}">
                <a16:creationId xmlns:a16="http://schemas.microsoft.com/office/drawing/2014/main" id="{9BAEAF4E-92E3-AB67-5518-51DFC5B500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2" y="2177923"/>
            <a:ext cx="5947516" cy="3112534"/>
          </a:xfrm>
          <a:prstGeom prst="rect">
            <a:avLst/>
          </a:prstGeom>
        </p:spPr>
      </p:pic>
    </p:spTree>
    <p:extLst>
      <p:ext uri="{BB962C8B-B14F-4D97-AF65-F5344CB8AC3E}">
        <p14:creationId xmlns:p14="http://schemas.microsoft.com/office/powerpoint/2010/main" val="268288066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F06AE-BE85-D05A-4ACC-C9832753A142}"/>
              </a:ext>
            </a:extLst>
          </p:cNvPr>
          <p:cNvSpPr>
            <a:spLocks noGrp="1"/>
          </p:cNvSpPr>
          <p:nvPr>
            <p:ph type="title"/>
          </p:nvPr>
        </p:nvSpPr>
        <p:spPr/>
        <p:txBody>
          <a:bodyPr/>
          <a:lstStyle/>
          <a:p>
            <a:r>
              <a:rPr lang="en-GB" dirty="0"/>
              <a:t>Supervised vs Unsupervised Learning</a:t>
            </a:r>
            <a:endParaRPr lang="en-SG" dirty="0"/>
          </a:p>
        </p:txBody>
      </p:sp>
      <p:sp>
        <p:nvSpPr>
          <p:cNvPr id="3" name="Content Placeholder 2">
            <a:extLst>
              <a:ext uri="{FF2B5EF4-FFF2-40B4-BE49-F238E27FC236}">
                <a16:creationId xmlns:a16="http://schemas.microsoft.com/office/drawing/2014/main" id="{DFE696BC-BC79-7B38-76F4-69E530908CB4}"/>
              </a:ext>
            </a:extLst>
          </p:cNvPr>
          <p:cNvSpPr>
            <a:spLocks noGrp="1"/>
          </p:cNvSpPr>
          <p:nvPr>
            <p:ph sz="half" idx="1"/>
          </p:nvPr>
        </p:nvSpPr>
        <p:spPr>
          <a:xfrm>
            <a:off x="838200" y="1825624"/>
            <a:ext cx="6092952" cy="5032375"/>
          </a:xfrm>
        </p:spPr>
        <p:txBody>
          <a:bodyPr>
            <a:normAutofit/>
          </a:bodyPr>
          <a:lstStyle/>
          <a:p>
            <a:pPr marL="0" indent="0">
              <a:buNone/>
            </a:pPr>
            <a:r>
              <a:rPr lang="en-GB" b="1" dirty="0"/>
              <a:t>Definition (</a:t>
            </a:r>
            <a:r>
              <a:rPr lang="en-GB" b="1" dirty="0">
                <a:solidFill>
                  <a:srgbClr val="00B050"/>
                </a:solidFill>
              </a:rPr>
              <a:t>Supervised vs.</a:t>
            </a:r>
            <a:br>
              <a:rPr lang="en-GB" b="1" dirty="0">
                <a:solidFill>
                  <a:srgbClr val="00B050"/>
                </a:solidFill>
              </a:rPr>
            </a:br>
            <a:r>
              <a:rPr lang="en-GB" b="1" dirty="0">
                <a:solidFill>
                  <a:srgbClr val="00B050"/>
                </a:solidFill>
              </a:rPr>
              <a:t>Unsupervised Learning</a:t>
            </a:r>
            <a:r>
              <a:rPr lang="en-GB" b="1" dirty="0"/>
              <a:t>):</a:t>
            </a:r>
          </a:p>
          <a:p>
            <a:pPr marL="0" indent="0">
              <a:buNone/>
            </a:pPr>
            <a:r>
              <a:rPr lang="en-GB" b="1" dirty="0">
                <a:solidFill>
                  <a:srgbClr val="00B050"/>
                </a:solidFill>
              </a:rPr>
              <a:t>Supervised</a:t>
            </a:r>
            <a:r>
              <a:rPr lang="en-GB" dirty="0"/>
              <a:t> and </a:t>
            </a:r>
            <a:r>
              <a:rPr lang="en-GB" b="1" dirty="0">
                <a:solidFill>
                  <a:srgbClr val="00B050"/>
                </a:solidFill>
              </a:rPr>
              <a:t>Unsupervised</a:t>
            </a:r>
            <a:r>
              <a:rPr lang="en-GB" dirty="0"/>
              <a:t> </a:t>
            </a:r>
            <a:r>
              <a:rPr lang="en-GB" b="1" dirty="0">
                <a:solidFill>
                  <a:srgbClr val="00B050"/>
                </a:solidFill>
              </a:rPr>
              <a:t>Learning</a:t>
            </a:r>
            <a:r>
              <a:rPr lang="en-GB" dirty="0"/>
              <a:t> are the two techniques of ML. </a:t>
            </a:r>
          </a:p>
          <a:p>
            <a:pPr marL="0" indent="0">
              <a:buNone/>
            </a:pPr>
            <a:r>
              <a:rPr lang="en-GB" dirty="0"/>
              <a:t>The main difference is </a:t>
            </a:r>
            <a:r>
              <a:rPr lang="en-GB" b="1" dirty="0"/>
              <a:t>the need for labelled training data</a:t>
            </a:r>
            <a:r>
              <a:rPr lang="en-GB" dirty="0"/>
              <a:t>:</a:t>
            </a:r>
          </a:p>
          <a:p>
            <a:r>
              <a:rPr lang="en-GB" dirty="0"/>
              <a:t>Supervised machine learning relies on labelled input and output data to learn and make predictions,</a:t>
            </a:r>
          </a:p>
          <a:p>
            <a:r>
              <a:rPr lang="en-GB" dirty="0"/>
              <a:t>while </a:t>
            </a:r>
            <a:r>
              <a:rPr lang="en-GB" b="1" dirty="0"/>
              <a:t>unsupervised learning does not require labelled data. </a:t>
            </a:r>
            <a:endParaRPr lang="en-SG" b="1" dirty="0"/>
          </a:p>
        </p:txBody>
      </p:sp>
      <p:pic>
        <p:nvPicPr>
          <p:cNvPr id="6" name="Picture 5" descr="Chart, scatter chart&#10;&#10;Description automatically generated">
            <a:extLst>
              <a:ext uri="{FF2B5EF4-FFF2-40B4-BE49-F238E27FC236}">
                <a16:creationId xmlns:a16="http://schemas.microsoft.com/office/drawing/2014/main" id="{D66BDE37-8D5D-471C-64FD-C3EF691B4C8D}"/>
              </a:ext>
            </a:extLst>
          </p:cNvPr>
          <p:cNvPicPr>
            <a:picLocks noChangeAspect="1"/>
          </p:cNvPicPr>
          <p:nvPr/>
        </p:nvPicPr>
        <p:blipFill rotWithShape="1">
          <a:blip r:embed="rId2">
            <a:extLst>
              <a:ext uri="{28A0092B-C50C-407E-A947-70E740481C1C}">
                <a14:useLocalDpi xmlns:a14="http://schemas.microsoft.com/office/drawing/2010/main" val="0"/>
              </a:ext>
            </a:extLst>
          </a:blip>
          <a:srcRect t="3413"/>
          <a:stretch/>
        </p:blipFill>
        <p:spPr>
          <a:xfrm>
            <a:off x="7053416" y="1690688"/>
            <a:ext cx="5045354" cy="4913311"/>
          </a:xfrm>
          <a:prstGeom prst="rect">
            <a:avLst/>
          </a:prstGeom>
        </p:spPr>
      </p:pic>
    </p:spTree>
    <p:extLst>
      <p:ext uri="{BB962C8B-B14F-4D97-AF65-F5344CB8AC3E}">
        <p14:creationId xmlns:p14="http://schemas.microsoft.com/office/powerpoint/2010/main" val="14674864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F06AE-BE85-D05A-4ACC-C9832753A142}"/>
              </a:ext>
            </a:extLst>
          </p:cNvPr>
          <p:cNvSpPr>
            <a:spLocks noGrp="1"/>
          </p:cNvSpPr>
          <p:nvPr>
            <p:ph type="title"/>
          </p:nvPr>
        </p:nvSpPr>
        <p:spPr/>
        <p:txBody>
          <a:bodyPr/>
          <a:lstStyle/>
          <a:p>
            <a:r>
              <a:rPr lang="en-GB" dirty="0"/>
              <a:t>Unsupervised Learning Examples</a:t>
            </a:r>
            <a:endParaRPr lang="en-SG" dirty="0"/>
          </a:p>
        </p:txBody>
      </p:sp>
      <p:sp>
        <p:nvSpPr>
          <p:cNvPr id="3" name="Content Placeholder 2">
            <a:extLst>
              <a:ext uri="{FF2B5EF4-FFF2-40B4-BE49-F238E27FC236}">
                <a16:creationId xmlns:a16="http://schemas.microsoft.com/office/drawing/2014/main" id="{DFE696BC-BC79-7B38-76F4-69E530908CB4}"/>
              </a:ext>
            </a:extLst>
          </p:cNvPr>
          <p:cNvSpPr>
            <a:spLocks noGrp="1"/>
          </p:cNvSpPr>
          <p:nvPr>
            <p:ph sz="half" idx="1"/>
          </p:nvPr>
        </p:nvSpPr>
        <p:spPr/>
        <p:txBody>
          <a:bodyPr>
            <a:normAutofit/>
          </a:bodyPr>
          <a:lstStyle/>
          <a:p>
            <a:r>
              <a:rPr lang="en-GB" dirty="0"/>
              <a:t>Examples of </a:t>
            </a:r>
            <a:r>
              <a:rPr lang="en-GB" b="1" dirty="0"/>
              <a:t>unsupervised</a:t>
            </a:r>
            <a:r>
              <a:rPr lang="en-GB" dirty="0"/>
              <a:t> </a:t>
            </a:r>
            <a:r>
              <a:rPr lang="en-GB" b="1" dirty="0"/>
              <a:t>learning:</a:t>
            </a:r>
            <a:r>
              <a:rPr lang="en-GB" dirty="0"/>
              <a:t> clustering customers based on their behaviours, segmenting images, and identifying topics in a document.</a:t>
            </a:r>
          </a:p>
        </p:txBody>
      </p:sp>
      <p:pic>
        <p:nvPicPr>
          <p:cNvPr id="9" name="Picture 8" descr="Chart, scatter chart&#10;&#10;Description automatically generated">
            <a:extLst>
              <a:ext uri="{FF2B5EF4-FFF2-40B4-BE49-F238E27FC236}">
                <a16:creationId xmlns:a16="http://schemas.microsoft.com/office/drawing/2014/main" id="{36ED8BF8-2120-C8FD-DCA2-31062413FB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2836" y="1753394"/>
            <a:ext cx="5839904" cy="4495799"/>
          </a:xfrm>
          <a:prstGeom prst="rect">
            <a:avLst/>
          </a:prstGeom>
        </p:spPr>
      </p:pic>
    </p:spTree>
    <p:extLst>
      <p:ext uri="{BB962C8B-B14F-4D97-AF65-F5344CB8AC3E}">
        <p14:creationId xmlns:p14="http://schemas.microsoft.com/office/powerpoint/2010/main" val="22651063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F06AE-BE85-D05A-4ACC-C9832753A142}"/>
              </a:ext>
            </a:extLst>
          </p:cNvPr>
          <p:cNvSpPr>
            <a:spLocks noGrp="1"/>
          </p:cNvSpPr>
          <p:nvPr>
            <p:ph type="title"/>
          </p:nvPr>
        </p:nvSpPr>
        <p:spPr/>
        <p:txBody>
          <a:bodyPr/>
          <a:lstStyle/>
          <a:p>
            <a:r>
              <a:rPr lang="en-GB" dirty="0"/>
              <a:t>Unsupervised Learning Examples</a:t>
            </a:r>
            <a:endParaRPr lang="en-SG" dirty="0"/>
          </a:p>
        </p:txBody>
      </p:sp>
      <p:sp>
        <p:nvSpPr>
          <p:cNvPr id="3" name="Content Placeholder 2">
            <a:extLst>
              <a:ext uri="{FF2B5EF4-FFF2-40B4-BE49-F238E27FC236}">
                <a16:creationId xmlns:a16="http://schemas.microsoft.com/office/drawing/2014/main" id="{DFE696BC-BC79-7B38-76F4-69E530908CB4}"/>
              </a:ext>
            </a:extLst>
          </p:cNvPr>
          <p:cNvSpPr>
            <a:spLocks noGrp="1"/>
          </p:cNvSpPr>
          <p:nvPr>
            <p:ph sz="half" idx="1"/>
          </p:nvPr>
        </p:nvSpPr>
        <p:spPr/>
        <p:txBody>
          <a:bodyPr>
            <a:normAutofit/>
          </a:bodyPr>
          <a:lstStyle/>
          <a:p>
            <a:r>
              <a:rPr lang="en-GB" dirty="0"/>
              <a:t>Examples of </a:t>
            </a:r>
            <a:r>
              <a:rPr lang="en-GB" b="1" dirty="0"/>
              <a:t>unsupervised</a:t>
            </a:r>
            <a:r>
              <a:rPr lang="en-GB" dirty="0"/>
              <a:t> </a:t>
            </a:r>
            <a:r>
              <a:rPr lang="en-GB" b="1" dirty="0"/>
              <a:t>learning:</a:t>
            </a:r>
            <a:r>
              <a:rPr lang="en-GB" dirty="0"/>
              <a:t> clustering customers based on their behaviours, segmenting images, and identifying topics in a document.</a:t>
            </a:r>
          </a:p>
        </p:txBody>
      </p:sp>
      <p:pic>
        <p:nvPicPr>
          <p:cNvPr id="5" name="Picture 4" descr="Text&#10;&#10;Description automatically generated">
            <a:extLst>
              <a:ext uri="{FF2B5EF4-FFF2-40B4-BE49-F238E27FC236}">
                <a16:creationId xmlns:a16="http://schemas.microsoft.com/office/drawing/2014/main" id="{FE8A90A9-AFCF-6C73-BD37-65240509B680}"/>
              </a:ext>
            </a:extLst>
          </p:cNvPr>
          <p:cNvPicPr>
            <a:picLocks noChangeAspect="1"/>
          </p:cNvPicPr>
          <p:nvPr/>
        </p:nvPicPr>
        <p:blipFill rotWithShape="1">
          <a:blip r:embed="rId2">
            <a:extLst>
              <a:ext uri="{28A0092B-C50C-407E-A947-70E740481C1C}">
                <a14:useLocalDpi xmlns:a14="http://schemas.microsoft.com/office/drawing/2010/main" val="0"/>
              </a:ext>
            </a:extLst>
          </a:blip>
          <a:srcRect l="15493" t="7023" r="19920" b="5416"/>
          <a:stretch/>
        </p:blipFill>
        <p:spPr>
          <a:xfrm>
            <a:off x="5437809" y="4077469"/>
            <a:ext cx="3057526" cy="2335214"/>
          </a:xfrm>
          <a:prstGeom prst="rect">
            <a:avLst/>
          </a:prstGeom>
        </p:spPr>
      </p:pic>
      <p:pic>
        <p:nvPicPr>
          <p:cNvPr id="7" name="Picture 6" descr="A picture containing text, newspaper&#10;&#10;Description automatically generated">
            <a:extLst>
              <a:ext uri="{FF2B5EF4-FFF2-40B4-BE49-F238E27FC236}">
                <a16:creationId xmlns:a16="http://schemas.microsoft.com/office/drawing/2014/main" id="{9C512BD1-1222-4557-ABF7-4AED91C9BE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2262" y="173545"/>
            <a:ext cx="3514755" cy="6003417"/>
          </a:xfrm>
          <a:prstGeom prst="rect">
            <a:avLst/>
          </a:prstGeom>
        </p:spPr>
      </p:pic>
      <p:pic>
        <p:nvPicPr>
          <p:cNvPr id="4" name="Picture 3" descr="Chart, scatter chart&#10;&#10;Description automatically generated">
            <a:extLst>
              <a:ext uri="{FF2B5EF4-FFF2-40B4-BE49-F238E27FC236}">
                <a16:creationId xmlns:a16="http://schemas.microsoft.com/office/drawing/2014/main" id="{A04F8E1D-C152-D778-773B-72597F78AC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4077469"/>
            <a:ext cx="3444554" cy="2651760"/>
          </a:xfrm>
          <a:prstGeom prst="rect">
            <a:avLst/>
          </a:prstGeom>
        </p:spPr>
      </p:pic>
      <p:sp>
        <p:nvSpPr>
          <p:cNvPr id="10" name="Rectangle 9">
            <a:extLst>
              <a:ext uri="{FF2B5EF4-FFF2-40B4-BE49-F238E27FC236}">
                <a16:creationId xmlns:a16="http://schemas.microsoft.com/office/drawing/2014/main" id="{DD5E5241-D153-27CD-95A4-1B2841EB70CE}"/>
              </a:ext>
            </a:extLst>
          </p:cNvPr>
          <p:cNvSpPr/>
          <p:nvPr/>
        </p:nvSpPr>
        <p:spPr>
          <a:xfrm>
            <a:off x="6619935" y="1527048"/>
            <a:ext cx="1527048" cy="21204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Identify topics that seem to appear in those papers and their prominence</a:t>
            </a:r>
            <a:br>
              <a:rPr lang="en-GB" dirty="0"/>
            </a:br>
            <a:endParaRPr lang="en-SG" dirty="0"/>
          </a:p>
        </p:txBody>
      </p:sp>
      <p:sp>
        <p:nvSpPr>
          <p:cNvPr id="17" name="Arrow: Down 16">
            <a:extLst>
              <a:ext uri="{FF2B5EF4-FFF2-40B4-BE49-F238E27FC236}">
                <a16:creationId xmlns:a16="http://schemas.microsoft.com/office/drawing/2014/main" id="{F5E578C5-72DB-3A99-6C10-BDB3B95E79B1}"/>
              </a:ext>
            </a:extLst>
          </p:cNvPr>
          <p:cNvSpPr/>
          <p:nvPr/>
        </p:nvSpPr>
        <p:spPr>
          <a:xfrm rot="5400000">
            <a:off x="7930023" y="2296052"/>
            <a:ext cx="832104" cy="608296"/>
          </a:xfrm>
          <a:prstGeom prst="downArrow">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Arrow: Down 17">
            <a:extLst>
              <a:ext uri="{FF2B5EF4-FFF2-40B4-BE49-F238E27FC236}">
                <a16:creationId xmlns:a16="http://schemas.microsoft.com/office/drawing/2014/main" id="{9AF70780-ED8F-B90F-D542-2F5BD4BE423B}"/>
              </a:ext>
            </a:extLst>
          </p:cNvPr>
          <p:cNvSpPr/>
          <p:nvPr/>
        </p:nvSpPr>
        <p:spPr>
          <a:xfrm>
            <a:off x="6979967" y="3506504"/>
            <a:ext cx="832104" cy="608296"/>
          </a:xfrm>
          <a:prstGeom prst="downArrow">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562012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3ED6E-FA87-673E-629C-5D5FF1BB133E}"/>
              </a:ext>
            </a:extLst>
          </p:cNvPr>
          <p:cNvSpPr>
            <a:spLocks noGrp="1"/>
          </p:cNvSpPr>
          <p:nvPr>
            <p:ph type="title"/>
          </p:nvPr>
        </p:nvSpPr>
        <p:spPr/>
        <p:txBody>
          <a:bodyPr/>
          <a:lstStyle/>
          <a:p>
            <a:r>
              <a:rPr lang="en-GB" dirty="0"/>
              <a:t>Clustering vs. Association (Unsupervised)</a:t>
            </a:r>
            <a:endParaRPr lang="en-SG" dirty="0"/>
          </a:p>
        </p:txBody>
      </p:sp>
      <p:sp>
        <p:nvSpPr>
          <p:cNvPr id="3" name="Content Placeholder 2">
            <a:extLst>
              <a:ext uri="{FF2B5EF4-FFF2-40B4-BE49-F238E27FC236}">
                <a16:creationId xmlns:a16="http://schemas.microsoft.com/office/drawing/2014/main" id="{80440BA0-757A-9C9A-35E1-6BE3FEE6E356}"/>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Clustering vs. Association</a:t>
            </a:r>
            <a:r>
              <a:rPr lang="en-GB" b="1" dirty="0"/>
              <a:t>):</a:t>
            </a:r>
            <a:endParaRPr lang="en-GB" dirty="0"/>
          </a:p>
          <a:p>
            <a:pPr marL="0" indent="0">
              <a:buNone/>
            </a:pPr>
            <a:r>
              <a:rPr lang="en-GB" dirty="0"/>
              <a:t>Unsupervised learning can be used for two types of problems: </a:t>
            </a:r>
            <a:r>
              <a:rPr lang="en-GB" b="1" dirty="0">
                <a:solidFill>
                  <a:srgbClr val="00B050"/>
                </a:solidFill>
              </a:rPr>
              <a:t>Clustering</a:t>
            </a:r>
            <a:r>
              <a:rPr lang="en-GB" dirty="0"/>
              <a:t> and </a:t>
            </a:r>
            <a:r>
              <a:rPr lang="en-GB" b="1" dirty="0">
                <a:solidFill>
                  <a:srgbClr val="00B050"/>
                </a:solidFill>
              </a:rPr>
              <a:t>Association</a:t>
            </a:r>
            <a:r>
              <a:rPr lang="en-GB" dirty="0"/>
              <a:t>.</a:t>
            </a:r>
          </a:p>
          <a:p>
            <a:pPr marL="0" indent="0">
              <a:buNone/>
            </a:pPr>
            <a:r>
              <a:rPr lang="en-GB" dirty="0"/>
              <a:t>The main difference is that</a:t>
            </a:r>
          </a:p>
          <a:p>
            <a:r>
              <a:rPr lang="en-GB" b="1" dirty="0">
                <a:solidFill>
                  <a:srgbClr val="00B050"/>
                </a:solidFill>
              </a:rPr>
              <a:t>clustering</a:t>
            </a:r>
            <a:r>
              <a:rPr lang="en-GB" dirty="0"/>
              <a:t> </a:t>
            </a:r>
            <a:r>
              <a:rPr lang="en-GB" b="1" dirty="0"/>
              <a:t>groups data based on similarity</a:t>
            </a:r>
            <a:r>
              <a:rPr lang="en-GB" dirty="0"/>
              <a:t>,</a:t>
            </a:r>
          </a:p>
          <a:p>
            <a:r>
              <a:rPr lang="en-GB" dirty="0"/>
              <a:t>while </a:t>
            </a:r>
            <a:r>
              <a:rPr lang="en-GB" b="1" dirty="0">
                <a:solidFill>
                  <a:srgbClr val="00B050"/>
                </a:solidFill>
              </a:rPr>
              <a:t>association</a:t>
            </a:r>
            <a:r>
              <a:rPr lang="en-GB" dirty="0"/>
              <a:t> </a:t>
            </a:r>
            <a:r>
              <a:rPr lang="en-GB" b="1" dirty="0"/>
              <a:t>looks for relationships between variables</a:t>
            </a:r>
            <a:r>
              <a:rPr lang="en-GB" dirty="0"/>
              <a:t>. </a:t>
            </a:r>
          </a:p>
          <a:p>
            <a:endParaRPr lang="en-SG" dirty="0"/>
          </a:p>
        </p:txBody>
      </p:sp>
    </p:spTree>
    <p:extLst>
      <p:ext uri="{BB962C8B-B14F-4D97-AF65-F5344CB8AC3E}">
        <p14:creationId xmlns:p14="http://schemas.microsoft.com/office/powerpoint/2010/main" val="182286442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3ED6E-FA87-673E-629C-5D5FF1BB133E}"/>
              </a:ext>
            </a:extLst>
          </p:cNvPr>
          <p:cNvSpPr>
            <a:spLocks noGrp="1"/>
          </p:cNvSpPr>
          <p:nvPr>
            <p:ph type="title"/>
          </p:nvPr>
        </p:nvSpPr>
        <p:spPr/>
        <p:txBody>
          <a:bodyPr/>
          <a:lstStyle/>
          <a:p>
            <a:r>
              <a:rPr lang="en-GB" dirty="0"/>
              <a:t>Clustering vs. Association (Unsupervised)</a:t>
            </a:r>
            <a:endParaRPr lang="en-SG" dirty="0"/>
          </a:p>
        </p:txBody>
      </p:sp>
      <p:sp>
        <p:nvSpPr>
          <p:cNvPr id="3" name="Content Placeholder 2">
            <a:extLst>
              <a:ext uri="{FF2B5EF4-FFF2-40B4-BE49-F238E27FC236}">
                <a16:creationId xmlns:a16="http://schemas.microsoft.com/office/drawing/2014/main" id="{80440BA0-757A-9C9A-35E1-6BE3FEE6E356}"/>
              </a:ext>
            </a:extLst>
          </p:cNvPr>
          <p:cNvSpPr>
            <a:spLocks noGrp="1"/>
          </p:cNvSpPr>
          <p:nvPr>
            <p:ph sz="half" idx="1"/>
          </p:nvPr>
        </p:nvSpPr>
        <p:spPr>
          <a:xfrm>
            <a:off x="838200" y="1825624"/>
            <a:ext cx="5181600" cy="5032375"/>
          </a:xfrm>
        </p:spPr>
        <p:txBody>
          <a:bodyPr>
            <a:normAutofit/>
          </a:bodyPr>
          <a:lstStyle/>
          <a:p>
            <a:pPr marL="0" indent="0">
              <a:buNone/>
            </a:pPr>
            <a:r>
              <a:rPr lang="en-GB" b="1" dirty="0"/>
              <a:t>Examples of clustering:</a:t>
            </a:r>
          </a:p>
          <a:p>
            <a:r>
              <a:rPr lang="en-GB" dirty="0"/>
              <a:t>Group customers into clusters based on the similarities in their purchasing behaviours, such as their spending habits or types of products they like.</a:t>
            </a:r>
          </a:p>
          <a:p>
            <a:r>
              <a:rPr lang="en-GB" dirty="0"/>
              <a:t>Group the catalogue of movies available on Netflix and identify what movies have in common, so you can later recommend a movie to a user based on what he/she has seen before.</a:t>
            </a:r>
          </a:p>
          <a:p>
            <a:endParaRPr lang="en-GB" dirty="0"/>
          </a:p>
        </p:txBody>
      </p:sp>
      <p:pic>
        <p:nvPicPr>
          <p:cNvPr id="4" name="Picture 3" descr="Chart, scatter chart&#10;&#10;Description automatically generated">
            <a:extLst>
              <a:ext uri="{FF2B5EF4-FFF2-40B4-BE49-F238E27FC236}">
                <a16:creationId xmlns:a16="http://schemas.microsoft.com/office/drawing/2014/main" id="{A27CB252-4B4C-E1ED-CAAD-2AAA605205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2836" y="1753394"/>
            <a:ext cx="5839904" cy="4495799"/>
          </a:xfrm>
          <a:prstGeom prst="rect">
            <a:avLst/>
          </a:prstGeom>
        </p:spPr>
      </p:pic>
    </p:spTree>
    <p:extLst>
      <p:ext uri="{BB962C8B-B14F-4D97-AF65-F5344CB8AC3E}">
        <p14:creationId xmlns:p14="http://schemas.microsoft.com/office/powerpoint/2010/main" val="31282818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3ED6E-FA87-673E-629C-5D5FF1BB133E}"/>
              </a:ext>
            </a:extLst>
          </p:cNvPr>
          <p:cNvSpPr>
            <a:spLocks noGrp="1"/>
          </p:cNvSpPr>
          <p:nvPr>
            <p:ph type="title"/>
          </p:nvPr>
        </p:nvSpPr>
        <p:spPr/>
        <p:txBody>
          <a:bodyPr/>
          <a:lstStyle/>
          <a:p>
            <a:r>
              <a:rPr lang="en-GB" dirty="0"/>
              <a:t>Clustering vs. Association (Unsupervised)</a:t>
            </a:r>
            <a:endParaRPr lang="en-SG" dirty="0"/>
          </a:p>
        </p:txBody>
      </p:sp>
      <p:sp>
        <p:nvSpPr>
          <p:cNvPr id="3" name="Content Placeholder 2">
            <a:extLst>
              <a:ext uri="{FF2B5EF4-FFF2-40B4-BE49-F238E27FC236}">
                <a16:creationId xmlns:a16="http://schemas.microsoft.com/office/drawing/2014/main" id="{80440BA0-757A-9C9A-35E1-6BE3FEE6E356}"/>
              </a:ext>
            </a:extLst>
          </p:cNvPr>
          <p:cNvSpPr>
            <a:spLocks noGrp="1"/>
          </p:cNvSpPr>
          <p:nvPr>
            <p:ph sz="half" idx="1"/>
          </p:nvPr>
        </p:nvSpPr>
        <p:spPr>
          <a:xfrm>
            <a:off x="838200" y="1825624"/>
            <a:ext cx="5181600" cy="5032375"/>
          </a:xfrm>
        </p:spPr>
        <p:txBody>
          <a:bodyPr>
            <a:normAutofit/>
          </a:bodyPr>
          <a:lstStyle/>
          <a:p>
            <a:pPr marL="0" indent="0">
              <a:buNone/>
            </a:pPr>
            <a:r>
              <a:rPr lang="en-GB" b="1" dirty="0"/>
              <a:t>Example of association:</a:t>
            </a:r>
          </a:p>
          <a:p>
            <a:r>
              <a:rPr lang="en-GB" dirty="0"/>
              <a:t>Finding the relationship between customer buying </a:t>
            </a:r>
            <a:r>
              <a:rPr lang="en-GB" dirty="0" err="1"/>
              <a:t>behaviors</a:t>
            </a:r>
            <a:r>
              <a:rPr lang="en-GB" dirty="0"/>
              <a:t> and customer satisfaction.</a:t>
            </a:r>
          </a:p>
          <a:p>
            <a:r>
              <a:rPr lang="en-GB" dirty="0"/>
              <a:t>Association can be used to understand how changes in customer </a:t>
            </a:r>
            <a:r>
              <a:rPr lang="en-GB" dirty="0" err="1"/>
              <a:t>behavior</a:t>
            </a:r>
            <a:r>
              <a:rPr lang="en-GB" dirty="0"/>
              <a:t> impacts customer satisfaction, such as if buying a certain product increases customer satisfaction (or the opposite).</a:t>
            </a:r>
          </a:p>
        </p:txBody>
      </p:sp>
      <p:pic>
        <p:nvPicPr>
          <p:cNvPr id="5" name="Picture 4" descr="Graphical user interface, text, application, email&#10;&#10;Description automatically generated">
            <a:extLst>
              <a:ext uri="{FF2B5EF4-FFF2-40B4-BE49-F238E27FC236}">
                <a16:creationId xmlns:a16="http://schemas.microsoft.com/office/drawing/2014/main" id="{920192A8-D31B-53AD-5AA9-B1D20E18E9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0932" y="1443069"/>
            <a:ext cx="5396334" cy="3048776"/>
          </a:xfrm>
          <a:prstGeom prst="rect">
            <a:avLst/>
          </a:prstGeom>
        </p:spPr>
      </p:pic>
      <p:pic>
        <p:nvPicPr>
          <p:cNvPr id="9" name="Picture 8" descr="Icon&#10;&#10;Description automatically generated">
            <a:extLst>
              <a:ext uri="{FF2B5EF4-FFF2-40B4-BE49-F238E27FC236}">
                <a16:creationId xmlns:a16="http://schemas.microsoft.com/office/drawing/2014/main" id="{65AA3675-E5D5-1061-E2F6-C7DA83FAE6D8}"/>
              </a:ext>
            </a:extLst>
          </p:cNvPr>
          <p:cNvPicPr>
            <a:picLocks noChangeAspect="1"/>
          </p:cNvPicPr>
          <p:nvPr/>
        </p:nvPicPr>
        <p:blipFill rotWithShape="1">
          <a:blip r:embed="rId3">
            <a:extLst>
              <a:ext uri="{28A0092B-C50C-407E-A947-70E740481C1C}">
                <a14:useLocalDpi xmlns:a14="http://schemas.microsoft.com/office/drawing/2010/main" val="0"/>
              </a:ext>
            </a:extLst>
          </a:blip>
          <a:srcRect t="23374" b="29932"/>
          <a:stretch/>
        </p:blipFill>
        <p:spPr>
          <a:xfrm>
            <a:off x="8283247" y="5541796"/>
            <a:ext cx="2085013" cy="785610"/>
          </a:xfrm>
          <a:prstGeom prst="rect">
            <a:avLst/>
          </a:prstGeom>
        </p:spPr>
      </p:pic>
      <p:pic>
        <p:nvPicPr>
          <p:cNvPr id="11" name="Picture 10" descr="A double cheeseburger with lettuce and tomato&#10;&#10;Description automatically generated with medium confidence">
            <a:extLst>
              <a:ext uri="{FF2B5EF4-FFF2-40B4-BE49-F238E27FC236}">
                <a16:creationId xmlns:a16="http://schemas.microsoft.com/office/drawing/2014/main" id="{911E3C98-D937-B0D5-B0AC-C5DC281B04AC}"/>
              </a:ext>
            </a:extLst>
          </p:cNvPr>
          <p:cNvPicPr>
            <a:picLocks noChangeAspect="1"/>
          </p:cNvPicPr>
          <p:nvPr/>
        </p:nvPicPr>
        <p:blipFill rotWithShape="1">
          <a:blip r:embed="rId4">
            <a:extLst>
              <a:ext uri="{28A0092B-C50C-407E-A947-70E740481C1C}">
                <a14:useLocalDpi xmlns:a14="http://schemas.microsoft.com/office/drawing/2010/main" val="0"/>
              </a:ext>
            </a:extLst>
          </a:blip>
          <a:srcRect l="21455" t="12551" r="18921" b="1925"/>
          <a:stretch/>
        </p:blipFill>
        <p:spPr>
          <a:xfrm>
            <a:off x="10659846" y="5157474"/>
            <a:ext cx="1532154" cy="1355975"/>
          </a:xfrm>
          <a:prstGeom prst="rect">
            <a:avLst/>
          </a:prstGeom>
        </p:spPr>
      </p:pic>
      <p:pic>
        <p:nvPicPr>
          <p:cNvPr id="13" name="Picture 12" descr="A hamburger with lettuce and tomato&#10;&#10;Description automatically generated with medium confidence">
            <a:extLst>
              <a:ext uri="{FF2B5EF4-FFF2-40B4-BE49-F238E27FC236}">
                <a16:creationId xmlns:a16="http://schemas.microsoft.com/office/drawing/2014/main" id="{021D15F4-D0D8-C6B1-CE52-B783E8C210A8}"/>
              </a:ext>
            </a:extLst>
          </p:cNvPr>
          <p:cNvPicPr>
            <a:picLocks noChangeAspect="1"/>
          </p:cNvPicPr>
          <p:nvPr/>
        </p:nvPicPr>
        <p:blipFill rotWithShape="1">
          <a:blip r:embed="rId5">
            <a:extLst>
              <a:ext uri="{28A0092B-C50C-407E-A947-70E740481C1C}">
                <a14:useLocalDpi xmlns:a14="http://schemas.microsoft.com/office/drawing/2010/main" val="0"/>
              </a:ext>
            </a:extLst>
          </a:blip>
          <a:srcRect t="24330"/>
          <a:stretch/>
        </p:blipFill>
        <p:spPr>
          <a:xfrm>
            <a:off x="6060230" y="4967541"/>
            <a:ext cx="2015765" cy="1525334"/>
          </a:xfrm>
          <a:prstGeom prst="rect">
            <a:avLst/>
          </a:prstGeom>
        </p:spPr>
      </p:pic>
      <p:sp>
        <p:nvSpPr>
          <p:cNvPr id="14" name="Arrow: Down 13">
            <a:extLst>
              <a:ext uri="{FF2B5EF4-FFF2-40B4-BE49-F238E27FC236}">
                <a16:creationId xmlns:a16="http://schemas.microsoft.com/office/drawing/2014/main" id="{00787DAE-DB70-CD7C-D7C4-BA67EC38098C}"/>
              </a:ext>
            </a:extLst>
          </p:cNvPr>
          <p:cNvSpPr/>
          <p:nvPr/>
        </p:nvSpPr>
        <p:spPr>
          <a:xfrm rot="5400000">
            <a:off x="10059824" y="5713753"/>
            <a:ext cx="623918" cy="391977"/>
          </a:xfrm>
          <a:prstGeom prst="downArrow">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Arrow: Down 14">
            <a:extLst>
              <a:ext uri="{FF2B5EF4-FFF2-40B4-BE49-F238E27FC236}">
                <a16:creationId xmlns:a16="http://schemas.microsoft.com/office/drawing/2014/main" id="{63A6CD6A-6CA2-DB56-D846-3FB5CFB50AD9}"/>
              </a:ext>
            </a:extLst>
          </p:cNvPr>
          <p:cNvSpPr/>
          <p:nvPr/>
        </p:nvSpPr>
        <p:spPr>
          <a:xfrm rot="16200000">
            <a:off x="7935057" y="5703158"/>
            <a:ext cx="623918" cy="391977"/>
          </a:xfrm>
          <a:prstGeom prst="downArrow">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6271468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11D84-49CF-5C63-413C-4F8FC4B27F8A}"/>
              </a:ext>
            </a:extLst>
          </p:cNvPr>
          <p:cNvSpPr>
            <a:spLocks noGrp="1"/>
          </p:cNvSpPr>
          <p:nvPr>
            <p:ph type="title"/>
          </p:nvPr>
        </p:nvSpPr>
        <p:spPr/>
        <p:txBody>
          <a:bodyPr/>
          <a:lstStyle/>
          <a:p>
            <a:r>
              <a:rPr lang="en-GB" dirty="0"/>
              <a:t>Proof of the Normal Equation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8B913BE-9D0F-C6F5-D2AA-F7829400A0CA}"/>
                  </a:ext>
                </a:extLst>
              </p:cNvPr>
              <p:cNvSpPr>
                <a:spLocks noGrp="1"/>
              </p:cNvSpPr>
              <p:nvPr>
                <p:ph sz="half" idx="1"/>
              </p:nvPr>
            </p:nvSpPr>
            <p:spPr>
              <a:xfrm>
                <a:off x="838200" y="1825624"/>
                <a:ext cx="5181600" cy="5032375"/>
              </a:xfrm>
            </p:spPr>
            <p:txBody>
              <a:bodyPr>
                <a:normAutofit/>
              </a:bodyPr>
              <a:lstStyle/>
              <a:p>
                <a:pPr marL="0" indent="0">
                  <a:buNone/>
                </a:pPr>
                <a:r>
                  <a:rPr lang="en-SG" dirty="0"/>
                  <a:t>Using the notations</a:t>
                </a:r>
              </a:p>
              <a:p>
                <a:pPr marL="0" indent="0">
                  <a:buNone/>
                </a:pPr>
                <a:endParaRPr lang="en-SG" dirty="0"/>
              </a:p>
              <a:p>
                <a:pPr marL="0" indent="0">
                  <a:buNone/>
                </a:pPr>
                <a14:m>
                  <m:oMathPara xmlns:m="http://schemas.openxmlformats.org/officeDocument/2006/math">
                    <m:oMathParaPr>
                      <m:jc m:val="centerGroup"/>
                    </m:oMathParaPr>
                    <m:oMath xmlns:m="http://schemas.openxmlformats.org/officeDocument/2006/math">
                      <m:r>
                        <a:rPr lang="en-SG" i="1" dirty="0" smtClean="0">
                          <a:latin typeface="Cambria Math" panose="02040503050406030204" pitchFamily="18" charset="0"/>
                        </a:rPr>
                        <m:t>𝑋</m:t>
                      </m:r>
                      <m:r>
                        <a:rPr lang="en-SG" i="1" dirty="0" smtClean="0">
                          <a:latin typeface="Cambria Math" panose="02040503050406030204" pitchFamily="18" charset="0"/>
                        </a:rPr>
                        <m:t> =</m:t>
                      </m:r>
                      <m:d>
                        <m:dPr>
                          <m:ctrlPr>
                            <a:rPr lang="en-GB" b="0" i="1" dirty="0" smtClean="0">
                              <a:latin typeface="Cambria Math" panose="02040503050406030204" pitchFamily="18" charset="0"/>
                            </a:rPr>
                          </m:ctrlPr>
                        </m:dPr>
                        <m:e>
                          <m:m>
                            <m:mPr>
                              <m:mcs>
                                <m:mc>
                                  <m:mcPr>
                                    <m:count m:val="2"/>
                                    <m:mcJc m:val="center"/>
                                  </m:mcPr>
                                </m:mc>
                              </m:mcs>
                              <m:ctrlPr>
                                <a:rPr lang="en-GB" b="0" i="1" dirty="0" smtClean="0">
                                  <a:latin typeface="Cambria Math" panose="02040503050406030204" pitchFamily="18" charset="0"/>
                                </a:rPr>
                              </m:ctrlPr>
                            </m:mPr>
                            <m:mr>
                              <m:e>
                                <m:r>
                                  <m:rPr>
                                    <m:brk m:alnAt="7"/>
                                  </m:rPr>
                                  <a:rPr lang="en-GB" b="0" i="1" dirty="0" smtClean="0">
                                    <a:latin typeface="Cambria Math" panose="02040503050406030204" pitchFamily="18" charset="0"/>
                                  </a:rPr>
                                  <m:t>1</m:t>
                                </m:r>
                              </m:e>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𝑥</m:t>
                                    </m:r>
                                  </m:e>
                                  <m:sub>
                                    <m:r>
                                      <a:rPr lang="en-GB" b="0" i="1" dirty="0" smtClean="0">
                                        <a:latin typeface="Cambria Math" panose="02040503050406030204" pitchFamily="18" charset="0"/>
                                      </a:rPr>
                                      <m:t>1</m:t>
                                    </m:r>
                                  </m:sub>
                                </m:sSub>
                              </m:e>
                            </m:mr>
                            <m:mr>
                              <m:e>
                                <m:r>
                                  <a:rPr lang="en-GB" b="0" i="1" dirty="0" smtClean="0">
                                    <a:latin typeface="Cambria Math" panose="02040503050406030204" pitchFamily="18" charset="0"/>
                                  </a:rPr>
                                  <m:t>…</m:t>
                                </m:r>
                              </m:e>
                              <m:e>
                                <m:r>
                                  <a:rPr lang="en-GB" b="0" i="1" dirty="0" smtClean="0">
                                    <a:latin typeface="Cambria Math" panose="02040503050406030204" pitchFamily="18" charset="0"/>
                                  </a:rPr>
                                  <m:t>…</m:t>
                                </m:r>
                              </m:e>
                            </m:mr>
                            <m:mr>
                              <m:e>
                                <m:r>
                                  <a:rPr lang="en-GB" b="0" i="1" dirty="0" smtClean="0">
                                    <a:latin typeface="Cambria Math" panose="02040503050406030204" pitchFamily="18" charset="0"/>
                                  </a:rPr>
                                  <m:t>1</m:t>
                                </m:r>
                              </m:e>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𝑥</m:t>
                                    </m:r>
                                  </m:e>
                                  <m:sub>
                                    <m:r>
                                      <a:rPr lang="en-GB" b="0" i="1" dirty="0" smtClean="0">
                                        <a:latin typeface="Cambria Math" panose="02040503050406030204" pitchFamily="18" charset="0"/>
                                      </a:rPr>
                                      <m:t>𝑁</m:t>
                                    </m:r>
                                  </m:sub>
                                </m:sSub>
                              </m:e>
                            </m:mr>
                          </m:m>
                        </m:e>
                      </m:d>
                      <m:r>
                        <a:rPr lang="en-GB" b="0" i="1" dirty="0" smtClean="0">
                          <a:latin typeface="Cambria Math" panose="02040503050406030204" pitchFamily="18" charset="0"/>
                        </a:rPr>
                        <m:t>,</m:t>
                      </m:r>
                    </m:oMath>
                  </m:oMathPara>
                </a14:m>
                <a:endParaRPr lang="en-GB" b="0" i="1" dirty="0">
                  <a:latin typeface="Cambria Math" panose="02040503050406030204" pitchFamily="18" charset="0"/>
                </a:endParaRPr>
              </a:p>
              <a:p>
                <a:pPr marL="0" indent="0">
                  <a:buNone/>
                </a:pPr>
                <a:endParaRPr lang="en-SG"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SG" i="1" dirty="0" smtClean="0">
                          <a:latin typeface="Cambria Math" panose="02040503050406030204" pitchFamily="18" charset="0"/>
                        </a:rPr>
                        <m:t>𝑌</m:t>
                      </m:r>
                      <m:r>
                        <a:rPr lang="en-SG" i="1" dirty="0" smtClean="0">
                          <a:latin typeface="Cambria Math" panose="02040503050406030204" pitchFamily="18" charset="0"/>
                        </a:rPr>
                        <m:t> =</m:t>
                      </m:r>
                      <m:d>
                        <m:dPr>
                          <m:ctrlPr>
                            <a:rPr lang="en-GB" b="0" i="1" dirty="0" smtClean="0">
                              <a:latin typeface="Cambria Math" panose="02040503050406030204" pitchFamily="18" charset="0"/>
                            </a:rPr>
                          </m:ctrlPr>
                        </m:dPr>
                        <m:e>
                          <m:m>
                            <m:mPr>
                              <m:mcs>
                                <m:mc>
                                  <m:mcPr>
                                    <m:count m:val="1"/>
                                    <m:mcJc m:val="center"/>
                                  </m:mcPr>
                                </m:mc>
                              </m:mcs>
                              <m:ctrlPr>
                                <a:rPr lang="en-GB" b="0" i="1" dirty="0" smtClean="0">
                                  <a:latin typeface="Cambria Math" panose="02040503050406030204" pitchFamily="18" charset="0"/>
                                </a:rPr>
                              </m:ctrlPr>
                            </m:mPr>
                            <m:mr>
                              <m:e>
                                <m:sSub>
                                  <m:sSubPr>
                                    <m:ctrlPr>
                                      <a:rPr lang="en-GB" b="0" i="1" dirty="0" smtClean="0">
                                        <a:latin typeface="Cambria Math" panose="02040503050406030204" pitchFamily="18" charset="0"/>
                                      </a:rPr>
                                    </m:ctrlPr>
                                  </m:sSubPr>
                                  <m:e>
                                    <m:r>
                                      <m:rPr>
                                        <m:brk m:alnAt="7"/>
                                      </m:rPr>
                                      <a:rPr lang="en-GB" b="0" i="1" dirty="0" smtClean="0">
                                        <a:latin typeface="Cambria Math" panose="02040503050406030204" pitchFamily="18" charset="0"/>
                                      </a:rPr>
                                      <m:t>𝑦</m:t>
                                    </m:r>
                                  </m:e>
                                  <m:sub>
                                    <m:r>
                                      <m:rPr>
                                        <m:brk m:alnAt="7"/>
                                      </m:rPr>
                                      <a:rPr lang="en-GB" b="0" i="1" dirty="0" smtClean="0">
                                        <a:latin typeface="Cambria Math" panose="02040503050406030204" pitchFamily="18" charset="0"/>
                                      </a:rPr>
                                      <m:t>1</m:t>
                                    </m:r>
                                  </m:sub>
                                </m:sSub>
                                <m:r>
                                  <m:rPr>
                                    <m:brk m:alnAt="7"/>
                                  </m:rPr>
                                  <a:rPr lang="en-GB" b="0" i="1" dirty="0" smtClean="0">
                                    <a:latin typeface="Cambria Math" panose="02040503050406030204" pitchFamily="18" charset="0"/>
                                  </a:rPr>
                                  <m:t> </m:t>
                                </m:r>
                              </m:e>
                            </m:mr>
                            <m:mr>
                              <m:e>
                                <m:r>
                                  <a:rPr lang="en-GB" b="0" i="1" dirty="0" smtClean="0">
                                    <a:latin typeface="Cambria Math" panose="02040503050406030204" pitchFamily="18" charset="0"/>
                                  </a:rPr>
                                  <m:t>…</m:t>
                                </m:r>
                              </m:e>
                            </m:mr>
                            <m:m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𝑦</m:t>
                                    </m:r>
                                  </m:e>
                                  <m:sub>
                                    <m:r>
                                      <a:rPr lang="en-GB" b="0" i="1" dirty="0" smtClean="0">
                                        <a:latin typeface="Cambria Math" panose="02040503050406030204" pitchFamily="18" charset="0"/>
                                      </a:rPr>
                                      <m:t>𝑁</m:t>
                                    </m:r>
                                  </m:sub>
                                </m:sSub>
                              </m:e>
                            </m:mr>
                          </m:m>
                        </m:e>
                      </m:d>
                      <m:r>
                        <a:rPr lang="en-GB" b="0" i="1" dirty="0" smtClean="0">
                          <a:latin typeface="Cambria Math" panose="02040503050406030204" pitchFamily="18" charset="0"/>
                        </a:rPr>
                        <m:t>,</m:t>
                      </m:r>
                    </m:oMath>
                  </m:oMathPara>
                </a14:m>
                <a:br>
                  <a:rPr lang="en-GB" b="0" dirty="0"/>
                </a:br>
                <a:endParaRPr lang="en-GB" i="1" dirty="0">
                  <a:latin typeface="Cambria Math" panose="02040503050406030204" pitchFamily="18" charset="0"/>
                </a:endParaRPr>
              </a:p>
              <a:p>
                <a:pPr marL="0" indent="0">
                  <a:buNone/>
                </a:pP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i="1" dirty="0">
                          <a:latin typeface="Cambria Math" panose="02040503050406030204" pitchFamily="18" charset="0"/>
                        </a:rPr>
                        <m:t>=</m:t>
                      </m:r>
                      <m:d>
                        <m:dPr>
                          <m:ctrlPr>
                            <a:rPr lang="en-GB" i="1" dirty="0">
                              <a:latin typeface="Cambria Math" panose="02040503050406030204" pitchFamily="18" charset="0"/>
                            </a:rPr>
                          </m:ctrlPr>
                        </m:dPr>
                        <m:e>
                          <m:m>
                            <m:mPr>
                              <m:mcs>
                                <m:mc>
                                  <m:mcPr>
                                    <m:count m:val="1"/>
                                    <m:mcJc m:val="center"/>
                                  </m:mcPr>
                                </m:mc>
                              </m:mcs>
                              <m:ctrlPr>
                                <a:rPr lang="en-GB" i="1" dirty="0">
                                  <a:latin typeface="Cambria Math" panose="02040503050406030204" pitchFamily="18" charset="0"/>
                                </a:rPr>
                              </m:ctrlPr>
                            </m:mPr>
                            <m:mr>
                              <m:e>
                                <m:sSup>
                                  <m:sSupPr>
                                    <m:ctrlPr>
                                      <a:rPr lang="en-GB" i="1" dirty="0">
                                        <a:latin typeface="Cambria Math" panose="02040503050406030204" pitchFamily="18" charset="0"/>
                                      </a:rPr>
                                    </m:ctrlPr>
                                  </m:sSupPr>
                                  <m:e>
                                    <m:r>
                                      <m:rPr>
                                        <m:brk m:alnAt="7"/>
                                      </m:rPr>
                                      <a:rPr lang="en-GB" i="1" dirty="0">
                                        <a:latin typeface="Cambria Math" panose="02040503050406030204" pitchFamily="18" charset="0"/>
                                      </a:rPr>
                                      <m:t>𝑏</m:t>
                                    </m:r>
                                  </m:e>
                                  <m:sup>
                                    <m:r>
                                      <m:rPr>
                                        <m:brk m:alnAt="7"/>
                                      </m:rPr>
                                      <a:rPr lang="en-GB" i="1" dirty="0">
                                        <a:latin typeface="Cambria Math" panose="02040503050406030204" pitchFamily="18" charset="0"/>
                                      </a:rPr>
                                      <m:t>∗</m:t>
                                    </m:r>
                                  </m:sup>
                                </m:sSup>
                              </m:e>
                            </m:mr>
                            <m:mr>
                              <m:e>
                                <m:sSup>
                                  <m:sSupPr>
                                    <m:ctrlPr>
                                      <a:rPr lang="en-GB" i="1" dirty="0">
                                        <a:latin typeface="Cambria Math" panose="02040503050406030204" pitchFamily="18" charset="0"/>
                                      </a:rPr>
                                    </m:ctrlPr>
                                  </m:sSupPr>
                                  <m:e>
                                    <m:r>
                                      <a:rPr lang="en-GB" i="1" dirty="0">
                                        <a:latin typeface="Cambria Math" panose="02040503050406030204" pitchFamily="18" charset="0"/>
                                      </a:rPr>
                                      <m:t>𝑎</m:t>
                                    </m:r>
                                  </m:e>
                                  <m:sup>
                                    <m:r>
                                      <a:rPr lang="en-GB" i="1" dirty="0">
                                        <a:latin typeface="Cambria Math" panose="02040503050406030204" pitchFamily="18" charset="0"/>
                                      </a:rPr>
                                      <m:t>∗</m:t>
                                    </m:r>
                                  </m:sup>
                                </m:sSup>
                              </m:e>
                            </m:mr>
                          </m:m>
                        </m:e>
                      </m:d>
                    </m:oMath>
                  </m:oMathPara>
                </a14:m>
                <a:endParaRPr lang="en-GB" dirty="0"/>
              </a:p>
            </p:txBody>
          </p:sp>
        </mc:Choice>
        <mc:Fallback xmlns="">
          <p:sp>
            <p:nvSpPr>
              <p:cNvPr id="3" name="Content Placeholder 2">
                <a:extLst>
                  <a:ext uri="{FF2B5EF4-FFF2-40B4-BE49-F238E27FC236}">
                    <a16:creationId xmlns:a16="http://schemas.microsoft.com/office/drawing/2014/main" id="{F8B913BE-9D0F-C6F5-D2AA-F7829400A0CA}"/>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CF294D0-D63F-64BD-C8CA-F086C4E339BC}"/>
                  </a:ext>
                </a:extLst>
              </p:cNvPr>
              <p:cNvSpPr>
                <a:spLocks noGrp="1"/>
              </p:cNvSpPr>
              <p:nvPr>
                <p:ph sz="half" idx="2"/>
              </p:nvPr>
            </p:nvSpPr>
            <p:spPr>
              <a:xfrm>
                <a:off x="6172200" y="1825624"/>
                <a:ext cx="5181600" cy="5032375"/>
              </a:xfrm>
            </p:spPr>
            <p:txBody>
              <a:bodyPr>
                <a:normAutofit/>
              </a:bodyPr>
              <a:lstStyle/>
              <a:p>
                <a:pPr marL="0" indent="0">
                  <a:buNone/>
                </a:pPr>
                <a:r>
                  <a:rPr lang="en-GB" dirty="0"/>
                  <a:t>We have, in matrix form</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SG" i="1" dirty="0">
                          <a:latin typeface="Cambria Math" panose="02040503050406030204" pitchFamily="18" charset="0"/>
                        </a:rPr>
                        <m:t>=</m:t>
                      </m:r>
                      <m:d>
                        <m:dPr>
                          <m:ctrlPr>
                            <a:rPr lang="en-GB" i="1" dirty="0">
                              <a:latin typeface="Cambria Math" panose="02040503050406030204" pitchFamily="18" charset="0"/>
                            </a:rPr>
                          </m:ctrlPr>
                        </m:dPr>
                        <m:e>
                          <m:m>
                            <m:mPr>
                              <m:mcs>
                                <m:mc>
                                  <m:mcPr>
                                    <m:count m:val="1"/>
                                    <m:mcJc m:val="center"/>
                                  </m:mcPr>
                                </m:mc>
                              </m:mcs>
                              <m:ctrlPr>
                                <a:rPr lang="en-GB" i="1" dirty="0">
                                  <a:latin typeface="Cambria Math" panose="02040503050406030204" pitchFamily="18" charset="0"/>
                                </a:rPr>
                              </m:ctrlPr>
                            </m:mPr>
                            <m:mr>
                              <m:e>
                                <m:sSup>
                                  <m:sSupPr>
                                    <m:ctrlPr>
                                      <a:rPr lang="en-GB" b="0" i="1" dirty="0" smtClean="0">
                                        <a:latin typeface="Cambria Math" panose="02040503050406030204" pitchFamily="18" charset="0"/>
                                      </a:rPr>
                                    </m:ctrlPr>
                                  </m:sSupPr>
                                  <m:e>
                                    <m:r>
                                      <m:rPr>
                                        <m:brk m:alnAt="7"/>
                                      </m:rPr>
                                      <a:rPr lang="en-GB" b="0" i="1" dirty="0" smtClean="0">
                                        <a:latin typeface="Cambria Math" panose="02040503050406030204" pitchFamily="18" charset="0"/>
                                      </a:rPr>
                                      <m:t>𝑎</m:t>
                                    </m:r>
                                  </m:e>
                                  <m:sup>
                                    <m:r>
                                      <m:rPr>
                                        <m:brk m:alnAt="7"/>
                                      </m:rPr>
                                      <a:rPr lang="en-GB" b="0" i="1" dirty="0" smtClean="0">
                                        <a:latin typeface="Cambria Math" panose="02040503050406030204" pitchFamily="18" charset="0"/>
                                      </a:rPr>
                                      <m:t>∗</m:t>
                                    </m:r>
                                  </m:sup>
                                </m:sSup>
                                <m:sSub>
                                  <m:sSubPr>
                                    <m:ctrlPr>
                                      <a:rPr lang="en-GB" b="0" i="1" dirty="0" smtClean="0">
                                        <a:latin typeface="Cambria Math" panose="02040503050406030204" pitchFamily="18" charset="0"/>
                                      </a:rPr>
                                    </m:ctrlPr>
                                  </m:sSubPr>
                                  <m:e>
                                    <m:r>
                                      <m:rPr>
                                        <m:brk m:alnAt="7"/>
                                      </m:rPr>
                                      <a:rPr lang="en-GB" b="0" i="1" dirty="0" smtClean="0">
                                        <a:latin typeface="Cambria Math" panose="02040503050406030204" pitchFamily="18" charset="0"/>
                                      </a:rPr>
                                      <m:t>𝑥</m:t>
                                    </m:r>
                                  </m:e>
                                  <m:sub>
                                    <m:r>
                                      <m:rPr>
                                        <m:brk m:alnAt="7"/>
                                      </m:rPr>
                                      <a:rPr lang="en-GB" b="0" i="1" dirty="0" smtClean="0">
                                        <a:latin typeface="Cambria Math" panose="02040503050406030204" pitchFamily="18" charset="0"/>
                                      </a:rPr>
                                      <m:t>1</m:t>
                                    </m:r>
                                  </m:sub>
                                </m:sSub>
                                <m:r>
                                  <m:rPr>
                                    <m:brk m:alnAt="7"/>
                                  </m:rPr>
                                  <a:rPr lang="en-GB" b="0" i="1" dirty="0" smtClean="0">
                                    <a:latin typeface="Cambria Math" panose="02040503050406030204" pitchFamily="18" charset="0"/>
                                  </a:rPr>
                                  <m:t>+</m:t>
                                </m:r>
                                <m:sSup>
                                  <m:sSupPr>
                                    <m:ctrlPr>
                                      <a:rPr lang="en-GB" b="0" i="1" dirty="0" smtClean="0">
                                        <a:latin typeface="Cambria Math" panose="02040503050406030204" pitchFamily="18" charset="0"/>
                                      </a:rPr>
                                    </m:ctrlPr>
                                  </m:sSupPr>
                                  <m:e>
                                    <m:r>
                                      <m:rPr>
                                        <m:brk m:alnAt="7"/>
                                      </m:rPr>
                                      <a:rPr lang="en-GB" b="0" i="1" dirty="0" smtClean="0">
                                        <a:latin typeface="Cambria Math" panose="02040503050406030204" pitchFamily="18" charset="0"/>
                                      </a:rPr>
                                      <m:t>𝑏</m:t>
                                    </m:r>
                                  </m:e>
                                  <m:sup>
                                    <m:r>
                                      <m:rPr>
                                        <m:brk m:alnAt="7"/>
                                      </m:rPr>
                                      <a:rPr lang="en-GB" b="0" i="1" dirty="0" smtClean="0">
                                        <a:latin typeface="Cambria Math" panose="02040503050406030204" pitchFamily="18" charset="0"/>
                                      </a:rPr>
                                      <m:t>∗</m:t>
                                    </m:r>
                                  </m:sup>
                                </m:sSup>
                                <m:r>
                                  <m:rPr>
                                    <m:brk m:alnAt="7"/>
                                  </m:rPr>
                                  <a:rPr lang="en-GB" i="1" dirty="0">
                                    <a:latin typeface="Cambria Math" panose="02040503050406030204" pitchFamily="18" charset="0"/>
                                  </a:rPr>
                                  <m:t> </m:t>
                                </m:r>
                              </m:e>
                            </m:mr>
                            <m:mr>
                              <m:e>
                                <m:r>
                                  <a:rPr lang="en-GB" i="1" dirty="0">
                                    <a:latin typeface="Cambria Math" panose="02040503050406030204" pitchFamily="18" charset="0"/>
                                  </a:rPr>
                                  <m:t>…</m:t>
                                </m:r>
                              </m:e>
                            </m:mr>
                            <m:mr>
                              <m:e>
                                <m:sSup>
                                  <m:sSupPr>
                                    <m:ctrlPr>
                                      <a:rPr lang="en-GB" i="1" dirty="0">
                                        <a:latin typeface="Cambria Math" panose="02040503050406030204" pitchFamily="18" charset="0"/>
                                      </a:rPr>
                                    </m:ctrlPr>
                                  </m:sSupPr>
                                  <m:e>
                                    <m:r>
                                      <m:rPr>
                                        <m:brk m:alnAt="7"/>
                                      </m:rPr>
                                      <a:rPr lang="en-GB" i="1" dirty="0">
                                        <a:latin typeface="Cambria Math" panose="02040503050406030204" pitchFamily="18" charset="0"/>
                                      </a:rPr>
                                      <m:t>𝑎</m:t>
                                    </m:r>
                                  </m:e>
                                  <m:sup>
                                    <m:r>
                                      <m:rPr>
                                        <m:brk m:alnAt="7"/>
                                      </m:rPr>
                                      <a:rPr lang="en-GB" i="1" dirty="0">
                                        <a:latin typeface="Cambria Math" panose="02040503050406030204" pitchFamily="18" charset="0"/>
                                      </a:rPr>
                                      <m:t>∗</m:t>
                                    </m:r>
                                  </m:sup>
                                </m:sSup>
                                <m:sSub>
                                  <m:sSubPr>
                                    <m:ctrlPr>
                                      <a:rPr lang="en-GB" i="1" dirty="0">
                                        <a:latin typeface="Cambria Math" panose="02040503050406030204" pitchFamily="18" charset="0"/>
                                      </a:rPr>
                                    </m:ctrlPr>
                                  </m:sSubPr>
                                  <m:e>
                                    <m:r>
                                      <m:rPr>
                                        <m:brk m:alnAt="7"/>
                                      </m:rPr>
                                      <a:rPr lang="en-GB" i="1" dirty="0">
                                        <a:latin typeface="Cambria Math" panose="02040503050406030204" pitchFamily="18" charset="0"/>
                                      </a:rPr>
                                      <m:t>𝑥</m:t>
                                    </m:r>
                                  </m:e>
                                  <m:sub>
                                    <m:r>
                                      <a:rPr lang="en-GB" b="0" i="1" dirty="0" smtClean="0">
                                        <a:latin typeface="Cambria Math" panose="02040503050406030204" pitchFamily="18" charset="0"/>
                                      </a:rPr>
                                      <m:t>𝑁</m:t>
                                    </m:r>
                                  </m:sub>
                                </m:sSub>
                                <m:r>
                                  <m:rPr>
                                    <m:brk m:alnAt="7"/>
                                  </m:rPr>
                                  <a:rPr lang="en-GB" i="1" dirty="0">
                                    <a:latin typeface="Cambria Math" panose="02040503050406030204" pitchFamily="18" charset="0"/>
                                  </a:rPr>
                                  <m:t>+</m:t>
                                </m:r>
                                <m:sSup>
                                  <m:sSupPr>
                                    <m:ctrlPr>
                                      <a:rPr lang="en-GB" i="1" dirty="0">
                                        <a:latin typeface="Cambria Math" panose="02040503050406030204" pitchFamily="18" charset="0"/>
                                      </a:rPr>
                                    </m:ctrlPr>
                                  </m:sSupPr>
                                  <m:e>
                                    <m:r>
                                      <m:rPr>
                                        <m:brk m:alnAt="7"/>
                                      </m:rPr>
                                      <a:rPr lang="en-GB" i="1" dirty="0">
                                        <a:latin typeface="Cambria Math" panose="02040503050406030204" pitchFamily="18" charset="0"/>
                                      </a:rPr>
                                      <m:t>𝑏</m:t>
                                    </m:r>
                                  </m:e>
                                  <m:sup>
                                    <m:r>
                                      <m:rPr>
                                        <m:brk m:alnAt="7"/>
                                      </m:rPr>
                                      <a:rPr lang="en-GB" i="1" dirty="0">
                                        <a:latin typeface="Cambria Math" panose="02040503050406030204" pitchFamily="18" charset="0"/>
                                      </a:rPr>
                                      <m:t>∗</m:t>
                                    </m:r>
                                  </m:sup>
                                </m:sSup>
                              </m:e>
                            </m:mr>
                          </m:m>
                        </m:e>
                      </m:d>
                    </m:oMath>
                  </m:oMathPara>
                </a14:m>
                <a:endParaRPr lang="en-SG" dirty="0"/>
              </a:p>
              <a:p>
                <a:pPr marL="0" indent="0">
                  <a:buNone/>
                </a:pPr>
                <a:endParaRPr lang="en-SG" dirty="0"/>
              </a:p>
              <a:p>
                <a:pPr marL="0" indent="0">
                  <a:buNone/>
                </a:pPr>
                <a:r>
                  <a:rPr lang="en-SG" dirty="0"/>
                  <a:t>And, then it follows that</a:t>
                </a:r>
              </a:p>
              <a:p>
                <a:pPr marL="0" indent="0">
                  <a:buNone/>
                </a:pPr>
                <a:endParaRPr lang="en-SG" dirty="0"/>
              </a:p>
              <a:p>
                <a:pPr marL="0" indent="0">
                  <a:buNone/>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b="0" i="1" dirty="0" smtClean="0">
                          <a:latin typeface="Cambria Math" panose="02040503050406030204" pitchFamily="18" charset="0"/>
                        </a:rPr>
                        <m:t>−</m:t>
                      </m:r>
                      <m:r>
                        <a:rPr lang="en-GB" b="0" i="1" dirty="0" smtClean="0">
                          <a:latin typeface="Cambria Math" panose="02040503050406030204" pitchFamily="18" charset="0"/>
                        </a:rPr>
                        <m:t>𝑌</m:t>
                      </m:r>
                      <m:r>
                        <a:rPr lang="en-SG" i="1" dirty="0">
                          <a:latin typeface="Cambria Math" panose="02040503050406030204" pitchFamily="18" charset="0"/>
                        </a:rPr>
                        <m:t>=</m:t>
                      </m:r>
                      <m:d>
                        <m:dPr>
                          <m:ctrlPr>
                            <a:rPr lang="en-GB" i="1" dirty="0">
                              <a:latin typeface="Cambria Math" panose="02040503050406030204" pitchFamily="18" charset="0"/>
                            </a:rPr>
                          </m:ctrlPr>
                        </m:dPr>
                        <m:e>
                          <m:m>
                            <m:mPr>
                              <m:mcs>
                                <m:mc>
                                  <m:mcPr>
                                    <m:count m:val="1"/>
                                    <m:mcJc m:val="center"/>
                                  </m:mcPr>
                                </m:mc>
                              </m:mcs>
                              <m:ctrlPr>
                                <a:rPr lang="en-GB" i="1" dirty="0">
                                  <a:latin typeface="Cambria Math" panose="02040503050406030204" pitchFamily="18" charset="0"/>
                                </a:rPr>
                              </m:ctrlPr>
                            </m:mPr>
                            <m:mr>
                              <m:e>
                                <m:sSup>
                                  <m:sSupPr>
                                    <m:ctrlPr>
                                      <a:rPr lang="en-GB" b="0" i="1" dirty="0" smtClean="0">
                                        <a:latin typeface="Cambria Math" panose="02040503050406030204" pitchFamily="18" charset="0"/>
                                      </a:rPr>
                                    </m:ctrlPr>
                                  </m:sSupPr>
                                  <m:e>
                                    <m:r>
                                      <m:rPr>
                                        <m:brk m:alnAt="7"/>
                                      </m:rPr>
                                      <a:rPr lang="en-GB" b="0" i="1" dirty="0" smtClean="0">
                                        <a:latin typeface="Cambria Math" panose="02040503050406030204" pitchFamily="18" charset="0"/>
                                      </a:rPr>
                                      <m:t>𝑎</m:t>
                                    </m:r>
                                  </m:e>
                                  <m:sup>
                                    <m:r>
                                      <m:rPr>
                                        <m:brk m:alnAt="7"/>
                                      </m:rPr>
                                      <a:rPr lang="en-GB" b="0" i="1" dirty="0" smtClean="0">
                                        <a:latin typeface="Cambria Math" panose="02040503050406030204" pitchFamily="18" charset="0"/>
                                      </a:rPr>
                                      <m:t>∗</m:t>
                                    </m:r>
                                  </m:sup>
                                </m:sSup>
                                <m:sSub>
                                  <m:sSubPr>
                                    <m:ctrlPr>
                                      <a:rPr lang="en-GB" b="0" i="1" dirty="0" smtClean="0">
                                        <a:latin typeface="Cambria Math" panose="02040503050406030204" pitchFamily="18" charset="0"/>
                                      </a:rPr>
                                    </m:ctrlPr>
                                  </m:sSubPr>
                                  <m:e>
                                    <m:r>
                                      <m:rPr>
                                        <m:brk m:alnAt="7"/>
                                      </m:rPr>
                                      <a:rPr lang="en-GB" b="0" i="1" dirty="0" smtClean="0">
                                        <a:latin typeface="Cambria Math" panose="02040503050406030204" pitchFamily="18" charset="0"/>
                                      </a:rPr>
                                      <m:t>𝑥</m:t>
                                    </m:r>
                                  </m:e>
                                  <m:sub>
                                    <m:r>
                                      <m:rPr>
                                        <m:brk m:alnAt="7"/>
                                      </m:rPr>
                                      <a:rPr lang="en-GB" b="0" i="1" dirty="0" smtClean="0">
                                        <a:latin typeface="Cambria Math" panose="02040503050406030204" pitchFamily="18" charset="0"/>
                                      </a:rPr>
                                      <m:t>1</m:t>
                                    </m:r>
                                  </m:sub>
                                </m:sSub>
                                <m:r>
                                  <m:rPr>
                                    <m:brk m:alnAt="7"/>
                                  </m:rPr>
                                  <a:rPr lang="en-GB" b="0" i="1" dirty="0" smtClean="0">
                                    <a:latin typeface="Cambria Math" panose="02040503050406030204" pitchFamily="18" charset="0"/>
                                  </a:rPr>
                                  <m:t>+</m:t>
                                </m:r>
                                <m:sSup>
                                  <m:sSupPr>
                                    <m:ctrlPr>
                                      <a:rPr lang="en-GB" b="0" i="1" dirty="0" smtClean="0">
                                        <a:latin typeface="Cambria Math" panose="02040503050406030204" pitchFamily="18" charset="0"/>
                                      </a:rPr>
                                    </m:ctrlPr>
                                  </m:sSupPr>
                                  <m:e>
                                    <m:r>
                                      <m:rPr>
                                        <m:brk m:alnAt="7"/>
                                      </m:rPr>
                                      <a:rPr lang="en-GB" b="0" i="1" dirty="0" smtClean="0">
                                        <a:latin typeface="Cambria Math" panose="02040503050406030204" pitchFamily="18" charset="0"/>
                                      </a:rPr>
                                      <m:t>𝑏</m:t>
                                    </m:r>
                                  </m:e>
                                  <m:sup>
                                    <m:r>
                                      <m:rPr>
                                        <m:brk m:alnAt="7"/>
                                      </m:rPr>
                                      <a:rPr lang="en-GB" b="0" i="1" dirty="0" smtClean="0">
                                        <a:latin typeface="Cambria Math" panose="02040503050406030204" pitchFamily="18" charset="0"/>
                                      </a:rPr>
                                      <m:t>∗</m:t>
                                    </m:r>
                                  </m:sup>
                                </m:sSup>
                                <m:r>
                                  <m:rPr>
                                    <m:brk m:alnAt="7"/>
                                  </m:rPr>
                                  <a:rPr lang="en-GB" i="1" dirty="0">
                                    <a:latin typeface="Cambria Math" panose="02040503050406030204" pitchFamily="18" charset="0"/>
                                  </a:rPr>
                                  <m:t> </m:t>
                                </m:r>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m:rPr>
                                        <m:brk m:alnAt="7"/>
                                      </m:rPr>
                                      <a:rPr lang="en-GB" b="0" i="1" dirty="0" smtClean="0">
                                        <a:latin typeface="Cambria Math" panose="02040503050406030204" pitchFamily="18" charset="0"/>
                                      </a:rPr>
                                      <m:t>𝑦</m:t>
                                    </m:r>
                                  </m:e>
                                  <m:sub>
                                    <m:r>
                                      <m:rPr>
                                        <m:brk m:alnAt="7"/>
                                      </m:rPr>
                                      <a:rPr lang="en-GB" b="0" i="1" dirty="0" smtClean="0">
                                        <a:latin typeface="Cambria Math" panose="02040503050406030204" pitchFamily="18" charset="0"/>
                                      </a:rPr>
                                      <m:t>1</m:t>
                                    </m:r>
                                  </m:sub>
                                </m:sSub>
                              </m:e>
                            </m:mr>
                            <m:mr>
                              <m:e>
                                <m:r>
                                  <a:rPr lang="en-GB" i="1" dirty="0">
                                    <a:latin typeface="Cambria Math" panose="02040503050406030204" pitchFamily="18" charset="0"/>
                                  </a:rPr>
                                  <m:t>…</m:t>
                                </m:r>
                              </m:e>
                            </m:mr>
                            <m:mr>
                              <m:e>
                                <m:sSup>
                                  <m:sSupPr>
                                    <m:ctrlPr>
                                      <a:rPr lang="en-GB" i="1" dirty="0">
                                        <a:latin typeface="Cambria Math" panose="02040503050406030204" pitchFamily="18" charset="0"/>
                                      </a:rPr>
                                    </m:ctrlPr>
                                  </m:sSupPr>
                                  <m:e>
                                    <m:r>
                                      <m:rPr>
                                        <m:brk m:alnAt="7"/>
                                      </m:rPr>
                                      <a:rPr lang="en-GB" i="1" dirty="0">
                                        <a:latin typeface="Cambria Math" panose="02040503050406030204" pitchFamily="18" charset="0"/>
                                      </a:rPr>
                                      <m:t>𝑎</m:t>
                                    </m:r>
                                  </m:e>
                                  <m:sup>
                                    <m:r>
                                      <m:rPr>
                                        <m:brk m:alnAt="7"/>
                                      </m:rPr>
                                      <a:rPr lang="en-GB" i="1" dirty="0">
                                        <a:latin typeface="Cambria Math" panose="02040503050406030204" pitchFamily="18" charset="0"/>
                                      </a:rPr>
                                      <m:t>∗</m:t>
                                    </m:r>
                                  </m:sup>
                                </m:sSup>
                                <m:sSub>
                                  <m:sSubPr>
                                    <m:ctrlPr>
                                      <a:rPr lang="en-GB" i="1" dirty="0">
                                        <a:latin typeface="Cambria Math" panose="02040503050406030204" pitchFamily="18" charset="0"/>
                                      </a:rPr>
                                    </m:ctrlPr>
                                  </m:sSubPr>
                                  <m:e>
                                    <m:r>
                                      <m:rPr>
                                        <m:brk m:alnAt="7"/>
                                      </m:rPr>
                                      <a:rPr lang="en-GB" i="1" dirty="0">
                                        <a:latin typeface="Cambria Math" panose="02040503050406030204" pitchFamily="18" charset="0"/>
                                      </a:rPr>
                                      <m:t>𝑥</m:t>
                                    </m:r>
                                  </m:e>
                                  <m:sub>
                                    <m:r>
                                      <a:rPr lang="en-GB" b="0" i="1" dirty="0" smtClean="0">
                                        <a:latin typeface="Cambria Math" panose="02040503050406030204" pitchFamily="18" charset="0"/>
                                      </a:rPr>
                                      <m:t>𝑁</m:t>
                                    </m:r>
                                  </m:sub>
                                </m:sSub>
                                <m:r>
                                  <m:rPr>
                                    <m:brk m:alnAt="7"/>
                                  </m:rPr>
                                  <a:rPr lang="en-GB" i="1" dirty="0">
                                    <a:latin typeface="Cambria Math" panose="02040503050406030204" pitchFamily="18" charset="0"/>
                                  </a:rPr>
                                  <m:t>+</m:t>
                                </m:r>
                                <m:sSup>
                                  <m:sSupPr>
                                    <m:ctrlPr>
                                      <a:rPr lang="en-GB" i="1" dirty="0">
                                        <a:latin typeface="Cambria Math" panose="02040503050406030204" pitchFamily="18" charset="0"/>
                                      </a:rPr>
                                    </m:ctrlPr>
                                  </m:sSupPr>
                                  <m:e>
                                    <m:r>
                                      <m:rPr>
                                        <m:brk m:alnAt="7"/>
                                      </m:rPr>
                                      <a:rPr lang="en-GB" i="1" dirty="0">
                                        <a:latin typeface="Cambria Math" panose="02040503050406030204" pitchFamily="18" charset="0"/>
                                      </a:rPr>
                                      <m:t>𝑏</m:t>
                                    </m:r>
                                  </m:e>
                                  <m:sup>
                                    <m:r>
                                      <m:rPr>
                                        <m:brk m:alnAt="7"/>
                                      </m:rPr>
                                      <a:rPr lang="en-GB" i="1" dirty="0">
                                        <a:latin typeface="Cambria Math" panose="02040503050406030204" pitchFamily="18" charset="0"/>
                                      </a:rPr>
                                      <m:t>∗</m:t>
                                    </m:r>
                                  </m:sup>
                                </m:sSup>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𝑦</m:t>
                                    </m:r>
                                  </m:e>
                                  <m:sub>
                                    <m:r>
                                      <a:rPr lang="en-GB" b="0" i="1" dirty="0" smtClean="0">
                                        <a:latin typeface="Cambria Math" panose="02040503050406030204" pitchFamily="18" charset="0"/>
                                      </a:rPr>
                                      <m:t>𝑁</m:t>
                                    </m:r>
                                  </m:sub>
                                </m:sSub>
                              </m:e>
                            </m:mr>
                          </m:m>
                        </m:e>
                      </m:d>
                    </m:oMath>
                  </m:oMathPara>
                </a14:m>
                <a:endParaRPr lang="en-SG" dirty="0"/>
              </a:p>
              <a:p>
                <a:pPr marL="0" indent="0">
                  <a:buNone/>
                </a:pPr>
                <a:endParaRPr lang="en-SG" dirty="0"/>
              </a:p>
              <a:p>
                <a:endParaRPr lang="en-SG" dirty="0"/>
              </a:p>
            </p:txBody>
          </p:sp>
        </mc:Choice>
        <mc:Fallback xmlns="">
          <p:sp>
            <p:nvSpPr>
              <p:cNvPr id="4" name="Content Placeholder 3">
                <a:extLst>
                  <a:ext uri="{FF2B5EF4-FFF2-40B4-BE49-F238E27FC236}">
                    <a16:creationId xmlns:a16="http://schemas.microsoft.com/office/drawing/2014/main" id="{4CF294D0-D63F-64BD-C8CA-F086C4E339BC}"/>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3"/>
                <a:stretch>
                  <a:fillRect l="-2471" t="-1937"/>
                </a:stretch>
              </a:blipFill>
            </p:spPr>
            <p:txBody>
              <a:bodyPr/>
              <a:lstStyle/>
              <a:p>
                <a:r>
                  <a:rPr lang="en-SG">
                    <a:noFill/>
                  </a:rPr>
                  <a:t> </a:t>
                </a:r>
              </a:p>
            </p:txBody>
          </p:sp>
        </mc:Fallback>
      </mc:AlternateContent>
    </p:spTree>
    <p:extLst>
      <p:ext uri="{BB962C8B-B14F-4D97-AF65-F5344CB8AC3E}">
        <p14:creationId xmlns:p14="http://schemas.microsoft.com/office/powerpoint/2010/main" val="374874056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11D84-49CF-5C63-413C-4F8FC4B27F8A}"/>
              </a:ext>
            </a:extLst>
          </p:cNvPr>
          <p:cNvSpPr>
            <a:spLocks noGrp="1"/>
          </p:cNvSpPr>
          <p:nvPr>
            <p:ph type="title"/>
          </p:nvPr>
        </p:nvSpPr>
        <p:spPr/>
        <p:txBody>
          <a:bodyPr/>
          <a:lstStyle/>
          <a:p>
            <a:r>
              <a:rPr lang="en-GB" dirty="0"/>
              <a:t>Proof of the Normal Equation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8B913BE-9D0F-C6F5-D2AA-F7829400A0CA}"/>
                  </a:ext>
                </a:extLst>
              </p:cNvPr>
              <p:cNvSpPr>
                <a:spLocks noGrp="1"/>
              </p:cNvSpPr>
              <p:nvPr>
                <p:ph idx="1"/>
              </p:nvPr>
            </p:nvSpPr>
            <p:spPr/>
            <p:txBody>
              <a:bodyPr>
                <a:normAutofit/>
              </a:bodyPr>
              <a:lstStyle/>
              <a:p>
                <a:pPr marL="0" indent="0">
                  <a:buNone/>
                </a:pPr>
                <a:r>
                  <a:rPr lang="en-GB" dirty="0"/>
                  <a:t>Our loss function, the MSE </a:t>
                </a:r>
                <a14:m>
                  <m:oMath xmlns:m="http://schemas.openxmlformats.org/officeDocument/2006/math">
                    <m:r>
                      <a:rPr lang="en-GB" i="1" dirty="0" smtClean="0">
                        <a:latin typeface="Cambria Math" panose="02040503050406030204" pitchFamily="18" charset="0"/>
                      </a:rPr>
                      <m:t>𝐿</m:t>
                    </m:r>
                  </m:oMath>
                </a14:m>
                <a:r>
                  <a:rPr lang="en-GB" dirty="0"/>
                  <a:t>, is therefore defined, in matrix format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𝐿</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𝑁</m:t>
                          </m:r>
                        </m:den>
                      </m:f>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i="1" dirty="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i="1" dirty="0">
                                  <a:latin typeface="Cambria Math" panose="02040503050406030204" pitchFamily="18" charset="0"/>
                                </a:rPr>
                                <m:t>−</m:t>
                              </m:r>
                              <m:r>
                                <a:rPr lang="en-GB" i="1" dirty="0">
                                  <a:latin typeface="Cambria Math" panose="02040503050406030204" pitchFamily="18" charset="0"/>
                                </a:rPr>
                                <m:t>𝑌</m:t>
                              </m:r>
                            </m:e>
                          </m:d>
                        </m:e>
                        <m:sup>
                          <m:r>
                            <a:rPr lang="en-GB" b="0" i="1" smtClean="0">
                              <a:latin typeface="Cambria Math" panose="02040503050406030204" pitchFamily="18" charset="0"/>
                            </a:rPr>
                            <m:t>𝑇</m:t>
                          </m:r>
                        </m:sup>
                      </m:sSup>
                      <m:d>
                        <m:dPr>
                          <m:ctrlPr>
                            <a:rPr lang="en-GB" b="0" i="1" smtClean="0">
                              <a:latin typeface="Cambria Math" panose="02040503050406030204" pitchFamily="18" charset="0"/>
                            </a:rPr>
                          </m:ctrlPr>
                        </m:dPr>
                        <m:e>
                          <m:r>
                            <a:rPr lang="en-GB" i="1" dirty="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i="1" dirty="0">
                              <a:latin typeface="Cambria Math" panose="02040503050406030204" pitchFamily="18" charset="0"/>
                            </a:rPr>
                            <m:t>−</m:t>
                          </m:r>
                          <m:r>
                            <a:rPr lang="en-GB" i="1" dirty="0">
                              <a:latin typeface="Cambria Math" panose="02040503050406030204" pitchFamily="18" charset="0"/>
                            </a:rPr>
                            <m:t>𝑌</m:t>
                          </m:r>
                        </m:e>
                      </m:d>
                      <m:r>
                        <a:rPr lang="en-GB" b="0" i="1" smtClean="0">
                          <a:latin typeface="Cambria Math" panose="02040503050406030204" pitchFamily="18" charset="0"/>
                        </a:rPr>
                        <m:t> </m:t>
                      </m:r>
                    </m:oMath>
                  </m:oMathPara>
                </a14:m>
                <a:endParaRPr lang="en-GB" b="0" dirty="0"/>
              </a:p>
              <a:p>
                <a:pPr marL="0" indent="0">
                  <a:buNone/>
                </a:pPr>
                <a:endParaRPr lang="en-GB" dirty="0"/>
              </a:p>
              <a:p>
                <a:pPr marL="0" indent="0">
                  <a:buNone/>
                </a:pPr>
                <a:r>
                  <a:rPr lang="en-GB" dirty="0"/>
                  <a:t>This is equivalent to</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𝐿</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𝑁</m:t>
                          </m:r>
                        </m:den>
                      </m:f>
                      <m:d>
                        <m:dPr>
                          <m:ctrlPr>
                            <a:rPr lang="en-GB" b="0" i="1" smtClean="0">
                              <a:latin typeface="Cambria Math" panose="02040503050406030204" pitchFamily="18" charset="0"/>
                            </a:rPr>
                          </m:ctrlPr>
                        </m:dPr>
                        <m:e>
                          <m:sSup>
                            <m:sSupPr>
                              <m:ctrlPr>
                                <a:rPr lang="en-GB" i="1" dirty="0">
                                  <a:latin typeface="Cambria Math" panose="02040503050406030204" pitchFamily="18" charset="0"/>
                                </a:rPr>
                              </m:ctrlPr>
                            </m:sSupPr>
                            <m:e>
                              <m:d>
                                <m:dPr>
                                  <m:ctrlPr>
                                    <a:rPr lang="en-GB" i="1">
                                      <a:latin typeface="Cambria Math" panose="02040503050406030204" pitchFamily="18" charset="0"/>
                                    </a:rPr>
                                  </m:ctrlPr>
                                </m:dPr>
                                <m:e>
                                  <m:r>
                                    <a:rPr lang="en-GB" i="1" dirty="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e>
                              </m:d>
                            </m:e>
                            <m:sup>
                              <m:r>
                                <a:rPr lang="en-GB" i="1" dirty="0">
                                  <a:latin typeface="Cambria Math" panose="02040503050406030204" pitchFamily="18" charset="0"/>
                                </a:rPr>
                                <m:t>𝑇</m:t>
                              </m:r>
                            </m:sup>
                          </m:sSup>
                          <m:r>
                            <a:rPr lang="en-GB" i="1" dirty="0">
                              <a:latin typeface="Cambria Math" panose="02040503050406030204" pitchFamily="18" charset="0"/>
                            </a:rPr>
                            <m:t>−</m:t>
                          </m:r>
                          <m:sSup>
                            <m:sSupPr>
                              <m:ctrlPr>
                                <a:rPr lang="en-GB" i="1" dirty="0">
                                  <a:latin typeface="Cambria Math" panose="02040503050406030204" pitchFamily="18" charset="0"/>
                                </a:rPr>
                              </m:ctrlPr>
                            </m:sSupPr>
                            <m:e>
                              <m:r>
                                <a:rPr lang="en-GB" i="1" dirty="0">
                                  <a:latin typeface="Cambria Math" panose="02040503050406030204" pitchFamily="18" charset="0"/>
                                </a:rPr>
                                <m:t>𝑌</m:t>
                              </m:r>
                            </m:e>
                            <m:sup>
                              <m:r>
                                <a:rPr lang="en-GB" i="1" dirty="0">
                                  <a:latin typeface="Cambria Math" panose="02040503050406030204" pitchFamily="18" charset="0"/>
                                </a:rPr>
                                <m:t>𝑇</m:t>
                              </m:r>
                            </m:sup>
                          </m:sSup>
                        </m:e>
                      </m:d>
                      <m:d>
                        <m:dPr>
                          <m:ctrlPr>
                            <a:rPr lang="en-GB" b="0" i="1" smtClean="0">
                              <a:latin typeface="Cambria Math" panose="02040503050406030204" pitchFamily="18" charset="0"/>
                            </a:rPr>
                          </m:ctrlPr>
                        </m:dPr>
                        <m:e>
                          <m:r>
                            <a:rPr lang="en-GB" i="1" dirty="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i="1" dirty="0">
                              <a:latin typeface="Cambria Math" panose="02040503050406030204" pitchFamily="18" charset="0"/>
                            </a:rPr>
                            <m:t>−</m:t>
                          </m:r>
                          <m:r>
                            <a:rPr lang="en-GB" i="1" dirty="0">
                              <a:latin typeface="Cambria Math" panose="02040503050406030204" pitchFamily="18" charset="0"/>
                            </a:rPr>
                            <m:t>𝑌</m:t>
                          </m:r>
                        </m:e>
                      </m:d>
                    </m:oMath>
                  </m:oMathPara>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F8B913BE-9D0F-C6F5-D2AA-F7829400A0CA}"/>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73983786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11D84-49CF-5C63-413C-4F8FC4B27F8A}"/>
              </a:ext>
            </a:extLst>
          </p:cNvPr>
          <p:cNvSpPr>
            <a:spLocks noGrp="1"/>
          </p:cNvSpPr>
          <p:nvPr>
            <p:ph type="title"/>
          </p:nvPr>
        </p:nvSpPr>
        <p:spPr/>
        <p:txBody>
          <a:bodyPr/>
          <a:lstStyle/>
          <a:p>
            <a:r>
              <a:rPr lang="en-GB" dirty="0"/>
              <a:t>Proof of the Normal Equation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8B913BE-9D0F-C6F5-D2AA-F7829400A0CA}"/>
                  </a:ext>
                </a:extLst>
              </p:cNvPr>
              <p:cNvSpPr>
                <a:spLocks noGrp="1"/>
              </p:cNvSpPr>
              <p:nvPr>
                <p:ph idx="1"/>
              </p:nvPr>
            </p:nvSpPr>
            <p:spPr/>
            <p:txBody>
              <a:bodyPr>
                <a:normAutofit/>
              </a:bodyPr>
              <a:lstStyle/>
              <a:p>
                <a:pPr marL="0" indent="0">
                  <a:buNone/>
                </a:pPr>
                <a:r>
                  <a:rPr lang="en-GB" dirty="0"/>
                  <a:t>We then get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𝐿</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𝑁</m:t>
                          </m:r>
                        </m:den>
                      </m:f>
                      <m:d>
                        <m:dPr>
                          <m:ctrlPr>
                            <a:rPr lang="en-GB" i="1">
                              <a:latin typeface="Cambria Math" panose="02040503050406030204" pitchFamily="18" charset="0"/>
                            </a:rPr>
                          </m:ctrlPr>
                        </m:dPr>
                        <m:e>
                          <m:sSup>
                            <m:sSupPr>
                              <m:ctrlPr>
                                <a:rPr lang="en-GB" i="1" dirty="0">
                                  <a:latin typeface="Cambria Math" panose="02040503050406030204" pitchFamily="18" charset="0"/>
                                </a:rPr>
                              </m:ctrlPr>
                            </m:sSupPr>
                            <m:e>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e>
                            <m:sup>
                              <m:r>
                                <a:rPr lang="en-GB" i="1" dirty="0">
                                  <a:latin typeface="Cambria Math" panose="02040503050406030204" pitchFamily="18" charset="0"/>
                                </a:rPr>
                                <m:t>𝑇</m:t>
                              </m:r>
                            </m:sup>
                          </m:sSup>
                          <m:sSup>
                            <m:sSupPr>
                              <m:ctrlPr>
                                <a:rPr lang="en-GB" i="1" dirty="0">
                                  <a:latin typeface="Cambria Math" panose="02040503050406030204" pitchFamily="18" charset="0"/>
                                </a:rPr>
                              </m:ctrlPr>
                            </m:sSupPr>
                            <m:e>
                              <m:r>
                                <a:rPr lang="en-GB" i="1" dirty="0">
                                  <a:latin typeface="Cambria Math" panose="02040503050406030204" pitchFamily="18" charset="0"/>
                                </a:rPr>
                                <m:t>𝑋</m:t>
                              </m:r>
                            </m:e>
                            <m:sup>
                              <m:r>
                                <a:rPr lang="en-GB" i="1" dirty="0">
                                  <a:latin typeface="Cambria Math" panose="02040503050406030204" pitchFamily="18" charset="0"/>
                                </a:rPr>
                                <m:t>𝑇</m:t>
                              </m:r>
                            </m:sup>
                          </m:sSup>
                          <m:r>
                            <a:rPr lang="en-GB" i="1" dirty="0">
                              <a:latin typeface="Cambria Math" panose="02040503050406030204" pitchFamily="18" charset="0"/>
                            </a:rPr>
                            <m:t>−</m:t>
                          </m:r>
                          <m:sSup>
                            <m:sSupPr>
                              <m:ctrlPr>
                                <a:rPr lang="en-GB" i="1" dirty="0">
                                  <a:latin typeface="Cambria Math" panose="02040503050406030204" pitchFamily="18" charset="0"/>
                                </a:rPr>
                              </m:ctrlPr>
                            </m:sSupPr>
                            <m:e>
                              <m:r>
                                <a:rPr lang="en-GB" i="1" dirty="0">
                                  <a:latin typeface="Cambria Math" panose="02040503050406030204" pitchFamily="18" charset="0"/>
                                </a:rPr>
                                <m:t>𝑌</m:t>
                              </m:r>
                            </m:e>
                            <m:sup>
                              <m:r>
                                <a:rPr lang="en-GB" i="1" dirty="0">
                                  <a:latin typeface="Cambria Math" panose="02040503050406030204" pitchFamily="18" charset="0"/>
                                </a:rPr>
                                <m:t>𝑇</m:t>
                              </m:r>
                            </m:sup>
                          </m:sSup>
                        </m:e>
                      </m:d>
                      <m:d>
                        <m:dPr>
                          <m:ctrlPr>
                            <a:rPr lang="en-GB" i="1">
                              <a:latin typeface="Cambria Math" panose="02040503050406030204" pitchFamily="18" charset="0"/>
                            </a:rPr>
                          </m:ctrlPr>
                        </m:dPr>
                        <m:e>
                          <m:r>
                            <a:rPr lang="en-GB" i="1" dirty="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i="1" dirty="0">
                              <a:latin typeface="Cambria Math" panose="02040503050406030204" pitchFamily="18" charset="0"/>
                            </a:rPr>
                            <m:t>−</m:t>
                          </m:r>
                          <m:r>
                            <a:rPr lang="en-GB" i="1" dirty="0">
                              <a:latin typeface="Cambria Math" panose="02040503050406030204" pitchFamily="18" charset="0"/>
                            </a:rPr>
                            <m:t>𝑌</m:t>
                          </m:r>
                        </m:e>
                      </m:d>
                    </m:oMath>
                  </m:oMathPara>
                </a14:m>
                <a:endParaRPr lang="en-SG" dirty="0"/>
              </a:p>
              <a:p>
                <a:pPr marL="0" indent="0">
                  <a:buNone/>
                </a:pPr>
                <a:endParaRPr lang="en-SG" dirty="0"/>
              </a:p>
              <a:p>
                <a:pPr marL="0" indent="0">
                  <a:buNone/>
                </a:pPr>
                <a:r>
                  <a:rPr lang="en-SG" dirty="0"/>
                  <a:t>Expanding</a:t>
                </a:r>
              </a:p>
              <a:p>
                <a:pPr marL="0" indent="0">
                  <a:buNone/>
                </a:pPr>
                <a:endParaRPr lang="en-SG"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𝐿</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𝑁</m:t>
                          </m:r>
                        </m:den>
                      </m:f>
                      <m:r>
                        <a:rPr lang="en-GB" i="1">
                          <a:latin typeface="Cambria Math" panose="02040503050406030204" pitchFamily="18" charset="0"/>
                        </a:rPr>
                        <m:t>(</m:t>
                      </m:r>
                      <m:sSup>
                        <m:sSupPr>
                          <m:ctrlPr>
                            <a:rPr lang="en-GB" i="1" dirty="0">
                              <a:latin typeface="Cambria Math" panose="02040503050406030204" pitchFamily="18" charset="0"/>
                            </a:rPr>
                          </m:ctrlPr>
                        </m:sSupPr>
                        <m:e>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e>
                        <m:sup>
                          <m:r>
                            <a:rPr lang="en-GB" i="1" dirty="0">
                              <a:latin typeface="Cambria Math" panose="02040503050406030204" pitchFamily="18" charset="0"/>
                            </a:rPr>
                            <m:t>𝑇</m:t>
                          </m:r>
                        </m:sup>
                      </m:sSup>
                      <m:sSup>
                        <m:sSupPr>
                          <m:ctrlPr>
                            <a:rPr lang="en-GB" i="1" dirty="0">
                              <a:latin typeface="Cambria Math" panose="02040503050406030204" pitchFamily="18" charset="0"/>
                            </a:rPr>
                          </m:ctrlPr>
                        </m:sSupPr>
                        <m:e>
                          <m:r>
                            <a:rPr lang="en-GB" i="1" dirty="0">
                              <a:latin typeface="Cambria Math" panose="02040503050406030204" pitchFamily="18" charset="0"/>
                            </a:rPr>
                            <m:t>𝑋</m:t>
                          </m:r>
                        </m:e>
                        <m:sup>
                          <m:r>
                            <a:rPr lang="en-GB" i="1" dirty="0">
                              <a:latin typeface="Cambria Math" panose="02040503050406030204" pitchFamily="18" charset="0"/>
                            </a:rPr>
                            <m:t>𝑇</m:t>
                          </m:r>
                        </m:sup>
                      </m:sSup>
                      <m:r>
                        <a:rPr lang="en-GB" i="1" dirty="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i="1" dirty="0">
                          <a:latin typeface="Cambria Math" panose="02040503050406030204" pitchFamily="18" charset="0"/>
                        </a:rPr>
                        <m:t>−</m:t>
                      </m:r>
                      <m:sSup>
                        <m:sSupPr>
                          <m:ctrlPr>
                            <a:rPr lang="en-GB" i="1" dirty="0">
                              <a:latin typeface="Cambria Math" panose="02040503050406030204" pitchFamily="18" charset="0"/>
                            </a:rPr>
                          </m:ctrlPr>
                        </m:sSupPr>
                        <m:e>
                          <m:r>
                            <a:rPr lang="en-GB" i="1" dirty="0">
                              <a:latin typeface="Cambria Math" panose="02040503050406030204" pitchFamily="18" charset="0"/>
                            </a:rPr>
                            <m:t>𝑌</m:t>
                          </m:r>
                        </m:e>
                        <m:sup>
                          <m:r>
                            <a:rPr lang="en-GB" i="1" dirty="0">
                              <a:latin typeface="Cambria Math" panose="02040503050406030204" pitchFamily="18" charset="0"/>
                            </a:rPr>
                            <m:t>𝑇</m:t>
                          </m:r>
                        </m:sup>
                      </m:sSup>
                      <m:r>
                        <a:rPr lang="en-GB" i="1" dirty="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i="1" dirty="0">
                          <a:latin typeface="Cambria Math" panose="02040503050406030204" pitchFamily="18" charset="0"/>
                        </a:rPr>
                        <m:t>−</m:t>
                      </m:r>
                      <m:r>
                        <a:rPr lang="en-GB" b="0" i="1" dirty="0" smtClean="0">
                          <a:latin typeface="Cambria Math" panose="02040503050406030204" pitchFamily="18" charset="0"/>
                        </a:rPr>
                        <m:t> </m:t>
                      </m:r>
                      <m:sSup>
                        <m:sSupPr>
                          <m:ctrlPr>
                            <a:rPr lang="en-GB" i="1" dirty="0">
                              <a:latin typeface="Cambria Math" panose="02040503050406030204" pitchFamily="18" charset="0"/>
                            </a:rPr>
                          </m:ctrlPr>
                        </m:sSupPr>
                        <m:e>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e>
                        <m:sup>
                          <m:r>
                            <a:rPr lang="en-GB" i="1" dirty="0">
                              <a:latin typeface="Cambria Math" panose="02040503050406030204" pitchFamily="18" charset="0"/>
                            </a:rPr>
                            <m:t>𝑇</m:t>
                          </m:r>
                        </m:sup>
                      </m:sSup>
                      <m:sSup>
                        <m:sSupPr>
                          <m:ctrlPr>
                            <a:rPr lang="en-GB" i="1" dirty="0">
                              <a:latin typeface="Cambria Math" panose="02040503050406030204" pitchFamily="18" charset="0"/>
                            </a:rPr>
                          </m:ctrlPr>
                        </m:sSupPr>
                        <m:e>
                          <m:r>
                            <a:rPr lang="en-GB" i="1" dirty="0">
                              <a:latin typeface="Cambria Math" panose="02040503050406030204" pitchFamily="18" charset="0"/>
                            </a:rPr>
                            <m:t>𝑋</m:t>
                          </m:r>
                        </m:e>
                        <m:sup>
                          <m:r>
                            <a:rPr lang="en-GB" i="1" dirty="0">
                              <a:latin typeface="Cambria Math" panose="02040503050406030204" pitchFamily="18" charset="0"/>
                            </a:rPr>
                            <m:t>𝑇</m:t>
                          </m:r>
                        </m:sup>
                      </m:sSup>
                      <m:r>
                        <a:rPr lang="en-GB" i="1" dirty="0">
                          <a:latin typeface="Cambria Math" panose="02040503050406030204" pitchFamily="18" charset="0"/>
                        </a:rPr>
                        <m:t>𝑌</m:t>
                      </m:r>
                      <m:r>
                        <a:rPr lang="en-GB" i="1" dirty="0">
                          <a:latin typeface="Cambria Math" panose="02040503050406030204" pitchFamily="18" charset="0"/>
                        </a:rPr>
                        <m:t>+</m:t>
                      </m:r>
                      <m:sSup>
                        <m:sSupPr>
                          <m:ctrlPr>
                            <a:rPr lang="en-GB" i="1" dirty="0">
                              <a:latin typeface="Cambria Math" panose="02040503050406030204" pitchFamily="18" charset="0"/>
                            </a:rPr>
                          </m:ctrlPr>
                        </m:sSupPr>
                        <m:e>
                          <m:r>
                            <a:rPr lang="en-GB" i="1" dirty="0">
                              <a:latin typeface="Cambria Math" panose="02040503050406030204" pitchFamily="18" charset="0"/>
                            </a:rPr>
                            <m:t>𝑌</m:t>
                          </m:r>
                        </m:e>
                        <m:sup>
                          <m:r>
                            <a:rPr lang="en-GB" i="1" dirty="0">
                              <a:latin typeface="Cambria Math" panose="02040503050406030204" pitchFamily="18" charset="0"/>
                            </a:rPr>
                            <m:t>𝑇</m:t>
                          </m:r>
                        </m:sup>
                      </m:sSup>
                      <m:r>
                        <a:rPr lang="en-GB" i="1" dirty="0">
                          <a:latin typeface="Cambria Math" panose="02040503050406030204" pitchFamily="18" charset="0"/>
                        </a:rPr>
                        <m:t>𝑌</m:t>
                      </m:r>
                      <m:r>
                        <a:rPr lang="en-GB" i="1" dirty="0">
                          <a:latin typeface="Cambria Math" panose="02040503050406030204" pitchFamily="18" charset="0"/>
                        </a:rPr>
                        <m:t>)</m:t>
                      </m:r>
                    </m:oMath>
                  </m:oMathPara>
                </a14:m>
                <a:endParaRPr lang="en-SG" dirty="0"/>
              </a:p>
            </p:txBody>
          </p:sp>
        </mc:Choice>
        <mc:Fallback xmlns="">
          <p:sp>
            <p:nvSpPr>
              <p:cNvPr id="3" name="Content Placeholder 2">
                <a:extLst>
                  <a:ext uri="{FF2B5EF4-FFF2-40B4-BE49-F238E27FC236}">
                    <a16:creationId xmlns:a16="http://schemas.microsoft.com/office/drawing/2014/main" id="{F8B913BE-9D0F-C6F5-D2AA-F7829400A0CA}"/>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27308884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11D84-49CF-5C63-413C-4F8FC4B27F8A}"/>
              </a:ext>
            </a:extLst>
          </p:cNvPr>
          <p:cNvSpPr>
            <a:spLocks noGrp="1"/>
          </p:cNvSpPr>
          <p:nvPr>
            <p:ph type="title"/>
          </p:nvPr>
        </p:nvSpPr>
        <p:spPr/>
        <p:txBody>
          <a:bodyPr/>
          <a:lstStyle/>
          <a:p>
            <a:r>
              <a:rPr lang="en-GB" dirty="0"/>
              <a:t>Proof of the Normal Equation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8B913BE-9D0F-C6F5-D2AA-F7829400A0CA}"/>
                  </a:ext>
                </a:extLst>
              </p:cNvPr>
              <p:cNvSpPr>
                <a:spLocks noGrp="1"/>
              </p:cNvSpPr>
              <p:nvPr>
                <p:ph idx="1"/>
              </p:nvPr>
            </p:nvSpPr>
            <p:spPr>
              <a:xfrm>
                <a:off x="838200" y="1825624"/>
                <a:ext cx="10515600" cy="5032375"/>
              </a:xfrm>
            </p:spPr>
            <p:txBody>
              <a:bodyPr>
                <a:normAutofit/>
              </a:bodyPr>
              <a:lstStyle/>
              <a:p>
                <a:pPr marL="0" indent="0">
                  <a:buNone/>
                </a:pPr>
                <a:r>
                  <a:rPr lang="en-SG" dirty="0"/>
                  <a:t>Recall that we are trying to find the solution to optimization problem</a:t>
                </a:r>
              </a:p>
              <a:p>
                <a:pPr marL="0" indent="0">
                  <a:buNone/>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m:t>
                              </m:r>
                            </m:sup>
                          </m:sSup>
                        </m:e>
                      </m:d>
                      <m:r>
                        <a:rPr lang="en-GB" b="0" i="1" smtClean="0">
                          <a:latin typeface="Cambria Math" panose="02040503050406030204" pitchFamily="18" charset="0"/>
                        </a:rPr>
                        <m:t>=</m:t>
                      </m:r>
                      <m:r>
                        <m:rPr>
                          <m:sty m:val="p"/>
                        </m:rPr>
                        <a:rPr lang="en-GB" b="0" i="0" smtClean="0">
                          <a:latin typeface="Cambria Math" panose="02040503050406030204" pitchFamily="18" charset="0"/>
                        </a:rPr>
                        <m:t>arg</m:t>
                      </m:r>
                      <m:func>
                        <m:funcPr>
                          <m:ctrlPr>
                            <a:rPr lang="en-GB" b="0" i="1" smtClean="0">
                              <a:latin typeface="Cambria Math" panose="02040503050406030204" pitchFamily="18" charset="0"/>
                            </a:rPr>
                          </m:ctrlPr>
                        </m:funcPr>
                        <m:fName>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lim>
                          </m:limLow>
                        </m:fName>
                        <m:e>
                          <m:d>
                            <m:dPr>
                              <m:begChr m:val="["/>
                              <m:endChr m:val="]"/>
                              <m:ctrlPr>
                                <a:rPr lang="en-GB" i="1">
                                  <a:latin typeface="Cambria Math" panose="02040503050406030204" pitchFamily="18" charset="0"/>
                                </a:rPr>
                              </m:ctrlPr>
                            </m:dPr>
                            <m:e>
                              <m:r>
                                <a:rPr lang="en-GB" i="1">
                                  <a:latin typeface="Cambria Math" panose="02040503050406030204" pitchFamily="18" charset="0"/>
                                </a:rPr>
                                <m:t>𝐿</m:t>
                              </m:r>
                              <m:r>
                                <a:rPr lang="en-GB" i="1">
                                  <a:latin typeface="Cambria Math" panose="02040503050406030204" pitchFamily="18" charset="0"/>
                                </a:rPr>
                                <m:t>(</m:t>
                              </m:r>
                              <m:r>
                                <a:rPr lang="en-GB" i="1">
                                  <a:latin typeface="Cambria Math" panose="02040503050406030204" pitchFamily="18" charset="0"/>
                                </a:rPr>
                                <m:t>𝑎</m:t>
                              </m:r>
                              <m:r>
                                <a:rPr lang="en-GB" i="1">
                                  <a:latin typeface="Cambria Math" panose="02040503050406030204" pitchFamily="18" charset="0"/>
                                </a:rPr>
                                <m:t>, </m:t>
                              </m:r>
                              <m:r>
                                <a:rPr lang="en-GB" i="1">
                                  <a:latin typeface="Cambria Math" panose="02040503050406030204" pitchFamily="18" charset="0"/>
                                </a:rPr>
                                <m:t>𝑏</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 </m:t>
                              </m:r>
                              <m:r>
                                <a:rPr lang="en-GB" i="1">
                                  <a:latin typeface="Cambria Math" panose="02040503050406030204" pitchFamily="18" charset="0"/>
                                </a:rPr>
                                <m:t>𝑦</m:t>
                              </m:r>
                              <m:r>
                                <a:rPr lang="en-GB" i="1">
                                  <a:latin typeface="Cambria Math" panose="02040503050406030204" pitchFamily="18" charset="0"/>
                                </a:rPr>
                                <m:t>)</m:t>
                              </m:r>
                            </m:e>
                          </m:d>
                        </m:e>
                      </m:func>
                    </m:oMath>
                  </m:oMathPara>
                </a14:m>
                <a:endParaRPr lang="en-SG" dirty="0"/>
              </a:p>
              <a:p>
                <a:pPr marL="0" indent="0">
                  <a:buNone/>
                </a:pPr>
                <a:r>
                  <a:rPr lang="en-SG" dirty="0"/>
                  <a:t>With</a:t>
                </a:r>
              </a:p>
              <a:p>
                <a:pPr marL="0" indent="0">
                  <a:buNone/>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rPr>
                        <m:t>𝐿</m:t>
                      </m:r>
                      <m:r>
                        <a:rPr lang="en-GB"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𝑁</m:t>
                          </m:r>
                        </m:den>
                      </m:f>
                      <m:r>
                        <a:rPr lang="en-GB" i="1">
                          <a:latin typeface="Cambria Math" panose="02040503050406030204" pitchFamily="18" charset="0"/>
                        </a:rPr>
                        <m:t>(</m:t>
                      </m:r>
                      <m:sSup>
                        <m:sSupPr>
                          <m:ctrlPr>
                            <a:rPr lang="en-GB" i="1" dirty="0">
                              <a:latin typeface="Cambria Math" panose="02040503050406030204" pitchFamily="18" charset="0"/>
                            </a:rPr>
                          </m:ctrlPr>
                        </m:sSupPr>
                        <m:e>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e>
                        <m:sup>
                          <m:r>
                            <a:rPr lang="en-GB" i="1" dirty="0">
                              <a:latin typeface="Cambria Math" panose="02040503050406030204" pitchFamily="18" charset="0"/>
                            </a:rPr>
                            <m:t>𝑇</m:t>
                          </m:r>
                        </m:sup>
                      </m:sSup>
                      <m:sSup>
                        <m:sSupPr>
                          <m:ctrlPr>
                            <a:rPr lang="en-GB" i="1" dirty="0">
                              <a:latin typeface="Cambria Math" panose="02040503050406030204" pitchFamily="18" charset="0"/>
                            </a:rPr>
                          </m:ctrlPr>
                        </m:sSupPr>
                        <m:e>
                          <m:r>
                            <a:rPr lang="en-GB" i="1" dirty="0">
                              <a:latin typeface="Cambria Math" panose="02040503050406030204" pitchFamily="18" charset="0"/>
                            </a:rPr>
                            <m:t>𝑋</m:t>
                          </m:r>
                        </m:e>
                        <m:sup>
                          <m:r>
                            <a:rPr lang="en-GB" i="1" dirty="0">
                              <a:latin typeface="Cambria Math" panose="02040503050406030204" pitchFamily="18" charset="0"/>
                            </a:rPr>
                            <m:t>𝑇</m:t>
                          </m:r>
                        </m:sup>
                      </m:sSup>
                      <m:r>
                        <a:rPr lang="en-GB" i="1" dirty="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i="1" dirty="0">
                          <a:latin typeface="Cambria Math" panose="02040503050406030204" pitchFamily="18" charset="0"/>
                        </a:rPr>
                        <m:t>−</m:t>
                      </m:r>
                      <m:sSup>
                        <m:sSupPr>
                          <m:ctrlPr>
                            <a:rPr lang="en-GB" i="1" dirty="0">
                              <a:latin typeface="Cambria Math" panose="02040503050406030204" pitchFamily="18" charset="0"/>
                            </a:rPr>
                          </m:ctrlPr>
                        </m:sSupPr>
                        <m:e>
                          <m:r>
                            <a:rPr lang="en-GB" i="1" dirty="0">
                              <a:latin typeface="Cambria Math" panose="02040503050406030204" pitchFamily="18" charset="0"/>
                            </a:rPr>
                            <m:t>𝑌</m:t>
                          </m:r>
                        </m:e>
                        <m:sup>
                          <m:r>
                            <a:rPr lang="en-GB" i="1" dirty="0">
                              <a:latin typeface="Cambria Math" panose="02040503050406030204" pitchFamily="18" charset="0"/>
                            </a:rPr>
                            <m:t>𝑇</m:t>
                          </m:r>
                        </m:sup>
                      </m:sSup>
                      <m:r>
                        <a:rPr lang="en-GB" i="1" dirty="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i="1" dirty="0">
                          <a:latin typeface="Cambria Math" panose="02040503050406030204" pitchFamily="18" charset="0"/>
                        </a:rPr>
                        <m:t>−</m:t>
                      </m:r>
                      <m:sSup>
                        <m:sSupPr>
                          <m:ctrlPr>
                            <a:rPr lang="en-GB" i="1" dirty="0">
                              <a:latin typeface="Cambria Math" panose="02040503050406030204" pitchFamily="18" charset="0"/>
                            </a:rPr>
                          </m:ctrlPr>
                        </m:sSupPr>
                        <m:e>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e>
                        <m:sup>
                          <m:r>
                            <a:rPr lang="en-GB" i="1" dirty="0">
                              <a:latin typeface="Cambria Math" panose="02040503050406030204" pitchFamily="18" charset="0"/>
                            </a:rPr>
                            <m:t>𝑇</m:t>
                          </m:r>
                        </m:sup>
                      </m:sSup>
                      <m:sSup>
                        <m:sSupPr>
                          <m:ctrlPr>
                            <a:rPr lang="en-GB" i="1" dirty="0">
                              <a:latin typeface="Cambria Math" panose="02040503050406030204" pitchFamily="18" charset="0"/>
                            </a:rPr>
                          </m:ctrlPr>
                        </m:sSupPr>
                        <m:e>
                          <m:r>
                            <a:rPr lang="en-GB" i="1" dirty="0">
                              <a:latin typeface="Cambria Math" panose="02040503050406030204" pitchFamily="18" charset="0"/>
                            </a:rPr>
                            <m:t>𝑋</m:t>
                          </m:r>
                        </m:e>
                        <m:sup>
                          <m:r>
                            <a:rPr lang="en-GB" i="1" dirty="0">
                              <a:latin typeface="Cambria Math" panose="02040503050406030204" pitchFamily="18" charset="0"/>
                            </a:rPr>
                            <m:t>𝑇</m:t>
                          </m:r>
                        </m:sup>
                      </m:sSup>
                      <m:r>
                        <a:rPr lang="en-GB" i="1" dirty="0">
                          <a:latin typeface="Cambria Math" panose="02040503050406030204" pitchFamily="18" charset="0"/>
                        </a:rPr>
                        <m:t>𝑌</m:t>
                      </m:r>
                      <m:r>
                        <a:rPr lang="en-GB" i="1" dirty="0">
                          <a:latin typeface="Cambria Math" panose="02040503050406030204" pitchFamily="18" charset="0"/>
                        </a:rPr>
                        <m:t>+</m:t>
                      </m:r>
                      <m:sSup>
                        <m:sSupPr>
                          <m:ctrlPr>
                            <a:rPr lang="en-GB" i="1" dirty="0">
                              <a:latin typeface="Cambria Math" panose="02040503050406030204" pitchFamily="18" charset="0"/>
                            </a:rPr>
                          </m:ctrlPr>
                        </m:sSupPr>
                        <m:e>
                          <m:r>
                            <a:rPr lang="en-GB" i="1" dirty="0">
                              <a:latin typeface="Cambria Math" panose="02040503050406030204" pitchFamily="18" charset="0"/>
                            </a:rPr>
                            <m:t>𝑌</m:t>
                          </m:r>
                        </m:e>
                        <m:sup>
                          <m:r>
                            <a:rPr lang="en-GB" i="1" dirty="0">
                              <a:latin typeface="Cambria Math" panose="02040503050406030204" pitchFamily="18" charset="0"/>
                            </a:rPr>
                            <m:t>𝑇</m:t>
                          </m:r>
                        </m:sup>
                      </m:sSup>
                      <m:r>
                        <a:rPr lang="en-GB" i="1" dirty="0">
                          <a:latin typeface="Cambria Math" panose="02040503050406030204" pitchFamily="18" charset="0"/>
                        </a:rPr>
                        <m:t>𝑌</m:t>
                      </m:r>
                      <m:r>
                        <a:rPr lang="en-GB" i="1" dirty="0">
                          <a:latin typeface="Cambria Math" panose="02040503050406030204" pitchFamily="18" charset="0"/>
                        </a:rPr>
                        <m:t>)</m:t>
                      </m:r>
                    </m:oMath>
                  </m:oMathPara>
                </a14:m>
                <a:endParaRPr lang="en-SG" dirty="0"/>
              </a:p>
              <a:p>
                <a:pPr marL="0" indent="0">
                  <a:buNone/>
                </a:pPr>
                <a:endParaRPr lang="en-SG" dirty="0"/>
              </a:p>
              <a:p>
                <a:pPr marL="0" indent="0">
                  <a:buNone/>
                </a:pPr>
                <a:r>
                  <a:rPr lang="en-SG" dirty="0"/>
                  <a:t>Recognizing that </a:t>
                </a:r>
                <a14:m>
                  <m:oMath xmlns:m="http://schemas.openxmlformats.org/officeDocument/2006/math">
                    <m:sSup>
                      <m:sSupPr>
                        <m:ctrlPr>
                          <a:rPr lang="en-GB" i="1" dirty="0" smtClean="0">
                            <a:latin typeface="Cambria Math" panose="02040503050406030204" pitchFamily="18" charset="0"/>
                          </a:rPr>
                        </m:ctrlPr>
                      </m:sSupPr>
                      <m:e>
                        <m:r>
                          <a:rPr lang="en-GB" i="1" dirty="0">
                            <a:latin typeface="Cambria Math" panose="02040503050406030204" pitchFamily="18" charset="0"/>
                          </a:rPr>
                          <m:t>𝑌</m:t>
                        </m:r>
                      </m:e>
                      <m:sup>
                        <m:r>
                          <a:rPr lang="en-GB" i="1" dirty="0">
                            <a:latin typeface="Cambria Math" panose="02040503050406030204" pitchFamily="18" charset="0"/>
                          </a:rPr>
                          <m:t>𝑇</m:t>
                        </m:r>
                      </m:sup>
                    </m:sSup>
                    <m:r>
                      <a:rPr lang="en-GB" i="1" dirty="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b="0" i="1" dirty="0" smtClean="0">
                        <a:latin typeface="Cambria Math" panose="02040503050406030204" pitchFamily="18" charset="0"/>
                      </a:rPr>
                      <m:t>=</m:t>
                    </m:r>
                    <m:sSup>
                      <m:sSupPr>
                        <m:ctrlPr>
                          <a:rPr lang="en-GB" i="1" dirty="0">
                            <a:latin typeface="Cambria Math" panose="02040503050406030204" pitchFamily="18" charset="0"/>
                          </a:rPr>
                        </m:ctrlPr>
                      </m:sSupPr>
                      <m:e>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e>
                      <m:sup>
                        <m:r>
                          <a:rPr lang="en-GB" i="1" dirty="0">
                            <a:latin typeface="Cambria Math" panose="02040503050406030204" pitchFamily="18" charset="0"/>
                          </a:rPr>
                          <m:t>𝑇</m:t>
                        </m:r>
                      </m:sup>
                    </m:sSup>
                    <m:sSup>
                      <m:sSupPr>
                        <m:ctrlPr>
                          <a:rPr lang="en-GB" i="1" dirty="0">
                            <a:latin typeface="Cambria Math" panose="02040503050406030204" pitchFamily="18" charset="0"/>
                          </a:rPr>
                        </m:ctrlPr>
                      </m:sSupPr>
                      <m:e>
                        <m:r>
                          <a:rPr lang="en-GB" i="1" dirty="0">
                            <a:latin typeface="Cambria Math" panose="02040503050406030204" pitchFamily="18" charset="0"/>
                          </a:rPr>
                          <m:t>𝑋</m:t>
                        </m:r>
                      </m:e>
                      <m:sup>
                        <m:r>
                          <a:rPr lang="en-GB" i="1" dirty="0">
                            <a:latin typeface="Cambria Math" panose="02040503050406030204" pitchFamily="18" charset="0"/>
                          </a:rPr>
                          <m:t>𝑇</m:t>
                        </m:r>
                      </m:sup>
                    </m:sSup>
                    <m:r>
                      <a:rPr lang="en-GB" i="1" dirty="0">
                        <a:latin typeface="Cambria Math" panose="02040503050406030204" pitchFamily="18" charset="0"/>
                      </a:rPr>
                      <m:t>𝑌</m:t>
                    </m:r>
                  </m:oMath>
                </a14:m>
                <a:r>
                  <a:rPr lang="en-SG" dirty="0"/>
                  <a:t>, differentiating our function </a:t>
                </a:r>
                <a14:m>
                  <m:oMath xmlns:m="http://schemas.openxmlformats.org/officeDocument/2006/math">
                    <m:r>
                      <a:rPr lang="en-GB" b="0" i="1" smtClean="0">
                        <a:latin typeface="Cambria Math" panose="02040503050406030204" pitchFamily="18" charset="0"/>
                      </a:rPr>
                      <m:t>𝐿</m:t>
                    </m:r>
                    <m:r>
                      <a:rPr lang="en-GB" b="0" i="1" smtClean="0">
                        <a:latin typeface="Cambria Math" panose="02040503050406030204" pitchFamily="18" charset="0"/>
                      </a:rPr>
                      <m:t> </m:t>
                    </m:r>
                  </m:oMath>
                </a14:m>
                <a:r>
                  <a:rPr lang="en-SG" dirty="0"/>
                  <a:t>with respect to </a:t>
                </a:r>
                <a14:m>
                  <m:oMath xmlns:m="http://schemas.openxmlformats.org/officeDocument/2006/math">
                    <m:r>
                      <a:rPr lang="en-SG" i="1" dirty="0" smtClean="0">
                        <a:latin typeface="Cambria Math" panose="02040503050406030204" pitchFamily="18" charset="0"/>
                      </a:rPr>
                      <m:t>𝑊</m:t>
                    </m:r>
                  </m:oMath>
                </a14:m>
                <a:r>
                  <a:rPr lang="en-SG" dirty="0"/>
                  <a:t> and equating it to zero gives:</a:t>
                </a:r>
                <a:br>
                  <a:rPr lang="en-SG" dirty="0"/>
                </a:br>
                <a:endParaRPr lang="en-SG" dirty="0"/>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r>
                            <a:rPr lang="en-GB" b="0" i="1" smtClean="0">
                              <a:latin typeface="Cambria Math" panose="02040503050406030204" pitchFamily="18" charset="0"/>
                            </a:rPr>
                            <m:t>𝑊</m:t>
                          </m:r>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𝑁</m:t>
                          </m:r>
                        </m:den>
                      </m:f>
                      <m:d>
                        <m:dPr>
                          <m:ctrlPr>
                            <a:rPr lang="en-GB" i="1">
                              <a:latin typeface="Cambria Math" panose="02040503050406030204" pitchFamily="18" charset="0"/>
                            </a:rPr>
                          </m:ctrlPr>
                        </m:dPr>
                        <m:e>
                          <m:sSup>
                            <m:sSupPr>
                              <m:ctrlPr>
                                <a:rPr lang="en-GB" i="1" dirty="0">
                                  <a:latin typeface="Cambria Math" panose="02040503050406030204" pitchFamily="18" charset="0"/>
                                </a:rPr>
                              </m:ctrlPr>
                            </m:sSupPr>
                            <m:e>
                              <m:r>
                                <a:rPr lang="en-GB" b="0" i="1" dirty="0" smtClean="0">
                                  <a:latin typeface="Cambria Math" panose="02040503050406030204" pitchFamily="18" charset="0"/>
                                </a:rPr>
                                <m:t>2</m:t>
                              </m:r>
                              <m:r>
                                <a:rPr lang="en-GB" i="1" dirty="0">
                                  <a:latin typeface="Cambria Math" panose="02040503050406030204" pitchFamily="18" charset="0"/>
                                </a:rPr>
                                <m:t>𝑋</m:t>
                              </m:r>
                            </m:e>
                            <m:sup>
                              <m:r>
                                <a:rPr lang="en-GB" i="1" dirty="0">
                                  <a:latin typeface="Cambria Math" panose="02040503050406030204" pitchFamily="18" charset="0"/>
                                </a:rPr>
                                <m:t>𝑇</m:t>
                              </m:r>
                            </m:sup>
                          </m:sSup>
                          <m:r>
                            <a:rPr lang="en-GB" i="1" dirty="0">
                              <a:latin typeface="Cambria Math" panose="02040503050406030204" pitchFamily="18" charset="0"/>
                            </a:rPr>
                            <m:t>𝑋𝑊</m:t>
                          </m:r>
                          <m:r>
                            <a:rPr lang="en-GB" i="1" dirty="0">
                              <a:latin typeface="Cambria Math" panose="02040503050406030204" pitchFamily="18" charset="0"/>
                            </a:rPr>
                            <m:t>−2</m:t>
                          </m:r>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𝑋</m:t>
                              </m:r>
                            </m:e>
                            <m:sup>
                              <m:r>
                                <a:rPr lang="en-GB" b="0" i="1" dirty="0" smtClean="0">
                                  <a:latin typeface="Cambria Math" panose="02040503050406030204" pitchFamily="18" charset="0"/>
                                </a:rPr>
                                <m:t>𝑇</m:t>
                              </m:r>
                            </m:sup>
                          </m:sSup>
                          <m:r>
                            <a:rPr lang="en-GB" b="0" i="1" dirty="0" smtClean="0">
                              <a:latin typeface="Cambria Math" panose="02040503050406030204" pitchFamily="18" charset="0"/>
                            </a:rPr>
                            <m:t>𝑌</m:t>
                          </m:r>
                        </m:e>
                      </m:d>
                      <m:r>
                        <a:rPr lang="en-GB" b="0" i="1" dirty="0" smtClean="0">
                          <a:latin typeface="Cambria Math" panose="02040503050406030204" pitchFamily="18" charset="0"/>
                        </a:rPr>
                        <m:t>=0</m:t>
                      </m:r>
                    </m:oMath>
                  </m:oMathPara>
                </a14:m>
                <a:endParaRPr lang="en-SG" dirty="0"/>
              </a:p>
              <a:p>
                <a:pPr marL="0" indent="0">
                  <a:buNone/>
                </a:pPr>
                <a:endParaRPr lang="en-SG" dirty="0"/>
              </a:p>
              <a:p>
                <a:pPr marL="0" indent="0">
                  <a:buNone/>
                </a:pPr>
                <a:endParaRPr lang="en-SG"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F8B913BE-9D0F-C6F5-D2AA-F7829400A0CA}"/>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229798347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11D84-49CF-5C63-413C-4F8FC4B27F8A}"/>
              </a:ext>
            </a:extLst>
          </p:cNvPr>
          <p:cNvSpPr>
            <a:spLocks noGrp="1"/>
          </p:cNvSpPr>
          <p:nvPr>
            <p:ph type="title"/>
          </p:nvPr>
        </p:nvSpPr>
        <p:spPr/>
        <p:txBody>
          <a:bodyPr/>
          <a:lstStyle/>
          <a:p>
            <a:r>
              <a:rPr lang="en-GB" dirty="0"/>
              <a:t>Proof of the Normal Equation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8B913BE-9D0F-C6F5-D2AA-F7829400A0CA}"/>
                  </a:ext>
                </a:extLst>
              </p:cNvPr>
              <p:cNvSpPr>
                <a:spLocks noGrp="1"/>
              </p:cNvSpPr>
              <p:nvPr>
                <p:ph idx="1"/>
              </p:nvPr>
            </p:nvSpPr>
            <p:spPr/>
            <p:txBody>
              <a:bodyPr>
                <a:normAutofit/>
              </a:bodyPr>
              <a:lstStyle/>
              <a:p>
                <a:pPr marL="0" indent="0">
                  <a:buNone/>
                </a:pPr>
                <a:r>
                  <a:rPr lang="en-GB" dirty="0"/>
                  <a:t>This is equivalent to </a:t>
                </a:r>
              </a:p>
              <a:p>
                <a:pPr marL="0" indent="0">
                  <a:buNone/>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sSup>
                            <m:sSupPr>
                              <m:ctrlPr>
                                <a:rPr lang="en-GB" i="1" dirty="0">
                                  <a:latin typeface="Cambria Math" panose="02040503050406030204" pitchFamily="18" charset="0"/>
                                </a:rPr>
                              </m:ctrlPr>
                            </m:sSupPr>
                            <m:e>
                              <m:r>
                                <a:rPr lang="en-GB" i="1" dirty="0">
                                  <a:latin typeface="Cambria Math" panose="02040503050406030204" pitchFamily="18" charset="0"/>
                                </a:rPr>
                                <m:t>𝑋</m:t>
                              </m:r>
                            </m:e>
                            <m:sup>
                              <m:r>
                                <a:rPr lang="en-GB" i="1" dirty="0">
                                  <a:latin typeface="Cambria Math" panose="02040503050406030204" pitchFamily="18" charset="0"/>
                                </a:rPr>
                                <m:t>𝑇</m:t>
                              </m:r>
                            </m:sup>
                          </m:sSup>
                          <m:r>
                            <a:rPr lang="en-GB" i="1" dirty="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i="1" dirty="0">
                              <a:latin typeface="Cambria Math" panose="02040503050406030204" pitchFamily="18" charset="0"/>
                            </a:rPr>
                            <m:t>−</m:t>
                          </m:r>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𝑋</m:t>
                              </m:r>
                            </m:e>
                            <m:sup>
                              <m:r>
                                <a:rPr lang="en-GB" b="0" i="1" dirty="0" smtClean="0">
                                  <a:latin typeface="Cambria Math" panose="02040503050406030204" pitchFamily="18" charset="0"/>
                                </a:rPr>
                                <m:t>𝑇</m:t>
                              </m:r>
                            </m:sup>
                          </m:sSup>
                          <m:r>
                            <a:rPr lang="en-GB" b="0" i="1" dirty="0" smtClean="0">
                              <a:latin typeface="Cambria Math" panose="02040503050406030204" pitchFamily="18" charset="0"/>
                            </a:rPr>
                            <m:t>𝑌</m:t>
                          </m:r>
                        </m:e>
                      </m:d>
                      <m:r>
                        <a:rPr lang="en-GB" b="0" i="1" dirty="0" smtClean="0">
                          <a:latin typeface="Cambria Math" panose="02040503050406030204" pitchFamily="18" charset="0"/>
                        </a:rPr>
                        <m:t>=0</m:t>
                      </m:r>
                    </m:oMath>
                  </m:oMathPara>
                </a14:m>
                <a:endParaRPr lang="en-SG" dirty="0"/>
              </a:p>
              <a:p>
                <a:pPr marL="0" indent="0">
                  <a:buNone/>
                </a:pPr>
                <a:r>
                  <a:rPr lang="en-SG" dirty="0"/>
                  <a:t>Or,</a:t>
                </a:r>
              </a:p>
              <a:p>
                <a:pPr marL="0" indent="0">
                  <a:buNone/>
                </a:pPr>
                <a14:m>
                  <m:oMathPara xmlns:m="http://schemas.openxmlformats.org/officeDocument/2006/math">
                    <m:oMathParaPr>
                      <m:jc m:val="centerGroup"/>
                    </m:oMathParaPr>
                    <m:oMath xmlns:m="http://schemas.openxmlformats.org/officeDocument/2006/math">
                      <m:sSup>
                        <m:sSupPr>
                          <m:ctrlPr>
                            <a:rPr lang="en-GB" i="1" dirty="0">
                              <a:latin typeface="Cambria Math" panose="02040503050406030204" pitchFamily="18" charset="0"/>
                            </a:rPr>
                          </m:ctrlPr>
                        </m:sSupPr>
                        <m:e>
                          <m:r>
                            <a:rPr lang="en-GB" i="1" dirty="0">
                              <a:latin typeface="Cambria Math" panose="02040503050406030204" pitchFamily="18" charset="0"/>
                            </a:rPr>
                            <m:t>𝑋</m:t>
                          </m:r>
                        </m:e>
                        <m:sup>
                          <m:r>
                            <a:rPr lang="en-GB" i="1" dirty="0">
                              <a:latin typeface="Cambria Math" panose="02040503050406030204" pitchFamily="18" charset="0"/>
                            </a:rPr>
                            <m:t>𝑇</m:t>
                          </m:r>
                        </m:sup>
                      </m:sSup>
                      <m:r>
                        <a:rPr lang="en-GB" i="1" dirty="0">
                          <a:latin typeface="Cambria Math" panose="02040503050406030204" pitchFamily="18" charset="0"/>
                        </a:rPr>
                        <m:t>𝑋</m:t>
                      </m:r>
                      <m:sSup>
                        <m:sSupPr>
                          <m:ctrlPr>
                            <a:rPr lang="fr-FR" i="1" dirty="0">
                              <a:latin typeface="Cambria Math" panose="02040503050406030204" pitchFamily="18" charset="0"/>
                            </a:rPr>
                          </m:ctrlPr>
                        </m:sSupPr>
                        <m:e>
                          <m:r>
                            <a:rPr lang="fr-FR" i="1" dirty="0">
                              <a:latin typeface="Cambria Math" panose="02040503050406030204" pitchFamily="18" charset="0"/>
                            </a:rPr>
                            <m:t>𝑊</m:t>
                          </m:r>
                        </m:e>
                        <m:sup>
                          <m:r>
                            <a:rPr lang="fr-FR" i="1" dirty="0">
                              <a:latin typeface="Cambria Math" panose="02040503050406030204" pitchFamily="18" charset="0"/>
                            </a:rPr>
                            <m:t>∗</m:t>
                          </m:r>
                        </m:sup>
                      </m:sSup>
                      <m:r>
                        <a:rPr lang="en-GB" b="0" i="1" dirty="0" smtClean="0">
                          <a:latin typeface="Cambria Math" panose="02040503050406030204" pitchFamily="18" charset="0"/>
                        </a:rPr>
                        <m:t>=</m:t>
                      </m:r>
                      <m:sSup>
                        <m:sSupPr>
                          <m:ctrlPr>
                            <a:rPr lang="en-GB" i="1" dirty="0">
                              <a:latin typeface="Cambria Math" panose="02040503050406030204" pitchFamily="18" charset="0"/>
                            </a:rPr>
                          </m:ctrlPr>
                        </m:sSupPr>
                        <m:e>
                          <m:r>
                            <a:rPr lang="en-GB" i="1" dirty="0">
                              <a:latin typeface="Cambria Math" panose="02040503050406030204" pitchFamily="18" charset="0"/>
                            </a:rPr>
                            <m:t>𝑋</m:t>
                          </m:r>
                        </m:e>
                        <m:sup>
                          <m:r>
                            <a:rPr lang="en-GB" i="1" dirty="0">
                              <a:latin typeface="Cambria Math" panose="02040503050406030204" pitchFamily="18" charset="0"/>
                            </a:rPr>
                            <m:t>𝑇</m:t>
                          </m:r>
                        </m:sup>
                      </m:sSup>
                      <m:r>
                        <a:rPr lang="en-GB" i="1" dirty="0">
                          <a:latin typeface="Cambria Math" panose="02040503050406030204" pitchFamily="18" charset="0"/>
                        </a:rPr>
                        <m:t>𝑌</m:t>
                      </m:r>
                    </m:oMath>
                  </m:oMathPara>
                </a14:m>
                <a:endParaRPr lang="en-SG" dirty="0"/>
              </a:p>
              <a:p>
                <a:pPr marL="0" indent="0">
                  <a:buNone/>
                </a:pPr>
                <a:endParaRPr lang="en-SG" dirty="0"/>
              </a:p>
              <a:p>
                <a:pPr marL="0" indent="0">
                  <a:buNone/>
                </a:pPr>
                <a:r>
                  <a:rPr lang="en-SG" b="1" dirty="0"/>
                  <a:t>Assuming </a:t>
                </a:r>
                <a14:m>
                  <m:oMath xmlns:m="http://schemas.openxmlformats.org/officeDocument/2006/math">
                    <m:sSup>
                      <m:sSupPr>
                        <m:ctrlPr>
                          <a:rPr lang="en-GB" b="1" i="1" dirty="0" smtClean="0">
                            <a:latin typeface="Cambria Math" panose="02040503050406030204" pitchFamily="18" charset="0"/>
                          </a:rPr>
                        </m:ctrlPr>
                      </m:sSupPr>
                      <m:e>
                        <m:r>
                          <a:rPr lang="en-GB" b="1" i="1" dirty="0">
                            <a:latin typeface="Cambria Math" panose="02040503050406030204" pitchFamily="18" charset="0"/>
                          </a:rPr>
                          <m:t>𝑿</m:t>
                        </m:r>
                      </m:e>
                      <m:sup>
                        <m:r>
                          <a:rPr lang="en-GB" b="1" i="1" dirty="0">
                            <a:latin typeface="Cambria Math" panose="02040503050406030204" pitchFamily="18" charset="0"/>
                          </a:rPr>
                          <m:t>𝑻</m:t>
                        </m:r>
                      </m:sup>
                    </m:sSup>
                    <m:r>
                      <a:rPr lang="en-GB" b="1" i="1" dirty="0">
                        <a:latin typeface="Cambria Math" panose="02040503050406030204" pitchFamily="18" charset="0"/>
                      </a:rPr>
                      <m:t>𝑿</m:t>
                    </m:r>
                  </m:oMath>
                </a14:m>
                <a:r>
                  <a:rPr lang="en-SG" b="1" dirty="0"/>
                  <a:t> is invertible </a:t>
                </a:r>
                <a:r>
                  <a:rPr lang="en-SG" dirty="0"/>
                  <a:t>(and that might not always be the case based on your dataset!), this finally gives:</a:t>
                </a:r>
              </a:p>
              <a:p>
                <a:pPr marL="0" indent="0">
                  <a:buNone/>
                </a:pPr>
                <a:endParaRPr lang="en-SG" dirty="0"/>
              </a:p>
              <a:p>
                <a:pPr marL="0" indent="0">
                  <a:buNone/>
                </a:pPr>
                <a14:m>
                  <m:oMathPara xmlns:m="http://schemas.openxmlformats.org/officeDocument/2006/math">
                    <m:oMathParaPr>
                      <m:jc m:val="centerGroup"/>
                    </m:oMathParaPr>
                    <m:oMath xmlns:m="http://schemas.openxmlformats.org/officeDocument/2006/math">
                      <m:sSup>
                        <m:sSupPr>
                          <m:ctrlPr>
                            <a:rPr lang="fr-FR" b="1" i="1" dirty="0">
                              <a:latin typeface="Cambria Math" panose="02040503050406030204" pitchFamily="18" charset="0"/>
                            </a:rPr>
                          </m:ctrlPr>
                        </m:sSupPr>
                        <m:e>
                          <m:r>
                            <a:rPr lang="fr-FR" b="1" i="1" dirty="0">
                              <a:latin typeface="Cambria Math" panose="02040503050406030204" pitchFamily="18" charset="0"/>
                            </a:rPr>
                            <m:t>𝑾</m:t>
                          </m:r>
                        </m:e>
                        <m:sup>
                          <m:r>
                            <a:rPr lang="fr-FR" b="1" i="1" dirty="0">
                              <a:latin typeface="Cambria Math" panose="02040503050406030204" pitchFamily="18" charset="0"/>
                            </a:rPr>
                            <m:t>∗</m:t>
                          </m:r>
                        </m:sup>
                      </m:sSup>
                      <m:r>
                        <a:rPr lang="en-GB" b="1" i="1" dirty="0" smtClean="0">
                          <a:latin typeface="Cambria Math" panose="02040503050406030204" pitchFamily="18" charset="0"/>
                        </a:rPr>
                        <m:t>=</m:t>
                      </m:r>
                      <m:sSup>
                        <m:sSupPr>
                          <m:ctrlPr>
                            <a:rPr lang="en-GB" b="1" i="1" dirty="0" smtClean="0">
                              <a:latin typeface="Cambria Math" panose="02040503050406030204" pitchFamily="18" charset="0"/>
                            </a:rPr>
                          </m:ctrlPr>
                        </m:sSupPr>
                        <m:e>
                          <m:d>
                            <m:dPr>
                              <m:ctrlPr>
                                <a:rPr lang="en-GB" b="1" i="1" dirty="0" smtClean="0">
                                  <a:latin typeface="Cambria Math" panose="02040503050406030204" pitchFamily="18" charset="0"/>
                                </a:rPr>
                              </m:ctrlPr>
                            </m:dPr>
                            <m:e>
                              <m:sSup>
                                <m:sSupPr>
                                  <m:ctrlPr>
                                    <a:rPr lang="en-GB" b="1" i="1" dirty="0" smtClean="0">
                                      <a:latin typeface="Cambria Math" panose="02040503050406030204" pitchFamily="18" charset="0"/>
                                    </a:rPr>
                                  </m:ctrlPr>
                                </m:sSupPr>
                                <m:e>
                                  <m:r>
                                    <a:rPr lang="en-GB" b="1" i="1" dirty="0">
                                      <a:latin typeface="Cambria Math" panose="02040503050406030204" pitchFamily="18" charset="0"/>
                                    </a:rPr>
                                    <m:t>𝑿</m:t>
                                  </m:r>
                                </m:e>
                                <m:sup>
                                  <m:r>
                                    <a:rPr lang="en-GB" b="1" i="1" dirty="0">
                                      <a:latin typeface="Cambria Math" panose="02040503050406030204" pitchFamily="18" charset="0"/>
                                    </a:rPr>
                                    <m:t>𝑻</m:t>
                                  </m:r>
                                </m:sup>
                              </m:sSup>
                              <m:r>
                                <a:rPr lang="en-GB" b="1" i="1" dirty="0">
                                  <a:latin typeface="Cambria Math" panose="02040503050406030204" pitchFamily="18" charset="0"/>
                                </a:rPr>
                                <m:t>𝑿</m:t>
                              </m:r>
                            </m:e>
                          </m:d>
                        </m:e>
                        <m:sup>
                          <m:r>
                            <a:rPr lang="en-GB" b="1" i="1" dirty="0" smtClean="0">
                              <a:latin typeface="Cambria Math" panose="02040503050406030204" pitchFamily="18" charset="0"/>
                            </a:rPr>
                            <m:t>−</m:t>
                          </m:r>
                          <m:r>
                            <a:rPr lang="en-GB" b="1" i="1" dirty="0" smtClean="0">
                              <a:latin typeface="Cambria Math" panose="02040503050406030204" pitchFamily="18" charset="0"/>
                            </a:rPr>
                            <m:t>𝟏</m:t>
                          </m:r>
                        </m:sup>
                      </m:sSup>
                      <m:sSup>
                        <m:sSupPr>
                          <m:ctrlPr>
                            <a:rPr lang="en-GB" b="1" i="1" dirty="0">
                              <a:latin typeface="Cambria Math" panose="02040503050406030204" pitchFamily="18" charset="0"/>
                            </a:rPr>
                          </m:ctrlPr>
                        </m:sSupPr>
                        <m:e>
                          <m:r>
                            <a:rPr lang="en-GB" b="1" i="1" dirty="0">
                              <a:latin typeface="Cambria Math" panose="02040503050406030204" pitchFamily="18" charset="0"/>
                            </a:rPr>
                            <m:t>𝑿</m:t>
                          </m:r>
                        </m:e>
                        <m:sup>
                          <m:r>
                            <a:rPr lang="en-GB" b="1" i="1" dirty="0">
                              <a:latin typeface="Cambria Math" panose="02040503050406030204" pitchFamily="18" charset="0"/>
                            </a:rPr>
                            <m:t>𝑻</m:t>
                          </m:r>
                        </m:sup>
                      </m:sSup>
                      <m:r>
                        <a:rPr lang="en-GB" b="1" i="1" dirty="0">
                          <a:latin typeface="Cambria Math" panose="02040503050406030204" pitchFamily="18" charset="0"/>
                        </a:rPr>
                        <m:t>𝒀</m:t>
                      </m:r>
                    </m:oMath>
                  </m:oMathPara>
                </a14:m>
                <a:endParaRPr lang="en-SG" b="1"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F8B913BE-9D0F-C6F5-D2AA-F7829400A0CA}"/>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3737733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3159</TotalTime>
  <Words>6212</Words>
  <Application>Microsoft Office PowerPoint</Application>
  <PresentationFormat>Widescreen</PresentationFormat>
  <Paragraphs>546</Paragraphs>
  <Slides>103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103</vt:i4>
      </vt:variant>
    </vt:vector>
  </HeadingPairs>
  <TitlesOfParts>
    <vt:vector size="108" baseType="lpstr">
      <vt:lpstr>Arial</vt:lpstr>
      <vt:lpstr>Calibri</vt:lpstr>
      <vt:lpstr>Calibri Light</vt:lpstr>
      <vt:lpstr>Cambria Math</vt:lpstr>
      <vt:lpstr>Office Theme</vt:lpstr>
      <vt:lpstr>50.039 Theory and Practice of Deep Learning Course Introduction</vt:lpstr>
      <vt:lpstr>A quick word about instructors</vt:lpstr>
      <vt:lpstr>A quick word about instructors</vt:lpstr>
      <vt:lpstr>A quick word about instructors</vt:lpstr>
      <vt:lpstr>Objectives of 50.039 DL</vt:lpstr>
      <vt:lpstr>Objectives of 50.039 DL</vt:lpstr>
      <vt:lpstr>Skills needed for this course</vt:lpstr>
      <vt:lpstr>The way we teach things</vt:lpstr>
      <vt:lpstr>The way we teach things</vt:lpstr>
      <vt:lpstr>The way we teach things</vt:lpstr>
      <vt:lpstr>Syllabus (Detailed syllabus on eDimension)</vt:lpstr>
      <vt:lpstr>Syllabus</vt:lpstr>
      <vt:lpstr>Syllabus</vt:lpstr>
      <vt:lpstr>Syllabus</vt:lpstr>
      <vt:lpstr>Syllabus</vt:lpstr>
      <vt:lpstr>Syllabus</vt:lpstr>
      <vt:lpstr>Supporting Textbooks</vt:lpstr>
      <vt:lpstr>Evaluation and grading</vt:lpstr>
      <vt:lpstr>Evaluation and grading</vt:lpstr>
      <vt:lpstr>Technical pre-requisites</vt:lpstr>
      <vt:lpstr>Technical pre-requisites</vt:lpstr>
      <vt:lpstr>Installing PyTorch and CUDA</vt:lpstr>
      <vt:lpstr>50.039 Theory and Practice of Deep Learning W1-S1 Introduction and Machine Learning Reminders</vt:lpstr>
      <vt:lpstr>About this week (Week 1)</vt:lpstr>
      <vt:lpstr>About this week (Week 1)</vt:lpstr>
      <vt:lpstr>About this week (Week 1)</vt:lpstr>
      <vt:lpstr>What is AI/ML/NN/DL?</vt:lpstr>
      <vt:lpstr>What is AI/ML/NN/DL?</vt:lpstr>
      <vt:lpstr>What is AI/ML/NN/DL?</vt:lpstr>
      <vt:lpstr>What is AI/ML/NN/DL?</vt:lpstr>
      <vt:lpstr>What is AI/ML/NN/DL?</vt:lpstr>
      <vt:lpstr>What is AI/ML/NN/DL?</vt:lpstr>
      <vt:lpstr>What is AI/ML/NN/DL?</vt:lpstr>
      <vt:lpstr>What is AI/ML/NN/DL?</vt:lpstr>
      <vt:lpstr>What is AI/ML/NN/DL?</vt:lpstr>
      <vt:lpstr>Supervised vs Unsupervised Learning</vt:lpstr>
      <vt:lpstr>Supervised Learning Examples</vt:lpstr>
      <vt:lpstr>Regression vs. Classification (Supervised)</vt:lpstr>
      <vt:lpstr>Regression vs. Classification</vt:lpstr>
      <vt:lpstr>Supervised Learning Examples</vt:lpstr>
      <vt:lpstr>Supervised Learning Examples</vt:lpstr>
      <vt:lpstr>Deep Learning and Supervised/Unsupervised</vt:lpstr>
      <vt:lpstr>Elements of an ML problem</vt:lpstr>
      <vt:lpstr>Our first toy example</vt:lpstr>
      <vt:lpstr>Our first toy example</vt:lpstr>
      <vt:lpstr>Our first toy example (mock dataset)</vt:lpstr>
      <vt:lpstr>Our first toy example (mock dataset)</vt:lpstr>
      <vt:lpstr>Our first toy example (mock dataset)</vt:lpstr>
      <vt:lpstr>PowerPoint Presentation</vt:lpstr>
      <vt:lpstr>Our first toy example</vt:lpstr>
      <vt:lpstr>Our first model, the linear regression</vt:lpstr>
      <vt:lpstr>Let us try different values of (a, b)</vt:lpstr>
      <vt:lpstr>PowerPoint Presentation</vt:lpstr>
      <vt:lpstr>The need for a loss function</vt:lpstr>
      <vt:lpstr>The need for a loss function</vt:lpstr>
      <vt:lpstr>The need for a loss function</vt:lpstr>
      <vt:lpstr>The need for a loss function</vt:lpstr>
      <vt:lpstr>PowerPoint Presentation</vt:lpstr>
      <vt:lpstr>Training a model</vt:lpstr>
      <vt:lpstr>Training a linear regression model</vt:lpstr>
      <vt:lpstr>Training a linear regression model</vt:lpstr>
      <vt:lpstr>Training a linear regression model</vt:lpstr>
      <vt:lpstr>PowerPoint Presentation</vt:lpstr>
      <vt:lpstr>The problem with the normal equation</vt:lpstr>
      <vt:lpstr>Gradient Descent, to the rescue!</vt:lpstr>
      <vt:lpstr>Gradient Descent, to the rescue!</vt:lpstr>
      <vt:lpstr>GD in Linear Regression</vt:lpstr>
      <vt:lpstr>GD in Linear Regression</vt:lpstr>
      <vt:lpstr>GD in Linear Regression</vt:lpstr>
      <vt:lpstr>GD in Linear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Checking for optimal parameters</vt:lpstr>
      <vt:lpstr>PowerPoint Presentation</vt:lpstr>
      <vt:lpstr>Using Sklearn for Linear regression</vt:lpstr>
      <vt:lpstr>Predicting using Sklearn Linear regression</vt:lpstr>
      <vt:lpstr>Let us call it a break for today</vt:lpstr>
      <vt:lpstr>More specifically</vt:lpstr>
      <vt:lpstr>More specifically</vt:lpstr>
      <vt:lpstr>More specifically</vt:lpstr>
      <vt:lpstr>Installing PyTorch and CUDA</vt:lpstr>
      <vt:lpstr>Installing PyTorch and CUDA</vt:lpstr>
      <vt:lpstr>Installing PyTorch and CUDA</vt:lpstr>
      <vt:lpstr>Checking your PyTorch and CUDA install</vt:lpstr>
      <vt:lpstr>A quick word about PyTorch 2.0</vt:lpstr>
      <vt:lpstr>Supervised vs Unsupervised Learning</vt:lpstr>
      <vt:lpstr>Unsupervised Learning Examples</vt:lpstr>
      <vt:lpstr>Unsupervised Learning Examples</vt:lpstr>
      <vt:lpstr>Clustering vs. Association (Unsupervised)</vt:lpstr>
      <vt:lpstr>Clustering vs. Association (Unsupervised)</vt:lpstr>
      <vt:lpstr>Clustering vs. Association (Unsupervised)</vt:lpstr>
      <vt:lpstr>Proof of the Normal Equation</vt:lpstr>
      <vt:lpstr>Proof of the Normal Equation</vt:lpstr>
      <vt:lpstr>Proof of the Normal Equation</vt:lpstr>
      <vt:lpstr>Proof of the Normal Equation</vt:lpstr>
      <vt:lpstr>Proof of the Normal Equation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2026-01-14T07:52:59Z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