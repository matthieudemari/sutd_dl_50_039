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50" r:id="rId4"/>
    <p:sldId id="551"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50"/>
            <p14:sldId id="551"/>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9A8C78-F34F-476A-BFAC-29F153506AA6}" v="26" dt="2026-01-21T05:34:13.4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8/10/relationships/authors" Target="authors.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1-21T05:34:13.404" v="2372"/>
      <pc:docMkLst>
        <pc:docMk/>
      </pc:docMkLst>
      <pc:sldChg chg="modSp mod">
        <pc:chgData name="Matthieu De Mari" userId="dfb708c9-d8dc-439f-9a3b-c772bf4a311c" providerId="ADAL" clId="{81E9B007-0C2C-493E-9B93-55A62C9C1F12}" dt="2026-01-14T07:51:55.041" v="1831" actId="20577"/>
        <pc:sldMkLst>
          <pc:docMk/>
          <pc:sldMk cId="3338565690" sldId="264"/>
        </pc:sldMkLst>
        <pc:spChg chg="mod">
          <ac:chgData name="Matthieu De Mari" userId="dfb708c9-d8dc-439f-9a3b-c772bf4a311c" providerId="ADAL" clId="{81E9B007-0C2C-493E-9B93-55A62C9C1F12}" dt="2026-01-14T07:51:55.041" v="1831" actId="20577"/>
          <ac:spMkLst>
            <pc:docMk/>
            <pc:sldMk cId="3338565690" sldId="264"/>
            <ac:spMk id="13" creationId="{100642B6-C432-4551-A081-D2685D9CE257}"/>
          </ac:spMkLst>
        </pc:spChg>
      </pc:sldChg>
      <pc:sldChg chg="modSp mod">
        <pc:chgData name="Matthieu De Mari" userId="dfb708c9-d8dc-439f-9a3b-c772bf4a311c" providerId="ADAL" clId="{81E9B007-0C2C-493E-9B93-55A62C9C1F12}" dt="2026-01-16T04:45:21.279" v="1896" actId="20577"/>
        <pc:sldMkLst>
          <pc:docMk/>
          <pc:sldMk cId="2102240919" sldId="378"/>
        </pc:sldMkLst>
        <pc:spChg chg="mod">
          <ac:chgData name="Matthieu De Mari" userId="dfb708c9-d8dc-439f-9a3b-c772bf4a311c" providerId="ADAL" clId="{81E9B007-0C2C-493E-9B93-55A62C9C1F12}" dt="2026-01-16T04:45:21.279" v="1896" actId="2057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6-01-16T04:44:35.164" v="1862" actId="20577"/>
        <pc:sldMkLst>
          <pc:docMk/>
          <pc:sldMk cId="2869851827" sldId="379"/>
        </pc:sldMkLst>
        <pc:spChg chg="mod">
          <ac:chgData name="Matthieu De Mari" userId="dfb708c9-d8dc-439f-9a3b-c772bf4a311c" providerId="ADAL" clId="{81E9B007-0C2C-493E-9B93-55A62C9C1F12}" dt="2026-01-16T04:44:35.164" v="1862"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6-01-16T04:48:33.718" v="1945" actId="20577"/>
        <pc:sldMkLst>
          <pc:docMk/>
          <pc:sldMk cId="305053717" sldId="390"/>
        </pc:sldMkLst>
        <pc:spChg chg="mod">
          <ac:chgData name="Matthieu De Mari" userId="dfb708c9-d8dc-439f-9a3b-c772bf4a311c" providerId="ADAL" clId="{81E9B007-0C2C-493E-9B93-55A62C9C1F12}" dt="2026-01-16T04:48:33.718" v="1945" actId="20577"/>
          <ac:spMkLst>
            <pc:docMk/>
            <pc:sldMk cId="305053717" sldId="390"/>
            <ac:spMk id="3" creationId="{FF686CDA-C22E-B272-5CB5-BE1E309AAA29}"/>
          </ac:spMkLst>
        </pc:spChg>
      </pc:sldChg>
      <pc:sldChg chg="modSp mod">
        <pc:chgData name="Matthieu De Mari" userId="dfb708c9-d8dc-439f-9a3b-c772bf4a311c" providerId="ADAL" clId="{81E9B007-0C2C-493E-9B93-55A62C9C1F12}" dt="2026-01-16T04:46:36.863" v="1920" actId="20577"/>
        <pc:sldMkLst>
          <pc:docMk/>
          <pc:sldMk cId="106661604" sldId="406"/>
        </pc:sldMkLst>
        <pc:spChg chg="mod">
          <ac:chgData name="Matthieu De Mari" userId="dfb708c9-d8dc-439f-9a3b-c772bf4a311c" providerId="ADAL" clId="{81E9B007-0C2C-493E-9B93-55A62C9C1F12}" dt="2026-01-16T04:46:36.863" v="1920" actId="20577"/>
          <ac:spMkLst>
            <pc:docMk/>
            <pc:sldMk cId="106661604" sldId="406"/>
            <ac:spMk id="3" creationId="{F9359CBB-2BA1-6409-CE17-97C6B596059A}"/>
          </ac:spMkLst>
        </pc:spChg>
      </pc:sldChg>
      <pc:sldChg chg="modSp mod">
        <pc:chgData name="Matthieu De Mari" userId="dfb708c9-d8dc-439f-9a3b-c772bf4a311c" providerId="ADAL" clId="{81E9B007-0C2C-493E-9B93-55A62C9C1F12}" dt="2026-01-16T04:52:11.297" v="2115" actId="20577"/>
        <pc:sldMkLst>
          <pc:docMk/>
          <pc:sldMk cId="2882627589" sldId="438"/>
        </pc:sldMkLst>
        <pc:spChg chg="mod">
          <ac:chgData name="Matthieu De Mari" userId="dfb708c9-d8dc-439f-9a3b-c772bf4a311c" providerId="ADAL" clId="{81E9B007-0C2C-493E-9B93-55A62C9C1F12}" dt="2026-01-16T04:52:11.297" v="2115" actId="20577"/>
          <ac:spMkLst>
            <pc:docMk/>
            <pc:sldMk cId="2882627589" sldId="438"/>
            <ac:spMk id="3" creationId="{09ACEEFD-8460-F540-F80C-BEACC2297773}"/>
          </ac:spMkLst>
        </pc:spChg>
      </pc:sldChg>
      <pc:sldChg chg="modSp mod">
        <pc:chgData name="Matthieu De Mari" userId="dfb708c9-d8dc-439f-9a3b-c772bf4a311c" providerId="ADAL" clId="{81E9B007-0C2C-493E-9B93-55A62C9C1F12}" dt="2026-01-16T04:58:28.119" v="2325" actId="20577"/>
        <pc:sldMkLst>
          <pc:docMk/>
          <pc:sldMk cId="2768433902" sldId="445"/>
        </pc:sldMkLst>
        <pc:spChg chg="mod">
          <ac:chgData name="Matthieu De Mari" userId="dfb708c9-d8dc-439f-9a3b-c772bf4a311c" providerId="ADAL" clId="{81E9B007-0C2C-493E-9B93-55A62C9C1F12}" dt="2026-01-16T04:58:28.119" v="2325" actId="20577"/>
          <ac:spMkLst>
            <pc:docMk/>
            <pc:sldMk cId="2768433902" sldId="445"/>
            <ac:spMk id="3" creationId="{9BAE63A8-7CB3-9103-18B5-4F57A6F933B5}"/>
          </ac:spMkLst>
        </pc:spChg>
      </pc:sldChg>
      <pc:sldChg chg="modSp mod">
        <pc:chgData name="Matthieu De Mari" userId="dfb708c9-d8dc-439f-9a3b-c772bf4a311c" providerId="ADAL" clId="{81E9B007-0C2C-493E-9B93-55A62C9C1F12}" dt="2026-01-16T04:59:22.588" v="2326" actId="122"/>
        <pc:sldMkLst>
          <pc:docMk/>
          <pc:sldMk cId="3841748881" sldId="450"/>
        </pc:sldMkLst>
        <pc:spChg chg="mod">
          <ac:chgData name="Matthieu De Mari" userId="dfb708c9-d8dc-439f-9a3b-c772bf4a311c" providerId="ADAL" clId="{81E9B007-0C2C-493E-9B93-55A62C9C1F12}" dt="2026-01-16T04:59:22.588" v="2326" actId="122"/>
          <ac:spMkLst>
            <pc:docMk/>
            <pc:sldMk cId="3841748881" sldId="450"/>
            <ac:spMk id="3" creationId="{9BAE63A8-7CB3-9103-18B5-4F57A6F933B5}"/>
          </ac:spMkLst>
        </pc:spChg>
      </pc:sldChg>
      <pc:sldChg chg="addSp modSp mod">
        <pc:chgData name="Matthieu De Mari" userId="dfb708c9-d8dc-439f-9a3b-c772bf4a311c" providerId="ADAL" clId="{81E9B007-0C2C-493E-9B93-55A62C9C1F12}" dt="2026-01-16T05:05:47.173" v="2331" actId="14100"/>
        <pc:sldMkLst>
          <pc:docMk/>
          <pc:sldMk cId="1454093558" sldId="463"/>
        </pc:sldMkLst>
        <pc:spChg chg="add mod">
          <ac:chgData name="Matthieu De Mari" userId="dfb708c9-d8dc-439f-9a3b-c772bf4a311c" providerId="ADAL" clId="{81E9B007-0C2C-493E-9B93-55A62C9C1F12}" dt="2026-01-16T05:05:47.173" v="2331" actId="14100"/>
          <ac:spMkLst>
            <pc:docMk/>
            <pc:sldMk cId="1454093558" sldId="463"/>
            <ac:spMk id="4" creationId="{BE65B229-875D-F208-DBEA-37BCAB83059F}"/>
          </ac:spMkLst>
        </pc:spChg>
      </pc:sldChg>
      <pc:sldChg chg="modSp mod">
        <pc:chgData name="Matthieu De Mari" userId="dfb708c9-d8dc-439f-9a3b-c772bf4a311c" providerId="ADAL" clId="{81E9B007-0C2C-493E-9B93-55A62C9C1F12}" dt="2026-01-16T05:08:56.440" v="2334" actId="20577"/>
        <pc:sldMkLst>
          <pc:docMk/>
          <pc:sldMk cId="2180749" sldId="473"/>
        </pc:sldMkLst>
        <pc:spChg chg="mod">
          <ac:chgData name="Matthieu De Mari" userId="dfb708c9-d8dc-439f-9a3b-c772bf4a311c" providerId="ADAL" clId="{81E9B007-0C2C-493E-9B93-55A62C9C1F12}" dt="2026-01-16T05:08:56.440" v="2334" actId="20577"/>
          <ac:spMkLst>
            <pc:docMk/>
            <pc:sldMk cId="2180749" sldId="473"/>
            <ac:spMk id="2" creationId="{4BB25830-53E6-084F-C939-FF283C0C7707}"/>
          </ac:spMkLst>
        </pc:spChg>
      </pc:sldChg>
      <pc:sldChg chg="modSp mod">
        <pc:chgData name="Matthieu De Mari" userId="dfb708c9-d8dc-439f-9a3b-c772bf4a311c" providerId="ADAL" clId="{81E9B007-0C2C-493E-9B93-55A62C9C1F12}" dt="2026-01-16T04:46:11.056" v="1913" actId="20577"/>
        <pc:sldMkLst>
          <pc:docMk/>
          <pc:sldMk cId="105170546" sldId="516"/>
        </pc:sldMkLst>
        <pc:spChg chg="mod">
          <ac:chgData name="Matthieu De Mari" userId="dfb708c9-d8dc-439f-9a3b-c772bf4a311c" providerId="ADAL" clId="{81E9B007-0C2C-493E-9B93-55A62C9C1F12}" dt="2026-01-16T04:45:57.192" v="1909" actId="20577"/>
          <ac:spMkLst>
            <pc:docMk/>
            <pc:sldMk cId="105170546" sldId="516"/>
            <ac:spMk id="3" creationId="{F9359CBB-2BA1-6409-CE17-97C6B596059A}"/>
          </ac:spMkLst>
        </pc:spChg>
        <pc:spChg chg="mod">
          <ac:chgData name="Matthieu De Mari" userId="dfb708c9-d8dc-439f-9a3b-c772bf4a311c" providerId="ADAL" clId="{81E9B007-0C2C-493E-9B93-55A62C9C1F12}" dt="2026-01-16T04:46:11.056" v="1913" actId="20577"/>
          <ac:spMkLst>
            <pc:docMk/>
            <pc:sldMk cId="105170546" sldId="516"/>
            <ac:spMk id="4" creationId="{A9128ADB-0675-1D96-82EC-7D8A9E26F74A}"/>
          </ac:spMkLst>
        </pc:spChg>
      </pc:sldChg>
      <pc:sldChg chg="addSp delSp modSp add mod">
        <pc:chgData name="Matthieu De Mari" userId="dfb708c9-d8dc-439f-9a3b-c772bf4a311c" providerId="ADAL" clId="{81E9B007-0C2C-493E-9B93-55A62C9C1F12}" dt="2026-01-14T07:52:04.516" v="1847" actId="20577"/>
        <pc:sldMkLst>
          <pc:docMk/>
          <pc:sldMk cId="117647756" sldId="550"/>
        </pc:sldMkLst>
        <pc:spChg chg="mod">
          <ac:chgData name="Matthieu De Mari" userId="dfb708c9-d8dc-439f-9a3b-c772bf4a311c" providerId="ADAL" clId="{81E9B007-0C2C-493E-9B93-55A62C9C1F12}" dt="2026-01-14T07:52:04.516" v="1847" actId="20577"/>
          <ac:spMkLst>
            <pc:docMk/>
            <pc:sldMk cId="117647756" sldId="550"/>
            <ac:spMk id="13" creationId="{C88CA437-D2F8-2CB0-563E-C1BE9DE281AA}"/>
          </ac:spMkLst>
        </pc:spChg>
        <pc:picChg chg="add mod">
          <ac:chgData name="Matthieu De Mari" userId="dfb708c9-d8dc-439f-9a3b-c772bf4a311c" providerId="ADAL" clId="{81E9B007-0C2C-493E-9B93-55A62C9C1F12}" dt="2026-01-14T07:51:27.523" v="1813" actId="1076"/>
          <ac:picMkLst>
            <pc:docMk/>
            <pc:sldMk cId="117647756" sldId="550"/>
            <ac:picMk id="4" creationId="{53644A91-A70B-F34E-6F82-F2AF1F827CE0}"/>
          </ac:picMkLst>
        </pc:picChg>
      </pc:sldChg>
      <pc:sldChg chg="addSp delSp modSp add mod modClrScheme chgLayout">
        <pc:chgData name="Matthieu De Mari" userId="dfb708c9-d8dc-439f-9a3b-c772bf4a311c" providerId="ADAL" clId="{81E9B007-0C2C-493E-9B93-55A62C9C1F12}" dt="2026-01-21T05:34:13.404" v="2372"/>
        <pc:sldMkLst>
          <pc:docMk/>
          <pc:sldMk cId="1509591385" sldId="551"/>
        </pc:sldMkLst>
        <pc:spChg chg="mod ord">
          <ac:chgData name="Matthieu De Mari" userId="dfb708c9-d8dc-439f-9a3b-c772bf4a311c" providerId="ADAL" clId="{81E9B007-0C2C-493E-9B93-55A62C9C1F12}" dt="2026-01-21T05:34:06.735" v="2368" actId="700"/>
          <ac:spMkLst>
            <pc:docMk/>
            <pc:sldMk cId="1509591385" sldId="551"/>
            <ac:spMk id="2" creationId="{43FA4E56-9BDA-0354-EF2E-214A8E49AA33}"/>
          </ac:spMkLst>
        </pc:spChg>
        <pc:spChg chg="add">
          <ac:chgData name="Matthieu De Mari" userId="dfb708c9-d8dc-439f-9a3b-c772bf4a311c" providerId="ADAL" clId="{81E9B007-0C2C-493E-9B93-55A62C9C1F12}" dt="2026-01-21T05:32:30.261" v="2335"/>
          <ac:spMkLst>
            <pc:docMk/>
            <pc:sldMk cId="1509591385" sldId="551"/>
            <ac:spMk id="3" creationId="{94A2EEC4-5212-B218-319B-1597816A6EBB}"/>
          </ac:spMkLst>
        </pc:spChg>
        <pc:spChg chg="mod ord">
          <ac:chgData name="Matthieu De Mari" userId="dfb708c9-d8dc-439f-9a3b-c772bf4a311c" providerId="ADAL" clId="{81E9B007-0C2C-493E-9B93-55A62C9C1F12}" dt="2026-01-21T05:34:13.404" v="2372"/>
          <ac:spMkLst>
            <pc:docMk/>
            <pc:sldMk cId="1509591385" sldId="551"/>
            <ac:spMk id="13" creationId="{65BFD3FD-703A-C67B-198F-FF0A8F9EB273}"/>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21/01/2026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hyperlink" Target="mailto:dileepa_fernando@sutd.edu.sg"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mailto:kunrong_li@mymail.sutd.edu.s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6.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4.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8.png"/><Relationship Id="rId4" Type="http://schemas.openxmlformats.org/officeDocument/2006/relationships/diagramLayout" Target="../diagrams/layout7.xml"/><Relationship Id="rId9" Type="http://schemas.openxmlformats.org/officeDocument/2006/relationships/image" Target="../media/image19.png"/></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0.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9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9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4.png"/><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Director of the Master of Science in Design and Artificial Intelligence for Enterprise (MSc DAI-E)</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2.401-07 (located in SUTD Academy/AI cluster).</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F0D4-B243-BC69-E547-A4CB23DA68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54A739-8FD6-EF1F-95E1-BF44FA51D6EF}"/>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C88CA437-D2F8-2CB0-563E-C1BE9DE281AA}"/>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en-GB" dirty="0"/>
              <a:t>Lecturer at SUTD (Python, Software Engineering, Programming Language Concepts and more)</a:t>
            </a:r>
          </a:p>
          <a:p>
            <a:r>
              <a:rPr lang="en-GB" dirty="0"/>
              <a:t>Computer Science and Design (CSD)</a:t>
            </a:r>
          </a:p>
          <a:p>
            <a:r>
              <a:rPr lang="en-GB" dirty="0"/>
              <a:t>PhD from NUS</a:t>
            </a:r>
          </a:p>
          <a:p>
            <a:r>
              <a:rPr lang="en-GB" dirty="0"/>
              <a:t>Email: </a:t>
            </a:r>
            <a:r>
              <a:rPr lang="en-GB" dirty="0">
                <a:hlinkClick r:id="rId2"/>
              </a:rPr>
              <a:t>dileepa_fernando@sutd.edu.sg</a:t>
            </a:r>
            <a:r>
              <a:rPr lang="en-GB" dirty="0"/>
              <a:t> </a:t>
            </a:r>
          </a:p>
          <a:p>
            <a:r>
              <a:rPr lang="en-GB" dirty="0"/>
              <a:t>Office @ SUTD: 1.402.24</a:t>
            </a:r>
          </a:p>
          <a:p>
            <a:endParaRPr lang="en-GB" dirty="0"/>
          </a:p>
        </p:txBody>
      </p:sp>
      <p:pic>
        <p:nvPicPr>
          <p:cNvPr id="4" name="Picture 3">
            <a:extLst>
              <a:ext uri="{FF2B5EF4-FFF2-40B4-BE49-F238E27FC236}">
                <a16:creationId xmlns:a16="http://schemas.microsoft.com/office/drawing/2014/main" id="{53644A91-A70B-F34E-6F82-F2AF1F827CE0}"/>
              </a:ext>
            </a:extLst>
          </p:cNvPr>
          <p:cNvPicPr>
            <a:picLocks noChangeAspect="1"/>
          </p:cNvPicPr>
          <p:nvPr/>
        </p:nvPicPr>
        <p:blipFill>
          <a:blip r:embed="rId3"/>
          <a:stretch>
            <a:fillRect/>
          </a:stretch>
        </p:blipFill>
        <p:spPr>
          <a:xfrm>
            <a:off x="7782225" y="1690688"/>
            <a:ext cx="3747744" cy="4681197"/>
          </a:xfrm>
          <a:prstGeom prst="rect">
            <a:avLst/>
          </a:prstGeom>
        </p:spPr>
      </p:pic>
    </p:spTree>
    <p:extLst>
      <p:ext uri="{BB962C8B-B14F-4D97-AF65-F5344CB8AC3E}">
        <p14:creationId xmlns:p14="http://schemas.microsoft.com/office/powerpoint/2010/main" val="117647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D874-74ED-3802-060B-8D78B58A4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A4E56-9BDA-0354-EF2E-214A8E49AA33}"/>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65BFD3FD-703A-C67B-198F-FF0A8F9EB273}"/>
              </a:ext>
            </a:extLst>
          </p:cNvPr>
          <p:cNvSpPr>
            <a:spLocks noGrp="1"/>
          </p:cNvSpPr>
          <p:nvPr>
            <p:ph idx="1"/>
          </p:nvPr>
        </p:nvSpPr>
        <p:spPr>
          <a:xfrm>
            <a:off x="838200" y="1825624"/>
            <a:ext cx="10515600" cy="5032375"/>
          </a:xfrm>
        </p:spPr>
        <p:txBody>
          <a:bodyPr>
            <a:normAutofit/>
          </a:bodyPr>
          <a:lstStyle/>
          <a:p>
            <a:pPr marL="0" indent="0">
              <a:buNone/>
            </a:pPr>
            <a:r>
              <a:rPr lang="en-GB" b="1" dirty="0"/>
              <a:t>Li </a:t>
            </a:r>
            <a:r>
              <a:rPr lang="en-GB" b="1" dirty="0" err="1"/>
              <a:t>Kunrong</a:t>
            </a:r>
            <a:r>
              <a:rPr lang="en-GB" b="1" dirty="0"/>
              <a:t> (TA)</a:t>
            </a:r>
            <a:endParaRPr lang="en-GB" dirty="0"/>
          </a:p>
          <a:p>
            <a:r>
              <a:rPr lang="en-GB" dirty="0"/>
              <a:t>PhD student under the ISTD pillar.</a:t>
            </a:r>
          </a:p>
          <a:p>
            <a:r>
              <a:rPr lang="en-GB" dirty="0"/>
              <a:t>Research interests include distributed systems, recommender systems, and LLM, with a focus on applying these techniques in real-world production environments. </a:t>
            </a:r>
          </a:p>
          <a:p>
            <a:r>
              <a:rPr lang="en-GB" dirty="0"/>
              <a:t>Email: </a:t>
            </a:r>
            <a:r>
              <a:rPr lang="en-GB" u="sng" dirty="0">
                <a:hlinkClick r:id="rId2"/>
              </a:rPr>
              <a:t>kunrong_li@mymail.sutd.edu.sg</a:t>
            </a:r>
            <a:r>
              <a:rPr lang="en-SG" dirty="0"/>
              <a:t> </a:t>
            </a:r>
            <a:endParaRPr lang="en-GB" dirty="0"/>
          </a:p>
          <a:p>
            <a:endParaRPr lang="en-GB" dirty="0"/>
          </a:p>
          <a:p>
            <a:r>
              <a:rPr lang="en-GB" dirty="0"/>
              <a:t>Our TA will be helping with designing and grading </a:t>
            </a:r>
            <a:r>
              <a:rPr lang="en-GB" dirty="0" err="1"/>
              <a:t>homeworks</a:t>
            </a:r>
            <a:r>
              <a:rPr lang="en-GB" dirty="0"/>
              <a:t> through the term. You may approach her via email in case of questions about </a:t>
            </a:r>
            <a:r>
              <a:rPr lang="en-GB" dirty="0" err="1"/>
              <a:t>homeworks</a:t>
            </a:r>
            <a:r>
              <a:rPr lang="en-GB" dirty="0"/>
              <a:t>.</a:t>
            </a:r>
          </a:p>
          <a:p>
            <a:endParaRPr lang="en-GB" dirty="0"/>
          </a:p>
        </p:txBody>
      </p:sp>
    </p:spTree>
    <p:extLst>
      <p:ext uri="{BB962C8B-B14F-4D97-AF65-F5344CB8AC3E}">
        <p14:creationId xmlns:p14="http://schemas.microsoft.com/office/powerpoint/2010/main" val="15095913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2026):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dirty="0"/>
              <a:t>pointers</a:t>
            </a:r>
            <a:r>
              <a:rPr lang="en-GB" dirty="0"/>
              <a:t> on how to stay up-to-date in this fast-evolving field.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(loops and OOP!), </a:t>
            </a:r>
            <a:r>
              <a:rPr lang="en-GB" dirty="0" err="1"/>
              <a:t>Numpy</a:t>
            </a:r>
            <a:r>
              <a:rPr lang="en-GB" dirty="0"/>
              <a:t>, Matplotlib.</a:t>
            </a:r>
          </a:p>
          <a:p>
            <a:r>
              <a:rPr lang="en-GB" b="1" dirty="0">
                <a:solidFill>
                  <a:srgbClr val="FF0000"/>
                </a:solidFill>
              </a:rPr>
              <a:t>Must-have Math: </a:t>
            </a:r>
            <a:r>
              <a:rPr lang="en-GB" dirty="0"/>
              <a:t>Linear Algebra, Multiple Variables Calculus, Differentiation/Derivatives, Optimization, Probability and Statistics.</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couple of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DL framework they do not understand (or worse, </a:t>
            </a:r>
            <a:r>
              <a:rPr lang="en-GB" dirty="0" err="1"/>
              <a:t>autoML</a:t>
            </a:r>
            <a:r>
              <a:rPr lang="en-GB" dirty="0"/>
              <a:t>!),</a:t>
            </a:r>
          </a:p>
          <a:p>
            <a:r>
              <a:rPr lang="en-GB" dirty="0"/>
              <a:t>Cannot obtain more than 95%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 code).</a:t>
            </a:r>
          </a:p>
          <a:p>
            <a:r>
              <a:rPr lang="en-GB" b="1" dirty="0"/>
              <a:t>Made a choice: </a:t>
            </a:r>
            <a:r>
              <a:rPr lang="en-GB" dirty="0"/>
              <a:t>providing lots of code to demonstrate concepts but </a:t>
            </a:r>
            <a:r>
              <a:rPr lang="en-GB" b="1" u="sng" dirty="0"/>
              <a:t>need you to play with them autonomously</a:t>
            </a:r>
            <a:r>
              <a:rPr lang="en-GB" dirty="0"/>
              <a:t>!</a:t>
            </a:r>
          </a:p>
          <a:p>
            <a:r>
              <a:rPr lang="en-GB" b="1" dirty="0"/>
              <a:t>Extra</a:t>
            </a:r>
            <a:r>
              <a:rPr lang="en-GB" dirty="0"/>
              <a:t> </a:t>
            </a:r>
            <a:r>
              <a:rPr lang="en-GB" b="1" dirty="0"/>
              <a:t>reading</a:t>
            </a:r>
            <a:r>
              <a:rPr lang="en-GB" dirty="0"/>
              <a:t>, for curiosity (supporting papers, articles, etc.) and suggestions of pointers to stay up-to-date.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lecture materials: </a:t>
            </a:r>
            <a:r>
              <a:rPr lang="en-GB" dirty="0"/>
              <a:t>Read-only, reference slides, and supporting </a:t>
            </a:r>
            <a:r>
              <a:rPr lang="en-GB" dirty="0" err="1"/>
              <a:t>Jupyter</a:t>
            </a:r>
            <a:r>
              <a:rPr lang="en-GB" dirty="0"/>
              <a:t> notebooks.</a:t>
            </a:r>
          </a:p>
          <a:p>
            <a:r>
              <a:rPr lang="en-GB" b="1" dirty="0"/>
              <a:t>Video recaps (from previous years, being revised as time allows).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b="1" dirty="0">
                <a:solidFill>
                  <a:srgbClr val="C00000"/>
                </a:solidFill>
              </a:rPr>
              <a:t>Attendance will be a key component for the participation score.</a:t>
            </a:r>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and some ML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with gradient descent, training and testing.</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foundational vision models and transfer learning.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Introduction to sequential data (numerical series, times series,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 </a:t>
            </a:r>
            <a:r>
              <a:rPr lang="en-GB" dirty="0" err="1"/>
              <a:t>MidTerm</a:t>
            </a:r>
            <a:r>
              <a:rPr lang="en-GB" dirty="0"/>
              <a:t> exam (based on W1-6).</a:t>
            </a:r>
            <a:r>
              <a:rPr lang="en-SG" dirty="0"/>
              <a:t> One lecture might move to Week 6 to make space for </a:t>
            </a:r>
            <a:r>
              <a:rPr lang="en-SG" dirty="0" err="1"/>
              <a:t>MidTerm</a:t>
            </a:r>
            <a:r>
              <a:rPr lang="en-SG" dirty="0"/>
              <a:t> exam.</a:t>
            </a:r>
            <a:endParaRPr lang="en-GB" dirty="0"/>
          </a:p>
          <a:p>
            <a:endParaRPr lang="en-GB" dirty="0"/>
          </a:p>
          <a:p>
            <a:r>
              <a:rPr lang="en-GB" b="1" dirty="0"/>
              <a:t>Week 9: </a:t>
            </a:r>
            <a:r>
              <a:rPr lang="en-GB" dirty="0"/>
              <a:t>Introduction to Vision Transformers and how it relates to concepts in W4 and W8. Quick introduction to Graph Theory, typical graph datasets and problems, basics of Graph Convolutional Networks, brief state-of-the-art of advanced GCNs.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lnSpcReduction="10000"/>
          </a:bodyPr>
          <a:lstStyle/>
          <a:p>
            <a:r>
              <a:rPr lang="en-GB" b="1" dirty="0"/>
              <a:t>Week 12: </a:t>
            </a:r>
            <a:r>
              <a:rPr lang="en-GB" dirty="0"/>
              <a:t>Topics for curiosity. Introduction to Physics-Informed Neural Networks. Basic introduction to deep belief and diffusion models (more details to be covered in the 50.035 Computer Vision course). Introduction to Explainability/Interpretability, ethical questions on Deep Learning and open questions in research about Neural Networks.</a:t>
            </a:r>
          </a:p>
          <a:p>
            <a:endParaRPr lang="en-GB" dirty="0"/>
          </a:p>
          <a:p>
            <a:r>
              <a:rPr lang="en-GB" b="1" dirty="0"/>
              <a:t>Week 13: </a:t>
            </a:r>
            <a:r>
              <a:rPr lang="en-GB" dirty="0"/>
              <a:t>A word about ChatGPT,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(15%):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(25%):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(28%):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not use the C++/Java version of </a:t>
            </a:r>
            <a:r>
              <a:rPr lang="en-GB" u="sng" dirty="0" err="1"/>
              <a:t>PyTorch</a:t>
            </a:r>
            <a:r>
              <a:rPr lang="en-GB" dirty="0"/>
              <a:t>).</a:t>
            </a:r>
          </a:p>
          <a:p>
            <a:r>
              <a:rPr lang="en-GB" b="1" dirty="0"/>
              <a:t>Libraries needed: </a:t>
            </a: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 torch, </a:t>
            </a:r>
            <a:r>
              <a:rPr lang="en-GB" dirty="0" err="1"/>
              <a:t>torchvision</a:t>
            </a:r>
            <a:r>
              <a:rPr lang="en-GB" dirty="0"/>
              <a:t>, </a:t>
            </a:r>
            <a:r>
              <a:rPr lang="en-GB" dirty="0" err="1"/>
              <a:t>torchmetrics</a:t>
            </a:r>
            <a:r>
              <a:rPr lang="en-GB" dirty="0"/>
              <a:t>, etc.</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a:t>How </a:t>
            </a:r>
            <a:r>
              <a:rPr lang="fr-FR" dirty="0" err="1"/>
              <a:t>would</a:t>
            </a:r>
            <a:r>
              <a:rPr lang="fr-FR" dirty="0"/>
              <a:t> </a:t>
            </a:r>
            <a:r>
              <a:rPr lang="fr-FR" dirty="0" err="1"/>
              <a:t>you</a:t>
            </a:r>
            <a:r>
              <a:rPr lang="fr-FR" dirty="0"/>
              <a:t> </a:t>
            </a:r>
            <a:r>
              <a:rPr lang="fr-FR" dirty="0" err="1"/>
              <a:t>guess</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r>
              <a:rPr lang="en-GB" dirty="0"/>
              <a:t>By choosing such a model, we are making the assumption that the price of an apartment is a linear function of the surface of said apartment.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predicted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 yet.</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outputs of a model and the true outputs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computed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
        <p:nvSpPr>
          <p:cNvPr id="2" name="Oval 1">
            <a:extLst>
              <a:ext uri="{FF2B5EF4-FFF2-40B4-BE49-F238E27FC236}">
                <a16:creationId xmlns:a16="http://schemas.microsoft.com/office/drawing/2014/main" id="{D9F1BF25-44AF-96CD-3D22-6DFB8468D505}"/>
              </a:ext>
            </a:extLst>
          </p:cNvPr>
          <p:cNvSpPr/>
          <p:nvPr/>
        </p:nvSpPr>
        <p:spPr>
          <a:xfrm>
            <a:off x="5321030" y="266258"/>
            <a:ext cx="1935804" cy="854417"/>
          </a:xfrm>
          <a:prstGeom prst="ellipse">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730218"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p>
              <a:p>
                <a:pPr marL="0" indent="0">
                  <a:buNone/>
                </a:pPr>
                <a:r>
                  <a:rPr lang="en-GB" dirty="0"/>
                  <a:t>This being said, </a:t>
                </a:r>
                <a:r>
                  <a:rPr lang="en-GB" b="1" dirty="0"/>
                  <a:t>we do not just want to choose some good values of the model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b="1" dirty="0"/>
                  <a:t>, we want the </a:t>
                </a:r>
                <a:r>
                  <a:rPr lang="en-GB" b="1" u="sng" dirty="0"/>
                  <a:t>best</a:t>
                </a:r>
                <a:r>
                  <a:rPr lang="en-GB" b="1" dirty="0"/>
                  <a:t> possible values for </a:t>
                </a:r>
                <a14:m>
                  <m:oMath xmlns:m="http://schemas.openxmlformats.org/officeDocument/2006/math">
                    <m:r>
                      <a:rPr lang="en-GB" b="1" i="1" dirty="0">
                        <a:latin typeface="Cambria Math" panose="02040503050406030204" pitchFamily="18" charset="0"/>
                      </a:rPr>
                      <m:t>(</m:t>
                    </m:r>
                    <m:r>
                      <a:rPr lang="en-GB" b="1" i="1" dirty="0">
                        <a:latin typeface="Cambria Math" panose="02040503050406030204" pitchFamily="18" charset="0"/>
                      </a:rPr>
                      <m:t>𝒂</m:t>
                    </m:r>
                    <m:r>
                      <a:rPr lang="en-GB" b="1" i="1" dirty="0">
                        <a:latin typeface="Cambria Math" panose="02040503050406030204" pitchFamily="18" charset="0"/>
                      </a:rPr>
                      <m:t>, </m:t>
                    </m:r>
                    <m:r>
                      <a:rPr lang="en-GB" b="1" i="1" dirty="0">
                        <a:latin typeface="Cambria Math" panose="02040503050406030204" pitchFamily="18" charset="0"/>
                      </a:rPr>
                      <m:t>𝒃</m:t>
                    </m:r>
                    <m:r>
                      <a:rPr lang="en-GB" b="1" i="1" dirty="0">
                        <a:latin typeface="Cambria Math" panose="02040503050406030204" pitchFamily="18" charset="0"/>
                      </a:rPr>
                      <m:t>)</m:t>
                    </m:r>
                  </m:oMath>
                </a14:m>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r>
                  <a:rPr lang="en-GB" dirty="0"/>
                  <a:t>Once a minimal value is obtained on the loss function, then we can claim that the “optimal” trainable parameters have been found. 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730218" cy="5032375"/>
              </a:xfrm>
              <a:blipFill>
                <a:blip r:embed="rId2"/>
                <a:stretch>
                  <a:fillRect l="-1193" t="-1937" r="-1364"/>
                </a:stretch>
              </a:blipFill>
            </p:spPr>
            <p:txBody>
              <a:bodyPr/>
              <a:lstStyle/>
              <a:p>
                <a:r>
                  <a:rPr lang="en-GB">
                    <a:noFill/>
                  </a:rPr>
                  <a:t> </a:t>
                </a:r>
              </a:p>
            </p:txBody>
          </p:sp>
        </mc:Fallback>
      </mc:AlternateContent>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lgn="ctr">
                  <a:buNone/>
                </a:pPr>
                <a:br>
                  <a:rPr lang="en-GB" b="0" dirty="0"/>
                </a:br>
                <a:r>
                  <a:rPr lang="en-GB" b="0" i="1" dirty="0"/>
                  <a:t>(Proof in bonus slides)</a:t>
                </a:r>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Typically, we could decide to break the GD loop if the changes on both parameters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given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59"/>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Rectangle 3">
            <a:extLst>
              <a:ext uri="{FF2B5EF4-FFF2-40B4-BE49-F238E27FC236}">
                <a16:creationId xmlns:a16="http://schemas.microsoft.com/office/drawing/2014/main" id="{BE65B229-875D-F208-DBEA-37BCAB83059F}"/>
              </a:ext>
            </a:extLst>
          </p:cNvPr>
          <p:cNvSpPr/>
          <p:nvPr/>
        </p:nvSpPr>
        <p:spPr>
          <a:xfrm>
            <a:off x="2684585" y="4026716"/>
            <a:ext cx="3674271"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 values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 values list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(And we can even compute using the normal equation anyway…)</a:t>
                </a:r>
              </a:p>
              <a:p>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71F22B87-451A-08A2-1021-B8B6CA607D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3"/>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(Maybe could get better with</a:t>
            </a:r>
            <a:br>
              <a:rPr lang="en-GB" sz="2800" b="1" dirty="0">
                <a:solidFill>
                  <a:schemeClr val="accent2"/>
                </a:solidFill>
              </a:rPr>
            </a:br>
            <a:r>
              <a:rPr lang="en-GB" sz="2800" b="1" dirty="0">
                <a:solidFill>
                  <a:schemeClr val="accent2"/>
                </a:solidFill>
              </a:rPr>
              <a:t>more iterations of GD?)</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things in CS, it is a good practice to try </a:t>
            </a:r>
            <a:r>
              <a:rPr lang="en-GB"/>
              <a:t>it once</a:t>
            </a:r>
            <a:r>
              <a:rPr lang="en-GB" dirty="0"/>
              <a:t>!)</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a:t>
            </a:r>
            <a:r>
              <a:rPr lang="en-GB"/>
              <a:t>using Linear </a:t>
            </a:r>
            <a:r>
              <a:rPr lang="en-GB" dirty="0"/>
              <a:t>R</a:t>
            </a:r>
            <a:r>
              <a:rPr lang="en-GB"/>
              <a:t>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Most notebooks can still run 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3185</TotalTime>
  <Words>6344</Words>
  <Application>Microsoft Office PowerPoint</Application>
  <PresentationFormat>Widescreen</PresentationFormat>
  <Paragraphs>550</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instructors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2026-01-21T05:34:16Z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