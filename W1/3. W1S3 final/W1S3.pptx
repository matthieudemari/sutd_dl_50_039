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377" r:id="rId2"/>
    <p:sldId id="257" r:id="rId3"/>
    <p:sldId id="517" r:id="rId4"/>
    <p:sldId id="518" r:id="rId5"/>
    <p:sldId id="509" r:id="rId6"/>
    <p:sldId id="521" r:id="rId7"/>
    <p:sldId id="522" r:id="rId8"/>
    <p:sldId id="523" r:id="rId9"/>
    <p:sldId id="528" r:id="rId10"/>
    <p:sldId id="524" r:id="rId11"/>
    <p:sldId id="525" r:id="rId12"/>
    <p:sldId id="526" r:id="rId13"/>
    <p:sldId id="527" r:id="rId14"/>
    <p:sldId id="510" r:id="rId15"/>
    <p:sldId id="529" r:id="rId16"/>
    <p:sldId id="535" r:id="rId17"/>
    <p:sldId id="536" r:id="rId18"/>
    <p:sldId id="538" r:id="rId19"/>
    <p:sldId id="539" r:id="rId20"/>
    <p:sldId id="540" r:id="rId21"/>
    <p:sldId id="541" r:id="rId22"/>
    <p:sldId id="511" r:id="rId23"/>
    <p:sldId id="542" r:id="rId24"/>
    <p:sldId id="543" r:id="rId25"/>
    <p:sldId id="544" r:id="rId26"/>
    <p:sldId id="545" r:id="rId27"/>
    <p:sldId id="546" r:id="rId28"/>
    <p:sldId id="547" r:id="rId29"/>
    <p:sldId id="548" r:id="rId30"/>
    <p:sldId id="589" r:id="rId31"/>
    <p:sldId id="512" r:id="rId32"/>
    <p:sldId id="596" r:id="rId33"/>
    <p:sldId id="551" r:id="rId34"/>
    <p:sldId id="550" r:id="rId35"/>
    <p:sldId id="554" r:id="rId36"/>
    <p:sldId id="555" r:id="rId37"/>
    <p:sldId id="513" r:id="rId38"/>
    <p:sldId id="556" r:id="rId39"/>
    <p:sldId id="557" r:id="rId40"/>
    <p:sldId id="552" r:id="rId41"/>
    <p:sldId id="558" r:id="rId42"/>
    <p:sldId id="514" r:id="rId43"/>
    <p:sldId id="560" r:id="rId44"/>
    <p:sldId id="559" r:id="rId45"/>
    <p:sldId id="561" r:id="rId46"/>
    <p:sldId id="519" r:id="rId47"/>
    <p:sldId id="562" r:id="rId48"/>
    <p:sldId id="563" r:id="rId49"/>
    <p:sldId id="592" r:id="rId50"/>
    <p:sldId id="591" r:id="rId51"/>
    <p:sldId id="590" r:id="rId52"/>
    <p:sldId id="565" r:id="rId53"/>
    <p:sldId id="566" r:id="rId54"/>
    <p:sldId id="567" r:id="rId55"/>
    <p:sldId id="568" r:id="rId56"/>
    <p:sldId id="586" r:id="rId57"/>
    <p:sldId id="588" r:id="rId58"/>
    <p:sldId id="572" r:id="rId59"/>
    <p:sldId id="587" r:id="rId60"/>
    <p:sldId id="573" r:id="rId61"/>
    <p:sldId id="574" r:id="rId62"/>
    <p:sldId id="575" r:id="rId63"/>
    <p:sldId id="576" r:id="rId64"/>
    <p:sldId id="594" r:id="rId65"/>
    <p:sldId id="598" r:id="rId66"/>
    <p:sldId id="595" r:id="rId67"/>
    <p:sldId id="577" r:id="rId68"/>
    <p:sldId id="579" r:id="rId69"/>
    <p:sldId id="580" r:id="rId70"/>
    <p:sldId id="585" r:id="rId71"/>
    <p:sldId id="578" r:id="rId72"/>
    <p:sldId id="581" r:id="rId73"/>
    <p:sldId id="582" r:id="rId74"/>
    <p:sldId id="583" r:id="rId75"/>
    <p:sldId id="597" r:id="rId76"/>
    <p:sldId id="584" r:id="rId77"/>
    <p:sldId id="346" r:id="rId78"/>
    <p:sldId id="267" r:id="rId79"/>
    <p:sldId id="570" r:id="rId80"/>
    <p:sldId id="571" r:id="rId81"/>
    <p:sldId id="266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I.1. Introduction" id="{2FD0FF71-F5FC-4EB7-B2CB-B31E4CBECD79}">
          <p14:sldIdLst>
            <p14:sldId id="257"/>
            <p14:sldId id="517"/>
            <p14:sldId id="518"/>
          </p14:sldIdLst>
        </p14:section>
        <p14:section name="IV.1. Sigmoid and Logistic functions" id="{C28C8DEB-BB65-418D-979E-1C35425FCB2C}">
          <p14:sldIdLst>
            <p14:sldId id="509"/>
            <p14:sldId id="521"/>
            <p14:sldId id="522"/>
            <p14:sldId id="523"/>
            <p14:sldId id="528"/>
            <p14:sldId id="524"/>
            <p14:sldId id="525"/>
            <p14:sldId id="526"/>
          </p14:sldIdLst>
        </p14:section>
        <p14:section name="IV.2. Logistic Regression" id="{2B25E2FA-6742-4A72-B36E-97E5BF8A885F}">
          <p14:sldIdLst>
            <p14:sldId id="527"/>
            <p14:sldId id="510"/>
            <p14:sldId id="529"/>
            <p14:sldId id="535"/>
            <p14:sldId id="536"/>
            <p14:sldId id="538"/>
            <p14:sldId id="539"/>
            <p14:sldId id="540"/>
            <p14:sldId id="541"/>
          </p14:sldIdLst>
        </p14:section>
        <p14:section name="IV.3. Training a Logistic Regressor" id="{3925A304-2A90-43AD-9523-DA16BE497C61}">
          <p14:sldIdLst>
            <p14:sldId id="511"/>
            <p14:sldId id="542"/>
            <p14:sldId id="543"/>
            <p14:sldId id="544"/>
            <p14:sldId id="545"/>
            <p14:sldId id="546"/>
            <p14:sldId id="547"/>
            <p14:sldId id="548"/>
          </p14:sldIdLst>
        </p14:section>
        <p14:section name="V.1. The Biology behind Neural Networks" id="{0EC07344-8188-493C-8E52-3B724C703EC0}">
          <p14:sldIdLst>
            <p14:sldId id="589"/>
            <p14:sldId id="512"/>
            <p14:sldId id="596"/>
            <p14:sldId id="551"/>
            <p14:sldId id="550"/>
          </p14:sldIdLst>
        </p14:section>
        <p14:section name="V.2. The Shallow Neural Network model" id="{994CC544-F821-4479-A4B3-218B00ECE70C}">
          <p14:sldIdLst>
            <p14:sldId id="554"/>
            <p14:sldId id="555"/>
            <p14:sldId id="513"/>
            <p14:sldId id="556"/>
            <p14:sldId id="557"/>
          </p14:sldIdLst>
        </p14:section>
        <p14:section name="V.3. Forward pass on a Shallow Neural Network" id="{E249CDA2-B965-451F-AC9F-BDB85B17607A}">
          <p14:sldIdLst>
            <p14:sldId id="552"/>
            <p14:sldId id="558"/>
            <p14:sldId id="514"/>
            <p14:sldId id="560"/>
            <p14:sldId id="559"/>
            <p14:sldId id="561"/>
            <p14:sldId id="519"/>
            <p14:sldId id="562"/>
            <p14:sldId id="563"/>
            <p14:sldId id="592"/>
            <p14:sldId id="591"/>
            <p14:sldId id="590"/>
            <p14:sldId id="565"/>
            <p14:sldId id="566"/>
          </p14:sldIdLst>
        </p14:section>
        <p14:section name="V.4. Backpropagation on a Shallow Neural Network" id="{767C72FE-9793-4950-A8EF-333B130F54DF}">
          <p14:sldIdLst>
            <p14:sldId id="567"/>
            <p14:sldId id="568"/>
            <p14:sldId id="586"/>
          </p14:sldIdLst>
        </p14:section>
        <p14:section name="V.5. Backpropagation (math)" id="{907A7E63-CFBE-46B5-91DF-CEF8A16505EA}">
          <p14:sldIdLst>
            <p14:sldId id="588"/>
            <p14:sldId id="572"/>
            <p14:sldId id="587"/>
            <p14:sldId id="573"/>
            <p14:sldId id="574"/>
            <p14:sldId id="575"/>
            <p14:sldId id="576"/>
            <p14:sldId id="594"/>
            <p14:sldId id="598"/>
            <p14:sldId id="595"/>
          </p14:sldIdLst>
        </p14:section>
        <p14:section name="V.6. Backward pass on a Shallow Neural Network" id="{0DEBBF87-D858-40D9-99AA-C02192679BFC}">
          <p14:sldIdLst>
            <p14:sldId id="577"/>
            <p14:sldId id="579"/>
            <p14:sldId id="580"/>
            <p14:sldId id="585"/>
          </p14:sldIdLst>
        </p14:section>
        <p14:section name="V.7. Trainer functions for Shallow Neural Networks" id="{26AC733F-0193-4315-8799-E8B388D8A1D0}">
          <p14:sldIdLst>
            <p14:sldId id="578"/>
            <p14:sldId id="581"/>
            <p14:sldId id="582"/>
            <p14:sldId id="583"/>
            <p14:sldId id="597"/>
          </p14:sldIdLst>
        </p14:section>
        <p14:section name="Conclusion" id="{09807B6E-2B76-45C8-B103-96D5021B68A6}">
          <p14:sldIdLst>
            <p14:sldId id="584"/>
            <p14:sldId id="346"/>
          </p14:sldIdLst>
        </p14:section>
        <p14:section name="References and watchlist" id="{217B8593-1CA5-408D-B198-A5E6ACAB5948}">
          <p14:sldIdLst>
            <p14:sldId id="267"/>
            <p14:sldId id="570"/>
            <p14:sldId id="571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446D52-C317-103A-D209-A6D1D99CFF7D}" name="Matthieu De Mari" initials="MDM" userId="Matthieu De Mar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EC4324-92AB-4C78-933D-FB0AA625A075}" v="133" dt="2026-03-21T02:36:01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92" autoAdjust="0"/>
  </p:normalViewPr>
  <p:slideViewPr>
    <p:cSldViewPr snapToGrid="0">
      <p:cViewPr varScale="1">
        <p:scale>
          <a:sx n="98" d="100"/>
          <a:sy n="98" d="100"/>
        </p:scale>
        <p:origin x="10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89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8/10/relationships/authors" Target="author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undo redo custSel addSld modSld sldOrd modSection">
      <pc:chgData name="Matthieu De Mari" userId="dfb708c9-d8dc-439f-9a3b-c772bf4a311c" providerId="ADAL" clId="{81E9B007-0C2C-493E-9B93-55A62C9C1F12}" dt="2026-03-21T02:37:22.435" v="1777" actId="14100"/>
      <pc:docMkLst>
        <pc:docMk/>
      </pc:docMkLst>
      <pc:sldChg chg="addSp modSp mod">
        <pc:chgData name="Matthieu De Mari" userId="dfb708c9-d8dc-439f-9a3b-c772bf4a311c" providerId="ADAL" clId="{81E9B007-0C2C-493E-9B93-55A62C9C1F12}" dt="2026-03-13T09:40:11.916" v="1357" actId="20577"/>
        <pc:sldMkLst>
          <pc:docMk/>
          <pc:sldMk cId="2925518171" sldId="559"/>
        </pc:sldMkLst>
        <pc:spChg chg="add mod">
          <ac:chgData name="Matthieu De Mari" userId="dfb708c9-d8dc-439f-9a3b-c772bf4a311c" providerId="ADAL" clId="{81E9B007-0C2C-493E-9B93-55A62C9C1F12}" dt="2026-03-13T09:40:11.916" v="1357" actId="20577"/>
          <ac:spMkLst>
            <pc:docMk/>
            <pc:sldMk cId="2925518171" sldId="559"/>
            <ac:spMk id="2" creationId="{F2CF64B2-9992-CC32-1E47-F6BBD6C1F818}"/>
          </ac:spMkLst>
        </pc:spChg>
        <pc:spChg chg="add mod">
          <ac:chgData name="Matthieu De Mari" userId="dfb708c9-d8dc-439f-9a3b-c772bf4a311c" providerId="ADAL" clId="{81E9B007-0C2C-493E-9B93-55A62C9C1F12}" dt="2026-03-13T09:39:51.463" v="1351" actId="1038"/>
          <ac:spMkLst>
            <pc:docMk/>
            <pc:sldMk cId="2925518171" sldId="559"/>
            <ac:spMk id="4" creationId="{8779E1D5-21DF-C3A8-7C9A-55A915353BBF}"/>
          </ac:spMkLst>
        </pc:spChg>
        <pc:picChg chg="mod">
          <ac:chgData name="Matthieu De Mari" userId="dfb708c9-d8dc-439f-9a3b-c772bf4a311c" providerId="ADAL" clId="{81E9B007-0C2C-493E-9B93-55A62C9C1F12}" dt="2026-03-13T09:39:51.463" v="1351" actId="1038"/>
          <ac:picMkLst>
            <pc:docMk/>
            <pc:sldMk cId="2925518171" sldId="559"/>
            <ac:picMk id="3" creationId="{DDEA64E1-9657-6395-FB7C-E89FCA869009}"/>
          </ac:picMkLst>
        </pc:picChg>
      </pc:sldChg>
      <pc:sldChg chg="modSp mod">
        <pc:chgData name="Matthieu De Mari" userId="dfb708c9-d8dc-439f-9a3b-c772bf4a311c" providerId="ADAL" clId="{81E9B007-0C2C-493E-9B93-55A62C9C1F12}" dt="2026-03-21T02:31:53.503" v="1400" actId="20577"/>
        <pc:sldMkLst>
          <pc:docMk/>
          <pc:sldMk cId="494556532" sldId="562"/>
        </pc:sldMkLst>
        <pc:spChg chg="mod">
          <ac:chgData name="Matthieu De Mari" userId="dfb708c9-d8dc-439f-9a3b-c772bf4a311c" providerId="ADAL" clId="{81E9B007-0C2C-493E-9B93-55A62C9C1F12}" dt="2026-03-21T02:31:53.503" v="1400" actId="20577"/>
          <ac:spMkLst>
            <pc:docMk/>
            <pc:sldMk cId="494556532" sldId="562"/>
            <ac:spMk id="2" creationId="{2215302F-B7B2-26CD-EB4B-FB867D53A56C}"/>
          </ac:spMkLst>
        </pc:spChg>
      </pc:sldChg>
      <pc:sldChg chg="modSp mod">
        <pc:chgData name="Matthieu De Mari" userId="dfb708c9-d8dc-439f-9a3b-c772bf4a311c" providerId="ADAL" clId="{81E9B007-0C2C-493E-9B93-55A62C9C1F12}" dt="2026-03-21T02:33:26.320" v="1683" actId="20577"/>
        <pc:sldMkLst>
          <pc:docMk/>
          <pc:sldMk cId="2659795063" sldId="563"/>
        </pc:sldMkLst>
        <pc:spChg chg="mod">
          <ac:chgData name="Matthieu De Mari" userId="dfb708c9-d8dc-439f-9a3b-c772bf4a311c" providerId="ADAL" clId="{81E9B007-0C2C-493E-9B93-55A62C9C1F12}" dt="2026-03-21T02:33:26.320" v="1683" actId="20577"/>
          <ac:spMkLst>
            <pc:docMk/>
            <pc:sldMk cId="2659795063" sldId="563"/>
            <ac:spMk id="7" creationId="{A2AD8076-6887-CB42-016B-8FBD46BE46D9}"/>
          </ac:spMkLst>
        </pc:spChg>
      </pc:sldChg>
      <pc:sldChg chg="modSp mod">
        <pc:chgData name="Matthieu De Mari" userId="dfb708c9-d8dc-439f-9a3b-c772bf4a311c" providerId="ADAL" clId="{81E9B007-0C2C-493E-9B93-55A62C9C1F12}" dt="2026-03-21T02:34:10.213" v="1713" actId="115"/>
        <pc:sldMkLst>
          <pc:docMk/>
          <pc:sldMk cId="2506094589" sldId="565"/>
        </pc:sldMkLst>
        <pc:spChg chg="mod">
          <ac:chgData name="Matthieu De Mari" userId="dfb708c9-d8dc-439f-9a3b-c772bf4a311c" providerId="ADAL" clId="{81E9B007-0C2C-493E-9B93-55A62C9C1F12}" dt="2026-03-21T02:34:10.213" v="1713" actId="115"/>
          <ac:spMkLst>
            <pc:docMk/>
            <pc:sldMk cId="2506094589" sldId="565"/>
            <ac:spMk id="7" creationId="{351BBB68-C97A-F968-8AD2-DE508BF2C073}"/>
          </ac:spMkLst>
        </pc:spChg>
      </pc:sldChg>
      <pc:sldChg chg="modSp">
        <pc:chgData name="Matthieu De Mari" userId="dfb708c9-d8dc-439f-9a3b-c772bf4a311c" providerId="ADAL" clId="{81E9B007-0C2C-493E-9B93-55A62C9C1F12}" dt="2026-03-21T02:34:42.781" v="1719" actId="20577"/>
        <pc:sldMkLst>
          <pc:docMk/>
          <pc:sldMk cId="757709305" sldId="572"/>
        </pc:sldMkLst>
        <pc:spChg chg="mod">
          <ac:chgData name="Matthieu De Mari" userId="dfb708c9-d8dc-439f-9a3b-c772bf4a311c" providerId="ADAL" clId="{81E9B007-0C2C-493E-9B93-55A62C9C1F12}" dt="2026-03-21T02:34:42.781" v="1719" actId="20577"/>
          <ac:spMkLst>
            <pc:docMk/>
            <pc:sldMk cId="757709305" sldId="572"/>
            <ac:spMk id="3" creationId="{5AA41464-B2B5-4EE7-DEF2-910D29FE3DA2}"/>
          </ac:spMkLst>
        </pc:spChg>
      </pc:sldChg>
      <pc:sldChg chg="modSp">
        <pc:chgData name="Matthieu De Mari" userId="dfb708c9-d8dc-439f-9a3b-c772bf4a311c" providerId="ADAL" clId="{81E9B007-0C2C-493E-9B93-55A62C9C1F12}" dt="2026-03-21T02:35:06.214" v="1729" actId="20577"/>
        <pc:sldMkLst>
          <pc:docMk/>
          <pc:sldMk cId="2674170786" sldId="575"/>
        </pc:sldMkLst>
        <pc:spChg chg="mod">
          <ac:chgData name="Matthieu De Mari" userId="dfb708c9-d8dc-439f-9a3b-c772bf4a311c" providerId="ADAL" clId="{81E9B007-0C2C-493E-9B93-55A62C9C1F12}" dt="2026-03-21T02:35:06.214" v="1729" actId="20577"/>
          <ac:spMkLst>
            <pc:docMk/>
            <pc:sldMk cId="2674170786" sldId="575"/>
            <ac:spMk id="3" creationId="{5AA41464-B2B5-4EE7-DEF2-910D29FE3DA2}"/>
          </ac:spMkLst>
        </pc:spChg>
      </pc:sldChg>
      <pc:sldChg chg="modSp">
        <pc:chgData name="Matthieu De Mari" userId="dfb708c9-d8dc-439f-9a3b-c772bf4a311c" providerId="ADAL" clId="{81E9B007-0C2C-493E-9B93-55A62C9C1F12}" dt="2026-03-21T02:35:13.518" v="1733" actId="20577"/>
        <pc:sldMkLst>
          <pc:docMk/>
          <pc:sldMk cId="4180016153" sldId="576"/>
        </pc:sldMkLst>
        <pc:spChg chg="mod">
          <ac:chgData name="Matthieu De Mari" userId="dfb708c9-d8dc-439f-9a3b-c772bf4a311c" providerId="ADAL" clId="{81E9B007-0C2C-493E-9B93-55A62C9C1F12}" dt="2026-03-21T02:35:13.518" v="1733" actId="20577"/>
          <ac:spMkLst>
            <pc:docMk/>
            <pc:sldMk cId="4180016153" sldId="576"/>
            <ac:spMk id="3" creationId="{5AA41464-B2B5-4EE7-DEF2-910D29FE3DA2}"/>
          </ac:spMkLst>
        </pc:spChg>
      </pc:sldChg>
      <pc:sldChg chg="addSp delSp modSp mod">
        <pc:chgData name="Matthieu De Mari" userId="dfb708c9-d8dc-439f-9a3b-c772bf4a311c" providerId="ADAL" clId="{81E9B007-0C2C-493E-9B93-55A62C9C1F12}" dt="2026-03-21T02:36:45.726" v="1764" actId="1076"/>
        <pc:sldMkLst>
          <pc:docMk/>
          <pc:sldMk cId="1620224169" sldId="577"/>
        </pc:sldMkLst>
        <pc:spChg chg="mod">
          <ac:chgData name="Matthieu De Mari" userId="dfb708c9-d8dc-439f-9a3b-c772bf4a311c" providerId="ADAL" clId="{81E9B007-0C2C-493E-9B93-55A62C9C1F12}" dt="2026-03-21T02:35:54.176" v="1749" actId="20577"/>
          <ac:spMkLst>
            <pc:docMk/>
            <pc:sldMk cId="1620224169" sldId="577"/>
            <ac:spMk id="8" creationId="{56F73953-A2CE-A62E-D071-2A65983D9173}"/>
          </ac:spMkLst>
        </pc:spChg>
        <pc:picChg chg="add mod ord">
          <ac:chgData name="Matthieu De Mari" userId="dfb708c9-d8dc-439f-9a3b-c772bf4a311c" providerId="ADAL" clId="{81E9B007-0C2C-493E-9B93-55A62C9C1F12}" dt="2026-03-21T02:36:45.726" v="1764" actId="1076"/>
          <ac:picMkLst>
            <pc:docMk/>
            <pc:sldMk cId="1620224169" sldId="577"/>
            <ac:picMk id="3" creationId="{963B4042-C676-7D61-6E8F-7553AF1E02F4}"/>
          </ac:picMkLst>
        </pc:picChg>
        <pc:picChg chg="del">
          <ac:chgData name="Matthieu De Mari" userId="dfb708c9-d8dc-439f-9a3b-c772bf4a311c" providerId="ADAL" clId="{81E9B007-0C2C-493E-9B93-55A62C9C1F12}" dt="2026-03-21T02:36:37.170" v="1754" actId="478"/>
          <ac:picMkLst>
            <pc:docMk/>
            <pc:sldMk cId="1620224169" sldId="577"/>
            <ac:picMk id="5" creationId="{A24117B4-9943-53F6-ED9D-46E8346E5B3F}"/>
          </ac:picMkLst>
        </pc:picChg>
      </pc:sldChg>
      <pc:sldChg chg="addSp delSp modSp mod">
        <pc:chgData name="Matthieu De Mari" userId="dfb708c9-d8dc-439f-9a3b-c772bf4a311c" providerId="ADAL" clId="{81E9B007-0C2C-493E-9B93-55A62C9C1F12}" dt="2026-03-21T02:37:22.435" v="1777" actId="14100"/>
        <pc:sldMkLst>
          <pc:docMk/>
          <pc:sldMk cId="3045576156" sldId="579"/>
        </pc:sldMkLst>
        <pc:spChg chg="mod">
          <ac:chgData name="Matthieu De Mari" userId="dfb708c9-d8dc-439f-9a3b-c772bf4a311c" providerId="ADAL" clId="{81E9B007-0C2C-493E-9B93-55A62C9C1F12}" dt="2026-03-21T02:37:22.435" v="1777" actId="14100"/>
          <ac:spMkLst>
            <pc:docMk/>
            <pc:sldMk cId="3045576156" sldId="579"/>
            <ac:spMk id="3" creationId="{DAC23481-5FCE-ADF6-1072-441B81A61296}"/>
          </ac:spMkLst>
        </pc:spChg>
        <pc:spChg chg="mod">
          <ac:chgData name="Matthieu De Mari" userId="dfb708c9-d8dc-439f-9a3b-c772bf4a311c" providerId="ADAL" clId="{81E9B007-0C2C-493E-9B93-55A62C9C1F12}" dt="2026-03-21T02:36:01.629" v="1753" actId="20577"/>
          <ac:spMkLst>
            <pc:docMk/>
            <pc:sldMk cId="3045576156" sldId="579"/>
            <ac:spMk id="8" creationId="{56F73953-A2CE-A62E-D071-2A65983D9173}"/>
          </ac:spMkLst>
        </pc:spChg>
        <pc:spChg chg="mod">
          <ac:chgData name="Matthieu De Mari" userId="dfb708c9-d8dc-439f-9a3b-c772bf4a311c" providerId="ADAL" clId="{81E9B007-0C2C-493E-9B93-55A62C9C1F12}" dt="2026-03-21T02:37:17.072" v="1775" actId="14100"/>
          <ac:spMkLst>
            <pc:docMk/>
            <pc:sldMk cId="3045576156" sldId="579"/>
            <ac:spMk id="10" creationId="{535837A7-8A74-9598-E7D0-79106D91B0AE}"/>
          </ac:spMkLst>
        </pc:spChg>
        <pc:picChg chg="del">
          <ac:chgData name="Matthieu De Mari" userId="dfb708c9-d8dc-439f-9a3b-c772bf4a311c" providerId="ADAL" clId="{81E9B007-0C2C-493E-9B93-55A62C9C1F12}" dt="2026-03-21T02:36:49.891" v="1765" actId="478"/>
          <ac:picMkLst>
            <pc:docMk/>
            <pc:sldMk cId="3045576156" sldId="579"/>
            <ac:picMk id="2" creationId="{EA09EC47-53EC-0757-D626-25F76A435626}"/>
          </ac:picMkLst>
        </pc:picChg>
        <pc:picChg chg="add mod ord">
          <ac:chgData name="Matthieu De Mari" userId="dfb708c9-d8dc-439f-9a3b-c772bf4a311c" providerId="ADAL" clId="{81E9B007-0C2C-493E-9B93-55A62C9C1F12}" dt="2026-03-21T02:37:08.575" v="1773" actId="1076"/>
          <ac:picMkLst>
            <pc:docMk/>
            <pc:sldMk cId="3045576156" sldId="579"/>
            <ac:picMk id="5" creationId="{36FC9988-B753-C00C-191E-1821F62F2CBC}"/>
          </ac:picMkLst>
        </pc:picChg>
      </pc:sldChg>
      <pc:sldChg chg="modSp mod">
        <pc:chgData name="Matthieu De Mari" userId="dfb708c9-d8dc-439f-9a3b-c772bf4a311c" providerId="ADAL" clId="{81E9B007-0C2C-493E-9B93-55A62C9C1F12}" dt="2026-03-21T02:34:50.365" v="1723" actId="20577"/>
        <pc:sldMkLst>
          <pc:docMk/>
          <pc:sldMk cId="884021004" sldId="587"/>
        </pc:sldMkLst>
        <pc:spChg chg="mod">
          <ac:chgData name="Matthieu De Mari" userId="dfb708c9-d8dc-439f-9a3b-c772bf4a311c" providerId="ADAL" clId="{81E9B007-0C2C-493E-9B93-55A62C9C1F12}" dt="2026-03-21T02:34:50.365" v="1723" actId="20577"/>
          <ac:spMkLst>
            <pc:docMk/>
            <pc:sldMk cId="884021004" sldId="587"/>
            <ac:spMk id="3" creationId="{5AA41464-B2B5-4EE7-DEF2-910D29FE3DA2}"/>
          </ac:spMkLst>
        </pc:spChg>
      </pc:sldChg>
      <pc:sldChg chg="modSp mod">
        <pc:chgData name="Matthieu De Mari" userId="dfb708c9-d8dc-439f-9a3b-c772bf4a311c" providerId="ADAL" clId="{81E9B007-0C2C-493E-9B93-55A62C9C1F12}" dt="2026-03-21T02:35:37.690" v="1743" actId="20577"/>
        <pc:sldMkLst>
          <pc:docMk/>
          <pc:sldMk cId="3838573415" sldId="594"/>
        </pc:sldMkLst>
        <pc:spChg chg="mod">
          <ac:chgData name="Matthieu De Mari" userId="dfb708c9-d8dc-439f-9a3b-c772bf4a311c" providerId="ADAL" clId="{81E9B007-0C2C-493E-9B93-55A62C9C1F12}" dt="2026-03-21T02:35:27.506" v="1741" actId="20577"/>
          <ac:spMkLst>
            <pc:docMk/>
            <pc:sldMk cId="3838573415" sldId="594"/>
            <ac:spMk id="4" creationId="{77576733-351D-F6B1-C3E7-D1FBA9C46F48}"/>
          </ac:spMkLst>
        </pc:spChg>
        <pc:spChg chg="mod">
          <ac:chgData name="Matthieu De Mari" userId="dfb708c9-d8dc-439f-9a3b-c772bf4a311c" providerId="ADAL" clId="{81E9B007-0C2C-493E-9B93-55A62C9C1F12}" dt="2026-03-21T02:35:37.690" v="1743" actId="20577"/>
          <ac:spMkLst>
            <pc:docMk/>
            <pc:sldMk cId="3838573415" sldId="594"/>
            <ac:spMk id="5" creationId="{573752D9-2428-B51F-D3E0-47A60E6636BD}"/>
          </ac:spMkLst>
        </pc:spChg>
      </pc:sldChg>
      <pc:sldChg chg="modSp add mod">
        <pc:chgData name="Matthieu De Mari" userId="dfb708c9-d8dc-439f-9a3b-c772bf4a311c" providerId="ADAL" clId="{81E9B007-0C2C-493E-9B93-55A62C9C1F12}" dt="2026-03-21T02:35:46.209" v="1745" actId="11"/>
        <pc:sldMkLst>
          <pc:docMk/>
          <pc:sldMk cId="3287025830" sldId="598"/>
        </pc:sldMkLst>
        <pc:spChg chg="mod">
          <ac:chgData name="Matthieu De Mari" userId="dfb708c9-d8dc-439f-9a3b-c772bf4a311c" providerId="ADAL" clId="{81E9B007-0C2C-493E-9B93-55A62C9C1F12}" dt="2026-03-21T02:35:46.209" v="1745" actId="11"/>
          <ac:spMkLst>
            <pc:docMk/>
            <pc:sldMk cId="3287025830" sldId="598"/>
            <ac:spMk id="5" creationId="{8CD75791-E776-CF11-CE28-D2424B60704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3A6167-6C2C-41A9-928F-00AC906DF1A5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1F89D17-E815-4EF3-9C0E-76B05CBBA708}">
      <dgm:prSet phldrT="[Text]"/>
      <dgm:spPr/>
      <dgm:t>
        <a:bodyPr/>
        <a:lstStyle/>
        <a:p>
          <a:r>
            <a:rPr lang="en-GB" dirty="0"/>
            <a:t>Forward pass on dataset samples. Compute errors and loss function.</a:t>
          </a:r>
          <a:endParaRPr lang="en-SG" dirty="0"/>
        </a:p>
      </dgm:t>
    </dgm:pt>
    <dgm:pt modelId="{D574C9C1-A4AA-49C5-819B-4EBBC2772820}" type="parTrans" cxnId="{F25C8719-77E5-455A-B589-496DA3355AED}">
      <dgm:prSet/>
      <dgm:spPr/>
      <dgm:t>
        <a:bodyPr/>
        <a:lstStyle/>
        <a:p>
          <a:endParaRPr lang="en-SG"/>
        </a:p>
      </dgm:t>
    </dgm:pt>
    <dgm:pt modelId="{6814B458-A7AA-417B-8859-91B172FC904B}" type="sibTrans" cxnId="{F25C8719-77E5-455A-B589-496DA3355AED}">
      <dgm:prSet/>
      <dgm:spPr/>
      <dgm:t>
        <a:bodyPr/>
        <a:lstStyle/>
        <a:p>
          <a:endParaRPr lang="en-SG"/>
        </a:p>
      </dgm:t>
    </dgm:pt>
    <dgm:pt modelId="{B214E32C-B9C1-412B-92AE-F7AF02D76F06}">
      <dgm:prSet phldrT="[Text]"/>
      <dgm:spPr/>
      <dgm:t>
        <a:bodyPr/>
        <a:lstStyle/>
        <a:p>
          <a:r>
            <a:rPr lang="en-GB" dirty="0"/>
            <a:t>Use new loss value to compute gradients. Adjust parameters with backprop.</a:t>
          </a:r>
          <a:endParaRPr lang="en-SG" dirty="0"/>
        </a:p>
      </dgm:t>
    </dgm:pt>
    <dgm:pt modelId="{B4D93966-2CA3-49B4-8245-3B3CBEC803CF}" type="parTrans" cxnId="{EEC1F1A9-454B-4B91-8C02-638D90D2AA64}">
      <dgm:prSet/>
      <dgm:spPr/>
      <dgm:t>
        <a:bodyPr/>
        <a:lstStyle/>
        <a:p>
          <a:endParaRPr lang="en-SG"/>
        </a:p>
      </dgm:t>
    </dgm:pt>
    <dgm:pt modelId="{EEAA2037-DE38-4FB4-8D50-20CC3EED9FF8}" type="sibTrans" cxnId="{EEC1F1A9-454B-4B91-8C02-638D90D2AA64}">
      <dgm:prSet/>
      <dgm:spPr/>
      <dgm:t>
        <a:bodyPr/>
        <a:lstStyle/>
        <a:p>
          <a:endParaRPr lang="en-SG"/>
        </a:p>
      </dgm:t>
    </dgm:pt>
    <dgm:pt modelId="{98E926EB-135D-48DD-863B-667F3679062A}">
      <dgm:prSet phldrT="[Text]"/>
      <dgm:spPr/>
      <dgm:t>
        <a:bodyPr/>
        <a:lstStyle/>
        <a:p>
          <a:r>
            <a:rPr lang="en-GB" dirty="0"/>
            <a:t>Repeat until convergence or max number of iterations, as in GD earlier.</a:t>
          </a:r>
          <a:endParaRPr lang="en-SG" dirty="0"/>
        </a:p>
      </dgm:t>
    </dgm:pt>
    <dgm:pt modelId="{5558CFFD-9184-4A0B-A556-2DC05242B701}" type="parTrans" cxnId="{D8820F00-5162-4053-8D1F-AECF67F9F5B7}">
      <dgm:prSet/>
      <dgm:spPr/>
      <dgm:t>
        <a:bodyPr/>
        <a:lstStyle/>
        <a:p>
          <a:endParaRPr lang="en-SG"/>
        </a:p>
      </dgm:t>
    </dgm:pt>
    <dgm:pt modelId="{6EB6D0D8-91DA-4F04-83EE-493CE9F6AD58}" type="sibTrans" cxnId="{D8820F00-5162-4053-8D1F-AECF67F9F5B7}">
      <dgm:prSet/>
      <dgm:spPr/>
      <dgm:t>
        <a:bodyPr/>
        <a:lstStyle/>
        <a:p>
          <a:endParaRPr lang="en-SG"/>
        </a:p>
      </dgm:t>
    </dgm:pt>
    <dgm:pt modelId="{16A4867E-33FE-4328-95A1-AFFB04A47A61}" type="pres">
      <dgm:prSet presAssocID="{3A3A6167-6C2C-41A9-928F-00AC906DF1A5}" presName="cycle" presStyleCnt="0">
        <dgm:presLayoutVars>
          <dgm:dir/>
          <dgm:resizeHandles val="exact"/>
        </dgm:presLayoutVars>
      </dgm:prSet>
      <dgm:spPr/>
    </dgm:pt>
    <dgm:pt modelId="{AEDB912B-6CD0-4E62-BC46-7374D0B7F531}" type="pres">
      <dgm:prSet presAssocID="{41F89D17-E815-4EF3-9C0E-76B05CBBA708}" presName="node" presStyleLbl="node1" presStyleIdx="0" presStyleCnt="3">
        <dgm:presLayoutVars>
          <dgm:bulletEnabled val="1"/>
        </dgm:presLayoutVars>
      </dgm:prSet>
      <dgm:spPr/>
    </dgm:pt>
    <dgm:pt modelId="{E3FB4E1A-8773-414E-A870-FE7E122753E5}" type="pres">
      <dgm:prSet presAssocID="{41F89D17-E815-4EF3-9C0E-76B05CBBA708}" presName="spNode" presStyleCnt="0"/>
      <dgm:spPr/>
    </dgm:pt>
    <dgm:pt modelId="{19CEF774-A24B-43ED-8BE5-AFF3B996D8C8}" type="pres">
      <dgm:prSet presAssocID="{6814B458-A7AA-417B-8859-91B172FC904B}" presName="sibTrans" presStyleLbl="sibTrans1D1" presStyleIdx="0" presStyleCnt="3"/>
      <dgm:spPr/>
    </dgm:pt>
    <dgm:pt modelId="{C8629A62-D246-4C9C-A371-EF172DD923CB}" type="pres">
      <dgm:prSet presAssocID="{B214E32C-B9C1-412B-92AE-F7AF02D76F06}" presName="node" presStyleLbl="node1" presStyleIdx="1" presStyleCnt="3">
        <dgm:presLayoutVars>
          <dgm:bulletEnabled val="1"/>
        </dgm:presLayoutVars>
      </dgm:prSet>
      <dgm:spPr/>
    </dgm:pt>
    <dgm:pt modelId="{BE531EF3-27B2-4E28-88C6-4F4288227334}" type="pres">
      <dgm:prSet presAssocID="{B214E32C-B9C1-412B-92AE-F7AF02D76F06}" presName="spNode" presStyleCnt="0"/>
      <dgm:spPr/>
    </dgm:pt>
    <dgm:pt modelId="{8DFFBC6C-5BF6-494E-BCD9-7424940D0A5A}" type="pres">
      <dgm:prSet presAssocID="{EEAA2037-DE38-4FB4-8D50-20CC3EED9FF8}" presName="sibTrans" presStyleLbl="sibTrans1D1" presStyleIdx="1" presStyleCnt="3"/>
      <dgm:spPr/>
    </dgm:pt>
    <dgm:pt modelId="{7B051FAB-4F2C-43A6-A08D-D8A73D6B2C30}" type="pres">
      <dgm:prSet presAssocID="{98E926EB-135D-48DD-863B-667F3679062A}" presName="node" presStyleLbl="node1" presStyleIdx="2" presStyleCnt="3">
        <dgm:presLayoutVars>
          <dgm:bulletEnabled val="1"/>
        </dgm:presLayoutVars>
      </dgm:prSet>
      <dgm:spPr/>
    </dgm:pt>
    <dgm:pt modelId="{A8EA45B7-AB43-4CCA-9DAD-DC3B6AC6A264}" type="pres">
      <dgm:prSet presAssocID="{98E926EB-135D-48DD-863B-667F3679062A}" presName="spNode" presStyleCnt="0"/>
      <dgm:spPr/>
    </dgm:pt>
    <dgm:pt modelId="{E3D06BB9-B2E3-4E43-B093-97F8E2A98751}" type="pres">
      <dgm:prSet presAssocID="{6EB6D0D8-91DA-4F04-83EE-493CE9F6AD58}" presName="sibTrans" presStyleLbl="sibTrans1D1" presStyleIdx="2" presStyleCnt="3"/>
      <dgm:spPr/>
    </dgm:pt>
  </dgm:ptLst>
  <dgm:cxnLst>
    <dgm:cxn modelId="{D8820F00-5162-4053-8D1F-AECF67F9F5B7}" srcId="{3A3A6167-6C2C-41A9-928F-00AC906DF1A5}" destId="{98E926EB-135D-48DD-863B-667F3679062A}" srcOrd="2" destOrd="0" parTransId="{5558CFFD-9184-4A0B-A556-2DC05242B701}" sibTransId="{6EB6D0D8-91DA-4F04-83EE-493CE9F6AD58}"/>
    <dgm:cxn modelId="{9F069111-3A34-4A2C-914D-A48CEF2A3FEB}" type="presOf" srcId="{6814B458-A7AA-417B-8859-91B172FC904B}" destId="{19CEF774-A24B-43ED-8BE5-AFF3B996D8C8}" srcOrd="0" destOrd="0" presId="urn:microsoft.com/office/officeart/2005/8/layout/cycle5"/>
    <dgm:cxn modelId="{F25C8719-77E5-455A-B589-496DA3355AED}" srcId="{3A3A6167-6C2C-41A9-928F-00AC906DF1A5}" destId="{41F89D17-E815-4EF3-9C0E-76B05CBBA708}" srcOrd="0" destOrd="0" parTransId="{D574C9C1-A4AA-49C5-819B-4EBBC2772820}" sibTransId="{6814B458-A7AA-417B-8859-91B172FC904B}"/>
    <dgm:cxn modelId="{AC15012A-1397-4786-943C-EFDDD30451C6}" type="presOf" srcId="{6EB6D0D8-91DA-4F04-83EE-493CE9F6AD58}" destId="{E3D06BB9-B2E3-4E43-B093-97F8E2A98751}" srcOrd="0" destOrd="0" presId="urn:microsoft.com/office/officeart/2005/8/layout/cycle5"/>
    <dgm:cxn modelId="{88DA9D48-2D17-499B-A44B-455B69F7AB15}" type="presOf" srcId="{3A3A6167-6C2C-41A9-928F-00AC906DF1A5}" destId="{16A4867E-33FE-4328-95A1-AFFB04A47A61}" srcOrd="0" destOrd="0" presId="urn:microsoft.com/office/officeart/2005/8/layout/cycle5"/>
    <dgm:cxn modelId="{DB8DFA4A-D332-4630-8C7A-92BED060A141}" type="presOf" srcId="{41F89D17-E815-4EF3-9C0E-76B05CBBA708}" destId="{AEDB912B-6CD0-4E62-BC46-7374D0B7F531}" srcOrd="0" destOrd="0" presId="urn:microsoft.com/office/officeart/2005/8/layout/cycle5"/>
    <dgm:cxn modelId="{9DEB4078-72EF-48B8-B712-36BDE9D14531}" type="presOf" srcId="{B214E32C-B9C1-412B-92AE-F7AF02D76F06}" destId="{C8629A62-D246-4C9C-A371-EF172DD923CB}" srcOrd="0" destOrd="0" presId="urn:microsoft.com/office/officeart/2005/8/layout/cycle5"/>
    <dgm:cxn modelId="{01F1A7A5-1733-4FCF-AA46-F8825AA820AB}" type="presOf" srcId="{EEAA2037-DE38-4FB4-8D50-20CC3EED9FF8}" destId="{8DFFBC6C-5BF6-494E-BCD9-7424940D0A5A}" srcOrd="0" destOrd="0" presId="urn:microsoft.com/office/officeart/2005/8/layout/cycle5"/>
    <dgm:cxn modelId="{EEC1F1A9-454B-4B91-8C02-638D90D2AA64}" srcId="{3A3A6167-6C2C-41A9-928F-00AC906DF1A5}" destId="{B214E32C-B9C1-412B-92AE-F7AF02D76F06}" srcOrd="1" destOrd="0" parTransId="{B4D93966-2CA3-49B4-8245-3B3CBEC803CF}" sibTransId="{EEAA2037-DE38-4FB4-8D50-20CC3EED9FF8}"/>
    <dgm:cxn modelId="{CAF6AFDC-B7FC-4A12-AD3F-57BF4732225E}" type="presOf" srcId="{98E926EB-135D-48DD-863B-667F3679062A}" destId="{7B051FAB-4F2C-43A6-A08D-D8A73D6B2C30}" srcOrd="0" destOrd="0" presId="urn:microsoft.com/office/officeart/2005/8/layout/cycle5"/>
    <dgm:cxn modelId="{0A405C05-9D5C-4EB9-853F-F84E4EAC2A38}" type="presParOf" srcId="{16A4867E-33FE-4328-95A1-AFFB04A47A61}" destId="{AEDB912B-6CD0-4E62-BC46-7374D0B7F531}" srcOrd="0" destOrd="0" presId="urn:microsoft.com/office/officeart/2005/8/layout/cycle5"/>
    <dgm:cxn modelId="{7A913773-952D-4940-8D6F-1A25B5C19FD4}" type="presParOf" srcId="{16A4867E-33FE-4328-95A1-AFFB04A47A61}" destId="{E3FB4E1A-8773-414E-A870-FE7E122753E5}" srcOrd="1" destOrd="0" presId="urn:microsoft.com/office/officeart/2005/8/layout/cycle5"/>
    <dgm:cxn modelId="{EE5F72D0-9786-493E-B443-07D9A964BD90}" type="presParOf" srcId="{16A4867E-33FE-4328-95A1-AFFB04A47A61}" destId="{19CEF774-A24B-43ED-8BE5-AFF3B996D8C8}" srcOrd="2" destOrd="0" presId="urn:microsoft.com/office/officeart/2005/8/layout/cycle5"/>
    <dgm:cxn modelId="{457F1090-122D-4D52-9F58-240655C6771B}" type="presParOf" srcId="{16A4867E-33FE-4328-95A1-AFFB04A47A61}" destId="{C8629A62-D246-4C9C-A371-EF172DD923CB}" srcOrd="3" destOrd="0" presId="urn:microsoft.com/office/officeart/2005/8/layout/cycle5"/>
    <dgm:cxn modelId="{D7AD564F-2CC3-4BBF-9176-9CB18F3331F9}" type="presParOf" srcId="{16A4867E-33FE-4328-95A1-AFFB04A47A61}" destId="{BE531EF3-27B2-4E28-88C6-4F4288227334}" srcOrd="4" destOrd="0" presId="urn:microsoft.com/office/officeart/2005/8/layout/cycle5"/>
    <dgm:cxn modelId="{72D97E56-FFC4-4C05-9345-AFDE75DFCD3F}" type="presParOf" srcId="{16A4867E-33FE-4328-95A1-AFFB04A47A61}" destId="{8DFFBC6C-5BF6-494E-BCD9-7424940D0A5A}" srcOrd="5" destOrd="0" presId="urn:microsoft.com/office/officeart/2005/8/layout/cycle5"/>
    <dgm:cxn modelId="{F1B59F06-66F4-4FB8-A9D6-D04D5D705148}" type="presParOf" srcId="{16A4867E-33FE-4328-95A1-AFFB04A47A61}" destId="{7B051FAB-4F2C-43A6-A08D-D8A73D6B2C30}" srcOrd="6" destOrd="0" presId="urn:microsoft.com/office/officeart/2005/8/layout/cycle5"/>
    <dgm:cxn modelId="{735261C5-2794-4806-841B-2B76AC0C0AC7}" type="presParOf" srcId="{16A4867E-33FE-4328-95A1-AFFB04A47A61}" destId="{A8EA45B7-AB43-4CCA-9DAD-DC3B6AC6A264}" srcOrd="7" destOrd="0" presId="urn:microsoft.com/office/officeart/2005/8/layout/cycle5"/>
    <dgm:cxn modelId="{62AF33B9-2B4D-4A2D-9562-8F85C17B0CDD}" type="presParOf" srcId="{16A4867E-33FE-4328-95A1-AFFB04A47A61}" destId="{E3D06BB9-B2E3-4E43-B093-97F8E2A98751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3A6167-6C2C-41A9-928F-00AC906DF1A5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1F89D17-E815-4EF3-9C0E-76B05CBBA708}">
      <dgm:prSet phldrT="[Text]"/>
      <dgm:spPr/>
      <dgm:t>
        <a:bodyPr/>
        <a:lstStyle/>
        <a:p>
          <a:r>
            <a:rPr lang="en-GB" dirty="0"/>
            <a:t>Forward pass on dataset samples. Compute errors and loss function.</a:t>
          </a:r>
          <a:endParaRPr lang="en-SG" dirty="0"/>
        </a:p>
      </dgm:t>
    </dgm:pt>
    <dgm:pt modelId="{D574C9C1-A4AA-49C5-819B-4EBBC2772820}" type="parTrans" cxnId="{F25C8719-77E5-455A-B589-496DA3355AED}">
      <dgm:prSet/>
      <dgm:spPr/>
      <dgm:t>
        <a:bodyPr/>
        <a:lstStyle/>
        <a:p>
          <a:endParaRPr lang="en-SG"/>
        </a:p>
      </dgm:t>
    </dgm:pt>
    <dgm:pt modelId="{6814B458-A7AA-417B-8859-91B172FC904B}" type="sibTrans" cxnId="{F25C8719-77E5-455A-B589-496DA3355AED}">
      <dgm:prSet/>
      <dgm:spPr/>
      <dgm:t>
        <a:bodyPr/>
        <a:lstStyle/>
        <a:p>
          <a:endParaRPr lang="en-SG"/>
        </a:p>
      </dgm:t>
    </dgm:pt>
    <dgm:pt modelId="{B214E32C-B9C1-412B-92AE-F7AF02D76F06}">
      <dgm:prSet phldrT="[Text]"/>
      <dgm:spPr/>
      <dgm:t>
        <a:bodyPr/>
        <a:lstStyle/>
        <a:p>
          <a:r>
            <a:rPr lang="en-GB" dirty="0"/>
            <a:t>Use new loss value to compute gradients. Adjust parameters with backprop.</a:t>
          </a:r>
          <a:endParaRPr lang="en-SG" dirty="0"/>
        </a:p>
      </dgm:t>
    </dgm:pt>
    <dgm:pt modelId="{B4D93966-2CA3-49B4-8245-3B3CBEC803CF}" type="parTrans" cxnId="{EEC1F1A9-454B-4B91-8C02-638D90D2AA64}">
      <dgm:prSet/>
      <dgm:spPr/>
      <dgm:t>
        <a:bodyPr/>
        <a:lstStyle/>
        <a:p>
          <a:endParaRPr lang="en-SG"/>
        </a:p>
      </dgm:t>
    </dgm:pt>
    <dgm:pt modelId="{EEAA2037-DE38-4FB4-8D50-20CC3EED9FF8}" type="sibTrans" cxnId="{EEC1F1A9-454B-4B91-8C02-638D90D2AA64}">
      <dgm:prSet/>
      <dgm:spPr/>
      <dgm:t>
        <a:bodyPr/>
        <a:lstStyle/>
        <a:p>
          <a:endParaRPr lang="en-SG"/>
        </a:p>
      </dgm:t>
    </dgm:pt>
    <dgm:pt modelId="{98E926EB-135D-48DD-863B-667F3679062A}">
      <dgm:prSet phldrT="[Text]"/>
      <dgm:spPr/>
      <dgm:t>
        <a:bodyPr/>
        <a:lstStyle/>
        <a:p>
          <a:r>
            <a:rPr lang="en-GB" dirty="0"/>
            <a:t>Repeat until convergence or max number of iterations, as in GD earlier.</a:t>
          </a:r>
          <a:endParaRPr lang="en-SG" dirty="0"/>
        </a:p>
      </dgm:t>
    </dgm:pt>
    <dgm:pt modelId="{5558CFFD-9184-4A0B-A556-2DC05242B701}" type="parTrans" cxnId="{D8820F00-5162-4053-8D1F-AECF67F9F5B7}">
      <dgm:prSet/>
      <dgm:spPr/>
      <dgm:t>
        <a:bodyPr/>
        <a:lstStyle/>
        <a:p>
          <a:endParaRPr lang="en-SG"/>
        </a:p>
      </dgm:t>
    </dgm:pt>
    <dgm:pt modelId="{6EB6D0D8-91DA-4F04-83EE-493CE9F6AD58}" type="sibTrans" cxnId="{D8820F00-5162-4053-8D1F-AECF67F9F5B7}">
      <dgm:prSet/>
      <dgm:spPr/>
      <dgm:t>
        <a:bodyPr/>
        <a:lstStyle/>
        <a:p>
          <a:endParaRPr lang="en-SG"/>
        </a:p>
      </dgm:t>
    </dgm:pt>
    <dgm:pt modelId="{16A4867E-33FE-4328-95A1-AFFB04A47A61}" type="pres">
      <dgm:prSet presAssocID="{3A3A6167-6C2C-41A9-928F-00AC906DF1A5}" presName="cycle" presStyleCnt="0">
        <dgm:presLayoutVars>
          <dgm:dir/>
          <dgm:resizeHandles val="exact"/>
        </dgm:presLayoutVars>
      </dgm:prSet>
      <dgm:spPr/>
    </dgm:pt>
    <dgm:pt modelId="{AEDB912B-6CD0-4E62-BC46-7374D0B7F531}" type="pres">
      <dgm:prSet presAssocID="{41F89D17-E815-4EF3-9C0E-76B05CBBA708}" presName="node" presStyleLbl="node1" presStyleIdx="0" presStyleCnt="3">
        <dgm:presLayoutVars>
          <dgm:bulletEnabled val="1"/>
        </dgm:presLayoutVars>
      </dgm:prSet>
      <dgm:spPr/>
    </dgm:pt>
    <dgm:pt modelId="{E3FB4E1A-8773-414E-A870-FE7E122753E5}" type="pres">
      <dgm:prSet presAssocID="{41F89D17-E815-4EF3-9C0E-76B05CBBA708}" presName="spNode" presStyleCnt="0"/>
      <dgm:spPr/>
    </dgm:pt>
    <dgm:pt modelId="{19CEF774-A24B-43ED-8BE5-AFF3B996D8C8}" type="pres">
      <dgm:prSet presAssocID="{6814B458-A7AA-417B-8859-91B172FC904B}" presName="sibTrans" presStyleLbl="sibTrans1D1" presStyleIdx="0" presStyleCnt="3"/>
      <dgm:spPr/>
    </dgm:pt>
    <dgm:pt modelId="{C8629A62-D246-4C9C-A371-EF172DD923CB}" type="pres">
      <dgm:prSet presAssocID="{B214E32C-B9C1-412B-92AE-F7AF02D76F06}" presName="node" presStyleLbl="node1" presStyleIdx="1" presStyleCnt="3">
        <dgm:presLayoutVars>
          <dgm:bulletEnabled val="1"/>
        </dgm:presLayoutVars>
      </dgm:prSet>
      <dgm:spPr/>
    </dgm:pt>
    <dgm:pt modelId="{BE531EF3-27B2-4E28-88C6-4F4288227334}" type="pres">
      <dgm:prSet presAssocID="{B214E32C-B9C1-412B-92AE-F7AF02D76F06}" presName="spNode" presStyleCnt="0"/>
      <dgm:spPr/>
    </dgm:pt>
    <dgm:pt modelId="{8DFFBC6C-5BF6-494E-BCD9-7424940D0A5A}" type="pres">
      <dgm:prSet presAssocID="{EEAA2037-DE38-4FB4-8D50-20CC3EED9FF8}" presName="sibTrans" presStyleLbl="sibTrans1D1" presStyleIdx="1" presStyleCnt="3"/>
      <dgm:spPr/>
    </dgm:pt>
    <dgm:pt modelId="{7B051FAB-4F2C-43A6-A08D-D8A73D6B2C30}" type="pres">
      <dgm:prSet presAssocID="{98E926EB-135D-48DD-863B-667F3679062A}" presName="node" presStyleLbl="node1" presStyleIdx="2" presStyleCnt="3">
        <dgm:presLayoutVars>
          <dgm:bulletEnabled val="1"/>
        </dgm:presLayoutVars>
      </dgm:prSet>
      <dgm:spPr/>
    </dgm:pt>
    <dgm:pt modelId="{A8EA45B7-AB43-4CCA-9DAD-DC3B6AC6A264}" type="pres">
      <dgm:prSet presAssocID="{98E926EB-135D-48DD-863B-667F3679062A}" presName="spNode" presStyleCnt="0"/>
      <dgm:spPr/>
    </dgm:pt>
    <dgm:pt modelId="{E3D06BB9-B2E3-4E43-B093-97F8E2A98751}" type="pres">
      <dgm:prSet presAssocID="{6EB6D0D8-91DA-4F04-83EE-493CE9F6AD58}" presName="sibTrans" presStyleLbl="sibTrans1D1" presStyleIdx="2" presStyleCnt="3"/>
      <dgm:spPr/>
    </dgm:pt>
  </dgm:ptLst>
  <dgm:cxnLst>
    <dgm:cxn modelId="{D8820F00-5162-4053-8D1F-AECF67F9F5B7}" srcId="{3A3A6167-6C2C-41A9-928F-00AC906DF1A5}" destId="{98E926EB-135D-48DD-863B-667F3679062A}" srcOrd="2" destOrd="0" parTransId="{5558CFFD-9184-4A0B-A556-2DC05242B701}" sibTransId="{6EB6D0D8-91DA-4F04-83EE-493CE9F6AD58}"/>
    <dgm:cxn modelId="{9F069111-3A34-4A2C-914D-A48CEF2A3FEB}" type="presOf" srcId="{6814B458-A7AA-417B-8859-91B172FC904B}" destId="{19CEF774-A24B-43ED-8BE5-AFF3B996D8C8}" srcOrd="0" destOrd="0" presId="urn:microsoft.com/office/officeart/2005/8/layout/cycle5"/>
    <dgm:cxn modelId="{F25C8719-77E5-455A-B589-496DA3355AED}" srcId="{3A3A6167-6C2C-41A9-928F-00AC906DF1A5}" destId="{41F89D17-E815-4EF3-9C0E-76B05CBBA708}" srcOrd="0" destOrd="0" parTransId="{D574C9C1-A4AA-49C5-819B-4EBBC2772820}" sibTransId="{6814B458-A7AA-417B-8859-91B172FC904B}"/>
    <dgm:cxn modelId="{AC15012A-1397-4786-943C-EFDDD30451C6}" type="presOf" srcId="{6EB6D0D8-91DA-4F04-83EE-493CE9F6AD58}" destId="{E3D06BB9-B2E3-4E43-B093-97F8E2A98751}" srcOrd="0" destOrd="0" presId="urn:microsoft.com/office/officeart/2005/8/layout/cycle5"/>
    <dgm:cxn modelId="{88DA9D48-2D17-499B-A44B-455B69F7AB15}" type="presOf" srcId="{3A3A6167-6C2C-41A9-928F-00AC906DF1A5}" destId="{16A4867E-33FE-4328-95A1-AFFB04A47A61}" srcOrd="0" destOrd="0" presId="urn:microsoft.com/office/officeart/2005/8/layout/cycle5"/>
    <dgm:cxn modelId="{DB8DFA4A-D332-4630-8C7A-92BED060A141}" type="presOf" srcId="{41F89D17-E815-4EF3-9C0E-76B05CBBA708}" destId="{AEDB912B-6CD0-4E62-BC46-7374D0B7F531}" srcOrd="0" destOrd="0" presId="urn:microsoft.com/office/officeart/2005/8/layout/cycle5"/>
    <dgm:cxn modelId="{9DEB4078-72EF-48B8-B712-36BDE9D14531}" type="presOf" srcId="{B214E32C-B9C1-412B-92AE-F7AF02D76F06}" destId="{C8629A62-D246-4C9C-A371-EF172DD923CB}" srcOrd="0" destOrd="0" presId="urn:microsoft.com/office/officeart/2005/8/layout/cycle5"/>
    <dgm:cxn modelId="{01F1A7A5-1733-4FCF-AA46-F8825AA820AB}" type="presOf" srcId="{EEAA2037-DE38-4FB4-8D50-20CC3EED9FF8}" destId="{8DFFBC6C-5BF6-494E-BCD9-7424940D0A5A}" srcOrd="0" destOrd="0" presId="urn:microsoft.com/office/officeart/2005/8/layout/cycle5"/>
    <dgm:cxn modelId="{EEC1F1A9-454B-4B91-8C02-638D90D2AA64}" srcId="{3A3A6167-6C2C-41A9-928F-00AC906DF1A5}" destId="{B214E32C-B9C1-412B-92AE-F7AF02D76F06}" srcOrd="1" destOrd="0" parTransId="{B4D93966-2CA3-49B4-8245-3B3CBEC803CF}" sibTransId="{EEAA2037-DE38-4FB4-8D50-20CC3EED9FF8}"/>
    <dgm:cxn modelId="{CAF6AFDC-B7FC-4A12-AD3F-57BF4732225E}" type="presOf" srcId="{98E926EB-135D-48DD-863B-667F3679062A}" destId="{7B051FAB-4F2C-43A6-A08D-D8A73D6B2C30}" srcOrd="0" destOrd="0" presId="urn:microsoft.com/office/officeart/2005/8/layout/cycle5"/>
    <dgm:cxn modelId="{0A405C05-9D5C-4EB9-853F-F84E4EAC2A38}" type="presParOf" srcId="{16A4867E-33FE-4328-95A1-AFFB04A47A61}" destId="{AEDB912B-6CD0-4E62-BC46-7374D0B7F531}" srcOrd="0" destOrd="0" presId="urn:microsoft.com/office/officeart/2005/8/layout/cycle5"/>
    <dgm:cxn modelId="{7A913773-952D-4940-8D6F-1A25B5C19FD4}" type="presParOf" srcId="{16A4867E-33FE-4328-95A1-AFFB04A47A61}" destId="{E3FB4E1A-8773-414E-A870-FE7E122753E5}" srcOrd="1" destOrd="0" presId="urn:microsoft.com/office/officeart/2005/8/layout/cycle5"/>
    <dgm:cxn modelId="{EE5F72D0-9786-493E-B443-07D9A964BD90}" type="presParOf" srcId="{16A4867E-33FE-4328-95A1-AFFB04A47A61}" destId="{19CEF774-A24B-43ED-8BE5-AFF3B996D8C8}" srcOrd="2" destOrd="0" presId="urn:microsoft.com/office/officeart/2005/8/layout/cycle5"/>
    <dgm:cxn modelId="{457F1090-122D-4D52-9F58-240655C6771B}" type="presParOf" srcId="{16A4867E-33FE-4328-95A1-AFFB04A47A61}" destId="{C8629A62-D246-4C9C-A371-EF172DD923CB}" srcOrd="3" destOrd="0" presId="urn:microsoft.com/office/officeart/2005/8/layout/cycle5"/>
    <dgm:cxn modelId="{D7AD564F-2CC3-4BBF-9176-9CB18F3331F9}" type="presParOf" srcId="{16A4867E-33FE-4328-95A1-AFFB04A47A61}" destId="{BE531EF3-27B2-4E28-88C6-4F4288227334}" srcOrd="4" destOrd="0" presId="urn:microsoft.com/office/officeart/2005/8/layout/cycle5"/>
    <dgm:cxn modelId="{72D97E56-FFC4-4C05-9345-AFDE75DFCD3F}" type="presParOf" srcId="{16A4867E-33FE-4328-95A1-AFFB04A47A61}" destId="{8DFFBC6C-5BF6-494E-BCD9-7424940D0A5A}" srcOrd="5" destOrd="0" presId="urn:microsoft.com/office/officeart/2005/8/layout/cycle5"/>
    <dgm:cxn modelId="{F1B59F06-66F4-4FB8-A9D6-D04D5D705148}" type="presParOf" srcId="{16A4867E-33FE-4328-95A1-AFFB04A47A61}" destId="{7B051FAB-4F2C-43A6-A08D-D8A73D6B2C30}" srcOrd="6" destOrd="0" presId="urn:microsoft.com/office/officeart/2005/8/layout/cycle5"/>
    <dgm:cxn modelId="{735261C5-2794-4806-841B-2B76AC0C0AC7}" type="presParOf" srcId="{16A4867E-33FE-4328-95A1-AFFB04A47A61}" destId="{A8EA45B7-AB43-4CCA-9DAD-DC3B6AC6A264}" srcOrd="7" destOrd="0" presId="urn:microsoft.com/office/officeart/2005/8/layout/cycle5"/>
    <dgm:cxn modelId="{62AF33B9-2B4D-4A2D-9562-8F85C17B0CDD}" type="presParOf" srcId="{16A4867E-33FE-4328-95A1-AFFB04A47A61}" destId="{E3D06BB9-B2E3-4E43-B093-97F8E2A98751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B912B-6CD0-4E62-BC46-7374D0B7F531}">
      <dsp:nvSpPr>
        <dsp:cNvPr id="0" name=""/>
        <dsp:cNvSpPr/>
      </dsp:nvSpPr>
      <dsp:spPr>
        <a:xfrm>
          <a:off x="3821742" y="621"/>
          <a:ext cx="2327124" cy="15126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Forward pass on dataset samples. Compute errors and loss function.</a:t>
          </a:r>
          <a:endParaRPr lang="en-SG" sz="1800" kern="1200" dirty="0"/>
        </a:p>
      </dsp:txBody>
      <dsp:txXfrm>
        <a:off x="3895583" y="74462"/>
        <a:ext cx="2179442" cy="1364949"/>
      </dsp:txXfrm>
    </dsp:sp>
    <dsp:sp modelId="{19CEF774-A24B-43ED-8BE5-AFF3B996D8C8}">
      <dsp:nvSpPr>
        <dsp:cNvPr id="0" name=""/>
        <dsp:cNvSpPr/>
      </dsp:nvSpPr>
      <dsp:spPr>
        <a:xfrm>
          <a:off x="2969136" y="756936"/>
          <a:ext cx="4032337" cy="4032337"/>
        </a:xfrm>
        <a:custGeom>
          <a:avLst/>
          <a:gdLst/>
          <a:ahLst/>
          <a:cxnLst/>
          <a:rect l="0" t="0" r="0" b="0"/>
          <a:pathLst>
            <a:path>
              <a:moveTo>
                <a:pt x="3491635" y="642148"/>
              </a:moveTo>
              <a:arcTo wR="2016168" hR="2016168" stAng="19022338" swAng="230061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629A62-D246-4C9C-A371-EF172DD923CB}">
      <dsp:nvSpPr>
        <dsp:cNvPr id="0" name=""/>
        <dsp:cNvSpPr/>
      </dsp:nvSpPr>
      <dsp:spPr>
        <a:xfrm>
          <a:off x="5567795" y="3024874"/>
          <a:ext cx="2327124" cy="15126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Use new loss value to compute gradients. Adjust parameters with backprop.</a:t>
          </a:r>
          <a:endParaRPr lang="en-SG" sz="1800" kern="1200" dirty="0"/>
        </a:p>
      </dsp:txBody>
      <dsp:txXfrm>
        <a:off x="5641636" y="3098715"/>
        <a:ext cx="2179442" cy="1364949"/>
      </dsp:txXfrm>
    </dsp:sp>
    <dsp:sp modelId="{8DFFBC6C-5BF6-494E-BCD9-7424940D0A5A}">
      <dsp:nvSpPr>
        <dsp:cNvPr id="0" name=""/>
        <dsp:cNvSpPr/>
      </dsp:nvSpPr>
      <dsp:spPr>
        <a:xfrm>
          <a:off x="2969136" y="756936"/>
          <a:ext cx="4032337" cy="4032337"/>
        </a:xfrm>
        <a:custGeom>
          <a:avLst/>
          <a:gdLst/>
          <a:ahLst/>
          <a:cxnLst/>
          <a:rect l="0" t="0" r="0" b="0"/>
          <a:pathLst>
            <a:path>
              <a:moveTo>
                <a:pt x="2634180" y="3935282"/>
              </a:moveTo>
              <a:arcTo wR="2016168" hR="2016168" stAng="4328993" swAng="21420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051FAB-4F2C-43A6-A08D-D8A73D6B2C30}">
      <dsp:nvSpPr>
        <dsp:cNvPr id="0" name=""/>
        <dsp:cNvSpPr/>
      </dsp:nvSpPr>
      <dsp:spPr>
        <a:xfrm>
          <a:off x="2075689" y="3024874"/>
          <a:ext cx="2327124" cy="15126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Repeat until convergence or max number of iterations, as in GD earlier.</a:t>
          </a:r>
          <a:endParaRPr lang="en-SG" sz="1800" kern="1200" dirty="0"/>
        </a:p>
      </dsp:txBody>
      <dsp:txXfrm>
        <a:off x="2149530" y="3098715"/>
        <a:ext cx="2179442" cy="1364949"/>
      </dsp:txXfrm>
    </dsp:sp>
    <dsp:sp modelId="{E3D06BB9-B2E3-4E43-B093-97F8E2A98751}">
      <dsp:nvSpPr>
        <dsp:cNvPr id="0" name=""/>
        <dsp:cNvSpPr/>
      </dsp:nvSpPr>
      <dsp:spPr>
        <a:xfrm>
          <a:off x="2969136" y="756936"/>
          <a:ext cx="4032337" cy="4032337"/>
        </a:xfrm>
        <a:custGeom>
          <a:avLst/>
          <a:gdLst/>
          <a:ahLst/>
          <a:cxnLst/>
          <a:rect l="0" t="0" r="0" b="0"/>
          <a:pathLst>
            <a:path>
              <a:moveTo>
                <a:pt x="6543" y="1853859"/>
              </a:moveTo>
              <a:arcTo wR="2016168" hR="2016168" stAng="11077051" swAng="230061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DB912B-6CD0-4E62-BC46-7374D0B7F531}">
      <dsp:nvSpPr>
        <dsp:cNvPr id="0" name=""/>
        <dsp:cNvSpPr/>
      </dsp:nvSpPr>
      <dsp:spPr>
        <a:xfrm>
          <a:off x="3821742" y="621"/>
          <a:ext cx="2327124" cy="15126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Forward pass on dataset samples. Compute errors and loss function.</a:t>
          </a:r>
          <a:endParaRPr lang="en-SG" sz="1800" kern="1200" dirty="0"/>
        </a:p>
      </dsp:txBody>
      <dsp:txXfrm>
        <a:off x="3895583" y="74462"/>
        <a:ext cx="2179442" cy="1364949"/>
      </dsp:txXfrm>
    </dsp:sp>
    <dsp:sp modelId="{19CEF774-A24B-43ED-8BE5-AFF3B996D8C8}">
      <dsp:nvSpPr>
        <dsp:cNvPr id="0" name=""/>
        <dsp:cNvSpPr/>
      </dsp:nvSpPr>
      <dsp:spPr>
        <a:xfrm>
          <a:off x="2969136" y="756936"/>
          <a:ext cx="4032337" cy="4032337"/>
        </a:xfrm>
        <a:custGeom>
          <a:avLst/>
          <a:gdLst/>
          <a:ahLst/>
          <a:cxnLst/>
          <a:rect l="0" t="0" r="0" b="0"/>
          <a:pathLst>
            <a:path>
              <a:moveTo>
                <a:pt x="3491635" y="642148"/>
              </a:moveTo>
              <a:arcTo wR="2016168" hR="2016168" stAng="19022338" swAng="230061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629A62-D246-4C9C-A371-EF172DD923CB}">
      <dsp:nvSpPr>
        <dsp:cNvPr id="0" name=""/>
        <dsp:cNvSpPr/>
      </dsp:nvSpPr>
      <dsp:spPr>
        <a:xfrm>
          <a:off x="5567795" y="3024874"/>
          <a:ext cx="2327124" cy="15126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Use new loss value to compute gradients. Adjust parameters with backprop.</a:t>
          </a:r>
          <a:endParaRPr lang="en-SG" sz="1800" kern="1200" dirty="0"/>
        </a:p>
      </dsp:txBody>
      <dsp:txXfrm>
        <a:off x="5641636" y="3098715"/>
        <a:ext cx="2179442" cy="1364949"/>
      </dsp:txXfrm>
    </dsp:sp>
    <dsp:sp modelId="{8DFFBC6C-5BF6-494E-BCD9-7424940D0A5A}">
      <dsp:nvSpPr>
        <dsp:cNvPr id="0" name=""/>
        <dsp:cNvSpPr/>
      </dsp:nvSpPr>
      <dsp:spPr>
        <a:xfrm>
          <a:off x="2969136" y="756936"/>
          <a:ext cx="4032337" cy="4032337"/>
        </a:xfrm>
        <a:custGeom>
          <a:avLst/>
          <a:gdLst/>
          <a:ahLst/>
          <a:cxnLst/>
          <a:rect l="0" t="0" r="0" b="0"/>
          <a:pathLst>
            <a:path>
              <a:moveTo>
                <a:pt x="2634180" y="3935282"/>
              </a:moveTo>
              <a:arcTo wR="2016168" hR="2016168" stAng="4328993" swAng="21420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051FAB-4F2C-43A6-A08D-D8A73D6B2C30}">
      <dsp:nvSpPr>
        <dsp:cNvPr id="0" name=""/>
        <dsp:cNvSpPr/>
      </dsp:nvSpPr>
      <dsp:spPr>
        <a:xfrm>
          <a:off x="2075689" y="3024874"/>
          <a:ext cx="2327124" cy="15126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Repeat until convergence or max number of iterations, as in GD earlier.</a:t>
          </a:r>
          <a:endParaRPr lang="en-SG" sz="1800" kern="1200" dirty="0"/>
        </a:p>
      </dsp:txBody>
      <dsp:txXfrm>
        <a:off x="2149530" y="3098715"/>
        <a:ext cx="2179442" cy="1364949"/>
      </dsp:txXfrm>
    </dsp:sp>
    <dsp:sp modelId="{E3D06BB9-B2E3-4E43-B093-97F8E2A98751}">
      <dsp:nvSpPr>
        <dsp:cNvPr id="0" name=""/>
        <dsp:cNvSpPr/>
      </dsp:nvSpPr>
      <dsp:spPr>
        <a:xfrm>
          <a:off x="2969136" y="756936"/>
          <a:ext cx="4032337" cy="4032337"/>
        </a:xfrm>
        <a:custGeom>
          <a:avLst/>
          <a:gdLst/>
          <a:ahLst/>
          <a:cxnLst/>
          <a:rect l="0" t="0" r="0" b="0"/>
          <a:pathLst>
            <a:path>
              <a:moveTo>
                <a:pt x="6543" y="1853859"/>
              </a:moveTo>
              <a:arcTo wR="2016168" hR="2016168" stAng="11077051" swAng="230061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scikit-learn.org/stable/modules/generated/sklearn.metrics.confusion_matrix.html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scikit-learn.org/stable/modules/generated/sklearn.metrics.classification_report.html#sklearn.metrics.classification_report" TargetMode="Externa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2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ture.com/articles/323533a0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.uk/citations?user=JicYPdAAAAAJ&amp;hl=en" TargetMode="External"/><Relationship Id="rId2" Type="http://schemas.openxmlformats.org/officeDocument/2006/relationships/hyperlink" Target="https://www.cs.toronto.edu/~hint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ytimes.com/2011/03/19/health/19rumelhart.html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mit.edu/2022/neural-networks-brain-function-1102" TargetMode="External"/><Relationship Id="rId2" Type="http://schemas.openxmlformats.org/officeDocument/2006/relationships/hyperlink" Target="https://www.quantamagazine.org/artificial-neural-nets-finally-yield-clues-to-how-brains-learn-20210218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50.039 Theory and Practice of</a:t>
            </a:r>
            <a:br>
              <a:rPr lang="en-US" b="1" dirty="0"/>
            </a:br>
            <a:r>
              <a:rPr lang="en-US" b="1" dirty="0"/>
              <a:t>Deep Learning</a:t>
            </a:r>
            <a:br>
              <a:rPr lang="en-US" dirty="0"/>
            </a:br>
            <a:r>
              <a:rPr lang="en-US" dirty="0"/>
              <a:t>W1-S3 Introduction and Machine Learning Reminders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1)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are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typical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concepts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of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Machine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Learning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to be used as a starting point for this course?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are the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different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families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of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problems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in Deep Learning?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typical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structure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of a Deep Learning problem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linear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regression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and how to implement it?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the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gradient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descent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algorithm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and how is it used to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train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Machine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Learning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models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polynomial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regression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and how to implement it?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regularization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and how to implement it in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Ridge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GB" b="1" dirty="0">
                <a:solidFill>
                  <a:schemeClr val="bg1">
                    <a:lumMod val="65000"/>
                  </a:schemeClr>
                </a:solidFill>
              </a:rPr>
              <a:t>regression</a:t>
            </a: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50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1)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overfitting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and why is it bad?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underfitting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and why is it bad?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generalization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and how to evaluate it?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train-test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split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and why is it related to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generalization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?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What is a </a:t>
            </a:r>
            <a:r>
              <a:rPr lang="en-US" b="1" dirty="0"/>
              <a:t>sigmoid</a:t>
            </a:r>
            <a:r>
              <a:rPr lang="en-US" dirty="0"/>
              <a:t> function? What is a </a:t>
            </a:r>
            <a:r>
              <a:rPr lang="en-US" b="1" dirty="0"/>
              <a:t>logistic</a:t>
            </a:r>
            <a:r>
              <a:rPr lang="en-US" dirty="0"/>
              <a:t> function?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How to perform </a:t>
            </a:r>
            <a:r>
              <a:rPr lang="en-US" b="1" dirty="0"/>
              <a:t>binary</a:t>
            </a:r>
            <a:r>
              <a:rPr lang="en-US" dirty="0"/>
              <a:t> </a:t>
            </a:r>
            <a:r>
              <a:rPr lang="en-US" b="1" dirty="0"/>
              <a:t>classification</a:t>
            </a:r>
            <a:r>
              <a:rPr lang="en-US" dirty="0"/>
              <a:t> using a </a:t>
            </a:r>
            <a:r>
              <a:rPr lang="en-US" b="1" dirty="0"/>
              <a:t>logistic</a:t>
            </a:r>
            <a:r>
              <a:rPr lang="en-US" dirty="0"/>
              <a:t> </a:t>
            </a:r>
            <a:r>
              <a:rPr lang="en-US" b="1" dirty="0"/>
              <a:t>regressor</a:t>
            </a:r>
            <a:r>
              <a:rPr lang="en-US" dirty="0"/>
              <a:t> and how is it related to linear regression?</a:t>
            </a:r>
          </a:p>
          <a:p>
            <a:pPr marL="514350" indent="-514350">
              <a:buFont typeface="+mj-lt"/>
              <a:buAutoNum type="arabicPeriod" startAt="8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4669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1)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7102"/>
          </a:xfrm>
        </p:spPr>
        <p:txBody>
          <a:bodyPr/>
          <a:lstStyle/>
          <a:p>
            <a:pPr marL="514350" indent="-514350">
              <a:buFont typeface="+mj-lt"/>
              <a:buAutoNum type="arabicPeriod" startAt="14"/>
            </a:pPr>
            <a:r>
              <a:rPr lang="en-US" dirty="0"/>
              <a:t>What are </a:t>
            </a:r>
            <a:r>
              <a:rPr lang="en-US" b="1" dirty="0"/>
              <a:t>Neural</a:t>
            </a:r>
            <a:r>
              <a:rPr lang="en-US" dirty="0"/>
              <a:t> </a:t>
            </a:r>
            <a:r>
              <a:rPr lang="en-US" b="1" dirty="0"/>
              <a:t>Networks</a:t>
            </a:r>
            <a:r>
              <a:rPr lang="en-US" dirty="0"/>
              <a:t> and how do they relate to the </a:t>
            </a:r>
            <a:r>
              <a:rPr lang="en-US" b="1" dirty="0"/>
              <a:t>biology</a:t>
            </a:r>
            <a:r>
              <a:rPr lang="en-US" dirty="0"/>
              <a:t> </a:t>
            </a:r>
            <a:r>
              <a:rPr lang="en-US" b="1" dirty="0"/>
              <a:t>of a</a:t>
            </a:r>
            <a:r>
              <a:rPr lang="en-US" dirty="0"/>
              <a:t> </a:t>
            </a:r>
            <a:r>
              <a:rPr lang="en-US" b="1" dirty="0"/>
              <a:t>human</a:t>
            </a:r>
            <a:r>
              <a:rPr lang="en-US" dirty="0"/>
              <a:t> </a:t>
            </a:r>
            <a:r>
              <a:rPr lang="en-US" b="1" dirty="0"/>
              <a:t>brain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/>
              <a:t>What is a </a:t>
            </a:r>
            <a:r>
              <a:rPr lang="en-US" b="1" dirty="0"/>
              <a:t>Neuron</a:t>
            </a:r>
            <a:r>
              <a:rPr lang="en-US" dirty="0"/>
              <a:t> in a Neural Network and how does it relate to linear/logistic regression?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/>
              <a:t>What is the </a:t>
            </a:r>
            <a:r>
              <a:rPr lang="en-US" b="1" dirty="0"/>
              <a:t>difference</a:t>
            </a:r>
            <a:r>
              <a:rPr lang="en-US" dirty="0"/>
              <a:t> between a </a:t>
            </a:r>
            <a:r>
              <a:rPr lang="en-US" b="1" dirty="0"/>
              <a:t>shallow</a:t>
            </a:r>
            <a:r>
              <a:rPr lang="en-US" dirty="0"/>
              <a:t> and a </a:t>
            </a:r>
            <a:r>
              <a:rPr lang="en-US" b="1" dirty="0"/>
              <a:t>deep neural network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/>
              <a:t>How to </a:t>
            </a:r>
            <a:r>
              <a:rPr lang="en-US" b="1" dirty="0"/>
              <a:t>implement</a:t>
            </a: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b="1" dirty="0"/>
              <a:t>shallow</a:t>
            </a:r>
            <a:r>
              <a:rPr lang="en-US" dirty="0"/>
              <a:t> </a:t>
            </a:r>
            <a:r>
              <a:rPr lang="en-US" b="1" dirty="0"/>
              <a:t>Neural</a:t>
            </a:r>
            <a:r>
              <a:rPr lang="en-US" dirty="0"/>
              <a:t> </a:t>
            </a:r>
            <a:r>
              <a:rPr lang="en-US" b="1" dirty="0"/>
              <a:t>Network</a:t>
            </a:r>
            <a:r>
              <a:rPr lang="en-US" dirty="0"/>
              <a:t> manually and define a </a:t>
            </a:r>
            <a:r>
              <a:rPr lang="en-US" b="1" dirty="0"/>
              <a:t>forward</a:t>
            </a:r>
            <a:r>
              <a:rPr lang="en-US" dirty="0"/>
              <a:t> </a:t>
            </a:r>
            <a:r>
              <a:rPr lang="en-US" b="1" dirty="0"/>
              <a:t>propagation</a:t>
            </a:r>
            <a:r>
              <a:rPr lang="en-US" dirty="0"/>
              <a:t> method for it?</a:t>
            </a:r>
          </a:p>
          <a:p>
            <a:pPr marL="514350" indent="-514350">
              <a:buFont typeface="+mj-lt"/>
              <a:buAutoNum type="arabicPeriod" startAt="14"/>
            </a:pPr>
            <a:r>
              <a:rPr lang="en-US" dirty="0"/>
              <a:t>(How to </a:t>
            </a:r>
            <a:r>
              <a:rPr lang="en-US" b="1" dirty="0"/>
              <a:t>train</a:t>
            </a:r>
            <a:r>
              <a:rPr lang="en-US" dirty="0"/>
              <a:t> </a:t>
            </a:r>
            <a:r>
              <a:rPr lang="en-US" b="1" dirty="0"/>
              <a:t>a shallow Neural Network </a:t>
            </a:r>
            <a:r>
              <a:rPr lang="en-US" dirty="0"/>
              <a:t>using </a:t>
            </a:r>
            <a:r>
              <a:rPr lang="en-US" b="1" dirty="0"/>
              <a:t>backpropagation</a:t>
            </a:r>
            <a:r>
              <a:rPr lang="en-US" dirty="0"/>
              <a:t>? How to define </a:t>
            </a:r>
            <a:r>
              <a:rPr lang="en-US" b="1" dirty="0"/>
              <a:t>backward</a:t>
            </a:r>
            <a:r>
              <a:rPr lang="en-US" dirty="0"/>
              <a:t> </a:t>
            </a:r>
            <a:r>
              <a:rPr lang="en-US" b="1" dirty="0"/>
              <a:t>propagation</a:t>
            </a:r>
            <a:r>
              <a:rPr lang="en-US" dirty="0"/>
              <a:t> and </a:t>
            </a:r>
            <a:r>
              <a:rPr lang="en-US" b="1" dirty="0"/>
              <a:t>trainer</a:t>
            </a:r>
            <a:r>
              <a:rPr lang="en-US" dirty="0"/>
              <a:t> functions?)</a:t>
            </a:r>
          </a:p>
          <a:p>
            <a:pPr marL="514350" indent="-514350">
              <a:buFont typeface="+mj-lt"/>
              <a:buAutoNum type="arabicPeriod" startAt="14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0584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sigmoid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sigmoid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sigmoid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</a:t>
                </a:r>
                <a:r>
                  <a:rPr lang="en-GB" dirty="0"/>
                  <a:t> is an important function used in Machine Learning. It is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Or, equivalently</a:t>
                </a: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Note: </a:t>
                </a:r>
                <a:r>
                  <a:rPr lang="en-GB" dirty="0"/>
                  <a:t>Sometimes, the notation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is used instead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sigmoid function has the following properties (to be proven as an extra exercise!):</a:t>
                </a:r>
                <a:br>
                  <a:rPr lang="en-GB" dirty="0"/>
                </a:b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,  0 &lt;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&lt; 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err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= 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err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= 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(0) = 0.5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  <a:blipFill>
                <a:blip r:embed="rId3"/>
                <a:stretch>
                  <a:fillRect l="-2471" t="-1937" r="-2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87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the sigmoid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sigmoid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sigmoid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</a:t>
                </a:r>
                <a:r>
                  <a:rPr lang="en-GB" dirty="0"/>
                  <a:t> is an important function used in </a:t>
                </a:r>
                <a:r>
                  <a:rPr lang="en-GB" dirty="0" err="1"/>
                  <a:t>Machne</a:t>
                </a:r>
                <a:r>
                  <a:rPr lang="en-GB" dirty="0"/>
                  <a:t> Learning. It is defined as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Or, equivalently</a:t>
                </a: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4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sigmoid function has the following properties:</a:t>
                </a: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∀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,  0 &lt;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&lt; 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err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= 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err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= 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(0) = 0.5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  <a:blipFill>
                <a:blip r:embed="rId3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BC4F682-033E-B20F-FF45-E910D6FD6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50" y="0"/>
            <a:ext cx="10351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92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Also introducing two logistic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4"/>
                <a:ext cx="615598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functions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Similarly, let us introduce two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functions</a:t>
                </a:r>
                <a:r>
                  <a:rPr lang="en-GB" dirty="0"/>
                  <a:t>, below: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These two functions also have interesting properties, shown on the right.</a:t>
                </a:r>
                <a:br>
                  <a:rPr lang="en-GB" dirty="0"/>
                </a:br>
                <a:r>
                  <a:rPr lang="en-GB" i="1" dirty="0"/>
                  <a:t>(Prove them as an extra practice?)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4"/>
                <a:ext cx="6155987" cy="5032375"/>
              </a:xfrm>
              <a:blipFill>
                <a:blip r:embed="rId2"/>
                <a:stretch>
                  <a:fillRect l="-1980" t="-1937" r="-3267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159556" y="1825625"/>
                <a:ext cx="4829243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(0.5)=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(0.5)=−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159556" y="1825625"/>
                <a:ext cx="4829243" cy="503237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516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two logistic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functions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Similarly, let us introduce two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functions</a:t>
                </a:r>
                <a:r>
                  <a:rPr lang="en-GB" dirty="0"/>
                  <a:t>, below: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These two functions also have interesting properties.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70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816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i="0" dirty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(0.5)=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(0.5)=−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4B6C00-CDCA-7753-FD92-73BE0C88A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816600" cy="503237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D36D8E9-EC44-BBB5-12EC-8C34D43F16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9"/>
          <a:stretch>
            <a:fillRect/>
          </a:stretch>
        </p:blipFill>
        <p:spPr>
          <a:xfrm>
            <a:off x="920480" y="0"/>
            <a:ext cx="10198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2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34AEC-3EA6-219D-81A7-B9BD2E7E1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871" y="4696097"/>
            <a:ext cx="4842662" cy="216190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3C4DE6B-4A9F-D64A-C223-8B019D32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recap: functions and implementations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9F00384-78D5-1AE0-B237-9ABAFA9360E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sigmoid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</a:t>
                </a:r>
                <a:r>
                  <a:rPr lang="en-GB" b="1" dirty="0"/>
                  <a:t>):</a:t>
                </a: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dirty="0"/>
                  <a:t>Or, equivalently</a:t>
                </a: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9F00384-78D5-1AE0-B237-9ABAFA9360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71" t="-2241" r="-4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BA0C3D1-A680-1DB7-4CCD-05880333B6A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functions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And,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GB" i="0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0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BA0C3D1-A680-1DB7-4CCD-05880333B6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4351338"/>
              </a:xfrm>
              <a:blipFill>
                <a:blip r:embed="rId4"/>
                <a:stretch>
                  <a:fillRect l="-2471" t="-2241" r="-70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56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on mixes for our two logistic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addition, the following properties hold (some of them require using </a:t>
                </a:r>
                <a:r>
                  <a:rPr lang="en-GB" dirty="0" err="1"/>
                  <a:t>L'Hospital</a:t>
                </a:r>
                <a:r>
                  <a:rPr lang="en-GB" dirty="0"/>
                  <a:t> rule to prove them, try it out?).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2607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on mixes for our two logistic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addition, the following properties hold (some of them require using </a:t>
                </a:r>
                <a:r>
                  <a:rPr lang="en-GB" dirty="0" err="1"/>
                  <a:t>L'Hospital</a:t>
                </a:r>
                <a:r>
                  <a:rPr lang="en-GB" dirty="0"/>
                  <a:t> rule to prove them, try it out?).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067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two logistic functions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addition, the following properties hold (some of them require using </a:t>
                </a:r>
                <a:r>
                  <a:rPr lang="en-GB" dirty="0" err="1"/>
                  <a:t>L'Hospital</a:t>
                </a:r>
                <a:r>
                  <a:rPr lang="en-GB" dirty="0"/>
                  <a:t> rule to prove them).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→1</m:t>
                          </m:r>
                        </m:lim>
                      </m:limLow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B6ECADF-0069-4F17-45C7-E8B70909D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98" y="0"/>
            <a:ext cx="10314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17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75BF-18E0-B2E0-1950-BC4CC1492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 mock dataset generation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1F51DE3-B943-E325-81E1-3500067990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43636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 notebook 6, we will prepare a dataset for a </a:t>
                </a:r>
                <a:r>
                  <a:rPr lang="en-GB" b="1" dirty="0"/>
                  <a:t>single-variable binary classification.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inputs</a:t>
                </a:r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will consist of chest sizes for males between 94cm and 114cm, randomly generated.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outputs</a:t>
                </a:r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will consists of </a:t>
                </a:r>
                <a:r>
                  <a:rPr lang="en-GB" b="1" dirty="0"/>
                  <a:t>two</a:t>
                </a:r>
                <a:r>
                  <a:rPr lang="en-GB" dirty="0"/>
                  <a:t> </a:t>
                </a:r>
                <a:r>
                  <a:rPr lang="en-GB" b="1" dirty="0"/>
                  <a:t>classes</a:t>
                </a:r>
                <a:r>
                  <a:rPr lang="en-GB" dirty="0"/>
                  <a:t>, corresponding to the shirt size to use, with two possible values:</a:t>
                </a:r>
              </a:p>
              <a:p>
                <a:pPr lvl="1"/>
                <a:r>
                  <a:rPr lang="en-GB" b="1" dirty="0"/>
                  <a:t>M</a:t>
                </a:r>
                <a:r>
                  <a:rPr lang="en-GB" dirty="0"/>
                  <a:t> (class with value </a:t>
                </a:r>
                <a:r>
                  <a:rPr lang="en-GB" b="1" dirty="0"/>
                  <a:t>0</a:t>
                </a:r>
                <a:r>
                  <a:rPr lang="en-GB" dirty="0"/>
                  <a:t>, if chest size is below </a:t>
                </a:r>
                <a:r>
                  <a:rPr lang="en-GB" b="1" dirty="0"/>
                  <a:t>104</a:t>
                </a:r>
                <a:r>
                  <a:rPr lang="en-GB" dirty="0"/>
                  <a:t> cm) size</a:t>
                </a:r>
              </a:p>
              <a:p>
                <a:pPr lvl="1"/>
                <a:r>
                  <a:rPr lang="en-GB" dirty="0"/>
                  <a:t>and </a:t>
                </a:r>
                <a:r>
                  <a:rPr lang="en-GB" b="1" dirty="0"/>
                  <a:t>L</a:t>
                </a:r>
                <a:r>
                  <a:rPr lang="en-GB" dirty="0"/>
                  <a:t> size (class with value </a:t>
                </a:r>
                <a:r>
                  <a:rPr lang="en-GB" b="1" dirty="0"/>
                  <a:t>1</a:t>
                </a:r>
                <a:r>
                  <a:rPr lang="en-GB" dirty="0"/>
                  <a:t>, if chest size is above </a:t>
                </a:r>
                <a:r>
                  <a:rPr lang="en-GB" b="1" dirty="0"/>
                  <a:t>104</a:t>
                </a:r>
                <a:r>
                  <a:rPr lang="en-GB" dirty="0"/>
                  <a:t> cm).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1F51DE3-B943-E325-81E1-3500067990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436360" cy="5032375"/>
              </a:xfrm>
              <a:blipFill>
                <a:blip r:embed="rId2"/>
                <a:stretch>
                  <a:fillRect l="-1991" t="-1937" r="-18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462D9BE8-32F5-DE08-00E2-03EC767B82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96"/>
          <a:stretch/>
        </p:blipFill>
        <p:spPr>
          <a:xfrm>
            <a:off x="8042301" y="613091"/>
            <a:ext cx="4017619" cy="609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04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A518E48-BC81-EFDD-B44D-EDB8E1C22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67" y="0"/>
            <a:ext cx="8915573" cy="682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273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2AB20D-0335-B6C3-3E8A-E1852D3E4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21" y="0"/>
            <a:ext cx="10205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43E8-C8C4-F8C3-1E75-4519A429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word about expert systems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3FAE8-6053-E8B4-7FB0-067642DE2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expert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systems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An </a:t>
            </a:r>
            <a:r>
              <a:rPr lang="en-GB" b="1" dirty="0">
                <a:solidFill>
                  <a:srgbClr val="00B050"/>
                </a:solidFill>
              </a:rPr>
              <a:t>expert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system</a:t>
            </a:r>
            <a:r>
              <a:rPr lang="en-GB" dirty="0"/>
              <a:t> is a computer program that mimics the decision-making abilities of a human expert in a specific domain or field.</a:t>
            </a:r>
          </a:p>
          <a:p>
            <a:pPr marL="0" indent="0">
              <a:buNone/>
            </a:pPr>
            <a:r>
              <a:rPr lang="en-GB" dirty="0"/>
              <a:t>It uses knowledge represented in a symbolic form, such as rules or ontologies, to make inferences and decisions based on the data it receives.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24566-E487-2B5B-FECF-1378D31B1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805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Expert systems are “the dream” and provide a high level of performance and accuracy in solving problems or making decisions. But these are difficult to design as they require a strong, and not necessarily obvious, human expertise.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37A199-484C-F8D7-4F43-7CDAD5020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676" y="4740021"/>
            <a:ext cx="5879123" cy="143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78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43E8-C8C4-F8C3-1E75-4519A429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quick word about expert systems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3FAE8-6053-E8B4-7FB0-067642DE2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expert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systems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An </a:t>
            </a:r>
            <a:r>
              <a:rPr lang="en-GB" b="1" dirty="0">
                <a:solidFill>
                  <a:srgbClr val="00B050"/>
                </a:solidFill>
              </a:rPr>
              <a:t>expert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system</a:t>
            </a:r>
            <a:r>
              <a:rPr lang="en-GB" dirty="0"/>
              <a:t> is a computer program that mimics the decision-making abilities of a human expert in a specific domain or field.</a:t>
            </a:r>
          </a:p>
          <a:p>
            <a:pPr marL="0" indent="0">
              <a:buNone/>
            </a:pPr>
            <a:r>
              <a:rPr lang="en-GB" dirty="0"/>
              <a:t>It uses knowledge represented in a symbolic form, such as rules or ontologies, to make inferences and decisions based on the data it receives.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24566-E487-2B5B-FECF-1378D31B11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Important note:</a:t>
            </a:r>
            <a:r>
              <a:rPr lang="en-GB" dirty="0"/>
              <a:t> in our case, we could define an expert system as shown below, but most of the time the datasets will not have a clear logic and you will have to rely on ML algorithms instead, basically </a:t>
            </a:r>
            <a:r>
              <a:rPr lang="en-GB" i="1" dirty="0"/>
              <a:t>“hoping the AI will figure out a logic that works”.</a:t>
            </a:r>
            <a:endParaRPr lang="en-SG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B96E18-05C3-8C71-06D4-804545AA8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318" y="5162408"/>
            <a:ext cx="5249008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226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049E-BB7F-3F3A-0B12-078E7FBE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Linear Regression to Logistic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6D2DE9-7096-79A2-190F-2A03A0ED80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334000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Definition(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Regression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regression</a:t>
                </a:r>
                <a:r>
                  <a:rPr lang="en-GB" dirty="0"/>
                  <a:t> model assumes that the 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for every sample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are connected via the formula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)&gt;0.5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value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often referred to as the </a:t>
                </a:r>
                <a:r>
                  <a:rPr lang="en-GB" b="1" dirty="0"/>
                  <a:t>probability</a:t>
                </a:r>
                <a:r>
                  <a:rPr lang="en-GB" dirty="0"/>
                  <a:t> of sample with value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being of class 1 (that is a L size shirt).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6D2DE9-7096-79A2-190F-2A03A0ED8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334000" cy="5032375"/>
              </a:xfrm>
              <a:blipFill>
                <a:blip r:embed="rId2"/>
                <a:stretch>
                  <a:fillRect l="-2400" t="-1937" r="-10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93B871-8697-50CC-250A-24B808241DA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461369" y="1822448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Respectively,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the </a:t>
                </a:r>
                <a:r>
                  <a:rPr lang="en-GB" b="1" dirty="0"/>
                  <a:t>probability</a:t>
                </a:r>
                <a:r>
                  <a:rPr lang="en-GB" dirty="0"/>
                  <a:t> of sample with value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being of class 0 (that is M size).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/>
                  <a:t>probability</a:t>
                </a:r>
                <a:r>
                  <a:rPr lang="en-GB" dirty="0"/>
                  <a:t> function is then simply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function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always has values between 0 and 1, thanks to the </a:t>
                </a:r>
                <a:r>
                  <a:rPr lang="en-GB" b="1" dirty="0"/>
                  <a:t>sigmoid</a:t>
                </a:r>
                <a:r>
                  <a:rPr lang="en-GB" dirty="0"/>
                  <a:t> function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93B871-8697-50CC-250A-24B808241D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61369" y="1822448"/>
                <a:ext cx="5181600" cy="5032375"/>
              </a:xfrm>
              <a:blipFill>
                <a:blip r:embed="rId3"/>
                <a:stretch>
                  <a:fillRect l="-2471" t="-2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944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049E-BB7F-3F3A-0B12-078E7FBE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adjusted Logistic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6D2DE9-7096-79A2-190F-2A03A0ED80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437554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Definition(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Regression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logistic</a:t>
                </a:r>
                <a:r>
                  <a:rPr lang="en-GB" dirty="0"/>
                  <a:t> </a:t>
                </a:r>
                <a:r>
                  <a:rPr lang="en-GB" b="1" dirty="0">
                    <a:solidFill>
                      <a:srgbClr val="00B050"/>
                    </a:solidFill>
                  </a:rPr>
                  <a:t>regression</a:t>
                </a:r>
                <a:r>
                  <a:rPr lang="en-GB" dirty="0"/>
                  <a:t> model assumes that the 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for every sample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are connected via the formula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GB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b="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GB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dirty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en-GB" b="0" i="1" dirty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GB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GB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&gt;0.5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value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often referred to as the </a:t>
                </a:r>
                <a:r>
                  <a:rPr lang="en-GB" b="1" dirty="0"/>
                  <a:t>probability</a:t>
                </a:r>
                <a:r>
                  <a:rPr lang="en-GB" dirty="0"/>
                  <a:t> of sample with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being of class 1 (that is a L size shirt).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6D2DE9-7096-79A2-190F-2A03A0ED8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437554" cy="5032375"/>
              </a:xfrm>
              <a:blipFill>
                <a:blip r:embed="rId2"/>
                <a:stretch>
                  <a:fillRect l="-235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93B871-8697-50CC-250A-24B808241DA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461369" y="1822448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This model has </a:t>
                </a:r>
                <a:r>
                  <a:rPr lang="en-GB" b="1" dirty="0"/>
                  <a:t>two trainable parameters</a:t>
                </a:r>
                <a:r>
                  <a:rPr lang="en-GB" dirty="0"/>
                  <a:t>,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and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dirty="0"/>
                  <a:t>, to be decided as in the linear regression.</a:t>
                </a:r>
              </a:p>
              <a:p>
                <a:pPr marL="0" indent="0">
                  <a:buNone/>
                </a:pPr>
                <a:r>
                  <a:rPr lang="en-GB" dirty="0"/>
                  <a:t>In fact, we could see the logistic regression as the </a:t>
                </a:r>
                <a:r>
                  <a:rPr lang="en-GB" b="1" dirty="0"/>
                  <a:t>combination of linear regression and sigmoid together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In addition, note that the function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dirty="0"/>
                  <a:t>is also often referred to as the </a:t>
                </a:r>
                <a:r>
                  <a:rPr lang="en-GB" b="1" dirty="0"/>
                  <a:t>logit</a:t>
                </a:r>
                <a:r>
                  <a:rPr lang="en-GB" dirty="0"/>
                  <a:t> function with value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93B871-8697-50CC-250A-24B808241D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461369" y="1822448"/>
                <a:ext cx="5181600" cy="5032375"/>
              </a:xfrm>
              <a:blipFill>
                <a:blip r:embed="rId3"/>
                <a:stretch>
                  <a:fillRect l="-2471" t="-2061" r="-2353" b="-19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763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748C61-EF21-6D5A-66A2-9B706C1F6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44" y="2811231"/>
            <a:ext cx="11672833" cy="4003782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A9FC289B-2D3B-1B18-DC78-0A0676C7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Linear Regression to Logistic Regression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0E38244-EB1E-8A30-C5C5-0F231BA5FB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We can implement the logistic regression below and try it out with some values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!</a:t>
                </a:r>
                <a:endParaRPr lang="en-SG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0E38244-EB1E-8A30-C5C5-0F231BA5FB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638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99043-9779-AAD9-684A-3CF7B1C0F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5" y="409153"/>
            <a:ext cx="9497750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70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168C-A8B7-FBE2-0183-8C332FD8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a logistic regressor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before, in linear regression, we will have to </a:t>
                </a:r>
                <a:r>
                  <a:rPr lang="en-GB" b="1" dirty="0"/>
                  <a:t>train the model</a:t>
                </a:r>
                <a:r>
                  <a:rPr lang="en-GB" dirty="0"/>
                  <a:t>, i.e. choose values 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, that fit the dataset.</a:t>
                </a:r>
              </a:p>
              <a:p>
                <a:r>
                  <a:rPr lang="en-GB" dirty="0"/>
                  <a:t>While </a:t>
                </a:r>
                <a:r>
                  <a:rPr lang="en-GB" b="1" dirty="0"/>
                  <a:t>MSE</a:t>
                </a:r>
                <a:r>
                  <a:rPr lang="en-GB" dirty="0"/>
                  <a:t> seemed to work as a </a:t>
                </a:r>
                <a:r>
                  <a:rPr lang="en-GB" b="1" dirty="0"/>
                  <a:t>loss</a:t>
                </a:r>
                <a:r>
                  <a:rPr lang="en-GB" dirty="0"/>
                  <a:t> </a:t>
                </a:r>
                <a:r>
                  <a:rPr lang="en-GB" b="1" dirty="0"/>
                  <a:t>function</a:t>
                </a:r>
                <a:r>
                  <a:rPr lang="en-GB" dirty="0"/>
                  <a:t> to train the </a:t>
                </a:r>
                <a:r>
                  <a:rPr lang="en-GB" b="1" dirty="0"/>
                  <a:t>linear</a:t>
                </a:r>
                <a:r>
                  <a:rPr lang="en-GB" dirty="0"/>
                  <a:t> </a:t>
                </a:r>
                <a:r>
                  <a:rPr lang="en-GB" b="1" dirty="0"/>
                  <a:t>regression</a:t>
                </a:r>
                <a:r>
                  <a:rPr lang="en-GB" dirty="0"/>
                  <a:t> model, it is not that good for logistic regression.</a:t>
                </a:r>
              </a:p>
              <a:p>
                <a:r>
                  <a:rPr lang="en-GB" dirty="0"/>
                  <a:t>We need something better!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logistic regression, we prefer to </a:t>
                </a:r>
                <a:r>
                  <a:rPr lang="en-GB" b="1" dirty="0"/>
                  <a:t>minimize</a:t>
                </a:r>
                <a:r>
                  <a:rPr lang="en-GB" dirty="0"/>
                  <a:t> a loss function, called the</a:t>
                </a:r>
                <a:br>
                  <a:rPr lang="en-GB" dirty="0"/>
                </a:br>
                <a:r>
                  <a:rPr lang="en-GB" b="1" dirty="0"/>
                  <a:t>log-likelihood</a:t>
                </a:r>
                <a:r>
                  <a:rPr lang="en-GB" dirty="0"/>
                  <a:t> </a:t>
                </a:r>
                <a:r>
                  <a:rPr lang="en-GB" b="1" dirty="0"/>
                  <a:t>(cross-entropy)</a:t>
                </a:r>
                <a:r>
                  <a:rPr lang="en-GB" dirty="0"/>
                  <a:t> function, instead.</a:t>
                </a:r>
              </a:p>
              <a:p>
                <a:r>
                  <a:rPr lang="en-GB" dirty="0"/>
                  <a:t>This function has to do with the two </a:t>
                </a:r>
                <a:r>
                  <a:rPr lang="en-GB" b="1" dirty="0"/>
                  <a:t>logistic</a:t>
                </a:r>
                <a:r>
                  <a:rPr lang="en-GB" dirty="0"/>
                  <a:t> </a:t>
                </a:r>
                <a:r>
                  <a:rPr lang="en-GB" b="1" dirty="0"/>
                  <a:t>functions</a:t>
                </a:r>
                <a:r>
                  <a:rPr lang="en-GB" dirty="0"/>
                  <a:t> we have introduced earlier.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B4F07-EB70-8BF3-73A3-76EFC1C5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572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18A88A-7226-0CDD-4862-790F8697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log-likelihood function and loss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2EE8989-CA0E-9B9A-AB65-DD59B00F6E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log-likelihood</a:t>
                </a:r>
                <a:r>
                  <a:rPr lang="en-GB" b="1" dirty="0"/>
                  <a:t> function):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log-likelihood</a:t>
                </a:r>
                <a:r>
                  <a:rPr lang="en-GB" dirty="0"/>
                  <a:t> </a:t>
                </a:r>
                <a:r>
                  <a:rPr lang="en-GB" b="1" dirty="0"/>
                  <a:t>function</a:t>
                </a:r>
                <a:r>
                  <a:rPr lang="en-GB" dirty="0"/>
                  <a:t> is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d>
                                            <m:d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d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a good function to use for our problem for the two reasons:</a:t>
                </a:r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err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is close to the ground truth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b="1" dirty="0"/>
                  <a:t>, both terms of the loss function, will have values close to 0</a:t>
                </a:r>
                <a:r>
                  <a:rPr lang="en-GB" dirty="0"/>
                  <a:t>. This follows from the properties we defined earlier for the mixes of logistic functions.</a:t>
                </a:r>
              </a:p>
              <a:p>
                <a:r>
                  <a:rPr lang="en-GB" dirty="0"/>
                  <a:t>On the opposite</a:t>
                </a:r>
                <a:r>
                  <a:rPr lang="en-GB" b="1" dirty="0"/>
                  <a:t>, the log-likelihood loss function will have a different behaviour when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1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err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and the ground truth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GB" b="1" dirty="0"/>
                  <a:t> are different, producing large non-zero negative values instead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2EE8989-CA0E-9B9A-AB65-DD59B00F6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2663" r="-15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751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18A88A-7226-0CDD-4862-790F8697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log-likelihood function and loss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EE8989-CA0E-9B9A-AB65-DD59B00F6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(using the </a:t>
            </a:r>
            <a:r>
              <a:rPr lang="en-GB" b="1" dirty="0">
                <a:solidFill>
                  <a:srgbClr val="00B050"/>
                </a:solidFill>
              </a:rPr>
              <a:t>log-likelihood</a:t>
            </a:r>
            <a:r>
              <a:rPr lang="en-GB" b="1" dirty="0"/>
              <a:t> function as a loss):</a:t>
            </a:r>
          </a:p>
          <a:p>
            <a:pPr marL="0" indent="0">
              <a:buNone/>
            </a:pPr>
            <a:r>
              <a:rPr lang="en-GB" dirty="0"/>
              <a:t>This log-likelihood loss function is therefore a good choice of a performance/loss metric to measure the performance of our models.</a:t>
            </a:r>
          </a:p>
          <a:p>
            <a:pPr marL="0" indent="0">
              <a:buNone/>
            </a:pPr>
            <a:r>
              <a:rPr lang="en-GB" dirty="0"/>
              <a:t>Indeed, </a:t>
            </a:r>
            <a:r>
              <a:rPr lang="en-GB" b="1" u="sng" dirty="0"/>
              <a:t>maximizing</a:t>
            </a:r>
            <a:r>
              <a:rPr lang="en-GB" dirty="0"/>
              <a:t> </a:t>
            </a:r>
            <a:r>
              <a:rPr lang="en-GB" b="1" dirty="0"/>
              <a:t>this log-likelihood </a:t>
            </a:r>
            <a:r>
              <a:rPr lang="en-GB" dirty="0"/>
              <a:t>loss function and bringing it to zero would be equivalent to finding the best choice of parameters 𝑎 and 𝑏, and therefore the best fit.</a:t>
            </a:r>
          </a:p>
          <a:p>
            <a:pPr marL="0" indent="0">
              <a:buNone/>
            </a:pPr>
            <a:r>
              <a:rPr lang="en-GB" dirty="0"/>
              <a:t>In practice however, we </a:t>
            </a:r>
            <a:r>
              <a:rPr lang="en-GB" b="1" dirty="0"/>
              <a:t>prefer to </a:t>
            </a:r>
            <a:r>
              <a:rPr lang="en-GB" b="1" u="sng" dirty="0"/>
              <a:t>minimize</a:t>
            </a:r>
            <a:r>
              <a:rPr lang="en-GB" b="1" dirty="0"/>
              <a:t> loss functions</a:t>
            </a:r>
            <a:r>
              <a:rPr lang="en-GB" dirty="0"/>
              <a:t>. This requires a simple adjustment, </a:t>
            </a:r>
            <a:r>
              <a:rPr lang="en-GB" b="1" dirty="0"/>
              <a:t>multiplying the log-likelihood loss function by -1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F8D1B4-84A2-EB1C-2C55-F7449236C70C}"/>
                  </a:ext>
                </a:extLst>
              </p:cNvPr>
              <p:cNvSpPr txBox="1"/>
              <p:nvPr/>
            </p:nvSpPr>
            <p:spPr>
              <a:xfrm>
                <a:off x="78154" y="5369243"/>
                <a:ext cx="12035692" cy="1892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GB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func>
                                            <m:funcPr>
                                              <m:ctrlP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GB" sz="2800">
                                                  <a:latin typeface="Cambria Math" panose="02040503050406030204" pitchFamily="18" charset="0"/>
                                                </a:rPr>
                                                <m:t>ln</m:t>
                                              </m:r>
                                            </m:fName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GB" sz="2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𝑎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𝑏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  <m:r>
                                                <a:rPr lang="en-GB" sz="280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GB" sz="2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sz="2800" i="1">
                                                      <a:latin typeface="Cambria Math" panose="02040503050406030204" pitchFamily="18" charset="0"/>
                                                    </a:rPr>
                                                    <m:t>1−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GB" sz="28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  <m:func>
                                                <m:funcPr>
                                                  <m:ctrlPr>
                                                    <a:rPr lang="en-GB" sz="2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GB" sz="2800">
                                                      <a:latin typeface="Cambria Math" panose="02040503050406030204" pitchFamily="18" charset="0"/>
                                                    </a:rPr>
                                                    <m:t>ln</m:t>
                                                  </m:r>
                                                </m:fName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</m:t>
                                                      </m:r>
                                                      <m:r>
                                                        <a:rPr lang="en-GB" sz="28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𝑎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GB" sz="28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GB" sz="28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GB" sz="2800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+</m:t>
                                                          </m:r>
                                                          <m:r>
                                                            <a:rPr lang="en-GB" sz="28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𝑏</m:t>
                                                          </m:r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</m:e>
                                              </m:func>
                                            </m:e>
                                          </m:func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800" dirty="0"/>
              </a:p>
              <a:p>
                <a:endParaRPr lang="en-SG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F8D1B4-84A2-EB1C-2C55-F7449236C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4" y="5369243"/>
                <a:ext cx="12035692" cy="18926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2613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C4AB-5DF6-3A7B-07A9-872B867A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the log-likelihood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34B5-B323-85AD-87E7-A164C8773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can simply implement the log likelihood loss as shown below.</a:t>
            </a:r>
          </a:p>
          <a:p>
            <a:r>
              <a:rPr lang="en-GB" dirty="0"/>
              <a:t>Note: We could look for the </a:t>
            </a:r>
            <a:r>
              <a:rPr lang="en-GB" b="1" dirty="0"/>
              <a:t>”normal</a:t>
            </a:r>
            <a:r>
              <a:rPr lang="en-GB" dirty="0"/>
              <a:t> </a:t>
            </a:r>
            <a:r>
              <a:rPr lang="en-GB" b="1" dirty="0"/>
              <a:t>equation”</a:t>
            </a:r>
            <a:r>
              <a:rPr lang="en-GB" dirty="0"/>
              <a:t> for the logistic regression, but this simply will not work. It is simply impossible to solve the logistic regression problem analytically.</a:t>
            </a:r>
          </a:p>
          <a:p>
            <a:r>
              <a:rPr lang="en-GB" dirty="0"/>
              <a:t>(Not convinced? Try solving it analytically!).</a:t>
            </a:r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09DCBE-4611-3296-32F0-6F2A520A1A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83"/>
          <a:stretch/>
        </p:blipFill>
        <p:spPr>
          <a:xfrm>
            <a:off x="1212978" y="5098080"/>
            <a:ext cx="9277765" cy="139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34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C4AB-5DF6-3A7B-07A9-872B867A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a logistic regressor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34B5-B323-85AD-87E7-A164C877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274976" cy="4845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Instead, it is often preferable to rely on the gradient descent method, or the Newton method.</a:t>
            </a:r>
          </a:p>
          <a:p>
            <a:r>
              <a:rPr lang="en-GB" dirty="0"/>
              <a:t>Typically, this is what the </a:t>
            </a:r>
            <a:r>
              <a:rPr lang="en-GB" b="1" dirty="0" err="1"/>
              <a:t>LogisticRegression</a:t>
            </a:r>
            <a:r>
              <a:rPr lang="en-GB" b="1" dirty="0"/>
              <a:t>()</a:t>
            </a:r>
            <a:r>
              <a:rPr lang="en-GB" dirty="0"/>
              <a:t> object in </a:t>
            </a:r>
            <a:r>
              <a:rPr lang="en-GB" dirty="0" err="1"/>
              <a:t>sklearn</a:t>
            </a:r>
            <a:r>
              <a:rPr lang="en-GB" dirty="0"/>
              <a:t> uses for training!</a:t>
            </a:r>
          </a:p>
          <a:p>
            <a:r>
              <a:rPr lang="en-GB" dirty="0"/>
              <a:t>(Newton method is not covered but feel free to look it up/try it out?)</a:t>
            </a:r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0534C-1E5C-2536-7C44-58222FFEA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737" y="1764772"/>
            <a:ext cx="6778957" cy="447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01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2353DDF-5C29-0AA5-21F9-C5F60A7B8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93" y="313890"/>
            <a:ext cx="9412013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76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AE986A-9798-E710-5642-7AB3AAD1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the logistic regression model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D08CC2-D8C0-4AB8-597E-6A99C46C8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722398" cy="5032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When attempting to evaluate a classification model, it is often a good idea to first display a confusion matrix for the predicted values of the dataset samples (test samples, preferably).</a:t>
            </a:r>
          </a:p>
          <a:p>
            <a:r>
              <a:rPr lang="en-GB" dirty="0"/>
              <a:t>We can simply calculate it by using the </a:t>
            </a:r>
            <a:r>
              <a:rPr lang="en-GB" dirty="0" err="1"/>
              <a:t>confusion_matrix</a:t>
            </a:r>
            <a:r>
              <a:rPr lang="en-GB" dirty="0"/>
              <a:t>() function from </a:t>
            </a:r>
            <a:r>
              <a:rPr lang="en-GB" dirty="0" err="1"/>
              <a:t>sklearn</a:t>
            </a:r>
            <a:r>
              <a:rPr lang="en-GB" dirty="0"/>
              <a:t>. The non-diagonal elements have zero values, which is the sign that our model classifies perfectly.</a:t>
            </a:r>
          </a:p>
          <a:p>
            <a:r>
              <a:rPr lang="en-GB" dirty="0"/>
              <a:t>Learn more, here: </a:t>
            </a:r>
            <a:r>
              <a:rPr lang="en-GB" dirty="0">
                <a:hlinkClick r:id="rId2"/>
              </a:rPr>
              <a:t>https://scikit-learn.org/stable/modules/generated/sklearn.metrics.confusion_matrix.html</a:t>
            </a:r>
            <a:r>
              <a:rPr lang="en-GB" dirty="0"/>
              <a:t>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48AA3C-AA90-D1EB-F30D-83277B83B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520" y="1376392"/>
            <a:ext cx="5391728" cy="375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53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AE986A-9798-E710-5642-7AB3AAD1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the logistic regression model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D08CC2-D8C0-4AB8-597E-6A99C46C8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757909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We can also ask for a classification report for the trained model.</a:t>
            </a:r>
          </a:p>
          <a:p>
            <a:r>
              <a:rPr lang="en-GB" dirty="0"/>
              <a:t>This shows the precision, recall and F1 scores for each class, as well as the overall accuracy of the model.</a:t>
            </a:r>
          </a:p>
          <a:p>
            <a:r>
              <a:rPr lang="en-GB" dirty="0"/>
              <a:t>For each one of these interesting metrics, the best value is 1.0. Our model achieves a 1.0 score, suggesting that the model classifies perfectly.</a:t>
            </a:r>
          </a:p>
          <a:p>
            <a:r>
              <a:rPr lang="en-GB" dirty="0"/>
              <a:t>Learn more, here: </a:t>
            </a:r>
            <a:r>
              <a:rPr lang="en-GB" dirty="0">
                <a:hlinkClick r:id="rId2"/>
              </a:rPr>
              <a:t>https://scikit-learn.org/stable/modules/generated/sklearn.metrics.classification_report.html#sklearn.metrics.classification_report</a:t>
            </a:r>
            <a:r>
              <a:rPr lang="en-GB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A64EEF-680D-D1CF-445C-11D191CCC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520" y="1376392"/>
            <a:ext cx="5391728" cy="3754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67757C-64AF-8BE1-A9D7-5D4CA0106416}"/>
              </a:ext>
            </a:extLst>
          </p:cNvPr>
          <p:cNvSpPr txBox="1"/>
          <p:nvPr/>
        </p:nvSpPr>
        <p:spPr>
          <a:xfrm>
            <a:off x="7000248" y="5400430"/>
            <a:ext cx="508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Note: the details of these metrics and what they represented is not discussed here (covered in previous ML classes).</a:t>
            </a:r>
          </a:p>
        </p:txBody>
      </p:sp>
    </p:spTree>
    <p:extLst>
      <p:ext uri="{BB962C8B-B14F-4D97-AF65-F5344CB8AC3E}">
        <p14:creationId xmlns:p14="http://schemas.microsoft.com/office/powerpoint/2010/main" val="1753014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8723-AD13-89B7-1419-91F9B6B5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biology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6B346-F257-1111-943C-75EAE45D1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Many tasks we have seen earlier (e.g. appt prices) are “difficult” to solve, or do not have an obvious “explainable” logic.</a:t>
            </a:r>
          </a:p>
          <a:p>
            <a:pPr marL="0" indent="0">
              <a:buNone/>
            </a:pPr>
            <a:r>
              <a:rPr lang="en-GB" dirty="0"/>
              <a:t>Our brain, however, seems very capable to solve these tasks.</a:t>
            </a:r>
          </a:p>
          <a:p>
            <a:pPr marL="0" indent="0">
              <a:buNone/>
            </a:pPr>
            <a:r>
              <a:rPr lang="en-GB" b="1" dirty="0"/>
              <a:t>Million dollar question: </a:t>
            </a:r>
            <a:r>
              <a:rPr lang="en-GB" dirty="0"/>
              <a:t>Could we replace the linear/polynomial/logistic models with a model that mimics the brain?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5FA5B-6C71-D983-90F8-57E791E8F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362" y="4326716"/>
            <a:ext cx="9175275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06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2D52-2944-1FD9-BF9E-4E28F0ED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biology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3FE9-2456-3189-E04A-C10B8A15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88012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In neural networks, we will implement neurons, but are they really close to the ones in the human brain?</a:t>
            </a:r>
          </a:p>
          <a:p>
            <a:r>
              <a:rPr lang="en-GB" dirty="0"/>
              <a:t>Neural networks are inspired by the neural structure and processes of the human brain.</a:t>
            </a:r>
          </a:p>
          <a:p>
            <a:r>
              <a:rPr lang="en-GB" dirty="0"/>
              <a:t>Neural networks are comprised of interconnected nodes, which are called </a:t>
            </a:r>
            <a:r>
              <a:rPr lang="en-GB" b="1" dirty="0"/>
              <a:t>artificial neurons </a:t>
            </a:r>
            <a:r>
              <a:rPr lang="en-GB" dirty="0"/>
              <a:t>or </a:t>
            </a:r>
            <a:r>
              <a:rPr lang="en-GB" b="1" dirty="0" err="1"/>
              <a:t>perceptrons</a:t>
            </a:r>
            <a:r>
              <a:rPr lang="en-GB" dirty="0"/>
              <a:t>.</a:t>
            </a:r>
          </a:p>
          <a:p>
            <a:r>
              <a:rPr lang="en-GB" dirty="0"/>
              <a:t>Neural networks are related to biology in that they are modelled after biological neural systems.</a:t>
            </a:r>
          </a:p>
        </p:txBody>
      </p:sp>
      <p:pic>
        <p:nvPicPr>
          <p:cNvPr id="4" name="Picture 3" descr="A diagram of a cell body and a diagram of a cell body&#10;&#10;Description automatically generated">
            <a:extLst>
              <a:ext uri="{FF2B5EF4-FFF2-40B4-BE49-F238E27FC236}">
                <a16:creationId xmlns:a16="http://schemas.microsoft.com/office/drawing/2014/main" id="{7BFD9D5F-B9B4-25D8-8551-647E6EDC9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375" y="490677"/>
            <a:ext cx="3958985" cy="323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654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2D52-2944-1FD9-BF9E-4E28F0ED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biology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3FE9-2456-3189-E04A-C10B8A15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701817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general,</a:t>
            </a:r>
          </a:p>
          <a:p>
            <a:r>
              <a:rPr lang="en-GB" dirty="0"/>
              <a:t>A </a:t>
            </a:r>
            <a:r>
              <a:rPr lang="en-GB" b="1" dirty="0"/>
              <a:t>neuron will receive stimuli</a:t>
            </a:r>
            <a:r>
              <a:rPr lang="en-GB" dirty="0"/>
              <a:t> through its dendrites, in the form of electrical signals playing the role of </a:t>
            </a:r>
            <a:r>
              <a:rPr lang="en-GB" b="1" dirty="0"/>
              <a:t>inputs</a:t>
            </a:r>
            <a:r>
              <a:rPr lang="en-GB" dirty="0"/>
              <a:t>,</a:t>
            </a:r>
          </a:p>
          <a:p>
            <a:r>
              <a:rPr lang="en-GB" dirty="0"/>
              <a:t>It will </a:t>
            </a:r>
            <a:r>
              <a:rPr lang="en-GB" b="1" dirty="0"/>
              <a:t>process the inputs </a:t>
            </a:r>
            <a:r>
              <a:rPr lang="en-GB" dirty="0"/>
              <a:t>in a certain way in its nucleus (and other parts of the neuron),</a:t>
            </a:r>
          </a:p>
          <a:p>
            <a:r>
              <a:rPr lang="en-GB" dirty="0"/>
              <a:t>If the integrated signals reach a threshold, </a:t>
            </a:r>
            <a:r>
              <a:rPr lang="en-GB" b="1" dirty="0"/>
              <a:t>the neuron generates an action potential</a:t>
            </a:r>
            <a:r>
              <a:rPr lang="en-GB" dirty="0"/>
              <a:t>, a brief electrical impulse. This is an output coming from the axon terminal, in the form of a signal (1) or no signal (0) being produced.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E7C03B-F864-25F2-5F90-9E2F6BAD7D26}"/>
                  </a:ext>
                </a:extLst>
              </p:cNvPr>
              <p:cNvSpPr txBox="1"/>
              <p:nvPr/>
            </p:nvSpPr>
            <p:spPr>
              <a:xfrm>
                <a:off x="8682893" y="3899877"/>
                <a:ext cx="2860431" cy="193899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In other words,</a:t>
                </a:r>
              </a:p>
              <a:p>
                <a:pPr algn="ctr"/>
                <a:endParaRPr lang="en-GB" sz="2400" dirty="0"/>
              </a:p>
              <a:p>
                <a:pPr algn="ctr"/>
                <a:r>
                  <a:rPr lang="en-GB" sz="2400" b="1" dirty="0"/>
                  <a:t>Neuron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400" dirty="0"/>
              </a:p>
              <a:p>
                <a:pPr algn="ctr"/>
                <a:r>
                  <a:rPr lang="en-GB" sz="2400" b="1" dirty="0"/>
                  <a:t>Logistic Regression?!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E7C03B-F864-25F2-5F90-9E2F6BAD7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893" y="3899877"/>
                <a:ext cx="2860431" cy="1938992"/>
              </a:xfrm>
              <a:prstGeom prst="rect">
                <a:avLst/>
              </a:prstGeom>
              <a:blipFill>
                <a:blip r:embed="rId2"/>
                <a:stretch>
                  <a:fillRect l="-1907" t="-2188" r="-1695" b="-59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cell body and a diagram of a cell body&#10;&#10;Description automatically generated">
            <a:extLst>
              <a:ext uri="{FF2B5EF4-FFF2-40B4-BE49-F238E27FC236}">
                <a16:creationId xmlns:a16="http://schemas.microsoft.com/office/drawing/2014/main" id="{93468420-744C-D00A-8162-39F1BEDA1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375" y="490677"/>
            <a:ext cx="3958985" cy="323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50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2D52-2944-1FD9-BF9E-4E28F0ED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biology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3FE9-2456-3189-E04A-C10B8A15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577669" cy="50323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But a human brain is not just one neuron, it is many of them arranged into a network of some sort!</a:t>
            </a:r>
          </a:p>
          <a:p>
            <a:r>
              <a:rPr lang="en-GB" dirty="0"/>
              <a:t>Eventually, the output signal produced by a neuron will be passed to other neurons in the brain.</a:t>
            </a:r>
          </a:p>
          <a:p>
            <a:r>
              <a:rPr lang="en-GB" dirty="0"/>
              <a:t>In fact, the brain could be seen as a set of several neurons processing information, </a:t>
            </a:r>
            <a:r>
              <a:rPr lang="en-GB" b="1" dirty="0"/>
              <a:t>both in parallel and in sequence</a:t>
            </a:r>
            <a:r>
              <a:rPr lang="en-GB" dirty="0"/>
              <a:t>.</a:t>
            </a:r>
          </a:p>
          <a:p>
            <a:r>
              <a:rPr lang="en-GB" dirty="0"/>
              <a:t>This assembly, which resembles the human brain, is commonly referred to as a </a:t>
            </a:r>
            <a:r>
              <a:rPr lang="en-GB" b="1" dirty="0"/>
              <a:t>neural network</a:t>
            </a:r>
            <a:r>
              <a:rPr lang="en-GB" dirty="0"/>
              <a:t>.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779C4BB9-E4D3-29A9-77AA-04412F9DF7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86" t="14479" r="-740" b="12475"/>
          <a:stretch/>
        </p:blipFill>
        <p:spPr>
          <a:xfrm>
            <a:off x="7856375" y="3604630"/>
            <a:ext cx="3872203" cy="2864498"/>
          </a:xfrm>
          <a:prstGeom prst="rect">
            <a:avLst/>
          </a:prstGeom>
        </p:spPr>
      </p:pic>
      <p:pic>
        <p:nvPicPr>
          <p:cNvPr id="5" name="Picture 4" descr="A diagram of a cell body and a diagram of a cell body&#10;&#10;Description automatically generated">
            <a:extLst>
              <a:ext uri="{FF2B5EF4-FFF2-40B4-BE49-F238E27FC236}">
                <a16:creationId xmlns:a16="http://schemas.microsoft.com/office/drawing/2014/main" id="{D4E286A9-4AD5-4E9C-6C92-E073C4C44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375" y="490677"/>
            <a:ext cx="3958985" cy="323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2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2D52-2944-1FD9-BF9E-4E28F0ED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bit of biology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3FE9-2456-3189-E04A-C10B8A15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7018176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Research has shown that artificial neural networks (NN) could be used to solve some of the problems that biological NN can solve.</a:t>
            </a:r>
          </a:p>
          <a:p>
            <a:r>
              <a:rPr lang="en-GB" dirty="0"/>
              <a:t>For example, neural networks can be used to identify objects in images, just as biological neural networks can.</a:t>
            </a:r>
          </a:p>
          <a:p>
            <a:r>
              <a:rPr lang="en-GB" dirty="0"/>
              <a:t>The training process of CS neural networks is apparently very similar to the biological neural networks.</a:t>
            </a:r>
          </a:p>
          <a:p>
            <a:r>
              <a:rPr lang="en-GB" dirty="0"/>
              <a:t>This is actually an ongoing argument/debate in the community </a:t>
            </a:r>
            <a:r>
              <a:rPr lang="en-US" dirty="0"/>
              <a:t>[Quanta2021] and [MITNews2022].</a:t>
            </a:r>
            <a:endParaRPr lang="en-SG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7C25391-7442-1C3D-FAD0-3B793A66D9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86" t="14479" r="-740" b="12475"/>
          <a:stretch/>
        </p:blipFill>
        <p:spPr>
          <a:xfrm>
            <a:off x="7856375" y="3604630"/>
            <a:ext cx="3872203" cy="2864498"/>
          </a:xfrm>
          <a:prstGeom prst="rect">
            <a:avLst/>
          </a:prstGeom>
        </p:spPr>
      </p:pic>
      <p:pic>
        <p:nvPicPr>
          <p:cNvPr id="5" name="Picture 4" descr="A diagram of a cell body and a diagram of a cell body&#10;&#10;Description automatically generated">
            <a:extLst>
              <a:ext uri="{FF2B5EF4-FFF2-40B4-BE49-F238E27FC236}">
                <a16:creationId xmlns:a16="http://schemas.microsoft.com/office/drawing/2014/main" id="{09409767-E726-58B0-12E6-E5A975A00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375" y="490677"/>
            <a:ext cx="3958985" cy="323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42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E6CC-C09A-B5BA-453D-3EEF46FD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Starting with a mock dataset, again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E89BBBC-7413-FCF8-8C61-B97FC92F32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As before, we will try to come up with a model capable of predicting the price of an apartment based on some of its features. </a:t>
                </a:r>
              </a:p>
              <a:p>
                <a:pPr marL="0" indent="0">
                  <a:buNone/>
                </a:pPr>
                <a:r>
                  <a:rPr lang="en-GB" dirty="0"/>
                  <a:t>The inputs will this time consist of two parameters:</a:t>
                </a:r>
              </a:p>
              <a:p>
                <a:r>
                  <a:rPr lang="en-GB" dirty="0"/>
                  <a:t>the </a:t>
                </a:r>
                <a:r>
                  <a:rPr lang="en-GB" b="1" dirty="0"/>
                  <a:t>surface</a:t>
                </a:r>
                <a:r>
                  <a:rPr lang="en-GB" dirty="0"/>
                  <a:t> of the apartment, in sqm, just like before,</a:t>
                </a:r>
              </a:p>
              <a:p>
                <a:r>
                  <a:rPr lang="en-GB" dirty="0"/>
                  <a:t>and the </a:t>
                </a:r>
                <a:r>
                  <a:rPr lang="en-GB" b="1" dirty="0"/>
                  <a:t>distance</a:t>
                </a:r>
                <a:r>
                  <a:rPr lang="en-GB" dirty="0"/>
                  <a:t> between the apartment and the closest MRT station in meters.</a:t>
                </a:r>
              </a:p>
              <a:p>
                <a:pPr marL="0" indent="0">
                  <a:buNone/>
                </a:pPr>
                <a:r>
                  <a:rPr lang="en-GB" dirty="0"/>
                  <a:t>We will generate a mock dataset by:</a:t>
                </a:r>
              </a:p>
              <a:p>
                <a:r>
                  <a:rPr lang="en-GB" dirty="0"/>
                  <a:t>randomly drawing </a:t>
                </a:r>
                <a:r>
                  <a:rPr lang="en-GB" b="1" dirty="0"/>
                  <a:t>surfaces</a:t>
                </a:r>
                <a:r>
                  <a:rPr lang="en-GB" dirty="0"/>
                  <a:t> between 40 sqm and 200 sqm,</a:t>
                </a:r>
              </a:p>
              <a:p>
                <a:r>
                  <a:rPr lang="en-GB" dirty="0"/>
                  <a:t>randomly drawing </a:t>
                </a:r>
                <a:r>
                  <a:rPr lang="en-GB" b="1" dirty="0"/>
                  <a:t>distances</a:t>
                </a:r>
                <a:r>
                  <a:rPr lang="en-GB" dirty="0"/>
                  <a:t> between 50 and 1000m,</a:t>
                </a:r>
              </a:p>
              <a:p>
                <a:r>
                  <a:rPr lang="en-GB" dirty="0"/>
                  <a:t>generate prices by assuming that the average price is simply defined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𝑎𝑣𝑔𝑝𝑟𝑖𝑐𝑒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100000 + 14373×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𝑠𝑢𝑟𝑓𝑎𝑐𝑒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1000 −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× 1286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Finally, we will randomly apply a -/+ 10% variation on the average price to create some variance, and call that the output for a given sample.</a:t>
                </a:r>
                <a:endParaRPr lang="en-SG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E89BBBC-7413-FCF8-8C61-B97FC92F32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300" r="-10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8530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E6CC-C09A-B5BA-453D-3EEF46FD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Starting with a mock dataset, again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C10C03-F7BD-49E2-BB80-89E354314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69" y="1756854"/>
            <a:ext cx="11752662" cy="42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117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9229FC-D397-9D8C-4B8E-7284C932F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326" y="0"/>
            <a:ext cx="63693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18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4CAA90-AC59-0D8D-3497-ACB3CFEC9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88" y="0"/>
            <a:ext cx="10428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31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51795-C01A-E1C7-17B8-EBAC4068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885470"/>
            <a:ext cx="11345858" cy="5087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965EAD-A0E9-77F6-B621-C437940A3FE6}"/>
                  </a:ext>
                </a:extLst>
              </p:cNvPr>
              <p:cNvSpPr txBox="1"/>
              <p:nvPr/>
            </p:nvSpPr>
            <p:spPr>
              <a:xfrm>
                <a:off x="717755" y="5751871"/>
                <a:ext cx="1105117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𝑎𝑣𝑔𝑝𝑟𝑖𝑐𝑒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100000 + 14373×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𝑠𝑢𝑟𝑓𝑎𝑐𝑒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d>
                        <m:d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1000 − </m:t>
                          </m:r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</m:e>
                      </m:d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× 1286</m:t>
                      </m:r>
                    </m:oMath>
                  </m:oMathPara>
                </a14:m>
                <a:endParaRPr lang="en-GB" dirty="0"/>
              </a:p>
              <a:p>
                <a:pPr algn="ctr"/>
                <a:r>
                  <a:rPr lang="en-GB" dirty="0"/>
                  <a:t>is actually the equation of a 2D plane in a 3D ambient space!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965EAD-A0E9-77F6-B621-C437940A3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55" y="5751871"/>
                <a:ext cx="11051174" cy="646331"/>
              </a:xfrm>
              <a:prstGeom prst="rect">
                <a:avLst/>
              </a:prstGeom>
              <a:blipFill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552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DB538-E653-9290-DBC4-63400A5B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Coding a Neuron and a Neural Network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74F8-F1BE-D6E5-016B-AE54399D1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4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Neuron</a:t>
            </a:r>
            <a:r>
              <a:rPr lang="en-GB" b="1" dirty="0"/>
              <a:t> in Neural Networks):</a:t>
            </a:r>
          </a:p>
          <a:p>
            <a:pPr marL="0" indent="0">
              <a:buNone/>
            </a:pPr>
            <a:r>
              <a:rPr lang="en-GB" dirty="0"/>
              <a:t>Each artificial neuron in a neural network might for instance be represented as a linear regression (or later on, a logistic regression) model, which receives input, applies a transformation on that input, and produces an output.</a:t>
            </a:r>
          </a:p>
          <a:p>
            <a:pPr marL="0" indent="0">
              <a:buNone/>
            </a:pPr>
            <a:r>
              <a:rPr lang="en-GB" dirty="0"/>
              <a:t>And similar to the way that biological neurons are connected and communicate with each other, artificial neurons are connected to each other, in parallel and in sequence, through a network. This neural network can be thought of as pathways for information to flow.</a:t>
            </a:r>
          </a:p>
          <a:p>
            <a:pPr marL="0" indent="0">
              <a:buNone/>
            </a:pPr>
            <a:r>
              <a:rPr lang="en-GB" dirty="0"/>
              <a:t>(Later on, we will see more advanced ways to represent neurons than linear or logistic regression.)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448092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95FE-84E8-94C7-4598-E1272BDD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Coding our first Neuron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07B46-BDBF-EA2C-6EA2-2B1DD37BF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46" y="1436221"/>
            <a:ext cx="8113904" cy="521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20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43926C-6B91-0C8F-E5E2-B1ABBCC4C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17" y="214086"/>
            <a:ext cx="9916566" cy="626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723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6A7B-B6D2-6F67-1336-912BCD96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a minimal Neural Network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19C1F-4F41-1C15-474C-87B353226D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defining a minimal Neural Network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In order to define a minimal neural network with only one neuron, we need two things:</a:t>
                </a:r>
              </a:p>
              <a:p>
                <a:r>
                  <a:rPr lang="en-GB" dirty="0"/>
                  <a:t>First, an </a:t>
                </a:r>
                <a:r>
                  <a:rPr lang="en-GB" b="1" dirty="0"/>
                  <a:t>__</a:t>
                </a:r>
                <a:r>
                  <a:rPr lang="en-GB" b="1" dirty="0" err="1"/>
                  <a:t>init</a:t>
                </a:r>
                <a:r>
                  <a:rPr lang="en-GB" b="1" dirty="0"/>
                  <a:t>__ method, </a:t>
                </a:r>
                <a:r>
                  <a:rPr lang="en-GB" dirty="0"/>
                  <a:t>listing the </a:t>
                </a:r>
                <a:r>
                  <a:rPr lang="en-GB" b="1" dirty="0"/>
                  <a:t>trainable</a:t>
                </a:r>
                <a:r>
                  <a:rPr lang="en-GB" dirty="0"/>
                  <a:t> </a:t>
                </a:r>
                <a:r>
                  <a:rPr lang="en-GB" b="1" dirty="0"/>
                  <a:t>parameters</a:t>
                </a:r>
                <a:r>
                  <a:rPr lang="en-GB" dirty="0"/>
                  <a:t> for the model. In our case that is a </a:t>
                </a:r>
                <a:r>
                  <a:rPr lang="en-GB" b="1" dirty="0"/>
                  <a:t>weight</a:t>
                </a:r>
                <a:r>
                  <a:rPr lang="en-GB" dirty="0"/>
                  <a:t> </a:t>
                </a:r>
                <a:r>
                  <a:rPr lang="en-GB" b="1" dirty="0"/>
                  <a:t>vector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with 2 elements and a single scalar </a:t>
                </a:r>
                <a:r>
                  <a:rPr lang="en-GB" b="1" dirty="0"/>
                  <a:t>bias</a:t>
                </a:r>
                <a:r>
                  <a:rPr lang="en-GB" dirty="0"/>
                  <a:t> value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Second, a </a:t>
                </a:r>
                <a:r>
                  <a:rPr lang="en-GB" b="1" dirty="0"/>
                  <a:t>forward</a:t>
                </a:r>
                <a:r>
                  <a:rPr lang="en-GB" dirty="0"/>
                  <a:t> </a:t>
                </a:r>
                <a:r>
                  <a:rPr lang="en-GB" b="1" dirty="0"/>
                  <a:t>method</a:t>
                </a:r>
                <a:r>
                  <a:rPr lang="en-GB" dirty="0"/>
                  <a:t>, which will be used to formulate predictions for any set of given inputs. The </a:t>
                </a:r>
                <a:r>
                  <a:rPr lang="en-GB" b="1" dirty="0"/>
                  <a:t>prediction</a:t>
                </a:r>
                <a:r>
                  <a:rPr lang="en-GB" dirty="0"/>
                  <a:t> </a:t>
                </a:r>
                <a:r>
                  <a:rPr lang="en-GB" b="1" dirty="0"/>
                  <a:t>formula</a:t>
                </a:r>
                <a:r>
                  <a:rPr lang="en-GB" dirty="0"/>
                  <a:t> is simply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b="1" dirty="0"/>
                  <a:t>(For now, this single neuron is equivalent to a Linear Regression!)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519C1F-4F41-1C15-474C-87B353226D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942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EA64E1-9657-6395-FB7C-E89FCA869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27" y="9331"/>
            <a:ext cx="9066623" cy="68052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CF64B2-9992-CC32-1E47-F6BBD6C1F818}"/>
                  </a:ext>
                </a:extLst>
              </p:cNvPr>
              <p:cNvSpPr txBox="1"/>
              <p:nvPr/>
            </p:nvSpPr>
            <p:spPr>
              <a:xfrm>
                <a:off x="4735286" y="141515"/>
                <a:ext cx="7336972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dirty="0">
                    <a:solidFill>
                      <a:schemeClr val="accent2"/>
                    </a:solidFill>
                  </a:rPr>
                  <a:t>Note: </a:t>
                </a:r>
                <a:r>
                  <a:rPr lang="en-GB" sz="2400" dirty="0">
                    <a:solidFill>
                      <a:schemeClr val="accent2"/>
                    </a:solidFill>
                  </a:rPr>
                  <a:t>You might find implementations that are using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𝑋𝑊</m:t>
                    </m:r>
                    <m:r>
                      <a:rPr lang="en-GB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4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solidFill>
                      <a:schemeClr val="accent2"/>
                    </a:solidFill>
                  </a:rPr>
                  <a:t>as a formula for the forward method, and some implementations that at using </a:t>
                </a:r>
                <a14:m>
                  <m:oMath xmlns:m="http://schemas.openxmlformats.org/officeDocument/2006/math">
                    <m:r>
                      <a:rPr lang="fr-FR" sz="2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sSup>
                      <m:sSupPr>
                        <m:ctrlPr>
                          <a:rPr lang="fr-FR" sz="24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fr-FR" sz="24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>
                    <a:solidFill>
                      <a:schemeClr val="accent2"/>
                    </a:solidFill>
                  </a:rPr>
                  <a:t> instead. Sometimes even omitting the “transpose” and using </a:t>
                </a:r>
                <a14:m>
                  <m:oMath xmlns:m="http://schemas.openxmlformats.org/officeDocument/2006/math">
                    <m:r>
                      <a:rPr lang="fr-FR" sz="2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𝑊𝑋</m:t>
                    </m:r>
                    <m:r>
                      <a:rPr lang="en-GB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>
                    <a:solidFill>
                      <a:schemeClr val="accent2"/>
                    </a:solidFill>
                  </a:rPr>
                  <a:t>. This is roughly equivalent. What matters is that you are aware of the correct sizes for the different matrices and how to combine correctly.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CF64B2-9992-CC32-1E47-F6BBD6C1F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286" y="141515"/>
                <a:ext cx="7336972" cy="2677656"/>
              </a:xfrm>
              <a:prstGeom prst="rect">
                <a:avLst/>
              </a:prstGeom>
              <a:blipFill>
                <a:blip r:embed="rId3"/>
                <a:stretch>
                  <a:fillRect l="-1330" t="-1822" r="-1579" b="-4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779E1D5-21DF-C3A8-7C9A-55A915353BBF}"/>
              </a:ext>
            </a:extLst>
          </p:cNvPr>
          <p:cNvSpPr/>
          <p:nvPr/>
        </p:nvSpPr>
        <p:spPr>
          <a:xfrm>
            <a:off x="1208317" y="1861458"/>
            <a:ext cx="3243943" cy="935942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55181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CDDC-F493-891C-2E09-5E83E3281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a loss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D6F20-0ADA-E25F-255A-06B421904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takes care of the </a:t>
            </a:r>
            <a:r>
              <a:rPr lang="en-GB" b="1" dirty="0"/>
              <a:t>first</a:t>
            </a:r>
            <a:r>
              <a:rPr lang="en-GB" dirty="0"/>
              <a:t> </a:t>
            </a:r>
            <a:r>
              <a:rPr lang="en-GB" b="1" dirty="0"/>
              <a:t>three</a:t>
            </a:r>
            <a:r>
              <a:rPr lang="en-GB" dirty="0"/>
              <a:t> </a:t>
            </a:r>
            <a:r>
              <a:rPr lang="en-GB" b="1" dirty="0"/>
              <a:t>elements</a:t>
            </a:r>
            <a:r>
              <a:rPr lang="en-GB" dirty="0"/>
              <a:t> of a machine learning problem (task, dataset, model).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/>
              <a:t>fourth</a:t>
            </a:r>
            <a:r>
              <a:rPr lang="en-GB" dirty="0"/>
              <a:t> element we need to define is a </a:t>
            </a:r>
            <a:r>
              <a:rPr lang="en-GB" b="1" dirty="0"/>
              <a:t>loss</a:t>
            </a:r>
            <a:r>
              <a:rPr lang="en-GB" dirty="0"/>
              <a:t> </a:t>
            </a:r>
            <a:r>
              <a:rPr lang="en-GB" b="1" dirty="0"/>
              <a:t>function</a:t>
            </a:r>
            <a:r>
              <a:rPr lang="en-GB" dirty="0"/>
              <a:t>.</a:t>
            </a:r>
          </a:p>
          <a:p>
            <a:r>
              <a:rPr lang="en-GB" dirty="0"/>
              <a:t>As this is a regression task, we can reuse the </a:t>
            </a:r>
            <a:r>
              <a:rPr lang="en-GB" b="1" dirty="0"/>
              <a:t>MSE</a:t>
            </a:r>
            <a:r>
              <a:rPr lang="en-GB" dirty="0"/>
              <a:t> </a:t>
            </a:r>
            <a:r>
              <a:rPr lang="en-GB" b="1" dirty="0"/>
              <a:t>loss</a:t>
            </a:r>
            <a:r>
              <a:rPr lang="en-GB" dirty="0"/>
              <a:t> and add this MSE loss function as a method to our class.</a:t>
            </a:r>
          </a:p>
          <a:p>
            <a:r>
              <a:rPr lang="en-GB" dirty="0"/>
              <a:t>For convenience, we will compute the MSE loss in in matrix form.</a:t>
            </a:r>
          </a:p>
          <a:p>
            <a:r>
              <a:rPr lang="en-GB" dirty="0"/>
              <a:t>We will also reuse the </a:t>
            </a:r>
            <a:r>
              <a:rPr lang="en-GB" b="1" dirty="0"/>
              <a:t>forward()</a:t>
            </a:r>
            <a:r>
              <a:rPr lang="en-GB" dirty="0"/>
              <a:t> method we just coded to make predictions and then compared said predictions with the expected outputs from our dataset.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691783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4332CD-4029-25C5-BAAD-7B2AC3A2F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933" y="1700845"/>
            <a:ext cx="8662133" cy="515715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E37038-764C-E08B-C9DF-A2C602A7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Adding a loss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26059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302F-B7B2-26CD-EB4B-FB867D53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Stacking multiple neurons in parallel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518979B-485A-1F91-718D-3D2067DBEA0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8799"/>
                <a:ext cx="5955892" cy="50292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Technically, our Neural Network could operate with any number of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SG" dirty="0"/>
                  <a:t> and any number of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SG" dirty="0"/>
                  <a:t>.</a:t>
                </a:r>
              </a:p>
              <a:p>
                <a:pPr marL="0" indent="0">
                  <a:buNone/>
                </a:pPr>
                <a:r>
                  <a:rPr lang="en-SG" dirty="0"/>
                  <a:t>We would simply need to adjust the sizes of the matrices of parameters: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SG" dirty="0"/>
                  <a:t> as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SG" dirty="0"/>
                  <a:t> matrix,</a:t>
                </a:r>
              </a:p>
              <a:p>
                <a:r>
                  <a:rPr lang="en-SG" dirty="0"/>
                  <a:t>B as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SG" dirty="0"/>
                  <a:t> vector.</a:t>
                </a:r>
              </a:p>
              <a:p>
                <a:pPr marL="0" indent="0">
                  <a:buNone/>
                </a:pPr>
                <a:r>
                  <a:rPr lang="en-SG" b="1" dirty="0"/>
                  <a:t>Note: </a:t>
                </a:r>
                <a:r>
                  <a:rPr lang="en-SG" dirty="0"/>
                  <a:t>This would be equivalent to having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SG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neurons, each receiving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SG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SG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inputs, and each producing one output to be assembled as the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SG" dirty="0"/>
                  <a:t> vector.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518979B-485A-1F91-718D-3D2067DBE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8799"/>
                <a:ext cx="5955892" cy="5029201"/>
              </a:xfrm>
              <a:blipFill>
                <a:blip r:embed="rId2"/>
                <a:stretch>
                  <a:fillRect l="-2149" t="-1939" r="-1331" b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88F2326B-03D1-DF9D-6987-ED6387320D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7" r="36786" b="5509"/>
          <a:stretch/>
        </p:blipFill>
        <p:spPr>
          <a:xfrm>
            <a:off x="6766229" y="2220686"/>
            <a:ext cx="5335574" cy="427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565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384B-85D2-3792-0E49-F97AF47D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 up with more layers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55738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00B050"/>
                    </a:solidFill>
                  </a:rPr>
                  <a:t>Shallow Neural Network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Following the logic of our </a:t>
                </a:r>
                <a:r>
                  <a:rPr lang="en-GB" dirty="0" err="1"/>
                  <a:t>SimpleNeuralNet</a:t>
                </a:r>
                <a:r>
                  <a:rPr lang="en-GB" dirty="0"/>
                  <a:t>, we could implement a Shallow Neural Network.</a:t>
                </a:r>
              </a:p>
              <a:p>
                <a:pPr marL="0" indent="0">
                  <a:buNone/>
                </a:pPr>
                <a:r>
                  <a:rPr lang="en-GB" dirty="0"/>
                  <a:t>We have just seen that it is possible to stack multiple neurons in parallel, by changing the sizes if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parameters in a layer of neurons. We now propose to stack layers of neurons, in sequence.</a:t>
                </a:r>
              </a:p>
              <a:p>
                <a:pPr marL="0" indent="0">
                  <a:buNone/>
                </a:pPr>
                <a:r>
                  <a:rPr lang="en-GB" b="1" dirty="0"/>
                  <a:t>Our Shallow Neural Network will now include two processing layers of neurons in a row, instead of just one, and each layer will be implementing its own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𝑾𝑿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1" dirty="0"/>
                  <a:t>operation of some sort.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557387" cy="5032375"/>
              </a:xfrm>
              <a:blipFill>
                <a:blip r:embed="rId2"/>
                <a:stretch>
                  <a:fillRect l="-1155" t="-1937" r="-18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7950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384B-85D2-3792-0E49-F97AF47D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 up with more layers</a:t>
            </a:r>
            <a:endParaRPr lang="en-SG" dirty="0"/>
          </a:p>
        </p:txBody>
      </p:sp>
      <p:pic>
        <p:nvPicPr>
          <p:cNvPr id="5" name="Picture 4" descr="A diagram of a complex formula&#10;&#10;Description automatically generated with medium confidence">
            <a:extLst>
              <a:ext uri="{FF2B5EF4-FFF2-40B4-BE49-F238E27FC236}">
                <a16:creationId xmlns:a16="http://schemas.microsoft.com/office/drawing/2014/main" id="{3A249C4A-540E-C08B-C488-FBA4BB21F1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8" b="7075"/>
          <a:stretch/>
        </p:blipFill>
        <p:spPr>
          <a:xfrm>
            <a:off x="942392" y="1418065"/>
            <a:ext cx="10596465" cy="532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05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384B-85D2-3792-0E49-F97AF47D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 up with more layers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first layer, will receive inputs with dimensionality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produce outputs with dimensionality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matrix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for this layer will therefore be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dirty="0"/>
                  <a:t>, and the matrix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will be a simple 1D vector with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2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complex formula&#10;&#10;Description automatically generated with medium confidence">
            <a:extLst>
              <a:ext uri="{FF2B5EF4-FFF2-40B4-BE49-F238E27FC236}">
                <a16:creationId xmlns:a16="http://schemas.microsoft.com/office/drawing/2014/main" id="{B97E64B7-D9ED-1D29-975E-180DEE91C7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8" b="7075"/>
          <a:stretch/>
        </p:blipFill>
        <p:spPr>
          <a:xfrm>
            <a:off x="3251718" y="3801813"/>
            <a:ext cx="5688563" cy="286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488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384B-85D2-3792-0E49-F97AF47D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 up with more layers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6573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The second layer, also called </a:t>
                </a:r>
                <a:r>
                  <a:rPr lang="en-GB" b="1" dirty="0"/>
                  <a:t>hidden</a:t>
                </a:r>
                <a:r>
                  <a:rPr lang="en-GB" dirty="0"/>
                  <a:t> </a:t>
                </a:r>
                <a:r>
                  <a:rPr lang="en-GB" b="1" dirty="0"/>
                  <a:t>layer</a:t>
                </a:r>
                <a:r>
                  <a:rPr lang="en-GB" dirty="0"/>
                  <a:t>, will receive the outputs from the previous layer with dimensionality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dirty="0"/>
                  <a:t>, use them as inputs and will produce outputs matching the dimensionality of the outputs in our dataset,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matrix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for this layer will be 2D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will be 1D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2AD8076-6887-CB42-016B-8FBD46BE4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65732" cy="5032375"/>
              </a:xfrm>
              <a:blipFill>
                <a:blip r:embed="rId2"/>
                <a:stretch>
                  <a:fillRect l="-1147" t="-1937" r="-9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complex formula&#10;&#10;Description automatically generated with medium confidence">
            <a:extLst>
              <a:ext uri="{FF2B5EF4-FFF2-40B4-BE49-F238E27FC236}">
                <a16:creationId xmlns:a16="http://schemas.microsoft.com/office/drawing/2014/main" id="{9858A74A-F7A1-E3E0-849D-D0E3929A33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8" b="7075"/>
          <a:stretch/>
        </p:blipFill>
        <p:spPr>
          <a:xfrm>
            <a:off x="3251718" y="3801813"/>
            <a:ext cx="5688563" cy="286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459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123BC0-70CA-3C75-E622-ABD557DA9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911" y="661481"/>
            <a:ext cx="6800137" cy="594455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82A473B-52F1-F6BE-BDF1-62FD170B5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NN class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51BBB68-C97A-F968-8AD2-DE508BF2C0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75137" y="1825625"/>
                <a:ext cx="4766774" cy="49424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Small changes:</a:t>
                </a:r>
              </a:p>
              <a:p>
                <a:r>
                  <a:rPr lang="en-GB" dirty="0"/>
                  <a:t>Weights and biases</a:t>
                </a:r>
                <a:br>
                  <a:rPr lang="en-GB" dirty="0"/>
                </a:br>
                <a:r>
                  <a:rPr lang="en-GB" dirty="0"/>
                  <a:t>are now </a:t>
                </a:r>
                <a:r>
                  <a:rPr lang="en-GB" b="1" dirty="0"/>
                  <a:t>randomly</a:t>
                </a:r>
                <a:r>
                  <a:rPr lang="en-GB" dirty="0"/>
                  <a:t> </a:t>
                </a:r>
                <a:r>
                  <a:rPr lang="en-GB" b="1" dirty="0"/>
                  <a:t>generated</a:t>
                </a:r>
                <a:r>
                  <a:rPr lang="en-GB" dirty="0"/>
                  <a:t>, instead of being passed to the </a:t>
                </a:r>
                <a:r>
                  <a:rPr lang="en-GB" dirty="0" err="1"/>
                  <a:t>init</a:t>
                </a:r>
                <a:r>
                  <a:rPr lang="en-GB" dirty="0"/>
                  <a:t> method.</a:t>
                </a:r>
              </a:p>
              <a:p>
                <a:r>
                  <a:rPr lang="en-GB" dirty="0"/>
                  <a:t>We pass the </a:t>
                </a:r>
                <a:r>
                  <a:rPr lang="en-GB" b="1" dirty="0"/>
                  <a:t>expected</a:t>
                </a:r>
                <a:r>
                  <a:rPr lang="en-GB" dirty="0"/>
                  <a:t> </a:t>
                </a:r>
                <a:r>
                  <a:rPr lang="en-GB" b="1" dirty="0"/>
                  <a:t>sizes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SG" dirty="0"/>
                  <a:t> instead.</a:t>
                </a:r>
              </a:p>
              <a:p>
                <a:r>
                  <a:rPr lang="en-SG" b="1" dirty="0"/>
                  <a:t>And initialize</a:t>
                </a:r>
                <a:r>
                  <a:rPr lang="en-SG" dirty="0"/>
                  <a:t> </a:t>
                </a:r>
                <a:r>
                  <a:rPr lang="en-SG" b="1" dirty="0"/>
                  <a:t>parameters matrices,</a:t>
                </a:r>
                <a:r>
                  <a:rPr lang="en-SG" dirty="0"/>
                  <a:t> </a:t>
                </a:r>
                <a:r>
                  <a:rPr lang="en-SG" b="1" u="sng" dirty="0"/>
                  <a:t>with correct sizes</a:t>
                </a:r>
                <a:r>
                  <a:rPr lang="en-SG" b="1" dirty="0"/>
                  <a:t>, as normal random with zero mean and variance 0.1.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51BBB68-C97A-F968-8AD2-DE508BF2C0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75137" y="1825625"/>
                <a:ext cx="4766774" cy="4942498"/>
              </a:xfrm>
              <a:blipFill>
                <a:blip r:embed="rId3"/>
                <a:stretch>
                  <a:fillRect l="-2689" t="-1973" r="-40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0945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BDD955-8C6C-6B79-E4D7-D77E989DD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15" y="277012"/>
            <a:ext cx="11488753" cy="2724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78550A-E6DE-7CC0-7837-FC2B1D24A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99" y="3001542"/>
            <a:ext cx="4191585" cy="3734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2B0F04-E003-8681-9F9A-699B20E26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343" y="5347243"/>
            <a:ext cx="5058481" cy="9621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3CD9CC-3DB1-E108-6A9D-978D92CBFE28}"/>
              </a:ext>
            </a:extLst>
          </p:cNvPr>
          <p:cNvSpPr txBox="1"/>
          <p:nvPr/>
        </p:nvSpPr>
        <p:spPr>
          <a:xfrm>
            <a:off x="7041662" y="3219938"/>
            <a:ext cx="51503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400" dirty="0">
                <a:solidFill>
                  <a:srgbClr val="00B050"/>
                </a:solidFill>
              </a:rPr>
              <a:t>Initialize model</a:t>
            </a:r>
          </a:p>
          <a:p>
            <a:pPr marL="342900" indent="-342900">
              <a:buAutoNum type="arabicPeriod"/>
            </a:pPr>
            <a:r>
              <a:rPr lang="en-GB" sz="2400" dirty="0">
                <a:solidFill>
                  <a:schemeClr val="accent2"/>
                </a:solidFill>
              </a:rPr>
              <a:t>Forward to predict</a:t>
            </a:r>
          </a:p>
          <a:p>
            <a:pPr marL="342900" indent="-342900">
              <a:buAutoNum type="arabicPeriod"/>
            </a:pPr>
            <a:r>
              <a:rPr lang="en-GB" sz="2400" dirty="0">
                <a:solidFill>
                  <a:srgbClr val="7030A0"/>
                </a:solidFill>
              </a:rPr>
              <a:t>Compute loss to evaluate model</a:t>
            </a:r>
            <a:br>
              <a:rPr lang="en-GB" sz="2400" dirty="0">
                <a:solidFill>
                  <a:srgbClr val="7030A0"/>
                </a:solidFill>
              </a:rPr>
            </a:br>
            <a:r>
              <a:rPr lang="en-GB" sz="2400" dirty="0">
                <a:solidFill>
                  <a:srgbClr val="7030A0"/>
                </a:solidFill>
              </a:rPr>
              <a:t>(it is bad, because trainable parameters have random values!)</a:t>
            </a:r>
            <a:endParaRPr lang="en-SG" sz="2400" dirty="0">
              <a:solidFill>
                <a:srgbClr val="7030A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4E9A37-A7F7-360B-952C-B89423628496}"/>
              </a:ext>
            </a:extLst>
          </p:cNvPr>
          <p:cNvCxnSpPr>
            <a:cxnSpLocks/>
          </p:cNvCxnSpPr>
          <p:nvPr/>
        </p:nvCxnSpPr>
        <p:spPr>
          <a:xfrm flipH="1">
            <a:off x="7053384" y="4483510"/>
            <a:ext cx="332154" cy="84962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292570-28B5-65D3-67EE-A694DF11DD12}"/>
              </a:ext>
            </a:extLst>
          </p:cNvPr>
          <p:cNvCxnSpPr>
            <a:cxnSpLocks/>
          </p:cNvCxnSpPr>
          <p:nvPr/>
        </p:nvCxnSpPr>
        <p:spPr>
          <a:xfrm flipH="1" flipV="1">
            <a:off x="4079631" y="3751385"/>
            <a:ext cx="2962031" cy="10507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A0F1C2-C1CE-6209-2479-EE59FD4158C5}"/>
              </a:ext>
            </a:extLst>
          </p:cNvPr>
          <p:cNvCxnSpPr>
            <a:cxnSpLocks/>
          </p:cNvCxnSpPr>
          <p:nvPr/>
        </p:nvCxnSpPr>
        <p:spPr>
          <a:xfrm flipH="1" flipV="1">
            <a:off x="6346092" y="2247628"/>
            <a:ext cx="1039446" cy="97231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9828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3842-7F62-CF52-EA5A-6F60E0A4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need for a training procedure</a:t>
            </a:r>
            <a:endParaRPr lang="en-S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A6B828-D9CD-5DA9-3D1E-6F24E022D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At the moment, we have coded a model that can initialize trainable parameters randomly, formulate predictions and evaluate its own performance.</a:t>
            </a:r>
          </a:p>
          <a:p>
            <a:r>
              <a:rPr lang="en-GB" dirty="0"/>
              <a:t>It is great, but the current models are garbage in terms of loss values. We can only try a few different initialization and pray the RNG gods to give us trainable parameters with a good loss.</a:t>
            </a:r>
          </a:p>
          <a:p>
            <a:r>
              <a:rPr lang="en-GB" b="1" dirty="0"/>
              <a:t>We need a training procedure!</a:t>
            </a:r>
          </a:p>
          <a:p>
            <a:r>
              <a:rPr lang="en-GB" b="1" dirty="0"/>
              <a:t>What could it be…?</a:t>
            </a:r>
            <a:endParaRPr lang="en-SG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78C1D-9A19-BD60-AD2B-0ACC41A21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688" y="4455811"/>
            <a:ext cx="6133804" cy="230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476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C3C7-E510-3203-5C24-A976AECC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backpropagation mechanism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1464-B2B5-4EE7-DEF2-910D29FE3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387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Backpropagation</a:t>
            </a:r>
            <a:r>
              <a:rPr lang="en-GB" b="1" dirty="0"/>
              <a:t>):</a:t>
            </a: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Backpropagation</a:t>
            </a:r>
            <a:r>
              <a:rPr lang="en-GB" dirty="0"/>
              <a:t> is an </a:t>
            </a:r>
            <a:r>
              <a:rPr lang="en-GB" b="1" dirty="0"/>
              <a:t>algorithm</a:t>
            </a:r>
            <a:r>
              <a:rPr lang="en-GB" dirty="0"/>
              <a:t> used to </a:t>
            </a:r>
            <a:r>
              <a:rPr lang="en-GB" b="1" dirty="0"/>
              <a:t>train</a:t>
            </a:r>
            <a:r>
              <a:rPr lang="en-GB" dirty="0"/>
              <a:t> neural networks.</a:t>
            </a:r>
          </a:p>
          <a:p>
            <a:pPr marL="0" indent="0">
              <a:buNone/>
            </a:pPr>
            <a:r>
              <a:rPr lang="en-GB" dirty="0"/>
              <a:t>It is a type of </a:t>
            </a:r>
            <a:r>
              <a:rPr lang="en-GB" b="1" dirty="0">
                <a:solidFill>
                  <a:srgbClr val="7030A0"/>
                </a:solidFill>
              </a:rPr>
              <a:t>gradient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b="1" dirty="0">
                <a:solidFill>
                  <a:srgbClr val="7030A0"/>
                </a:solidFill>
              </a:rPr>
              <a:t>descent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/>
              <a:t>(what a surprise!) algorithm that allows the network to learn by </a:t>
            </a:r>
            <a:r>
              <a:rPr lang="en-GB" b="1" dirty="0"/>
              <a:t>adjusting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weights</a:t>
            </a:r>
            <a:r>
              <a:rPr lang="en-GB" dirty="0"/>
              <a:t> of the connections between the neurons in the network.</a:t>
            </a:r>
          </a:p>
          <a:p>
            <a:pPr marL="0" indent="0">
              <a:buNone/>
            </a:pPr>
            <a:r>
              <a:rPr lang="en-GB" dirty="0"/>
              <a:t>Introduced by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Hinton</a:t>
            </a:r>
            <a:r>
              <a:rPr lang="en-GB" dirty="0"/>
              <a:t> and </a:t>
            </a:r>
            <a:r>
              <a:rPr lang="en-GB" b="1" dirty="0" err="1">
                <a:solidFill>
                  <a:schemeClr val="accent2">
                    <a:lumMod val="50000"/>
                  </a:schemeClr>
                </a:solidFill>
              </a:rPr>
              <a:t>Rumelhart</a:t>
            </a:r>
            <a:r>
              <a:rPr lang="en-GB" dirty="0"/>
              <a:t> [Rumelhart1986].</a:t>
            </a:r>
          </a:p>
          <a:p>
            <a:pPr marL="0" indent="0">
              <a:buNone/>
            </a:pPr>
            <a:r>
              <a:rPr lang="en-GB" dirty="0"/>
              <a:t>(Or was it? </a:t>
            </a:r>
            <a:r>
              <a:rPr lang="en-US" dirty="0"/>
              <a:t>[Medium2020])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C10190-FF3B-624E-DD3E-30221ED6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313" y="1420427"/>
            <a:ext cx="4234487" cy="536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713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C3C7-E510-3203-5C24-A976AECC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backpropagation mechanism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15A871-4BC2-F7F0-8601-4602D259B70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325032" y="1825625"/>
                <a:ext cx="4319572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Backpropagation will tell our model </a:t>
                </a:r>
                <a:r>
                  <a:rPr lang="en-GB" b="1" dirty="0"/>
                  <a:t>how</a:t>
                </a:r>
                <a:r>
                  <a:rPr lang="en-GB" dirty="0"/>
                  <a:t> </a:t>
                </a:r>
                <a:r>
                  <a:rPr lang="en-GB" b="1" dirty="0"/>
                  <a:t>to</a:t>
                </a:r>
                <a:r>
                  <a:rPr lang="en-GB" dirty="0"/>
                  <a:t> </a:t>
                </a:r>
                <a:r>
                  <a:rPr lang="en-GB" b="1" dirty="0"/>
                  <a:t>adjust</a:t>
                </a:r>
                <a:r>
                  <a:rPr lang="en-GB" dirty="0"/>
                  <a:t> the values of the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matrices in each layer, to improve the neural network model loss and prediction capabilities.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It will be implemented in the </a:t>
                </a:r>
                <a:r>
                  <a:rPr lang="en-GB" b="1" dirty="0"/>
                  <a:t>backward()</a:t>
                </a:r>
                <a:r>
                  <a:rPr lang="en-GB" dirty="0"/>
                  <a:t> method of our model.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15A871-4BC2-F7F0-8601-4602D259B7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325032" y="1825625"/>
                <a:ext cx="4319572" cy="5032374"/>
              </a:xfrm>
              <a:blipFill>
                <a:blip r:embed="rId2"/>
                <a:stretch>
                  <a:fillRect l="-2966" t="-1937" r="-43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FEA9E2-AE7C-23F8-DA29-FB5939F4F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07387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Backpropagation</a:t>
            </a:r>
            <a:r>
              <a:rPr lang="en-GB" b="1" dirty="0"/>
              <a:t>):</a:t>
            </a: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Backpropagation</a:t>
            </a:r>
            <a:r>
              <a:rPr lang="en-GB" dirty="0"/>
              <a:t> is an </a:t>
            </a:r>
            <a:r>
              <a:rPr lang="en-GB" b="1" dirty="0"/>
              <a:t>algorithm</a:t>
            </a:r>
            <a:r>
              <a:rPr lang="en-GB" dirty="0"/>
              <a:t> used to </a:t>
            </a:r>
            <a:r>
              <a:rPr lang="en-GB" b="1" dirty="0"/>
              <a:t>train</a:t>
            </a:r>
            <a:r>
              <a:rPr lang="en-GB" dirty="0"/>
              <a:t> neural networks.</a:t>
            </a:r>
          </a:p>
          <a:p>
            <a:pPr marL="0" indent="0">
              <a:buNone/>
            </a:pPr>
            <a:r>
              <a:rPr lang="en-GB" dirty="0"/>
              <a:t>It is a type of </a:t>
            </a:r>
            <a:r>
              <a:rPr lang="en-GB" b="1" dirty="0">
                <a:solidFill>
                  <a:srgbClr val="7030A0"/>
                </a:solidFill>
              </a:rPr>
              <a:t>gradient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b="1" dirty="0">
                <a:solidFill>
                  <a:srgbClr val="7030A0"/>
                </a:solidFill>
              </a:rPr>
              <a:t>descent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/>
              <a:t>(what a surprise!) algorithm that allows the network to learn by </a:t>
            </a:r>
            <a:r>
              <a:rPr lang="en-GB" b="1" dirty="0"/>
              <a:t>adjusting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weights</a:t>
            </a:r>
            <a:r>
              <a:rPr lang="en-GB" dirty="0"/>
              <a:t> of the connections between the neurons in the network.</a:t>
            </a:r>
          </a:p>
          <a:p>
            <a:pPr marL="0" indent="0">
              <a:buNone/>
            </a:pPr>
            <a:r>
              <a:rPr lang="en-GB" dirty="0"/>
              <a:t>Introduced by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Hinton</a:t>
            </a:r>
            <a:r>
              <a:rPr lang="en-GB" dirty="0"/>
              <a:t> and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Rumelhart</a:t>
            </a:r>
            <a:r>
              <a:rPr lang="en-GB" dirty="0"/>
              <a:t> [Rumelhart1986].</a:t>
            </a:r>
          </a:p>
          <a:p>
            <a:pPr marL="0" indent="0">
              <a:buNone/>
            </a:pPr>
            <a:r>
              <a:rPr lang="en-GB" dirty="0"/>
              <a:t>(Or was it? </a:t>
            </a:r>
            <a:r>
              <a:rPr lang="en-US" dirty="0"/>
              <a:t>[Medium2020])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54190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AEAB6F-9509-B275-EBFE-87BAAB43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11278"/>
            <a:ext cx="10515600" cy="4051198"/>
          </a:xfrm>
        </p:spPr>
        <p:txBody>
          <a:bodyPr>
            <a:noAutofit/>
          </a:bodyPr>
          <a:lstStyle/>
          <a:p>
            <a:r>
              <a:rPr lang="en-GB" sz="4400" dirty="0"/>
              <a:t>Backpropagation is heavy to manually calculate and implement…</a:t>
            </a:r>
            <a:br>
              <a:rPr lang="en-GB" sz="4400"/>
            </a:br>
            <a:r>
              <a:rPr lang="en-GB" sz="4400"/>
              <a:t>Strongly </a:t>
            </a:r>
            <a:r>
              <a:rPr lang="en-GB" sz="4400" dirty="0"/>
              <a:t>encouraging to try and redo the math/implementation shown hereafter on your own!</a:t>
            </a:r>
            <a:br>
              <a:rPr lang="en-GB" sz="4400" dirty="0"/>
            </a:br>
            <a:endParaRPr lang="en-SG" sz="4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29F1D0-FF7B-BBB6-460B-7825B57F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2086640"/>
          </a:xfrm>
        </p:spPr>
        <p:txBody>
          <a:bodyPr/>
          <a:lstStyle/>
          <a:p>
            <a:r>
              <a:rPr lang="en-GB" dirty="0"/>
              <a:t>That’s the best way to learn and you can always refer to these slides for answers!</a:t>
            </a:r>
          </a:p>
          <a:p>
            <a:r>
              <a:rPr lang="en-GB" dirty="0"/>
              <a:t>After math is correct, have a look at how to implement it in a backward method (also shown in slides, but probably will be shown rapidly in class!)</a:t>
            </a:r>
          </a:p>
          <a:p>
            <a:r>
              <a:rPr lang="en-GB" dirty="0"/>
              <a:t>Remember, you have no homework this week, so let us call that your homework!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70766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C3C7-E510-3203-5C24-A976AECC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Backpropagation in our model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While our Neural Network seems to be complicated in its architecture, at the end of the day, training it consists of solving a</a:t>
                </a:r>
                <a:r>
                  <a:rPr lang="en-GB" dirty="0"/>
                  <a:t> basic</a:t>
                </a:r>
                <a:r>
                  <a:rPr lang="en-GB" b="0" dirty="0"/>
                  <a:t> </a:t>
                </a:r>
                <a:r>
                  <a:rPr lang="en-GB" b="1" dirty="0"/>
                  <a:t>optimization</a:t>
                </a:r>
                <a:r>
                  <a:rPr lang="en-GB" b="0" dirty="0"/>
                  <a:t> </a:t>
                </a:r>
                <a:r>
                  <a:rPr lang="en-GB" b="1" dirty="0"/>
                  <a:t>problem</a:t>
                </a:r>
                <a:r>
                  <a:rPr lang="en-GB" b="0" dirty="0"/>
                  <a:t>.</a:t>
                </a: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>
                                        <m:f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𝑝𝑟𝑒𝑑</m:t>
                                              </m:r>
                                            </m:sub>
                                          </m:s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)−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>
                                        <m:f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𝑊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With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 being the number of samples in the dataset. We will use </a:t>
                </a:r>
                <a:r>
                  <a:rPr lang="en-GB" b="1" dirty="0"/>
                  <a:t>gradient</a:t>
                </a:r>
                <a:r>
                  <a:rPr lang="en-GB" dirty="0"/>
                  <a:t> </a:t>
                </a:r>
                <a:r>
                  <a:rPr lang="en-GB" b="1" dirty="0"/>
                  <a:t>descent</a:t>
                </a:r>
                <a:r>
                  <a:rPr lang="en-GB" dirty="0"/>
                  <a:t>, like we did for the Linear Regression, except that this time we have 4 parameters being matrices and a loss function that is a bit more complex.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1816" r="-12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7093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C3C7-E510-3203-5C24-A976AECC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Before we continue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0" dirty="0"/>
                  <a:t>Before we continue, a quick note about square matrices.</a:t>
                </a: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>
                                        <m:f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𝑝𝑟𝑒𝑑</m:t>
                                              </m:r>
                                            </m:sub>
                                          </m:s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)−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>
                                        <m:f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𝑊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Note: The notation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somewhat abusive when A is a matrix, the correct way would be to write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But in the formula above, that would lead to a very large formula (too large for slides!)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b="-13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0210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C3C7-E510-3203-5C24-A976AECC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Chain rule, to the rescue!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0" dirty="0"/>
                  <a:t>Let us denote </a:t>
                </a:r>
                <a:r>
                  <a:rPr lang="en-GB" dirty="0"/>
                  <a:t>the error term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Using the chain rule, we can simply 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dirty="0"/>
                  <a:t> as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7411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C3C7-E510-3203-5C24-A976AECC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Chain rule, to the rescue!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0" dirty="0"/>
                  <a:t>Since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The gradient descent update rule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is then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6577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C3C7-E510-3203-5C24-A976AECC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Chain rule, to the rescue!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We have just computed the formula for the gradient descent update rule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, which was defined as: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Similarly, we can define the gradient descent update rule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as: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1707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C3C7-E510-3203-5C24-A976AECC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Chain rule, to the rescue!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0" dirty="0"/>
                  <a:t>Similarly, 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num>
                            <m:den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𝐴𝑛𝑑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num>
                            <m:den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And therefore, 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41464-B2B5-4EE7-DEF2-910D29FE3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0161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7ACE-8066-4F00-7999-D0BC3EE9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 that we have all update rules…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7576733-351D-F6B1-C3E7-D1FBA9C46F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We have figured the four update rules to use for backpropagation…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GB" dirty="0"/>
                </a:br>
                <a:endParaRPr lang="en-GB" dirty="0"/>
              </a:p>
              <a:p>
                <a:pPr marL="0" indent="0" algn="ctr">
                  <a:buNone/>
                </a:pP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7576733-351D-F6B1-C3E7-D1FBA9C46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2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3752D9-2428-B51F-D3E0-47A60E66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91554" cy="50323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Now it is about implementing two additional methods for our Neural Network class: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Backward method:</a:t>
            </a:r>
            <a:r>
              <a:rPr lang="en-GB" dirty="0"/>
              <a:t> It performs the calculation of gradients, in matrix form, and parameters adjustments using the gradient descent update rules shown on the left.</a:t>
            </a:r>
          </a:p>
        </p:txBody>
      </p:sp>
    </p:spTree>
    <p:extLst>
      <p:ext uri="{BB962C8B-B14F-4D97-AF65-F5344CB8AC3E}">
        <p14:creationId xmlns:p14="http://schemas.microsoft.com/office/powerpoint/2010/main" val="38385734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B53DE-822D-A5C1-F86F-C3EDF251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4712-518B-4A35-FCE7-78CDC5E15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 that we have all update rules…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91432BF-DE8A-9336-2AE2-E324B68E1B0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We have figured the four update rules to use for backpropagation…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d>
                        <m:d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GB" dirty="0"/>
                </a:br>
                <a:endParaRPr lang="en-GB" dirty="0"/>
              </a:p>
              <a:p>
                <a:pPr marL="0" indent="0" algn="ctr">
                  <a:buNone/>
                </a:pP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91432BF-DE8A-9336-2AE2-E324B68E1B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2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D75791-E776-CF11-CE28-D2424B607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91554" cy="50323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Now it is about implementing two additional methods for our Neural Network class: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b="1" dirty="0"/>
              <a:t>Trainer method: </a:t>
            </a:r>
            <a:r>
              <a:rPr lang="en-GB" dirty="0"/>
              <a:t>It repeats the backward method, reusing the gradient descent for-loop function from earlier in Notebook 2, until a maximal number of iterations is reached or convergence is seen.</a:t>
            </a:r>
          </a:p>
        </p:txBody>
      </p:sp>
    </p:spTree>
    <p:extLst>
      <p:ext uri="{BB962C8B-B14F-4D97-AF65-F5344CB8AC3E}">
        <p14:creationId xmlns:p14="http://schemas.microsoft.com/office/powerpoint/2010/main" val="32870258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794E-5838-1441-97AB-02A9B8FB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procedure, in short.</a:t>
            </a:r>
            <a:endParaRPr lang="en-SG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373DBF1-90E3-2E03-0911-F3E9A33CFCAF}"/>
              </a:ext>
            </a:extLst>
          </p:cNvPr>
          <p:cNvGraphicFramePr/>
          <p:nvPr/>
        </p:nvGraphicFramePr>
        <p:xfrm>
          <a:off x="1126477" y="1562469"/>
          <a:ext cx="9970610" cy="506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32513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B4042-C676-7D61-6E8F-7553AF1E0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657" y="1439274"/>
            <a:ext cx="7037060" cy="505360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F8628F6-31E1-CDCC-3492-567FBD40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Backpropagation in our model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6F73953-A2CE-A62E-D071-2A65983D91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65724" y="1825624"/>
                <a:ext cx="4483258" cy="48898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Update rules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i="1" dirty="0"/>
              </a:p>
              <a:p>
                <a:endParaRPr lang="en-SG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6F73953-A2CE-A62E-D071-2A65983D9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65724" y="1825624"/>
                <a:ext cx="4483258" cy="4889807"/>
              </a:xfrm>
              <a:blipFill>
                <a:blip r:embed="rId3"/>
                <a:stretch>
                  <a:fillRect l="-2857" t="-19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35837A7-8A74-9598-E7D0-79106D91B0AE}"/>
              </a:ext>
            </a:extLst>
          </p:cNvPr>
          <p:cNvSpPr/>
          <p:nvPr/>
        </p:nvSpPr>
        <p:spPr>
          <a:xfrm>
            <a:off x="5251938" y="4142154"/>
            <a:ext cx="6510216" cy="1555261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02241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FC9988-B753-C00C-191E-1821F62F2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38" y="2354307"/>
            <a:ext cx="6872799" cy="366947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F8628F6-31E1-CDCC-3492-567FBD40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Backpropagation in our model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6F73953-A2CE-A62E-D071-2A65983D91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65723" y="1825625"/>
                <a:ext cx="448603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Update rules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 dirty="0">
                          <a:latin typeface="Cambria Math" panose="02040503050406030204" pitchFamily="18" charset="0"/>
                        </a:rPr>
                        <m:t>𝑋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𝜖𝛼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i="1" dirty="0"/>
              </a:p>
              <a:p>
                <a:endParaRPr lang="en-SG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6F73953-A2CE-A62E-D071-2A65983D9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65723" y="1825625"/>
                <a:ext cx="4486031" cy="4351338"/>
              </a:xfrm>
              <a:blipFill>
                <a:blip r:embed="rId3"/>
                <a:stretch>
                  <a:fillRect l="-285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35837A7-8A74-9598-E7D0-79106D91B0AE}"/>
              </a:ext>
            </a:extLst>
          </p:cNvPr>
          <p:cNvSpPr/>
          <p:nvPr/>
        </p:nvSpPr>
        <p:spPr>
          <a:xfrm>
            <a:off x="5251937" y="2451370"/>
            <a:ext cx="6674339" cy="97763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C23481-5FCE-ADF6-1072-441B81A61296}"/>
              </a:ext>
            </a:extLst>
          </p:cNvPr>
          <p:cNvSpPr/>
          <p:nvPr/>
        </p:nvSpPr>
        <p:spPr>
          <a:xfrm>
            <a:off x="5251938" y="3540369"/>
            <a:ext cx="6674338" cy="174175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55761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F8628F6-31E1-CDCC-3492-567FBD40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Backpropagation in our model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6F73953-A2CE-A62E-D071-2A65983D91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65723" y="1825624"/>
                <a:ext cx="5689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Effect of the backpropagation</a:t>
                </a:r>
              </a:p>
              <a:p>
                <a:r>
                  <a:rPr lang="en-GB" dirty="0"/>
                  <a:t>Every time we call the backward() method, our model will update its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After every call of backward(), our model seems to become better at the task in question, shown by improvements in loss values.</a:t>
                </a:r>
              </a:p>
              <a:p>
                <a:r>
                  <a:rPr lang="en-GB" dirty="0"/>
                  <a:t>This can be seen by looking at the loss values decreasing after each iteration of the backward() method.</a:t>
                </a:r>
                <a:endParaRPr lang="en-SG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6F73953-A2CE-A62E-D071-2A65983D9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65723" y="1825624"/>
                <a:ext cx="5689600" cy="5032375"/>
              </a:xfrm>
              <a:blipFill>
                <a:blip r:embed="rId2"/>
                <a:stretch>
                  <a:fillRect l="-2251" t="-1937" r="-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414E21-5814-E30A-0474-771DE2E61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240" y="1195635"/>
            <a:ext cx="5353797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691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794E-5838-1441-97AB-02A9B8FB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procedure, in short (reminder).</a:t>
            </a:r>
            <a:endParaRPr lang="en-SG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373DBF1-90E3-2E03-0911-F3E9A33CFC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1931465"/>
              </p:ext>
            </p:extLst>
          </p:nvPr>
        </p:nvGraphicFramePr>
        <p:xfrm>
          <a:off x="1126477" y="1562469"/>
          <a:ext cx="9970610" cy="506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2DABBCF-853A-F78E-B5E6-9851A9319DB0}"/>
              </a:ext>
            </a:extLst>
          </p:cNvPr>
          <p:cNvSpPr txBox="1"/>
          <p:nvPr/>
        </p:nvSpPr>
        <p:spPr>
          <a:xfrm>
            <a:off x="7236542" y="2083979"/>
            <a:ext cx="1415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en-GB" sz="2400" b="1" dirty="0">
                <a:solidFill>
                  <a:srgbClr val="00B050"/>
                </a:solidFill>
              </a:rPr>
              <a:t>Done.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C15A2-7E87-E209-2081-6974AE7A2A70}"/>
              </a:ext>
            </a:extLst>
          </p:cNvPr>
          <p:cNvSpPr txBox="1"/>
          <p:nvPr/>
        </p:nvSpPr>
        <p:spPr>
          <a:xfrm>
            <a:off x="9020561" y="5104026"/>
            <a:ext cx="1469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en-GB" sz="2400" b="1" dirty="0">
                <a:solidFill>
                  <a:srgbClr val="00B050"/>
                </a:solidFill>
              </a:rPr>
              <a:t>Done.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B8996-183E-C7D3-C2BD-85890F670A0F}"/>
              </a:ext>
            </a:extLst>
          </p:cNvPr>
          <p:cNvSpPr txBox="1"/>
          <p:nvPr/>
        </p:nvSpPr>
        <p:spPr>
          <a:xfrm>
            <a:off x="3810000" y="6169954"/>
            <a:ext cx="1179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Next!</a:t>
            </a:r>
          </a:p>
        </p:txBody>
      </p:sp>
    </p:spTree>
    <p:extLst>
      <p:ext uri="{BB962C8B-B14F-4D97-AF65-F5344CB8AC3E}">
        <p14:creationId xmlns:p14="http://schemas.microsoft.com/office/powerpoint/2010/main" val="17302522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75BA27BA-A00B-0FCE-0582-78B6656F33F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SG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36A3827-979C-6ACF-D7C4-9F6B6164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Trainer function for our model</a:t>
            </a:r>
            <a:endParaRPr lang="en-S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BB952A-D02B-AB55-6062-2A9EE5E7F4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00"/>
          <a:stretch/>
        </p:blipFill>
        <p:spPr>
          <a:xfrm>
            <a:off x="5240282" y="1574398"/>
            <a:ext cx="6829951" cy="50967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7">
                <a:extLst>
                  <a:ext uri="{FF2B5EF4-FFF2-40B4-BE49-F238E27FC236}">
                    <a16:creationId xmlns:a16="http://schemas.microsoft.com/office/drawing/2014/main" id="{5CF0157F-6568-59C9-9C76-67042E94E13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65722" y="1825624"/>
                <a:ext cx="4785249" cy="494555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Train function implementation</a:t>
                </a:r>
              </a:p>
              <a:p>
                <a:r>
                  <a:rPr lang="en-GB" dirty="0"/>
                  <a:t>Iterate the backward() method for a number of iterations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i="1" dirty="0" smtClean="0">
                            <a:latin typeface="Cambria Math" panose="02040503050406030204" pitchFamily="18" charset="0"/>
                          </a:rPr>
                          <m:t>ma</m:t>
                        </m:r>
                        <m:r>
                          <m:rPr>
                            <m:sty m:val="p"/>
                          </m:rPr>
                          <a:rPr lang="en-GB" i="1" dirty="0" err="1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en-SG" dirty="0"/>
                  <a:t>.</a:t>
                </a:r>
              </a:p>
              <a:p>
                <a:r>
                  <a:rPr lang="en-SG" dirty="0"/>
                  <a:t>Display new loss values and append them in a list for display.</a:t>
                </a:r>
              </a:p>
              <a:p>
                <a:r>
                  <a:rPr lang="en-SG" dirty="0"/>
                  <a:t>Also implemented an early stopping, which will break for loop if little to no change in parameters during an iteration of backward().</a:t>
                </a:r>
              </a:p>
              <a:p>
                <a:r>
                  <a:rPr lang="en-SG" dirty="0"/>
                  <a:t>Similar to GD in Notebook 2!</a:t>
                </a:r>
              </a:p>
            </p:txBody>
          </p:sp>
        </mc:Choice>
        <mc:Fallback xmlns="">
          <p:sp>
            <p:nvSpPr>
              <p:cNvPr id="16" name="Content Placeholder 7">
                <a:extLst>
                  <a:ext uri="{FF2B5EF4-FFF2-40B4-BE49-F238E27FC236}">
                    <a16:creationId xmlns:a16="http://schemas.microsoft.com/office/drawing/2014/main" id="{5CF0157F-6568-59C9-9C76-67042E94E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65722" y="1825624"/>
                <a:ext cx="4785249" cy="4945553"/>
              </a:xfrm>
              <a:blipFill>
                <a:blip r:embed="rId3"/>
                <a:stretch>
                  <a:fillRect l="-2293" t="-1847" r="-1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871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73E8C8-D9B8-0CFB-D144-4318B5BEF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8" y="1693454"/>
            <a:ext cx="11978764" cy="457448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82A5723-946A-3C33-33F1-D6F42AB5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Trainer function for our model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8A7AC-899E-B788-34CD-EBC34917E865}"/>
              </a:ext>
            </a:extLst>
          </p:cNvPr>
          <p:cNvSpPr txBox="1">
            <a:spLocks/>
          </p:cNvSpPr>
          <p:nvPr/>
        </p:nvSpPr>
        <p:spPr>
          <a:xfrm flipH="1">
            <a:off x="4946682" y="2831689"/>
            <a:ext cx="6773369" cy="3048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solidFill>
                  <a:schemeClr val="accent2"/>
                </a:solidFill>
              </a:rPr>
              <a:t>Successful training as losses are decreasing over iterations?</a:t>
            </a:r>
            <a:endParaRPr lang="en-SG" sz="3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8793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82A5723-946A-3C33-33F1-D6F42AB5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Trainer function for our model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BC5D3-5690-1CC7-4476-5F4D434E7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curve below is called a </a:t>
            </a:r>
            <a:r>
              <a:rPr lang="en-GB" b="1" dirty="0"/>
              <a:t>training curve</a:t>
            </a:r>
            <a:r>
              <a:rPr lang="en-GB" dirty="0"/>
              <a:t>, it is useful to show how the training went (make an extra viz method to be used after training?).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78ADEC-B29A-5E01-25E5-5D154C757A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435199" y="2747847"/>
            <a:ext cx="5660802" cy="41101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7B373-35AF-E358-C817-5CD737AE27B9}"/>
              </a:ext>
            </a:extLst>
          </p:cNvPr>
          <p:cNvSpPr txBox="1">
            <a:spLocks/>
          </p:cNvSpPr>
          <p:nvPr/>
        </p:nvSpPr>
        <p:spPr>
          <a:xfrm flipH="1">
            <a:off x="6744928" y="3128160"/>
            <a:ext cx="5011871" cy="3048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solidFill>
                  <a:schemeClr val="accent2"/>
                </a:solidFill>
              </a:rPr>
              <a:t>Loss has decreased and </a:t>
            </a:r>
            <a:r>
              <a:rPr lang="en-GB" sz="3600" b="1">
                <a:solidFill>
                  <a:schemeClr val="accent2"/>
                </a:solidFill>
              </a:rPr>
              <a:t>converged.</a:t>
            </a:r>
          </a:p>
          <a:p>
            <a:r>
              <a:rPr lang="en-GB" sz="3600" b="1">
                <a:solidFill>
                  <a:schemeClr val="accent2"/>
                </a:solidFill>
              </a:rPr>
              <a:t>Confirmed </a:t>
            </a:r>
            <a:r>
              <a:rPr lang="en-GB" sz="3600" b="1" dirty="0">
                <a:solidFill>
                  <a:schemeClr val="accent2"/>
                </a:solidFill>
              </a:rPr>
              <a:t>training?</a:t>
            </a:r>
            <a:endParaRPr lang="en-SG" sz="3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8782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51D0-3157-BB55-3D73-2FB657EE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73" y="365125"/>
            <a:ext cx="4012163" cy="6203626"/>
          </a:xfrm>
        </p:spPr>
        <p:txBody>
          <a:bodyPr>
            <a:normAutofit/>
          </a:bodyPr>
          <a:lstStyle/>
          <a:p>
            <a:r>
              <a:rPr lang="en-GB" dirty="0"/>
              <a:t>Finally, we will make the trainer function and the performance curves function into methods for our class.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BACBEC-BCD7-CC8D-3FB8-E80788F60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437" y="459804"/>
            <a:ext cx="7974563" cy="639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892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AEAB6F-9509-B275-EBFE-87BAAB43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11278"/>
            <a:ext cx="10515600" cy="4051198"/>
          </a:xfrm>
        </p:spPr>
        <p:txBody>
          <a:bodyPr>
            <a:noAutofit/>
          </a:bodyPr>
          <a:lstStyle/>
          <a:p>
            <a:r>
              <a:rPr lang="en-GB" sz="4400" dirty="0"/>
              <a:t>Backpropagation is heavy to manually calculate and implement…</a:t>
            </a:r>
            <a:br>
              <a:rPr lang="en-GB" sz="4400" dirty="0"/>
            </a:br>
            <a:r>
              <a:rPr lang="en-GB" sz="4400" dirty="0"/>
              <a:t>Strongly encouraging to try and redo the math/implementation shown on your own!</a:t>
            </a:r>
            <a:br>
              <a:rPr lang="en-GB" sz="4400" dirty="0"/>
            </a:br>
            <a:endParaRPr lang="en-SG" sz="4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29F1D0-FF7B-BBB6-460B-7825B57F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2086640"/>
          </a:xfrm>
        </p:spPr>
        <p:txBody>
          <a:bodyPr/>
          <a:lstStyle/>
          <a:p>
            <a:r>
              <a:rPr lang="en-GB" dirty="0"/>
              <a:t>That’s the best way to learn and you can always refer to these slides for answers!</a:t>
            </a:r>
          </a:p>
          <a:p>
            <a:r>
              <a:rPr lang="en-GB" dirty="0"/>
              <a:t>After math is correct, have a look at how to implement it in a backward method (also shown in slides, but probably will be shown rapidly in class!)</a:t>
            </a:r>
          </a:p>
          <a:p>
            <a:r>
              <a:rPr lang="en-GB" dirty="0"/>
              <a:t>Remember, you have no homework this week, so let us call that your homework!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96888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8BA8-9DEC-4471-8590-434E8D8B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r>
              <a:rPr lang="en-US"/>
              <a:t>(Week 1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549C-D723-41E6-8478-270ACE043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5032375"/>
          </a:xfrm>
        </p:spPr>
        <p:txBody>
          <a:bodyPr>
            <a:normAutofit/>
          </a:bodyPr>
          <a:lstStyle/>
          <a:p>
            <a:r>
              <a:rPr lang="en-US" dirty="0"/>
              <a:t>Reminders of Machine Learning</a:t>
            </a:r>
          </a:p>
          <a:p>
            <a:r>
              <a:rPr lang="en-US" dirty="0"/>
              <a:t>Linear</a:t>
            </a:r>
          </a:p>
          <a:p>
            <a:r>
              <a:rPr lang="en-US" dirty="0"/>
              <a:t>Using a normal equation to train a linear regression</a:t>
            </a:r>
          </a:p>
          <a:p>
            <a:r>
              <a:rPr lang="en-US" dirty="0"/>
              <a:t>Gradient descent as a training procedure for linear regression</a:t>
            </a:r>
          </a:p>
          <a:p>
            <a:r>
              <a:rPr lang="en-US" dirty="0"/>
              <a:t>Polynomial Regression</a:t>
            </a:r>
          </a:p>
          <a:p>
            <a:r>
              <a:rPr lang="en-US" dirty="0"/>
              <a:t>Regularization in Ridge/Lasso Regression</a:t>
            </a:r>
          </a:p>
          <a:p>
            <a:r>
              <a:rPr lang="en-US" dirty="0"/>
              <a:t>Train-test split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20A50-DCDA-4FEF-986F-775F53063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dirty="0"/>
              <a:t>Overfitting and underfitting</a:t>
            </a:r>
          </a:p>
          <a:p>
            <a:r>
              <a:rPr lang="en-GB" dirty="0"/>
              <a:t>Generalization</a:t>
            </a:r>
          </a:p>
          <a:p>
            <a:r>
              <a:rPr lang="en-GB" dirty="0"/>
              <a:t>Sigmoid and Logistic functions</a:t>
            </a:r>
          </a:p>
          <a:p>
            <a:r>
              <a:rPr lang="en-GB" dirty="0"/>
              <a:t>From linear regression to logistic regression</a:t>
            </a:r>
          </a:p>
          <a:p>
            <a:r>
              <a:rPr lang="en-GB" dirty="0"/>
              <a:t>Using logistic regression for binary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2347452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8BA8-9DEC-4471-8590-434E8D8B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(Week 1)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3549C-D723-41E6-8478-270ACE043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5032375"/>
          </a:xfrm>
        </p:spPr>
        <p:txBody>
          <a:bodyPr>
            <a:normAutofit/>
          </a:bodyPr>
          <a:lstStyle/>
          <a:p>
            <a:r>
              <a:rPr lang="en-GB" dirty="0"/>
              <a:t>Implementing a shallow neural network in </a:t>
            </a:r>
            <a:r>
              <a:rPr lang="en-GB" dirty="0" err="1"/>
              <a:t>Numpy</a:t>
            </a:r>
            <a:endParaRPr lang="en-GB" dirty="0"/>
          </a:p>
          <a:p>
            <a:r>
              <a:rPr lang="en-GB" dirty="0"/>
              <a:t>Forward propagation method, to formulate predictions</a:t>
            </a:r>
          </a:p>
          <a:p>
            <a:r>
              <a:rPr lang="en-GB" dirty="0"/>
              <a:t>The backpropagation mechanism, as the gradient descent on Neural Network</a:t>
            </a:r>
          </a:p>
          <a:p>
            <a:r>
              <a:rPr lang="en-GB" dirty="0"/>
              <a:t>Backward method for training and trainer functions to iterate backward iterations</a:t>
            </a:r>
          </a:p>
          <a:p>
            <a:r>
              <a:rPr lang="en-GB" dirty="0"/>
              <a:t>Performance/training curves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20A50-DCDA-4FEF-986F-775F53063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Next week?</a:t>
            </a:r>
            <a:endParaRPr lang="en-GB" dirty="0"/>
          </a:p>
          <a:p>
            <a:r>
              <a:rPr lang="en-GB" dirty="0"/>
              <a:t>Initializations to break symmetries</a:t>
            </a:r>
          </a:p>
          <a:p>
            <a:r>
              <a:rPr lang="en-GB" dirty="0"/>
              <a:t>Exploding and vanishing gradients</a:t>
            </a:r>
          </a:p>
          <a:p>
            <a:r>
              <a:rPr lang="en-GB" dirty="0"/>
              <a:t>Activation functions and non-linearities in Neural Networks</a:t>
            </a:r>
          </a:p>
          <a:p>
            <a:r>
              <a:rPr lang="en-GB" dirty="0"/>
              <a:t>Advanced optimizers</a:t>
            </a:r>
          </a:p>
          <a:p>
            <a:r>
              <a:rPr lang="en-GB" dirty="0"/>
              <a:t>Validation sets, early stopping, saver and loader functions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60814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F64-ACBF-414C-8E71-06E4F951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8DD6-14D1-44DF-9843-EFEDF44E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 of class, supporting papers, for those of you who are curious.</a:t>
            </a:r>
          </a:p>
          <a:p>
            <a:r>
              <a:rPr lang="en-GB" dirty="0"/>
              <a:t>[Géron2019] A. </a:t>
            </a:r>
            <a:r>
              <a:rPr lang="en-GB" dirty="0" err="1"/>
              <a:t>Géron</a:t>
            </a:r>
            <a:r>
              <a:rPr lang="en-GB" dirty="0"/>
              <a:t> , “How Neural Networks Work”, 2019.</a:t>
            </a:r>
          </a:p>
          <a:p>
            <a:r>
              <a:rPr lang="en-GB" dirty="0"/>
              <a:t>[Yamins2016] </a:t>
            </a:r>
            <a:r>
              <a:rPr lang="en-GB" dirty="0" err="1"/>
              <a:t>Yamins</a:t>
            </a:r>
            <a:r>
              <a:rPr lang="en-GB" dirty="0"/>
              <a:t> et al., “Deep neural networks are robust computational models of the human visual system”, 2016.</a:t>
            </a:r>
          </a:p>
          <a:p>
            <a:r>
              <a:rPr lang="en-GB" dirty="0"/>
              <a:t>[Kriegeskorte2013] </a:t>
            </a:r>
            <a:r>
              <a:rPr lang="en-GB" dirty="0" err="1"/>
              <a:t>Kriegeskorte</a:t>
            </a:r>
            <a:r>
              <a:rPr lang="en-GB" dirty="0"/>
              <a:t> and </a:t>
            </a:r>
            <a:r>
              <a:rPr lang="en-GB" dirty="0" err="1"/>
              <a:t>Kievit</a:t>
            </a:r>
            <a:r>
              <a:rPr lang="en-GB" dirty="0"/>
              <a:t>, “Neural Network Models of the Human Brain”, 2013.</a:t>
            </a:r>
          </a:p>
          <a:p>
            <a:r>
              <a:rPr lang="en-GB" dirty="0"/>
              <a:t>[Rumelhart1986] D.E. </a:t>
            </a:r>
            <a:r>
              <a:rPr lang="en-GB" b="1" dirty="0" err="1">
                <a:solidFill>
                  <a:schemeClr val="accent2">
                    <a:lumMod val="50000"/>
                  </a:schemeClr>
                </a:solidFill>
              </a:rPr>
              <a:t>Rumelhart</a:t>
            </a:r>
            <a:r>
              <a:rPr lang="en-GB" dirty="0"/>
              <a:t>, G.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Hinton</a:t>
            </a:r>
            <a:r>
              <a:rPr lang="en-GB" dirty="0"/>
              <a:t>, Williams, “Learning representations by back-propagating errors</a:t>
            </a:r>
            <a:r>
              <a:rPr lang="en-GB"/>
              <a:t>“, 1986.</a:t>
            </a:r>
            <a:br>
              <a:rPr lang="en-GB" dirty="0"/>
            </a:br>
            <a:r>
              <a:rPr lang="en-GB" dirty="0">
                <a:hlinkClick r:id="rId2"/>
              </a:rPr>
              <a:t>https://www.nature.com/articles/323533a0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9490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4A12-42C1-4189-603A-5E1F47717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 more about these topics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5B357-0886-EDDA-5F55-77F580FB4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Keep track of important names and follow their social media (Follow them on Scholar, Twitter, or whatever works for you!)</a:t>
            </a:r>
          </a:p>
          <a:p>
            <a:r>
              <a:rPr lang="en-GB" b="1" dirty="0"/>
              <a:t>Geoffrey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Hinton</a:t>
            </a:r>
            <a:r>
              <a:rPr lang="en-GB" b="1" dirty="0"/>
              <a:t>: Emeritus Professor</a:t>
            </a:r>
            <a:r>
              <a:rPr lang="en-GB" dirty="0"/>
              <a:t> at </a:t>
            </a:r>
            <a:r>
              <a:rPr lang="en-GB" b="1" dirty="0"/>
              <a:t>University</a:t>
            </a:r>
            <a:r>
              <a:rPr lang="en-GB" dirty="0"/>
              <a:t> 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Toronto</a:t>
            </a:r>
            <a:r>
              <a:rPr lang="en-GB" dirty="0"/>
              <a:t>, </a:t>
            </a:r>
            <a:r>
              <a:rPr lang="en-GB" b="1" u="sng" dirty="0"/>
              <a:t>one of the three Godfathers of Deep Learning</a:t>
            </a:r>
            <a:r>
              <a:rPr lang="en-GB" dirty="0"/>
              <a:t> and </a:t>
            </a:r>
            <a:r>
              <a:rPr lang="en-GB" b="1" dirty="0"/>
              <a:t>2018</a:t>
            </a:r>
            <a:r>
              <a:rPr lang="en-GB" dirty="0"/>
              <a:t> </a:t>
            </a:r>
            <a:r>
              <a:rPr lang="en-GB" b="1" dirty="0"/>
              <a:t>Turing</a:t>
            </a:r>
            <a:r>
              <a:rPr lang="en-GB" dirty="0"/>
              <a:t> </a:t>
            </a:r>
            <a:r>
              <a:rPr lang="en-GB" b="1" dirty="0"/>
              <a:t>Award</a:t>
            </a:r>
            <a:r>
              <a:rPr lang="en-GB" dirty="0"/>
              <a:t> winner (highest distinction in Computer Science), Nobel Prize Physics 2025. Formerly, Google.</a:t>
            </a:r>
            <a:br>
              <a:rPr lang="en-GB" dirty="0"/>
            </a:br>
            <a:r>
              <a:rPr lang="en-GB" dirty="0">
                <a:hlinkClick r:id="rId2"/>
              </a:rPr>
              <a:t>https://www.cs.toronto.edu/~hinton/</a:t>
            </a:r>
            <a:br>
              <a:rPr lang="en-GB" dirty="0"/>
            </a:br>
            <a:r>
              <a:rPr lang="en-GB" dirty="0">
                <a:hlinkClick r:id="rId3"/>
              </a:rPr>
              <a:t>https://scholar.google.co.uk/citations?user=JicYPdAAAAAJ&amp;hl=en</a:t>
            </a:r>
            <a:endParaRPr lang="en-GB" dirty="0"/>
          </a:p>
          <a:p>
            <a:r>
              <a:rPr lang="en-GB" b="1" dirty="0"/>
              <a:t>David </a:t>
            </a:r>
            <a:r>
              <a:rPr lang="en-GB" b="1" dirty="0" err="1">
                <a:solidFill>
                  <a:schemeClr val="accent2">
                    <a:lumMod val="50000"/>
                  </a:schemeClr>
                </a:solidFill>
              </a:rPr>
              <a:t>Rumelhart</a:t>
            </a:r>
            <a:r>
              <a:rPr lang="en-GB" b="1" dirty="0"/>
              <a:t>: Former</a:t>
            </a:r>
            <a:r>
              <a:rPr lang="en-GB" dirty="0"/>
              <a:t> </a:t>
            </a:r>
            <a:r>
              <a:rPr lang="en-GB" b="1" dirty="0"/>
              <a:t>professor</a:t>
            </a:r>
            <a:r>
              <a:rPr lang="en-GB" dirty="0"/>
              <a:t> at </a:t>
            </a:r>
            <a:r>
              <a:rPr lang="en-GB" b="1" dirty="0"/>
              <a:t>University</a:t>
            </a:r>
            <a:r>
              <a:rPr lang="en-GB" dirty="0"/>
              <a:t> 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California</a:t>
            </a:r>
            <a:r>
              <a:rPr lang="en-GB" dirty="0"/>
              <a:t>, credited for inventing </a:t>
            </a:r>
            <a:r>
              <a:rPr lang="en-GB" b="1" dirty="0"/>
              <a:t>backpropagation along </a:t>
            </a:r>
            <a:r>
              <a:rPr lang="en-GB" dirty="0"/>
              <a:t>with</a:t>
            </a:r>
            <a:r>
              <a:rPr lang="en-GB" b="1" dirty="0"/>
              <a:t>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Hinton</a:t>
            </a:r>
            <a:r>
              <a:rPr lang="en-GB" dirty="0"/>
              <a:t>. Passed away in 2011.</a:t>
            </a:r>
            <a:br>
              <a:rPr lang="en-GB" dirty="0"/>
            </a:br>
            <a:r>
              <a:rPr lang="en-GB" dirty="0">
                <a:hlinkClick r:id="rId4"/>
              </a:rPr>
              <a:t>https://www.nytimes.com/2011/03/19/health/19rumelhart.html</a:t>
            </a:r>
            <a:endParaRPr lang="en-GB" dirty="0"/>
          </a:p>
          <a:p>
            <a:endParaRPr lang="en-GB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486172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832B-64A0-31D2-0826-E57544CB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Twitter, the theater for AI/DL drama and</a:t>
            </a:r>
            <a:br>
              <a:rPr lang="en-US" dirty="0"/>
            </a:br>
            <a:r>
              <a:rPr lang="en-US" dirty="0"/>
              <a:t>big AI announcements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A17C7-13E2-9695-C51D-AFA8CB90B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861" y="1306201"/>
            <a:ext cx="5257729" cy="5341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2DC48C-CCE8-09D4-1DEE-739B3DA9C1A1}"/>
              </a:ext>
            </a:extLst>
          </p:cNvPr>
          <p:cNvSpPr txBox="1"/>
          <p:nvPr/>
        </p:nvSpPr>
        <p:spPr>
          <a:xfrm>
            <a:off x="10128737" y="2308598"/>
            <a:ext cx="1133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NYU Professor</a:t>
            </a:r>
            <a:endParaRPr lang="en-GB" b="1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CE0F1-D047-5775-0DAB-8E9E6854C10D}"/>
              </a:ext>
            </a:extLst>
          </p:cNvPr>
          <p:cNvSpPr txBox="1"/>
          <p:nvPr/>
        </p:nvSpPr>
        <p:spPr>
          <a:xfrm>
            <a:off x="9686822" y="5170324"/>
            <a:ext cx="22139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NYU Professor, former Chief of AI at Meta (Facebook), and one of the three godfathers of AI.</a:t>
            </a:r>
            <a:endParaRPr lang="en-GB" b="1" dirty="0">
              <a:solidFill>
                <a:schemeClr val="accent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78AB4B-E1DA-2191-71E2-0F2C6974F4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61" b="19216"/>
          <a:stretch/>
        </p:blipFill>
        <p:spPr>
          <a:xfrm>
            <a:off x="197410" y="1690689"/>
            <a:ext cx="6338276" cy="26077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393F3F-BB30-6898-F752-B54E2331B154}"/>
              </a:ext>
            </a:extLst>
          </p:cNvPr>
          <p:cNvSpPr txBox="1"/>
          <p:nvPr/>
        </p:nvSpPr>
        <p:spPr>
          <a:xfrm>
            <a:off x="3473936" y="3414204"/>
            <a:ext cx="3262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Announcing Dall-E 2 and its future release</a:t>
            </a:r>
            <a:endParaRPr lang="en-GB" b="1" dirty="0">
              <a:solidFill>
                <a:schemeClr val="accent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FBA129-175C-A5BD-63AF-33228B6AEED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34" b="50216"/>
          <a:stretch/>
        </p:blipFill>
        <p:spPr>
          <a:xfrm>
            <a:off x="291192" y="4060535"/>
            <a:ext cx="5070159" cy="274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81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9715-ECD1-470D-B523-53C9DD5C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0CB248-82F3-414A-84E4-14EF63C7F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Some extra (easy) reading and videos for those of you who are curious.</a:t>
            </a:r>
          </a:p>
          <a:p>
            <a:r>
              <a:rPr lang="en-US" dirty="0"/>
              <a:t>[Quanta2021] “</a:t>
            </a:r>
            <a:r>
              <a:rPr lang="en-GB" dirty="0"/>
              <a:t>Artificial Neural Nets Finally Yield Clues to How Brains Learn</a:t>
            </a:r>
            <a:r>
              <a:rPr lang="en-US" dirty="0"/>
              <a:t>“, 2021.</a:t>
            </a:r>
            <a:br>
              <a:rPr lang="en-US" dirty="0"/>
            </a:br>
            <a:r>
              <a:rPr lang="en-US" dirty="0">
                <a:hlinkClick r:id="rId2"/>
              </a:rPr>
              <a:t>https://www.quantamagazine.org/artificial-neural-nets-finally-yield-clues-to-how-brains-learn-20210218/</a:t>
            </a:r>
            <a:endParaRPr lang="en-US" dirty="0"/>
          </a:p>
          <a:p>
            <a:r>
              <a:rPr lang="en-US" dirty="0"/>
              <a:t>[MITNews2022] “</a:t>
            </a:r>
            <a:r>
              <a:rPr lang="en-GB" dirty="0"/>
              <a:t>Study urges caution when comparing neural networks to the brain”, 2022.</a:t>
            </a:r>
            <a:br>
              <a:rPr lang="en-GB" dirty="0"/>
            </a:br>
            <a:r>
              <a:rPr lang="en-US" dirty="0">
                <a:hlinkClick r:id="rId3"/>
              </a:rPr>
              <a:t>https://news.mit.edu/2022/neural-networks-brain-function-1102</a:t>
            </a:r>
            <a:endParaRPr lang="en-US" dirty="0"/>
          </a:p>
          <a:p>
            <a:r>
              <a:rPr lang="en-US" dirty="0"/>
              <a:t>[Medium2020] “</a:t>
            </a:r>
            <a:r>
              <a:rPr lang="en-GB" dirty="0"/>
              <a:t>Who Invented Backpropagation? Hinton Says He Didn’t, but His Work Made It Popular</a:t>
            </a:r>
            <a:r>
              <a:rPr lang="en-US" dirty="0"/>
              <a:t>“, 2020.</a:t>
            </a:r>
            <a:br>
              <a:rPr lang="en-US" dirty="0"/>
            </a:br>
            <a:r>
              <a:rPr lang="en-US" dirty="0">
                <a:hlinkClick r:id="rId2"/>
              </a:rPr>
              <a:t>https://medium.com/syncedreview/who-invented-backpropagation-hinton-says-he-didnt-but-his-work-made-it-popular-e0854504d6d1/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3873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3358</TotalTime>
  <Words>5500</Words>
  <Application>Microsoft Office PowerPoint</Application>
  <PresentationFormat>Widescreen</PresentationFormat>
  <Paragraphs>470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7" baseType="lpstr">
      <vt:lpstr>Arial</vt:lpstr>
      <vt:lpstr>Calibri</vt:lpstr>
      <vt:lpstr>Calibri Light</vt:lpstr>
      <vt:lpstr>Cambria Math</vt:lpstr>
      <vt:lpstr>Wingdings</vt:lpstr>
      <vt:lpstr>Office Theme</vt:lpstr>
      <vt:lpstr>50.039 Theory and Practice of Deep Learning W1-S3 Introduction and Machine Learning Reminders</vt:lpstr>
      <vt:lpstr>About this week (Week 1)</vt:lpstr>
      <vt:lpstr>About this week (Week 1)</vt:lpstr>
      <vt:lpstr>About this week (Week 1)</vt:lpstr>
      <vt:lpstr>Introducing the sigmoid function</vt:lpstr>
      <vt:lpstr>Introducing the sigmoid function</vt:lpstr>
      <vt:lpstr>Also introducing two logistic functions</vt:lpstr>
      <vt:lpstr>Introducing two logistic functions</vt:lpstr>
      <vt:lpstr>To recap: functions and implementations</vt:lpstr>
      <vt:lpstr>Results on mixes for our two logistic functions</vt:lpstr>
      <vt:lpstr>Results on mixes for our two logistic functions</vt:lpstr>
      <vt:lpstr>Introducing two logistic functions</vt:lpstr>
      <vt:lpstr>New mock dataset generation</vt:lpstr>
      <vt:lpstr>PowerPoint Presentation</vt:lpstr>
      <vt:lpstr>PowerPoint Presentation</vt:lpstr>
      <vt:lpstr>A quick word about expert systems</vt:lpstr>
      <vt:lpstr>A quick word about expert systems</vt:lpstr>
      <vt:lpstr>From Linear Regression to Logistic Regression</vt:lpstr>
      <vt:lpstr>An adjusted Logistic Regression</vt:lpstr>
      <vt:lpstr>From Linear Regression to Logistic Regression</vt:lpstr>
      <vt:lpstr>PowerPoint Presentation</vt:lpstr>
      <vt:lpstr>Training a logistic regressor</vt:lpstr>
      <vt:lpstr>The log-likelihood function and loss</vt:lpstr>
      <vt:lpstr>The log-likelihood function and loss</vt:lpstr>
      <vt:lpstr>Implementing the log-likelihood loss</vt:lpstr>
      <vt:lpstr>Training a logistic regressor</vt:lpstr>
      <vt:lpstr>PowerPoint Presentation</vt:lpstr>
      <vt:lpstr>Evaluating the logistic regression model</vt:lpstr>
      <vt:lpstr>Evaluating the logistic regression model</vt:lpstr>
      <vt:lpstr>A bit of biology</vt:lpstr>
      <vt:lpstr>A bit of biology</vt:lpstr>
      <vt:lpstr>A bit of biology</vt:lpstr>
      <vt:lpstr>A bit of biology</vt:lpstr>
      <vt:lpstr>A bit of biology</vt:lpstr>
      <vt:lpstr>Starting with a mock dataset, again</vt:lpstr>
      <vt:lpstr>Starting with a mock dataset, again</vt:lpstr>
      <vt:lpstr>PowerPoint Presentation</vt:lpstr>
      <vt:lpstr>PowerPoint Presentation</vt:lpstr>
      <vt:lpstr>PowerPoint Presentation</vt:lpstr>
      <vt:lpstr>Coding a Neuron and a Neural Network</vt:lpstr>
      <vt:lpstr>Coding our first Neuron</vt:lpstr>
      <vt:lpstr>PowerPoint Presentation</vt:lpstr>
      <vt:lpstr>Defining a minimal Neural Network </vt:lpstr>
      <vt:lpstr>PowerPoint Presentation</vt:lpstr>
      <vt:lpstr>Adding a loss</vt:lpstr>
      <vt:lpstr>Adding a loss</vt:lpstr>
      <vt:lpstr>Stacking multiple neurons in parallel</vt:lpstr>
      <vt:lpstr>Scaling up with more layers</vt:lpstr>
      <vt:lpstr>Scaling up with more layers</vt:lpstr>
      <vt:lpstr>Scaling up with more layers</vt:lpstr>
      <vt:lpstr>Scaling up with more layers</vt:lpstr>
      <vt:lpstr>Our NN class</vt:lpstr>
      <vt:lpstr>PowerPoint Presentation</vt:lpstr>
      <vt:lpstr>The need for a training procedure</vt:lpstr>
      <vt:lpstr>The backpropagation mechanism</vt:lpstr>
      <vt:lpstr>The backpropagation mechanism</vt:lpstr>
      <vt:lpstr>Backpropagation is heavy to manually calculate and implement… Strongly encouraging to try and redo the math/implementation shown hereafter on your own! </vt:lpstr>
      <vt:lpstr>Backpropagation in our model</vt:lpstr>
      <vt:lpstr>Before we continue</vt:lpstr>
      <vt:lpstr>Chain rule, to the rescue!</vt:lpstr>
      <vt:lpstr>Chain rule, to the rescue!</vt:lpstr>
      <vt:lpstr>Chain rule, to the rescue!</vt:lpstr>
      <vt:lpstr>Chain rule, to the rescue!</vt:lpstr>
      <vt:lpstr>Now that we have all update rules…</vt:lpstr>
      <vt:lpstr>Now that we have all update rules…</vt:lpstr>
      <vt:lpstr>Training procedure, in short.</vt:lpstr>
      <vt:lpstr>Backpropagation in our model</vt:lpstr>
      <vt:lpstr>Backpropagation in our model</vt:lpstr>
      <vt:lpstr>Backpropagation in our model</vt:lpstr>
      <vt:lpstr>Training procedure, in short (reminder).</vt:lpstr>
      <vt:lpstr>Trainer function for our model</vt:lpstr>
      <vt:lpstr>Trainer function for our model</vt:lpstr>
      <vt:lpstr>Trainer function for our model</vt:lpstr>
      <vt:lpstr>Finally, we will make the trainer function and the performance curves function into methods for our class.</vt:lpstr>
      <vt:lpstr>Backpropagation is heavy to manually calculate and implement… Strongly encouraging to try and redo the math/implementation shown on your own! </vt:lpstr>
      <vt:lpstr>Conclusion (Week 1)</vt:lpstr>
      <vt:lpstr>Conclusion (Week 1)</vt:lpstr>
      <vt:lpstr>Learn more about these topics</vt:lpstr>
      <vt:lpstr>Learn more about these topics</vt:lpstr>
      <vt:lpstr>Twitter, the theater for AI/DL drama and big AI announcements</vt:lpstr>
      <vt:lpstr>Learn more about these 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2026-03-21T02:37:35Z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