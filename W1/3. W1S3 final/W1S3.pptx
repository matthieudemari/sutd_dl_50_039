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2"/>
  </p:notesMasterIdLst>
  <p:sldIdLst>
    <p:sldId id="377" r:id="rId2"/>
    <p:sldId id="257" r:id="rId3"/>
    <p:sldId id="517" r:id="rId4"/>
    <p:sldId id="518" r:id="rId5"/>
    <p:sldId id="509" r:id="rId6"/>
    <p:sldId id="521" r:id="rId7"/>
    <p:sldId id="522" r:id="rId8"/>
    <p:sldId id="523" r:id="rId9"/>
    <p:sldId id="528" r:id="rId10"/>
    <p:sldId id="524" r:id="rId11"/>
    <p:sldId id="525" r:id="rId12"/>
    <p:sldId id="526" r:id="rId13"/>
    <p:sldId id="527" r:id="rId14"/>
    <p:sldId id="510" r:id="rId15"/>
    <p:sldId id="529" r:id="rId16"/>
    <p:sldId id="535" r:id="rId17"/>
    <p:sldId id="536" r:id="rId18"/>
    <p:sldId id="538" r:id="rId19"/>
    <p:sldId id="539" r:id="rId20"/>
    <p:sldId id="540" r:id="rId21"/>
    <p:sldId id="541" r:id="rId22"/>
    <p:sldId id="511" r:id="rId23"/>
    <p:sldId id="542" r:id="rId24"/>
    <p:sldId id="543" r:id="rId25"/>
    <p:sldId id="544" r:id="rId26"/>
    <p:sldId id="545" r:id="rId27"/>
    <p:sldId id="546" r:id="rId28"/>
    <p:sldId id="547" r:id="rId29"/>
    <p:sldId id="548" r:id="rId30"/>
    <p:sldId id="589" r:id="rId31"/>
    <p:sldId id="512" r:id="rId32"/>
    <p:sldId id="596" r:id="rId33"/>
    <p:sldId id="551" r:id="rId34"/>
    <p:sldId id="550" r:id="rId35"/>
    <p:sldId id="554" r:id="rId36"/>
    <p:sldId id="555" r:id="rId37"/>
    <p:sldId id="513" r:id="rId38"/>
    <p:sldId id="556" r:id="rId39"/>
    <p:sldId id="557" r:id="rId40"/>
    <p:sldId id="552" r:id="rId41"/>
    <p:sldId id="558" r:id="rId42"/>
    <p:sldId id="514" r:id="rId43"/>
    <p:sldId id="560" r:id="rId44"/>
    <p:sldId id="559" r:id="rId45"/>
    <p:sldId id="561" r:id="rId46"/>
    <p:sldId id="519" r:id="rId47"/>
    <p:sldId id="562" r:id="rId48"/>
    <p:sldId id="563" r:id="rId49"/>
    <p:sldId id="592" r:id="rId50"/>
    <p:sldId id="591" r:id="rId51"/>
    <p:sldId id="590" r:id="rId52"/>
    <p:sldId id="565" r:id="rId53"/>
    <p:sldId id="566" r:id="rId54"/>
    <p:sldId id="567" r:id="rId55"/>
    <p:sldId id="568" r:id="rId56"/>
    <p:sldId id="586" r:id="rId57"/>
    <p:sldId id="588" r:id="rId58"/>
    <p:sldId id="572" r:id="rId59"/>
    <p:sldId id="587" r:id="rId60"/>
    <p:sldId id="573" r:id="rId61"/>
    <p:sldId id="574" r:id="rId62"/>
    <p:sldId id="575" r:id="rId63"/>
    <p:sldId id="576" r:id="rId64"/>
    <p:sldId id="594" r:id="rId65"/>
    <p:sldId id="595" r:id="rId66"/>
    <p:sldId id="577" r:id="rId67"/>
    <p:sldId id="579" r:id="rId68"/>
    <p:sldId id="580" r:id="rId69"/>
    <p:sldId id="585" r:id="rId70"/>
    <p:sldId id="578" r:id="rId71"/>
    <p:sldId id="581" r:id="rId72"/>
    <p:sldId id="582" r:id="rId73"/>
    <p:sldId id="583" r:id="rId74"/>
    <p:sldId id="597" r:id="rId75"/>
    <p:sldId id="584" r:id="rId76"/>
    <p:sldId id="346" r:id="rId77"/>
    <p:sldId id="267" r:id="rId78"/>
    <p:sldId id="570" r:id="rId79"/>
    <p:sldId id="571" r:id="rId80"/>
    <p:sldId id="266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1. Introduction" id="{2FD0FF71-F5FC-4EB7-B2CB-B31E4CBECD79}">
          <p14:sldIdLst>
            <p14:sldId id="257"/>
            <p14:sldId id="517"/>
            <p14:sldId id="518"/>
          </p14:sldIdLst>
        </p14:section>
        <p14:section name="IV.1. Sigmoid and Logistic functions" id="{C28C8DEB-BB65-418D-979E-1C35425FCB2C}">
          <p14:sldIdLst>
            <p14:sldId id="509"/>
            <p14:sldId id="521"/>
            <p14:sldId id="522"/>
            <p14:sldId id="523"/>
            <p14:sldId id="528"/>
            <p14:sldId id="524"/>
            <p14:sldId id="525"/>
            <p14:sldId id="526"/>
          </p14:sldIdLst>
        </p14:section>
        <p14:section name="IV.2. Logistic Regression" id="{2B25E2FA-6742-4A72-B36E-97E5BF8A885F}">
          <p14:sldIdLst>
            <p14:sldId id="527"/>
            <p14:sldId id="510"/>
            <p14:sldId id="529"/>
            <p14:sldId id="535"/>
            <p14:sldId id="536"/>
            <p14:sldId id="538"/>
            <p14:sldId id="539"/>
            <p14:sldId id="540"/>
            <p14:sldId id="541"/>
          </p14:sldIdLst>
        </p14:section>
        <p14:section name="IV.3. Training a Logistic Regressor" id="{3925A304-2A90-43AD-9523-DA16BE497C61}">
          <p14:sldIdLst>
            <p14:sldId id="511"/>
            <p14:sldId id="542"/>
            <p14:sldId id="543"/>
            <p14:sldId id="544"/>
            <p14:sldId id="545"/>
            <p14:sldId id="546"/>
            <p14:sldId id="547"/>
            <p14:sldId id="548"/>
          </p14:sldIdLst>
        </p14:section>
        <p14:section name="V.1. The Biology behind Neural Networks" id="{0EC07344-8188-493C-8E52-3B724C703EC0}">
          <p14:sldIdLst>
            <p14:sldId id="589"/>
            <p14:sldId id="512"/>
            <p14:sldId id="596"/>
            <p14:sldId id="551"/>
            <p14:sldId id="550"/>
          </p14:sldIdLst>
        </p14:section>
        <p14:section name="V.2. The Shallow Neural Network model" id="{994CC544-F821-4479-A4B3-218B00ECE70C}">
          <p14:sldIdLst>
            <p14:sldId id="554"/>
            <p14:sldId id="555"/>
            <p14:sldId id="513"/>
            <p14:sldId id="556"/>
            <p14:sldId id="557"/>
          </p14:sldIdLst>
        </p14:section>
        <p14:section name="V.3. Forward pass on a Shallow Neural Network" id="{E249CDA2-B965-451F-AC9F-BDB85B17607A}">
          <p14:sldIdLst>
            <p14:sldId id="552"/>
            <p14:sldId id="558"/>
            <p14:sldId id="514"/>
            <p14:sldId id="560"/>
            <p14:sldId id="559"/>
            <p14:sldId id="561"/>
            <p14:sldId id="519"/>
            <p14:sldId id="562"/>
            <p14:sldId id="563"/>
            <p14:sldId id="592"/>
            <p14:sldId id="591"/>
            <p14:sldId id="590"/>
            <p14:sldId id="565"/>
            <p14:sldId id="566"/>
          </p14:sldIdLst>
        </p14:section>
        <p14:section name="V.4. Backpropagation on a Shallow Neural Network" id="{767C72FE-9793-4950-A8EF-333B130F54DF}">
          <p14:sldIdLst>
            <p14:sldId id="567"/>
            <p14:sldId id="568"/>
            <p14:sldId id="586"/>
          </p14:sldIdLst>
        </p14:section>
        <p14:section name="V.5. Backpropagation (math)" id="{907A7E63-CFBE-46B5-91DF-CEF8A16505EA}">
          <p14:sldIdLst>
            <p14:sldId id="588"/>
            <p14:sldId id="572"/>
            <p14:sldId id="587"/>
            <p14:sldId id="573"/>
            <p14:sldId id="574"/>
            <p14:sldId id="575"/>
            <p14:sldId id="576"/>
            <p14:sldId id="594"/>
            <p14:sldId id="595"/>
          </p14:sldIdLst>
        </p14:section>
        <p14:section name="V.6. Backward pass on a Shallow Neural Network" id="{0DEBBF87-D858-40D9-99AA-C02192679BFC}">
          <p14:sldIdLst>
            <p14:sldId id="577"/>
            <p14:sldId id="579"/>
            <p14:sldId id="580"/>
            <p14:sldId id="585"/>
          </p14:sldIdLst>
        </p14:section>
        <p14:section name="V.7. Trainer functions for Shallow Neural Networks" id="{26AC733F-0193-4315-8799-E8B388D8A1D0}">
          <p14:sldIdLst>
            <p14:sldId id="578"/>
            <p14:sldId id="581"/>
            <p14:sldId id="582"/>
            <p14:sldId id="583"/>
            <p14:sldId id="597"/>
          </p14:sldIdLst>
        </p14:section>
        <p14:section name="Conclusion" id="{09807B6E-2B76-45C8-B103-96D5021B68A6}">
          <p14:sldIdLst>
            <p14:sldId id="584"/>
            <p14:sldId id="346"/>
          </p14:sldIdLst>
        </p14:section>
        <p14:section name="References and watchlist" id="{217B8593-1CA5-408D-B198-A5E6ACAB5948}">
          <p14:sldIdLst>
            <p14:sldId id="267"/>
            <p14:sldId id="570"/>
            <p14:sldId id="571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EC4324-92AB-4C78-933D-FB0AA625A075}" v="299" dt="2026-03-13T09:40:11.9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89" Type="http://schemas.microsoft.com/office/2018/10/relationships/authors" Target="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undo redo custSel modSld sldOrd">
      <pc:chgData name="Matthieu De Mari" userId="dfb708c9-d8dc-439f-9a3b-c772bf4a311c" providerId="ADAL" clId="{81E9B007-0C2C-493E-9B93-55A62C9C1F12}" dt="2026-03-13T09:40:11.916" v="1357" actId="20577"/>
      <pc:docMkLst>
        <pc:docMk/>
      </pc:docMkLst>
      <pc:sldChg chg="addSp modSp mod">
        <pc:chgData name="Matthieu De Mari" userId="dfb708c9-d8dc-439f-9a3b-c772bf4a311c" providerId="ADAL" clId="{81E9B007-0C2C-493E-9B93-55A62C9C1F12}" dt="2026-03-13T09:40:11.916" v="1357" actId="20577"/>
        <pc:sldMkLst>
          <pc:docMk/>
          <pc:sldMk cId="2925518171" sldId="559"/>
        </pc:sldMkLst>
        <pc:spChg chg="add mod">
          <ac:chgData name="Matthieu De Mari" userId="dfb708c9-d8dc-439f-9a3b-c772bf4a311c" providerId="ADAL" clId="{81E9B007-0C2C-493E-9B93-55A62C9C1F12}" dt="2026-03-13T09:40:11.916" v="1357" actId="20577"/>
          <ac:spMkLst>
            <pc:docMk/>
            <pc:sldMk cId="2925518171" sldId="559"/>
            <ac:spMk id="2" creationId="{F2CF64B2-9992-CC32-1E47-F6BBD6C1F818}"/>
          </ac:spMkLst>
        </pc:spChg>
        <pc:spChg chg="add mod">
          <ac:chgData name="Matthieu De Mari" userId="dfb708c9-d8dc-439f-9a3b-c772bf4a311c" providerId="ADAL" clId="{81E9B007-0C2C-493E-9B93-55A62C9C1F12}" dt="2026-03-13T09:39:51.463" v="1351" actId="1038"/>
          <ac:spMkLst>
            <pc:docMk/>
            <pc:sldMk cId="2925518171" sldId="559"/>
            <ac:spMk id="4" creationId="{8779E1D5-21DF-C3A8-7C9A-55A915353BBF}"/>
          </ac:spMkLst>
        </pc:spChg>
        <pc:picChg chg="mod">
          <ac:chgData name="Matthieu De Mari" userId="dfb708c9-d8dc-439f-9a3b-c772bf4a311c" providerId="ADAL" clId="{81E9B007-0C2C-493E-9B93-55A62C9C1F12}" dt="2026-03-13T09:39:51.463" v="1351" actId="1038"/>
          <ac:picMkLst>
            <pc:docMk/>
            <pc:sldMk cId="2925518171" sldId="559"/>
            <ac:picMk id="3" creationId="{DDEA64E1-9657-6395-FB7C-E89FCA869009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onfusion_matrix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lassification_report.html#sklearn.metrics.classification_report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2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323533a0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.uk/citations?user=JicYPdAAAAAJ&amp;hl=en" TargetMode="External"/><Relationship Id="rId2" Type="http://schemas.openxmlformats.org/officeDocument/2006/relationships/hyperlink" Target="https://www.cs.toronto.edu/~hinton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ytimes.com/2011/03/19/health/19rumelhart.html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.mit.edu/2022/neural-networks-brain-function-1102" TargetMode="External"/><Relationship Id="rId2" Type="http://schemas.openxmlformats.org/officeDocument/2006/relationships/hyperlink" Target="https://www.quantamagazine.org/artificial-neural-nets-finally-yield-clues-to-how-brains-learn-2021021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W1-S3 Introduction and Machine Learning Reminders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concepts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to be used as a starting point for this course?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different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families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problems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structure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 a Deep Learning problem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linear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algorithm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is it used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train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models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polynomial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regularization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 in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Ridge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overfitting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underfitting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how to evaluate it?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train-test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split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related to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What is a </a:t>
            </a:r>
            <a:r>
              <a:rPr lang="en-US" b="1" dirty="0"/>
              <a:t>sigmoid</a:t>
            </a:r>
            <a:r>
              <a:rPr lang="en-US" dirty="0"/>
              <a:t> function? What is a </a:t>
            </a:r>
            <a:r>
              <a:rPr lang="en-US" b="1" dirty="0"/>
              <a:t>logistic</a:t>
            </a:r>
            <a:r>
              <a:rPr lang="en-US" dirty="0"/>
              <a:t> function?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How to perform </a:t>
            </a:r>
            <a:r>
              <a:rPr lang="en-US" b="1" dirty="0"/>
              <a:t>binary</a:t>
            </a:r>
            <a:r>
              <a:rPr lang="en-US" dirty="0"/>
              <a:t> </a:t>
            </a:r>
            <a:r>
              <a:rPr lang="en-US" b="1" dirty="0"/>
              <a:t>classification</a:t>
            </a:r>
            <a:r>
              <a:rPr lang="en-US" dirty="0"/>
              <a:t> using a </a:t>
            </a:r>
            <a:r>
              <a:rPr lang="en-US" b="1" dirty="0"/>
              <a:t>logistic</a:t>
            </a:r>
            <a:r>
              <a:rPr lang="en-US" dirty="0"/>
              <a:t> </a:t>
            </a:r>
            <a:r>
              <a:rPr lang="en-US" b="1" dirty="0"/>
              <a:t>regressor</a:t>
            </a:r>
            <a:r>
              <a:rPr lang="en-US" dirty="0"/>
              <a:t> and how is it related to linear regression?</a:t>
            </a:r>
          </a:p>
          <a:p>
            <a:pPr marL="514350" indent="-514350">
              <a:buFont typeface="+mj-lt"/>
              <a:buAutoNum type="arabicPeriod" startAt="8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669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are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Networks</a:t>
            </a:r>
            <a:r>
              <a:rPr lang="en-US" dirty="0"/>
              <a:t> and how do they relate to the </a:t>
            </a:r>
            <a:r>
              <a:rPr lang="en-US" b="1" dirty="0"/>
              <a:t>biology</a:t>
            </a:r>
            <a:r>
              <a:rPr lang="en-US" dirty="0"/>
              <a:t> </a:t>
            </a:r>
            <a:r>
              <a:rPr lang="en-US" b="1" dirty="0"/>
              <a:t>of a</a:t>
            </a:r>
            <a:r>
              <a:rPr lang="en-US" dirty="0"/>
              <a:t> </a:t>
            </a:r>
            <a:r>
              <a:rPr lang="en-US" b="1" dirty="0"/>
              <a:t>human</a:t>
            </a:r>
            <a:r>
              <a:rPr lang="en-US" dirty="0"/>
              <a:t> </a:t>
            </a:r>
            <a:r>
              <a:rPr lang="en-US" b="1" dirty="0"/>
              <a:t>brain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a </a:t>
            </a:r>
            <a:r>
              <a:rPr lang="en-US" b="1" dirty="0"/>
              <a:t>Neuron</a:t>
            </a:r>
            <a:r>
              <a:rPr lang="en-US" dirty="0"/>
              <a:t> in a Neural Network and how does it relate to linear/logistic regression?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the </a:t>
            </a:r>
            <a:r>
              <a:rPr lang="en-US" b="1" dirty="0"/>
              <a:t>difference</a:t>
            </a:r>
            <a:r>
              <a:rPr lang="en-US" dirty="0"/>
              <a:t> between a </a:t>
            </a:r>
            <a:r>
              <a:rPr lang="en-US" b="1" dirty="0"/>
              <a:t>shallow</a:t>
            </a:r>
            <a:r>
              <a:rPr lang="en-US" dirty="0"/>
              <a:t> and a </a:t>
            </a:r>
            <a:r>
              <a:rPr lang="en-US" b="1" dirty="0"/>
              <a:t>deep neural network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How to </a:t>
            </a:r>
            <a:r>
              <a:rPr lang="en-US" b="1" dirty="0"/>
              <a:t>implement</a:t>
            </a:r>
            <a:r>
              <a:rPr lang="en-US" dirty="0"/>
              <a:t> </a:t>
            </a:r>
            <a:r>
              <a:rPr lang="en-US" b="1" dirty="0"/>
              <a:t>a</a:t>
            </a:r>
            <a:r>
              <a:rPr lang="en-US" dirty="0"/>
              <a:t> </a:t>
            </a:r>
            <a:r>
              <a:rPr lang="en-US" b="1" dirty="0"/>
              <a:t>shallow</a:t>
            </a:r>
            <a:r>
              <a:rPr lang="en-US" dirty="0"/>
              <a:t>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</a:t>
            </a:r>
            <a:r>
              <a:rPr lang="en-US" dirty="0"/>
              <a:t> manually and define a </a:t>
            </a:r>
            <a:r>
              <a:rPr lang="en-US" b="1" dirty="0"/>
              <a:t>forward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method for it?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(How to </a:t>
            </a:r>
            <a:r>
              <a:rPr lang="en-US" b="1" dirty="0"/>
              <a:t>train</a:t>
            </a:r>
            <a:r>
              <a:rPr lang="en-US" dirty="0"/>
              <a:t> </a:t>
            </a:r>
            <a:r>
              <a:rPr lang="en-US" b="1" dirty="0"/>
              <a:t>a shallow Neural Network </a:t>
            </a:r>
            <a:r>
              <a:rPr lang="en-US" dirty="0"/>
              <a:t>using </a:t>
            </a:r>
            <a:r>
              <a:rPr lang="en-US" b="1" dirty="0"/>
              <a:t>backpropagation</a:t>
            </a:r>
            <a:r>
              <a:rPr lang="en-US" dirty="0"/>
              <a:t>? How to define </a:t>
            </a:r>
            <a:r>
              <a:rPr lang="en-US" b="1" dirty="0"/>
              <a:t>backward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and </a:t>
            </a:r>
            <a:r>
              <a:rPr lang="en-US" b="1" dirty="0"/>
              <a:t>trainer</a:t>
            </a:r>
            <a:r>
              <a:rPr lang="en-US" dirty="0"/>
              <a:t> functions?)</a:t>
            </a:r>
          </a:p>
          <a:p>
            <a:pPr marL="514350" indent="-514350">
              <a:buFont typeface="+mj-lt"/>
              <a:buAutoNum type="arabicPeriod" startAt="14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0584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Machine Learning. It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Note: </a:t>
                </a:r>
                <a:r>
                  <a:rPr lang="en-GB" dirty="0"/>
                  <a:t>Sometimes, the notation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/>
                  <a:t> is used instead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 (to be proven as an extra exercise!):</a:t>
                </a:r>
                <a:br>
                  <a:rPr lang="en-GB" dirty="0"/>
                </a:b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875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</a:t>
                </a:r>
                <a:r>
                  <a:rPr lang="en-GB" dirty="0" err="1"/>
                  <a:t>Machne</a:t>
                </a:r>
                <a:r>
                  <a:rPr lang="en-GB" dirty="0"/>
                  <a:t> Learning. It is defined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properties:</a:t>
                </a: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4F682-033E-B20F-FF45-E910D6FD6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50" y="0"/>
            <a:ext cx="103516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692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Also 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properties, shown on the right.</a:t>
                </a:r>
                <a:br>
                  <a:rPr lang="en-GB" dirty="0"/>
                </a:br>
                <a:r>
                  <a:rPr lang="en-GB" i="1" dirty="0"/>
                  <a:t>(Prove them as an extra practice?)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  <a:blipFill>
                <a:blip r:embed="rId2"/>
                <a:stretch>
                  <a:fillRect l="-1980" t="-1937" r="-3267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516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D36D8E9-EC44-BBB5-12EC-8C34D43F16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9"/>
          <a:stretch>
            <a:fillRect/>
          </a:stretch>
        </p:blipFill>
        <p:spPr>
          <a:xfrm>
            <a:off x="920480" y="0"/>
            <a:ext cx="101986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828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34AEC-3EA6-219D-81A7-B9BD2E7E1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871" y="4696097"/>
            <a:ext cx="4842662" cy="216190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3C4DE6B-4A9F-D64A-C223-8B019D32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recap: functions and implementations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71" t="-2241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  <a:blipFill>
                <a:blip r:embed="rId4"/>
                <a:stretch>
                  <a:fillRect l="-2471" t="-2241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56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2607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067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B6ECADF-0069-4F17-45C7-E8B70909D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98" y="0"/>
            <a:ext cx="103148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17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75BF-18E0-B2E0-1950-BC4CC1492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New mock dataset generation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notebook 6, we will prepare a dataset for a </a:t>
                </a:r>
                <a:r>
                  <a:rPr lang="en-GB" b="1" dirty="0"/>
                  <a:t>single-variable binary classification.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inputs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will consist of chest sizes for males between 94cm and 114cm, randomly generated.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outputs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, will consists of </a:t>
                </a:r>
                <a:r>
                  <a:rPr lang="en-GB" b="1" dirty="0"/>
                  <a:t>two</a:t>
                </a:r>
                <a:r>
                  <a:rPr lang="en-GB" dirty="0"/>
                  <a:t> </a:t>
                </a:r>
                <a:r>
                  <a:rPr lang="en-GB" b="1" dirty="0"/>
                  <a:t>classes</a:t>
                </a:r>
                <a:r>
                  <a:rPr lang="en-GB" dirty="0"/>
                  <a:t>, corresponding to the shirt size to use, with two possible values:</a:t>
                </a:r>
              </a:p>
              <a:p>
                <a:pPr lvl="1"/>
                <a:r>
                  <a:rPr lang="en-GB" b="1" dirty="0"/>
                  <a:t>M</a:t>
                </a:r>
                <a:r>
                  <a:rPr lang="en-GB" dirty="0"/>
                  <a:t> (class with value </a:t>
                </a:r>
                <a:r>
                  <a:rPr lang="en-GB" b="1" dirty="0"/>
                  <a:t>0</a:t>
                </a:r>
                <a:r>
                  <a:rPr lang="en-GB" dirty="0"/>
                  <a:t>, if chest size is below </a:t>
                </a:r>
                <a:r>
                  <a:rPr lang="en-GB" b="1" dirty="0"/>
                  <a:t>104</a:t>
                </a:r>
                <a:r>
                  <a:rPr lang="en-GB" dirty="0"/>
                  <a:t> cm) size</a:t>
                </a:r>
              </a:p>
              <a:p>
                <a:pPr lvl="1"/>
                <a:r>
                  <a:rPr lang="en-GB" dirty="0"/>
                  <a:t>and </a:t>
                </a:r>
                <a:r>
                  <a:rPr lang="en-GB" b="1" dirty="0"/>
                  <a:t>L</a:t>
                </a:r>
                <a:r>
                  <a:rPr lang="en-GB" dirty="0"/>
                  <a:t> size (class with value </a:t>
                </a:r>
                <a:r>
                  <a:rPr lang="en-GB" b="1" dirty="0"/>
                  <a:t>1</a:t>
                </a:r>
                <a:r>
                  <a:rPr lang="en-GB" dirty="0"/>
                  <a:t>, if chest size is above </a:t>
                </a:r>
                <a:r>
                  <a:rPr lang="en-GB" b="1" dirty="0"/>
                  <a:t>104</a:t>
                </a:r>
                <a:r>
                  <a:rPr lang="en-GB" dirty="0"/>
                  <a:t> cm).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  <a:blipFill>
                <a:blip r:embed="rId2"/>
                <a:stretch>
                  <a:fillRect l="-1991" t="-1937" r="-189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462D9BE8-32F5-DE08-00E2-03EC767B828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596"/>
          <a:stretch/>
        </p:blipFill>
        <p:spPr>
          <a:xfrm>
            <a:off x="8042301" y="613091"/>
            <a:ext cx="4017619" cy="609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9043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518E48-BC81-EFDD-B44D-EDB8E1C22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67" y="0"/>
            <a:ext cx="8915573" cy="682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273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2AB20D-0335-B6C3-3E8A-E1852D3E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21" y="0"/>
            <a:ext cx="10205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2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8053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Expert systems are “the dream” and provide a high level of performance and accuracy in solving problems or making decisions. But these are difficult to design as they require a strong, and not necessarily obvious, human expertise.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37A199-484C-F8D7-4F43-7CDAD5020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676" y="4740021"/>
            <a:ext cx="5879123" cy="143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878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note:</a:t>
            </a:r>
            <a:r>
              <a:rPr lang="en-GB" dirty="0"/>
              <a:t> in our case, we could define an expert system as shown below, but most of the time the datasets will not have a clear logic and you will have to rely on ML algorithms instead, basically </a:t>
            </a:r>
            <a:r>
              <a:rPr lang="en-GB" i="1" dirty="0"/>
              <a:t>“hoping the AI will figure out a logic that works”.</a:t>
            </a:r>
            <a:endParaRPr lang="en-SG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B96E18-05C3-8C71-06D4-804545AA8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318" y="5162408"/>
            <a:ext cx="5249008" cy="163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2260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)&gt;0.5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  <a:blipFill>
                <a:blip r:embed="rId2"/>
                <a:stretch>
                  <a:fillRect l="-2400" t="-1937" r="-10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Respectively,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1 −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0 (that is M size).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/>
                  <a:t>probability</a:t>
                </a:r>
                <a:r>
                  <a:rPr lang="en-GB" dirty="0"/>
                  <a:t> function is then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always has values between 0 and 1, thanks to the </a:t>
                </a:r>
                <a:r>
                  <a:rPr lang="en-GB" b="1" dirty="0"/>
                  <a:t>sigmoid</a:t>
                </a:r>
                <a:r>
                  <a:rPr lang="en-GB" dirty="0"/>
                  <a:t>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3944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adjusted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+ 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GB" b="0" i="1" dirty="0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  <a:blipFill>
                <a:blip r:embed="rId2"/>
                <a:stretch>
                  <a:fillRect l="-235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This model has </a:t>
                </a:r>
                <a:r>
                  <a:rPr lang="en-GB" b="1" dirty="0"/>
                  <a:t>two trainable parameters</a:t>
                </a:r>
                <a:r>
                  <a:rPr lang="en-GB" dirty="0"/>
                  <a:t>,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and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, to be decided as in the linear regression.</a:t>
                </a:r>
              </a:p>
              <a:p>
                <a:pPr marL="0" indent="0">
                  <a:buNone/>
                </a:pPr>
                <a:r>
                  <a:rPr lang="en-GB" dirty="0"/>
                  <a:t>In fact, we could see the logistic regression as the </a:t>
                </a:r>
                <a:r>
                  <a:rPr lang="en-GB" b="1" dirty="0"/>
                  <a:t>combination of linear regression and sigmoid together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In addition, note that 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/>
                  <a:t>is also often referred to as the </a:t>
                </a:r>
                <a:r>
                  <a:rPr lang="en-GB" b="1" dirty="0"/>
                  <a:t>logit</a:t>
                </a:r>
                <a:r>
                  <a:rPr lang="en-GB" dirty="0"/>
                  <a:t> function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 r="-2353" b="-19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763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E748C61-EF21-6D5A-66A2-9B706C1F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44" y="2811231"/>
            <a:ext cx="11672833" cy="4003782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A9FC289B-2D3B-1B18-DC78-0A0676C7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We can implement the logistic regression below and try it out with some values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!</a:t>
                </a:r>
                <a:endParaRPr lang="en-SG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385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999043-9779-AAD9-684A-3CF7B1C0F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125" y="409153"/>
            <a:ext cx="9497750" cy="60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270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in linear regression, we will have to </a:t>
                </a:r>
                <a:r>
                  <a:rPr lang="en-GB" b="1" dirty="0"/>
                  <a:t>train the model</a:t>
                </a:r>
                <a:r>
                  <a:rPr lang="en-GB" dirty="0"/>
                  <a:t>, i.e. choose values 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, that fit the dataset.</a:t>
                </a:r>
              </a:p>
              <a:p>
                <a:r>
                  <a:rPr lang="en-GB" dirty="0"/>
                  <a:t>While </a:t>
                </a:r>
                <a:r>
                  <a:rPr lang="en-GB" b="1" dirty="0"/>
                  <a:t>MSE</a:t>
                </a:r>
                <a:r>
                  <a:rPr lang="en-GB" dirty="0"/>
                  <a:t> seemed to work as a </a:t>
                </a:r>
                <a:r>
                  <a:rPr lang="en-GB" b="1" dirty="0"/>
                  <a:t>loss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to train the </a:t>
                </a:r>
                <a:r>
                  <a:rPr lang="en-GB" b="1" dirty="0"/>
                  <a:t>linear</a:t>
                </a:r>
                <a:r>
                  <a:rPr lang="en-GB" dirty="0"/>
                  <a:t> </a:t>
                </a:r>
                <a:r>
                  <a:rPr lang="en-GB" b="1" dirty="0"/>
                  <a:t>regression</a:t>
                </a:r>
                <a:r>
                  <a:rPr lang="en-GB" dirty="0"/>
                  <a:t> model, it is not that good for logistic regression.</a:t>
                </a:r>
              </a:p>
              <a:p>
                <a:r>
                  <a:rPr lang="en-GB" dirty="0"/>
                  <a:t>We need something better!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logistic regression, we prefer to </a:t>
                </a:r>
                <a:r>
                  <a:rPr lang="en-GB" b="1" dirty="0"/>
                  <a:t>minimize</a:t>
                </a:r>
                <a:r>
                  <a:rPr lang="en-GB" dirty="0"/>
                  <a:t> a loss function, called the</a:t>
                </a:r>
                <a:br>
                  <a:rPr lang="en-GB" dirty="0"/>
                </a:br>
                <a:r>
                  <a:rPr lang="en-GB" b="1" dirty="0"/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(cross-entropy)</a:t>
                </a:r>
                <a:r>
                  <a:rPr lang="en-GB" dirty="0"/>
                  <a:t> function, instead.</a:t>
                </a:r>
              </a:p>
              <a:p>
                <a:r>
                  <a:rPr lang="en-GB" dirty="0"/>
                  <a:t>This function has to do with the two </a:t>
                </a:r>
                <a:r>
                  <a:rPr lang="en-GB" b="1" dirty="0"/>
                  <a:t>logistic</a:t>
                </a:r>
                <a:r>
                  <a:rPr lang="en-GB" dirty="0"/>
                  <a:t> </a:t>
                </a:r>
                <a:r>
                  <a:rPr lang="en-GB" b="1" dirty="0"/>
                  <a:t>functions</a:t>
                </a:r>
                <a:r>
                  <a:rPr lang="en-GB" dirty="0"/>
                  <a:t> we have introduced earlier.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05724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</m:d>
                                    </m:e>
                                  </m:d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func>
                                    <m:func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GB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d>
                                            <m:d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func>
                            </m:e>
                          </m:d>
                          <m:r>
                            <m:rPr>
                              <m:nor/>
                            </m:rPr>
                            <a:rPr lang="en-GB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 good function to use for our problem for the two reasons:</a:t>
                </a:r>
              </a:p>
              <a:p>
                <a:r>
                  <a:rPr lang="en-GB" b="1" dirty="0"/>
                  <a:t>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is close to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, both terms of the loss function, will have values close to 0</a:t>
                </a:r>
                <a:r>
                  <a:rPr lang="en-GB" dirty="0"/>
                  <a:t>. This follows from the properties we defined earlier for the mixes of logistic functions.</a:t>
                </a:r>
              </a:p>
              <a:p>
                <a:r>
                  <a:rPr lang="en-GB" dirty="0"/>
                  <a:t>On the opposite</a:t>
                </a:r>
                <a:r>
                  <a:rPr lang="en-GB" b="1" dirty="0"/>
                  <a:t>, the log-likelihood loss function will have a different behaviour 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and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 are different, producing large non-zero negative values instead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751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EE8989-CA0E-9B9A-AB65-DD59B00F6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(using the </a:t>
            </a:r>
            <a:r>
              <a:rPr lang="en-GB" b="1" dirty="0">
                <a:solidFill>
                  <a:srgbClr val="00B050"/>
                </a:solidFill>
              </a:rPr>
              <a:t>log-likelihood</a:t>
            </a:r>
            <a:r>
              <a:rPr lang="en-GB" b="1" dirty="0"/>
              <a:t> function as a loss):</a:t>
            </a:r>
          </a:p>
          <a:p>
            <a:pPr marL="0" indent="0">
              <a:buNone/>
            </a:pPr>
            <a:r>
              <a:rPr lang="en-GB" dirty="0"/>
              <a:t>This log-likelihood loss function is therefore a good choice of a performance/loss metric to measure the performance of our models.</a:t>
            </a:r>
          </a:p>
          <a:p>
            <a:pPr marL="0" indent="0">
              <a:buNone/>
            </a:pPr>
            <a:r>
              <a:rPr lang="en-GB" dirty="0"/>
              <a:t>Indeed, </a:t>
            </a:r>
            <a:r>
              <a:rPr lang="en-GB" b="1" u="sng" dirty="0"/>
              <a:t>maximizing</a:t>
            </a:r>
            <a:r>
              <a:rPr lang="en-GB" dirty="0"/>
              <a:t> </a:t>
            </a:r>
            <a:r>
              <a:rPr lang="en-GB" b="1" dirty="0"/>
              <a:t>this log-likelihood </a:t>
            </a:r>
            <a:r>
              <a:rPr lang="en-GB" dirty="0"/>
              <a:t>loss function and bringing it to zero would be equivalent to finding the best choice of parameters 𝑎 and 𝑏, and therefore the best fit.</a:t>
            </a:r>
          </a:p>
          <a:p>
            <a:pPr marL="0" indent="0">
              <a:buNone/>
            </a:pPr>
            <a:r>
              <a:rPr lang="en-GB" dirty="0"/>
              <a:t>In practice however, we </a:t>
            </a:r>
            <a:r>
              <a:rPr lang="en-GB" b="1" dirty="0"/>
              <a:t>prefer to </a:t>
            </a:r>
            <a:r>
              <a:rPr lang="en-GB" b="1" u="sng" dirty="0"/>
              <a:t>minimize</a:t>
            </a:r>
            <a:r>
              <a:rPr lang="en-GB" b="1" dirty="0"/>
              <a:t> loss functions</a:t>
            </a:r>
            <a:r>
              <a:rPr lang="en-GB" dirty="0"/>
              <a:t>. This requires a simple adjustment, </a:t>
            </a:r>
            <a:r>
              <a:rPr lang="en-GB" b="1" dirty="0"/>
              <a:t>multiplying the log-likelihood loss function by -1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/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num>
                                    <m:den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den>
                                  </m:f>
                                  <m:nary>
                                    <m:naryPr>
                                      <m:chr m:val="∑"/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func>
                                            <m:func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GB" sz="2800">
                                                  <a:latin typeface="Cambria Math" panose="02040503050406030204" pitchFamily="18" charset="0"/>
                                                </a:rPr>
                                                <m:t>ln</m:t>
                                              </m:r>
                                            </m:fName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  <m:sSub>
                                                        <m:sSub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𝑥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𝑖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+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</m:d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1−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GB" sz="28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𝑦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  <m:func>
                                                <m:func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uncPr>
                                                <m:fNam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GB" sz="2800">
                                                      <a:latin typeface="Cambria Math" panose="02040503050406030204" pitchFamily="18" charset="0"/>
                                                    </a:rPr>
                                                    <m:t>ln</m:t>
                                                  </m:r>
                                                </m:fName>
                                                <m:e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1−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𝑠</m:t>
                                                      </m:r>
                                                      <m:d>
                                                        <m:d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𝑎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+</m:t>
                                                          </m:r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𝑏</m:t>
                                                          </m:r>
                                                        </m:e>
                                                      </m:d>
                                                    </m:e>
                                                  </m:d>
                                                </m:e>
                                              </m:func>
                                            </m:e>
                                          </m:func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800" dirty="0"/>
              </a:p>
              <a:p>
                <a:endParaRPr lang="en-SG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2613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the log-likelihood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can simply implement the log likelihood loss as shown below.</a:t>
            </a:r>
          </a:p>
          <a:p>
            <a:r>
              <a:rPr lang="en-GB" dirty="0"/>
              <a:t>Note: We could look for the </a:t>
            </a:r>
            <a:r>
              <a:rPr lang="en-GB" b="1" dirty="0"/>
              <a:t>”normal</a:t>
            </a:r>
            <a:r>
              <a:rPr lang="en-GB" dirty="0"/>
              <a:t> </a:t>
            </a:r>
            <a:r>
              <a:rPr lang="en-GB" b="1" dirty="0"/>
              <a:t>equation”</a:t>
            </a:r>
            <a:r>
              <a:rPr lang="en-GB" dirty="0"/>
              <a:t> for the logistic regression, but this simply will not work. It is simply impossible to solve the logistic regression problem analytically.</a:t>
            </a:r>
          </a:p>
          <a:p>
            <a:r>
              <a:rPr lang="en-GB" dirty="0"/>
              <a:t>(Not convinced? Try solving it analytically!).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09DCBE-4611-3296-32F0-6F2A520A1A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83"/>
          <a:stretch/>
        </p:blipFill>
        <p:spPr>
          <a:xfrm>
            <a:off x="1212978" y="5098080"/>
            <a:ext cx="9277765" cy="139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34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274976" cy="4845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Instead, it is often preferable to rely on the gradient descent method, or the Newton method.</a:t>
            </a:r>
          </a:p>
          <a:p>
            <a:r>
              <a:rPr lang="en-GB" dirty="0"/>
              <a:t>Typically, this is what the </a:t>
            </a:r>
            <a:r>
              <a:rPr lang="en-GB" b="1" dirty="0" err="1"/>
              <a:t>LogisticRegression</a:t>
            </a:r>
            <a:r>
              <a:rPr lang="en-GB" b="1" dirty="0"/>
              <a:t>()</a:t>
            </a:r>
            <a:r>
              <a:rPr lang="en-GB" dirty="0"/>
              <a:t> object in </a:t>
            </a:r>
            <a:r>
              <a:rPr lang="en-GB" dirty="0" err="1"/>
              <a:t>sklearn</a:t>
            </a:r>
            <a:r>
              <a:rPr lang="en-GB" dirty="0"/>
              <a:t> uses for training!</a:t>
            </a:r>
          </a:p>
          <a:p>
            <a:r>
              <a:rPr lang="en-GB" dirty="0"/>
              <a:t>(Newton method is not covered but feel free to look it up/try it out?)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0534C-1E5C-2536-7C44-58222FFEA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737" y="1764772"/>
            <a:ext cx="6778957" cy="447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019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2353DDF-5C29-0AA5-21F9-C5F60A7B8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3" y="313890"/>
            <a:ext cx="9412013" cy="623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776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2398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When attempting to evaluate a classification model, it is often a good idea to first display a confusion matrix for the predicted values of the dataset samples (test samples, preferably).</a:t>
            </a:r>
          </a:p>
          <a:p>
            <a:r>
              <a:rPr lang="en-GB" dirty="0"/>
              <a:t>We can simply calculate it by using the </a:t>
            </a:r>
            <a:r>
              <a:rPr lang="en-GB" dirty="0" err="1"/>
              <a:t>confusion_matrix</a:t>
            </a:r>
            <a:r>
              <a:rPr lang="en-GB" dirty="0"/>
              <a:t>() function from </a:t>
            </a:r>
            <a:r>
              <a:rPr lang="en-GB" dirty="0" err="1"/>
              <a:t>sklearn</a:t>
            </a:r>
            <a:r>
              <a:rPr lang="en-GB" dirty="0"/>
              <a:t>. The non-diagonal elements have zero values, which is the sign that our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https://scikit-learn.org/stable/modules/generated/sklearn.metrics.confusion_matrix.html</a:t>
            </a:r>
            <a:r>
              <a:rPr lang="en-GB" dirty="0"/>
              <a:t>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48AA3C-AA90-D1EB-F30D-83277B83B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6530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75790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We can also ask for a classification report for the trained model.</a:t>
            </a:r>
          </a:p>
          <a:p>
            <a:r>
              <a:rPr lang="en-GB" dirty="0"/>
              <a:t>This shows the precision, recall and F1 scores for each class, as well as the overall accuracy of the model.</a:t>
            </a:r>
          </a:p>
          <a:p>
            <a:r>
              <a:rPr lang="en-GB" dirty="0"/>
              <a:t>For each one of these interesting metrics, the best value is 1.0. Our model achieves a 1.0 score, suggesting that the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https://scikit-learn.org/stable/modules/generated/sklearn.metrics.classification_report.html#sklearn.metrics.classification_report</a:t>
            </a:r>
            <a:r>
              <a:rPr lang="en-GB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A64EEF-680D-D1CF-445C-11D191CCC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367757C-64AF-8BE1-A9D7-5D4CA0106416}"/>
              </a:ext>
            </a:extLst>
          </p:cNvPr>
          <p:cNvSpPr txBox="1"/>
          <p:nvPr/>
        </p:nvSpPr>
        <p:spPr>
          <a:xfrm>
            <a:off x="7000248" y="5400430"/>
            <a:ext cx="508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Note: the details of these metrics and what they represented is not discussed here (covered in previous ML classes).</a:t>
            </a:r>
          </a:p>
        </p:txBody>
      </p:sp>
    </p:spTree>
    <p:extLst>
      <p:ext uri="{BB962C8B-B14F-4D97-AF65-F5344CB8AC3E}">
        <p14:creationId xmlns:p14="http://schemas.microsoft.com/office/powerpoint/2010/main" val="17530143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8723-AD13-89B7-1419-91F9B6B5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6B346-F257-1111-943C-75EAE45D1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Many tasks we have seen earlier (e.g. appt prices) are “difficult” to solve, or do not have an obvious “explainable” logic.</a:t>
            </a:r>
          </a:p>
          <a:p>
            <a:pPr marL="0" indent="0">
              <a:buNone/>
            </a:pPr>
            <a:r>
              <a:rPr lang="en-GB" dirty="0"/>
              <a:t>Our brain, however, seems very capable to solve these tasks.</a:t>
            </a:r>
          </a:p>
          <a:p>
            <a:pPr marL="0" indent="0">
              <a:buNone/>
            </a:pPr>
            <a:r>
              <a:rPr lang="en-GB" b="1" dirty="0"/>
              <a:t>Million dollar question: </a:t>
            </a:r>
            <a:r>
              <a:rPr lang="en-GB" dirty="0"/>
              <a:t>Could we replace the linear/polynomial/logistic models with a model that mimics the brain?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5FA5B-6C71-D983-90F8-57E791E8F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362" y="4326716"/>
            <a:ext cx="9175275" cy="249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406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88012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In neural networks, we will implement neurons, but are they really close to the ones in the human brain?</a:t>
            </a:r>
          </a:p>
          <a:p>
            <a:r>
              <a:rPr lang="en-GB" dirty="0"/>
              <a:t>Neural networks are inspired by the neural structure and processes of the human brain.</a:t>
            </a:r>
          </a:p>
          <a:p>
            <a:r>
              <a:rPr lang="en-GB" dirty="0"/>
              <a:t>Neural networks are comprised of interconnected nodes, which are called </a:t>
            </a:r>
            <a:r>
              <a:rPr lang="en-GB" b="1" dirty="0"/>
              <a:t>artificial neurons </a:t>
            </a:r>
            <a:r>
              <a:rPr lang="en-GB" dirty="0"/>
              <a:t>or </a:t>
            </a:r>
            <a:r>
              <a:rPr lang="en-GB" b="1" dirty="0" err="1"/>
              <a:t>perceptrons</a:t>
            </a:r>
            <a:r>
              <a:rPr lang="en-GB" dirty="0"/>
              <a:t>.</a:t>
            </a:r>
          </a:p>
          <a:p>
            <a:r>
              <a:rPr lang="en-GB" dirty="0"/>
              <a:t>Neural networks are related to biology in that they are modelled after biological neural systems.</a:t>
            </a:r>
          </a:p>
        </p:txBody>
      </p:sp>
      <p:pic>
        <p:nvPicPr>
          <p:cNvPr id="4" name="Picture 3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7BFD9D5F-B9B4-25D8-8551-647E6EDC9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965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70181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general,</a:t>
            </a:r>
          </a:p>
          <a:p>
            <a:r>
              <a:rPr lang="en-GB" dirty="0"/>
              <a:t>A </a:t>
            </a:r>
            <a:r>
              <a:rPr lang="en-GB" b="1" dirty="0"/>
              <a:t>neuron will receive stimuli</a:t>
            </a:r>
            <a:r>
              <a:rPr lang="en-GB" dirty="0"/>
              <a:t> through its dendrites, in the form of electrical signals playing the role of </a:t>
            </a:r>
            <a:r>
              <a:rPr lang="en-GB" b="1" dirty="0"/>
              <a:t>inputs</a:t>
            </a:r>
            <a:r>
              <a:rPr lang="en-GB" dirty="0"/>
              <a:t>,</a:t>
            </a:r>
          </a:p>
          <a:p>
            <a:r>
              <a:rPr lang="en-GB" dirty="0"/>
              <a:t>It will </a:t>
            </a:r>
            <a:r>
              <a:rPr lang="en-GB" b="1" dirty="0"/>
              <a:t>process the inputs </a:t>
            </a:r>
            <a:r>
              <a:rPr lang="en-GB" dirty="0"/>
              <a:t>in a certain way in its nucleus (and other parts of the neuron),</a:t>
            </a:r>
          </a:p>
          <a:p>
            <a:r>
              <a:rPr lang="en-GB" dirty="0"/>
              <a:t>If the integrated signals reach a threshold, </a:t>
            </a:r>
            <a:r>
              <a:rPr lang="en-GB" b="1" dirty="0"/>
              <a:t>the neuron generates an action potential</a:t>
            </a:r>
            <a:r>
              <a:rPr lang="en-GB" dirty="0"/>
              <a:t>, a brief electrical impulse. This is an output coming from the axon terminal, in the form of a signal (1) or no signal (0) being produced.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/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In other words,</a:t>
                </a:r>
              </a:p>
              <a:p>
                <a:pPr algn="ctr"/>
                <a:endParaRPr lang="en-GB" sz="2400" dirty="0"/>
              </a:p>
              <a:p>
                <a:pPr algn="ctr"/>
                <a:r>
                  <a:rPr lang="en-GB" sz="2400" b="1" dirty="0"/>
                  <a:t>Neuron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400" dirty="0"/>
              </a:p>
              <a:p>
                <a:pPr algn="ctr"/>
                <a:r>
                  <a:rPr lang="en-GB" sz="2400" b="1" dirty="0"/>
                  <a:t>Logistic Regression?!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blipFill>
                <a:blip r:embed="rId2"/>
                <a:stretch>
                  <a:fillRect l="-1907" t="-2188" r="-1695" b="-593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93468420-744C-D00A-8162-39F1BEDA1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50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577669" cy="5032375"/>
          </a:xfrm>
        </p:spPr>
        <p:txBody>
          <a:bodyPr>
            <a:normAutofit lnSpcReduction="10000"/>
          </a:bodyPr>
          <a:lstStyle/>
          <a:p>
            <a:r>
              <a:rPr lang="en-GB" dirty="0"/>
              <a:t>But a human brain is not just one neuron, it is many of them arranged into a network of some sort!</a:t>
            </a:r>
          </a:p>
          <a:p>
            <a:r>
              <a:rPr lang="en-GB" dirty="0"/>
              <a:t>Eventually, the output signal produced by a neuron will be passed to other neurons in the brain.</a:t>
            </a:r>
          </a:p>
          <a:p>
            <a:r>
              <a:rPr lang="en-GB" dirty="0"/>
              <a:t>In fact, the brain could be seen as a set of several neurons processing information, </a:t>
            </a:r>
            <a:r>
              <a:rPr lang="en-GB" b="1" dirty="0"/>
              <a:t>both in parallel and in sequence</a:t>
            </a:r>
            <a:r>
              <a:rPr lang="en-GB" dirty="0"/>
              <a:t>.</a:t>
            </a:r>
          </a:p>
          <a:p>
            <a:r>
              <a:rPr lang="en-GB" dirty="0"/>
              <a:t>This assembly, which resembles the human brain, is commonly referred to as a </a:t>
            </a:r>
            <a:r>
              <a:rPr lang="en-GB" b="1" dirty="0"/>
              <a:t>neural network</a:t>
            </a:r>
            <a:r>
              <a:rPr lang="en-GB" dirty="0"/>
              <a:t>.</a:t>
            </a: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779C4BB9-E4D3-29A9-77AA-04412F9DF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D4E286A9-4AD5-4E9C-6C92-E073C4C44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22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7018176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Research has shown that artificial neural networks (NN) could be used to solve some of the problems that biological NN can solve.</a:t>
            </a:r>
          </a:p>
          <a:p>
            <a:r>
              <a:rPr lang="en-GB" dirty="0"/>
              <a:t>For example, neural networks can be used to identify objects in images, just as biological neural networks can.</a:t>
            </a:r>
          </a:p>
          <a:p>
            <a:r>
              <a:rPr lang="en-GB" dirty="0"/>
              <a:t>The training process of CS neural networks is apparently very similar to the biological neural networks.</a:t>
            </a:r>
          </a:p>
          <a:p>
            <a:r>
              <a:rPr lang="en-GB" dirty="0"/>
              <a:t>This is actually an ongoing argument/debate in the community </a:t>
            </a:r>
            <a:r>
              <a:rPr lang="en-US" dirty="0"/>
              <a:t>[Quanta2021] and [MITNews2022].</a:t>
            </a:r>
            <a:endParaRPr lang="en-SG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7C25391-7442-1C3D-FAD0-3B793A66D9C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09409767-E726-58B0-12E6-E5A975A003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42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we will try to come up with a model capable of predicting the price of an apartment based on some of its features. </a:t>
                </a:r>
              </a:p>
              <a:p>
                <a:pPr marL="0" indent="0">
                  <a:buNone/>
                </a:pPr>
                <a:r>
                  <a:rPr lang="en-GB" dirty="0"/>
                  <a:t>The inputs will this time consist of two parameters: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surface</a:t>
                </a:r>
                <a:r>
                  <a:rPr lang="en-GB" dirty="0"/>
                  <a:t> of the apartment, in sqm, just like before,</a:t>
                </a:r>
              </a:p>
              <a:p>
                <a:r>
                  <a:rPr lang="en-GB" dirty="0"/>
                  <a:t>and the </a:t>
                </a:r>
                <a:r>
                  <a:rPr lang="en-GB" b="1" dirty="0"/>
                  <a:t>distance</a:t>
                </a:r>
                <a:r>
                  <a:rPr lang="en-GB" dirty="0"/>
                  <a:t> between the apartment and the closest MRT station in meters.</a:t>
                </a:r>
              </a:p>
              <a:p>
                <a:pPr marL="0" indent="0">
                  <a:buNone/>
                </a:pPr>
                <a:r>
                  <a:rPr lang="en-GB" dirty="0"/>
                  <a:t>We will generate a mock dataset by: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surfaces</a:t>
                </a:r>
                <a:r>
                  <a:rPr lang="en-GB" dirty="0"/>
                  <a:t> between 40 sqm and 200 sqm,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distances</a:t>
                </a:r>
                <a:r>
                  <a:rPr lang="en-GB" dirty="0"/>
                  <a:t> between 50 and 1000m,</a:t>
                </a:r>
              </a:p>
              <a:p>
                <a:r>
                  <a:rPr lang="en-GB" dirty="0"/>
                  <a:t>generate prices by assuming that the average price is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Finally, we will randomly apply a -/+ 10% variation on the average price to create some variance, and call that the output for a given sample.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928" t="-2300" r="-104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530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10C03-F7BD-49E2-BB80-89E354314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69" y="1756854"/>
            <a:ext cx="11752662" cy="426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11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9229FC-D397-9D8C-4B8E-7284C932F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326" y="0"/>
            <a:ext cx="63693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1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4CAA90-AC59-0D8D-3497-ACB3CFEC9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88" y="0"/>
            <a:ext cx="104286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314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51795-C01A-E1C7-17B8-EBAC40684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71" y="885470"/>
            <a:ext cx="11345858" cy="5087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/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algn="ctr"/>
                <a:r>
                  <a:rPr lang="en-GB" dirty="0"/>
                  <a:t>is actually the equation of a 2D plane in a 3D ambient space!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blipFill>
                <a:blip r:embed="rId3"/>
                <a:stretch>
                  <a:fillRect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35522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B538-E653-9290-DBC4-63400A5BA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a Neuron and a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174F8-F1BE-D6E5-016B-AE54399D1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4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Neuron</a:t>
            </a:r>
            <a:r>
              <a:rPr lang="en-GB" b="1" dirty="0"/>
              <a:t> in Neural Networks):</a:t>
            </a:r>
          </a:p>
          <a:p>
            <a:pPr marL="0" indent="0">
              <a:buNone/>
            </a:pPr>
            <a:r>
              <a:rPr lang="en-GB" dirty="0"/>
              <a:t>Each artificial neuron in a neural network might for instance be represented as a linear regression (or later on, a logistic regression) model, which receives input, applies a transformation on that input, and produces an output.</a:t>
            </a:r>
          </a:p>
          <a:p>
            <a:pPr marL="0" indent="0">
              <a:buNone/>
            </a:pPr>
            <a:r>
              <a:rPr lang="en-GB" dirty="0"/>
              <a:t>And similar to the way that biological neurons are connected and communicate with each other, artificial neurons are connected to each other, in parallel and in sequence, through a network. This neural network can be thought of as pathways for information to flow.</a:t>
            </a:r>
          </a:p>
          <a:p>
            <a:pPr marL="0" indent="0">
              <a:buNone/>
            </a:pPr>
            <a:r>
              <a:rPr lang="en-GB" dirty="0"/>
              <a:t>(Later on, we will see more advanced ways to represent neurons than linear or logistic regression.)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448092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95FE-84E8-94C7-4598-E1272BDD9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our first Neuron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E07B46-BDBF-EA2C-6EA2-2B1DD37BF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646" y="1436221"/>
            <a:ext cx="8113904" cy="521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6206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D43926C-6B91-0C8F-E5E2-B1ABBCC4C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17" y="214086"/>
            <a:ext cx="9916566" cy="626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723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76A7B-B6D2-6F67-1336-912BCD961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minimal Neural Network 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defining a minimal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In order to define a minimal neural network with only one neuron, we need two things:</a:t>
                </a:r>
              </a:p>
              <a:p>
                <a:r>
                  <a:rPr lang="en-GB" dirty="0"/>
                  <a:t>First, an </a:t>
                </a:r>
                <a:r>
                  <a:rPr lang="en-GB" b="1" dirty="0"/>
                  <a:t>__</a:t>
                </a:r>
                <a:r>
                  <a:rPr lang="en-GB" b="1" dirty="0" err="1"/>
                  <a:t>init</a:t>
                </a:r>
                <a:r>
                  <a:rPr lang="en-GB" b="1" dirty="0"/>
                  <a:t>__ method, </a:t>
                </a:r>
                <a:r>
                  <a:rPr lang="en-GB" dirty="0"/>
                  <a:t>listing the </a:t>
                </a:r>
                <a:r>
                  <a:rPr lang="en-GB" b="1" dirty="0"/>
                  <a:t>trainable</a:t>
                </a:r>
                <a:r>
                  <a:rPr lang="en-GB" dirty="0"/>
                  <a:t> </a:t>
                </a:r>
                <a:r>
                  <a:rPr lang="en-GB" b="1" dirty="0"/>
                  <a:t>parameters</a:t>
                </a:r>
                <a:r>
                  <a:rPr lang="en-GB" dirty="0"/>
                  <a:t> for the model. In our case that is a </a:t>
                </a:r>
                <a:r>
                  <a:rPr lang="en-GB" b="1" dirty="0"/>
                  <a:t>weight</a:t>
                </a:r>
                <a:r>
                  <a:rPr lang="en-GB" dirty="0"/>
                  <a:t> </a:t>
                </a:r>
                <a:r>
                  <a:rPr lang="en-GB" b="1" dirty="0"/>
                  <a:t>vector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with 2 elements and a single scalar </a:t>
                </a:r>
                <a:r>
                  <a:rPr lang="en-GB" b="1" dirty="0"/>
                  <a:t>bias</a:t>
                </a:r>
                <a:r>
                  <a:rPr lang="en-GB" dirty="0"/>
                  <a:t>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Second, a </a:t>
                </a:r>
                <a:r>
                  <a:rPr lang="en-GB" b="1" dirty="0"/>
                  <a:t>forward</a:t>
                </a:r>
                <a:r>
                  <a:rPr lang="en-GB" dirty="0"/>
                  <a:t> </a:t>
                </a:r>
                <a:r>
                  <a:rPr lang="en-GB" b="1" dirty="0"/>
                  <a:t>method</a:t>
                </a:r>
                <a:r>
                  <a:rPr lang="en-GB" dirty="0"/>
                  <a:t>, which will be used to formulate predictions for any set of given inputs. The </a:t>
                </a:r>
                <a:r>
                  <a:rPr lang="en-GB" b="1" dirty="0"/>
                  <a:t>prediction</a:t>
                </a:r>
                <a:r>
                  <a:rPr lang="en-GB" dirty="0"/>
                  <a:t> </a:t>
                </a:r>
                <a:r>
                  <a:rPr lang="en-GB" b="1" dirty="0"/>
                  <a:t>formula</a:t>
                </a:r>
                <a:r>
                  <a:rPr lang="en-GB" dirty="0"/>
                  <a:t> is simply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b="1" dirty="0"/>
                  <a:t>(For now, this single neuron is equivalent to a Linear Regression!)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09422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EA64E1-9657-6395-FB7C-E89FCA869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27" y="9331"/>
            <a:ext cx="9066623" cy="680522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2CF64B2-9992-CC32-1E47-F6BBD6C1F818}"/>
                  </a:ext>
                </a:extLst>
              </p:cNvPr>
              <p:cNvSpPr txBox="1"/>
              <p:nvPr/>
            </p:nvSpPr>
            <p:spPr>
              <a:xfrm>
                <a:off x="4735286" y="141515"/>
                <a:ext cx="7336972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b="1" dirty="0">
                    <a:solidFill>
                      <a:schemeClr val="accent2"/>
                    </a:solidFill>
                  </a:rPr>
                  <a:t>Note: </a:t>
                </a:r>
                <a:r>
                  <a:rPr lang="en-GB" sz="2400" dirty="0">
                    <a:solidFill>
                      <a:schemeClr val="accent2"/>
                    </a:solidFill>
                  </a:rPr>
                  <a:t>You might find implementations that are using </a:t>
                </a:r>
                <a14:m>
                  <m:oMath xmlns:m="http://schemas.openxmlformats.org/officeDocument/2006/math">
                    <m:r>
                      <a:rPr lang="en-GB" sz="2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𝑋𝑊</m:t>
                    </m:r>
                    <m:r>
                      <a:rPr lang="en-GB" sz="2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sz="2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sz="2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>
                    <a:solidFill>
                      <a:schemeClr val="accent2"/>
                    </a:solidFill>
                  </a:rPr>
                  <a:t>as a formula for the forward method, and some implementations that at using </a:t>
                </a:r>
                <a14:m>
                  <m:oMath xmlns:m="http://schemas.openxmlformats.org/officeDocument/2006/math">
                    <m:r>
                      <a:rPr lang="fr-FR" sz="2400" b="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𝑊</m:t>
                    </m:r>
                    <m:sSup>
                      <m:sSupPr>
                        <m:ctrlPr>
                          <a:rPr lang="fr-FR" sz="2400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fr-FR" sz="2400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GB" sz="2400" i="1" dirty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sz="2400" i="1" dirty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sz="2400" dirty="0">
                    <a:solidFill>
                      <a:schemeClr val="accent2"/>
                    </a:solidFill>
                  </a:rPr>
                  <a:t> instead. Sometimes even omitting the “transpose” and using </a:t>
                </a:r>
                <a14:m>
                  <m:oMath xmlns:m="http://schemas.openxmlformats.org/officeDocument/2006/math">
                    <m:r>
                      <a:rPr lang="fr-FR" sz="2400" b="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𝑊𝑋</m:t>
                    </m:r>
                    <m:r>
                      <a:rPr lang="en-GB" sz="2400" i="1" dirty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sz="2400" i="1" dirty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sz="2400" dirty="0">
                    <a:solidFill>
                      <a:schemeClr val="accent2"/>
                    </a:solidFill>
                  </a:rPr>
                  <a:t>. This is roughly equivalent. What matters is that you are aware of the correct sizes for the different matrices and how to combine correctly.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2CF64B2-9992-CC32-1E47-F6BBD6C1F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5286" y="141515"/>
                <a:ext cx="7336972" cy="2677656"/>
              </a:xfrm>
              <a:prstGeom prst="rect">
                <a:avLst/>
              </a:prstGeom>
              <a:blipFill>
                <a:blip r:embed="rId3"/>
                <a:stretch>
                  <a:fillRect l="-1330" t="-1822" r="-1579" b="-43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779E1D5-21DF-C3A8-7C9A-55A915353BBF}"/>
              </a:ext>
            </a:extLst>
          </p:cNvPr>
          <p:cNvSpPr/>
          <p:nvPr/>
        </p:nvSpPr>
        <p:spPr>
          <a:xfrm>
            <a:off x="1208317" y="1861458"/>
            <a:ext cx="3243943" cy="935942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25518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FCDDC-F493-891C-2E09-5E83E3281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D6F20-0ADA-E25F-255A-06B421904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takes care of the </a:t>
            </a:r>
            <a:r>
              <a:rPr lang="en-GB" b="1" dirty="0"/>
              <a:t>first</a:t>
            </a:r>
            <a:r>
              <a:rPr lang="en-GB" dirty="0"/>
              <a:t> </a:t>
            </a:r>
            <a:r>
              <a:rPr lang="en-GB" b="1" dirty="0"/>
              <a:t>three</a:t>
            </a:r>
            <a:r>
              <a:rPr lang="en-GB" dirty="0"/>
              <a:t> </a:t>
            </a:r>
            <a:r>
              <a:rPr lang="en-GB" b="1" dirty="0"/>
              <a:t>elements</a:t>
            </a:r>
            <a:r>
              <a:rPr lang="en-GB" dirty="0"/>
              <a:t> of a machine learning problem (task, dataset, model).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/>
              <a:t>fourth</a:t>
            </a:r>
            <a:r>
              <a:rPr lang="en-GB" dirty="0"/>
              <a:t> element we need to define is a </a:t>
            </a:r>
            <a:r>
              <a:rPr lang="en-GB" b="1" dirty="0"/>
              <a:t>loss</a:t>
            </a:r>
            <a:r>
              <a:rPr lang="en-GB" dirty="0"/>
              <a:t> </a:t>
            </a:r>
            <a:r>
              <a:rPr lang="en-GB" b="1" dirty="0"/>
              <a:t>function</a:t>
            </a:r>
            <a:r>
              <a:rPr lang="en-GB" dirty="0"/>
              <a:t>.</a:t>
            </a:r>
          </a:p>
          <a:p>
            <a:r>
              <a:rPr lang="en-GB" dirty="0"/>
              <a:t>As this is a regression task, we can reuse the </a:t>
            </a:r>
            <a:r>
              <a:rPr lang="en-GB" b="1" dirty="0"/>
              <a:t>MSE</a:t>
            </a:r>
            <a:r>
              <a:rPr lang="en-GB" dirty="0"/>
              <a:t> </a:t>
            </a:r>
            <a:r>
              <a:rPr lang="en-GB" b="1" dirty="0"/>
              <a:t>loss</a:t>
            </a:r>
            <a:r>
              <a:rPr lang="en-GB" dirty="0"/>
              <a:t> and add this MSE loss function as a method to our class.</a:t>
            </a:r>
          </a:p>
          <a:p>
            <a:r>
              <a:rPr lang="en-GB" dirty="0"/>
              <a:t>For convenience, we will compute the MSE loss in in matrix form.</a:t>
            </a:r>
          </a:p>
          <a:p>
            <a:r>
              <a:rPr lang="en-GB" dirty="0"/>
              <a:t>We will also reuse the </a:t>
            </a:r>
            <a:r>
              <a:rPr lang="en-GB" b="1" dirty="0"/>
              <a:t>forward()</a:t>
            </a:r>
            <a:r>
              <a:rPr lang="en-GB" dirty="0"/>
              <a:t> method we just coded to make predictions and then compared said predictions with the expected outputs from our dataset.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691783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4332CD-4029-25C5-BAAD-7B2AC3A2F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933" y="1700845"/>
            <a:ext cx="8662133" cy="515715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1E37038-764C-E08B-C9DF-A2C602A75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42605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302F-B7B2-26CD-EB4B-FB867D53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parameters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Technically, our Neural Network could operate with any number of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SG" dirty="0"/>
                  <a:t> and any number of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pPr marL="0" indent="0">
                  <a:buNone/>
                </a:pPr>
                <a:r>
                  <a:rPr lang="en-SG" dirty="0"/>
                  <a:t>We would simply need to adjust the sizes of the matrices of parameters: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SG" dirty="0"/>
                  <a:t>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matrix,</a:t>
                </a:r>
              </a:p>
              <a:p>
                <a:r>
                  <a:rPr lang="en-SG" dirty="0"/>
                  <a:t>B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vector.</a:t>
                </a:r>
              </a:p>
              <a:p>
                <a:pPr marL="0" indent="0">
                  <a:buNone/>
                </a:pPr>
                <a:r>
                  <a:rPr lang="en-SG" b="1" dirty="0"/>
                  <a:t>Note: </a:t>
                </a:r>
                <a:r>
                  <a:rPr lang="en-SG" dirty="0"/>
                  <a:t>This would be equivalent to having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neurons, each receiving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inputs, and each producing one output to be assembled as the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SG" dirty="0"/>
                  <a:t> vector.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  <a:blipFill>
                <a:blip r:embed="rId2"/>
                <a:stretch>
                  <a:fillRect l="-2149" t="-1939" r="-1331" b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8F2326B-03D1-DF9D-6987-ED6387320DA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" r="36786" b="5509"/>
          <a:stretch/>
        </p:blipFill>
        <p:spPr>
          <a:xfrm>
            <a:off x="6766229" y="2220686"/>
            <a:ext cx="5335574" cy="427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556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Shallow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Following the logic of our </a:t>
                </a:r>
                <a:r>
                  <a:rPr lang="en-GB" dirty="0" err="1"/>
                  <a:t>SimpleNeuralNet</a:t>
                </a:r>
                <a:r>
                  <a:rPr lang="en-GB" dirty="0"/>
                  <a:t>, we could implement a Shallow Neural Network. </a:t>
                </a:r>
                <a:r>
                  <a:rPr lang="en-GB" b="1" dirty="0"/>
                  <a:t>It will include two processing layers of neurons in a row, instead of just one, and each layer will be implementing its own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𝑾𝑿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operation of some sort.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  <a:blipFill>
                <a:blip r:embed="rId2"/>
                <a:stretch>
                  <a:fillRect l="-1155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7950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p:pic>
        <p:nvPicPr>
          <p:cNvPr id="5" name="Picture 4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3A249C4A-540E-C08B-C488-FBA4BB21F1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942392" y="1418065"/>
            <a:ext cx="10596465" cy="532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305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first layer, will receive inputs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produce outputs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therefore be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and 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a simple 1D vector with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2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B97E64B7-D9ED-1D29-975E-180DEE91C71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9488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second layer, also called </a:t>
                </a:r>
                <a:r>
                  <a:rPr lang="en-GB" b="1" dirty="0"/>
                  <a:t>hidden</a:t>
                </a:r>
                <a:r>
                  <a:rPr lang="en-GB" dirty="0"/>
                  <a:t> </a:t>
                </a:r>
                <a:r>
                  <a:rPr lang="en-GB" b="1" dirty="0"/>
                  <a:t>layer</a:t>
                </a:r>
                <a:r>
                  <a:rPr lang="en-GB" dirty="0"/>
                  <a:t>, will receive the outputs from the previous layer with dimensionality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use them as inputs and will produce outputs matching the dimensionality of the outputs in our dataset,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be 2D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,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1D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  <a:endParaRPr lang="en-SG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  <a:blipFill>
                <a:blip r:embed="rId2"/>
                <a:stretch>
                  <a:fillRect l="-1147" t="-1937" r="-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9858A74A-F7A1-E3E0-849D-D0E3929A33E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45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123BC0-70CA-3C75-E622-ABD557DA9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911" y="661481"/>
            <a:ext cx="6800137" cy="594455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182A473B-52F1-F6BE-BDF1-62FD170B5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NN class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Small changes:</a:t>
                </a:r>
              </a:p>
              <a:p>
                <a:r>
                  <a:rPr lang="en-GB" dirty="0"/>
                  <a:t>Weights and biases</a:t>
                </a:r>
                <a:br>
                  <a:rPr lang="en-GB" dirty="0"/>
                </a:br>
                <a:r>
                  <a:rPr lang="en-GB" dirty="0"/>
                  <a:t>are now </a:t>
                </a:r>
                <a:r>
                  <a:rPr lang="en-GB" b="1" dirty="0"/>
                  <a:t>randomly</a:t>
                </a:r>
                <a:r>
                  <a:rPr lang="en-GB" dirty="0"/>
                  <a:t> </a:t>
                </a:r>
                <a:r>
                  <a:rPr lang="en-GB" b="1" dirty="0"/>
                  <a:t>generated</a:t>
                </a:r>
                <a:r>
                  <a:rPr lang="en-GB" dirty="0"/>
                  <a:t>, instead of being passed to the </a:t>
                </a:r>
                <a:r>
                  <a:rPr lang="en-GB" dirty="0" err="1"/>
                  <a:t>init</a:t>
                </a:r>
                <a:r>
                  <a:rPr lang="en-GB" dirty="0"/>
                  <a:t> method.</a:t>
                </a:r>
              </a:p>
              <a:p>
                <a:r>
                  <a:rPr lang="en-GB" dirty="0"/>
                  <a:t>We pass the </a:t>
                </a:r>
                <a:r>
                  <a:rPr lang="en-GB" b="1" dirty="0"/>
                  <a:t>expected</a:t>
                </a:r>
                <a:r>
                  <a:rPr lang="en-GB" dirty="0"/>
                  <a:t> </a:t>
                </a:r>
                <a:r>
                  <a:rPr lang="en-GB" b="1" dirty="0"/>
                  <a:t>sizes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instead.</a:t>
                </a:r>
              </a:p>
              <a:p>
                <a:r>
                  <a:rPr lang="en-SG" b="1" dirty="0"/>
                  <a:t>And initialize</a:t>
                </a:r>
                <a:r>
                  <a:rPr lang="en-SG" dirty="0"/>
                  <a:t> </a:t>
                </a:r>
                <a:r>
                  <a:rPr lang="en-SG" b="1" dirty="0"/>
                  <a:t>parameters matrices</a:t>
                </a:r>
                <a:r>
                  <a:rPr lang="en-SG" dirty="0"/>
                  <a:t> </a:t>
                </a:r>
                <a:r>
                  <a:rPr lang="en-SG" b="1" dirty="0"/>
                  <a:t>as normal random with zero mean and variance 0.1.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  <a:blipFill>
                <a:blip r:embed="rId3"/>
                <a:stretch>
                  <a:fillRect l="-2763" t="-1973" r="-6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6094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BDD955-8C6C-6B79-E4D7-D77E989D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15" y="277012"/>
            <a:ext cx="11488753" cy="2724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78550A-E6DE-7CC0-7837-FC2B1D24A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499" y="3001542"/>
            <a:ext cx="4191585" cy="3734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2B0F04-E003-8681-9F9A-699B20E26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343" y="5347243"/>
            <a:ext cx="5058481" cy="962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3CD9CC-3DB1-E108-6A9D-978D92CBFE28}"/>
              </a:ext>
            </a:extLst>
          </p:cNvPr>
          <p:cNvSpPr txBox="1"/>
          <p:nvPr/>
        </p:nvSpPr>
        <p:spPr>
          <a:xfrm>
            <a:off x="7041662" y="3219938"/>
            <a:ext cx="515033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2400" dirty="0">
                <a:solidFill>
                  <a:srgbClr val="00B050"/>
                </a:solidFill>
              </a:rPr>
              <a:t>Initialize model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chemeClr val="accent2"/>
                </a:solidFill>
              </a:rPr>
              <a:t>Forward to predict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rgbClr val="7030A0"/>
                </a:solidFill>
              </a:rPr>
              <a:t>Compute loss to evaluate model</a:t>
            </a:r>
            <a:br>
              <a:rPr lang="en-GB" sz="2400" dirty="0">
                <a:solidFill>
                  <a:srgbClr val="7030A0"/>
                </a:solidFill>
              </a:rPr>
            </a:br>
            <a:r>
              <a:rPr lang="en-GB" sz="2400" dirty="0">
                <a:solidFill>
                  <a:srgbClr val="7030A0"/>
                </a:solidFill>
              </a:rPr>
              <a:t>(it is bad, because trainable parameters have random values!)</a:t>
            </a:r>
            <a:endParaRPr lang="en-SG" sz="2400" dirty="0">
              <a:solidFill>
                <a:srgbClr val="7030A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4E9A37-A7F7-360B-952C-B89423628496}"/>
              </a:ext>
            </a:extLst>
          </p:cNvPr>
          <p:cNvCxnSpPr>
            <a:cxnSpLocks/>
          </p:cNvCxnSpPr>
          <p:nvPr/>
        </p:nvCxnSpPr>
        <p:spPr>
          <a:xfrm flipH="1">
            <a:off x="7053384" y="4483510"/>
            <a:ext cx="332154" cy="84962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E292570-28B5-65D3-67EE-A694DF11DD12}"/>
              </a:ext>
            </a:extLst>
          </p:cNvPr>
          <p:cNvCxnSpPr>
            <a:cxnSpLocks/>
          </p:cNvCxnSpPr>
          <p:nvPr/>
        </p:nvCxnSpPr>
        <p:spPr>
          <a:xfrm flipH="1" flipV="1">
            <a:off x="4079631" y="3751385"/>
            <a:ext cx="2962031" cy="10507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1A0F1C2-C1CE-6209-2479-EE59FD4158C5}"/>
              </a:ext>
            </a:extLst>
          </p:cNvPr>
          <p:cNvCxnSpPr>
            <a:cxnSpLocks/>
          </p:cNvCxnSpPr>
          <p:nvPr/>
        </p:nvCxnSpPr>
        <p:spPr>
          <a:xfrm flipH="1" flipV="1">
            <a:off x="6346092" y="2247628"/>
            <a:ext cx="1039446" cy="97231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19828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13842-7F62-CF52-EA5A-6F60E0A45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training procedure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8A6B828-D9CD-5DA9-3D1E-6F24E022D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At the moment, we have coded a model that can initialize trainable parameters randomly, formulate predictions and evaluate its own performance.</a:t>
            </a:r>
          </a:p>
          <a:p>
            <a:r>
              <a:rPr lang="en-GB" dirty="0"/>
              <a:t>It is great, but the current models are garbage in terms of loss values. We can only try a few different initialization and pray the RNG gods to give us trainable parameters with a good loss.</a:t>
            </a:r>
          </a:p>
          <a:p>
            <a:r>
              <a:rPr lang="en-GB" b="1" dirty="0"/>
              <a:t>We need a training procedure!</a:t>
            </a:r>
          </a:p>
          <a:p>
            <a:r>
              <a:rPr lang="en-GB" b="1" dirty="0"/>
              <a:t>What could it be…?</a:t>
            </a: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C78C1D-9A19-BD60-AD2B-0ACC41A2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688" y="4455811"/>
            <a:ext cx="6133804" cy="23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9476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1464-B2B5-4EE7-DEF2-910D29FE3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dirty="0">
                <a:solidFill>
                  <a:srgbClr val="7030A0"/>
                </a:solidFill>
              </a:rPr>
              <a:t>gradient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b="1" dirty="0">
                <a:solidFill>
                  <a:srgbClr val="7030A0"/>
                </a:solidFill>
              </a:rPr>
              <a:t>descent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dirty="0"/>
              <a:t>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C10190-FF3B-624E-DD3E-30221ED6B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9313" y="1420427"/>
            <a:ext cx="4234487" cy="536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13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Backpropagation will tell our model </a:t>
                </a:r>
                <a:r>
                  <a:rPr lang="en-GB" b="1" dirty="0"/>
                  <a:t>how</a:t>
                </a:r>
                <a:r>
                  <a:rPr lang="en-GB" dirty="0"/>
                  <a:t> </a:t>
                </a:r>
                <a:r>
                  <a:rPr lang="en-GB" b="1" dirty="0"/>
                  <a:t>to</a:t>
                </a:r>
                <a:r>
                  <a:rPr lang="en-GB" dirty="0"/>
                  <a:t> </a:t>
                </a:r>
                <a:r>
                  <a:rPr lang="en-GB" b="1" dirty="0"/>
                  <a:t>adjust</a:t>
                </a:r>
                <a:r>
                  <a:rPr lang="en-GB" dirty="0"/>
                  <a:t> the values of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matrices in each layer, to improve the neural network model loss and prediction capabilities.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It will be implemented in the </a:t>
                </a:r>
                <a:r>
                  <a:rPr lang="en-GB" b="1" dirty="0"/>
                  <a:t>backward()</a:t>
                </a:r>
                <a:r>
                  <a:rPr lang="en-GB" dirty="0"/>
                  <a:t> method of our model.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  <a:blipFill>
                <a:blip r:embed="rId2"/>
                <a:stretch>
                  <a:fillRect l="-2966" t="-1937" r="-43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EFEA9E2-AE7C-23F8-DA29-FB5939F4F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dirty="0">
                <a:solidFill>
                  <a:srgbClr val="7030A0"/>
                </a:solidFill>
              </a:rPr>
              <a:t>gradient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b="1" dirty="0">
                <a:solidFill>
                  <a:srgbClr val="7030A0"/>
                </a:solidFill>
              </a:rPr>
              <a:t>descent</a:t>
            </a:r>
            <a:r>
              <a:rPr lang="en-GB" dirty="0">
                <a:solidFill>
                  <a:srgbClr val="7030A0"/>
                </a:solidFill>
              </a:rPr>
              <a:t> </a:t>
            </a:r>
            <a:r>
              <a:rPr lang="en-GB" dirty="0"/>
              <a:t>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54190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calculate and implement…</a:t>
            </a:r>
            <a:br>
              <a:rPr lang="en-GB" sz="4400"/>
            </a:br>
            <a:r>
              <a:rPr lang="en-GB" sz="4400"/>
              <a:t>Strongly </a:t>
            </a:r>
            <a:r>
              <a:rPr lang="en-GB" sz="4400" dirty="0"/>
              <a:t>encouraging to try and redo the math/implementation shown hereafter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670766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b="0" dirty="0"/>
                  <a:t>While our Neural Network seems to be complicated in its architecture, at the end of the day, training it consists of solving a</a:t>
                </a:r>
                <a:r>
                  <a:rPr lang="en-GB" dirty="0"/>
                  <a:t> basic</a:t>
                </a:r>
                <a:r>
                  <a:rPr lang="en-GB" b="0" dirty="0"/>
                  <a:t> </a:t>
                </a:r>
                <a:r>
                  <a:rPr lang="en-GB" b="1" dirty="0"/>
                  <a:t>optimization</a:t>
                </a:r>
                <a:r>
                  <a:rPr lang="en-GB" b="0" dirty="0"/>
                  <a:t> </a:t>
                </a:r>
                <a:r>
                  <a:rPr lang="en-GB" b="1" dirty="0"/>
                  <a:t>problem</a:t>
                </a:r>
                <a:r>
                  <a:rPr lang="en-GB" b="0" dirty="0"/>
                  <a:t>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With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GB" dirty="0"/>
                  <a:t> being the number of samples in the dataset. We will use </a:t>
                </a:r>
                <a:r>
                  <a:rPr lang="en-GB" b="1" dirty="0"/>
                  <a:t>gradient</a:t>
                </a:r>
                <a:r>
                  <a:rPr lang="en-GB" dirty="0"/>
                  <a:t> </a:t>
                </a:r>
                <a:r>
                  <a:rPr lang="en-GB" b="1" dirty="0"/>
                  <a:t>descent</a:t>
                </a:r>
                <a:r>
                  <a:rPr lang="en-GB" dirty="0"/>
                  <a:t>, like we did for the Linear Regression, except that this time we have 4 parameters being matrices and a loss function that is a bit more complex.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816" r="-12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7093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continue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0" dirty="0"/>
                  <a:t>Before we continue, a quick note about square matrices.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The notation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 is somewhat abusive when A is a matrix, the correct way would be to write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.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But in the formula above, that would lead to a very large formula (too large for slides!)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0210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Let us denote </a:t>
                </a:r>
                <a:r>
                  <a:rPr lang="en-GB" dirty="0"/>
                  <a:t>the error term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Using the chain rule, we can simply compute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GB" dirty="0"/>
                  <a:t>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7411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Since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then defined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1657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We have just computed the formula for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which was defined as: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Similarly, we can define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as: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41707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Similarly,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𝐴𝑛𝑑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 therefore,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0161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7ACE-8066-4F00-7999-D0BC3EE9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Now that we have all update rules…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We have figured the four update rules to use for backpropagation…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GB" dirty="0"/>
                </a:br>
                <a:endParaRPr lang="en-GB" dirty="0"/>
              </a:p>
              <a:p>
                <a:pPr marL="0" indent="0" algn="ctr">
                  <a:buNone/>
                </a:pPr>
                <a:br>
                  <a:rPr lang="en-GB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24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3752D9-2428-B51F-D3E0-47A60E663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691554" cy="50323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Now it is about implementing two additional methods for our Neural Network class: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Backward method:</a:t>
            </a:r>
            <a:r>
              <a:rPr lang="en-GB" dirty="0"/>
              <a:t> It performs the calculation of gradients, in matrix form, and parameters adjustments using the gradient descent update rules shown on the left.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Trainer method: </a:t>
            </a:r>
            <a:r>
              <a:rPr lang="en-GB" dirty="0"/>
              <a:t>It repeats the backward method, reusing the gradient descent for-loop function from earlier in Notebook 2, until a maximal number of iterations is reached or convergence is seen.</a:t>
            </a:r>
          </a:p>
        </p:txBody>
      </p:sp>
    </p:spTree>
    <p:extLst>
      <p:ext uri="{BB962C8B-B14F-4D97-AF65-F5344CB8AC3E}">
        <p14:creationId xmlns:p14="http://schemas.microsoft.com/office/powerpoint/2010/main" val="38385734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/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32513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4117B4-9943-53F6-ED9D-46E8346E5B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956"/>
          <a:stretch/>
        </p:blipFill>
        <p:spPr>
          <a:xfrm>
            <a:off x="4908054" y="1754636"/>
            <a:ext cx="7272188" cy="4667901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  <a:blipFill>
                <a:blip r:embed="rId3"/>
                <a:stretch>
                  <a:fillRect l="-2857" t="-19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4142154"/>
            <a:ext cx="6510216" cy="155526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02241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  <a:blipFill>
                <a:blip r:embed="rId2"/>
                <a:stretch>
                  <a:fillRect l="-285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EA09EC47-53EC-0757-D626-25F76A43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053"/>
          <a:stretch/>
        </p:blipFill>
        <p:spPr>
          <a:xfrm>
            <a:off x="5322276" y="1867831"/>
            <a:ext cx="6869723" cy="382958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2602524"/>
            <a:ext cx="6510216" cy="82647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C23481-5FCE-ADF6-1072-441B81A61296}"/>
              </a:ext>
            </a:extLst>
          </p:cNvPr>
          <p:cNvSpPr/>
          <p:nvPr/>
        </p:nvSpPr>
        <p:spPr>
          <a:xfrm>
            <a:off x="5251938" y="3540369"/>
            <a:ext cx="6510216" cy="1297354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55761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Effect of the backpropagation</a:t>
                </a:r>
              </a:p>
              <a:p>
                <a:r>
                  <a:rPr lang="en-GB" dirty="0"/>
                  <a:t>Every time we call the backward() method, our model will update its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After every call of backward(), our model seems to become better at the task in question, shown by improvements in loss values.</a:t>
                </a:r>
              </a:p>
              <a:p>
                <a:r>
                  <a:rPr lang="en-GB" dirty="0"/>
                  <a:t>This can be seen by looking at the loss values decreasing after each iteration of the backward() method.</a:t>
                </a:r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  <a:blipFill>
                <a:blip r:embed="rId2"/>
                <a:stretch>
                  <a:fillRect l="-2251" t="-1937" r="-2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414E21-5814-E30A-0474-771DE2E61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240" y="1195635"/>
            <a:ext cx="5353797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1691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 (reminder).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1931465"/>
              </p:ext>
            </p:extLst>
          </p:nvPr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2DABBCF-853A-F78E-B5E6-9851A9319DB0}"/>
              </a:ext>
            </a:extLst>
          </p:cNvPr>
          <p:cNvSpPr txBox="1"/>
          <p:nvPr/>
        </p:nvSpPr>
        <p:spPr>
          <a:xfrm>
            <a:off x="7236542" y="2083979"/>
            <a:ext cx="1415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15A2-7E87-E209-2081-6974AE7A2A70}"/>
              </a:ext>
            </a:extLst>
          </p:cNvPr>
          <p:cNvSpPr txBox="1"/>
          <p:nvPr/>
        </p:nvSpPr>
        <p:spPr>
          <a:xfrm>
            <a:off x="9020561" y="5104026"/>
            <a:ext cx="1469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B8996-183E-C7D3-C2BD-85890F670A0F}"/>
              </a:ext>
            </a:extLst>
          </p:cNvPr>
          <p:cNvSpPr txBox="1"/>
          <p:nvPr/>
        </p:nvSpPr>
        <p:spPr>
          <a:xfrm>
            <a:off x="3810000" y="6169954"/>
            <a:ext cx="1179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Next!</a:t>
            </a:r>
          </a:p>
        </p:txBody>
      </p:sp>
    </p:spTree>
    <p:extLst>
      <p:ext uri="{BB962C8B-B14F-4D97-AF65-F5344CB8AC3E}">
        <p14:creationId xmlns:p14="http://schemas.microsoft.com/office/powerpoint/2010/main" val="17302522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75BA27BA-A00B-0FCE-0582-78B6656F33F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SG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C36A3827-979C-6ACF-D7C4-9F6B61648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5BB952A-D02B-AB55-6062-2A9EE5E7F4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00"/>
          <a:stretch/>
        </p:blipFill>
        <p:spPr>
          <a:xfrm>
            <a:off x="5240282" y="1574398"/>
            <a:ext cx="6829951" cy="50967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2" y="1825624"/>
                <a:ext cx="4785249" cy="494555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Train function implementation</a:t>
                </a:r>
              </a:p>
              <a:p>
                <a:r>
                  <a:rPr lang="en-GB" dirty="0"/>
                  <a:t>Iterate the backward() method for a number of iterations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i="1" dirty="0" smtClean="0">
                            <a:latin typeface="Cambria Math" panose="02040503050406030204" pitchFamily="18" charset="0"/>
                          </a:rPr>
                          <m:t>ma</m:t>
                        </m:r>
                        <m:r>
                          <m:rPr>
                            <m:sty m:val="p"/>
                          </m:rPr>
                          <a:rPr lang="en-GB" i="1" dirty="0" err="1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r>
                  <a:rPr lang="en-SG" dirty="0"/>
                  <a:t>Display new loss values and append them in a list for display.</a:t>
                </a:r>
              </a:p>
              <a:p>
                <a:r>
                  <a:rPr lang="en-SG" dirty="0"/>
                  <a:t>Also implemented an early stopping, which will break for loop if little to no change in parameters during an iteration of backward().</a:t>
                </a:r>
              </a:p>
              <a:p>
                <a:r>
                  <a:rPr lang="en-SG" dirty="0"/>
                  <a:t>Similar to GD in Notebook 2!</a:t>
                </a:r>
              </a:p>
            </p:txBody>
          </p:sp>
        </mc:Choice>
        <mc:Fallback xmlns="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2" y="1825624"/>
                <a:ext cx="4785249" cy="4945553"/>
              </a:xfrm>
              <a:blipFill>
                <a:blip r:embed="rId3"/>
                <a:stretch>
                  <a:fillRect l="-2293" t="-1847" r="-15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1871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73E8C8-D9B8-0CFB-D144-4318B5BEF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08" y="1693454"/>
            <a:ext cx="11978764" cy="457448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88A7AC-899E-B788-34CD-EBC34917E865}"/>
              </a:ext>
            </a:extLst>
          </p:cNvPr>
          <p:cNvSpPr txBox="1">
            <a:spLocks/>
          </p:cNvSpPr>
          <p:nvPr/>
        </p:nvSpPr>
        <p:spPr>
          <a:xfrm flipH="1">
            <a:off x="4946682" y="2831689"/>
            <a:ext cx="6773369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Successful training as losses are decreasing over iterations?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48793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0BC5D3-5690-1CC7-4476-5F4D434E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curve below is called a </a:t>
            </a:r>
            <a:r>
              <a:rPr lang="en-GB" b="1" dirty="0"/>
              <a:t>training curve</a:t>
            </a:r>
            <a:r>
              <a:rPr lang="en-GB" dirty="0"/>
              <a:t>, it is useful to show how the training went (make an extra viz method to be used after training?).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78ADEC-B29A-5E01-25E5-5D154C757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000"/>
          <a:stretch/>
        </p:blipFill>
        <p:spPr>
          <a:xfrm>
            <a:off x="435199" y="2747847"/>
            <a:ext cx="5660802" cy="41101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97B373-35AF-E358-C817-5CD737AE27B9}"/>
              </a:ext>
            </a:extLst>
          </p:cNvPr>
          <p:cNvSpPr txBox="1">
            <a:spLocks/>
          </p:cNvSpPr>
          <p:nvPr/>
        </p:nvSpPr>
        <p:spPr>
          <a:xfrm flipH="1">
            <a:off x="6744928" y="3128160"/>
            <a:ext cx="5011871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Loss has decreased and </a:t>
            </a:r>
            <a:r>
              <a:rPr lang="en-GB" sz="3600" b="1">
                <a:solidFill>
                  <a:schemeClr val="accent2"/>
                </a:solidFill>
              </a:rPr>
              <a:t>converged.</a:t>
            </a:r>
          </a:p>
          <a:p>
            <a:r>
              <a:rPr lang="en-GB" sz="3600" b="1">
                <a:solidFill>
                  <a:schemeClr val="accent2"/>
                </a:solidFill>
              </a:rPr>
              <a:t>Confirmed </a:t>
            </a:r>
            <a:r>
              <a:rPr lang="en-GB" sz="3600" b="1" dirty="0">
                <a:solidFill>
                  <a:schemeClr val="accent2"/>
                </a:solidFill>
              </a:rPr>
              <a:t>training?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28782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B51D0-3157-BB55-3D73-2FB657EE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273" y="365125"/>
            <a:ext cx="4012163" cy="6203626"/>
          </a:xfrm>
        </p:spPr>
        <p:txBody>
          <a:bodyPr>
            <a:normAutofit/>
          </a:bodyPr>
          <a:lstStyle/>
          <a:p>
            <a:r>
              <a:rPr lang="en-GB" dirty="0"/>
              <a:t>Finally, we will make the trainer function and the performance curves function into methods for our class.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BACBEC-BCD7-CC8D-3FB8-E80788F6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437" y="459804"/>
            <a:ext cx="7974563" cy="639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2892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calculate and implement…</a:t>
            </a:r>
            <a:br>
              <a:rPr lang="en-GB" sz="4400" dirty="0"/>
            </a:br>
            <a:r>
              <a:rPr lang="en-GB" sz="4400" dirty="0"/>
              <a:t>Strongly encouraging to try and redo the math/implementation shown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1968885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  <a:r>
              <a:rPr lang="en-US"/>
              <a:t>(Week 1</a:t>
            </a:r>
            <a:r>
              <a:rPr lang="en-US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US" dirty="0"/>
              <a:t>Reminders of Machine Learning</a:t>
            </a:r>
          </a:p>
          <a:p>
            <a:r>
              <a:rPr lang="en-US" dirty="0"/>
              <a:t>Linear</a:t>
            </a:r>
          </a:p>
          <a:p>
            <a:r>
              <a:rPr lang="en-US" dirty="0"/>
              <a:t>Using a normal equation to train a linear regression</a:t>
            </a:r>
          </a:p>
          <a:p>
            <a:r>
              <a:rPr lang="en-US" dirty="0"/>
              <a:t>Gradient descent as a training procedure for linear regression</a:t>
            </a:r>
          </a:p>
          <a:p>
            <a:r>
              <a:rPr lang="en-US" dirty="0"/>
              <a:t>Polynomial Regression</a:t>
            </a:r>
          </a:p>
          <a:p>
            <a:r>
              <a:rPr lang="en-US" dirty="0"/>
              <a:t>Regularization in Ridge/Lasso Regression</a:t>
            </a:r>
          </a:p>
          <a:p>
            <a:r>
              <a:rPr lang="en-US" dirty="0"/>
              <a:t>Train-test split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US" dirty="0"/>
              <a:t>Overfitting and underfitting</a:t>
            </a:r>
          </a:p>
          <a:p>
            <a:r>
              <a:rPr lang="en-GB" dirty="0"/>
              <a:t>Generalization</a:t>
            </a:r>
          </a:p>
          <a:p>
            <a:r>
              <a:rPr lang="en-GB" dirty="0"/>
              <a:t>Sigmoid and Logistic functions</a:t>
            </a:r>
          </a:p>
          <a:p>
            <a:r>
              <a:rPr lang="en-GB" dirty="0"/>
              <a:t>From linear regression to logistic regression</a:t>
            </a:r>
          </a:p>
          <a:p>
            <a:r>
              <a:rPr lang="en-GB" dirty="0"/>
              <a:t>Using logistic regression for binary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42347452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GB" dirty="0"/>
              <a:t>Implementing a shallow neural network in </a:t>
            </a:r>
            <a:r>
              <a:rPr lang="en-GB" dirty="0" err="1"/>
              <a:t>Numpy</a:t>
            </a:r>
            <a:endParaRPr lang="en-GB" dirty="0"/>
          </a:p>
          <a:p>
            <a:r>
              <a:rPr lang="en-GB" dirty="0"/>
              <a:t>Forward propagation method, to formulate predictions</a:t>
            </a:r>
          </a:p>
          <a:p>
            <a:r>
              <a:rPr lang="en-GB" dirty="0"/>
              <a:t>The backpropagation mechanism, as the gradient descent on Neural Network</a:t>
            </a:r>
          </a:p>
          <a:p>
            <a:r>
              <a:rPr lang="en-GB" dirty="0"/>
              <a:t>Backward method for training and trainer functions to iterate backward iterations</a:t>
            </a:r>
          </a:p>
          <a:p>
            <a:r>
              <a:rPr lang="en-GB" dirty="0"/>
              <a:t>Performance/training curves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Next week?</a:t>
            </a:r>
            <a:endParaRPr lang="en-GB" dirty="0"/>
          </a:p>
          <a:p>
            <a:r>
              <a:rPr lang="en-GB" dirty="0"/>
              <a:t>Initializations to break symmetries</a:t>
            </a:r>
          </a:p>
          <a:p>
            <a:r>
              <a:rPr lang="en-GB" dirty="0"/>
              <a:t>Exploding and vanishing gradients</a:t>
            </a:r>
          </a:p>
          <a:p>
            <a:r>
              <a:rPr lang="en-GB" dirty="0"/>
              <a:t>Activation functions and non-linearities in Neural Networks</a:t>
            </a:r>
          </a:p>
          <a:p>
            <a:r>
              <a:rPr lang="en-GB" dirty="0"/>
              <a:t>Advanced optimizers</a:t>
            </a:r>
          </a:p>
          <a:p>
            <a:r>
              <a:rPr lang="en-GB" dirty="0"/>
              <a:t>Validation sets, early stopping, saver and loader functions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60814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supporting papers, for those of you who are curious.</a:t>
            </a:r>
          </a:p>
          <a:p>
            <a:r>
              <a:rPr lang="en-GB" dirty="0"/>
              <a:t>[Géron2019] A. </a:t>
            </a:r>
            <a:r>
              <a:rPr lang="en-GB" dirty="0" err="1"/>
              <a:t>Géron</a:t>
            </a:r>
            <a:r>
              <a:rPr lang="en-GB" dirty="0"/>
              <a:t> , “How Neural Networks Work”, 2019.</a:t>
            </a:r>
          </a:p>
          <a:p>
            <a:r>
              <a:rPr lang="en-GB" dirty="0"/>
              <a:t>[Yamins2016] </a:t>
            </a:r>
            <a:r>
              <a:rPr lang="en-GB" dirty="0" err="1"/>
              <a:t>Yamins</a:t>
            </a:r>
            <a:r>
              <a:rPr lang="en-GB" dirty="0"/>
              <a:t> et al., “Deep neural networks are robust computational models of the human visual system”, 2016.</a:t>
            </a:r>
          </a:p>
          <a:p>
            <a:r>
              <a:rPr lang="en-GB" dirty="0"/>
              <a:t>[Kriegeskorte2013] </a:t>
            </a:r>
            <a:r>
              <a:rPr lang="en-GB" dirty="0" err="1"/>
              <a:t>Kriegeskorte</a:t>
            </a:r>
            <a:r>
              <a:rPr lang="en-GB" dirty="0"/>
              <a:t> and </a:t>
            </a:r>
            <a:r>
              <a:rPr lang="en-GB" dirty="0" err="1"/>
              <a:t>Kievit</a:t>
            </a:r>
            <a:r>
              <a:rPr lang="en-GB" dirty="0"/>
              <a:t>, “Neural Network Models of the Human Brain”, 2013.</a:t>
            </a:r>
          </a:p>
          <a:p>
            <a:r>
              <a:rPr lang="en-GB" dirty="0"/>
              <a:t>[Rumelhart1986] D.E.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, G.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, Williams, “Learning representations by back-propagating errors</a:t>
            </a:r>
            <a:r>
              <a:rPr lang="en-GB"/>
              <a:t>“, 1986.</a:t>
            </a:r>
            <a:br>
              <a:rPr lang="en-GB" dirty="0"/>
            </a:br>
            <a:r>
              <a:rPr lang="en-GB" dirty="0">
                <a:hlinkClick r:id="rId2"/>
              </a:rPr>
              <a:t>https://www.nature.com/articles/323533a0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A4A12-42C1-4189-603A-5E1F47717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 more about these topics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5B357-0886-EDDA-5F55-77F580FB4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Keep track of important names and follow their social media (Follow them on Scholar, Twitter, or whatever works for you!)</a:t>
            </a:r>
          </a:p>
          <a:p>
            <a:r>
              <a:rPr lang="en-GB" b="1" dirty="0"/>
              <a:t>Geoffrey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b="1" dirty="0"/>
              <a:t>: Emeritus Professor</a:t>
            </a:r>
            <a:r>
              <a:rPr lang="en-GB" dirty="0"/>
              <a:t> 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Toronto</a:t>
            </a:r>
            <a:r>
              <a:rPr lang="en-GB" dirty="0"/>
              <a:t>, </a:t>
            </a:r>
            <a:r>
              <a:rPr lang="en-GB" b="1" u="sng" dirty="0"/>
              <a:t>one of the three Godfathers of Deep Learning</a:t>
            </a:r>
            <a:r>
              <a:rPr lang="en-GB" dirty="0"/>
              <a:t> and </a:t>
            </a:r>
            <a:r>
              <a:rPr lang="en-GB" b="1" dirty="0"/>
              <a:t>2018</a:t>
            </a:r>
            <a:r>
              <a:rPr lang="en-GB" dirty="0"/>
              <a:t> </a:t>
            </a:r>
            <a:r>
              <a:rPr lang="en-GB" b="1" dirty="0"/>
              <a:t>Turing</a:t>
            </a:r>
            <a:r>
              <a:rPr lang="en-GB" dirty="0"/>
              <a:t> </a:t>
            </a:r>
            <a:r>
              <a:rPr lang="en-GB" b="1" dirty="0"/>
              <a:t>Award</a:t>
            </a:r>
            <a:r>
              <a:rPr lang="en-GB" dirty="0"/>
              <a:t> winner (highest distinction in Computer Science), Nobel Prize Physics 2025. Formerly, Google.</a:t>
            </a:r>
            <a:br>
              <a:rPr lang="en-GB" dirty="0"/>
            </a:br>
            <a:r>
              <a:rPr lang="en-GB" dirty="0">
                <a:hlinkClick r:id="rId2"/>
              </a:rPr>
              <a:t>https://www.cs.toronto.edu/~hinton/</a:t>
            </a:r>
            <a:br>
              <a:rPr lang="en-GB" dirty="0"/>
            </a:br>
            <a:r>
              <a:rPr lang="en-GB" dirty="0">
                <a:hlinkClick r:id="rId3"/>
              </a:rPr>
              <a:t>https://scholar.google.co.uk/citations?user=JicYPdAAAAAJ&amp;hl=en</a:t>
            </a:r>
            <a:endParaRPr lang="en-GB" dirty="0"/>
          </a:p>
          <a:p>
            <a:r>
              <a:rPr lang="en-GB" b="1" dirty="0"/>
              <a:t>David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b="1" dirty="0"/>
              <a:t>: Former</a:t>
            </a:r>
            <a:r>
              <a:rPr lang="en-GB" dirty="0"/>
              <a:t> </a:t>
            </a:r>
            <a:r>
              <a:rPr lang="en-GB" b="1" dirty="0"/>
              <a:t>professor</a:t>
            </a:r>
            <a:r>
              <a:rPr lang="en-GB" dirty="0"/>
              <a:t> 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California</a:t>
            </a:r>
            <a:r>
              <a:rPr lang="en-GB" dirty="0"/>
              <a:t>, credited for inventing </a:t>
            </a:r>
            <a:r>
              <a:rPr lang="en-GB" b="1" dirty="0"/>
              <a:t>backpropagation along </a:t>
            </a:r>
            <a:r>
              <a:rPr lang="en-GB" dirty="0"/>
              <a:t>with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. Passed away in 2011.</a:t>
            </a:r>
            <a:br>
              <a:rPr lang="en-GB" dirty="0"/>
            </a:br>
            <a:r>
              <a:rPr lang="en-GB" dirty="0">
                <a:hlinkClick r:id="rId4"/>
              </a:rPr>
              <a:t>https://www.nytimes.com/2011/03/19/health/19rumelhart.html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486172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E832B-64A0-31D2-0826-E57544CB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Twitter, the theater for AI/DL drama and</a:t>
            </a:r>
            <a:br>
              <a:rPr lang="en-US" dirty="0"/>
            </a:br>
            <a:r>
              <a:rPr lang="en-US" dirty="0"/>
              <a:t>big AI announcements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6A17C7-13E2-9695-C51D-AFA8CB90B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61" y="1306201"/>
            <a:ext cx="5257729" cy="53414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2DC48C-CCE8-09D4-1DEE-739B3DA9C1A1}"/>
              </a:ext>
            </a:extLst>
          </p:cNvPr>
          <p:cNvSpPr txBox="1"/>
          <p:nvPr/>
        </p:nvSpPr>
        <p:spPr>
          <a:xfrm>
            <a:off x="10128737" y="2308598"/>
            <a:ext cx="11332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</a:t>
            </a:r>
            <a:endParaRPr lang="en-GB" b="1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4CE0F1-D047-5775-0DAB-8E9E6854C10D}"/>
              </a:ext>
            </a:extLst>
          </p:cNvPr>
          <p:cNvSpPr txBox="1"/>
          <p:nvPr/>
        </p:nvSpPr>
        <p:spPr>
          <a:xfrm>
            <a:off x="9686822" y="5170324"/>
            <a:ext cx="22139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Professor, former Chief of AI at Meta (Facebook), and one of the three godfathers of AI.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78AB4B-E1DA-2191-71E2-0F2C6974F4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561" b="19216"/>
          <a:stretch/>
        </p:blipFill>
        <p:spPr>
          <a:xfrm>
            <a:off x="197410" y="1690689"/>
            <a:ext cx="6338276" cy="26077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393F3F-BB30-6898-F752-B54E2331B154}"/>
              </a:ext>
            </a:extLst>
          </p:cNvPr>
          <p:cNvSpPr txBox="1"/>
          <p:nvPr/>
        </p:nvSpPr>
        <p:spPr>
          <a:xfrm>
            <a:off x="3473936" y="3414204"/>
            <a:ext cx="3262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Announcing Dall-E 2 and its future release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0FBA129-175C-A5BD-63AF-33228B6AEED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434" b="50216"/>
          <a:stretch/>
        </p:blipFill>
        <p:spPr>
          <a:xfrm>
            <a:off x="291192" y="4060535"/>
            <a:ext cx="5070159" cy="274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881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9715-ECD1-470D-B523-53C9DD5C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0CB248-82F3-414A-84E4-14EF63C7F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Some extra (easy) reading and videos for those of you who are curious.</a:t>
            </a:r>
          </a:p>
          <a:p>
            <a:r>
              <a:rPr lang="en-US" dirty="0"/>
              <a:t>[Quanta2021] “</a:t>
            </a:r>
            <a:r>
              <a:rPr lang="en-GB" dirty="0"/>
              <a:t>Artificial Neural Nets Finally Yield Clues to How Brains Learn</a:t>
            </a:r>
            <a:r>
              <a:rPr lang="en-US" dirty="0"/>
              <a:t>“, 2021.</a:t>
            </a:r>
            <a:br>
              <a:rPr lang="en-US" dirty="0"/>
            </a:br>
            <a:r>
              <a:rPr lang="en-US" dirty="0">
                <a:hlinkClick r:id="rId2"/>
              </a:rPr>
              <a:t>https://www.quantamagazine.org/artificial-neural-nets-finally-yield-clues-to-how-brains-learn-20210218/</a:t>
            </a:r>
            <a:endParaRPr lang="en-US" dirty="0"/>
          </a:p>
          <a:p>
            <a:r>
              <a:rPr lang="en-US" dirty="0"/>
              <a:t>[MITNews2022] “</a:t>
            </a:r>
            <a:r>
              <a:rPr lang="en-GB" dirty="0"/>
              <a:t>Study urges caution when comparing neural networks to the brain”, 2022.</a:t>
            </a:r>
            <a:br>
              <a:rPr lang="en-GB" dirty="0"/>
            </a:br>
            <a:r>
              <a:rPr lang="en-US" dirty="0">
                <a:hlinkClick r:id="rId3"/>
              </a:rPr>
              <a:t>https://news.mit.edu/2022/neural-networks-brain-function-1102</a:t>
            </a:r>
            <a:endParaRPr lang="en-US" dirty="0"/>
          </a:p>
          <a:p>
            <a:r>
              <a:rPr lang="en-US" dirty="0"/>
              <a:t>[Medium2020] “</a:t>
            </a:r>
            <a:r>
              <a:rPr lang="en-GB" dirty="0"/>
              <a:t>Who Invented Backpropagation? Hinton Says He Didn’t, but His Work Made It Popular</a:t>
            </a:r>
            <a:r>
              <a:rPr lang="en-US" dirty="0"/>
              <a:t>“, 2020.</a:t>
            </a:r>
            <a:br>
              <a:rPr lang="en-US" dirty="0"/>
            </a:br>
            <a:r>
              <a:rPr lang="en-US" dirty="0">
                <a:hlinkClick r:id="rId2"/>
              </a:rPr>
              <a:t>https://medium.com/syncedreview/who-invented-backpropagation-hinton-says-he-didnt-but-his-work-made-it-popular-e0854504d6d1/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3873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3350</TotalTime>
  <Words>5385</Words>
  <Application>Microsoft Office PowerPoint</Application>
  <PresentationFormat>Widescreen</PresentationFormat>
  <Paragraphs>461</Paragraphs>
  <Slides>80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6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W1-S3 Introduction and Machine Learning Reminders</vt:lpstr>
      <vt:lpstr>About this week (Week 1)</vt:lpstr>
      <vt:lpstr>About this week (Week 1)</vt:lpstr>
      <vt:lpstr>About this week (Week 1)</vt:lpstr>
      <vt:lpstr>Introducing the sigmoid function</vt:lpstr>
      <vt:lpstr>Introducing the sigmoid function</vt:lpstr>
      <vt:lpstr>Also introducing two logistic functions</vt:lpstr>
      <vt:lpstr>Introducing two logistic functions</vt:lpstr>
      <vt:lpstr>To recap: functions and implementations</vt:lpstr>
      <vt:lpstr>Results on mixes for our two logistic functions</vt:lpstr>
      <vt:lpstr>Results on mixes for our two logistic functions</vt:lpstr>
      <vt:lpstr>Introducing two logistic functions</vt:lpstr>
      <vt:lpstr>New mock dataset generation</vt:lpstr>
      <vt:lpstr>PowerPoint Presentation</vt:lpstr>
      <vt:lpstr>PowerPoint Presentation</vt:lpstr>
      <vt:lpstr>A quick word about expert systems</vt:lpstr>
      <vt:lpstr>A quick word about expert systems</vt:lpstr>
      <vt:lpstr>From Linear Regression to Logistic Regression</vt:lpstr>
      <vt:lpstr>An adjusted Logistic Regression</vt:lpstr>
      <vt:lpstr>From Linear Regression to Logistic Regression</vt:lpstr>
      <vt:lpstr>PowerPoint Presentation</vt:lpstr>
      <vt:lpstr>Training a logistic regressor</vt:lpstr>
      <vt:lpstr>The log-likelihood function and loss</vt:lpstr>
      <vt:lpstr>The log-likelihood function and loss</vt:lpstr>
      <vt:lpstr>Implementing the log-likelihood loss</vt:lpstr>
      <vt:lpstr>Training a logistic regressor</vt:lpstr>
      <vt:lpstr>PowerPoint Presentation</vt:lpstr>
      <vt:lpstr>Evaluating the logistic regression model</vt:lpstr>
      <vt:lpstr>Evaluating the logistic regression model</vt:lpstr>
      <vt:lpstr>A bit of biology</vt:lpstr>
      <vt:lpstr>A bit of biology</vt:lpstr>
      <vt:lpstr>A bit of biology</vt:lpstr>
      <vt:lpstr>A bit of biology</vt:lpstr>
      <vt:lpstr>A bit of biology</vt:lpstr>
      <vt:lpstr>Starting with a mock dataset, again</vt:lpstr>
      <vt:lpstr>Starting with a mock dataset, again</vt:lpstr>
      <vt:lpstr>PowerPoint Presentation</vt:lpstr>
      <vt:lpstr>PowerPoint Presentation</vt:lpstr>
      <vt:lpstr>PowerPoint Presentation</vt:lpstr>
      <vt:lpstr>Coding a Neuron and a Neural Network</vt:lpstr>
      <vt:lpstr>Coding our first Neuron</vt:lpstr>
      <vt:lpstr>PowerPoint Presentation</vt:lpstr>
      <vt:lpstr>Defining a minimal Neural Network </vt:lpstr>
      <vt:lpstr>PowerPoint Presentation</vt:lpstr>
      <vt:lpstr>Adding a loss</vt:lpstr>
      <vt:lpstr>Adding a loss</vt:lpstr>
      <vt:lpstr>Scaling up with more parameters</vt:lpstr>
      <vt:lpstr>Scaling up with more layers</vt:lpstr>
      <vt:lpstr>Scaling up with more layers</vt:lpstr>
      <vt:lpstr>Scaling up with more layers</vt:lpstr>
      <vt:lpstr>Scaling up with more layers</vt:lpstr>
      <vt:lpstr>Our NN class</vt:lpstr>
      <vt:lpstr>PowerPoint Presentation</vt:lpstr>
      <vt:lpstr>The need for a training procedure</vt:lpstr>
      <vt:lpstr>The backpropagation mechanism</vt:lpstr>
      <vt:lpstr>The backpropagation mechanism</vt:lpstr>
      <vt:lpstr>Backpropagation is heavy to manually calculate and implement… Strongly encouraging to try and redo the math/implementation shown hereafter on your own! </vt:lpstr>
      <vt:lpstr>Backpropagation in our model</vt:lpstr>
      <vt:lpstr>Before we continue</vt:lpstr>
      <vt:lpstr>Chain rule, to the rescue!</vt:lpstr>
      <vt:lpstr>Chain rule, to the rescue!</vt:lpstr>
      <vt:lpstr>Chain rule, to the rescue!</vt:lpstr>
      <vt:lpstr>Chain rule, to the rescue!</vt:lpstr>
      <vt:lpstr>Now that we have all update rules…</vt:lpstr>
      <vt:lpstr>Training procedure, in short.</vt:lpstr>
      <vt:lpstr>Backpropagation in our model</vt:lpstr>
      <vt:lpstr>Backpropagation in our model</vt:lpstr>
      <vt:lpstr>Backpropagation in our model</vt:lpstr>
      <vt:lpstr>Training procedure, in short (reminder).</vt:lpstr>
      <vt:lpstr>Trainer function for our model</vt:lpstr>
      <vt:lpstr>Trainer function for our model</vt:lpstr>
      <vt:lpstr>Trainer function for our model</vt:lpstr>
      <vt:lpstr>Finally, we will make the trainer function and the performance curves function into methods for our class.</vt:lpstr>
      <vt:lpstr>Backpropagation is heavy to manually calculate and implement… Strongly encouraging to try and redo the math/implementation shown on your own! </vt:lpstr>
      <vt:lpstr>Conclusion (Week 1)</vt:lpstr>
      <vt:lpstr>Conclusion (Week 1)</vt:lpstr>
      <vt:lpstr>Learn more about these topics</vt:lpstr>
      <vt:lpstr>Learn more about these topics</vt:lpstr>
      <vt:lpstr>Twitter, the theater for AI/DL drama and big AI announcements</vt:lpstr>
      <vt:lpstr>Learn more about these topics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2026-03-13T09:40:17Z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