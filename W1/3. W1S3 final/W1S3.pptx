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77" r:id="rId2"/>
    <p:sldId id="257" r:id="rId3"/>
    <p:sldId id="517" r:id="rId4"/>
    <p:sldId id="518" r:id="rId5"/>
    <p:sldId id="509" r:id="rId6"/>
    <p:sldId id="521" r:id="rId7"/>
    <p:sldId id="522" r:id="rId8"/>
    <p:sldId id="523" r:id="rId9"/>
    <p:sldId id="528" r:id="rId10"/>
    <p:sldId id="524" r:id="rId11"/>
    <p:sldId id="525" r:id="rId12"/>
    <p:sldId id="526" r:id="rId13"/>
    <p:sldId id="527" r:id="rId14"/>
    <p:sldId id="510" r:id="rId15"/>
    <p:sldId id="529" r:id="rId16"/>
    <p:sldId id="535" r:id="rId17"/>
    <p:sldId id="536" r:id="rId18"/>
    <p:sldId id="538" r:id="rId19"/>
    <p:sldId id="539" r:id="rId20"/>
    <p:sldId id="540" r:id="rId21"/>
    <p:sldId id="541" r:id="rId22"/>
    <p:sldId id="51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89" r:id="rId31"/>
    <p:sldId id="512" r:id="rId32"/>
    <p:sldId id="596" r:id="rId33"/>
    <p:sldId id="551" r:id="rId34"/>
    <p:sldId id="550" r:id="rId35"/>
    <p:sldId id="554" r:id="rId36"/>
    <p:sldId id="555" r:id="rId37"/>
    <p:sldId id="513" r:id="rId38"/>
    <p:sldId id="556" r:id="rId39"/>
    <p:sldId id="557" r:id="rId40"/>
    <p:sldId id="552" r:id="rId41"/>
    <p:sldId id="558" r:id="rId42"/>
    <p:sldId id="514" r:id="rId43"/>
    <p:sldId id="560" r:id="rId44"/>
    <p:sldId id="559" r:id="rId45"/>
    <p:sldId id="561" r:id="rId46"/>
    <p:sldId id="519" r:id="rId47"/>
    <p:sldId id="562" r:id="rId48"/>
    <p:sldId id="563" r:id="rId49"/>
    <p:sldId id="592" r:id="rId50"/>
    <p:sldId id="591" r:id="rId51"/>
    <p:sldId id="590" r:id="rId52"/>
    <p:sldId id="565" r:id="rId53"/>
    <p:sldId id="566" r:id="rId54"/>
    <p:sldId id="567" r:id="rId55"/>
    <p:sldId id="568" r:id="rId56"/>
    <p:sldId id="586" r:id="rId57"/>
    <p:sldId id="588" r:id="rId58"/>
    <p:sldId id="572" r:id="rId59"/>
    <p:sldId id="587" r:id="rId60"/>
    <p:sldId id="573" r:id="rId61"/>
    <p:sldId id="574" r:id="rId62"/>
    <p:sldId id="575" r:id="rId63"/>
    <p:sldId id="576" r:id="rId64"/>
    <p:sldId id="594" r:id="rId65"/>
    <p:sldId id="595" r:id="rId66"/>
    <p:sldId id="577" r:id="rId67"/>
    <p:sldId id="579" r:id="rId68"/>
    <p:sldId id="580" r:id="rId69"/>
    <p:sldId id="585" r:id="rId70"/>
    <p:sldId id="578" r:id="rId71"/>
    <p:sldId id="581" r:id="rId72"/>
    <p:sldId id="582" r:id="rId73"/>
    <p:sldId id="583" r:id="rId74"/>
    <p:sldId id="597" r:id="rId75"/>
    <p:sldId id="584" r:id="rId76"/>
    <p:sldId id="346" r:id="rId77"/>
    <p:sldId id="267" r:id="rId78"/>
    <p:sldId id="570" r:id="rId79"/>
    <p:sldId id="571" r:id="rId80"/>
    <p:sldId id="26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17"/>
            <p14:sldId id="518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</p14:sldIdLst>
        </p14:section>
        <p14:section name="V.4. Backpropagation on a Shallow Neural Network" id="{767C72FE-9793-4950-A8EF-333B130F54DF}">
          <p14:sldIdLst>
            <p14:sldId id="567"/>
            <p14:sldId id="568"/>
            <p14:sldId id="586"/>
          </p14:sldIdLst>
        </p14:section>
        <p14:section name="V.5. Backpropagation (math)" id="{907A7E63-CFBE-46B5-91DF-CEF8A16505EA}">
          <p14:sldIdLst>
            <p14:sldId id="588"/>
            <p14:sldId id="572"/>
            <p14:sldId id="587"/>
            <p14:sldId id="573"/>
            <p14:sldId id="574"/>
            <p14:sldId id="575"/>
            <p14:sldId id="576"/>
            <p14:sldId id="594"/>
            <p14:sldId id="595"/>
          </p14:sldIdLst>
        </p14:section>
        <p14:section name="V.6. Backward pass on a Shallow Neural Network" id="{0DEBBF87-D858-40D9-99AA-C02192679BFC}">
          <p14:sldIdLst>
            <p14:sldId id="577"/>
            <p14:sldId id="579"/>
            <p14:sldId id="580"/>
            <p14:sldId id="585"/>
          </p14:sldIdLst>
        </p14:section>
        <p14:section name="V.7. Trainer functions for Shallow Neural Networks" id="{26AC733F-0193-4315-8799-E8B388D8A1D0}">
          <p14:sldIdLst>
            <p14:sldId id="578"/>
            <p14:sldId id="581"/>
            <p14:sldId id="582"/>
            <p14:sldId id="583"/>
            <p14:sldId id="597"/>
          </p14:sldIdLst>
        </p14:section>
        <p14:section name="Conclusion" id="{09807B6E-2B76-45C8-B103-96D5021B68A6}">
          <p14:sldIdLst>
            <p14:sldId id="584"/>
            <p14:sldId id="346"/>
          </p14:sldIdLst>
        </p14:section>
        <p14:section name="References and watchlist" id="{217B8593-1CA5-408D-B198-A5E6ACAB5948}">
          <p14:sldIdLst>
            <p14:sldId id="267"/>
            <p14:sldId id="570"/>
            <p14:sldId id="571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6D4094-5553-473F-806F-2EDE7C368238}" v="1" dt="2026-01-16T05:19:18.6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92" autoAdjust="0"/>
  </p:normalViewPr>
  <p:slideViewPr>
    <p:cSldViewPr snapToGrid="0">
      <p:cViewPr varScale="1">
        <p:scale>
          <a:sx n="114" d="100"/>
          <a:sy n="114" d="100"/>
        </p:scale>
        <p:origin x="43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89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modSld sldOrd">
      <pc:chgData name="Matthieu De Mari" userId="dfb708c9-d8dc-439f-9a3b-c772bf4a311c" providerId="ADAL" clId="{81E9B007-0C2C-493E-9B93-55A62C9C1F12}" dt="2026-01-16T05:19:18.607" v="723"/>
      <pc:docMkLst>
        <pc:docMk/>
      </pc:docMkLst>
      <pc:sldChg chg="modSp mod">
        <pc:chgData name="Matthieu De Mari" userId="dfb708c9-d8dc-439f-9a3b-c772bf4a311c" providerId="ADAL" clId="{81E9B007-0C2C-493E-9B93-55A62C9C1F12}" dt="2025-12-18T21:25:15.049" v="44" actId="114"/>
        <pc:sldMkLst>
          <pc:docMk/>
          <pc:sldMk cId="3754516330" sldId="522"/>
        </pc:sldMkLst>
        <pc:spChg chg="mod">
          <ac:chgData name="Matthieu De Mari" userId="dfb708c9-d8dc-439f-9a3b-c772bf4a311c" providerId="ADAL" clId="{81E9B007-0C2C-493E-9B93-55A62C9C1F12}" dt="2025-12-18T21:24:29.959" v="6" actId="20577"/>
          <ac:spMkLst>
            <pc:docMk/>
            <pc:sldMk cId="3754516330" sldId="522"/>
            <ac:spMk id="2" creationId="{52FD168C-A8B7-FBE2-0183-8C332FD8F550}"/>
          </ac:spMkLst>
        </pc:spChg>
        <pc:spChg chg="mod">
          <ac:chgData name="Matthieu De Mari" userId="dfb708c9-d8dc-439f-9a3b-c772bf4a311c" providerId="ADAL" clId="{81E9B007-0C2C-493E-9B93-55A62C9C1F12}" dt="2025-12-18T21:25:15.049" v="44" actId="114"/>
          <ac:spMkLst>
            <pc:docMk/>
            <pc:sldMk cId="3754516330" sldId="522"/>
            <ac:spMk id="3" creationId="{917B4F07-EB70-8BF3-73A3-76EFC1C5820B}"/>
          </ac:spMkLst>
        </pc:spChg>
        <pc:spChg chg="mod">
          <ac:chgData name="Matthieu De Mari" userId="dfb708c9-d8dc-439f-9a3b-c772bf4a311c" providerId="ADAL" clId="{81E9B007-0C2C-493E-9B93-55A62C9C1F12}" dt="2025-12-18T21:25:05.059" v="40" actId="14100"/>
          <ac:spMkLst>
            <pc:docMk/>
            <pc:sldMk cId="3754516330" sldId="522"/>
            <ac:spMk id="4" creationId="{224B6C00-CDCA-7753-FD92-73BE0C88AE10}"/>
          </ac:spMkLst>
        </pc:spChg>
      </pc:sldChg>
      <pc:sldChg chg="modSp mod">
        <pc:chgData name="Matthieu De Mari" userId="dfb708c9-d8dc-439f-9a3b-c772bf4a311c" providerId="ADAL" clId="{81E9B007-0C2C-493E-9B93-55A62C9C1F12}" dt="2025-12-18T21:25:39.065" v="46" actId="1076"/>
        <pc:sldMkLst>
          <pc:docMk/>
          <pc:sldMk cId="2978828430" sldId="523"/>
        </pc:sldMkLst>
        <pc:picChg chg="mod modCrop">
          <ac:chgData name="Matthieu De Mari" userId="dfb708c9-d8dc-439f-9a3b-c772bf4a311c" providerId="ADAL" clId="{81E9B007-0C2C-493E-9B93-55A62C9C1F12}" dt="2025-12-18T21:25:39.065" v="46" actId="1076"/>
          <ac:picMkLst>
            <pc:docMk/>
            <pc:sldMk cId="2978828430" sldId="523"/>
            <ac:picMk id="8" creationId="{DD36D8E9-EC44-BBB5-12EC-8C34D43F16E5}"/>
          </ac:picMkLst>
        </pc:picChg>
      </pc:sldChg>
      <pc:sldChg chg="modSp">
        <pc:chgData name="Matthieu De Mari" userId="dfb708c9-d8dc-439f-9a3b-c772bf4a311c" providerId="ADAL" clId="{81E9B007-0C2C-493E-9B93-55A62C9C1F12}" dt="2025-12-18T21:26:21.425" v="49" actId="20577"/>
        <pc:sldMkLst>
          <pc:docMk/>
          <pc:sldMk cId="3692904375" sldId="527"/>
        </pc:sldMkLst>
        <pc:spChg chg="mod">
          <ac:chgData name="Matthieu De Mari" userId="dfb708c9-d8dc-439f-9a3b-c772bf4a311c" providerId="ADAL" clId="{81E9B007-0C2C-493E-9B93-55A62C9C1F12}" dt="2025-12-18T21:26:21.425" v="49" actId="20577"/>
          <ac:spMkLst>
            <pc:docMk/>
            <pc:sldMk cId="3692904375" sldId="527"/>
            <ac:spMk id="5" creationId="{C1F51DE3-B943-E325-81E1-3500067990A2}"/>
          </ac:spMkLst>
        </pc:spChg>
      </pc:sldChg>
      <pc:sldChg chg="ord">
        <pc:chgData name="Matthieu De Mari" userId="dfb708c9-d8dc-439f-9a3b-c772bf4a311c" providerId="ADAL" clId="{81E9B007-0C2C-493E-9B93-55A62C9C1F12}" dt="2025-12-18T21:25:56.840" v="48"/>
        <pc:sldMkLst>
          <pc:docMk/>
          <pc:sldMk cId="3778560088" sldId="528"/>
        </pc:sldMkLst>
      </pc:sldChg>
      <pc:sldChg chg="modSp mod">
        <pc:chgData name="Matthieu De Mari" userId="dfb708c9-d8dc-439f-9a3b-c772bf4a311c" providerId="ADAL" clId="{81E9B007-0C2C-493E-9B93-55A62C9C1F12}" dt="2025-12-18T21:29:08.938" v="61" actId="27636"/>
        <pc:sldMkLst>
          <pc:docMk/>
          <pc:sldMk cId="453944168" sldId="538"/>
        </pc:sldMkLst>
        <pc:spChg chg="mod">
          <ac:chgData name="Matthieu De Mari" userId="dfb708c9-d8dc-439f-9a3b-c772bf4a311c" providerId="ADAL" clId="{81E9B007-0C2C-493E-9B93-55A62C9C1F12}" dt="2025-12-18T21:29:08.938" v="61" actId="27636"/>
          <ac:spMkLst>
            <pc:docMk/>
            <pc:sldMk cId="453944168" sldId="538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29:39.739" v="63" actId="20577"/>
        <pc:sldMkLst>
          <pc:docMk/>
          <pc:sldMk cId="545763732" sldId="539"/>
        </pc:sldMkLst>
        <pc:spChg chg="mod">
          <ac:chgData name="Matthieu De Mari" userId="dfb708c9-d8dc-439f-9a3b-c772bf4a311c" providerId="ADAL" clId="{81E9B007-0C2C-493E-9B93-55A62C9C1F12}" dt="2025-12-18T21:29:39.739" v="63" actId="20577"/>
          <ac:spMkLst>
            <pc:docMk/>
            <pc:sldMk cId="545763732" sldId="539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31:03.191" v="64" actId="20577"/>
        <pc:sldMkLst>
          <pc:docMk/>
          <pc:sldMk cId="3916751870" sldId="542"/>
        </pc:sldMkLst>
        <pc:spChg chg="mod">
          <ac:chgData name="Matthieu De Mari" userId="dfb708c9-d8dc-439f-9a3b-c772bf4a311c" providerId="ADAL" clId="{81E9B007-0C2C-493E-9B93-55A62C9C1F12}" dt="2025-12-18T21:31:03.191" v="64" actId="20577"/>
          <ac:spMkLst>
            <pc:docMk/>
            <pc:sldMk cId="3916751870" sldId="542"/>
            <ac:spMk id="5" creationId="{42EE8989-CA0E-9B9A-AB65-DD59B00F6EB2}"/>
          </ac:spMkLst>
        </pc:spChg>
      </pc:sldChg>
      <pc:sldChg chg="modSp mod">
        <pc:chgData name="Matthieu De Mari" userId="dfb708c9-d8dc-439f-9a3b-c772bf4a311c" providerId="ADAL" clId="{81E9B007-0C2C-493E-9B93-55A62C9C1F12}" dt="2025-12-18T21:31:53.301" v="76" actId="20577"/>
        <pc:sldMkLst>
          <pc:docMk/>
          <pc:sldMk cId="3100334900" sldId="544"/>
        </pc:sldMkLst>
        <pc:spChg chg="mod">
          <ac:chgData name="Matthieu De Mari" userId="dfb708c9-d8dc-439f-9a3b-c772bf4a311c" providerId="ADAL" clId="{81E9B007-0C2C-493E-9B93-55A62C9C1F12}" dt="2025-12-18T21:31:53.301" v="76" actId="20577"/>
          <ac:spMkLst>
            <pc:docMk/>
            <pc:sldMk cId="3100334900" sldId="544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09.725" v="78" actId="27636"/>
        <pc:sldMkLst>
          <pc:docMk/>
          <pc:sldMk cId="618201935" sldId="545"/>
        </pc:sldMkLst>
        <pc:spChg chg="mod">
          <ac:chgData name="Matthieu De Mari" userId="dfb708c9-d8dc-439f-9a3b-c772bf4a311c" providerId="ADAL" clId="{81E9B007-0C2C-493E-9B93-55A62C9C1F12}" dt="2025-12-18T21:32:09.725" v="78" actId="27636"/>
          <ac:spMkLst>
            <pc:docMk/>
            <pc:sldMk cId="618201935" sldId="545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55.498" v="81" actId="20577"/>
        <pc:sldMkLst>
          <pc:docMk/>
          <pc:sldMk cId="1753014364" sldId="548"/>
        </pc:sldMkLst>
        <pc:spChg chg="mod">
          <ac:chgData name="Matthieu De Mari" userId="dfb708c9-d8dc-439f-9a3b-c772bf4a311c" providerId="ADAL" clId="{81E9B007-0C2C-493E-9B93-55A62C9C1F12}" dt="2025-12-18T21:32:55.498" v="81" actId="20577"/>
          <ac:spMkLst>
            <pc:docMk/>
            <pc:sldMk cId="1753014364" sldId="548"/>
            <ac:spMk id="2" creationId="{E367757C-64AF-8BE1-A9D7-5D4CA0106416}"/>
          </ac:spMkLst>
        </pc:spChg>
      </pc:sldChg>
      <pc:sldChg chg="modSp mod">
        <pc:chgData name="Matthieu De Mari" userId="dfb708c9-d8dc-439f-9a3b-c772bf4a311c" providerId="ADAL" clId="{81E9B007-0C2C-493E-9B93-55A62C9C1F12}" dt="2026-01-16T05:16:10.246" v="641" actId="20577"/>
        <pc:sldMkLst>
          <pc:docMk/>
          <pc:sldMk cId="781342620" sldId="550"/>
        </pc:sldMkLst>
        <pc:spChg chg="mod">
          <ac:chgData name="Matthieu De Mari" userId="dfb708c9-d8dc-439f-9a3b-c772bf4a311c" providerId="ADAL" clId="{81E9B007-0C2C-493E-9B93-55A62C9C1F12}" dt="2026-01-16T05:16:10.246" v="641" actId="20577"/>
          <ac:spMkLst>
            <pc:docMk/>
            <pc:sldMk cId="781342620" sldId="550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6-01-16T05:14:37.677" v="582" actId="14100"/>
        <pc:sldMkLst>
          <pc:docMk/>
          <pc:sldMk cId="243822673" sldId="551"/>
        </pc:sldMkLst>
        <pc:spChg chg="mod">
          <ac:chgData name="Matthieu De Mari" userId="dfb708c9-d8dc-439f-9a3b-c772bf4a311c" providerId="ADAL" clId="{81E9B007-0C2C-493E-9B93-55A62C9C1F12}" dt="2026-01-16T05:14:37.677" v="582" actId="14100"/>
          <ac:spMkLst>
            <pc:docMk/>
            <pc:sldMk cId="243822673" sldId="551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5-12-18T21:38:35.163" v="204" actId="113"/>
        <pc:sldMkLst>
          <pc:docMk/>
          <pc:sldMk cId="494556532" sldId="562"/>
        </pc:sldMkLst>
        <pc:spChg chg="mod">
          <ac:chgData name="Matthieu De Mari" userId="dfb708c9-d8dc-439f-9a3b-c772bf4a311c" providerId="ADAL" clId="{81E9B007-0C2C-493E-9B93-55A62C9C1F12}" dt="2025-12-18T21:38:35.163" v="204" actId="113"/>
          <ac:spMkLst>
            <pc:docMk/>
            <pc:sldMk cId="494556532" sldId="562"/>
            <ac:spMk id="7" creationId="{D518979B-485A-1F91-718D-3D2067DBEA0B}"/>
          </ac:spMkLst>
        </pc:spChg>
      </pc:sldChg>
      <pc:sldChg chg="modSp mod">
        <pc:chgData name="Matthieu De Mari" userId="dfb708c9-d8dc-439f-9a3b-c772bf4a311c" providerId="ADAL" clId="{81E9B007-0C2C-493E-9B93-55A62C9C1F12}" dt="2025-12-18T21:41:48.977" v="280" actId="20577"/>
        <pc:sldMkLst>
          <pc:docMk/>
          <pc:sldMk cId="2506094589" sldId="565"/>
        </pc:sldMkLst>
        <pc:spChg chg="mod">
          <ac:chgData name="Matthieu De Mari" userId="dfb708c9-d8dc-439f-9a3b-c772bf4a311c" providerId="ADAL" clId="{81E9B007-0C2C-493E-9B93-55A62C9C1F12}" dt="2025-12-18T21:41:48.977" v="280" actId="20577"/>
          <ac:spMkLst>
            <pc:docMk/>
            <pc:sldMk cId="2506094589" sldId="565"/>
            <ac:spMk id="7" creationId="{351BBB68-C97A-F968-8AD2-DE508BF2C073}"/>
          </ac:spMkLst>
        </pc:spChg>
        <pc:picChg chg="mod">
          <ac:chgData name="Matthieu De Mari" userId="dfb708c9-d8dc-439f-9a3b-c772bf4a311c" providerId="ADAL" clId="{81E9B007-0C2C-493E-9B93-55A62C9C1F12}" dt="2025-12-18T21:41:40.611" v="269" actId="14100"/>
          <ac:picMkLst>
            <pc:docMk/>
            <pc:sldMk cId="2506094589" sldId="565"/>
            <ac:picMk id="5" creationId="{36123BC0-70CA-3C75-E622-ABD557DA9A48}"/>
          </ac:picMkLst>
        </pc:picChg>
      </pc:sldChg>
      <pc:sldChg chg="modSp mod">
        <pc:chgData name="Matthieu De Mari" userId="dfb708c9-d8dc-439f-9a3b-c772bf4a311c" providerId="ADAL" clId="{81E9B007-0C2C-493E-9B93-55A62C9C1F12}" dt="2025-12-18T21:42:05.597" v="283" actId="20577"/>
        <pc:sldMkLst>
          <pc:docMk/>
          <pc:sldMk cId="2861982866" sldId="566"/>
        </pc:sldMkLst>
        <pc:spChg chg="mod">
          <ac:chgData name="Matthieu De Mari" userId="dfb708c9-d8dc-439f-9a3b-c772bf4a311c" providerId="ADAL" clId="{81E9B007-0C2C-493E-9B93-55A62C9C1F12}" dt="2025-12-18T21:42:05.597" v="283" actId="20577"/>
          <ac:spMkLst>
            <pc:docMk/>
            <pc:sldMk cId="2861982866" sldId="566"/>
            <ac:spMk id="12" creationId="{DD3CD9CC-3DB1-E108-6A9D-978D92CBFE28}"/>
          </ac:spMkLst>
        </pc:spChg>
      </pc:sldChg>
      <pc:sldChg chg="modSp mod">
        <pc:chgData name="Matthieu De Mari" userId="dfb708c9-d8dc-439f-9a3b-c772bf4a311c" providerId="ADAL" clId="{81E9B007-0C2C-493E-9B93-55A62C9C1F12}" dt="2026-01-16T05:18:59.762" v="720" actId="1076"/>
        <pc:sldMkLst>
          <pc:docMk/>
          <pc:sldMk cId="2118947663" sldId="567"/>
        </pc:sldMkLst>
        <pc:spChg chg="mod">
          <ac:chgData name="Matthieu De Mari" userId="dfb708c9-d8dc-439f-9a3b-c772bf4a311c" providerId="ADAL" clId="{81E9B007-0C2C-493E-9B93-55A62C9C1F12}" dt="2026-01-16T05:18:56.645" v="719" actId="20577"/>
          <ac:spMkLst>
            <pc:docMk/>
            <pc:sldMk cId="2118947663" sldId="567"/>
            <ac:spMk id="7" creationId="{E8A6B828-D9CD-5DA9-3D1E-6F24E022DFCC}"/>
          </ac:spMkLst>
        </pc:spChg>
        <pc:picChg chg="mod">
          <ac:chgData name="Matthieu De Mari" userId="dfb708c9-d8dc-439f-9a3b-c772bf4a311c" providerId="ADAL" clId="{81E9B007-0C2C-493E-9B93-55A62C9C1F12}" dt="2026-01-16T05:18:59.762" v="720" actId="1076"/>
          <ac:picMkLst>
            <pc:docMk/>
            <pc:sldMk cId="2118947663" sldId="567"/>
            <ac:picMk id="6" creationId="{A3C78C1D-9A19-BD60-AD2B-0ACC41A21711}"/>
          </ac:picMkLst>
        </pc:picChg>
      </pc:sldChg>
      <pc:sldChg chg="modSp mod">
        <pc:chgData name="Matthieu De Mari" userId="dfb708c9-d8dc-439f-9a3b-c772bf4a311c" providerId="ADAL" clId="{81E9B007-0C2C-493E-9B93-55A62C9C1F12}" dt="2026-01-16T05:19:12.384" v="722" actId="115"/>
        <pc:sldMkLst>
          <pc:docMk/>
          <pc:sldMk cId="209871370" sldId="568"/>
        </pc:sldMkLst>
        <pc:spChg chg="mod">
          <ac:chgData name="Matthieu De Mari" userId="dfb708c9-d8dc-439f-9a3b-c772bf4a311c" providerId="ADAL" clId="{81E9B007-0C2C-493E-9B93-55A62C9C1F12}" dt="2026-01-16T05:19:12.384" v="722" actId="115"/>
          <ac:spMkLst>
            <pc:docMk/>
            <pc:sldMk cId="209871370" sldId="568"/>
            <ac:spMk id="3" creationId="{5AA41464-B2B5-4EE7-DEF2-910D29FE3DA2}"/>
          </ac:spMkLst>
        </pc:spChg>
      </pc:sldChg>
      <pc:sldChg chg="modSp mod">
        <pc:chgData name="Matthieu De Mari" userId="dfb708c9-d8dc-439f-9a3b-c772bf4a311c" providerId="ADAL" clId="{81E9B007-0C2C-493E-9B93-55A62C9C1F12}" dt="2025-12-18T21:50:16.109" v="445" actId="20577"/>
        <pc:sldMkLst>
          <pc:docMk/>
          <pc:sldMk cId="548617228" sldId="570"/>
        </pc:sldMkLst>
        <pc:spChg chg="mod">
          <ac:chgData name="Matthieu De Mari" userId="dfb708c9-d8dc-439f-9a3b-c772bf4a311c" providerId="ADAL" clId="{81E9B007-0C2C-493E-9B93-55A62C9C1F12}" dt="2025-12-18T21:50:16.109" v="445" actId="20577"/>
          <ac:spMkLst>
            <pc:docMk/>
            <pc:sldMk cId="548617228" sldId="570"/>
            <ac:spMk id="3" creationId="{E475B357-0886-EDDA-5F55-77F580FB4D9B}"/>
          </ac:spMkLst>
        </pc:spChg>
      </pc:sldChg>
      <pc:sldChg chg="modSp">
        <pc:chgData name="Matthieu De Mari" userId="dfb708c9-d8dc-439f-9a3b-c772bf4a311c" providerId="ADAL" clId="{81E9B007-0C2C-493E-9B93-55A62C9C1F12}" dt="2026-01-08T10:27:18.262" v="446" actId="20577"/>
        <pc:sldMkLst>
          <pc:docMk/>
          <pc:sldMk cId="174187107" sldId="578"/>
        </pc:sldMkLst>
        <pc:spChg chg="mod">
          <ac:chgData name="Matthieu De Mari" userId="dfb708c9-d8dc-439f-9a3b-c772bf4a311c" providerId="ADAL" clId="{81E9B007-0C2C-493E-9B93-55A62C9C1F12}" dt="2026-01-08T10:27:18.262" v="446" actId="20577"/>
          <ac:spMkLst>
            <pc:docMk/>
            <pc:sldMk cId="174187107" sldId="578"/>
            <ac:spMk id="16" creationId="{5CF0157F-6568-59C9-9C76-67042E94E139}"/>
          </ac:spMkLst>
        </pc:spChg>
      </pc:sldChg>
      <pc:sldChg chg="modSp mod">
        <pc:chgData name="Matthieu De Mari" userId="dfb708c9-d8dc-439f-9a3b-c772bf4a311c" providerId="ADAL" clId="{81E9B007-0C2C-493E-9B93-55A62C9C1F12}" dt="2025-12-18T21:45:04.116" v="331" actId="20577"/>
        <pc:sldMkLst>
          <pc:docMk/>
          <pc:sldMk cId="4030169117" sldId="580"/>
        </pc:sldMkLst>
        <pc:spChg chg="mod">
          <ac:chgData name="Matthieu De Mari" userId="dfb708c9-d8dc-439f-9a3b-c772bf4a311c" providerId="ADAL" clId="{81E9B007-0C2C-493E-9B93-55A62C9C1F12}" dt="2025-12-18T21:45:04.116" v="331" actId="20577"/>
          <ac:spMkLst>
            <pc:docMk/>
            <pc:sldMk cId="4030169117" sldId="580"/>
            <ac:spMk id="8" creationId="{56F73953-A2CE-A62E-D071-2A65983D9173}"/>
          </ac:spMkLst>
        </pc:spChg>
      </pc:sldChg>
      <pc:sldChg chg="modSp mod">
        <pc:chgData name="Matthieu De Mari" userId="dfb708c9-d8dc-439f-9a3b-c772bf4a311c" providerId="ADAL" clId="{81E9B007-0C2C-493E-9B93-55A62C9C1F12}" dt="2025-12-18T21:46:10.439" v="402" actId="20577"/>
        <pc:sldMkLst>
          <pc:docMk/>
          <pc:sldMk cId="1162878205" sldId="582"/>
        </pc:sldMkLst>
        <pc:spChg chg="mod">
          <ac:chgData name="Matthieu De Mari" userId="dfb708c9-d8dc-439f-9a3b-c772bf4a311c" providerId="ADAL" clId="{81E9B007-0C2C-493E-9B93-55A62C9C1F12}" dt="2025-12-18T21:46:10.439" v="402" actId="20577"/>
          <ac:spMkLst>
            <pc:docMk/>
            <pc:sldMk cId="1162878205" sldId="582"/>
            <ac:spMk id="4" creationId="{720BC5D3-5690-1CC7-4476-5F4D434E7343}"/>
          </ac:spMkLst>
        </pc:spChg>
      </pc:sldChg>
      <pc:sldChg chg="modSp mod">
        <pc:chgData name="Matthieu De Mari" userId="dfb708c9-d8dc-439f-9a3b-c772bf4a311c" providerId="ADAL" clId="{81E9B007-0C2C-493E-9B93-55A62C9C1F12}" dt="2026-01-16T05:19:18.607" v="723"/>
        <pc:sldMkLst>
          <pc:docMk/>
          <pc:sldMk cId="3605419039" sldId="586"/>
        </pc:sldMkLst>
        <pc:spChg chg="mod">
          <ac:chgData name="Matthieu De Mari" userId="dfb708c9-d8dc-439f-9a3b-c772bf4a311c" providerId="ADAL" clId="{81E9B007-0C2C-493E-9B93-55A62C9C1F12}" dt="2026-01-16T05:19:18.607" v="723"/>
          <ac:spMkLst>
            <pc:docMk/>
            <pc:sldMk cId="3605419039" sldId="586"/>
            <ac:spMk id="7" creationId="{3EFEA9E2-AE7C-23F8-DA29-FB5939F4F74C}"/>
          </ac:spMkLst>
        </pc:spChg>
      </pc:sldChg>
      <pc:sldChg chg="modSp mod">
        <pc:chgData name="Matthieu De Mari" userId="dfb708c9-d8dc-439f-9a3b-c772bf4a311c" providerId="ADAL" clId="{81E9B007-0C2C-493E-9B93-55A62C9C1F12}" dt="2026-01-09T02:09:02.033" v="456" actId="20577"/>
        <pc:sldMkLst>
          <pc:docMk/>
          <pc:sldMk cId="2267076689" sldId="588"/>
        </pc:sldMkLst>
        <pc:spChg chg="mod">
          <ac:chgData name="Matthieu De Mari" userId="dfb708c9-d8dc-439f-9a3b-c772bf4a311c" providerId="ADAL" clId="{81E9B007-0C2C-493E-9B93-55A62C9C1F12}" dt="2026-01-09T02:09:02.033" v="456" actId="20577"/>
          <ac:spMkLst>
            <pc:docMk/>
            <pc:sldMk cId="2267076689" sldId="588"/>
            <ac:spMk id="6" creationId="{67AEAB6F-9509-B275-EBFE-87BAAB433D7F}"/>
          </ac:spMkLst>
        </pc:spChg>
        <pc:spChg chg="mod">
          <ac:chgData name="Matthieu De Mari" userId="dfb708c9-d8dc-439f-9a3b-c772bf4a311c" providerId="ADAL" clId="{81E9B007-0C2C-493E-9B93-55A62C9C1F12}" dt="2026-01-09T02:09:01.611" v="455" actId="20577"/>
          <ac:spMkLst>
            <pc:docMk/>
            <pc:sldMk cId="2267076689" sldId="588"/>
            <ac:spMk id="7" creationId="{A529F1D0-FF7B-BBB6-460B-7825B57FED7C}"/>
          </ac:spMkLst>
        </pc:spChg>
      </pc:sldChg>
      <pc:sldChg chg="modSp mod">
        <pc:chgData name="Matthieu De Mari" userId="dfb708c9-d8dc-439f-9a3b-c772bf4a311c" providerId="ADAL" clId="{81E9B007-0C2C-493E-9B93-55A62C9C1F12}" dt="2025-12-18T21:34:27.034" v="162" actId="20577"/>
        <pc:sldMkLst>
          <pc:docMk/>
          <pc:sldMk cId="3771406022" sldId="589"/>
        </pc:sldMkLst>
        <pc:spChg chg="mod">
          <ac:chgData name="Matthieu De Mari" userId="dfb708c9-d8dc-439f-9a3b-c772bf4a311c" providerId="ADAL" clId="{81E9B007-0C2C-493E-9B93-55A62C9C1F12}" dt="2025-12-18T21:34:27.034" v="162" actId="20577"/>
          <ac:spMkLst>
            <pc:docMk/>
            <pc:sldMk cId="3771406022" sldId="589"/>
            <ac:spMk id="3" creationId="{1686B346-F257-1111-943C-75EAE45D13D2}"/>
          </ac:spMkLst>
        </pc:spChg>
      </pc:sldChg>
      <pc:sldChg chg="modSp mod">
        <pc:chgData name="Matthieu De Mari" userId="dfb708c9-d8dc-439f-9a3b-c772bf4a311c" providerId="ADAL" clId="{81E9B007-0C2C-493E-9B93-55A62C9C1F12}" dt="2025-12-18T21:40:15.272" v="240" actId="14100"/>
        <pc:sldMkLst>
          <pc:docMk/>
          <pc:sldMk cId="3283345998" sldId="590"/>
        </pc:sldMkLst>
        <pc:spChg chg="mod">
          <ac:chgData name="Matthieu De Mari" userId="dfb708c9-d8dc-439f-9a3b-c772bf4a311c" providerId="ADAL" clId="{81E9B007-0C2C-493E-9B93-55A62C9C1F12}" dt="2025-12-18T21:40:15.272" v="240" actId="14100"/>
          <ac:spMkLst>
            <pc:docMk/>
            <pc:sldMk cId="3283345998" sldId="590"/>
            <ac:spMk id="7" creationId="{A2AD8076-6887-CB42-016B-8FBD46BE46D9}"/>
          </ac:spMkLst>
        </pc:spChg>
      </pc:sldChg>
      <pc:sldChg chg="modSp">
        <pc:chgData name="Matthieu De Mari" userId="dfb708c9-d8dc-439f-9a3b-c772bf4a311c" providerId="ADAL" clId="{81E9B007-0C2C-493E-9B93-55A62C9C1F12}" dt="2025-12-18T21:39:38.984" v="205" actId="20577"/>
        <pc:sldMkLst>
          <pc:docMk/>
          <pc:sldMk cId="909948808" sldId="591"/>
        </pc:sldMkLst>
        <pc:spChg chg="mod">
          <ac:chgData name="Matthieu De Mari" userId="dfb708c9-d8dc-439f-9a3b-c772bf4a311c" providerId="ADAL" clId="{81E9B007-0C2C-493E-9B93-55A62C9C1F12}" dt="2025-12-18T21:39:38.984" v="205" actId="20577"/>
          <ac:spMkLst>
            <pc:docMk/>
            <pc:sldMk cId="909948808" sldId="591"/>
            <ac:spMk id="7" creationId="{A2AD8076-6887-CB42-016B-8FBD46BE46D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323533a0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.uk/citations?user=JicYPdAAAAAJ&amp;hl=en" TargetMode="External"/><Relationship Id="rId2" Type="http://schemas.openxmlformats.org/officeDocument/2006/relationships/hyperlink" Target="https://www.cs.toronto.edu/~hint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ytimes.com/2011/03/19/health/19rumelhart.html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mit.edu/2022/neural-networks-brain-function-1102" TargetMode="External"/><Relationship Id="rId2" Type="http://schemas.openxmlformats.org/officeDocument/2006/relationships/hyperlink" Target="https://www.quantamagazine.org/artificial-neural-nets-finally-yield-clues-to-how-brains-learn-2021021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W1-S3 Introduction and Machine Learning Reminders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different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families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problems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structure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 a Deep Learning problem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linear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algorithm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is it used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models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polynomial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 in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Ridge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overfitting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underfitting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how to evaluate it?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train-test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split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related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 startAt="8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(How to </a:t>
            </a:r>
            <a:r>
              <a:rPr lang="en-US" b="1" dirty="0"/>
              <a:t>train</a:t>
            </a:r>
            <a:r>
              <a:rPr lang="en-US" dirty="0"/>
              <a:t> </a:t>
            </a:r>
            <a:r>
              <a:rPr lang="en-US" b="1" dirty="0"/>
              <a:t>a shallow Neural Network </a:t>
            </a:r>
            <a:r>
              <a:rPr lang="en-US" dirty="0"/>
              <a:t>using </a:t>
            </a:r>
            <a:r>
              <a:rPr lang="en-US" b="1" dirty="0"/>
              <a:t>backpropagation</a:t>
            </a:r>
            <a:r>
              <a:rPr lang="en-US" dirty="0"/>
              <a:t>? How to define </a:t>
            </a:r>
            <a:r>
              <a:rPr lang="en-US" b="1" dirty="0"/>
              <a:t>backward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and </a:t>
            </a:r>
            <a:r>
              <a:rPr lang="en-US" b="1" dirty="0"/>
              <a:t>trainer</a:t>
            </a:r>
            <a:r>
              <a:rPr lang="en-US" dirty="0"/>
              <a:t> functions?)</a:t>
            </a:r>
          </a:p>
          <a:p>
            <a:pPr marL="514350" indent="-514350">
              <a:buFont typeface="+mj-lt"/>
              <a:buAutoNum type="arabicPeriod" startAt="14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0584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6, we will prepare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18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577669" cy="503237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But a human brain is not just one neuron, it is many of them arranged into a network of some sort!</a:t>
            </a:r>
          </a:p>
          <a:p>
            <a:r>
              <a:rPr lang="en-GB" dirty="0"/>
              <a:t>Eventually, the output signal produced by a neuron will be passed to other neurons in the brain.</a:t>
            </a:r>
          </a:p>
          <a:p>
            <a:r>
              <a:rPr lang="en-GB" dirty="0"/>
              <a:t>In fact, 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(NN) could be used to solve some of the problems that biological NN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argument/debate in the community </a:t>
            </a:r>
            <a:r>
              <a:rPr lang="en-US" dirty="0"/>
              <a:t>[Quanta2021] and [MITNews2022].</a:t>
            </a:r>
            <a:endParaRPr lang="en-SG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613" y="9331"/>
            <a:ext cx="9066623" cy="68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2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  <a:blipFill>
                <a:blip r:embed="rId2"/>
                <a:stretch>
                  <a:fillRect l="-114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generated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43" y="5347243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041662" y="3219938"/>
            <a:ext cx="51503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random values!)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7053384" y="4483510"/>
            <a:ext cx="332154" cy="84962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842-7F62-CF52-EA5A-6F60E0A4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A6B828-D9CD-5DA9-3D1E-6F24E022D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the current model parameter are garbage in terms of loss values. 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 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78C1D-9A19-BD60-AD2B-0ACC41A2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688" y="4455811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476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1464-B2B5-4EE7-DEF2-910D29FE3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dirty="0">
                <a:solidFill>
                  <a:srgbClr val="7030A0"/>
                </a:solidFill>
              </a:rPr>
              <a:t>gradient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b="1" dirty="0">
                <a:solidFill>
                  <a:srgbClr val="7030A0"/>
                </a:solidFill>
              </a:rPr>
              <a:t>descent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10190-FF3B-624E-DD3E-30221ED6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313" y="1420427"/>
            <a:ext cx="4234487" cy="536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13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Backpropagation will tell our model </a:t>
                </a:r>
                <a:r>
                  <a:rPr lang="en-GB" b="1" dirty="0"/>
                  <a:t>how</a:t>
                </a:r>
                <a:r>
                  <a:rPr lang="en-GB" dirty="0"/>
                  <a:t> </a:t>
                </a:r>
                <a:r>
                  <a:rPr lang="en-GB" b="1" dirty="0"/>
                  <a:t>to</a:t>
                </a:r>
                <a:r>
                  <a:rPr lang="en-GB" dirty="0"/>
                  <a:t> </a:t>
                </a:r>
                <a:r>
                  <a:rPr lang="en-GB" b="1" dirty="0"/>
                  <a:t>adjust</a:t>
                </a:r>
                <a:r>
                  <a:rPr lang="en-GB" dirty="0"/>
                  <a:t>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matrices in each layer, to improve the neural network model loss and prediction capabilities.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will be implemented in the </a:t>
                </a:r>
                <a:r>
                  <a:rPr lang="en-GB" b="1" dirty="0"/>
                  <a:t>backward()</a:t>
                </a:r>
                <a:r>
                  <a:rPr lang="en-GB" dirty="0"/>
                  <a:t> method of our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  <a:blipFill>
                <a:blip r:embed="rId2"/>
                <a:stretch>
                  <a:fillRect l="-2966" t="-1937" r="-4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FEA9E2-AE7C-23F8-DA29-FB5939F4F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dirty="0">
                <a:solidFill>
                  <a:srgbClr val="7030A0"/>
                </a:solidFill>
              </a:rPr>
              <a:t>gradient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b="1" dirty="0">
                <a:solidFill>
                  <a:srgbClr val="7030A0"/>
                </a:solidFill>
              </a:rPr>
              <a:t>descent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4190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/>
            </a:br>
            <a:r>
              <a:rPr lang="en-GB" sz="4400"/>
              <a:t>Strongly </a:t>
            </a:r>
            <a:r>
              <a:rPr lang="en-GB" sz="4400" dirty="0"/>
              <a:t>encouraging to try and redo the math/implementation shown hereafter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67076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While our Neural Network seems to be complicated in its architecture, at the end of the day, training it consists of solving a</a:t>
                </a:r>
                <a:r>
                  <a:rPr lang="en-GB" dirty="0"/>
                  <a:t> basic</a:t>
                </a:r>
                <a:r>
                  <a:rPr lang="en-GB" b="0" dirty="0"/>
                  <a:t> </a:t>
                </a:r>
                <a:r>
                  <a:rPr lang="en-GB" b="1" dirty="0"/>
                  <a:t>optimization</a:t>
                </a:r>
                <a:r>
                  <a:rPr lang="en-GB" b="0" dirty="0"/>
                  <a:t> </a:t>
                </a:r>
                <a:r>
                  <a:rPr lang="en-GB" b="1" dirty="0"/>
                  <a:t>problem</a:t>
                </a:r>
                <a:r>
                  <a:rPr lang="en-GB" b="0" dirty="0"/>
                  <a:t>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being the number of samples in the dataset. We will use </a:t>
                </a:r>
                <a:r>
                  <a:rPr lang="en-GB" b="1" dirty="0"/>
                  <a:t>gradient</a:t>
                </a:r>
                <a:r>
                  <a:rPr lang="en-GB" dirty="0"/>
                  <a:t> </a:t>
                </a:r>
                <a:r>
                  <a:rPr lang="en-GB" b="1" dirty="0"/>
                  <a:t>descent</a:t>
                </a:r>
                <a:r>
                  <a:rPr lang="en-GB" dirty="0"/>
                  <a:t>, like we did for the Linear Regression, except that this time we have 4 parameters being matrices and a loss function that is a bit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709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continue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Before we continue, a quick note about square matrices.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The notation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is somewhat abusive when A is a matrix, the correct way would be to write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But in the formula above, that would lead to a very large formula (too large for slides!)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0210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Let us denote </a:t>
                </a:r>
                <a:r>
                  <a:rPr lang="en-GB" dirty="0"/>
                  <a:t>the error term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the chain rule, we can simply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741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Since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 defined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657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just computed the formula for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which was defined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can define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as: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1707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Similarly,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𝐴𝑛𝑑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 therefore,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0161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7ACE-8066-4F00-7999-D0BC3EE9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that we have all update rules…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We have figured the four update rules to use for backpropagation…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3752D9-2428-B51F-D3E0-47A60E66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691554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Now it is about implementing two additional methods for our Neural Network class: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Backward method:</a:t>
            </a:r>
            <a:r>
              <a:rPr lang="en-GB" dirty="0"/>
              <a:t> It performs the calculation of gradients, in matrix form, and parameters adjustments using the gradient descent update rules shown on the left.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Trainer method: </a:t>
            </a:r>
            <a:r>
              <a:rPr lang="en-GB" dirty="0"/>
              <a:t>It repeats the backward method, reusing the gradient descent for-loop function from earlier in Notebook 2, until a maximal number of iterations is reached or convergence is seen.</a:t>
            </a:r>
          </a:p>
        </p:txBody>
      </p:sp>
    </p:spTree>
    <p:extLst>
      <p:ext uri="{BB962C8B-B14F-4D97-AF65-F5344CB8AC3E}">
        <p14:creationId xmlns:p14="http://schemas.microsoft.com/office/powerpoint/2010/main" val="3838573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/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32513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117B4-9943-53F6-ED9D-46E8346E5B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56"/>
          <a:stretch/>
        </p:blipFill>
        <p:spPr>
          <a:xfrm>
            <a:off x="4908054" y="1754636"/>
            <a:ext cx="7272188" cy="46679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  <a:blipFill>
                <a:blip r:embed="rId3"/>
                <a:stretch>
                  <a:fillRect l="-2857" t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4142154"/>
            <a:ext cx="6510216" cy="155526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0224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  <a:blipFill>
                <a:blip r:embed="rId2"/>
                <a:stretch>
                  <a:fillRect l="-285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EA09EC47-53EC-0757-D626-25F76A43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053"/>
          <a:stretch/>
        </p:blipFill>
        <p:spPr>
          <a:xfrm>
            <a:off x="5322276" y="1867831"/>
            <a:ext cx="6869723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2602524"/>
            <a:ext cx="6510216" cy="82647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C23481-5FCE-ADF6-1072-441B81A61296}"/>
              </a:ext>
            </a:extLst>
          </p:cNvPr>
          <p:cNvSpPr/>
          <p:nvPr/>
        </p:nvSpPr>
        <p:spPr>
          <a:xfrm>
            <a:off x="5251938" y="3540369"/>
            <a:ext cx="6510216" cy="129735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5576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Effect of the backpropagation</a:t>
                </a:r>
              </a:p>
              <a:p>
                <a:r>
                  <a:rPr lang="en-GB" dirty="0"/>
                  <a:t>Every time we call the backward() method, our model will update its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After every call of backward(), our model seems to become better at the task in question, shown by improvements in loss values.</a:t>
                </a:r>
              </a:p>
              <a:p>
                <a:r>
                  <a:rPr lang="en-GB" dirty="0"/>
                  <a:t>This can be seen by looking at the loss values decreasing after each iteration of the backward() method.</a:t>
                </a:r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  <a:blipFill>
                <a:blip r:embed="rId2"/>
                <a:stretch>
                  <a:fillRect l="-2251" t="-1937" r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414E21-5814-E30A-0474-771DE2E61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240" y="1195635"/>
            <a:ext cx="535379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691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 (reminder).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931465"/>
              </p:ext>
            </p:extLst>
          </p:nvPr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2DABBCF-853A-F78E-B5E6-9851A9319DB0}"/>
              </a:ext>
            </a:extLst>
          </p:cNvPr>
          <p:cNvSpPr txBox="1"/>
          <p:nvPr/>
        </p:nvSpPr>
        <p:spPr>
          <a:xfrm>
            <a:off x="7236542" y="2083979"/>
            <a:ext cx="1415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15A2-7E87-E209-2081-6974AE7A2A70}"/>
              </a:ext>
            </a:extLst>
          </p:cNvPr>
          <p:cNvSpPr txBox="1"/>
          <p:nvPr/>
        </p:nvSpPr>
        <p:spPr>
          <a:xfrm>
            <a:off x="9020561" y="5104026"/>
            <a:ext cx="146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B8996-183E-C7D3-C2BD-85890F670A0F}"/>
              </a:ext>
            </a:extLst>
          </p:cNvPr>
          <p:cNvSpPr txBox="1"/>
          <p:nvPr/>
        </p:nvSpPr>
        <p:spPr>
          <a:xfrm>
            <a:off x="3810000" y="6169954"/>
            <a:ext cx="117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Next!</a:t>
            </a:r>
          </a:p>
        </p:txBody>
      </p:sp>
    </p:spTree>
    <p:extLst>
      <p:ext uri="{BB962C8B-B14F-4D97-AF65-F5344CB8AC3E}">
        <p14:creationId xmlns:p14="http://schemas.microsoft.com/office/powerpoint/2010/main" val="17302522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75BA27BA-A00B-0FCE-0582-78B6656F33F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S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36A3827-979C-6ACF-D7C4-9F6B6164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B952A-D02B-AB55-6062-2A9EE5E7F4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0"/>
          <a:stretch/>
        </p:blipFill>
        <p:spPr>
          <a:xfrm>
            <a:off x="5240282" y="1574398"/>
            <a:ext cx="6829951" cy="50967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Train function implementation</a:t>
                </a:r>
              </a:p>
              <a:p>
                <a:r>
                  <a:rPr lang="en-GB" dirty="0"/>
                  <a:t>Iterate the backward() method for a given number of iterations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i="1" dirty="0" smtClean="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m:rPr>
                            <m:sty m:val="p"/>
                          </m:rPr>
                          <a:rPr lang="en-GB" i="1" dirty="0" err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Display new loss values and append them in a list for display later.</a:t>
                </a:r>
              </a:p>
              <a:p>
                <a:r>
                  <a:rPr lang="en-SG" dirty="0"/>
                  <a:t>Also implemented an early stopping, which will break for loop if no change in parameters during an iteration of backward().</a:t>
                </a:r>
              </a:p>
              <a:p>
                <a:r>
                  <a:rPr lang="en-SG" dirty="0"/>
                  <a:t>Similar to GD in Notebook 2!</a:t>
                </a:r>
              </a:p>
            </p:txBody>
          </p:sp>
        </mc:Choice>
        <mc:Fallback xmlns="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  <a:blipFill>
                <a:blip r:embed="rId3"/>
                <a:stretch>
                  <a:fillRect l="-2317" t="-2463" r="-30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187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73E8C8-D9B8-0CFB-D144-4318B5BE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08" y="1693454"/>
            <a:ext cx="11978764" cy="457448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8A7AC-899E-B788-34CD-EBC34917E865}"/>
              </a:ext>
            </a:extLst>
          </p:cNvPr>
          <p:cNvSpPr txBox="1">
            <a:spLocks/>
          </p:cNvSpPr>
          <p:nvPr/>
        </p:nvSpPr>
        <p:spPr>
          <a:xfrm flipH="1">
            <a:off x="4946682" y="2831689"/>
            <a:ext cx="6773369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Successful training as losses are decreasing over iterations?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879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BC5D3-5690-1CC7-4476-5F4D434E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curves below are called </a:t>
            </a:r>
            <a:r>
              <a:rPr lang="en-GB" b="1" dirty="0"/>
              <a:t>training curves </a:t>
            </a:r>
            <a:r>
              <a:rPr lang="en-GB" dirty="0"/>
              <a:t>and are useful to show how the training went (make an extra viz method to be used </a:t>
            </a:r>
            <a:r>
              <a:rPr lang="en-GB"/>
              <a:t>after training?).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78ADEC-B29A-5E01-25E5-5D154C757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35199" y="2747847"/>
            <a:ext cx="5660802" cy="4110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97B373-35AF-E358-C817-5CD737AE27B9}"/>
              </a:ext>
            </a:extLst>
          </p:cNvPr>
          <p:cNvSpPr txBox="1">
            <a:spLocks/>
          </p:cNvSpPr>
          <p:nvPr/>
        </p:nvSpPr>
        <p:spPr>
          <a:xfrm flipH="1">
            <a:off x="6744928" y="3128160"/>
            <a:ext cx="5011871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Loss has decreased and </a:t>
            </a:r>
            <a:r>
              <a:rPr lang="en-GB" sz="3600" b="1">
                <a:solidFill>
                  <a:schemeClr val="accent2"/>
                </a:solidFill>
              </a:rPr>
              <a:t>converged.</a:t>
            </a:r>
          </a:p>
          <a:p>
            <a:r>
              <a:rPr lang="en-GB" sz="3600" b="1">
                <a:solidFill>
                  <a:schemeClr val="accent2"/>
                </a:solidFill>
              </a:rPr>
              <a:t>Confirmed </a:t>
            </a:r>
            <a:r>
              <a:rPr lang="en-GB" sz="3600" b="1" dirty="0">
                <a:solidFill>
                  <a:schemeClr val="accent2"/>
                </a:solidFill>
              </a:rPr>
              <a:t>training?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878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51D0-3157-BB55-3D73-2FB657E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273" y="365125"/>
            <a:ext cx="4012163" cy="6203626"/>
          </a:xfrm>
        </p:spPr>
        <p:txBody>
          <a:bodyPr>
            <a:normAutofit/>
          </a:bodyPr>
          <a:lstStyle/>
          <a:p>
            <a:r>
              <a:rPr lang="en-GB" dirty="0"/>
              <a:t>Finally, we will make the trainer function and the performance curves function into methods for our class.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ACBEC-BCD7-CC8D-3FB8-E80788F6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37" y="459804"/>
            <a:ext cx="7974563" cy="639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9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196888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  <a:r>
              <a:rPr lang="en-US"/>
              <a:t>(Week 1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US" dirty="0"/>
              <a:t>Reminders of Machine Learning</a:t>
            </a:r>
          </a:p>
          <a:p>
            <a:r>
              <a:rPr lang="en-US" dirty="0"/>
              <a:t>Linear</a:t>
            </a:r>
          </a:p>
          <a:p>
            <a:r>
              <a:rPr lang="en-US" dirty="0"/>
              <a:t>Using a normal equation to train a linear regression</a:t>
            </a:r>
          </a:p>
          <a:p>
            <a:r>
              <a:rPr lang="en-US" dirty="0"/>
              <a:t>Gradient descent as a training procedure for linear regression</a:t>
            </a:r>
          </a:p>
          <a:p>
            <a:r>
              <a:rPr lang="en-US" dirty="0"/>
              <a:t>Polynomial Regression</a:t>
            </a:r>
          </a:p>
          <a:p>
            <a:r>
              <a:rPr lang="en-US" dirty="0"/>
              <a:t>Regularization in Ridge/Lasso Regression</a:t>
            </a:r>
          </a:p>
          <a:p>
            <a:r>
              <a:rPr lang="en-US" dirty="0"/>
              <a:t>Train-test split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Overfitting and underfitting</a:t>
            </a:r>
          </a:p>
          <a:p>
            <a:r>
              <a:rPr lang="en-GB" dirty="0"/>
              <a:t>Generalization</a:t>
            </a:r>
          </a:p>
          <a:p>
            <a:r>
              <a:rPr lang="en-GB" dirty="0"/>
              <a:t>Sigmoid and Logistic functions</a:t>
            </a:r>
          </a:p>
          <a:p>
            <a:r>
              <a:rPr lang="en-GB" dirty="0"/>
              <a:t>From linear regression to logistic regression</a:t>
            </a:r>
          </a:p>
          <a:p>
            <a:r>
              <a:rPr lang="en-GB" dirty="0"/>
              <a:t>Using logistic regression for binary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2347452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Implementing a shallow neural network in </a:t>
            </a:r>
            <a:r>
              <a:rPr lang="en-GB" dirty="0" err="1"/>
              <a:t>Numpy</a:t>
            </a:r>
            <a:endParaRPr lang="en-GB" dirty="0"/>
          </a:p>
          <a:p>
            <a:r>
              <a:rPr lang="en-GB" dirty="0"/>
              <a:t>Forward propagation method, to formulate predictions</a:t>
            </a:r>
          </a:p>
          <a:p>
            <a:r>
              <a:rPr lang="en-GB" dirty="0"/>
              <a:t>The backpropagation mechanism, as the gradient descent on Neural Network</a:t>
            </a:r>
          </a:p>
          <a:p>
            <a:r>
              <a:rPr lang="en-GB" dirty="0"/>
              <a:t>Backward method for training and trainer functions to iterate backward iterations</a:t>
            </a:r>
          </a:p>
          <a:p>
            <a:r>
              <a:rPr lang="en-GB" dirty="0"/>
              <a:t>Performance/training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Initializations to break symmetries</a:t>
            </a:r>
          </a:p>
          <a:p>
            <a:r>
              <a:rPr lang="en-GB" dirty="0"/>
              <a:t>Exploding and vanishing gradients</a:t>
            </a:r>
          </a:p>
          <a:p>
            <a:r>
              <a:rPr lang="en-GB" dirty="0"/>
              <a:t>Activation functions and non-linearities in Neural Networks</a:t>
            </a:r>
          </a:p>
          <a:p>
            <a:r>
              <a:rPr lang="en-GB" dirty="0"/>
              <a:t>Advanced optimizers</a:t>
            </a:r>
          </a:p>
          <a:p>
            <a:r>
              <a:rPr lang="en-GB" dirty="0"/>
              <a:t>Validation sets, early stopping, saver and loader functions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[Géron2019] A. </a:t>
            </a:r>
            <a:r>
              <a:rPr lang="en-GB" dirty="0" err="1"/>
              <a:t>Géron</a:t>
            </a:r>
            <a:r>
              <a:rPr lang="en-GB" dirty="0"/>
              <a:t> , “How Neural Networks Work”, 2019.</a:t>
            </a:r>
          </a:p>
          <a:p>
            <a:r>
              <a:rPr lang="en-GB" dirty="0"/>
              <a:t>[Yamins2016] </a:t>
            </a:r>
            <a:r>
              <a:rPr lang="en-GB" dirty="0" err="1"/>
              <a:t>Yamins</a:t>
            </a:r>
            <a:r>
              <a:rPr lang="en-GB" dirty="0"/>
              <a:t> et al., “Deep neural networks are robust computational models of the human visual system”, 2016.</a:t>
            </a:r>
          </a:p>
          <a:p>
            <a:r>
              <a:rPr lang="en-GB" dirty="0"/>
              <a:t>[Kriegeskorte2013] </a:t>
            </a:r>
            <a:r>
              <a:rPr lang="en-GB" dirty="0" err="1"/>
              <a:t>Kriegeskorte</a:t>
            </a:r>
            <a:r>
              <a:rPr lang="en-GB" dirty="0"/>
              <a:t> and </a:t>
            </a:r>
            <a:r>
              <a:rPr lang="en-GB" dirty="0" err="1"/>
              <a:t>Kievit</a:t>
            </a:r>
            <a:r>
              <a:rPr lang="en-GB" dirty="0"/>
              <a:t>, “Neural Network Models of the Human Brain”, 2013.</a:t>
            </a:r>
          </a:p>
          <a:p>
            <a:r>
              <a:rPr lang="en-GB" dirty="0"/>
              <a:t>[Rumelhart1986] D.E.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,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, Williams, “Learning representations by back-propagating errors</a:t>
            </a:r>
            <a:r>
              <a:rPr lang="en-GB"/>
              <a:t>“, 1986.</a:t>
            </a:r>
            <a:br>
              <a:rPr lang="en-GB" dirty="0"/>
            </a:br>
            <a:r>
              <a:rPr lang="en-GB" dirty="0">
                <a:hlinkClick r:id="rId2"/>
              </a:rPr>
              <a:t>https://www.nature.com/articles/323533a0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Keep track of important names and follow their social media (Follow them on Scholar, Twitter, or whatever works for you!)</a:t>
            </a:r>
          </a:p>
          <a:p>
            <a:r>
              <a:rPr lang="en-GB" b="1" dirty="0"/>
              <a:t>Geoffrey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b="1"/>
              <a:t>: Emeritus Professor</a:t>
            </a:r>
            <a:r>
              <a:rPr lang="en-GB"/>
              <a:t> </a:t>
            </a:r>
            <a:r>
              <a:rPr lang="en-GB" dirty="0"/>
              <a:t>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Toronto</a:t>
            </a:r>
            <a:r>
              <a:rPr lang="en-GB" dirty="0"/>
              <a:t>, </a:t>
            </a:r>
            <a:r>
              <a:rPr lang="en-GB" b="1" u="sng" dirty="0"/>
              <a:t>one of the three Godfathers of Deep Learning</a:t>
            </a:r>
            <a:r>
              <a:rPr lang="en-GB" dirty="0"/>
              <a:t> and </a:t>
            </a:r>
            <a:r>
              <a:rPr lang="en-GB" b="1" dirty="0"/>
              <a:t>2018</a:t>
            </a:r>
            <a:r>
              <a:rPr lang="en-GB" dirty="0"/>
              <a:t> </a:t>
            </a:r>
            <a:r>
              <a:rPr lang="en-GB" b="1" dirty="0"/>
              <a:t>Turing</a:t>
            </a:r>
            <a:r>
              <a:rPr lang="en-GB" dirty="0"/>
              <a:t> </a:t>
            </a:r>
            <a:r>
              <a:rPr lang="en-GB" b="1" dirty="0"/>
              <a:t>Award</a:t>
            </a:r>
            <a:r>
              <a:rPr lang="en-GB" dirty="0"/>
              <a:t> winner (highest distinction in Computer Science), Nobel Prize Physics </a:t>
            </a:r>
            <a:r>
              <a:rPr lang="en-GB"/>
              <a:t>2025. Formerly</a:t>
            </a:r>
            <a:r>
              <a:rPr lang="en-GB" dirty="0"/>
              <a:t>, Google.</a:t>
            </a:r>
            <a:br>
              <a:rPr lang="en-GB" dirty="0"/>
            </a:br>
            <a:r>
              <a:rPr lang="en-GB" dirty="0">
                <a:hlinkClick r:id="rId2"/>
              </a:rPr>
              <a:t>https://www.cs.toronto.edu/~hinton/</a:t>
            </a:r>
            <a:br>
              <a:rPr lang="en-GB" dirty="0"/>
            </a:br>
            <a:r>
              <a:rPr lang="en-GB" dirty="0">
                <a:hlinkClick r:id="rId3"/>
              </a:rPr>
              <a:t>https://scholar.google.co.uk/citations?user=JicYPdAAAAAJ&amp;hl=en</a:t>
            </a:r>
            <a:endParaRPr lang="en-GB" dirty="0"/>
          </a:p>
          <a:p>
            <a:r>
              <a:rPr lang="en-GB" b="1" dirty="0"/>
              <a:t>David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b="1" dirty="0"/>
              <a:t>: Former</a:t>
            </a:r>
            <a:r>
              <a:rPr lang="en-GB" dirty="0"/>
              <a:t> </a:t>
            </a:r>
            <a:r>
              <a:rPr lang="en-GB" b="1" dirty="0"/>
              <a:t>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California</a:t>
            </a:r>
            <a:r>
              <a:rPr lang="en-GB" dirty="0"/>
              <a:t>, credited for inventing </a:t>
            </a:r>
            <a:r>
              <a:rPr lang="en-GB" b="1" dirty="0"/>
              <a:t>backpropagation along </a:t>
            </a:r>
            <a:r>
              <a:rPr lang="en-GB" dirty="0"/>
              <a:t>with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. Passed away in 2011.</a:t>
            </a:r>
            <a:br>
              <a:rPr lang="en-GB" dirty="0"/>
            </a:br>
            <a:r>
              <a:rPr lang="en-GB" dirty="0">
                <a:hlinkClick r:id="rId4"/>
              </a:rPr>
              <a:t>https://www.nytimes.com/2011/03/19/health/19rumelhart.html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832B-64A0-31D2-0826-E57544CB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Twitter, the theater for AI/DL drama and announcements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A17C7-13E2-9695-C51D-AFA8CB90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61" y="1306201"/>
            <a:ext cx="5257729" cy="5341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DC48C-CCE8-09D4-1DEE-739B3DA9C1A1}"/>
              </a:ext>
            </a:extLst>
          </p:cNvPr>
          <p:cNvSpPr txBox="1"/>
          <p:nvPr/>
        </p:nvSpPr>
        <p:spPr>
          <a:xfrm>
            <a:off x="10128737" y="2308598"/>
            <a:ext cx="11332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</a:t>
            </a:r>
            <a:endParaRPr lang="en-GB" b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CE0F1-D047-5775-0DAB-8E9E6854C10D}"/>
              </a:ext>
            </a:extLst>
          </p:cNvPr>
          <p:cNvSpPr txBox="1"/>
          <p:nvPr/>
        </p:nvSpPr>
        <p:spPr>
          <a:xfrm>
            <a:off x="10244014" y="4961921"/>
            <a:ext cx="15494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 and Chief of AI at Meta (Facebook)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8AB4B-E1DA-2191-71E2-0F2C6974F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61" b="19216"/>
          <a:stretch/>
        </p:blipFill>
        <p:spPr>
          <a:xfrm>
            <a:off x="197410" y="1690689"/>
            <a:ext cx="6338276" cy="26077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393F3F-BB30-6898-F752-B54E2331B154}"/>
              </a:ext>
            </a:extLst>
          </p:cNvPr>
          <p:cNvSpPr txBox="1"/>
          <p:nvPr/>
        </p:nvSpPr>
        <p:spPr>
          <a:xfrm>
            <a:off x="3473936" y="3414204"/>
            <a:ext cx="3262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Announcing Dall-E 2 and its future release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FBA129-175C-A5BD-63AF-33228B6AEE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34" b="50216"/>
          <a:stretch/>
        </p:blipFill>
        <p:spPr>
          <a:xfrm>
            <a:off x="291192" y="4060535"/>
            <a:ext cx="5070159" cy="274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81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[Quanta2021] “</a:t>
            </a:r>
            <a:r>
              <a:rPr lang="en-GB" dirty="0"/>
              <a:t>Artificial Neural Nets Finally Yield Clues to How Brains Learn</a:t>
            </a:r>
            <a:r>
              <a:rPr lang="en-US" dirty="0"/>
              <a:t>“, 2021.</a:t>
            </a:r>
            <a:br>
              <a:rPr lang="en-US" dirty="0"/>
            </a:br>
            <a:r>
              <a:rPr lang="en-US" dirty="0">
                <a:hlinkClick r:id="rId2"/>
              </a:rPr>
              <a:t>https://www.quantamagazine.org/artificial-neural-nets-finally-yield-clues-to-how-brains-learn-20210218/</a:t>
            </a:r>
            <a:endParaRPr lang="en-US" dirty="0"/>
          </a:p>
          <a:p>
            <a:r>
              <a:rPr lang="en-US" dirty="0"/>
              <a:t>[MITNews2022] “</a:t>
            </a:r>
            <a:r>
              <a:rPr lang="en-GB" dirty="0"/>
              <a:t>Study urges caution when comparing neural networks to the brain”, 2022.</a:t>
            </a:r>
            <a:br>
              <a:rPr lang="en-GB" dirty="0"/>
            </a:br>
            <a:r>
              <a:rPr lang="en-US" dirty="0">
                <a:hlinkClick r:id="rId3"/>
              </a:rPr>
              <a:t>https://news.mit.edu/2022/neural-networks-brain-function-1102</a:t>
            </a:r>
            <a:endParaRPr lang="en-US" dirty="0"/>
          </a:p>
          <a:p>
            <a:r>
              <a:rPr lang="en-US" dirty="0"/>
              <a:t>[Medium2020] “</a:t>
            </a:r>
            <a:r>
              <a:rPr lang="en-GB" dirty="0"/>
              <a:t>Who Invented Backpropagation? Hinton Says He Didn’t, but His Work Made It Popular</a:t>
            </a:r>
            <a:r>
              <a:rPr lang="en-US" dirty="0"/>
              <a:t>“, 2020.</a:t>
            </a:r>
            <a:br>
              <a:rPr lang="en-US" dirty="0"/>
            </a:br>
            <a:r>
              <a:rPr lang="en-US" dirty="0">
                <a:hlinkClick r:id="rId2"/>
              </a:rPr>
              <a:t>https://medium.com/syncedreview/who-invented-backpropagation-hinton-says-he-didnt-but-his-work-made-it-popular-e0854504d6d1/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3321</TotalTime>
  <Words>5297</Words>
  <Application>Microsoft Office PowerPoint</Application>
  <PresentationFormat>Widescreen</PresentationFormat>
  <Paragraphs>460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W1-S3 Introduction and Machine Learning Reminders</vt:lpstr>
      <vt:lpstr>About this week (Week 1)</vt:lpstr>
      <vt:lpstr>About this week (Week 1)</vt:lpstr>
      <vt:lpstr>About this week (Week 1)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The backpropagation mechanism</vt:lpstr>
      <vt:lpstr>The backpropagation mechanism</vt:lpstr>
      <vt:lpstr>Backpropagation is heavy to manually calculate and implement… Strongly encouraging to try and redo the math/implementation shown hereafter on your own! </vt:lpstr>
      <vt:lpstr>Backpropagation in our model</vt:lpstr>
      <vt:lpstr>Before we continue</vt:lpstr>
      <vt:lpstr>Chain rule, to the rescue!</vt:lpstr>
      <vt:lpstr>Chain rule, to the rescue!</vt:lpstr>
      <vt:lpstr>Chain rule, to the rescue!</vt:lpstr>
      <vt:lpstr>Chain rule, to the rescue!</vt:lpstr>
      <vt:lpstr>Now that we have all update rules…</vt:lpstr>
      <vt:lpstr>Training procedure, in short.</vt:lpstr>
      <vt:lpstr>Backpropagation in our model</vt:lpstr>
      <vt:lpstr>Backpropagation in our model</vt:lpstr>
      <vt:lpstr>Backpropagation in our model</vt:lpstr>
      <vt:lpstr>Training procedure, in short (reminder).</vt:lpstr>
      <vt:lpstr>Trainer function for our model</vt:lpstr>
      <vt:lpstr>Trainer function for our model</vt:lpstr>
      <vt:lpstr>Trainer function for our model</vt:lpstr>
      <vt:lpstr>Finally, we will make the trainer function and the performance curves function into methods for our class.</vt:lpstr>
      <vt:lpstr>Backpropagation is heavy to manually calculate and implement… Strongly encouraging to try and redo the math/implementation shown on your own! </vt:lpstr>
      <vt:lpstr>Conclusion (Week 1)</vt:lpstr>
      <vt:lpstr>Conclusion (Week 1)</vt:lpstr>
      <vt:lpstr>Learn more about these topics</vt:lpstr>
      <vt:lpstr>Learn more about these topics</vt:lpstr>
      <vt:lpstr>Twitter, the theater for AI/DL drama and announcements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2026-01-16T05:19:29Z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