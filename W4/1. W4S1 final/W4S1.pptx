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6"/>
  </p:notesMasterIdLst>
  <p:sldIdLst>
    <p:sldId id="377" r:id="rId2"/>
    <p:sldId id="257" r:id="rId3"/>
    <p:sldId id="598" r:id="rId4"/>
    <p:sldId id="599" r:id="rId5"/>
    <p:sldId id="600" r:id="rId6"/>
    <p:sldId id="380" r:id="rId7"/>
    <p:sldId id="412" r:id="rId8"/>
    <p:sldId id="413" r:id="rId9"/>
    <p:sldId id="385" r:id="rId10"/>
    <p:sldId id="378" r:id="rId11"/>
    <p:sldId id="414" r:id="rId12"/>
    <p:sldId id="381" r:id="rId13"/>
    <p:sldId id="382" r:id="rId14"/>
    <p:sldId id="383" r:id="rId15"/>
    <p:sldId id="384" r:id="rId16"/>
    <p:sldId id="379" r:id="rId17"/>
    <p:sldId id="605" r:id="rId18"/>
    <p:sldId id="386" r:id="rId19"/>
    <p:sldId id="415" r:id="rId20"/>
    <p:sldId id="388" r:id="rId21"/>
    <p:sldId id="416" r:id="rId22"/>
    <p:sldId id="417" r:id="rId23"/>
    <p:sldId id="418" r:id="rId24"/>
    <p:sldId id="419" r:id="rId25"/>
    <p:sldId id="420" r:id="rId26"/>
    <p:sldId id="429" r:id="rId27"/>
    <p:sldId id="603" r:id="rId28"/>
    <p:sldId id="411" r:id="rId29"/>
    <p:sldId id="389" r:id="rId30"/>
    <p:sldId id="421" r:id="rId31"/>
    <p:sldId id="453" r:id="rId32"/>
    <p:sldId id="423" r:id="rId33"/>
    <p:sldId id="422" r:id="rId34"/>
    <p:sldId id="425" r:id="rId35"/>
    <p:sldId id="601" r:id="rId36"/>
    <p:sldId id="428" r:id="rId37"/>
    <p:sldId id="602" r:id="rId38"/>
    <p:sldId id="427" r:id="rId39"/>
    <p:sldId id="430" r:id="rId40"/>
    <p:sldId id="431" r:id="rId41"/>
    <p:sldId id="432" r:id="rId42"/>
    <p:sldId id="604" r:id="rId43"/>
    <p:sldId id="390" r:id="rId44"/>
    <p:sldId id="391" r:id="rId45"/>
    <p:sldId id="438" r:id="rId46"/>
    <p:sldId id="437" r:id="rId47"/>
    <p:sldId id="441" r:id="rId48"/>
    <p:sldId id="442" r:id="rId49"/>
    <p:sldId id="443" r:id="rId50"/>
    <p:sldId id="444" r:id="rId51"/>
    <p:sldId id="434" r:id="rId52"/>
    <p:sldId id="445" r:id="rId53"/>
    <p:sldId id="448" r:id="rId54"/>
    <p:sldId id="450" r:id="rId55"/>
    <p:sldId id="452" r:id="rId56"/>
    <p:sldId id="451" r:id="rId57"/>
    <p:sldId id="447" r:id="rId58"/>
    <p:sldId id="446" r:id="rId59"/>
    <p:sldId id="449" r:id="rId60"/>
    <p:sldId id="395" r:id="rId61"/>
    <p:sldId id="454" r:id="rId62"/>
    <p:sldId id="455" r:id="rId63"/>
    <p:sldId id="456" r:id="rId64"/>
    <p:sldId id="457"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D6D3CB8D-C5FE-4F85-97E1-008DE64A5D47}">
          <p14:sldIdLst>
            <p14:sldId id="377"/>
          </p14:sldIdLst>
        </p14:section>
        <p14:section name="I.1. Introduction" id="{2FD0FF71-F5FC-4EB7-B2CB-B31E4CBECD79}">
          <p14:sldIdLst>
            <p14:sldId id="257"/>
            <p14:sldId id="598"/>
            <p14:sldId id="599"/>
            <p14:sldId id="600"/>
          </p14:sldIdLst>
        </p14:section>
        <p14:section name="II.1. Image pixels information depends on neighbourhood" id="{FF620560-654B-48DE-BC53-CA91CC7A1BA4}">
          <p14:sldIdLst>
            <p14:sldId id="380"/>
            <p14:sldId id="412"/>
            <p14:sldId id="413"/>
            <p14:sldId id="385"/>
            <p14:sldId id="378"/>
            <p14:sldId id="414"/>
            <p14:sldId id="381"/>
            <p14:sldId id="382"/>
            <p14:sldId id="383"/>
          </p14:sldIdLst>
        </p14:section>
        <p14:section name="II.2. Two important properties of computer vision" id="{A8C0BF5E-9ADB-4A5C-8072-7863ADB67A30}">
          <p14:sldIdLst>
            <p14:sldId id="384"/>
            <p14:sldId id="379"/>
            <p14:sldId id="605"/>
          </p14:sldIdLst>
        </p14:section>
        <p14:section name="II.3. The linear operation on images" id="{273BC9D2-A4DF-4F74-A665-C1C108D5C4D7}">
          <p14:sldIdLst>
            <p14:sldId id="386"/>
            <p14:sldId id="415"/>
          </p14:sldIdLst>
        </p14:section>
        <p14:section name="III.1. The convolution operation, mathematically" id="{F5587FB5-2897-41F5-9628-C0E78FA616ED}">
          <p14:sldIdLst>
            <p14:sldId id="388"/>
            <p14:sldId id="416"/>
            <p14:sldId id="417"/>
            <p14:sldId id="418"/>
            <p14:sldId id="419"/>
            <p14:sldId id="420"/>
            <p14:sldId id="429"/>
            <p14:sldId id="603"/>
          </p14:sldIdLst>
        </p14:section>
        <p14:section name="III.2. Uses of the convolution operation in image processing" id="{B5FEF0E7-A175-4EF9-9790-6E4DF9780AAC}">
          <p14:sldIdLst>
            <p14:sldId id="411"/>
            <p14:sldId id="389"/>
            <p14:sldId id="421"/>
            <p14:sldId id="453"/>
            <p14:sldId id="423"/>
            <p14:sldId id="422"/>
            <p14:sldId id="425"/>
            <p14:sldId id="601"/>
            <p14:sldId id="428"/>
            <p14:sldId id="602"/>
            <p14:sldId id="427"/>
            <p14:sldId id="430"/>
            <p14:sldId id="431"/>
            <p14:sldId id="432"/>
            <p14:sldId id="604"/>
          </p14:sldIdLst>
        </p14:section>
        <p14:section name="III.3. Advanced versions of the convolution operation" id="{B8183A51-51FB-4C78-A729-09D361F0B21B}">
          <p14:sldIdLst>
            <p14:sldId id="390"/>
            <p14:sldId id="391"/>
            <p14:sldId id="438"/>
            <p14:sldId id="437"/>
            <p14:sldId id="441"/>
            <p14:sldId id="442"/>
            <p14:sldId id="443"/>
            <p14:sldId id="444"/>
            <p14:sldId id="434"/>
            <p14:sldId id="445"/>
            <p14:sldId id="448"/>
            <p14:sldId id="450"/>
            <p14:sldId id="452"/>
            <p14:sldId id="451"/>
            <p14:sldId id="447"/>
            <p14:sldId id="446"/>
            <p14:sldId id="449"/>
          </p14:sldIdLst>
        </p14:section>
        <p14:section name="III.4. A custom Convolutional layer" id="{4F5D5FE7-EEA1-488F-9624-7AB9B7A96DDF}">
          <p14:sldIdLst>
            <p14:sldId id="395"/>
            <p14:sldId id="454"/>
            <p14:sldId id="455"/>
            <p14:sldId id="456"/>
            <p14:sldId id="45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715603-C886-49D1-B483-11BE940ABBCB}" v="2" dt="2025-12-18T22:35:04.1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406" autoAdjust="0"/>
  </p:normalViewPr>
  <p:slideViewPr>
    <p:cSldViewPr snapToGrid="0">
      <p:cViewPr varScale="1">
        <p:scale>
          <a:sx n="98" d="100"/>
          <a:sy n="98" d="100"/>
        </p:scale>
        <p:origin x="1038"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dfb708c9-d8dc-439f-9a3b-c772bf4a311c" providerId="ADAL" clId="{81E9B007-0C2C-493E-9B93-55A62C9C1F12}"/>
    <pc:docChg chg="custSel modSld">
      <pc:chgData name="Matthieu De Mari" userId="dfb708c9-d8dc-439f-9a3b-c772bf4a311c" providerId="ADAL" clId="{81E9B007-0C2C-493E-9B93-55A62C9C1F12}" dt="2025-12-18T22:35:10.176" v="311" actId="14100"/>
      <pc:docMkLst>
        <pc:docMk/>
      </pc:docMkLst>
      <pc:sldChg chg="modSp mod">
        <pc:chgData name="Matthieu De Mari" userId="dfb708c9-d8dc-439f-9a3b-c772bf4a311c" providerId="ADAL" clId="{81E9B007-0C2C-493E-9B93-55A62C9C1F12}" dt="2025-12-18T22:28:26.115" v="0" actId="20577"/>
        <pc:sldMkLst>
          <pc:docMk/>
          <pc:sldMk cId="3343917742" sldId="386"/>
        </pc:sldMkLst>
        <pc:spChg chg="mod">
          <ac:chgData name="Matthieu De Mari" userId="dfb708c9-d8dc-439f-9a3b-c772bf4a311c" providerId="ADAL" clId="{81E9B007-0C2C-493E-9B93-55A62C9C1F12}" dt="2025-12-18T22:28:26.115" v="0" actId="20577"/>
          <ac:spMkLst>
            <pc:docMk/>
            <pc:sldMk cId="3343917742" sldId="386"/>
            <ac:spMk id="3" creationId="{F5584164-1537-9A5B-A439-82B2182BA892}"/>
          </ac:spMkLst>
        </pc:spChg>
      </pc:sldChg>
      <pc:sldChg chg="modSp mod">
        <pc:chgData name="Matthieu De Mari" userId="dfb708c9-d8dc-439f-9a3b-c772bf4a311c" providerId="ADAL" clId="{81E9B007-0C2C-493E-9B93-55A62C9C1F12}" dt="2025-12-18T22:31:34.521" v="29" actId="20577"/>
        <pc:sldMkLst>
          <pc:docMk/>
          <pc:sldMk cId="423807732" sldId="453"/>
        </pc:sldMkLst>
        <pc:spChg chg="mod">
          <ac:chgData name="Matthieu De Mari" userId="dfb708c9-d8dc-439f-9a3b-c772bf4a311c" providerId="ADAL" clId="{81E9B007-0C2C-493E-9B93-55A62C9C1F12}" dt="2025-12-18T22:31:34.521" v="29" actId="20577"/>
          <ac:spMkLst>
            <pc:docMk/>
            <pc:sldMk cId="423807732" sldId="453"/>
            <ac:spMk id="4" creationId="{CC2FBEC1-65A9-2CDC-8F3D-81E29687F927}"/>
          </ac:spMkLst>
        </pc:spChg>
      </pc:sldChg>
      <pc:sldChg chg="addSp modSp mod">
        <pc:chgData name="Matthieu De Mari" userId="dfb708c9-d8dc-439f-9a3b-c772bf4a311c" providerId="ADAL" clId="{81E9B007-0C2C-493E-9B93-55A62C9C1F12}" dt="2025-12-18T22:35:10.176" v="311" actId="14100"/>
        <pc:sldMkLst>
          <pc:docMk/>
          <pc:sldMk cId="2846720552" sldId="605"/>
        </pc:sldMkLst>
        <pc:spChg chg="add mod">
          <ac:chgData name="Matthieu De Mari" userId="dfb708c9-d8dc-439f-9a3b-c772bf4a311c" providerId="ADAL" clId="{81E9B007-0C2C-493E-9B93-55A62C9C1F12}" dt="2025-12-18T22:35:10.176" v="311" actId="14100"/>
          <ac:spMkLst>
            <pc:docMk/>
            <pc:sldMk cId="2846720552" sldId="605"/>
            <ac:spMk id="2" creationId="{05BA2078-18C7-F176-16E7-8EBA2330145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478373-EB31-4867-8CF0-FA31364748A5}" type="datetimeFigureOut">
              <a:rPr lang="en-GB" smtClean="0"/>
              <a:t>18/12/2025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DF365-F842-4E76-AC24-5BC5382A0823}" type="slidenum">
              <a:rPr lang="en-GB" smtClean="0"/>
              <a:t>‹#›</a:t>
            </a:fld>
            <a:endParaRPr lang="en-GB"/>
          </a:p>
        </p:txBody>
      </p:sp>
    </p:spTree>
    <p:extLst>
      <p:ext uri="{BB962C8B-B14F-4D97-AF65-F5344CB8AC3E}">
        <p14:creationId xmlns:p14="http://schemas.microsoft.com/office/powerpoint/2010/main" val="4182812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E4AD2-5DFB-40B9-9046-538F457C2D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189AB4D-C9BD-4804-BAD4-30ABC21BBF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FC16BA0-299B-403D-BF6F-22CAD5861D93}"/>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5" name="Footer Placeholder 4">
            <a:extLst>
              <a:ext uri="{FF2B5EF4-FFF2-40B4-BE49-F238E27FC236}">
                <a16:creationId xmlns:a16="http://schemas.microsoft.com/office/drawing/2014/main" id="{5492CE3F-0F08-4DF3-A557-685AC26F71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FDB7FD2-E7A4-40C9-9DA4-170335047761}"/>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76607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9B31A-FA50-4DA2-9315-474283DEB0F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9F3FCD2-8B77-4AF4-8080-624AD9E7F8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11587F-CECC-48E1-9033-F49992081389}"/>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5" name="Footer Placeholder 4">
            <a:extLst>
              <a:ext uri="{FF2B5EF4-FFF2-40B4-BE49-F238E27FC236}">
                <a16:creationId xmlns:a16="http://schemas.microsoft.com/office/drawing/2014/main" id="{5ADBEDBB-8F3E-4349-BF02-8BA4BFA4A1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049832-CE42-4D03-89CE-BF86C2288335}"/>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17041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41B7-69A0-4F98-A4F1-934086E8E6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6C4F2BF-824A-433E-A1B8-AA04DCB3EA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003A02-257B-42F0-BF28-1777F5C487A2}"/>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5" name="Footer Placeholder 4">
            <a:extLst>
              <a:ext uri="{FF2B5EF4-FFF2-40B4-BE49-F238E27FC236}">
                <a16:creationId xmlns:a16="http://schemas.microsoft.com/office/drawing/2014/main" id="{191A73EA-09DC-41D8-B62F-461F73837CD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50A76A-6E9C-414F-B980-FF95D8BC403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081840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D12A8-E7BA-4E8E-9357-A40BF427BFE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3FB368D-1AC8-401B-8D15-AB5F2DF52B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2B54FE0-C058-43CC-8FAE-A8FF7FC43F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A6EDAEE-3329-419E-908B-25F1A6C11B64}"/>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6" name="Footer Placeholder 5">
            <a:extLst>
              <a:ext uri="{FF2B5EF4-FFF2-40B4-BE49-F238E27FC236}">
                <a16:creationId xmlns:a16="http://schemas.microsoft.com/office/drawing/2014/main" id="{DFBF37E1-EFD9-4926-903C-A8F3F36F6D6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31BFE49-D09A-40E3-8D45-D54CF1403B5D}"/>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21781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06ACB-47EB-4233-8485-0DBCD4792BC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A51BCCC-D7D1-44A6-85A4-5F35671D80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24D018-9C08-4325-8DE0-27765125B3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B054B92-6EF5-4DC3-8819-3BB914D088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9DEE04-4503-4C98-A54E-5B4414DE44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E682F25-2B9E-401E-842E-29906523234B}"/>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8" name="Footer Placeholder 7">
            <a:extLst>
              <a:ext uri="{FF2B5EF4-FFF2-40B4-BE49-F238E27FC236}">
                <a16:creationId xmlns:a16="http://schemas.microsoft.com/office/drawing/2014/main" id="{E7C4412F-03BB-4180-96FC-5FFE79C5FE4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3D4B694-771E-4D77-A094-AE6844AC4BE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357763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4B0B5-CEFD-42FE-80F6-946D187926B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2338384-0D5D-4181-9005-8843908CF6AD}"/>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4" name="Footer Placeholder 3">
            <a:extLst>
              <a:ext uri="{FF2B5EF4-FFF2-40B4-BE49-F238E27FC236}">
                <a16:creationId xmlns:a16="http://schemas.microsoft.com/office/drawing/2014/main" id="{C9F3C4F2-521E-43BA-978F-A744CDEB101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6E24618-CDB0-4673-AF57-77A81FE6F53F}"/>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99381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9B6684-ECAC-47C6-9E72-EC9A0F42056A}"/>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3" name="Footer Placeholder 2">
            <a:extLst>
              <a:ext uri="{FF2B5EF4-FFF2-40B4-BE49-F238E27FC236}">
                <a16:creationId xmlns:a16="http://schemas.microsoft.com/office/drawing/2014/main" id="{69837DBC-C277-472E-BF47-6769C2B2042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D39D80B-7718-49DE-9803-FDF6ECAD197C}"/>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14118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DE5B7-A7F2-453D-9210-C132F7942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F581A54-3B44-49FD-9DFE-5C031AC3B0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8CEDAA9-F86E-42B0-BCB5-FFBD8F9BD2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8E5CCE-232A-418F-BF54-FECCCBE5BBE8}"/>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6" name="Footer Placeholder 5">
            <a:extLst>
              <a:ext uri="{FF2B5EF4-FFF2-40B4-BE49-F238E27FC236}">
                <a16:creationId xmlns:a16="http://schemas.microsoft.com/office/drawing/2014/main" id="{F510C79A-014C-4B02-9279-7EE20A51288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3E7691-D5FC-4182-9AE9-20D2EFC761D4}"/>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24019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35217-D17F-45E7-B7CA-F5D4DAFB30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8B94D55-9243-49C9-96F4-70D4569015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E476A3C-7074-4031-BCF5-275CD92ED7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130CC7-09EA-4C92-80AE-F253D048A40D}"/>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6" name="Footer Placeholder 5">
            <a:extLst>
              <a:ext uri="{FF2B5EF4-FFF2-40B4-BE49-F238E27FC236}">
                <a16:creationId xmlns:a16="http://schemas.microsoft.com/office/drawing/2014/main" id="{9D7CD087-50BE-480B-BD3C-2CCB17C0EDC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F96C921-787D-431A-BDD7-DA404775A0E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57684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B0483-1596-4673-8A29-254D3DC88A5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78DE429-CA08-4265-9A4D-51FDC7FA54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EE484A7-7EB0-4711-BB58-4DD3DBAC7D8E}"/>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5" name="Footer Placeholder 4">
            <a:extLst>
              <a:ext uri="{FF2B5EF4-FFF2-40B4-BE49-F238E27FC236}">
                <a16:creationId xmlns:a16="http://schemas.microsoft.com/office/drawing/2014/main" id="{E2541F78-0B35-41BE-A0A9-4586BE477D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D6E482-F592-48F9-83BC-62EB3DB573C7}"/>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15946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361B4E-3627-4AD6-AD20-F32FAFBDA4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048BF35-5935-4E82-A1F8-08337A4DA3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FFBD791-DE7C-49E1-A341-84D81473B5FD}"/>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5" name="Footer Placeholder 4">
            <a:extLst>
              <a:ext uri="{FF2B5EF4-FFF2-40B4-BE49-F238E27FC236}">
                <a16:creationId xmlns:a16="http://schemas.microsoft.com/office/drawing/2014/main" id="{69FD9CCE-A99B-4CBA-91FF-4D46A3F5C0E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3CAD09-2925-4932-B93A-FF27DE64CA8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200597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DB992C-5696-43C0-B140-56751731D8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C058581-4C84-49FD-8B3C-95F4C8571A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48350B-1B49-41B8-8A7A-F1A1B98F8C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5DF616-B21E-4EF6-A6A5-95E2FB3EB1A1}" type="datetimeFigureOut">
              <a:rPr lang="en-GB" smtClean="0"/>
              <a:t>18/12/2025</a:t>
            </a:fld>
            <a:endParaRPr lang="en-GB"/>
          </a:p>
        </p:txBody>
      </p:sp>
      <p:sp>
        <p:nvSpPr>
          <p:cNvPr id="5" name="Footer Placeholder 4">
            <a:extLst>
              <a:ext uri="{FF2B5EF4-FFF2-40B4-BE49-F238E27FC236}">
                <a16:creationId xmlns:a16="http://schemas.microsoft.com/office/drawing/2014/main" id="{4F0BE49B-AA7F-417D-B067-42C40475CC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3972CFA-2157-4F98-8693-550F0B104B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5DED30-C8B5-4AF9-8D67-600C77DA493C}" type="slidenum">
              <a:rPr lang="en-GB" smtClean="0"/>
              <a:t>‹#›</a:t>
            </a:fld>
            <a:endParaRPr lang="en-GB"/>
          </a:p>
        </p:txBody>
      </p:sp>
      <p:sp>
        <p:nvSpPr>
          <p:cNvPr id="9" name="TextBox 8">
            <a:extLst>
              <a:ext uri="{FF2B5EF4-FFF2-40B4-BE49-F238E27FC236}">
                <a16:creationId xmlns:a16="http://schemas.microsoft.com/office/drawing/2014/main" id="{27504F79-603A-6F7A-93E7-C9CABA0FF303}"/>
              </a:ext>
            </a:extLst>
          </p:cNvPr>
          <p:cNvSpPr txBox="1"/>
          <p:nvPr userDrawn="1">
            <p:extLst>
              <p:ext uri="{1162E1C5-73C7-4A58-AE30-91384D911F3F}">
                <p184:classification xmlns:p184="http://schemas.microsoft.com/office/powerpoint/2018/4/main" val="hdr"/>
              </p:ext>
            </p:extLst>
          </p:nvPr>
        </p:nvSpPr>
        <p:spPr>
          <a:xfrm>
            <a:off x="5781675" y="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
        <p:nvSpPr>
          <p:cNvPr id="10" name="TextBox 9">
            <a:extLst>
              <a:ext uri="{FF2B5EF4-FFF2-40B4-BE49-F238E27FC236}">
                <a16:creationId xmlns:a16="http://schemas.microsoft.com/office/drawing/2014/main" id="{99872183-7F29-FB0F-D3D7-53204406A33F}"/>
              </a:ext>
            </a:extLst>
          </p:cNvPr>
          <p:cNvSpPr txBox="1"/>
          <p:nvPr userDrawn="1">
            <p:extLst>
              <p:ext uri="{1162E1C5-73C7-4A58-AE30-91384D911F3F}">
                <p184:classification xmlns:p184="http://schemas.microsoft.com/office/powerpoint/2018/4/main" val="ftr"/>
              </p:ext>
            </p:extLst>
          </p:nvPr>
        </p:nvSpPr>
        <p:spPr>
          <a:xfrm>
            <a:off x="5781675" y="667512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2168708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rapidtables.com/convert/color/rgb-to-hex.html" TargetMode="Externa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 Id="rId5" Type="http://schemas.openxmlformats.org/officeDocument/2006/relationships/image" Target="../media/image18.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4.png"/><Relationship Id="rId2" Type="http://schemas.openxmlformats.org/officeDocument/2006/relationships/image" Target="../media/image16.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4.png"/><Relationship Id="rId2" Type="http://schemas.openxmlformats.org/officeDocument/2006/relationships/image" Target="../media/image16.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hyperlink" Target="https://www.udemy.com/course/digital-image-processing-from-ground-up-in-python/"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hyperlink" Target="https://stackoverflow.com/questions/45152473/why-is-the-convolutional-filter-flipped-in-convolutional-neural-networks" TargetMode="External"/><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8.png"/><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0.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34.gif"/><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4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4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5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39.png"/><Relationship Id="rId4" Type="http://schemas.openxmlformats.org/officeDocument/2006/relationships/image" Target="../media/image38.png"/></Relationships>
</file>

<file path=ppt/slides/_rels/slide5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39.png"/><Relationship Id="rId4" Type="http://schemas.openxmlformats.org/officeDocument/2006/relationships/image" Target="../media/image38.png"/></Relationships>
</file>

<file path=ppt/slides/_rels/slide5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fontScale="90000"/>
          </a:bodyPr>
          <a:lstStyle/>
          <a:p>
            <a:r>
              <a:rPr lang="en-US" b="1" dirty="0"/>
              <a:t>50.039 Theory and Practice of</a:t>
            </a:r>
            <a:br>
              <a:rPr lang="en-US" b="1" dirty="0"/>
            </a:br>
            <a:r>
              <a:rPr lang="en-US" b="1" dirty="0"/>
              <a:t>Deep Learning</a:t>
            </a:r>
            <a:br>
              <a:rPr lang="en-US" dirty="0"/>
            </a:br>
            <a:r>
              <a:rPr lang="en-US" dirty="0"/>
              <a:t>W4-S1 Introduction to Computer Vision and Convolutional Neural Networks</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De Mari</a:t>
            </a:r>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104015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week (Week 4)</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p:txBody>
          <a:bodyPr/>
          <a:lstStyle/>
          <a:p>
            <a:pPr marL="514350" indent="-514350">
              <a:buFont typeface="+mj-lt"/>
              <a:buAutoNum type="arabicPeriod"/>
            </a:pPr>
            <a:r>
              <a:rPr lang="en-US" dirty="0"/>
              <a:t>What are </a:t>
            </a:r>
            <a:r>
              <a:rPr lang="en-US" b="1" dirty="0"/>
              <a:t>images</a:t>
            </a:r>
            <a:r>
              <a:rPr lang="en-US" dirty="0"/>
              <a:t> and how is this datatype represented?</a:t>
            </a:r>
          </a:p>
          <a:p>
            <a:pPr marL="514350" indent="-514350">
              <a:buFont typeface="+mj-lt"/>
              <a:buAutoNum type="arabicPeriod"/>
            </a:pPr>
            <a:r>
              <a:rPr lang="en-US" dirty="0"/>
              <a:t>What is a </a:t>
            </a:r>
            <a:r>
              <a:rPr lang="en-US" b="1" dirty="0"/>
              <a:t>pixel</a:t>
            </a:r>
            <a:r>
              <a:rPr lang="en-US" dirty="0"/>
              <a:t> and how can </a:t>
            </a:r>
            <a:r>
              <a:rPr lang="en-US" b="1" dirty="0"/>
              <a:t>its information be interpreted</a:t>
            </a:r>
            <a:r>
              <a:rPr lang="en-US" dirty="0"/>
              <a:t>?</a:t>
            </a:r>
          </a:p>
          <a:p>
            <a:pPr marL="514350" indent="-514350">
              <a:buFont typeface="+mj-lt"/>
              <a:buAutoNum type="arabicPeriod"/>
            </a:pPr>
            <a:r>
              <a:rPr lang="en-GB" dirty="0"/>
              <a:t>What is the </a:t>
            </a:r>
            <a:r>
              <a:rPr lang="en-GB" b="1" dirty="0"/>
              <a:t>spatial</a:t>
            </a:r>
            <a:r>
              <a:rPr lang="en-GB" dirty="0"/>
              <a:t> </a:t>
            </a:r>
            <a:r>
              <a:rPr lang="en-GB" b="1" dirty="0"/>
              <a:t>dependence</a:t>
            </a:r>
            <a:r>
              <a:rPr lang="en-GB" dirty="0"/>
              <a:t> </a:t>
            </a:r>
            <a:r>
              <a:rPr lang="en-GB" b="1" dirty="0"/>
              <a:t>property</a:t>
            </a:r>
            <a:r>
              <a:rPr lang="en-GB" dirty="0"/>
              <a:t> of pixels?</a:t>
            </a:r>
          </a:p>
          <a:p>
            <a:pPr marL="514350" indent="-514350">
              <a:buFont typeface="+mj-lt"/>
              <a:buAutoNum type="arabicPeriod"/>
            </a:pPr>
            <a:r>
              <a:rPr lang="en-GB" dirty="0"/>
              <a:t>What is the </a:t>
            </a:r>
            <a:r>
              <a:rPr lang="en-GB" b="1" dirty="0"/>
              <a:t>homophily</a:t>
            </a:r>
            <a:r>
              <a:rPr lang="en-GB" dirty="0"/>
              <a:t> </a:t>
            </a:r>
            <a:r>
              <a:rPr lang="en-GB" b="1" dirty="0"/>
              <a:t>property</a:t>
            </a:r>
            <a:r>
              <a:rPr lang="en-GB" dirty="0"/>
              <a:t> of pixels?</a:t>
            </a:r>
          </a:p>
          <a:p>
            <a:pPr marL="514350" indent="-514350">
              <a:buFont typeface="+mj-lt"/>
              <a:buAutoNum type="arabicPeriod"/>
            </a:pPr>
            <a:r>
              <a:rPr lang="en-GB" dirty="0"/>
              <a:t>Why is the </a:t>
            </a:r>
            <a:r>
              <a:rPr lang="en-GB" b="1" dirty="0"/>
              <a:t>linear</a:t>
            </a:r>
            <a:r>
              <a:rPr lang="en-GB" dirty="0"/>
              <a:t> </a:t>
            </a:r>
            <a:r>
              <a:rPr lang="en-GB" b="1" dirty="0"/>
              <a:t>processing</a:t>
            </a:r>
            <a:r>
              <a:rPr lang="en-GB" dirty="0"/>
              <a:t> </a:t>
            </a:r>
            <a:r>
              <a:rPr lang="en-GB" b="1" dirty="0"/>
              <a:t>operation</a:t>
            </a:r>
            <a:r>
              <a:rPr lang="en-GB" dirty="0"/>
              <a:t> </a:t>
            </a:r>
            <a:r>
              <a:rPr lang="en-GB" b="1" dirty="0"/>
              <a:t>failing</a:t>
            </a:r>
            <a:r>
              <a:rPr lang="en-GB" dirty="0"/>
              <a:t> on images?</a:t>
            </a:r>
          </a:p>
          <a:p>
            <a:pPr marL="514350" indent="-514350">
              <a:buFont typeface="+mj-lt"/>
              <a:buAutoNum type="arabicPeriod"/>
            </a:pPr>
            <a:r>
              <a:rPr lang="en-GB" dirty="0"/>
              <a:t>What is the </a:t>
            </a:r>
            <a:r>
              <a:rPr lang="en-GB" b="1" dirty="0"/>
              <a:t>convolution</a:t>
            </a:r>
            <a:r>
              <a:rPr lang="en-GB" dirty="0"/>
              <a:t> operation?</a:t>
            </a:r>
          </a:p>
          <a:p>
            <a:pPr marL="514350" indent="-514350">
              <a:buFont typeface="+mj-lt"/>
              <a:buAutoNum type="arabicPeriod"/>
            </a:pPr>
            <a:r>
              <a:rPr lang="en-GB" dirty="0"/>
              <a:t>How can we perform </a:t>
            </a:r>
            <a:r>
              <a:rPr lang="en-GB" b="1" dirty="0"/>
              <a:t>image</a:t>
            </a:r>
            <a:r>
              <a:rPr lang="en-GB" dirty="0"/>
              <a:t> </a:t>
            </a:r>
            <a:r>
              <a:rPr lang="en-GB" b="1" dirty="0"/>
              <a:t>processing</a:t>
            </a:r>
            <a:r>
              <a:rPr lang="en-GB" dirty="0"/>
              <a:t> </a:t>
            </a:r>
            <a:r>
              <a:rPr lang="en-GB" b="1" dirty="0"/>
              <a:t>using</a:t>
            </a:r>
            <a:r>
              <a:rPr lang="en-GB" dirty="0"/>
              <a:t> </a:t>
            </a:r>
            <a:r>
              <a:rPr lang="en-GB" b="1" dirty="0"/>
              <a:t>convolutions</a:t>
            </a:r>
            <a:r>
              <a:rPr lang="en-GB" dirty="0"/>
              <a:t>?</a:t>
            </a:r>
          </a:p>
          <a:p>
            <a:pPr marL="514350" indent="-514350">
              <a:buFont typeface="+mj-lt"/>
              <a:buAutoNum type="arabicPeriod"/>
            </a:pPr>
            <a:r>
              <a:rPr lang="en-GB" dirty="0"/>
              <a:t>What is </a:t>
            </a:r>
            <a:r>
              <a:rPr lang="en-GB" b="1" dirty="0"/>
              <a:t>padding</a:t>
            </a:r>
            <a:r>
              <a:rPr lang="en-GB" dirty="0"/>
              <a:t> in convolutions?</a:t>
            </a:r>
          </a:p>
          <a:p>
            <a:pPr marL="514350" indent="-514350">
              <a:buFont typeface="+mj-lt"/>
              <a:buAutoNum type="arabicPeriod"/>
            </a:pPr>
            <a:endParaRPr lang="en-GB" dirty="0"/>
          </a:p>
        </p:txBody>
      </p:sp>
    </p:spTree>
    <p:extLst>
      <p:ext uri="{BB962C8B-B14F-4D97-AF65-F5344CB8AC3E}">
        <p14:creationId xmlns:p14="http://schemas.microsoft.com/office/powerpoint/2010/main" val="3442501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week (Week 4)</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p:txBody>
          <a:bodyPr/>
          <a:lstStyle/>
          <a:p>
            <a:pPr marL="514350" indent="-514350">
              <a:buFont typeface="+mj-lt"/>
              <a:buAutoNum type="arabicPeriod" startAt="9"/>
            </a:pPr>
            <a:r>
              <a:rPr lang="en-US" dirty="0"/>
              <a:t>What </a:t>
            </a:r>
            <a:r>
              <a:rPr lang="en-GB" dirty="0"/>
              <a:t>is </a:t>
            </a:r>
            <a:r>
              <a:rPr lang="en-GB" b="1" dirty="0"/>
              <a:t>stride</a:t>
            </a:r>
            <a:r>
              <a:rPr lang="en-GB" dirty="0"/>
              <a:t> in convolution?</a:t>
            </a:r>
          </a:p>
          <a:p>
            <a:pPr marL="514350" indent="-514350">
              <a:buFont typeface="+mj-lt"/>
              <a:buAutoNum type="arabicPeriod" startAt="9"/>
            </a:pPr>
            <a:r>
              <a:rPr lang="en-GB" dirty="0"/>
              <a:t>What is </a:t>
            </a:r>
            <a:r>
              <a:rPr lang="en-GB" b="1" dirty="0"/>
              <a:t>dilation</a:t>
            </a:r>
            <a:r>
              <a:rPr lang="en-GB" dirty="0"/>
              <a:t> in convolution?</a:t>
            </a:r>
          </a:p>
          <a:p>
            <a:pPr marL="514350" indent="-514350">
              <a:buFont typeface="+mj-lt"/>
              <a:buAutoNum type="arabicPeriod" startAt="9"/>
            </a:pPr>
            <a:r>
              <a:rPr lang="en-GB" dirty="0"/>
              <a:t>How does convolution apply to </a:t>
            </a:r>
            <a:r>
              <a:rPr lang="en-GB" b="1" dirty="0"/>
              <a:t>higher</a:t>
            </a:r>
            <a:r>
              <a:rPr lang="en-GB" dirty="0"/>
              <a:t> </a:t>
            </a:r>
            <a:r>
              <a:rPr lang="en-GB" b="1" dirty="0"/>
              <a:t>dimensional</a:t>
            </a:r>
            <a:r>
              <a:rPr lang="en-GB" dirty="0"/>
              <a:t> </a:t>
            </a:r>
            <a:r>
              <a:rPr lang="en-GB" b="1" dirty="0"/>
              <a:t>images</a:t>
            </a:r>
            <a:r>
              <a:rPr lang="en-GB" dirty="0"/>
              <a:t>?</a:t>
            </a:r>
          </a:p>
          <a:p>
            <a:pPr marL="514350" indent="-514350">
              <a:buFont typeface="+mj-lt"/>
              <a:buAutoNum type="arabicPeriod" startAt="9"/>
            </a:pPr>
            <a:r>
              <a:rPr lang="en-GB" dirty="0"/>
              <a:t>How to write </a:t>
            </a:r>
            <a:r>
              <a:rPr lang="en-GB" b="1" dirty="0"/>
              <a:t>our</a:t>
            </a:r>
            <a:r>
              <a:rPr lang="en-GB" dirty="0"/>
              <a:t> </a:t>
            </a:r>
            <a:r>
              <a:rPr lang="en-GB" b="1" dirty="0"/>
              <a:t>own</a:t>
            </a:r>
            <a:r>
              <a:rPr lang="en-GB" dirty="0"/>
              <a:t> </a:t>
            </a:r>
            <a:r>
              <a:rPr lang="en-GB" b="1" dirty="0"/>
              <a:t>convolutional</a:t>
            </a:r>
            <a:r>
              <a:rPr lang="en-GB" dirty="0"/>
              <a:t> </a:t>
            </a:r>
            <a:r>
              <a:rPr lang="en-GB" b="1" dirty="0"/>
              <a:t>processing</a:t>
            </a:r>
            <a:r>
              <a:rPr lang="en-GB" dirty="0"/>
              <a:t> </a:t>
            </a:r>
            <a:r>
              <a:rPr lang="en-GB" b="1" dirty="0"/>
              <a:t>layer</a:t>
            </a:r>
            <a:r>
              <a:rPr lang="en-GB" dirty="0"/>
              <a:t> in </a:t>
            </a:r>
            <a:r>
              <a:rPr lang="en-GB" dirty="0" err="1"/>
              <a:t>PyTorch</a:t>
            </a:r>
            <a:r>
              <a:rPr lang="en-GB" dirty="0"/>
              <a:t>?</a:t>
            </a:r>
          </a:p>
          <a:p>
            <a:pPr marL="514350" indent="-514350">
              <a:buFont typeface="+mj-lt"/>
              <a:buAutoNum type="arabicPeriod" startAt="9"/>
            </a:pPr>
            <a:r>
              <a:rPr lang="en-GB" dirty="0"/>
              <a:t>What is </a:t>
            </a:r>
            <a:r>
              <a:rPr lang="en-GB" b="1" dirty="0"/>
              <a:t>Conv2d</a:t>
            </a:r>
            <a:r>
              <a:rPr lang="en-GB" dirty="0"/>
              <a:t> in </a:t>
            </a:r>
            <a:r>
              <a:rPr lang="en-GB" dirty="0" err="1"/>
              <a:t>PyTorch</a:t>
            </a:r>
            <a:r>
              <a:rPr lang="en-GB" dirty="0"/>
              <a:t>?</a:t>
            </a:r>
          </a:p>
          <a:p>
            <a:pPr marL="514350" indent="-514350">
              <a:buFont typeface="+mj-lt"/>
              <a:buAutoNum type="arabicPeriod" startAt="9"/>
            </a:pPr>
            <a:r>
              <a:rPr lang="en-GB" dirty="0"/>
              <a:t>What is a </a:t>
            </a:r>
            <a:r>
              <a:rPr lang="en-GB" b="1" dirty="0"/>
              <a:t>Convolutional</a:t>
            </a:r>
            <a:r>
              <a:rPr lang="en-GB" dirty="0"/>
              <a:t> </a:t>
            </a:r>
            <a:r>
              <a:rPr lang="en-GB" b="1" dirty="0"/>
              <a:t>Neural</a:t>
            </a:r>
            <a:r>
              <a:rPr lang="en-GB" dirty="0"/>
              <a:t> </a:t>
            </a:r>
            <a:r>
              <a:rPr lang="en-GB" b="1" dirty="0"/>
              <a:t>Network</a:t>
            </a:r>
            <a:r>
              <a:rPr lang="en-GB" dirty="0"/>
              <a:t> (CNN)?</a:t>
            </a:r>
          </a:p>
          <a:p>
            <a:pPr marL="514350" indent="-514350">
              <a:buFont typeface="+mj-lt"/>
              <a:buAutoNum type="arabicPeriod" startAt="9"/>
            </a:pPr>
            <a:r>
              <a:rPr lang="en-GB" dirty="0"/>
              <a:t>What is the </a:t>
            </a:r>
            <a:r>
              <a:rPr lang="en-GB" b="1" dirty="0"/>
              <a:t>intuition</a:t>
            </a:r>
            <a:r>
              <a:rPr lang="en-GB" dirty="0"/>
              <a:t> behind using Convolutional layers in a Convolutional Neural Network?</a:t>
            </a:r>
          </a:p>
          <a:p>
            <a:pPr marL="514350" indent="-514350">
              <a:buFont typeface="+mj-lt"/>
              <a:buAutoNum type="arabicPeriod" startAt="9"/>
            </a:pPr>
            <a:endParaRPr lang="en-GB" dirty="0"/>
          </a:p>
          <a:p>
            <a:pPr marL="514350" indent="-514350">
              <a:buFont typeface="+mj-lt"/>
              <a:buAutoNum type="arabicPeriod" startAt="9"/>
            </a:pPr>
            <a:endParaRPr lang="en-GB" dirty="0"/>
          </a:p>
        </p:txBody>
      </p:sp>
    </p:spTree>
    <p:extLst>
      <p:ext uri="{BB962C8B-B14F-4D97-AF65-F5344CB8AC3E}">
        <p14:creationId xmlns:p14="http://schemas.microsoft.com/office/powerpoint/2010/main" val="8772678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week (Week 4)</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p:txBody>
          <a:bodyPr/>
          <a:lstStyle/>
          <a:p>
            <a:pPr marL="514350" indent="-514350">
              <a:buFont typeface="+mj-lt"/>
              <a:buAutoNum type="arabicPeriod" startAt="16"/>
            </a:pPr>
            <a:r>
              <a:rPr lang="en-GB" dirty="0"/>
              <a:t>How to </a:t>
            </a:r>
            <a:r>
              <a:rPr lang="en-GB" b="1" dirty="0"/>
              <a:t>train</a:t>
            </a:r>
            <a:r>
              <a:rPr lang="en-GB" dirty="0"/>
              <a:t> our first Convolutional Neural Network on MNIST?</a:t>
            </a:r>
          </a:p>
          <a:p>
            <a:pPr marL="514350" indent="-514350">
              <a:buFont typeface="+mj-lt"/>
              <a:buAutoNum type="arabicPeriod" startAt="16"/>
            </a:pPr>
            <a:r>
              <a:rPr lang="en-GB" dirty="0"/>
              <a:t>What are </a:t>
            </a:r>
            <a:r>
              <a:rPr lang="en-GB" b="1" dirty="0"/>
              <a:t>other typical image processing layers </a:t>
            </a:r>
            <a:r>
              <a:rPr lang="en-GB" dirty="0"/>
              <a:t>in Computer Vision and how are they implemented?</a:t>
            </a:r>
          </a:p>
          <a:p>
            <a:pPr marL="514350" indent="-514350">
              <a:buFont typeface="+mj-lt"/>
              <a:buAutoNum type="arabicPeriod" startAt="16"/>
            </a:pPr>
            <a:r>
              <a:rPr lang="en-GB" dirty="0"/>
              <a:t>What is the </a:t>
            </a:r>
            <a:r>
              <a:rPr lang="en-GB" b="1" dirty="0"/>
              <a:t>pooling layer</a:t>
            </a:r>
            <a:r>
              <a:rPr lang="en-GB" dirty="0"/>
              <a:t>?</a:t>
            </a:r>
          </a:p>
          <a:p>
            <a:pPr marL="514350" indent="-514350">
              <a:buFont typeface="+mj-lt"/>
              <a:buAutoNum type="arabicPeriod" startAt="16"/>
            </a:pPr>
            <a:r>
              <a:rPr lang="en-GB" dirty="0"/>
              <a:t>What is the </a:t>
            </a:r>
            <a:r>
              <a:rPr lang="en-GB" b="1" dirty="0" err="1"/>
              <a:t>batchnorm</a:t>
            </a:r>
            <a:r>
              <a:rPr lang="en-GB" dirty="0"/>
              <a:t> </a:t>
            </a:r>
            <a:r>
              <a:rPr lang="en-GB" b="1" dirty="0"/>
              <a:t>layer</a:t>
            </a:r>
            <a:r>
              <a:rPr lang="en-GB" dirty="0"/>
              <a:t>?</a:t>
            </a:r>
          </a:p>
          <a:p>
            <a:pPr marL="514350" indent="-514350">
              <a:buFont typeface="+mj-lt"/>
              <a:buAutoNum type="arabicPeriod" startAt="16"/>
            </a:pPr>
            <a:r>
              <a:rPr lang="en-GB" dirty="0"/>
              <a:t>What is the </a:t>
            </a:r>
            <a:r>
              <a:rPr lang="en-GB" b="1" dirty="0"/>
              <a:t>dropout</a:t>
            </a:r>
            <a:r>
              <a:rPr lang="en-GB" dirty="0"/>
              <a:t> </a:t>
            </a:r>
            <a:r>
              <a:rPr lang="en-GB" b="1" dirty="0"/>
              <a:t>layer</a:t>
            </a:r>
            <a:r>
              <a:rPr lang="en-GB" dirty="0"/>
              <a:t>?</a:t>
            </a:r>
          </a:p>
          <a:p>
            <a:pPr marL="514350" indent="-514350">
              <a:buFont typeface="+mj-lt"/>
              <a:buAutoNum type="arabicPeriod" startAt="16"/>
            </a:pPr>
            <a:r>
              <a:rPr lang="en-GB" dirty="0"/>
              <a:t>What is </a:t>
            </a:r>
            <a:r>
              <a:rPr lang="en-GB" b="1" dirty="0"/>
              <a:t>data</a:t>
            </a:r>
            <a:r>
              <a:rPr lang="en-GB" dirty="0"/>
              <a:t> </a:t>
            </a:r>
            <a:r>
              <a:rPr lang="en-GB" b="1" dirty="0"/>
              <a:t>augmentation</a:t>
            </a:r>
            <a:r>
              <a:rPr lang="en-GB" dirty="0"/>
              <a:t> in Computer Vision?</a:t>
            </a:r>
          </a:p>
          <a:p>
            <a:pPr marL="514350" indent="-514350">
              <a:buFont typeface="+mj-lt"/>
              <a:buAutoNum type="arabicPeriod" startAt="16"/>
            </a:pPr>
            <a:r>
              <a:rPr lang="en-GB" dirty="0"/>
              <a:t>What are some </a:t>
            </a:r>
            <a:r>
              <a:rPr lang="en-GB" b="1" dirty="0"/>
              <a:t>milestone Computer Vision models </a:t>
            </a:r>
            <a:r>
              <a:rPr lang="en-GB" dirty="0"/>
              <a:t>and their </a:t>
            </a:r>
            <a:r>
              <a:rPr lang="en-GB" b="1" dirty="0"/>
              <a:t>contributions</a:t>
            </a:r>
            <a:r>
              <a:rPr lang="en-GB" dirty="0"/>
              <a:t> to the field of Deep Learning?</a:t>
            </a:r>
          </a:p>
          <a:p>
            <a:pPr marL="514350" indent="-514350">
              <a:buFont typeface="+mj-lt"/>
              <a:buAutoNum type="arabicPeriod" startAt="16"/>
            </a:pPr>
            <a:endParaRPr lang="en-GB" dirty="0"/>
          </a:p>
          <a:p>
            <a:pPr marL="514350" indent="-514350">
              <a:buFont typeface="+mj-lt"/>
              <a:buAutoNum type="arabicPeriod" startAt="16"/>
            </a:pPr>
            <a:endParaRPr lang="en-GB" dirty="0"/>
          </a:p>
        </p:txBody>
      </p:sp>
    </p:spTree>
    <p:extLst>
      <p:ext uri="{BB962C8B-B14F-4D97-AF65-F5344CB8AC3E}">
        <p14:creationId xmlns:p14="http://schemas.microsoft.com/office/powerpoint/2010/main" val="22742045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week (Week 4)</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p:txBody>
          <a:bodyPr/>
          <a:lstStyle/>
          <a:p>
            <a:pPr marL="514350" indent="-514350">
              <a:buFont typeface="+mj-lt"/>
              <a:buAutoNum type="arabicPeriod" startAt="23"/>
            </a:pPr>
            <a:r>
              <a:rPr lang="en-GB" dirty="0"/>
              <a:t>What are the </a:t>
            </a:r>
            <a:r>
              <a:rPr lang="en-GB" b="1" dirty="0" err="1"/>
              <a:t>AlexNet</a:t>
            </a:r>
            <a:r>
              <a:rPr lang="en-GB" dirty="0"/>
              <a:t> and </a:t>
            </a:r>
            <a:r>
              <a:rPr lang="en-GB" b="1" dirty="0"/>
              <a:t>VGG</a:t>
            </a:r>
            <a:r>
              <a:rPr lang="en-GB" dirty="0"/>
              <a:t> </a:t>
            </a:r>
            <a:r>
              <a:rPr lang="en-GB" b="1" dirty="0"/>
              <a:t>models</a:t>
            </a:r>
            <a:r>
              <a:rPr lang="en-GB" dirty="0"/>
              <a:t>?</a:t>
            </a:r>
          </a:p>
          <a:p>
            <a:pPr marL="514350" indent="-514350">
              <a:buFont typeface="+mj-lt"/>
              <a:buAutoNum type="arabicPeriod" startAt="23"/>
            </a:pPr>
            <a:r>
              <a:rPr lang="en-GB" dirty="0"/>
              <a:t>What is a </a:t>
            </a:r>
            <a:r>
              <a:rPr lang="en-GB" b="1" dirty="0"/>
              <a:t>skip</a:t>
            </a:r>
            <a:r>
              <a:rPr lang="en-GB" dirty="0"/>
              <a:t> </a:t>
            </a:r>
            <a:r>
              <a:rPr lang="en-GB" b="1" dirty="0"/>
              <a:t>connection</a:t>
            </a:r>
            <a:r>
              <a:rPr lang="en-GB" dirty="0"/>
              <a:t>/</a:t>
            </a:r>
            <a:r>
              <a:rPr lang="en-GB" b="1" dirty="0"/>
              <a:t>residual</a:t>
            </a:r>
            <a:r>
              <a:rPr lang="en-GB" dirty="0"/>
              <a:t>? What is its effect on a Neural Network and </a:t>
            </a:r>
            <a:r>
              <a:rPr lang="en-GB" b="1" dirty="0"/>
              <a:t>how does it help with vanishing gradient problems</a:t>
            </a:r>
            <a:r>
              <a:rPr lang="en-GB" dirty="0"/>
              <a:t>?</a:t>
            </a:r>
          </a:p>
          <a:p>
            <a:pPr marL="514350" indent="-514350">
              <a:buFont typeface="+mj-lt"/>
              <a:buAutoNum type="arabicPeriod" startAt="23"/>
            </a:pPr>
            <a:r>
              <a:rPr lang="en-GB" dirty="0"/>
              <a:t>What are </a:t>
            </a:r>
            <a:r>
              <a:rPr lang="en-GB" b="1" dirty="0" err="1"/>
              <a:t>ResNet</a:t>
            </a:r>
            <a:r>
              <a:rPr lang="en-GB" dirty="0"/>
              <a:t> and </a:t>
            </a:r>
            <a:r>
              <a:rPr lang="en-GB" b="1" dirty="0" err="1"/>
              <a:t>DenseNet</a:t>
            </a:r>
            <a:r>
              <a:rPr lang="en-GB" dirty="0"/>
              <a:t> </a:t>
            </a:r>
            <a:r>
              <a:rPr lang="en-GB" b="1" dirty="0"/>
              <a:t>models</a:t>
            </a:r>
            <a:r>
              <a:rPr lang="en-GB" dirty="0"/>
              <a:t>?</a:t>
            </a:r>
          </a:p>
          <a:p>
            <a:pPr marL="514350" indent="-514350">
              <a:buFont typeface="+mj-lt"/>
              <a:buAutoNum type="arabicPeriod" startAt="23"/>
            </a:pPr>
            <a:r>
              <a:rPr lang="en-GB" dirty="0"/>
              <a:t>What is the </a:t>
            </a:r>
            <a:r>
              <a:rPr lang="en-GB" b="1" dirty="0"/>
              <a:t>Inception</a:t>
            </a:r>
            <a:r>
              <a:rPr lang="en-GB" dirty="0"/>
              <a:t> </a:t>
            </a:r>
            <a:r>
              <a:rPr lang="en-GB" b="1" dirty="0"/>
              <a:t>model</a:t>
            </a:r>
            <a:r>
              <a:rPr lang="en-GB" dirty="0"/>
              <a:t>?</a:t>
            </a:r>
          </a:p>
          <a:p>
            <a:pPr marL="514350" indent="-514350">
              <a:buFont typeface="+mj-lt"/>
              <a:buAutoNum type="arabicPeriod" startAt="23"/>
            </a:pPr>
            <a:r>
              <a:rPr lang="en-GB" dirty="0"/>
              <a:t>What is the </a:t>
            </a:r>
            <a:r>
              <a:rPr lang="en-GB" b="1" dirty="0" err="1"/>
              <a:t>EfficientNet</a:t>
            </a:r>
            <a:r>
              <a:rPr lang="en-GB" dirty="0"/>
              <a:t> </a:t>
            </a:r>
            <a:r>
              <a:rPr lang="en-GB" b="1" dirty="0"/>
              <a:t>model</a:t>
            </a:r>
            <a:r>
              <a:rPr lang="en-GB" dirty="0"/>
              <a:t>?</a:t>
            </a:r>
          </a:p>
          <a:p>
            <a:pPr marL="514350" indent="-514350">
              <a:buFont typeface="+mj-lt"/>
              <a:buAutoNum type="arabicPeriod" startAt="23"/>
            </a:pPr>
            <a:r>
              <a:rPr lang="en-GB" dirty="0"/>
              <a:t>What is </a:t>
            </a:r>
            <a:r>
              <a:rPr lang="en-GB" b="1" dirty="0"/>
              <a:t>transfer</a:t>
            </a:r>
            <a:r>
              <a:rPr lang="en-GB" dirty="0"/>
              <a:t> </a:t>
            </a:r>
            <a:r>
              <a:rPr lang="en-GB" b="1" dirty="0"/>
              <a:t>learning</a:t>
            </a:r>
            <a:r>
              <a:rPr lang="en-GB" dirty="0"/>
              <a:t> and its uses?</a:t>
            </a:r>
          </a:p>
          <a:p>
            <a:pPr marL="514350" indent="-514350">
              <a:buFont typeface="+mj-lt"/>
              <a:buAutoNum type="arabicPeriod" startAt="23"/>
            </a:pPr>
            <a:r>
              <a:rPr lang="en-GB" dirty="0"/>
              <a:t>How to </a:t>
            </a:r>
            <a:r>
              <a:rPr lang="en-GB" b="1" dirty="0"/>
              <a:t>freeze</a:t>
            </a:r>
            <a:r>
              <a:rPr lang="en-GB" dirty="0"/>
              <a:t> and </a:t>
            </a:r>
            <a:r>
              <a:rPr lang="en-GB" b="1" dirty="0"/>
              <a:t>fine-tune</a:t>
            </a:r>
            <a:r>
              <a:rPr lang="en-GB" dirty="0"/>
              <a:t> </a:t>
            </a:r>
            <a:r>
              <a:rPr lang="en-GB" b="1" dirty="0"/>
              <a:t>layers</a:t>
            </a:r>
            <a:r>
              <a:rPr lang="en-GB" dirty="0"/>
              <a:t> in a Neural Network?</a:t>
            </a:r>
          </a:p>
        </p:txBody>
      </p:sp>
    </p:spTree>
    <p:extLst>
      <p:ext uri="{BB962C8B-B14F-4D97-AF65-F5344CB8AC3E}">
        <p14:creationId xmlns:p14="http://schemas.microsoft.com/office/powerpoint/2010/main" val="2868029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8376B-BD81-9A0E-3ECE-D6981190EF76}"/>
              </a:ext>
            </a:extLst>
          </p:cNvPr>
          <p:cNvSpPr>
            <a:spLocks noGrp="1"/>
          </p:cNvSpPr>
          <p:nvPr>
            <p:ph type="title"/>
          </p:nvPr>
        </p:nvSpPr>
        <p:spPr/>
        <p:txBody>
          <a:bodyPr/>
          <a:lstStyle/>
          <a:p>
            <a:r>
              <a:rPr lang="en-GB" dirty="0"/>
              <a:t>How to encode an image</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3F66BDF-1E5A-1190-A3C8-5EF6FBA3195D}"/>
                  </a:ext>
                </a:extLst>
              </p:cNvPr>
              <p:cNvSpPr>
                <a:spLocks noGrp="1"/>
              </p:cNvSpPr>
              <p:nvPr>
                <p:ph sz="half" idx="1"/>
              </p:nvPr>
            </p:nvSpPr>
            <p:spPr>
              <a:xfrm>
                <a:off x="838200" y="1825624"/>
                <a:ext cx="5969000" cy="5032375"/>
              </a:xfrm>
            </p:spPr>
            <p:txBody>
              <a:bodyPr>
                <a:normAutofit/>
              </a:bodyPr>
              <a:lstStyle/>
              <a:p>
                <a:r>
                  <a:rPr lang="en-GB" dirty="0"/>
                  <a:t>Both </a:t>
                </a:r>
                <a:r>
                  <a:rPr lang="en-GB" b="1" dirty="0"/>
                  <a:t>grayscale</a:t>
                </a:r>
                <a:r>
                  <a:rPr lang="en-GB" dirty="0"/>
                  <a:t> and </a:t>
                </a:r>
                <a:r>
                  <a:rPr lang="en-GB" b="1" dirty="0"/>
                  <a:t>RGB</a:t>
                </a:r>
                <a:r>
                  <a:rPr lang="en-GB" dirty="0"/>
                  <a:t> (Red Green Blue) </a:t>
                </a:r>
                <a:r>
                  <a:rPr lang="en-GB" b="1" dirty="0"/>
                  <a:t>images</a:t>
                </a:r>
                <a:r>
                  <a:rPr lang="en-GB" dirty="0"/>
                  <a:t> can be represented as </a:t>
                </a:r>
                <a:r>
                  <a:rPr lang="en-GB" b="1" dirty="0"/>
                  <a:t>matrices</a:t>
                </a:r>
                <a:r>
                  <a:rPr lang="en-GB" dirty="0"/>
                  <a:t> or </a:t>
                </a:r>
                <a:r>
                  <a:rPr lang="en-GB" b="1" dirty="0"/>
                  <a:t>tensors</a:t>
                </a:r>
                <a:r>
                  <a:rPr lang="en-GB" dirty="0"/>
                  <a:t>.</a:t>
                </a:r>
              </a:p>
              <a:p>
                <a:endParaRPr lang="en-GB" dirty="0"/>
              </a:p>
              <a:p>
                <a:r>
                  <a:rPr lang="en-GB" dirty="0"/>
                  <a:t>Typically, our sample images in the MNIST dataset were 2D matrices of shape </a:t>
                </a:r>
                <a14:m>
                  <m:oMath xmlns:m="http://schemas.openxmlformats.org/officeDocument/2006/math">
                    <m:r>
                      <a:rPr lang="en-GB" b="0" i="1" smtClean="0">
                        <a:latin typeface="Cambria Math" panose="02040503050406030204" pitchFamily="18" charset="0"/>
                      </a:rPr>
                      <m:t>28×28</m:t>
                    </m:r>
                  </m:oMath>
                </a14:m>
                <a:r>
                  <a:rPr lang="en-GB" dirty="0"/>
                  <a:t>.</a:t>
                </a:r>
              </a:p>
              <a:p>
                <a:endParaRPr lang="en-SG" dirty="0"/>
              </a:p>
            </p:txBody>
          </p:sp>
        </mc:Choice>
        <mc:Fallback xmlns="">
          <p:sp>
            <p:nvSpPr>
              <p:cNvPr id="3" name="Content Placeholder 2">
                <a:extLst>
                  <a:ext uri="{FF2B5EF4-FFF2-40B4-BE49-F238E27FC236}">
                    <a16:creationId xmlns:a16="http://schemas.microsoft.com/office/drawing/2014/main" id="{33F66BDF-1E5A-1190-A3C8-5EF6FBA3195D}"/>
                  </a:ext>
                </a:extLst>
              </p:cNvPr>
              <p:cNvSpPr>
                <a:spLocks noGrp="1" noRot="1" noChangeAspect="1" noMove="1" noResize="1" noEditPoints="1" noAdjustHandles="1" noChangeArrowheads="1" noChangeShapeType="1" noTextEdit="1"/>
              </p:cNvSpPr>
              <p:nvPr>
                <p:ph sz="half" idx="1"/>
              </p:nvPr>
            </p:nvSpPr>
            <p:spPr>
              <a:xfrm>
                <a:off x="838200" y="1825624"/>
                <a:ext cx="5969000" cy="5032375"/>
              </a:xfrm>
              <a:blipFill>
                <a:blip r:embed="rId2"/>
                <a:stretch>
                  <a:fillRect l="-1839" t="-1937"/>
                </a:stretch>
              </a:blipFill>
            </p:spPr>
            <p:txBody>
              <a:bodyPr/>
              <a:lstStyle/>
              <a:p>
                <a:r>
                  <a:rPr lang="en-SG">
                    <a:noFill/>
                  </a:rPr>
                  <a:t> </a:t>
                </a:r>
              </a:p>
            </p:txBody>
          </p:sp>
        </mc:Fallback>
      </mc:AlternateContent>
      <p:pic>
        <p:nvPicPr>
          <p:cNvPr id="8" name="Picture 7" descr="A picture containing text, crossword puzzle, clipart&#10;&#10;Description automatically generated">
            <a:extLst>
              <a:ext uri="{FF2B5EF4-FFF2-40B4-BE49-F238E27FC236}">
                <a16:creationId xmlns:a16="http://schemas.microsoft.com/office/drawing/2014/main" id="{432269CF-E7FD-4B23-DF61-B6526AA17F86}"/>
              </a:ext>
            </a:extLst>
          </p:cNvPr>
          <p:cNvPicPr>
            <a:picLocks noChangeAspect="1"/>
          </p:cNvPicPr>
          <p:nvPr/>
        </p:nvPicPr>
        <p:blipFill rotWithShape="1">
          <a:blip r:embed="rId3">
            <a:extLst>
              <a:ext uri="{28A0092B-C50C-407E-A947-70E740481C1C}">
                <a14:useLocalDpi xmlns:a14="http://schemas.microsoft.com/office/drawing/2010/main" val="0"/>
              </a:ext>
            </a:extLst>
          </a:blip>
          <a:srcRect r="18819" b="9808"/>
          <a:stretch/>
        </p:blipFill>
        <p:spPr>
          <a:xfrm>
            <a:off x="7485600" y="1463870"/>
            <a:ext cx="4446179" cy="1898578"/>
          </a:xfrm>
          <a:prstGeom prst="rect">
            <a:avLst/>
          </a:prstGeom>
        </p:spPr>
      </p:pic>
      <p:pic>
        <p:nvPicPr>
          <p:cNvPr id="11" name="Picture 10" descr="Calendar&#10;&#10;Description automatically generated">
            <a:extLst>
              <a:ext uri="{FF2B5EF4-FFF2-40B4-BE49-F238E27FC236}">
                <a16:creationId xmlns:a16="http://schemas.microsoft.com/office/drawing/2014/main" id="{DAC5BCC3-69D2-F837-B376-A2FAFB5BAA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74001" y="3460822"/>
            <a:ext cx="3707876" cy="2997200"/>
          </a:xfrm>
          <a:prstGeom prst="rect">
            <a:avLst/>
          </a:prstGeom>
        </p:spPr>
      </p:pic>
    </p:spTree>
    <p:extLst>
      <p:ext uri="{BB962C8B-B14F-4D97-AF65-F5344CB8AC3E}">
        <p14:creationId xmlns:p14="http://schemas.microsoft.com/office/powerpoint/2010/main" val="28878119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8376B-BD81-9A0E-3ECE-D6981190EF76}"/>
              </a:ext>
            </a:extLst>
          </p:cNvPr>
          <p:cNvSpPr>
            <a:spLocks noGrp="1"/>
          </p:cNvSpPr>
          <p:nvPr>
            <p:ph type="title"/>
          </p:nvPr>
        </p:nvSpPr>
        <p:spPr/>
        <p:txBody>
          <a:bodyPr/>
          <a:lstStyle/>
          <a:p>
            <a:r>
              <a:rPr lang="en-GB" dirty="0"/>
              <a:t>How to encode an image</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3F66BDF-1E5A-1190-A3C8-5EF6FBA3195D}"/>
                  </a:ext>
                </a:extLst>
              </p:cNvPr>
              <p:cNvSpPr>
                <a:spLocks noGrp="1"/>
              </p:cNvSpPr>
              <p:nvPr>
                <p:ph sz="half" idx="1"/>
              </p:nvPr>
            </p:nvSpPr>
            <p:spPr>
              <a:xfrm>
                <a:off x="838199" y="1825624"/>
                <a:ext cx="6289431" cy="5032375"/>
              </a:xfrm>
            </p:spPr>
            <p:txBody>
              <a:bodyPr>
                <a:normAutofit/>
              </a:bodyPr>
              <a:lstStyle/>
              <a:p>
                <a:pPr marL="0" indent="0">
                  <a:buNone/>
                </a:pPr>
                <a:r>
                  <a:rPr lang="en-GB" b="1" dirty="0"/>
                  <a:t>Definition (encoding a </a:t>
                </a:r>
                <a:r>
                  <a:rPr lang="en-GB" b="1" dirty="0">
                    <a:solidFill>
                      <a:srgbClr val="00B050"/>
                    </a:solidFill>
                  </a:rPr>
                  <a:t>grayscale</a:t>
                </a:r>
                <a:r>
                  <a:rPr lang="en-GB" b="1" dirty="0"/>
                  <a:t> image):</a:t>
                </a:r>
              </a:p>
              <a:p>
                <a:pPr marL="0" indent="0">
                  <a:buNone/>
                </a:pPr>
                <a:r>
                  <a:rPr lang="en-GB" b="1" dirty="0">
                    <a:solidFill>
                      <a:srgbClr val="00B050"/>
                    </a:solidFill>
                  </a:rPr>
                  <a:t>Grayscale</a:t>
                </a:r>
                <a:r>
                  <a:rPr lang="en-GB" dirty="0"/>
                  <a:t> </a:t>
                </a:r>
                <a:r>
                  <a:rPr lang="en-GB" b="1" dirty="0"/>
                  <a:t>images</a:t>
                </a:r>
                <a:r>
                  <a:rPr lang="en-GB" dirty="0"/>
                  <a:t> can be represented as a </a:t>
                </a:r>
                <a:r>
                  <a:rPr lang="en-GB" b="1" dirty="0"/>
                  <a:t>2D</a:t>
                </a:r>
                <a:r>
                  <a:rPr lang="en-GB" dirty="0"/>
                  <a:t> </a:t>
                </a:r>
                <a:r>
                  <a:rPr lang="en-GB" b="1" dirty="0"/>
                  <a:t>matrix </a:t>
                </a:r>
                <a:r>
                  <a:rPr lang="en-GB" dirty="0"/>
                  <a:t>of</a:t>
                </a:r>
                <a:r>
                  <a:rPr lang="en-GB" b="1" dirty="0"/>
                  <a:t> </a:t>
                </a:r>
                <a:r>
                  <a:rPr lang="en-GB" dirty="0"/>
                  <a:t>shape </a:t>
                </a:r>
                <a14:m>
                  <m:oMath xmlns:m="http://schemas.openxmlformats.org/officeDocument/2006/math">
                    <m:r>
                      <a:rPr lang="en-GB" i="1" dirty="0" smtClean="0">
                        <a:latin typeface="Cambria Math" panose="02040503050406030204" pitchFamily="18" charset="0"/>
                      </a:rPr>
                      <m:t>h𝑒𝑖𝑔h𝑡</m:t>
                    </m:r>
                    <m:r>
                      <a:rPr lang="en-GB" b="0" i="1" dirty="0" smtClean="0">
                        <a:latin typeface="Cambria Math" panose="02040503050406030204" pitchFamily="18" charset="0"/>
                      </a:rPr>
                      <m:t>×</m:t>
                    </m:r>
                    <m:r>
                      <a:rPr lang="en-GB" i="1" dirty="0" smtClean="0">
                        <a:latin typeface="Cambria Math" panose="02040503050406030204" pitchFamily="18" charset="0"/>
                      </a:rPr>
                      <m:t> </m:t>
                    </m:r>
                    <m:r>
                      <a:rPr lang="en-GB" i="1" dirty="0" smtClean="0">
                        <a:latin typeface="Cambria Math" panose="02040503050406030204" pitchFamily="18" charset="0"/>
                      </a:rPr>
                      <m:t>𝑤𝑖𝑑𝑡h</m:t>
                    </m:r>
                  </m:oMath>
                </a14:m>
                <a:r>
                  <a:rPr lang="en-GB" dirty="0"/>
                  <a:t>,  where each element is an 8-bit integer.</a:t>
                </a:r>
                <a:endParaRPr lang="en-GB" b="1" dirty="0"/>
              </a:p>
              <a:p>
                <a:r>
                  <a:rPr lang="en-GB" dirty="0"/>
                  <a:t>Each </a:t>
                </a:r>
                <a:r>
                  <a:rPr lang="en-GB" b="1" dirty="0"/>
                  <a:t>element</a:t>
                </a:r>
                <a:r>
                  <a:rPr lang="en-GB" dirty="0"/>
                  <a:t> of the matrix represents the </a:t>
                </a:r>
                <a:r>
                  <a:rPr lang="en-GB" b="1" dirty="0"/>
                  <a:t>intensity</a:t>
                </a:r>
                <a:r>
                  <a:rPr lang="en-GB" dirty="0"/>
                  <a:t> </a:t>
                </a:r>
                <a:r>
                  <a:rPr lang="en-GB" b="1" dirty="0"/>
                  <a:t>of</a:t>
                </a:r>
                <a:r>
                  <a:rPr lang="en-GB" dirty="0"/>
                  <a:t> </a:t>
                </a:r>
                <a:r>
                  <a:rPr lang="en-GB" b="1" dirty="0"/>
                  <a:t>light</a:t>
                </a:r>
                <a:r>
                  <a:rPr lang="en-GB" dirty="0"/>
                  <a:t> at that pixel.</a:t>
                </a:r>
              </a:p>
              <a:p>
                <a:r>
                  <a:rPr lang="en-GB" dirty="0"/>
                  <a:t>The intensity of light can be represented as a single number between 0 and 255, where </a:t>
                </a:r>
                <a:r>
                  <a:rPr lang="en-GB" b="1" dirty="0"/>
                  <a:t>0</a:t>
                </a:r>
                <a:r>
                  <a:rPr lang="en-GB" dirty="0"/>
                  <a:t> represents no light (</a:t>
                </a:r>
                <a:r>
                  <a:rPr lang="en-GB" b="1" dirty="0"/>
                  <a:t>black</a:t>
                </a:r>
                <a:r>
                  <a:rPr lang="en-GB" dirty="0"/>
                  <a:t>) and </a:t>
                </a:r>
                <a:r>
                  <a:rPr lang="en-GB" b="1" dirty="0"/>
                  <a:t>255</a:t>
                </a:r>
                <a:r>
                  <a:rPr lang="en-GB" dirty="0"/>
                  <a:t> represents maximum light intensity (</a:t>
                </a:r>
                <a:r>
                  <a:rPr lang="en-GB" b="1" dirty="0"/>
                  <a:t>white</a:t>
                </a:r>
                <a:r>
                  <a:rPr lang="en-GB" dirty="0"/>
                  <a:t>). Sometimes normalized to </a:t>
                </a:r>
                <a14:m>
                  <m:oMath xmlns:m="http://schemas.openxmlformats.org/officeDocument/2006/math">
                    <m:r>
                      <a:rPr lang="en-GB" i="1" dirty="0" smtClean="0">
                        <a:latin typeface="Cambria Math" panose="02040503050406030204" pitchFamily="18" charset="0"/>
                      </a:rPr>
                      <m:t>[0, 1]</m:t>
                    </m:r>
                  </m:oMath>
                </a14:m>
                <a:r>
                  <a:rPr lang="en-GB" dirty="0"/>
                  <a:t>.</a:t>
                </a:r>
                <a:endParaRPr lang="en-SG" dirty="0"/>
              </a:p>
            </p:txBody>
          </p:sp>
        </mc:Choice>
        <mc:Fallback xmlns="">
          <p:sp>
            <p:nvSpPr>
              <p:cNvPr id="3" name="Content Placeholder 2">
                <a:extLst>
                  <a:ext uri="{FF2B5EF4-FFF2-40B4-BE49-F238E27FC236}">
                    <a16:creationId xmlns:a16="http://schemas.microsoft.com/office/drawing/2014/main" id="{33F66BDF-1E5A-1190-A3C8-5EF6FBA3195D}"/>
                  </a:ext>
                </a:extLst>
              </p:cNvPr>
              <p:cNvSpPr>
                <a:spLocks noGrp="1" noRot="1" noChangeAspect="1" noMove="1" noResize="1" noEditPoints="1" noAdjustHandles="1" noChangeArrowheads="1" noChangeShapeType="1" noTextEdit="1"/>
              </p:cNvSpPr>
              <p:nvPr>
                <p:ph sz="half" idx="1"/>
              </p:nvPr>
            </p:nvSpPr>
            <p:spPr>
              <a:xfrm>
                <a:off x="838199" y="1825624"/>
                <a:ext cx="6289431" cy="5032375"/>
              </a:xfrm>
              <a:blipFill>
                <a:blip r:embed="rId2"/>
                <a:stretch>
                  <a:fillRect l="-1938" t="-1937" r="-2422"/>
                </a:stretch>
              </a:blipFill>
            </p:spPr>
            <p:txBody>
              <a:bodyPr/>
              <a:lstStyle/>
              <a:p>
                <a:r>
                  <a:rPr lang="en-GB">
                    <a:noFill/>
                  </a:rPr>
                  <a:t> </a:t>
                </a:r>
              </a:p>
            </p:txBody>
          </p:sp>
        </mc:Fallback>
      </mc:AlternateContent>
      <p:pic>
        <p:nvPicPr>
          <p:cNvPr id="8" name="Picture 7" descr="A picture containing text, crossword puzzle, clipart&#10;&#10;Description automatically generated">
            <a:extLst>
              <a:ext uri="{FF2B5EF4-FFF2-40B4-BE49-F238E27FC236}">
                <a16:creationId xmlns:a16="http://schemas.microsoft.com/office/drawing/2014/main" id="{432269CF-E7FD-4B23-DF61-B6526AA17F86}"/>
              </a:ext>
            </a:extLst>
          </p:cNvPr>
          <p:cNvPicPr>
            <a:picLocks noChangeAspect="1"/>
          </p:cNvPicPr>
          <p:nvPr/>
        </p:nvPicPr>
        <p:blipFill rotWithShape="1">
          <a:blip r:embed="rId3">
            <a:extLst>
              <a:ext uri="{28A0092B-C50C-407E-A947-70E740481C1C}">
                <a14:useLocalDpi xmlns:a14="http://schemas.microsoft.com/office/drawing/2010/main" val="0"/>
              </a:ext>
            </a:extLst>
          </a:blip>
          <a:srcRect r="18819" b="9808"/>
          <a:stretch/>
        </p:blipFill>
        <p:spPr>
          <a:xfrm>
            <a:off x="7485600" y="1463870"/>
            <a:ext cx="4446179" cy="1898578"/>
          </a:xfrm>
          <a:prstGeom prst="rect">
            <a:avLst/>
          </a:prstGeom>
        </p:spPr>
      </p:pic>
      <p:pic>
        <p:nvPicPr>
          <p:cNvPr id="11" name="Picture 10" descr="Calendar&#10;&#10;Description automatically generated">
            <a:extLst>
              <a:ext uri="{FF2B5EF4-FFF2-40B4-BE49-F238E27FC236}">
                <a16:creationId xmlns:a16="http://schemas.microsoft.com/office/drawing/2014/main" id="{DAC5BCC3-69D2-F837-B376-A2FAFB5BAA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74001" y="3460822"/>
            <a:ext cx="3707876" cy="2997200"/>
          </a:xfrm>
          <a:prstGeom prst="rect">
            <a:avLst/>
          </a:prstGeom>
        </p:spPr>
      </p:pic>
    </p:spTree>
    <p:extLst>
      <p:ext uri="{BB962C8B-B14F-4D97-AF65-F5344CB8AC3E}">
        <p14:creationId xmlns:p14="http://schemas.microsoft.com/office/powerpoint/2010/main" val="177426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8376B-BD81-9A0E-3ECE-D6981190EF76}"/>
              </a:ext>
            </a:extLst>
          </p:cNvPr>
          <p:cNvSpPr>
            <a:spLocks noGrp="1"/>
          </p:cNvSpPr>
          <p:nvPr>
            <p:ph type="title"/>
          </p:nvPr>
        </p:nvSpPr>
        <p:spPr/>
        <p:txBody>
          <a:bodyPr/>
          <a:lstStyle/>
          <a:p>
            <a:r>
              <a:rPr lang="en-GB" dirty="0"/>
              <a:t>How to encode an image</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3F66BDF-1E5A-1190-A3C8-5EF6FBA3195D}"/>
                  </a:ext>
                </a:extLst>
              </p:cNvPr>
              <p:cNvSpPr>
                <a:spLocks noGrp="1"/>
              </p:cNvSpPr>
              <p:nvPr>
                <p:ph sz="half" idx="1"/>
              </p:nvPr>
            </p:nvSpPr>
            <p:spPr>
              <a:xfrm>
                <a:off x="838199" y="1825624"/>
                <a:ext cx="6289431" cy="5032375"/>
              </a:xfrm>
            </p:spPr>
            <p:txBody>
              <a:bodyPr>
                <a:normAutofit/>
              </a:bodyPr>
              <a:lstStyle/>
              <a:p>
                <a:pPr marL="0" indent="0">
                  <a:buNone/>
                </a:pPr>
                <a:r>
                  <a:rPr lang="en-GB" b="1" dirty="0"/>
                  <a:t>Definition (encoding a </a:t>
                </a:r>
                <a:r>
                  <a:rPr lang="en-GB" b="1" dirty="0">
                    <a:solidFill>
                      <a:srgbClr val="00B050"/>
                    </a:solidFill>
                  </a:rPr>
                  <a:t>RGB</a:t>
                </a:r>
                <a:r>
                  <a:rPr lang="en-GB" b="1" dirty="0"/>
                  <a:t> image):</a:t>
                </a:r>
              </a:p>
              <a:p>
                <a:pPr marL="0" indent="0">
                  <a:buNone/>
                </a:pPr>
                <a:r>
                  <a:rPr lang="en-GB" b="1" dirty="0">
                    <a:solidFill>
                      <a:srgbClr val="00B050"/>
                    </a:solidFill>
                  </a:rPr>
                  <a:t>RGB</a:t>
                </a:r>
                <a:r>
                  <a:rPr lang="en-GB" dirty="0"/>
                  <a:t> </a:t>
                </a:r>
                <a:r>
                  <a:rPr lang="en-GB" b="1" dirty="0"/>
                  <a:t>images </a:t>
                </a:r>
                <a:r>
                  <a:rPr lang="en-GB" dirty="0"/>
                  <a:t>are more complex because each pixel has three values representing the intensity of light for each </a:t>
                </a:r>
                <a:r>
                  <a:rPr lang="en-GB" dirty="0" err="1"/>
                  <a:t>color</a:t>
                </a:r>
                <a:r>
                  <a:rPr lang="en-GB" dirty="0"/>
                  <a:t> </a:t>
                </a:r>
                <a:r>
                  <a:rPr lang="en-GB" b="1" dirty="0"/>
                  <a:t>channel</a:t>
                </a:r>
                <a:r>
                  <a:rPr lang="en-GB" dirty="0"/>
                  <a:t> (red, green, and blue).</a:t>
                </a:r>
              </a:p>
              <a:p>
                <a:r>
                  <a:rPr lang="en-GB" dirty="0"/>
                  <a:t>An RGB image is represented as a </a:t>
                </a:r>
                <a:r>
                  <a:rPr lang="en-GB" b="1" dirty="0"/>
                  <a:t>3D</a:t>
                </a:r>
                <a:r>
                  <a:rPr lang="en-GB" dirty="0"/>
                  <a:t> </a:t>
                </a:r>
                <a:r>
                  <a:rPr lang="en-GB" b="1" dirty="0"/>
                  <a:t>tensor</a:t>
                </a:r>
                <a:r>
                  <a:rPr lang="en-GB" dirty="0"/>
                  <a:t> of shape </a:t>
                </a:r>
                <a14:m>
                  <m:oMath xmlns:m="http://schemas.openxmlformats.org/officeDocument/2006/math">
                    <m:r>
                      <a:rPr lang="en-GB" b="0" i="1" smtClean="0">
                        <a:latin typeface="Cambria Math" panose="02040503050406030204" pitchFamily="18" charset="0"/>
                      </a:rPr>
                      <m:t>h𝑒𝑖𝑔h𝑡</m:t>
                    </m:r>
                    <m:r>
                      <a:rPr lang="en-GB" b="0" i="1" smtClean="0">
                        <a:latin typeface="Cambria Math" panose="02040503050406030204" pitchFamily="18" charset="0"/>
                      </a:rPr>
                      <m:t>×</m:t>
                    </m:r>
                    <m:r>
                      <a:rPr lang="en-GB" b="0" i="1" smtClean="0">
                        <a:latin typeface="Cambria Math" panose="02040503050406030204" pitchFamily="18" charset="0"/>
                      </a:rPr>
                      <m:t>𝑤𝑖𝑑𝑡h</m:t>
                    </m:r>
                    <m:r>
                      <a:rPr lang="en-GB" b="0" i="1" smtClean="0">
                        <a:latin typeface="Cambria Math" panose="02040503050406030204" pitchFamily="18" charset="0"/>
                      </a:rPr>
                      <m:t>×3</m:t>
                    </m:r>
                  </m:oMath>
                </a14:m>
                <a:r>
                  <a:rPr lang="en-GB" dirty="0"/>
                  <a:t>.</a:t>
                </a:r>
              </a:p>
              <a:p>
                <a:r>
                  <a:rPr lang="en-GB" dirty="0"/>
                  <a:t>Each element in the tensor would be an integer representing the intensity of the corresponding </a:t>
                </a:r>
                <a:r>
                  <a:rPr lang="en-GB" dirty="0" err="1"/>
                  <a:t>color</a:t>
                </a:r>
                <a:r>
                  <a:rPr lang="en-GB" dirty="0"/>
                  <a:t> channel.</a:t>
                </a:r>
              </a:p>
            </p:txBody>
          </p:sp>
        </mc:Choice>
        <mc:Fallback xmlns="">
          <p:sp>
            <p:nvSpPr>
              <p:cNvPr id="3" name="Content Placeholder 2">
                <a:extLst>
                  <a:ext uri="{FF2B5EF4-FFF2-40B4-BE49-F238E27FC236}">
                    <a16:creationId xmlns:a16="http://schemas.microsoft.com/office/drawing/2014/main" id="{33F66BDF-1E5A-1190-A3C8-5EF6FBA3195D}"/>
                  </a:ext>
                </a:extLst>
              </p:cNvPr>
              <p:cNvSpPr>
                <a:spLocks noGrp="1" noRot="1" noChangeAspect="1" noMove="1" noResize="1" noEditPoints="1" noAdjustHandles="1" noChangeArrowheads="1" noChangeShapeType="1" noTextEdit="1"/>
              </p:cNvSpPr>
              <p:nvPr>
                <p:ph sz="half" idx="1"/>
              </p:nvPr>
            </p:nvSpPr>
            <p:spPr>
              <a:xfrm>
                <a:off x="838199" y="1825624"/>
                <a:ext cx="6289431" cy="5032375"/>
              </a:xfrm>
              <a:blipFill>
                <a:blip r:embed="rId2"/>
                <a:stretch>
                  <a:fillRect l="-1938" t="-1937" r="-1453"/>
                </a:stretch>
              </a:blipFill>
            </p:spPr>
            <p:txBody>
              <a:bodyPr/>
              <a:lstStyle/>
              <a:p>
                <a:r>
                  <a:rPr lang="en-SG">
                    <a:noFill/>
                  </a:rPr>
                  <a:t> </a:t>
                </a:r>
              </a:p>
            </p:txBody>
          </p:sp>
        </mc:Fallback>
      </mc:AlternateContent>
      <p:pic>
        <p:nvPicPr>
          <p:cNvPr id="8" name="Picture 7" descr="A picture containing text, crossword puzzle, clipart&#10;&#10;Description automatically generated">
            <a:extLst>
              <a:ext uri="{FF2B5EF4-FFF2-40B4-BE49-F238E27FC236}">
                <a16:creationId xmlns:a16="http://schemas.microsoft.com/office/drawing/2014/main" id="{432269CF-E7FD-4B23-DF61-B6526AA17F86}"/>
              </a:ext>
            </a:extLst>
          </p:cNvPr>
          <p:cNvPicPr>
            <a:picLocks noChangeAspect="1"/>
          </p:cNvPicPr>
          <p:nvPr/>
        </p:nvPicPr>
        <p:blipFill rotWithShape="1">
          <a:blip r:embed="rId3">
            <a:extLst>
              <a:ext uri="{28A0092B-C50C-407E-A947-70E740481C1C}">
                <a14:useLocalDpi xmlns:a14="http://schemas.microsoft.com/office/drawing/2010/main" val="0"/>
              </a:ext>
            </a:extLst>
          </a:blip>
          <a:srcRect r="18819" b="9808"/>
          <a:stretch/>
        </p:blipFill>
        <p:spPr>
          <a:xfrm>
            <a:off x="7485600" y="1463870"/>
            <a:ext cx="4446179" cy="1898578"/>
          </a:xfrm>
          <a:prstGeom prst="rect">
            <a:avLst/>
          </a:prstGeom>
        </p:spPr>
      </p:pic>
      <p:pic>
        <p:nvPicPr>
          <p:cNvPr id="11" name="Picture 10" descr="Calendar&#10;&#10;Description automatically generated">
            <a:extLst>
              <a:ext uri="{FF2B5EF4-FFF2-40B4-BE49-F238E27FC236}">
                <a16:creationId xmlns:a16="http://schemas.microsoft.com/office/drawing/2014/main" id="{DAC5BCC3-69D2-F837-B376-A2FAFB5BAA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74001" y="3460822"/>
            <a:ext cx="3707876" cy="2997200"/>
          </a:xfrm>
          <a:prstGeom prst="rect">
            <a:avLst/>
          </a:prstGeom>
        </p:spPr>
      </p:pic>
    </p:spTree>
    <p:extLst>
      <p:ext uri="{BB962C8B-B14F-4D97-AF65-F5344CB8AC3E}">
        <p14:creationId xmlns:p14="http://schemas.microsoft.com/office/powerpoint/2010/main" val="3332341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8376B-BD81-9A0E-3ECE-D6981190EF76}"/>
              </a:ext>
            </a:extLst>
          </p:cNvPr>
          <p:cNvSpPr>
            <a:spLocks noGrp="1"/>
          </p:cNvSpPr>
          <p:nvPr>
            <p:ph type="title"/>
          </p:nvPr>
        </p:nvSpPr>
        <p:spPr/>
        <p:txBody>
          <a:bodyPr/>
          <a:lstStyle/>
          <a:p>
            <a:r>
              <a:rPr lang="en-GB" dirty="0"/>
              <a:t>How to encode an image</a:t>
            </a:r>
            <a:endParaRPr lang="en-SG" dirty="0"/>
          </a:p>
        </p:txBody>
      </p:sp>
      <p:sp>
        <p:nvSpPr>
          <p:cNvPr id="3" name="Content Placeholder 2">
            <a:extLst>
              <a:ext uri="{FF2B5EF4-FFF2-40B4-BE49-F238E27FC236}">
                <a16:creationId xmlns:a16="http://schemas.microsoft.com/office/drawing/2014/main" id="{33F66BDF-1E5A-1190-A3C8-5EF6FBA3195D}"/>
              </a:ext>
            </a:extLst>
          </p:cNvPr>
          <p:cNvSpPr>
            <a:spLocks noGrp="1"/>
          </p:cNvSpPr>
          <p:nvPr>
            <p:ph sz="half" idx="1"/>
          </p:nvPr>
        </p:nvSpPr>
        <p:spPr/>
        <p:txBody>
          <a:bodyPr>
            <a:normAutofit/>
          </a:bodyPr>
          <a:lstStyle/>
          <a:p>
            <a:r>
              <a:rPr lang="en-GB" dirty="0"/>
              <a:t>Combining the red, green and blue values allows to generate any </a:t>
            </a:r>
            <a:r>
              <a:rPr lang="en-GB" dirty="0" err="1"/>
              <a:t>color</a:t>
            </a:r>
            <a:r>
              <a:rPr lang="en-GB" dirty="0"/>
              <a:t>. Try it!</a:t>
            </a:r>
          </a:p>
          <a:p>
            <a:pPr marL="0" indent="0">
              <a:buNone/>
            </a:pPr>
            <a:r>
              <a:rPr lang="en-GB" dirty="0">
                <a:hlinkClick r:id="rId2"/>
              </a:rPr>
              <a:t>https://www.rapidtables.com/convert/color/rgb-to-hex.html</a:t>
            </a:r>
            <a:endParaRPr lang="en-GB" dirty="0"/>
          </a:p>
          <a:p>
            <a:endParaRPr lang="en-GB" dirty="0"/>
          </a:p>
        </p:txBody>
      </p:sp>
      <p:pic>
        <p:nvPicPr>
          <p:cNvPr id="8" name="Picture 7" descr="A picture containing text, crossword puzzle, clipart&#10;&#10;Description automatically generated">
            <a:extLst>
              <a:ext uri="{FF2B5EF4-FFF2-40B4-BE49-F238E27FC236}">
                <a16:creationId xmlns:a16="http://schemas.microsoft.com/office/drawing/2014/main" id="{432269CF-E7FD-4B23-DF61-B6526AA17F86}"/>
              </a:ext>
            </a:extLst>
          </p:cNvPr>
          <p:cNvPicPr>
            <a:picLocks noChangeAspect="1"/>
          </p:cNvPicPr>
          <p:nvPr/>
        </p:nvPicPr>
        <p:blipFill rotWithShape="1">
          <a:blip r:embed="rId3">
            <a:extLst>
              <a:ext uri="{28A0092B-C50C-407E-A947-70E740481C1C}">
                <a14:useLocalDpi xmlns:a14="http://schemas.microsoft.com/office/drawing/2010/main" val="0"/>
              </a:ext>
            </a:extLst>
          </a:blip>
          <a:srcRect r="18819" b="9808"/>
          <a:stretch/>
        </p:blipFill>
        <p:spPr>
          <a:xfrm>
            <a:off x="7485600" y="1463870"/>
            <a:ext cx="4446179" cy="1898578"/>
          </a:xfrm>
          <a:prstGeom prst="rect">
            <a:avLst/>
          </a:prstGeom>
        </p:spPr>
      </p:pic>
      <p:pic>
        <p:nvPicPr>
          <p:cNvPr id="10" name="Picture 9" descr="Calendar&#10;&#10;Description automatically generated">
            <a:extLst>
              <a:ext uri="{FF2B5EF4-FFF2-40B4-BE49-F238E27FC236}">
                <a16:creationId xmlns:a16="http://schemas.microsoft.com/office/drawing/2014/main" id="{DBD0AB7D-3D3D-2027-6F62-FE0E17C5A3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74001" y="3460822"/>
            <a:ext cx="3707876" cy="2997200"/>
          </a:xfrm>
          <a:prstGeom prst="rect">
            <a:avLst/>
          </a:prstGeom>
        </p:spPr>
      </p:pic>
      <p:pic>
        <p:nvPicPr>
          <p:cNvPr id="5" name="Picture 4">
            <a:extLst>
              <a:ext uri="{FF2B5EF4-FFF2-40B4-BE49-F238E27FC236}">
                <a16:creationId xmlns:a16="http://schemas.microsoft.com/office/drawing/2014/main" id="{20CE27C5-29C0-AA6C-0AC1-7DCFED2BABBD}"/>
              </a:ext>
            </a:extLst>
          </p:cNvPr>
          <p:cNvPicPr>
            <a:picLocks noChangeAspect="1"/>
          </p:cNvPicPr>
          <p:nvPr/>
        </p:nvPicPr>
        <p:blipFill>
          <a:blip r:embed="rId5"/>
          <a:stretch>
            <a:fillRect/>
          </a:stretch>
        </p:blipFill>
        <p:spPr>
          <a:xfrm>
            <a:off x="1360889" y="4130930"/>
            <a:ext cx="3594541" cy="2633996"/>
          </a:xfrm>
          <a:prstGeom prst="rect">
            <a:avLst/>
          </a:prstGeom>
        </p:spPr>
      </p:pic>
    </p:spTree>
    <p:extLst>
      <p:ext uri="{BB962C8B-B14F-4D97-AF65-F5344CB8AC3E}">
        <p14:creationId xmlns:p14="http://schemas.microsoft.com/office/powerpoint/2010/main" val="1231879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A3AB63F-9971-C1A7-2DA1-1A01A4993150}"/>
              </a:ext>
            </a:extLst>
          </p:cNvPr>
          <p:cNvSpPr>
            <a:spLocks noGrp="1"/>
          </p:cNvSpPr>
          <p:nvPr>
            <p:ph type="title"/>
          </p:nvPr>
        </p:nvSpPr>
        <p:spPr/>
        <p:txBody>
          <a:bodyPr/>
          <a:lstStyle/>
          <a:p>
            <a:r>
              <a:rPr lang="en-GB" dirty="0"/>
              <a:t>Pixels information</a:t>
            </a:r>
            <a:endParaRPr lang="en-SG" dirty="0"/>
          </a:p>
        </p:txBody>
      </p:sp>
      <p:sp>
        <p:nvSpPr>
          <p:cNvPr id="5" name="Content Placeholder 4">
            <a:extLst>
              <a:ext uri="{FF2B5EF4-FFF2-40B4-BE49-F238E27FC236}">
                <a16:creationId xmlns:a16="http://schemas.microsoft.com/office/drawing/2014/main" id="{A97445D3-1D51-1E51-82DE-9C3B128B43CC}"/>
              </a:ext>
            </a:extLst>
          </p:cNvPr>
          <p:cNvSpPr>
            <a:spLocks noGrp="1"/>
          </p:cNvSpPr>
          <p:nvPr>
            <p:ph sz="half" idx="1"/>
          </p:nvPr>
        </p:nvSpPr>
        <p:spPr>
          <a:xfrm>
            <a:off x="838200" y="1825624"/>
            <a:ext cx="5181600" cy="5032375"/>
          </a:xfrm>
        </p:spPr>
        <p:txBody>
          <a:bodyPr/>
          <a:lstStyle/>
          <a:p>
            <a:r>
              <a:rPr lang="en-GB" dirty="0"/>
              <a:t>Each element in a Greyscale matrix or RGB matrix corresponds to a pixel, representing something in the image.</a:t>
            </a:r>
          </a:p>
          <a:p>
            <a:r>
              <a:rPr lang="en-GB" dirty="0"/>
              <a:t>The problem, however, is that </a:t>
            </a:r>
            <a:r>
              <a:rPr lang="en-GB" b="1" dirty="0"/>
              <a:t>it is often impossible to guess the meaning of a given pixel, by looking at this pixel alone</a:t>
            </a:r>
            <a:r>
              <a:rPr lang="en-GB" dirty="0"/>
              <a:t>.</a:t>
            </a:r>
            <a:endParaRPr lang="en-SG" dirty="0"/>
          </a:p>
        </p:txBody>
      </p:sp>
      <p:pic>
        <p:nvPicPr>
          <p:cNvPr id="9" name="Picture 8" descr="Qr code&#10;&#10;Description automatically generated">
            <a:extLst>
              <a:ext uri="{FF2B5EF4-FFF2-40B4-BE49-F238E27FC236}">
                <a16:creationId xmlns:a16="http://schemas.microsoft.com/office/drawing/2014/main" id="{FA9290F7-961F-9AC0-462E-40885BD9A7D2}"/>
              </a:ext>
            </a:extLst>
          </p:cNvPr>
          <p:cNvPicPr>
            <a:picLocks noChangeAspect="1"/>
          </p:cNvPicPr>
          <p:nvPr/>
        </p:nvPicPr>
        <p:blipFill rotWithShape="1">
          <a:blip r:embed="rId2">
            <a:extLst>
              <a:ext uri="{28A0092B-C50C-407E-A947-70E740481C1C}">
                <a14:useLocalDpi xmlns:a14="http://schemas.microsoft.com/office/drawing/2010/main" val="0"/>
              </a:ext>
            </a:extLst>
          </a:blip>
          <a:srcRect l="47390" t="23002" r="47941" b="71231"/>
          <a:stretch/>
        </p:blipFill>
        <p:spPr>
          <a:xfrm>
            <a:off x="9464430" y="2672862"/>
            <a:ext cx="446896" cy="432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2100864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A3AB63F-9971-C1A7-2DA1-1A01A4993150}"/>
              </a:ext>
            </a:extLst>
          </p:cNvPr>
          <p:cNvSpPr>
            <a:spLocks noGrp="1"/>
          </p:cNvSpPr>
          <p:nvPr>
            <p:ph type="title"/>
          </p:nvPr>
        </p:nvSpPr>
        <p:spPr/>
        <p:txBody>
          <a:bodyPr/>
          <a:lstStyle/>
          <a:p>
            <a:r>
              <a:rPr lang="en-GB" dirty="0"/>
              <a:t>Pixels information</a:t>
            </a:r>
            <a:endParaRPr lang="en-SG" dirty="0"/>
          </a:p>
        </p:txBody>
      </p:sp>
      <p:sp>
        <p:nvSpPr>
          <p:cNvPr id="5" name="Content Placeholder 4">
            <a:extLst>
              <a:ext uri="{FF2B5EF4-FFF2-40B4-BE49-F238E27FC236}">
                <a16:creationId xmlns:a16="http://schemas.microsoft.com/office/drawing/2014/main" id="{A97445D3-1D51-1E51-82DE-9C3B128B43CC}"/>
              </a:ext>
            </a:extLst>
          </p:cNvPr>
          <p:cNvSpPr>
            <a:spLocks noGrp="1"/>
          </p:cNvSpPr>
          <p:nvPr>
            <p:ph sz="half" idx="1"/>
          </p:nvPr>
        </p:nvSpPr>
        <p:spPr>
          <a:xfrm>
            <a:off x="838200" y="1825624"/>
            <a:ext cx="5181600" cy="5032375"/>
          </a:xfrm>
        </p:spPr>
        <p:txBody>
          <a:bodyPr/>
          <a:lstStyle/>
          <a:p>
            <a:pPr marL="457200" indent="-457200" algn="ctr">
              <a:buFont typeface="Wingdings" panose="05000000000000000000" pitchFamily="2" charset="2"/>
              <a:buChar char="à"/>
            </a:pPr>
            <a:r>
              <a:rPr lang="en-GB" sz="2800" b="1" dirty="0"/>
              <a:t>Can you guess what this pixel represents and what object it belongs to?</a:t>
            </a:r>
          </a:p>
          <a:p>
            <a:pPr marL="0" indent="0" algn="ctr">
              <a:buNone/>
            </a:pPr>
            <a:endParaRPr lang="en-GB" sz="2800" b="1" dirty="0"/>
          </a:p>
          <a:p>
            <a:pPr marL="514350" indent="-514350" algn="ctr">
              <a:buFont typeface="+mj-lt"/>
              <a:buAutoNum type="arabicPeriod"/>
            </a:pPr>
            <a:r>
              <a:rPr lang="en-GB" sz="2800" dirty="0"/>
              <a:t>Flower petal</a:t>
            </a:r>
          </a:p>
          <a:p>
            <a:pPr marL="514350" indent="-514350" algn="ctr">
              <a:buFont typeface="+mj-lt"/>
              <a:buAutoNum type="arabicPeriod"/>
            </a:pPr>
            <a:r>
              <a:rPr lang="en-GB" sz="2800" dirty="0"/>
              <a:t>Piece of clothing</a:t>
            </a:r>
          </a:p>
          <a:p>
            <a:pPr marL="514350" indent="-514350" algn="ctr">
              <a:buFont typeface="+mj-lt"/>
              <a:buAutoNum type="arabicPeriod"/>
            </a:pPr>
            <a:r>
              <a:rPr lang="en-GB" sz="2800" dirty="0"/>
              <a:t>Skin of a human person</a:t>
            </a:r>
          </a:p>
          <a:p>
            <a:pPr marL="514350" indent="-514350" algn="ctr">
              <a:buFont typeface="+mj-lt"/>
              <a:buAutoNum type="arabicPeriod"/>
            </a:pPr>
            <a:r>
              <a:rPr lang="en-GB" sz="2800" dirty="0"/>
              <a:t>Feather of a bird</a:t>
            </a:r>
          </a:p>
        </p:txBody>
      </p:sp>
      <p:pic>
        <p:nvPicPr>
          <p:cNvPr id="7" name="Picture 6" descr="Qr code&#10;&#10;Description automatically generated">
            <a:extLst>
              <a:ext uri="{FF2B5EF4-FFF2-40B4-BE49-F238E27FC236}">
                <a16:creationId xmlns:a16="http://schemas.microsoft.com/office/drawing/2014/main" id="{04CDCE7C-7E08-FB78-9B4D-BD7134C4B4F0}"/>
              </a:ext>
            </a:extLst>
          </p:cNvPr>
          <p:cNvPicPr>
            <a:picLocks noChangeAspect="1"/>
          </p:cNvPicPr>
          <p:nvPr/>
        </p:nvPicPr>
        <p:blipFill rotWithShape="1">
          <a:blip r:embed="rId2">
            <a:extLst>
              <a:ext uri="{28A0092B-C50C-407E-A947-70E740481C1C}">
                <a14:useLocalDpi xmlns:a14="http://schemas.microsoft.com/office/drawing/2010/main" val="0"/>
              </a:ext>
            </a:extLst>
          </a:blip>
          <a:srcRect l="47390" t="23002" r="47941" b="71231"/>
          <a:stretch/>
        </p:blipFill>
        <p:spPr>
          <a:xfrm>
            <a:off x="9464430" y="2672862"/>
            <a:ext cx="446896" cy="432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455222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A3AB63F-9971-C1A7-2DA1-1A01A4993150}"/>
              </a:ext>
            </a:extLst>
          </p:cNvPr>
          <p:cNvSpPr>
            <a:spLocks noGrp="1"/>
          </p:cNvSpPr>
          <p:nvPr>
            <p:ph type="title"/>
          </p:nvPr>
        </p:nvSpPr>
        <p:spPr/>
        <p:txBody>
          <a:bodyPr/>
          <a:lstStyle/>
          <a:p>
            <a:r>
              <a:rPr lang="en-GB" dirty="0"/>
              <a:t>Pixels information</a:t>
            </a:r>
            <a:endParaRPr lang="en-SG" dirty="0"/>
          </a:p>
        </p:txBody>
      </p:sp>
      <p:sp>
        <p:nvSpPr>
          <p:cNvPr id="5" name="Content Placeholder 4">
            <a:extLst>
              <a:ext uri="{FF2B5EF4-FFF2-40B4-BE49-F238E27FC236}">
                <a16:creationId xmlns:a16="http://schemas.microsoft.com/office/drawing/2014/main" id="{A97445D3-1D51-1E51-82DE-9C3B128B43CC}"/>
              </a:ext>
            </a:extLst>
          </p:cNvPr>
          <p:cNvSpPr>
            <a:spLocks noGrp="1"/>
          </p:cNvSpPr>
          <p:nvPr>
            <p:ph sz="half" idx="1"/>
          </p:nvPr>
        </p:nvSpPr>
        <p:spPr/>
        <p:txBody>
          <a:bodyPr/>
          <a:lstStyle/>
          <a:p>
            <a:pPr marL="457200" indent="-457200" algn="ctr">
              <a:buFont typeface="Wingdings" panose="05000000000000000000" pitchFamily="2" charset="2"/>
              <a:buChar char="à"/>
            </a:pPr>
            <a:r>
              <a:rPr lang="en-GB" sz="2800" b="1" dirty="0"/>
              <a:t>What if I show you </a:t>
            </a:r>
            <a:r>
              <a:rPr lang="en-GB" sz="2800" b="1" u="sng" dirty="0"/>
              <a:t>some</a:t>
            </a:r>
            <a:r>
              <a:rPr lang="en-GB" sz="2800" b="1" dirty="0"/>
              <a:t> neighbouring pixels now?</a:t>
            </a:r>
          </a:p>
          <a:p>
            <a:pPr marL="0" indent="0" algn="ctr">
              <a:buNone/>
            </a:pPr>
            <a:endParaRPr lang="en-GB" sz="2800" b="1" dirty="0"/>
          </a:p>
          <a:p>
            <a:pPr marL="0" indent="0" algn="ctr">
              <a:buNone/>
            </a:pPr>
            <a:endParaRPr lang="en-GB" sz="2800" b="1" dirty="0"/>
          </a:p>
          <a:p>
            <a:pPr marL="514350" indent="-514350" algn="ctr">
              <a:buFont typeface="+mj-lt"/>
              <a:buAutoNum type="arabicPeriod"/>
            </a:pPr>
            <a:r>
              <a:rPr lang="en-GB" sz="2800" dirty="0"/>
              <a:t>Flower petal</a:t>
            </a:r>
          </a:p>
          <a:p>
            <a:pPr marL="514350" indent="-514350" algn="ctr">
              <a:buFont typeface="+mj-lt"/>
              <a:buAutoNum type="arabicPeriod"/>
            </a:pPr>
            <a:r>
              <a:rPr lang="en-GB" sz="2800" dirty="0"/>
              <a:t>Piece of clothing</a:t>
            </a:r>
          </a:p>
          <a:p>
            <a:pPr marL="514350" indent="-514350" algn="ctr">
              <a:buFont typeface="+mj-lt"/>
              <a:buAutoNum type="arabicPeriod"/>
            </a:pPr>
            <a:r>
              <a:rPr lang="en-GB" sz="2800" dirty="0"/>
              <a:t>Skin of a human person</a:t>
            </a:r>
          </a:p>
          <a:p>
            <a:pPr marL="514350" indent="-514350" algn="ctr">
              <a:buFont typeface="+mj-lt"/>
              <a:buAutoNum type="arabicPeriod"/>
            </a:pPr>
            <a:r>
              <a:rPr lang="en-GB" sz="2800" dirty="0"/>
              <a:t>Feather of a bird</a:t>
            </a:r>
          </a:p>
        </p:txBody>
      </p:sp>
      <p:pic>
        <p:nvPicPr>
          <p:cNvPr id="7" name="Picture 6" descr="Qr code&#10;&#10;Description automatically generated">
            <a:extLst>
              <a:ext uri="{FF2B5EF4-FFF2-40B4-BE49-F238E27FC236}">
                <a16:creationId xmlns:a16="http://schemas.microsoft.com/office/drawing/2014/main" id="{04CDCE7C-7E08-FB78-9B4D-BD7134C4B4F0}"/>
              </a:ext>
            </a:extLst>
          </p:cNvPr>
          <p:cNvPicPr>
            <a:picLocks noChangeAspect="1"/>
          </p:cNvPicPr>
          <p:nvPr/>
        </p:nvPicPr>
        <p:blipFill rotWithShape="1">
          <a:blip r:embed="rId2">
            <a:extLst>
              <a:ext uri="{28A0092B-C50C-407E-A947-70E740481C1C}">
                <a14:useLocalDpi xmlns:a14="http://schemas.microsoft.com/office/drawing/2010/main" val="0"/>
              </a:ext>
            </a:extLst>
          </a:blip>
          <a:srcRect l="39297" t="17340" r="39259" b="55768"/>
          <a:stretch/>
        </p:blipFill>
        <p:spPr>
          <a:xfrm>
            <a:off x="8714152" y="2149475"/>
            <a:ext cx="2141173" cy="210134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8597594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A3AB63F-9971-C1A7-2DA1-1A01A4993150}"/>
              </a:ext>
            </a:extLst>
          </p:cNvPr>
          <p:cNvSpPr>
            <a:spLocks noGrp="1"/>
          </p:cNvSpPr>
          <p:nvPr>
            <p:ph type="title"/>
          </p:nvPr>
        </p:nvSpPr>
        <p:spPr/>
        <p:txBody>
          <a:bodyPr/>
          <a:lstStyle/>
          <a:p>
            <a:r>
              <a:rPr lang="en-GB" dirty="0"/>
              <a:t>Pixels information</a:t>
            </a:r>
            <a:endParaRPr lang="en-SG" dirty="0"/>
          </a:p>
        </p:txBody>
      </p:sp>
      <p:sp>
        <p:nvSpPr>
          <p:cNvPr id="5" name="Content Placeholder 4">
            <a:extLst>
              <a:ext uri="{FF2B5EF4-FFF2-40B4-BE49-F238E27FC236}">
                <a16:creationId xmlns:a16="http://schemas.microsoft.com/office/drawing/2014/main" id="{A97445D3-1D51-1E51-82DE-9C3B128B43CC}"/>
              </a:ext>
            </a:extLst>
          </p:cNvPr>
          <p:cNvSpPr>
            <a:spLocks noGrp="1"/>
          </p:cNvSpPr>
          <p:nvPr>
            <p:ph sz="half" idx="1"/>
          </p:nvPr>
        </p:nvSpPr>
        <p:spPr/>
        <p:txBody>
          <a:bodyPr/>
          <a:lstStyle/>
          <a:p>
            <a:pPr marL="457200" indent="-457200" algn="ctr">
              <a:buFont typeface="Wingdings" panose="05000000000000000000" pitchFamily="2" charset="2"/>
              <a:buChar char="à"/>
            </a:pPr>
            <a:r>
              <a:rPr lang="en-GB" sz="2800" b="1" dirty="0"/>
              <a:t>What if I show you </a:t>
            </a:r>
            <a:r>
              <a:rPr lang="en-GB" sz="2800" b="1" u="sng" dirty="0"/>
              <a:t>MORE</a:t>
            </a:r>
            <a:r>
              <a:rPr lang="en-GB" sz="2800" b="1" dirty="0"/>
              <a:t> neighbouring pixels now?</a:t>
            </a:r>
          </a:p>
          <a:p>
            <a:pPr marL="0" indent="0" algn="ctr">
              <a:buNone/>
            </a:pPr>
            <a:endParaRPr lang="en-GB" sz="2800" b="1" dirty="0"/>
          </a:p>
          <a:p>
            <a:pPr marL="0" indent="0" algn="ctr">
              <a:buNone/>
            </a:pPr>
            <a:endParaRPr lang="en-GB" sz="2800" b="1" dirty="0"/>
          </a:p>
          <a:p>
            <a:pPr marL="514350" indent="-514350" algn="ctr">
              <a:buFont typeface="+mj-lt"/>
              <a:buAutoNum type="arabicPeriod"/>
            </a:pPr>
            <a:r>
              <a:rPr lang="en-GB" sz="2800" dirty="0"/>
              <a:t>Flower petal</a:t>
            </a:r>
          </a:p>
          <a:p>
            <a:pPr marL="514350" indent="-514350" algn="ctr">
              <a:buFont typeface="+mj-lt"/>
              <a:buAutoNum type="arabicPeriod"/>
            </a:pPr>
            <a:r>
              <a:rPr lang="en-GB" sz="2800" dirty="0"/>
              <a:t>Piece of clothing</a:t>
            </a:r>
          </a:p>
          <a:p>
            <a:pPr marL="514350" indent="-514350" algn="ctr">
              <a:buFont typeface="+mj-lt"/>
              <a:buAutoNum type="arabicPeriod"/>
            </a:pPr>
            <a:r>
              <a:rPr lang="en-GB" sz="2800" dirty="0"/>
              <a:t>Skin of a human person</a:t>
            </a:r>
          </a:p>
          <a:p>
            <a:pPr marL="514350" indent="-514350" algn="ctr">
              <a:buFont typeface="+mj-lt"/>
              <a:buAutoNum type="arabicPeriod"/>
            </a:pPr>
            <a:r>
              <a:rPr lang="en-GB" sz="2800" dirty="0"/>
              <a:t>Feather of a bird</a:t>
            </a:r>
          </a:p>
          <a:p>
            <a:pPr marL="0" indent="0">
              <a:buNone/>
            </a:pPr>
            <a:endParaRPr lang="en-SG" dirty="0"/>
          </a:p>
        </p:txBody>
      </p:sp>
      <p:pic>
        <p:nvPicPr>
          <p:cNvPr id="7" name="Picture 6" descr="Qr code&#10;&#10;Description automatically generated">
            <a:extLst>
              <a:ext uri="{FF2B5EF4-FFF2-40B4-BE49-F238E27FC236}">
                <a16:creationId xmlns:a16="http://schemas.microsoft.com/office/drawing/2014/main" id="{04CDCE7C-7E08-FB78-9B4D-BD7134C4B4F0}"/>
              </a:ext>
            </a:extLst>
          </p:cNvPr>
          <p:cNvPicPr>
            <a:picLocks noChangeAspect="1"/>
          </p:cNvPicPr>
          <p:nvPr/>
        </p:nvPicPr>
        <p:blipFill rotWithShape="1">
          <a:blip r:embed="rId2">
            <a:extLst>
              <a:ext uri="{28A0092B-C50C-407E-A947-70E740481C1C}">
                <a14:useLocalDpi xmlns:a14="http://schemas.microsoft.com/office/drawing/2010/main" val="0"/>
              </a:ext>
            </a:extLst>
          </a:blip>
          <a:srcRect l="26440" t="11667" r="30822" b="38940"/>
          <a:stretch/>
        </p:blipFill>
        <p:spPr>
          <a:xfrm>
            <a:off x="7119815" y="1653658"/>
            <a:ext cx="4514401" cy="408283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31154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A3AB63F-9971-C1A7-2DA1-1A01A4993150}"/>
              </a:ext>
            </a:extLst>
          </p:cNvPr>
          <p:cNvSpPr>
            <a:spLocks noGrp="1"/>
          </p:cNvSpPr>
          <p:nvPr>
            <p:ph type="title"/>
          </p:nvPr>
        </p:nvSpPr>
        <p:spPr/>
        <p:txBody>
          <a:bodyPr/>
          <a:lstStyle/>
          <a:p>
            <a:r>
              <a:rPr lang="en-GB" dirty="0"/>
              <a:t>Pixels information</a:t>
            </a:r>
            <a:endParaRPr lang="en-SG" dirty="0"/>
          </a:p>
        </p:txBody>
      </p:sp>
      <p:sp>
        <p:nvSpPr>
          <p:cNvPr id="5" name="Content Placeholder 4">
            <a:extLst>
              <a:ext uri="{FF2B5EF4-FFF2-40B4-BE49-F238E27FC236}">
                <a16:creationId xmlns:a16="http://schemas.microsoft.com/office/drawing/2014/main" id="{A97445D3-1D51-1E51-82DE-9C3B128B43CC}"/>
              </a:ext>
            </a:extLst>
          </p:cNvPr>
          <p:cNvSpPr>
            <a:spLocks noGrp="1"/>
          </p:cNvSpPr>
          <p:nvPr>
            <p:ph sz="half" idx="1"/>
          </p:nvPr>
        </p:nvSpPr>
        <p:spPr/>
        <p:txBody>
          <a:bodyPr/>
          <a:lstStyle/>
          <a:p>
            <a:pPr marL="457200" indent="-457200" algn="ctr">
              <a:buFont typeface="Wingdings" panose="05000000000000000000" pitchFamily="2" charset="2"/>
              <a:buChar char="à"/>
            </a:pPr>
            <a:r>
              <a:rPr lang="en-GB" sz="2800" b="1" dirty="0"/>
              <a:t>What if I show you </a:t>
            </a:r>
            <a:r>
              <a:rPr lang="en-GB" sz="2800" b="1" u="sng" dirty="0"/>
              <a:t>MORE</a:t>
            </a:r>
            <a:r>
              <a:rPr lang="en-GB" sz="2800" b="1" dirty="0"/>
              <a:t> neighbouring pixels now?</a:t>
            </a:r>
          </a:p>
          <a:p>
            <a:pPr marL="0" indent="0" algn="ctr">
              <a:buNone/>
            </a:pPr>
            <a:endParaRPr lang="en-GB" sz="2800" b="1" dirty="0"/>
          </a:p>
          <a:p>
            <a:pPr marL="0" indent="0" algn="ctr">
              <a:buNone/>
            </a:pPr>
            <a:endParaRPr lang="en-GB" sz="2800" b="1" dirty="0"/>
          </a:p>
          <a:p>
            <a:pPr marL="514350" indent="-514350" algn="ctr">
              <a:buFont typeface="+mj-lt"/>
              <a:buAutoNum type="arabicPeriod"/>
            </a:pPr>
            <a:r>
              <a:rPr lang="en-GB" sz="2800" dirty="0"/>
              <a:t>Flower petal</a:t>
            </a:r>
          </a:p>
          <a:p>
            <a:pPr marL="514350" indent="-514350" algn="ctr">
              <a:buFont typeface="+mj-lt"/>
              <a:buAutoNum type="arabicPeriod"/>
            </a:pPr>
            <a:r>
              <a:rPr lang="en-GB" sz="2800" dirty="0"/>
              <a:t>Piece of clothing</a:t>
            </a:r>
          </a:p>
          <a:p>
            <a:pPr marL="514350" indent="-514350" algn="ctr">
              <a:buFont typeface="+mj-lt"/>
              <a:buAutoNum type="arabicPeriod"/>
            </a:pPr>
            <a:r>
              <a:rPr lang="en-GB" sz="2800" b="1" dirty="0">
                <a:solidFill>
                  <a:srgbClr val="00B050"/>
                </a:solidFill>
              </a:rPr>
              <a:t>Skin of a human person</a:t>
            </a:r>
          </a:p>
          <a:p>
            <a:pPr marL="514350" indent="-514350" algn="ctr">
              <a:buFont typeface="+mj-lt"/>
              <a:buAutoNum type="arabicPeriod"/>
            </a:pPr>
            <a:r>
              <a:rPr lang="en-GB" sz="2800" dirty="0"/>
              <a:t>Feather of a bird</a:t>
            </a:r>
          </a:p>
          <a:p>
            <a:pPr marL="0" indent="0">
              <a:buNone/>
            </a:pPr>
            <a:endParaRPr lang="en-SG" dirty="0"/>
          </a:p>
        </p:txBody>
      </p:sp>
      <p:pic>
        <p:nvPicPr>
          <p:cNvPr id="7" name="Picture 6" descr="Qr code&#10;&#10;Description automatically generated">
            <a:extLst>
              <a:ext uri="{FF2B5EF4-FFF2-40B4-BE49-F238E27FC236}">
                <a16:creationId xmlns:a16="http://schemas.microsoft.com/office/drawing/2014/main" id="{04CDCE7C-7E08-FB78-9B4D-BD7134C4B4F0}"/>
              </a:ext>
            </a:extLst>
          </p:cNvPr>
          <p:cNvPicPr>
            <a:picLocks noChangeAspect="1"/>
          </p:cNvPicPr>
          <p:nvPr/>
        </p:nvPicPr>
        <p:blipFill rotWithShape="1">
          <a:blip r:embed="rId2">
            <a:extLst>
              <a:ext uri="{28A0092B-C50C-407E-A947-70E740481C1C}">
                <a14:useLocalDpi xmlns:a14="http://schemas.microsoft.com/office/drawing/2010/main" val="0"/>
              </a:ext>
            </a:extLst>
          </a:blip>
          <a:srcRect l="20467" r="22419"/>
          <a:stretch/>
        </p:blipFill>
        <p:spPr>
          <a:xfrm>
            <a:off x="6736862" y="121037"/>
            <a:ext cx="4923691" cy="6746387"/>
          </a:xfrm>
          <a:prstGeom prst="rect">
            <a:avLst/>
          </a:prstGeom>
        </p:spPr>
      </p:pic>
    </p:spTree>
    <p:extLst>
      <p:ext uri="{BB962C8B-B14F-4D97-AF65-F5344CB8AC3E}">
        <p14:creationId xmlns:p14="http://schemas.microsoft.com/office/powerpoint/2010/main" val="23274377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07374-EFE5-6DAB-BC9A-E96F00D598B0}"/>
              </a:ext>
            </a:extLst>
          </p:cNvPr>
          <p:cNvSpPr>
            <a:spLocks noGrp="1"/>
          </p:cNvSpPr>
          <p:nvPr>
            <p:ph type="title"/>
          </p:nvPr>
        </p:nvSpPr>
        <p:spPr/>
        <p:txBody>
          <a:bodyPr/>
          <a:lstStyle/>
          <a:p>
            <a:r>
              <a:rPr lang="en-GB" dirty="0"/>
              <a:t>The spatial dependence property</a:t>
            </a:r>
            <a:endParaRPr lang="en-SG" dirty="0"/>
          </a:p>
        </p:txBody>
      </p:sp>
      <p:sp>
        <p:nvSpPr>
          <p:cNvPr id="5" name="Content Placeholder 4">
            <a:extLst>
              <a:ext uri="{FF2B5EF4-FFF2-40B4-BE49-F238E27FC236}">
                <a16:creationId xmlns:a16="http://schemas.microsoft.com/office/drawing/2014/main" id="{8BCFE6A0-A031-CD24-31F0-DC0E8EE2F34C}"/>
              </a:ext>
            </a:extLst>
          </p:cNvPr>
          <p:cNvSpPr>
            <a:spLocks noGrp="1"/>
          </p:cNvSpPr>
          <p:nvPr>
            <p:ph idx="1"/>
          </p:nvPr>
        </p:nvSpPr>
        <p:spPr>
          <a:xfrm>
            <a:off x="838200" y="1825624"/>
            <a:ext cx="10515600" cy="5032375"/>
          </a:xfrm>
        </p:spPr>
        <p:txBody>
          <a:bodyPr>
            <a:normAutofit/>
          </a:bodyPr>
          <a:lstStyle/>
          <a:p>
            <a:pPr marL="0" indent="0">
              <a:buNone/>
            </a:pPr>
            <a:r>
              <a:rPr lang="en-GB" b="1" dirty="0"/>
              <a:t>Definition (the </a:t>
            </a:r>
            <a:r>
              <a:rPr lang="en-GB" b="1" dirty="0">
                <a:solidFill>
                  <a:srgbClr val="00B050"/>
                </a:solidFill>
              </a:rPr>
              <a:t>spatial</a:t>
            </a:r>
            <a:r>
              <a:rPr lang="en-GB" b="1" dirty="0"/>
              <a:t> </a:t>
            </a:r>
            <a:r>
              <a:rPr lang="en-GB" b="1" dirty="0">
                <a:solidFill>
                  <a:srgbClr val="00B050"/>
                </a:solidFill>
              </a:rPr>
              <a:t>dependence</a:t>
            </a:r>
            <a:r>
              <a:rPr lang="en-GB" b="1" dirty="0"/>
              <a:t> property of pixels):</a:t>
            </a:r>
          </a:p>
          <a:p>
            <a:pPr marL="0" indent="0">
              <a:buNone/>
            </a:pPr>
            <a:r>
              <a:rPr lang="en-SG" dirty="0"/>
              <a:t>The </a:t>
            </a:r>
            <a:r>
              <a:rPr lang="en-SG" b="1" dirty="0">
                <a:solidFill>
                  <a:srgbClr val="00B050"/>
                </a:solidFill>
              </a:rPr>
              <a:t>spatial</a:t>
            </a:r>
            <a:r>
              <a:rPr lang="en-SG" dirty="0"/>
              <a:t> </a:t>
            </a:r>
            <a:r>
              <a:rPr lang="en-SG" b="1" dirty="0">
                <a:solidFill>
                  <a:srgbClr val="00B050"/>
                </a:solidFill>
              </a:rPr>
              <a:t>dependence</a:t>
            </a:r>
            <a:r>
              <a:rPr lang="en-SG" dirty="0"/>
              <a:t> </a:t>
            </a:r>
            <a:r>
              <a:rPr lang="en-SG" b="1" dirty="0"/>
              <a:t>property</a:t>
            </a:r>
            <a:r>
              <a:rPr lang="en-SG" dirty="0"/>
              <a:t> </a:t>
            </a:r>
            <a:r>
              <a:rPr lang="en-SG" b="1" dirty="0"/>
              <a:t>of</a:t>
            </a:r>
            <a:r>
              <a:rPr lang="en-SG" dirty="0"/>
              <a:t> </a:t>
            </a:r>
            <a:r>
              <a:rPr lang="en-SG" b="1" dirty="0"/>
              <a:t>pixels</a:t>
            </a:r>
            <a:r>
              <a:rPr lang="en-SG" dirty="0"/>
              <a:t> states that </a:t>
            </a:r>
            <a:r>
              <a:rPr lang="en-GB" b="1" dirty="0"/>
              <a:t>the meaning or interpretation of a single pixel in an image can often only be understood in the context of the pixels around it</a:t>
            </a:r>
            <a:r>
              <a:rPr lang="en-GB" dirty="0"/>
              <a:t>.</a:t>
            </a:r>
          </a:p>
          <a:p>
            <a:pPr marL="0" indent="0">
              <a:buNone/>
            </a:pPr>
            <a:r>
              <a:rPr lang="en-GB" dirty="0"/>
              <a:t>This is because the information in a single pixel is often not enough to describe the complete picture, or even just the pixel itself.</a:t>
            </a:r>
          </a:p>
          <a:p>
            <a:pPr marL="0" indent="0">
              <a:buNone/>
            </a:pPr>
            <a:r>
              <a:rPr lang="en-GB" b="1" dirty="0"/>
              <a:t>The structure of the image (i.e. the relationship between a given pixel and its neighbouring pixels) is necessary to provide a full understanding of this particular pixel, or even the image as a whole.</a:t>
            </a:r>
          </a:p>
          <a:p>
            <a:pPr marL="0" indent="0">
              <a:buNone/>
            </a:pPr>
            <a:r>
              <a:rPr lang="en-GB" dirty="0"/>
              <a:t>Images have “structure” and this structure contains information, which is something we observed in the Mario pixel art example.</a:t>
            </a:r>
            <a:endParaRPr lang="en-SG" dirty="0"/>
          </a:p>
        </p:txBody>
      </p:sp>
      <p:pic>
        <p:nvPicPr>
          <p:cNvPr id="7" name="Picture 6" descr="Qr code&#10;&#10;Description automatically generated">
            <a:extLst>
              <a:ext uri="{FF2B5EF4-FFF2-40B4-BE49-F238E27FC236}">
                <a16:creationId xmlns:a16="http://schemas.microsoft.com/office/drawing/2014/main" id="{4236BDE6-0011-F03F-F82F-5F494C913E92}"/>
              </a:ext>
            </a:extLst>
          </p:cNvPr>
          <p:cNvPicPr>
            <a:picLocks noChangeAspect="1"/>
          </p:cNvPicPr>
          <p:nvPr/>
        </p:nvPicPr>
        <p:blipFill rotWithShape="1">
          <a:blip r:embed="rId2">
            <a:extLst>
              <a:ext uri="{28A0092B-C50C-407E-A947-70E740481C1C}">
                <a14:useLocalDpi xmlns:a14="http://schemas.microsoft.com/office/drawing/2010/main" val="0"/>
              </a:ext>
            </a:extLst>
          </a:blip>
          <a:srcRect l="26440" t="11667" r="30822" b="38940"/>
          <a:stretch/>
        </p:blipFill>
        <p:spPr>
          <a:xfrm>
            <a:off x="10284898" y="365124"/>
            <a:ext cx="1465679" cy="132556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4766993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5B3296E-DA12-22A7-32BE-2D0AD6D165D5}"/>
              </a:ext>
            </a:extLst>
          </p:cNvPr>
          <p:cNvSpPr>
            <a:spLocks noGrp="1"/>
          </p:cNvSpPr>
          <p:nvPr>
            <p:ph type="title"/>
          </p:nvPr>
        </p:nvSpPr>
        <p:spPr/>
        <p:txBody>
          <a:bodyPr/>
          <a:lstStyle/>
          <a:p>
            <a:r>
              <a:rPr lang="en-GB" dirty="0"/>
              <a:t>The homophily property</a:t>
            </a:r>
            <a:endParaRPr lang="en-SG" dirty="0"/>
          </a:p>
        </p:txBody>
      </p:sp>
      <p:sp>
        <p:nvSpPr>
          <p:cNvPr id="3" name="Content Placeholder 2">
            <a:extLst>
              <a:ext uri="{FF2B5EF4-FFF2-40B4-BE49-F238E27FC236}">
                <a16:creationId xmlns:a16="http://schemas.microsoft.com/office/drawing/2014/main" id="{2C3CD041-376E-466F-555F-3D88AEDF9C26}"/>
              </a:ext>
            </a:extLst>
          </p:cNvPr>
          <p:cNvSpPr>
            <a:spLocks noGrp="1"/>
          </p:cNvSpPr>
          <p:nvPr>
            <p:ph idx="1"/>
          </p:nvPr>
        </p:nvSpPr>
        <p:spPr>
          <a:xfrm>
            <a:off x="838199" y="1825624"/>
            <a:ext cx="11213123" cy="5032375"/>
          </a:xfrm>
        </p:spPr>
        <p:txBody>
          <a:bodyPr>
            <a:normAutofit/>
          </a:bodyPr>
          <a:lstStyle/>
          <a:p>
            <a:pPr marL="0" indent="0">
              <a:buNone/>
            </a:pPr>
            <a:r>
              <a:rPr lang="en-GB" b="1" dirty="0"/>
              <a:t>Definition (the </a:t>
            </a:r>
            <a:r>
              <a:rPr lang="en-GB" b="1" dirty="0">
                <a:solidFill>
                  <a:srgbClr val="00B050"/>
                </a:solidFill>
              </a:rPr>
              <a:t>homophily</a:t>
            </a:r>
            <a:r>
              <a:rPr lang="en-GB" b="1" dirty="0"/>
              <a:t> property of pixels):</a:t>
            </a:r>
          </a:p>
          <a:p>
            <a:pPr marL="0" indent="0">
              <a:buNone/>
            </a:pPr>
            <a:r>
              <a:rPr lang="en-GB" b="1" dirty="0">
                <a:solidFill>
                  <a:srgbClr val="00B050"/>
                </a:solidFill>
              </a:rPr>
              <a:t>Homophily</a:t>
            </a:r>
            <a:r>
              <a:rPr lang="en-GB" dirty="0"/>
              <a:t> in images refers to the phenomenon where </a:t>
            </a:r>
            <a:r>
              <a:rPr lang="en-GB" b="1" dirty="0"/>
              <a:t>pixels that are close to each other in the image tend to have similar properties </a:t>
            </a:r>
            <a:r>
              <a:rPr lang="en-GB" dirty="0"/>
              <a:t>(such as </a:t>
            </a:r>
            <a:r>
              <a:rPr lang="en-GB" dirty="0" err="1"/>
              <a:t>color</a:t>
            </a:r>
            <a:r>
              <a:rPr lang="en-GB" dirty="0"/>
              <a:t>, texture, or intensity).</a:t>
            </a:r>
          </a:p>
          <a:p>
            <a:pPr marL="0" indent="0">
              <a:buNone/>
            </a:pPr>
            <a:r>
              <a:rPr lang="en-GB" dirty="0"/>
              <a:t>For example, pixels that are close to each other and have a similar blue </a:t>
            </a:r>
            <a:r>
              <a:rPr lang="en-GB" dirty="0" err="1"/>
              <a:t>color</a:t>
            </a:r>
            <a:r>
              <a:rPr lang="en-GB" dirty="0"/>
              <a:t> can often be grouped together and be considered part of the sky region. Identifying parts of the image where the homophily property breaks (i.e. drastic changes in pixel </a:t>
            </a:r>
            <a:r>
              <a:rPr lang="en-GB" dirty="0" err="1"/>
              <a:t>color</a:t>
            </a:r>
            <a:r>
              <a:rPr lang="en-GB" dirty="0"/>
              <a:t>) is how we recognize objects in the image.</a:t>
            </a:r>
          </a:p>
          <a:p>
            <a:pPr marL="0" indent="0">
              <a:buNone/>
            </a:pPr>
            <a:r>
              <a:rPr lang="en-GB" dirty="0"/>
              <a:t>This property is a </a:t>
            </a:r>
            <a:r>
              <a:rPr lang="en-GB" b="1" dirty="0"/>
              <a:t>key factor in image processing </a:t>
            </a:r>
            <a:r>
              <a:rPr lang="en-GB" dirty="0"/>
              <a:t>and </a:t>
            </a:r>
            <a:r>
              <a:rPr lang="en-GB" b="1" dirty="0"/>
              <a:t>computer</a:t>
            </a:r>
            <a:r>
              <a:rPr lang="en-GB" dirty="0"/>
              <a:t> </a:t>
            </a:r>
            <a:r>
              <a:rPr lang="en-GB" b="1" dirty="0"/>
              <a:t>vision</a:t>
            </a:r>
            <a:r>
              <a:rPr lang="en-GB" dirty="0"/>
              <a:t> algorithms, as it provides a way to segment images into meaningful regions and perform tasks like object recognition and image classification.</a:t>
            </a:r>
          </a:p>
          <a:p>
            <a:pPr marL="0" indent="0">
              <a:buNone/>
            </a:pPr>
            <a:endParaRPr lang="en-SG" dirty="0"/>
          </a:p>
        </p:txBody>
      </p:sp>
      <p:pic>
        <p:nvPicPr>
          <p:cNvPr id="9" name="Picture 8" descr="Qr code&#10;&#10;Description automatically generated">
            <a:extLst>
              <a:ext uri="{FF2B5EF4-FFF2-40B4-BE49-F238E27FC236}">
                <a16:creationId xmlns:a16="http://schemas.microsoft.com/office/drawing/2014/main" id="{BD49C004-ECDA-9597-1C9E-D0B51E04854C}"/>
              </a:ext>
            </a:extLst>
          </p:cNvPr>
          <p:cNvPicPr>
            <a:picLocks noChangeAspect="1"/>
          </p:cNvPicPr>
          <p:nvPr/>
        </p:nvPicPr>
        <p:blipFill rotWithShape="1">
          <a:blip r:embed="rId2">
            <a:extLst>
              <a:ext uri="{28A0092B-C50C-407E-A947-70E740481C1C}">
                <a14:useLocalDpi xmlns:a14="http://schemas.microsoft.com/office/drawing/2010/main" val="0"/>
              </a:ext>
            </a:extLst>
          </a:blip>
          <a:srcRect l="26440" t="11667" r="30822" b="38940"/>
          <a:stretch/>
        </p:blipFill>
        <p:spPr>
          <a:xfrm>
            <a:off x="10284898" y="365124"/>
            <a:ext cx="1465679" cy="132556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9823378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CE665-C62F-68B5-569B-D424CF9B3D6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DCFDA75-C7F3-DF9A-BA36-08DFF63B4BFC}"/>
              </a:ext>
            </a:extLst>
          </p:cNvPr>
          <p:cNvSpPr>
            <a:spLocks noGrp="1"/>
          </p:cNvSpPr>
          <p:nvPr>
            <p:ph type="title"/>
          </p:nvPr>
        </p:nvSpPr>
        <p:spPr/>
        <p:txBody>
          <a:bodyPr/>
          <a:lstStyle/>
          <a:p>
            <a:r>
              <a:rPr lang="en-GB" dirty="0"/>
              <a:t>The homophily property</a:t>
            </a:r>
            <a:endParaRPr lang="en-SG" dirty="0"/>
          </a:p>
        </p:txBody>
      </p:sp>
      <p:sp>
        <p:nvSpPr>
          <p:cNvPr id="3" name="Content Placeholder 2">
            <a:extLst>
              <a:ext uri="{FF2B5EF4-FFF2-40B4-BE49-F238E27FC236}">
                <a16:creationId xmlns:a16="http://schemas.microsoft.com/office/drawing/2014/main" id="{ABFE29A0-9C09-5FDF-FC66-C1B6FD84597A}"/>
              </a:ext>
            </a:extLst>
          </p:cNvPr>
          <p:cNvSpPr>
            <a:spLocks noGrp="1"/>
          </p:cNvSpPr>
          <p:nvPr>
            <p:ph idx="1"/>
          </p:nvPr>
        </p:nvSpPr>
        <p:spPr>
          <a:xfrm>
            <a:off x="838199" y="1825624"/>
            <a:ext cx="11213123" cy="5032375"/>
          </a:xfrm>
        </p:spPr>
        <p:txBody>
          <a:bodyPr>
            <a:normAutofit/>
          </a:bodyPr>
          <a:lstStyle/>
          <a:p>
            <a:pPr marL="0" indent="0">
              <a:buNone/>
            </a:pPr>
            <a:r>
              <a:rPr lang="en-GB" b="1" dirty="0"/>
              <a:t>Definition (the </a:t>
            </a:r>
            <a:r>
              <a:rPr lang="en-GB" b="1" dirty="0">
                <a:solidFill>
                  <a:srgbClr val="00B050"/>
                </a:solidFill>
              </a:rPr>
              <a:t>homophily</a:t>
            </a:r>
            <a:r>
              <a:rPr lang="en-GB" b="1" dirty="0"/>
              <a:t> property of pixels):</a:t>
            </a:r>
          </a:p>
          <a:p>
            <a:pPr marL="0" indent="0">
              <a:buNone/>
            </a:pPr>
            <a:r>
              <a:rPr lang="en-GB" b="1" dirty="0">
                <a:solidFill>
                  <a:srgbClr val="00B050"/>
                </a:solidFill>
              </a:rPr>
              <a:t>Homophily</a:t>
            </a:r>
            <a:r>
              <a:rPr lang="en-GB" dirty="0"/>
              <a:t> in images refers to the phenomenon where </a:t>
            </a:r>
            <a:r>
              <a:rPr lang="en-GB" b="1" dirty="0"/>
              <a:t>pixels that are close to each other in the image tend to have similar properties </a:t>
            </a:r>
            <a:r>
              <a:rPr lang="en-GB" dirty="0"/>
              <a:t>(such as </a:t>
            </a:r>
            <a:r>
              <a:rPr lang="en-GB" dirty="0" err="1"/>
              <a:t>color</a:t>
            </a:r>
            <a:r>
              <a:rPr lang="en-GB" dirty="0"/>
              <a:t>, texture, or intensity).</a:t>
            </a:r>
          </a:p>
          <a:p>
            <a:pPr marL="0" indent="0">
              <a:buNone/>
            </a:pPr>
            <a:r>
              <a:rPr lang="en-GB" dirty="0"/>
              <a:t>For example, pixels that are close to each other and have a similar blue </a:t>
            </a:r>
            <a:r>
              <a:rPr lang="en-GB" dirty="0" err="1"/>
              <a:t>color</a:t>
            </a:r>
            <a:r>
              <a:rPr lang="en-GB" dirty="0"/>
              <a:t> can often be grouped together and be considered part of the sky region. Identifying parts of the image where the homophily property breaks (i.e. drastic changes in pixel </a:t>
            </a:r>
            <a:r>
              <a:rPr lang="en-GB" dirty="0" err="1"/>
              <a:t>color</a:t>
            </a:r>
            <a:r>
              <a:rPr lang="en-GB" dirty="0"/>
              <a:t>) is how we recognize objects in the image.</a:t>
            </a:r>
          </a:p>
          <a:p>
            <a:pPr marL="0" indent="0">
              <a:buNone/>
            </a:pPr>
            <a:r>
              <a:rPr lang="en-GB" dirty="0"/>
              <a:t>This property is a </a:t>
            </a:r>
            <a:r>
              <a:rPr lang="en-GB" b="1" dirty="0"/>
              <a:t>key factor in image processing </a:t>
            </a:r>
            <a:r>
              <a:rPr lang="en-GB" dirty="0"/>
              <a:t>and </a:t>
            </a:r>
            <a:r>
              <a:rPr lang="en-GB" b="1" dirty="0"/>
              <a:t>computer</a:t>
            </a:r>
            <a:r>
              <a:rPr lang="en-GB" dirty="0"/>
              <a:t> </a:t>
            </a:r>
            <a:r>
              <a:rPr lang="en-GB" b="1" dirty="0"/>
              <a:t>vision</a:t>
            </a:r>
            <a:r>
              <a:rPr lang="en-GB" dirty="0"/>
              <a:t> algorithms, as it provides a way to segment images into meaningful regions and perform tasks like object recognition and image classification.</a:t>
            </a:r>
          </a:p>
          <a:p>
            <a:pPr marL="0" indent="0">
              <a:buNone/>
            </a:pPr>
            <a:endParaRPr lang="en-SG" dirty="0"/>
          </a:p>
        </p:txBody>
      </p:sp>
      <p:pic>
        <p:nvPicPr>
          <p:cNvPr id="9" name="Picture 8" descr="Qr code&#10;&#10;Description automatically generated">
            <a:extLst>
              <a:ext uri="{FF2B5EF4-FFF2-40B4-BE49-F238E27FC236}">
                <a16:creationId xmlns:a16="http://schemas.microsoft.com/office/drawing/2014/main" id="{90F800D8-C513-9CC3-B311-2B531909ABF0}"/>
              </a:ext>
            </a:extLst>
          </p:cNvPr>
          <p:cNvPicPr>
            <a:picLocks noChangeAspect="1"/>
          </p:cNvPicPr>
          <p:nvPr/>
        </p:nvPicPr>
        <p:blipFill rotWithShape="1">
          <a:blip r:embed="rId2">
            <a:extLst>
              <a:ext uri="{28A0092B-C50C-407E-A947-70E740481C1C}">
                <a14:useLocalDpi xmlns:a14="http://schemas.microsoft.com/office/drawing/2010/main" val="0"/>
              </a:ext>
            </a:extLst>
          </a:blip>
          <a:srcRect l="26440" t="11667" r="30822" b="38940"/>
          <a:stretch/>
        </p:blipFill>
        <p:spPr>
          <a:xfrm>
            <a:off x="10284898" y="365124"/>
            <a:ext cx="1465679" cy="132556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026" name="Picture 2" descr="151,100+ Camouflage Animal Stock Photos, Pictures &amp; Royalty-Free Images -  iStock | Chameleon, Hidden, Animals">
            <a:extLst>
              <a:ext uri="{FF2B5EF4-FFF2-40B4-BE49-F238E27FC236}">
                <a16:creationId xmlns:a16="http://schemas.microsoft.com/office/drawing/2014/main" id="{05F44C8C-2960-E762-AF23-01DD39FCF3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8029" y="2165684"/>
            <a:ext cx="5912521" cy="407693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VIDS - News - 'Talon' soldiers test bad, good in camouflage">
            <a:extLst>
              <a:ext uri="{FF2B5EF4-FFF2-40B4-BE49-F238E27FC236}">
                <a16:creationId xmlns:a16="http://schemas.microsoft.com/office/drawing/2014/main" id="{63FCAC5C-67FD-CB59-BF9F-BECE6F9EE2A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719" r="21003"/>
          <a:stretch>
            <a:fillRect/>
          </a:stretch>
        </p:blipFill>
        <p:spPr bwMode="auto">
          <a:xfrm>
            <a:off x="462013" y="2165684"/>
            <a:ext cx="5188017" cy="409299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5BA2078-18C7-F176-16E7-8EBA23301455}"/>
              </a:ext>
            </a:extLst>
          </p:cNvPr>
          <p:cNvSpPr txBox="1"/>
          <p:nvPr/>
        </p:nvSpPr>
        <p:spPr>
          <a:xfrm>
            <a:off x="838198" y="897886"/>
            <a:ext cx="8831095" cy="1200329"/>
          </a:xfrm>
          <a:prstGeom prst="rect">
            <a:avLst/>
          </a:prstGeom>
          <a:solidFill>
            <a:schemeClr val="bg1"/>
          </a:solidFill>
          <a:ln w="28575">
            <a:solidFill>
              <a:schemeClr val="tx1"/>
            </a:solidFill>
          </a:ln>
        </p:spPr>
        <p:txBody>
          <a:bodyPr wrap="square" rtlCol="0">
            <a:spAutoFit/>
          </a:bodyPr>
          <a:lstStyle/>
          <a:p>
            <a:pPr algn="ctr"/>
            <a:r>
              <a:rPr lang="en-GB" sz="2400" b="1" dirty="0">
                <a:solidFill>
                  <a:schemeClr val="accent2"/>
                </a:solidFill>
              </a:rPr>
              <a:t>Note: The whole point of camouflage is to make it difficult to </a:t>
            </a:r>
            <a:r>
              <a:rPr lang="en-GB" sz="2400" b="1" dirty="0" err="1">
                <a:solidFill>
                  <a:schemeClr val="accent2"/>
                </a:solidFill>
              </a:rPr>
              <a:t>separater</a:t>
            </a:r>
            <a:r>
              <a:rPr lang="en-GB" sz="2400" b="1" dirty="0">
                <a:solidFill>
                  <a:schemeClr val="accent2"/>
                </a:solidFill>
              </a:rPr>
              <a:t> pixels from objects of interest and background, by having objects use similar </a:t>
            </a:r>
            <a:r>
              <a:rPr lang="en-GB" sz="2400" b="1" dirty="0" err="1">
                <a:solidFill>
                  <a:schemeClr val="accent2"/>
                </a:solidFill>
              </a:rPr>
              <a:t>colors</a:t>
            </a:r>
            <a:r>
              <a:rPr lang="en-GB" sz="2400" b="1" dirty="0">
                <a:solidFill>
                  <a:schemeClr val="accent2"/>
                </a:solidFill>
              </a:rPr>
              <a:t> as their backgrounds (i.e. homophily!)</a:t>
            </a:r>
          </a:p>
        </p:txBody>
      </p:sp>
    </p:spTree>
    <p:extLst>
      <p:ext uri="{BB962C8B-B14F-4D97-AF65-F5344CB8AC3E}">
        <p14:creationId xmlns:p14="http://schemas.microsoft.com/office/powerpoint/2010/main" val="28467205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F63B4-1786-FB0C-4572-8BD6CFB4D3B7}"/>
              </a:ext>
            </a:extLst>
          </p:cNvPr>
          <p:cNvSpPr>
            <a:spLocks noGrp="1"/>
          </p:cNvSpPr>
          <p:nvPr>
            <p:ph type="title"/>
          </p:nvPr>
        </p:nvSpPr>
        <p:spPr/>
        <p:txBody>
          <a:bodyPr/>
          <a:lstStyle/>
          <a:p>
            <a:r>
              <a:rPr lang="en-GB" dirty="0"/>
              <a:t>The problem with Linear processing</a:t>
            </a:r>
            <a:endParaRPr lang="en-SG"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5584164-1537-9A5B-A439-82B2182BA892}"/>
                  </a:ext>
                </a:extLst>
              </p:cNvPr>
              <p:cNvSpPr>
                <a:spLocks noGrp="1"/>
              </p:cNvSpPr>
              <p:nvPr>
                <p:ph idx="1"/>
              </p:nvPr>
            </p:nvSpPr>
            <p:spPr>
              <a:xfrm>
                <a:off x="838200" y="1825624"/>
                <a:ext cx="10900508" cy="5032375"/>
              </a:xfrm>
            </p:spPr>
            <p:txBody>
              <a:bodyPr/>
              <a:lstStyle/>
              <a:p>
                <a:pPr marL="0" indent="0">
                  <a:buNone/>
                </a:pPr>
                <a:r>
                  <a:rPr lang="en-GB" dirty="0"/>
                  <a:t>So far, we have only used Linear operations in our neural networks, even when playing with images, as in the MNIST dataset.</a:t>
                </a:r>
              </a:p>
              <a:p>
                <a:r>
                  <a:rPr lang="en-GB" dirty="0"/>
                  <a:t>We would flatten the image, assembling all pixels in a 1D vector, essentially </a:t>
                </a:r>
                <a:r>
                  <a:rPr lang="en-GB" b="1" dirty="0"/>
                  <a:t>losing</a:t>
                </a:r>
                <a:r>
                  <a:rPr lang="en-GB" dirty="0"/>
                  <a:t> </a:t>
                </a:r>
                <a:r>
                  <a:rPr lang="en-GB" b="1" dirty="0"/>
                  <a:t>the</a:t>
                </a:r>
                <a:r>
                  <a:rPr lang="en-GB" dirty="0"/>
                  <a:t> </a:t>
                </a:r>
                <a:r>
                  <a:rPr lang="en-GB" b="1" dirty="0"/>
                  <a:t>“structure” </a:t>
                </a:r>
                <a:r>
                  <a:rPr lang="en-GB" dirty="0"/>
                  <a:t>or </a:t>
                </a:r>
                <a:r>
                  <a:rPr lang="en-GB" b="1" dirty="0"/>
                  <a:t>spatial</a:t>
                </a:r>
                <a:r>
                  <a:rPr lang="en-GB" dirty="0"/>
                  <a:t> </a:t>
                </a:r>
                <a:r>
                  <a:rPr lang="en-GB" b="1" dirty="0"/>
                  <a:t>information</a:t>
                </a:r>
                <a:r>
                  <a:rPr lang="en-GB" dirty="0"/>
                  <a:t> </a:t>
                </a:r>
                <a:r>
                  <a:rPr lang="en-GB" b="1" dirty="0"/>
                  <a:t>of</a:t>
                </a:r>
                <a:r>
                  <a:rPr lang="en-GB" dirty="0"/>
                  <a:t> </a:t>
                </a:r>
                <a:r>
                  <a:rPr lang="en-GB" b="1" dirty="0"/>
                  <a:t>the</a:t>
                </a:r>
                <a:r>
                  <a:rPr lang="en-GB" dirty="0"/>
                  <a:t> </a:t>
                </a:r>
                <a:r>
                  <a:rPr lang="en-GB" b="1" dirty="0"/>
                  <a:t>image</a:t>
                </a:r>
                <a:r>
                  <a:rPr lang="en-GB" dirty="0"/>
                  <a:t>.</a:t>
                </a:r>
              </a:p>
              <a:p>
                <a:r>
                  <a:rPr lang="en-GB" dirty="0"/>
                  <a:t>Then, Linear processing layers would simply </a:t>
                </a:r>
                <a:r>
                  <a:rPr lang="en-GB" b="1" dirty="0"/>
                  <a:t>process</a:t>
                </a:r>
                <a:r>
                  <a:rPr lang="en-GB" dirty="0"/>
                  <a:t> </a:t>
                </a:r>
                <a:r>
                  <a:rPr lang="en-GB" b="1" dirty="0"/>
                  <a:t>pixels</a:t>
                </a:r>
                <a:r>
                  <a:rPr lang="en-GB" dirty="0"/>
                  <a:t> </a:t>
                </a:r>
                <a:r>
                  <a:rPr lang="en-GB" b="1" dirty="0"/>
                  <a:t>independently</a:t>
                </a:r>
                <a:r>
                  <a:rPr lang="en-GB" dirty="0"/>
                  <a:t>, applying individual coefficients to each pixel separately.</a:t>
                </a:r>
              </a:p>
              <a:p>
                <a:pPr marL="0" indent="0">
                  <a:buNone/>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𝑍</m:t>
                      </m:r>
                      <m:r>
                        <a:rPr lang="en-GB" i="1" dirty="0">
                          <a:latin typeface="Cambria Math" panose="02040503050406030204" pitchFamily="18" charset="0"/>
                        </a:rPr>
                        <m:t> </m:t>
                      </m:r>
                      <m:r>
                        <a:rPr lang="en-GB" i="1" dirty="0" smtClean="0">
                          <a:latin typeface="Cambria Math" panose="02040503050406030204" pitchFamily="18" charset="0"/>
                        </a:rPr>
                        <m:t>=</m:t>
                      </m:r>
                      <m:nary>
                        <m:naryPr>
                          <m:chr m:val="∑"/>
                          <m:supHide m:val="on"/>
                          <m:ctrlPr>
                            <a:rPr lang="en-GB" b="0" i="1" dirty="0" smtClean="0">
                              <a:latin typeface="Cambria Math" panose="02040503050406030204" pitchFamily="18" charset="0"/>
                            </a:rPr>
                          </m:ctrlPr>
                        </m:naryPr>
                        <m:sub>
                          <m:r>
                            <a:rPr lang="en-GB" b="0" i="1" dirty="0" smtClean="0">
                              <a:latin typeface="Cambria Math" panose="02040503050406030204" pitchFamily="18" charset="0"/>
                            </a:rPr>
                            <m:t>𝑖</m:t>
                          </m:r>
                        </m:sub>
                        <m:sup/>
                        <m:e>
                          <m:nary>
                            <m:naryPr>
                              <m:chr m:val="∑"/>
                              <m:supHide m:val="on"/>
                              <m:ctrlPr>
                                <a:rPr lang="en-GB" b="0" i="1" dirty="0" smtClean="0">
                                  <a:latin typeface="Cambria Math" panose="02040503050406030204" pitchFamily="18" charset="0"/>
                                </a:rPr>
                              </m:ctrlPr>
                            </m:naryPr>
                            <m:sub>
                              <m:r>
                                <a:rPr lang="en-GB" b="0" i="1" dirty="0" smtClean="0">
                                  <a:latin typeface="Cambria Math" panose="02040503050406030204" pitchFamily="18" charset="0"/>
                                </a:rPr>
                                <m:t>𝑗</m:t>
                              </m:r>
                            </m:sub>
                            <m:sup/>
                            <m:e>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𝑤</m:t>
                                  </m:r>
                                </m:e>
                                <m:sub>
                                  <m:r>
                                    <a:rPr lang="en-GB" b="0" i="1" dirty="0" smtClean="0">
                                      <a:latin typeface="Cambria Math" panose="02040503050406030204" pitchFamily="18" charset="0"/>
                                    </a:rPr>
                                    <m:t>𝑖</m:t>
                                  </m:r>
                                  <m:r>
                                    <a:rPr lang="en-GB" b="0" i="1" dirty="0" smtClean="0">
                                      <a:latin typeface="Cambria Math" panose="02040503050406030204" pitchFamily="18" charset="0"/>
                                    </a:rPr>
                                    <m:t>,</m:t>
                                  </m:r>
                                  <m:r>
                                    <a:rPr lang="en-GB" b="0" i="1" dirty="0" smtClean="0">
                                      <a:latin typeface="Cambria Math" panose="02040503050406030204" pitchFamily="18" charset="0"/>
                                    </a:rPr>
                                    <m:t>𝑗</m:t>
                                  </m:r>
                                </m:sub>
                              </m:sSub>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𝑥</m:t>
                                  </m:r>
                                </m:e>
                                <m:sub>
                                  <m:r>
                                    <a:rPr lang="en-GB" b="0" i="1" dirty="0" smtClean="0">
                                      <a:latin typeface="Cambria Math" panose="02040503050406030204" pitchFamily="18" charset="0"/>
                                    </a:rPr>
                                    <m:t>𝑖</m:t>
                                  </m:r>
                                  <m:r>
                                    <a:rPr lang="en-GB" b="0" i="1" dirty="0" smtClean="0">
                                      <a:latin typeface="Cambria Math" panose="02040503050406030204" pitchFamily="18" charset="0"/>
                                    </a:rPr>
                                    <m:t>,</m:t>
                                  </m:r>
                                  <m:r>
                                    <a:rPr lang="en-GB" b="0" i="1" dirty="0" smtClean="0">
                                      <a:latin typeface="Cambria Math" panose="02040503050406030204" pitchFamily="18" charset="0"/>
                                    </a:rPr>
                                    <m:t>𝑗</m:t>
                                  </m:r>
                                </m:sub>
                              </m:sSub>
                              <m:r>
                                <a:rPr lang="en-GB" b="0" i="1" dirty="0" smtClean="0">
                                  <a:latin typeface="Cambria Math" panose="02040503050406030204" pitchFamily="18" charset="0"/>
                                </a:rPr>
                                <m:t>+</m:t>
                              </m:r>
                              <m:r>
                                <a:rPr lang="en-GB" b="0" i="1" dirty="0" smtClean="0">
                                  <a:latin typeface="Cambria Math" panose="02040503050406030204" pitchFamily="18" charset="0"/>
                                </a:rPr>
                                <m:t>𝑏</m:t>
                              </m:r>
                            </m:e>
                          </m:nary>
                        </m:e>
                      </m:nary>
                    </m:oMath>
                  </m:oMathPara>
                </a14:m>
                <a:endParaRPr lang="en-SG" dirty="0"/>
              </a:p>
              <a:p>
                <a:pPr marL="0" indent="0">
                  <a:buNone/>
                </a:pPr>
                <a:r>
                  <a:rPr lang="en-SG" dirty="0"/>
                  <a:t>With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𝑗</m:t>
                        </m:r>
                      </m:sub>
                    </m:sSub>
                  </m:oMath>
                </a14:m>
                <a:r>
                  <a:rPr lang="en-SG" dirty="0"/>
                  <a:t> the pixel value at location </a:t>
                </a:r>
                <a14:m>
                  <m:oMath xmlns:m="http://schemas.openxmlformats.org/officeDocument/2006/math">
                    <m:d>
                      <m:dPr>
                        <m:ctrlPr>
                          <a:rPr lang="en-GB" b="0" i="1" smtClean="0">
                            <a:latin typeface="Cambria Math" panose="02040503050406030204" pitchFamily="18" charset="0"/>
                          </a:rPr>
                        </m:ctrlPr>
                      </m:dPr>
                      <m:e>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𝑗</m:t>
                        </m:r>
                      </m:e>
                    </m:d>
                  </m:oMath>
                </a14:m>
                <a:r>
                  <a:rPr lang="en-SG" dirty="0"/>
                  <a:t>, </a:t>
                </a:r>
                <a14:m>
                  <m:oMath xmlns:m="http://schemas.openxmlformats.org/officeDocument/2006/math">
                    <m:sSub>
                      <m:sSubPr>
                        <m:ctrlPr>
                          <a:rPr lang="en-GB" i="1">
                            <a:latin typeface="Cambria Math" panose="02040503050406030204" pitchFamily="18" charset="0"/>
                          </a:rPr>
                        </m:ctrlPr>
                      </m:sSubPr>
                      <m:e>
                        <m:r>
                          <a:rPr lang="en-GB" b="0" i="1" smtClean="0">
                            <a:latin typeface="Cambria Math" panose="02040503050406030204" pitchFamily="18" charset="0"/>
                          </a:rPr>
                          <m:t>𝑤</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oMath>
                </a14:m>
                <a:r>
                  <a:rPr lang="en-SG" dirty="0"/>
                  <a:t> the weight coefficient for the Linear layer assigned to this pixel, and </a:t>
                </a:r>
                <a14:m>
                  <m:oMath xmlns:m="http://schemas.openxmlformats.org/officeDocument/2006/math">
                    <m:r>
                      <a:rPr lang="en-SG" i="1" dirty="0" smtClean="0">
                        <a:latin typeface="Cambria Math" panose="02040503050406030204" pitchFamily="18" charset="0"/>
                      </a:rPr>
                      <m:t>𝑏</m:t>
                    </m:r>
                  </m:oMath>
                </a14:m>
                <a:r>
                  <a:rPr lang="en-SG" dirty="0"/>
                  <a:t> the bias.</a:t>
                </a:r>
              </a:p>
            </p:txBody>
          </p:sp>
        </mc:Choice>
        <mc:Fallback>
          <p:sp>
            <p:nvSpPr>
              <p:cNvPr id="3" name="Content Placeholder 2">
                <a:extLst>
                  <a:ext uri="{FF2B5EF4-FFF2-40B4-BE49-F238E27FC236}">
                    <a16:creationId xmlns:a16="http://schemas.microsoft.com/office/drawing/2014/main" id="{F5584164-1537-9A5B-A439-82B2182BA892}"/>
                  </a:ext>
                </a:extLst>
              </p:cNvPr>
              <p:cNvSpPr>
                <a:spLocks noGrp="1" noRot="1" noChangeAspect="1" noMove="1" noResize="1" noEditPoints="1" noAdjustHandles="1" noChangeArrowheads="1" noChangeShapeType="1" noTextEdit="1"/>
              </p:cNvSpPr>
              <p:nvPr>
                <p:ph idx="1"/>
              </p:nvPr>
            </p:nvSpPr>
            <p:spPr>
              <a:xfrm>
                <a:off x="838200" y="1825624"/>
                <a:ext cx="10900508" cy="5032375"/>
              </a:xfrm>
              <a:blipFill>
                <a:blip r:embed="rId2"/>
                <a:stretch>
                  <a:fillRect l="-1174" t="-1937"/>
                </a:stretch>
              </a:blipFill>
            </p:spPr>
            <p:txBody>
              <a:bodyPr/>
              <a:lstStyle/>
              <a:p>
                <a:r>
                  <a:rPr lang="en-GB">
                    <a:noFill/>
                  </a:rPr>
                  <a:t> </a:t>
                </a:r>
              </a:p>
            </p:txBody>
          </p:sp>
        </mc:Fallback>
      </mc:AlternateContent>
    </p:spTree>
    <p:extLst>
      <p:ext uri="{BB962C8B-B14F-4D97-AF65-F5344CB8AC3E}">
        <p14:creationId xmlns:p14="http://schemas.microsoft.com/office/powerpoint/2010/main" val="33439177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F63B4-1786-FB0C-4572-8BD6CFB4D3B7}"/>
              </a:ext>
            </a:extLst>
          </p:cNvPr>
          <p:cNvSpPr>
            <a:spLocks noGrp="1"/>
          </p:cNvSpPr>
          <p:nvPr>
            <p:ph type="title"/>
          </p:nvPr>
        </p:nvSpPr>
        <p:spPr/>
        <p:txBody>
          <a:bodyPr/>
          <a:lstStyle/>
          <a:p>
            <a:r>
              <a:rPr lang="en-GB" dirty="0"/>
              <a:t>The problem with Linear processing</a:t>
            </a:r>
            <a:endParaRPr lang="en-SG" dirty="0"/>
          </a:p>
        </p:txBody>
      </p:sp>
      <p:sp>
        <p:nvSpPr>
          <p:cNvPr id="3" name="Content Placeholder 2">
            <a:extLst>
              <a:ext uri="{FF2B5EF4-FFF2-40B4-BE49-F238E27FC236}">
                <a16:creationId xmlns:a16="http://schemas.microsoft.com/office/drawing/2014/main" id="{F5584164-1537-9A5B-A439-82B2182BA892}"/>
              </a:ext>
            </a:extLst>
          </p:cNvPr>
          <p:cNvSpPr>
            <a:spLocks noGrp="1"/>
          </p:cNvSpPr>
          <p:nvPr>
            <p:ph idx="1"/>
          </p:nvPr>
        </p:nvSpPr>
        <p:spPr>
          <a:xfrm>
            <a:off x="838200" y="1825624"/>
            <a:ext cx="10515600" cy="5032375"/>
          </a:xfrm>
        </p:spPr>
        <p:txBody>
          <a:bodyPr>
            <a:normAutofit/>
          </a:bodyPr>
          <a:lstStyle/>
          <a:p>
            <a:pPr marL="0" indent="0">
              <a:buNone/>
            </a:pPr>
            <a:r>
              <a:rPr lang="en-GB" b="1" dirty="0"/>
              <a:t>Linear</a:t>
            </a:r>
            <a:r>
              <a:rPr lang="en-GB" dirty="0"/>
              <a:t> </a:t>
            </a:r>
            <a:r>
              <a:rPr lang="en-GB" b="1" dirty="0"/>
              <a:t>layers</a:t>
            </a:r>
            <a:r>
              <a:rPr lang="en-GB" dirty="0"/>
              <a:t> are </a:t>
            </a:r>
            <a:r>
              <a:rPr lang="en-GB" b="1" u="sng" dirty="0"/>
              <a:t>not great at processing images </a:t>
            </a:r>
            <a:r>
              <a:rPr lang="en-GB" dirty="0"/>
              <a:t>because they do not take into account the </a:t>
            </a:r>
            <a:r>
              <a:rPr lang="en-GB" b="1" dirty="0">
                <a:solidFill>
                  <a:srgbClr val="00B050"/>
                </a:solidFill>
              </a:rPr>
              <a:t>spatial</a:t>
            </a:r>
            <a:r>
              <a:rPr lang="en-GB" dirty="0"/>
              <a:t> </a:t>
            </a:r>
            <a:r>
              <a:rPr lang="en-GB" b="1" dirty="0">
                <a:solidFill>
                  <a:srgbClr val="00B050"/>
                </a:solidFill>
              </a:rPr>
              <a:t>dependence</a:t>
            </a:r>
            <a:r>
              <a:rPr lang="en-GB" dirty="0"/>
              <a:t> </a:t>
            </a:r>
            <a:r>
              <a:rPr lang="en-GB" b="1" dirty="0"/>
              <a:t>of</a:t>
            </a:r>
            <a:r>
              <a:rPr lang="en-GB" dirty="0"/>
              <a:t> </a:t>
            </a:r>
            <a:r>
              <a:rPr lang="en-GB" b="1" dirty="0"/>
              <a:t>pixels.</a:t>
            </a:r>
          </a:p>
          <a:p>
            <a:r>
              <a:rPr lang="en-GB" dirty="0"/>
              <a:t>Pixels in images are typically related to each other in a spatial manner, i.e. the meaning of a pixel depends on the neighbour pixels.</a:t>
            </a:r>
          </a:p>
          <a:p>
            <a:r>
              <a:rPr lang="en-GB" dirty="0"/>
              <a:t>Unfortunately, linear models would assume each pixel is independent of the others and process them independently, which is not correct.</a:t>
            </a:r>
          </a:p>
          <a:p>
            <a:r>
              <a:rPr lang="en-GB" dirty="0"/>
              <a:t>As a result, linear layers can miss important spatial relationships between pixels. This can, in turn, result in poor image representation and interpretation.</a:t>
            </a:r>
          </a:p>
          <a:p>
            <a:pPr marL="0" indent="0" algn="ctr">
              <a:buNone/>
            </a:pPr>
            <a:r>
              <a:rPr lang="en-GB" b="1" dirty="0">
                <a:solidFill>
                  <a:srgbClr val="7030A0"/>
                </a:solidFill>
                <a:sym typeface="Wingdings" panose="05000000000000000000" pitchFamily="2" charset="2"/>
              </a:rPr>
              <a:t> Need for </a:t>
            </a:r>
            <a:r>
              <a:rPr lang="en-GB" b="1" u="sng" dirty="0">
                <a:solidFill>
                  <a:srgbClr val="7030A0"/>
                </a:solidFill>
                <a:sym typeface="Wingdings" panose="05000000000000000000" pitchFamily="2" charset="2"/>
              </a:rPr>
              <a:t>a more specific processing operation for images</a:t>
            </a:r>
            <a:r>
              <a:rPr lang="en-GB" b="1" dirty="0">
                <a:solidFill>
                  <a:srgbClr val="7030A0"/>
                </a:solidFill>
                <a:sym typeface="Wingdings" panose="05000000000000000000" pitchFamily="2" charset="2"/>
              </a:rPr>
              <a:t>, to use in place of the Linear one!</a:t>
            </a:r>
            <a:endParaRPr lang="en-GB" b="1" dirty="0">
              <a:solidFill>
                <a:srgbClr val="7030A0"/>
              </a:solidFill>
            </a:endParaRPr>
          </a:p>
        </p:txBody>
      </p:sp>
    </p:spTree>
    <p:extLst>
      <p:ext uri="{BB962C8B-B14F-4D97-AF65-F5344CB8AC3E}">
        <p14:creationId xmlns:p14="http://schemas.microsoft.com/office/powerpoint/2010/main" val="17831459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C51B9-1C83-B006-5EBD-5A0427C6F480}"/>
              </a:ext>
            </a:extLst>
          </p:cNvPr>
          <p:cNvSpPr>
            <a:spLocks noGrp="1"/>
          </p:cNvSpPr>
          <p:nvPr>
            <p:ph type="title"/>
          </p:nvPr>
        </p:nvSpPr>
        <p:spPr/>
        <p:txBody>
          <a:bodyPr/>
          <a:lstStyle/>
          <a:p>
            <a:r>
              <a:rPr lang="en-GB" dirty="0"/>
              <a:t>Introducing convolution!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B9DC721-309A-2C82-0DAA-1F45A4E1C7EE}"/>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00B050"/>
                    </a:solidFill>
                  </a:rPr>
                  <a:t>convolution</a:t>
                </a:r>
                <a:r>
                  <a:rPr lang="en-GB" b="1" dirty="0"/>
                  <a:t>):</a:t>
                </a:r>
              </a:p>
              <a:p>
                <a:pPr marL="0" indent="0">
                  <a:buNone/>
                </a:pPr>
                <a:r>
                  <a:rPr lang="en-GB" b="1" dirty="0">
                    <a:solidFill>
                      <a:srgbClr val="00B050"/>
                    </a:solidFill>
                  </a:rPr>
                  <a:t>Convolution</a:t>
                </a:r>
                <a:r>
                  <a:rPr lang="en-GB" dirty="0"/>
                  <a:t> is a </a:t>
                </a:r>
                <a:r>
                  <a:rPr lang="en-GB" b="1" dirty="0"/>
                  <a:t>mathematical</a:t>
                </a:r>
                <a:r>
                  <a:rPr lang="en-GB" dirty="0"/>
                  <a:t> </a:t>
                </a:r>
                <a:r>
                  <a:rPr lang="en-GB" b="1" dirty="0"/>
                  <a:t>operation</a:t>
                </a:r>
                <a:r>
                  <a:rPr lang="en-GB" dirty="0"/>
                  <a:t> that is widely used in image processing, computer vision, and deep learning.</a:t>
                </a:r>
              </a:p>
              <a:p>
                <a:pPr marL="0" indent="0">
                  <a:buNone/>
                </a:pPr>
                <a:r>
                  <a:rPr lang="en-GB" dirty="0"/>
                  <a:t>It involves applying a small matrix called a </a:t>
                </a:r>
                <a:r>
                  <a:rPr lang="en-GB" b="1" dirty="0">
                    <a:solidFill>
                      <a:srgbClr val="00B050"/>
                    </a:solidFill>
                  </a:rPr>
                  <a:t>convolution</a:t>
                </a:r>
                <a:r>
                  <a:rPr lang="en-GB" dirty="0"/>
                  <a:t> </a:t>
                </a:r>
                <a:r>
                  <a:rPr lang="en-GB" b="1" dirty="0">
                    <a:solidFill>
                      <a:srgbClr val="00B050"/>
                    </a:solidFill>
                  </a:rPr>
                  <a:t>kernel</a:t>
                </a:r>
                <a:r>
                  <a:rPr lang="en-GB" dirty="0"/>
                  <a:t> or </a:t>
                </a:r>
                <a:r>
                  <a:rPr lang="en-GB" b="1" dirty="0"/>
                  <a:t>filter</a:t>
                </a:r>
                <a:r>
                  <a:rPr lang="en-GB" dirty="0"/>
                  <a:t> </a:t>
                </a:r>
                <a14:m>
                  <m:oMath xmlns:m="http://schemas.openxmlformats.org/officeDocument/2006/math">
                    <m:r>
                      <a:rPr lang="en-GB" i="1" dirty="0" smtClean="0">
                        <a:latin typeface="Cambria Math" panose="02040503050406030204" pitchFamily="18" charset="0"/>
                      </a:rPr>
                      <m:t>𝐾</m:t>
                    </m:r>
                  </m:oMath>
                </a14:m>
                <a:r>
                  <a:rPr lang="en-GB" dirty="0"/>
                  <a:t>, over a given image </a:t>
                </a:r>
                <a14:m>
                  <m:oMath xmlns:m="http://schemas.openxmlformats.org/officeDocument/2006/math">
                    <m:r>
                      <a:rPr lang="en-GB" i="1" dirty="0" smtClean="0">
                        <a:latin typeface="Cambria Math" panose="02040503050406030204" pitchFamily="18" charset="0"/>
                      </a:rPr>
                      <m:t>𝑋</m:t>
                    </m:r>
                  </m:oMath>
                </a14:m>
                <a:r>
                  <a:rPr lang="en-GB" dirty="0"/>
                  <a:t>, element-wise multiplying each overlapping set of values in the image with the kernel, and then summing the results.</a:t>
                </a:r>
              </a:p>
            </p:txBody>
          </p:sp>
        </mc:Choice>
        <mc:Fallback xmlns="">
          <p:sp>
            <p:nvSpPr>
              <p:cNvPr id="3" name="Content Placeholder 2">
                <a:extLst>
                  <a:ext uri="{FF2B5EF4-FFF2-40B4-BE49-F238E27FC236}">
                    <a16:creationId xmlns:a16="http://schemas.microsoft.com/office/drawing/2014/main" id="{2B9DC721-309A-2C82-0DAA-1F45A4E1C7EE}"/>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1059" b="-1816"/>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393BDE7B-1670-E750-9E81-D8A6D403507B}"/>
                  </a:ext>
                </a:extLst>
              </p:cNvPr>
              <p:cNvSpPr>
                <a:spLocks noGrp="1"/>
              </p:cNvSpPr>
              <p:nvPr>
                <p:ph sz="half" idx="2"/>
              </p:nvPr>
            </p:nvSpPr>
            <p:spPr/>
            <p:txBody>
              <a:bodyPr>
                <a:normAutofit/>
              </a:bodyPr>
              <a:lstStyle/>
              <a:p>
                <a:pPr marL="0" indent="0">
                  <a:buNone/>
                </a:pPr>
                <a:r>
                  <a:rPr lang="en-GB" dirty="0"/>
                  <a:t>The result of this operation is a new image </a:t>
                </a:r>
                <a14:m>
                  <m:oMath xmlns:m="http://schemas.openxmlformats.org/officeDocument/2006/math">
                    <m:r>
                      <a:rPr lang="en-GB" i="1" dirty="0" smtClean="0">
                        <a:latin typeface="Cambria Math" panose="02040503050406030204" pitchFamily="18" charset="0"/>
                      </a:rPr>
                      <m:t>𝑌</m:t>
                    </m:r>
                  </m:oMath>
                </a14:m>
                <a:r>
                  <a:rPr lang="en-GB" dirty="0"/>
                  <a:t>, where each output pixel represents the sum of the product of the corresponding input pixel and the filter.</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𝑌</m:t>
                      </m:r>
                      <m:r>
                        <a:rPr lang="en-GB" i="1" dirty="0" smtClean="0">
                          <a:latin typeface="Cambria Math" panose="02040503050406030204" pitchFamily="18" charset="0"/>
                        </a:rPr>
                        <m:t> = </m:t>
                      </m:r>
                      <m:r>
                        <a:rPr lang="en-GB" i="1" dirty="0" smtClean="0">
                          <a:latin typeface="Cambria Math" panose="02040503050406030204" pitchFamily="18" charset="0"/>
                        </a:rPr>
                        <m:t>𝑓</m:t>
                      </m:r>
                      <m:r>
                        <a:rPr lang="en-GB" i="1" dirty="0" smtClean="0">
                          <a:latin typeface="Cambria Math" panose="02040503050406030204" pitchFamily="18" charset="0"/>
                        </a:rPr>
                        <m:t>(</m:t>
                      </m:r>
                      <m:r>
                        <a:rPr lang="en-GB" i="1" dirty="0" smtClean="0">
                          <a:latin typeface="Cambria Math" panose="02040503050406030204" pitchFamily="18" charset="0"/>
                        </a:rPr>
                        <m:t>𝑋</m:t>
                      </m:r>
                      <m:r>
                        <a:rPr lang="en-GB" i="1" dirty="0" smtClean="0">
                          <a:latin typeface="Cambria Math" panose="02040503050406030204" pitchFamily="18" charset="0"/>
                        </a:rPr>
                        <m:t>, </m:t>
                      </m:r>
                      <m:r>
                        <a:rPr lang="en-GB" i="1" dirty="0" smtClean="0">
                          <a:latin typeface="Cambria Math" panose="02040503050406030204" pitchFamily="18" charset="0"/>
                        </a:rPr>
                        <m:t>𝐾</m:t>
                      </m:r>
                      <m:r>
                        <a:rPr lang="en-GB" i="1" dirty="0" smtClean="0">
                          <a:latin typeface="Cambria Math" panose="02040503050406030204" pitchFamily="18" charset="0"/>
                        </a:rPr>
                        <m:t>)</m:t>
                      </m:r>
                    </m:oMath>
                  </m:oMathPara>
                </a14:m>
                <a:endParaRPr lang="en-SG" dirty="0"/>
              </a:p>
              <a:p>
                <a:endParaRPr lang="en-SG" dirty="0"/>
              </a:p>
            </p:txBody>
          </p:sp>
        </mc:Choice>
        <mc:Fallback xmlns="">
          <p:sp>
            <p:nvSpPr>
              <p:cNvPr id="4" name="Content Placeholder 3">
                <a:extLst>
                  <a:ext uri="{FF2B5EF4-FFF2-40B4-BE49-F238E27FC236}">
                    <a16:creationId xmlns:a16="http://schemas.microsoft.com/office/drawing/2014/main" id="{393BDE7B-1670-E750-9E81-D8A6D403507B}"/>
                  </a:ext>
                </a:extLst>
              </p:cNvPr>
              <p:cNvSpPr>
                <a:spLocks noGrp="1" noRot="1" noChangeAspect="1" noMove="1" noResize="1" noEditPoints="1" noAdjustHandles="1" noChangeArrowheads="1" noChangeShapeType="1" noTextEdit="1"/>
              </p:cNvSpPr>
              <p:nvPr>
                <p:ph sz="half" idx="2"/>
              </p:nvPr>
            </p:nvSpPr>
            <p:spPr>
              <a:blipFill>
                <a:blip r:embed="rId3"/>
                <a:stretch>
                  <a:fillRect l="-2471" t="-2241"/>
                </a:stretch>
              </a:blipFill>
            </p:spPr>
            <p:txBody>
              <a:bodyPr/>
              <a:lstStyle/>
              <a:p>
                <a:r>
                  <a:rPr lang="en-SG">
                    <a:noFill/>
                  </a:rPr>
                  <a:t> </a:t>
                </a:r>
              </a:p>
            </p:txBody>
          </p:sp>
        </mc:Fallback>
      </mc:AlternateContent>
    </p:spTree>
    <p:extLst>
      <p:ext uri="{BB962C8B-B14F-4D97-AF65-F5344CB8AC3E}">
        <p14:creationId xmlns:p14="http://schemas.microsoft.com/office/powerpoint/2010/main" val="33882329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C51B9-1C83-B006-5EBD-5A0427C6F480}"/>
              </a:ext>
            </a:extLst>
          </p:cNvPr>
          <p:cNvSpPr>
            <a:spLocks noGrp="1"/>
          </p:cNvSpPr>
          <p:nvPr>
            <p:ph type="title"/>
          </p:nvPr>
        </p:nvSpPr>
        <p:spPr/>
        <p:txBody>
          <a:bodyPr/>
          <a:lstStyle/>
          <a:p>
            <a:r>
              <a:rPr lang="en-GB" dirty="0"/>
              <a:t>Introducing convolution!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B9DC721-309A-2C82-0DAA-1F45A4E1C7EE}"/>
                  </a:ext>
                </a:extLst>
              </p:cNvPr>
              <p:cNvSpPr>
                <a:spLocks noGrp="1"/>
              </p:cNvSpPr>
              <p:nvPr>
                <p:ph sz="half" idx="1"/>
              </p:nvPr>
            </p:nvSpPr>
            <p:spPr>
              <a:xfrm>
                <a:off x="838200" y="1825624"/>
                <a:ext cx="5181600" cy="5032375"/>
              </a:xfrm>
            </p:spPr>
            <p:txBody>
              <a:bodyPr>
                <a:normAutofit/>
              </a:bodyPr>
              <a:lstStyle/>
              <a:p>
                <a:pPr marL="0" indent="0">
                  <a:buNone/>
                </a:pPr>
                <a:r>
                  <a:rPr lang="en-GB" dirty="0"/>
                  <a:t>Let us consider</a:t>
                </a:r>
              </a:p>
              <a:p>
                <a:r>
                  <a:rPr lang="en-GB" dirty="0"/>
                  <a:t>A grayscale image, defined as a 2D matrix </a:t>
                </a:r>
                <a14:m>
                  <m:oMath xmlns:m="http://schemas.openxmlformats.org/officeDocument/2006/math">
                    <m:r>
                      <a:rPr lang="en-GB" b="0" i="1" smtClean="0">
                        <a:latin typeface="Cambria Math" panose="02040503050406030204" pitchFamily="18" charset="0"/>
                      </a:rPr>
                      <m:t>𝑋</m:t>
                    </m:r>
                  </m:oMath>
                </a14:m>
                <a:r>
                  <a:rPr lang="en-GB" dirty="0"/>
                  <a:t> of size </a:t>
                </a:r>
                <a14:m>
                  <m:oMath xmlns:m="http://schemas.openxmlformats.org/officeDocument/2006/math">
                    <m:r>
                      <a:rPr lang="en-GB" b="0" i="1" smtClean="0">
                        <a:latin typeface="Cambria Math" panose="02040503050406030204" pitchFamily="18" charset="0"/>
                      </a:rPr>
                      <m:t>h</m:t>
                    </m:r>
                    <m:r>
                      <a:rPr lang="en-GB" b="0" i="1" smtClean="0">
                        <a:latin typeface="Cambria Math" panose="02040503050406030204" pitchFamily="18" charset="0"/>
                      </a:rPr>
                      <m:t>×</m:t>
                    </m:r>
                    <m:r>
                      <a:rPr lang="en-GB" b="0" i="1" smtClean="0">
                        <a:latin typeface="Cambria Math" panose="02040503050406030204" pitchFamily="18" charset="0"/>
                      </a:rPr>
                      <m:t>𝑤</m:t>
                    </m:r>
                  </m:oMath>
                </a14:m>
                <a:r>
                  <a:rPr lang="en-GB" dirty="0"/>
                  <a:t>, with pixel values </a:t>
                </a:r>
                <a14:m>
                  <m:oMath xmlns:m="http://schemas.openxmlformats.org/officeDocument/2006/math">
                    <m:d>
                      <m:dPr>
                        <m:ctrlPr>
                          <a:rPr lang="en-GB" i="1" dirty="0">
                            <a:latin typeface="Cambria Math" panose="02040503050406030204" pitchFamily="18" charset="0"/>
                          </a:rPr>
                        </m:ctrlPr>
                      </m:dPr>
                      <m:e>
                        <m:sSub>
                          <m:sSubPr>
                            <m:ctrlPr>
                              <a:rPr lang="en-GB" i="1" dirty="0">
                                <a:latin typeface="Cambria Math" panose="02040503050406030204" pitchFamily="18" charset="0"/>
                              </a:rPr>
                            </m:ctrlPr>
                          </m:sSubPr>
                          <m:e>
                            <m:r>
                              <a:rPr lang="en-GB" b="0" i="1" dirty="0" smtClean="0">
                                <a:latin typeface="Cambria Math" panose="02040503050406030204" pitchFamily="18" charset="0"/>
                              </a:rPr>
                              <m:t>𝑋</m:t>
                            </m:r>
                          </m:e>
                          <m:sub>
                            <m:r>
                              <a:rPr lang="en-GB" i="1" dirty="0">
                                <a:latin typeface="Cambria Math" panose="02040503050406030204" pitchFamily="18" charset="0"/>
                              </a:rPr>
                              <m:t>𝑖</m:t>
                            </m:r>
                            <m:r>
                              <a:rPr lang="en-GB" i="1" dirty="0">
                                <a:latin typeface="Cambria Math" panose="02040503050406030204" pitchFamily="18" charset="0"/>
                              </a:rPr>
                              <m:t>,</m:t>
                            </m:r>
                            <m:r>
                              <a:rPr lang="en-GB" i="1" dirty="0">
                                <a:latin typeface="Cambria Math" panose="02040503050406030204" pitchFamily="18" charset="0"/>
                              </a:rPr>
                              <m:t>𝑗</m:t>
                            </m:r>
                          </m:sub>
                        </m:sSub>
                      </m:e>
                    </m:d>
                    <m:r>
                      <a:rPr lang="en-GB" b="0" i="1" dirty="0" smtClean="0">
                        <a:latin typeface="Cambria Math" panose="02040503050406030204" pitchFamily="18" charset="0"/>
                      </a:rPr>
                      <m:t>∈[0, 255]</m:t>
                    </m:r>
                  </m:oMath>
                </a14:m>
                <a:r>
                  <a:rPr lang="en-GB" dirty="0"/>
                  <a:t>.</a:t>
                </a:r>
              </a:p>
              <a:p>
                <a:r>
                  <a:rPr lang="en-GB" dirty="0"/>
                  <a:t>A convolution kernel </a:t>
                </a:r>
                <a14:m>
                  <m:oMath xmlns:m="http://schemas.openxmlformats.org/officeDocument/2006/math">
                    <m:r>
                      <a:rPr lang="en-GB" b="0" i="1" smtClean="0">
                        <a:latin typeface="Cambria Math" panose="02040503050406030204" pitchFamily="18" charset="0"/>
                      </a:rPr>
                      <m:t>𝐾</m:t>
                    </m:r>
                  </m:oMath>
                </a14:m>
                <a:r>
                  <a:rPr lang="en-GB" dirty="0"/>
                  <a:t> of size </a:t>
                </a:r>
                <a14:m>
                  <m:oMath xmlns:m="http://schemas.openxmlformats.org/officeDocument/2006/math">
                    <m:r>
                      <a:rPr lang="en-GB" b="0" i="1" smtClean="0">
                        <a:latin typeface="Cambria Math" panose="02040503050406030204" pitchFamily="18" charset="0"/>
                      </a:rPr>
                      <m:t>𝑘</m:t>
                    </m:r>
                    <m:r>
                      <a:rPr lang="en-GB" b="0" i="1" smtClean="0">
                        <a:latin typeface="Cambria Math" panose="02040503050406030204" pitchFamily="18" charset="0"/>
                      </a:rPr>
                      <m:t>×</m:t>
                    </m:r>
                    <m:r>
                      <a:rPr lang="en-GB" b="0" i="1" smtClean="0">
                        <a:latin typeface="Cambria Math" panose="02040503050406030204" pitchFamily="18" charset="0"/>
                      </a:rPr>
                      <m:t>𝑘</m:t>
                    </m:r>
                  </m:oMath>
                </a14:m>
                <a:r>
                  <a:rPr lang="en-GB" dirty="0"/>
                  <a:t>, with values </a:t>
                </a:r>
                <a14:m>
                  <m:oMath xmlns:m="http://schemas.openxmlformats.org/officeDocument/2006/math">
                    <m:d>
                      <m:dPr>
                        <m:ctrlPr>
                          <a:rPr lang="en-GB" i="1" dirty="0">
                            <a:latin typeface="Cambria Math" panose="02040503050406030204" pitchFamily="18" charset="0"/>
                          </a:rPr>
                        </m:ctrlPr>
                      </m:dPr>
                      <m:e>
                        <m:sSub>
                          <m:sSubPr>
                            <m:ctrlPr>
                              <a:rPr lang="en-GB" i="1" dirty="0">
                                <a:latin typeface="Cambria Math" panose="02040503050406030204" pitchFamily="18" charset="0"/>
                              </a:rPr>
                            </m:ctrlPr>
                          </m:sSubPr>
                          <m:e>
                            <m:r>
                              <a:rPr lang="en-GB" b="0" i="1" dirty="0" smtClean="0">
                                <a:latin typeface="Cambria Math" panose="02040503050406030204" pitchFamily="18" charset="0"/>
                              </a:rPr>
                              <m:t>𝐾</m:t>
                            </m:r>
                          </m:e>
                          <m:sub>
                            <m:r>
                              <a:rPr lang="en-GB" i="1" dirty="0">
                                <a:latin typeface="Cambria Math" panose="02040503050406030204" pitchFamily="18" charset="0"/>
                              </a:rPr>
                              <m:t>𝑖</m:t>
                            </m:r>
                            <m:r>
                              <a:rPr lang="en-GB" i="1" dirty="0">
                                <a:latin typeface="Cambria Math" panose="02040503050406030204" pitchFamily="18" charset="0"/>
                              </a:rPr>
                              <m:t>,</m:t>
                            </m:r>
                            <m:r>
                              <a:rPr lang="en-GB" i="1" dirty="0">
                                <a:latin typeface="Cambria Math" panose="02040503050406030204" pitchFamily="18" charset="0"/>
                              </a:rPr>
                              <m:t>𝑗</m:t>
                            </m:r>
                          </m:sub>
                        </m:sSub>
                      </m:e>
                    </m:d>
                    <m:r>
                      <a:rPr lang="en-GB" i="1" dirty="0">
                        <a:latin typeface="Cambria Math" panose="02040503050406030204" pitchFamily="18" charset="0"/>
                      </a:rPr>
                      <m:t>∈</m:t>
                    </m:r>
                    <m:r>
                      <a:rPr lang="en-GB" b="0" i="1" dirty="0" smtClean="0">
                        <a:latin typeface="Cambria Math" panose="02040503050406030204" pitchFamily="18" charset="0"/>
                        <a:ea typeface="Cambria Math" panose="02040503050406030204" pitchFamily="18" charset="0"/>
                      </a:rPr>
                      <m:t>ℝ</m:t>
                    </m:r>
                  </m:oMath>
                </a14:m>
                <a:r>
                  <a:rPr lang="en-GB" dirty="0"/>
                  <a:t>.</a:t>
                </a:r>
              </a:p>
            </p:txBody>
          </p:sp>
        </mc:Choice>
        <mc:Fallback xmlns="">
          <p:sp>
            <p:nvSpPr>
              <p:cNvPr id="3" name="Content Placeholder 2">
                <a:extLst>
                  <a:ext uri="{FF2B5EF4-FFF2-40B4-BE49-F238E27FC236}">
                    <a16:creationId xmlns:a16="http://schemas.microsoft.com/office/drawing/2014/main" id="{2B9DC721-309A-2C82-0DAA-1F45A4E1C7EE}"/>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393BDE7B-1670-E750-9E81-D8A6D403507B}"/>
                  </a:ext>
                </a:extLst>
              </p:cNvPr>
              <p:cNvSpPr>
                <a:spLocks noGrp="1"/>
              </p:cNvSpPr>
              <p:nvPr>
                <p:ph sz="half" idx="2"/>
              </p:nvPr>
            </p:nvSpPr>
            <p:spPr/>
            <p:txBody>
              <a:bodyPr>
                <a:normAutofit/>
              </a:bodyPr>
              <a:lstStyle/>
              <a:p>
                <a:pPr marL="0" indent="0">
                  <a:buNone/>
                </a:pPr>
                <a:r>
                  <a:rPr lang="en-GB" b="1" dirty="0"/>
                  <a:t>First, let us discuss sizes…</a:t>
                </a:r>
              </a:p>
              <a:p>
                <a:pPr marL="0" indent="0">
                  <a:buNone/>
                </a:pPr>
                <a:r>
                  <a:rPr lang="en-GB" dirty="0"/>
                  <a:t>The convolution operation defined as </a:t>
                </a:r>
                <a14:m>
                  <m:oMath xmlns:m="http://schemas.openxmlformats.org/officeDocument/2006/math">
                    <m:r>
                      <a:rPr lang="en-GB" i="1" dirty="0">
                        <a:latin typeface="Cambria Math" panose="02040503050406030204" pitchFamily="18" charset="0"/>
                      </a:rPr>
                      <m:t>𝑌</m:t>
                    </m:r>
                    <m:r>
                      <a:rPr lang="en-GB" i="1" dirty="0">
                        <a:latin typeface="Cambria Math" panose="02040503050406030204" pitchFamily="18" charset="0"/>
                      </a:rPr>
                      <m:t> = </m:t>
                    </m:r>
                    <m:r>
                      <a:rPr lang="en-GB" i="1" dirty="0">
                        <a:latin typeface="Cambria Math" panose="02040503050406030204" pitchFamily="18" charset="0"/>
                      </a:rPr>
                      <m:t>𝑓</m:t>
                    </m:r>
                    <m:d>
                      <m:dPr>
                        <m:ctrlPr>
                          <a:rPr lang="en-GB" i="1" dirty="0">
                            <a:latin typeface="Cambria Math" panose="02040503050406030204" pitchFamily="18" charset="0"/>
                          </a:rPr>
                        </m:ctrlPr>
                      </m:dPr>
                      <m:e>
                        <m:r>
                          <a:rPr lang="en-GB" i="1" dirty="0">
                            <a:latin typeface="Cambria Math" panose="02040503050406030204" pitchFamily="18" charset="0"/>
                          </a:rPr>
                          <m:t>𝑋</m:t>
                        </m:r>
                        <m:r>
                          <a:rPr lang="en-GB" i="1" dirty="0">
                            <a:latin typeface="Cambria Math" panose="02040503050406030204" pitchFamily="18" charset="0"/>
                          </a:rPr>
                          <m:t>, </m:t>
                        </m:r>
                        <m:r>
                          <a:rPr lang="en-GB" i="1" dirty="0">
                            <a:latin typeface="Cambria Math" panose="02040503050406030204" pitchFamily="18" charset="0"/>
                          </a:rPr>
                          <m:t>𝐾</m:t>
                        </m:r>
                      </m:e>
                    </m:d>
                  </m:oMath>
                </a14:m>
                <a:r>
                  <a:rPr lang="en-SG" dirty="0"/>
                  <a:t>, produces an image </a:t>
                </a:r>
                <a14:m>
                  <m:oMath xmlns:m="http://schemas.openxmlformats.org/officeDocument/2006/math">
                    <m:r>
                      <a:rPr lang="en-SG" i="1" dirty="0">
                        <a:latin typeface="Cambria Math" panose="02040503050406030204" pitchFamily="18" charset="0"/>
                      </a:rPr>
                      <m:t>𝑌</m:t>
                    </m:r>
                  </m:oMath>
                </a14:m>
                <a:r>
                  <a:rPr lang="en-SG" dirty="0"/>
                  <a:t> of size </a:t>
                </a:r>
                <a14:m>
                  <m:oMath xmlns:m="http://schemas.openxmlformats.org/officeDocument/2006/math">
                    <m:r>
                      <a:rPr lang="en-GB" i="1">
                        <a:latin typeface="Cambria Math" panose="02040503050406030204" pitchFamily="18" charset="0"/>
                      </a:rPr>
                      <m:t>h</m:t>
                    </m:r>
                    <m:r>
                      <a:rPr lang="en-GB" i="1">
                        <a:latin typeface="Cambria Math" panose="02040503050406030204" pitchFamily="18" charset="0"/>
                      </a:rPr>
                      <m:t>′×</m:t>
                    </m:r>
                    <m:r>
                      <a:rPr lang="en-GB" i="1">
                        <a:latin typeface="Cambria Math" panose="02040503050406030204" pitchFamily="18" charset="0"/>
                      </a:rPr>
                      <m:t>𝑤</m:t>
                    </m:r>
                    <m:r>
                      <a:rPr lang="en-GB" i="1">
                        <a:latin typeface="Cambria Math" panose="02040503050406030204" pitchFamily="18" charset="0"/>
                      </a:rPr>
                      <m:t>′</m:t>
                    </m:r>
                  </m:oMath>
                </a14:m>
                <a:r>
                  <a:rPr lang="en-SG" dirty="0"/>
                  <a:t>,</a:t>
                </a:r>
              </a:p>
              <a:p>
                <a:r>
                  <a:rPr lang="en-SG" dirty="0"/>
                  <a:t>With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h</m:t>
                        </m:r>
                      </m:e>
                      <m:sup>
                        <m:r>
                          <a:rPr lang="en-GB" i="1">
                            <a:latin typeface="Cambria Math" panose="02040503050406030204" pitchFamily="18" charset="0"/>
                          </a:rPr>
                          <m:t>′</m:t>
                        </m:r>
                      </m:sup>
                    </m:sSup>
                    <m:r>
                      <a:rPr lang="en-GB" i="1">
                        <a:latin typeface="Cambria Math" panose="02040503050406030204" pitchFamily="18" charset="0"/>
                      </a:rPr>
                      <m:t>=</m:t>
                    </m:r>
                    <m:r>
                      <a:rPr lang="en-GB" i="1">
                        <a:latin typeface="Cambria Math" panose="02040503050406030204" pitchFamily="18" charset="0"/>
                      </a:rPr>
                      <m:t>h</m:t>
                    </m:r>
                    <m:r>
                      <a:rPr lang="en-GB" i="1">
                        <a:latin typeface="Cambria Math" panose="02040503050406030204" pitchFamily="18" charset="0"/>
                      </a:rPr>
                      <m:t>−</m:t>
                    </m:r>
                    <m:r>
                      <a:rPr lang="en-GB" i="1">
                        <a:latin typeface="Cambria Math" panose="02040503050406030204" pitchFamily="18" charset="0"/>
                      </a:rPr>
                      <m:t>𝑘</m:t>
                    </m:r>
                    <m:r>
                      <a:rPr lang="en-GB" i="1">
                        <a:latin typeface="Cambria Math" panose="02040503050406030204" pitchFamily="18" charset="0"/>
                      </a:rPr>
                      <m:t>+1</m:t>
                    </m:r>
                  </m:oMath>
                </a14:m>
                <a:r>
                  <a:rPr lang="en-SG" dirty="0"/>
                  <a:t>,</a:t>
                </a:r>
              </a:p>
              <a:p>
                <a:r>
                  <a:rPr lang="en-SG" dirty="0"/>
                  <a:t>And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𝑤</m:t>
                        </m:r>
                      </m:e>
                      <m:sup>
                        <m:r>
                          <a:rPr lang="en-GB" i="1">
                            <a:latin typeface="Cambria Math" panose="02040503050406030204" pitchFamily="18" charset="0"/>
                          </a:rPr>
                          <m:t>′</m:t>
                        </m:r>
                      </m:sup>
                    </m:sSup>
                    <m:r>
                      <a:rPr lang="en-GB" i="1">
                        <a:latin typeface="Cambria Math" panose="02040503050406030204" pitchFamily="18" charset="0"/>
                      </a:rPr>
                      <m:t>=</m:t>
                    </m:r>
                    <m:r>
                      <a:rPr lang="en-GB" i="1">
                        <a:latin typeface="Cambria Math" panose="02040503050406030204" pitchFamily="18" charset="0"/>
                      </a:rPr>
                      <m:t>𝑤</m:t>
                    </m:r>
                    <m:r>
                      <a:rPr lang="en-GB" i="1">
                        <a:latin typeface="Cambria Math" panose="02040503050406030204" pitchFamily="18" charset="0"/>
                      </a:rPr>
                      <m:t> −</m:t>
                    </m:r>
                    <m:r>
                      <a:rPr lang="en-GB" i="1">
                        <a:latin typeface="Cambria Math" panose="02040503050406030204" pitchFamily="18" charset="0"/>
                      </a:rPr>
                      <m:t>𝑘</m:t>
                    </m:r>
                    <m:r>
                      <a:rPr lang="en-GB" i="1">
                        <a:latin typeface="Cambria Math" panose="02040503050406030204" pitchFamily="18" charset="0"/>
                      </a:rPr>
                      <m:t>+1</m:t>
                    </m:r>
                  </m:oMath>
                </a14:m>
                <a:r>
                  <a:rPr lang="en-GB" dirty="0"/>
                  <a:t>.</a:t>
                </a:r>
              </a:p>
              <a:p>
                <a:pPr marL="0" indent="0">
                  <a:buNone/>
                </a:pPr>
                <a:r>
                  <a:rPr lang="en-GB" dirty="0"/>
                  <a:t> </a:t>
                </a:r>
              </a:p>
              <a:p>
                <a:pPr marL="0" indent="0">
                  <a:buNone/>
                </a:pPr>
                <a:endParaRPr lang="en-GB" dirty="0"/>
              </a:p>
              <a:p>
                <a:endParaRPr lang="en-SG" dirty="0"/>
              </a:p>
            </p:txBody>
          </p:sp>
        </mc:Choice>
        <mc:Fallback xmlns="">
          <p:sp>
            <p:nvSpPr>
              <p:cNvPr id="4" name="Content Placeholder 3">
                <a:extLst>
                  <a:ext uri="{FF2B5EF4-FFF2-40B4-BE49-F238E27FC236}">
                    <a16:creationId xmlns:a16="http://schemas.microsoft.com/office/drawing/2014/main" id="{393BDE7B-1670-E750-9E81-D8A6D403507B}"/>
                  </a:ext>
                </a:extLst>
              </p:cNvPr>
              <p:cNvSpPr>
                <a:spLocks noGrp="1" noRot="1" noChangeAspect="1" noMove="1" noResize="1" noEditPoints="1" noAdjustHandles="1" noChangeArrowheads="1" noChangeShapeType="1" noTextEdit="1"/>
              </p:cNvSpPr>
              <p:nvPr>
                <p:ph sz="half" idx="2"/>
              </p:nvPr>
            </p:nvSpPr>
            <p:spPr>
              <a:blipFill>
                <a:blip r:embed="rId3"/>
                <a:stretch>
                  <a:fillRect l="-2471" t="-2241" r="-3765"/>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AE0575-5E80-E46E-F9F8-49B591323BE1}"/>
                  </a:ext>
                </a:extLst>
              </p:cNvPr>
              <p:cNvSpPr txBox="1"/>
              <p:nvPr/>
            </p:nvSpPr>
            <p:spPr>
              <a:xfrm>
                <a:off x="609600" y="5228492"/>
                <a:ext cx="11324492" cy="1815882"/>
              </a:xfrm>
              <a:prstGeom prst="rect">
                <a:avLst/>
              </a:prstGeom>
              <a:noFill/>
            </p:spPr>
            <p:txBody>
              <a:bodyPr wrap="square" rtlCol="0">
                <a:spAutoFit/>
              </a:bodyPr>
              <a:lstStyle/>
              <a:p>
                <a:r>
                  <a:rPr lang="en-GB" sz="2800" b="1" dirty="0"/>
                  <a:t>Note: </a:t>
                </a:r>
                <a:r>
                  <a:rPr lang="en-GB" sz="2800" dirty="0"/>
                  <a:t>we often use a kernel defined as a square matrix, with odd sizes (i.e. </a:t>
                </a:r>
                <a14:m>
                  <m:oMath xmlns:m="http://schemas.openxmlformats.org/officeDocument/2006/math">
                    <m:r>
                      <a:rPr lang="en-GB" sz="2800" b="0" i="1" smtClean="0">
                        <a:latin typeface="Cambria Math" panose="02040503050406030204" pitchFamily="18" charset="0"/>
                      </a:rPr>
                      <m:t>3×3</m:t>
                    </m:r>
                  </m:oMath>
                </a14:m>
                <a:r>
                  <a:rPr lang="en-GB" sz="2800" dirty="0"/>
                  <a:t>, </a:t>
                </a:r>
                <a14:m>
                  <m:oMath xmlns:m="http://schemas.openxmlformats.org/officeDocument/2006/math">
                    <m:r>
                      <a:rPr lang="en-GB" sz="2800" i="1" dirty="0" smtClean="0">
                        <a:latin typeface="Cambria Math" panose="02040503050406030204" pitchFamily="18" charset="0"/>
                      </a:rPr>
                      <m:t>5</m:t>
                    </m:r>
                    <m:r>
                      <a:rPr lang="en-GB" sz="2800" i="1">
                        <a:latin typeface="Cambria Math" panose="02040503050406030204" pitchFamily="18" charset="0"/>
                      </a:rPr>
                      <m:t>×</m:t>
                    </m:r>
                    <m:r>
                      <a:rPr lang="en-GB" sz="2800" b="0" i="1" smtClean="0">
                        <a:latin typeface="Cambria Math" panose="02040503050406030204" pitchFamily="18" charset="0"/>
                      </a:rPr>
                      <m:t>5</m:t>
                    </m:r>
                  </m:oMath>
                </a14:m>
                <a:r>
                  <a:rPr lang="en-GB" sz="2800" dirty="0"/>
                  <a:t>, etc.). The operation, however, remains valid for other kernel sizes (but some notations showed in next slide would have to be adjusted).</a:t>
                </a:r>
              </a:p>
              <a:p>
                <a:endParaRPr lang="en-SG" sz="2800" dirty="0"/>
              </a:p>
            </p:txBody>
          </p:sp>
        </mc:Choice>
        <mc:Fallback xmlns="">
          <p:sp>
            <p:nvSpPr>
              <p:cNvPr id="5" name="TextBox 4">
                <a:extLst>
                  <a:ext uri="{FF2B5EF4-FFF2-40B4-BE49-F238E27FC236}">
                    <a16:creationId xmlns:a16="http://schemas.microsoft.com/office/drawing/2014/main" id="{8AAE0575-5E80-E46E-F9F8-49B591323BE1}"/>
                  </a:ext>
                </a:extLst>
              </p:cNvPr>
              <p:cNvSpPr txBox="1">
                <a:spLocks noRot="1" noChangeAspect="1" noMove="1" noResize="1" noEditPoints="1" noAdjustHandles="1" noChangeArrowheads="1" noChangeShapeType="1" noTextEdit="1"/>
              </p:cNvSpPr>
              <p:nvPr/>
            </p:nvSpPr>
            <p:spPr>
              <a:xfrm>
                <a:off x="609600" y="5228492"/>
                <a:ext cx="11324492" cy="1815882"/>
              </a:xfrm>
              <a:prstGeom prst="rect">
                <a:avLst/>
              </a:prstGeom>
              <a:blipFill>
                <a:blip r:embed="rId4"/>
                <a:stretch>
                  <a:fillRect l="-1076" t="-3356"/>
                </a:stretch>
              </a:blipFill>
            </p:spPr>
            <p:txBody>
              <a:bodyPr/>
              <a:lstStyle/>
              <a:p>
                <a:r>
                  <a:rPr lang="en-SG">
                    <a:noFill/>
                  </a:rPr>
                  <a:t> </a:t>
                </a:r>
              </a:p>
            </p:txBody>
          </p:sp>
        </mc:Fallback>
      </mc:AlternateContent>
    </p:spTree>
    <p:extLst>
      <p:ext uri="{BB962C8B-B14F-4D97-AF65-F5344CB8AC3E}">
        <p14:creationId xmlns:p14="http://schemas.microsoft.com/office/powerpoint/2010/main" val="13710836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C51B9-1C83-B006-5EBD-5A0427C6F480}"/>
              </a:ext>
            </a:extLst>
          </p:cNvPr>
          <p:cNvSpPr>
            <a:spLocks noGrp="1"/>
          </p:cNvSpPr>
          <p:nvPr>
            <p:ph type="title"/>
          </p:nvPr>
        </p:nvSpPr>
        <p:spPr/>
        <p:txBody>
          <a:bodyPr/>
          <a:lstStyle/>
          <a:p>
            <a:r>
              <a:rPr lang="en-GB" dirty="0"/>
              <a:t>Introducing convolution!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B9DC721-309A-2C82-0DAA-1F45A4E1C7EE}"/>
                  </a:ext>
                </a:extLst>
              </p:cNvPr>
              <p:cNvSpPr>
                <a:spLocks noGrp="1"/>
              </p:cNvSpPr>
              <p:nvPr>
                <p:ph sz="half" idx="1"/>
              </p:nvPr>
            </p:nvSpPr>
            <p:spPr>
              <a:xfrm>
                <a:off x="838199" y="1825624"/>
                <a:ext cx="5757986" cy="5032375"/>
              </a:xfrm>
            </p:spPr>
            <p:txBody>
              <a:bodyPr>
                <a:normAutofit/>
              </a:bodyPr>
              <a:lstStyle/>
              <a:p>
                <a:pPr marL="0" indent="0">
                  <a:buNone/>
                </a:pPr>
                <a:r>
                  <a:rPr lang="en-GB" b="1" dirty="0"/>
                  <a:t>Second</a:t>
                </a:r>
                <a:r>
                  <a:rPr lang="en-GB" dirty="0"/>
                  <a:t>, the pixel values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r>
                      <a:rPr lang="en-GB" i="1">
                        <a:latin typeface="Cambria Math" panose="02040503050406030204" pitchFamily="18" charset="0"/>
                      </a:rPr>
                      <m:t> </m:t>
                    </m:r>
                  </m:oMath>
                </a14:m>
                <a:r>
                  <a:rPr lang="en-GB" dirty="0"/>
                  <a:t>for image </a:t>
                </a:r>
                <a14:m>
                  <m:oMath xmlns:m="http://schemas.openxmlformats.org/officeDocument/2006/math">
                    <m:r>
                      <a:rPr lang="en-GB" i="1">
                        <a:latin typeface="Cambria Math" panose="02040503050406030204" pitchFamily="18" charset="0"/>
                      </a:rPr>
                      <m:t>𝑌</m:t>
                    </m:r>
                  </m:oMath>
                </a14:m>
                <a:r>
                  <a:rPr lang="en-GB" dirty="0"/>
                  <a:t> are calculated using the convolution operation, defining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oMath>
                </a14:m>
                <a:r>
                  <a:rPr lang="en-GB" dirty="0"/>
                  <a:t>,</a:t>
                </a:r>
                <a:br>
                  <a:rPr lang="en-GB" dirty="0"/>
                </a:br>
                <a14:m>
                  <m:oMath xmlns:m="http://schemas.openxmlformats.org/officeDocument/2006/math">
                    <m:r>
                      <a:rPr lang="en-GB" i="1">
                        <a:latin typeface="Cambria Math" panose="02040503050406030204" pitchFamily="18" charset="0"/>
                      </a:rPr>
                      <m:t>∀</m:t>
                    </m:r>
                    <m:r>
                      <a:rPr lang="en-GB" i="1">
                        <a:latin typeface="Cambria Math" panose="02040503050406030204" pitchFamily="18" charset="0"/>
                      </a:rPr>
                      <m:t>𝑖</m:t>
                    </m:r>
                    <m:r>
                      <a:rPr lang="en-GB" i="1">
                        <a:latin typeface="Cambria Math" panose="02040503050406030204" pitchFamily="18" charset="0"/>
                      </a:rPr>
                      <m:t>∈</m:t>
                    </m:r>
                    <m:d>
                      <m:dPr>
                        <m:begChr m:val="["/>
                        <m:endChr m:val="]"/>
                        <m:ctrlPr>
                          <a:rPr lang="en-GB" i="1">
                            <a:latin typeface="Cambria Math" panose="02040503050406030204" pitchFamily="18" charset="0"/>
                          </a:rPr>
                        </m:ctrlPr>
                      </m:dPr>
                      <m:e>
                        <m:r>
                          <a:rPr lang="en-GB" i="1">
                            <a:latin typeface="Cambria Math" panose="02040503050406030204" pitchFamily="18" charset="0"/>
                          </a:rPr>
                          <m:t>1, </m:t>
                        </m:r>
                        <m:sSup>
                          <m:sSupPr>
                            <m:ctrlPr>
                              <a:rPr lang="en-GB" i="1">
                                <a:latin typeface="Cambria Math" panose="02040503050406030204" pitchFamily="18" charset="0"/>
                              </a:rPr>
                            </m:ctrlPr>
                          </m:sSupPr>
                          <m:e>
                            <m:r>
                              <a:rPr lang="en-GB" i="1">
                                <a:latin typeface="Cambria Math" panose="02040503050406030204" pitchFamily="18" charset="0"/>
                              </a:rPr>
                              <m:t>h</m:t>
                            </m:r>
                          </m:e>
                          <m:sup>
                            <m:r>
                              <a:rPr lang="en-GB" i="1">
                                <a:latin typeface="Cambria Math" panose="02040503050406030204" pitchFamily="18" charset="0"/>
                              </a:rPr>
                              <m:t>′</m:t>
                            </m:r>
                          </m:sup>
                        </m:sSup>
                      </m:e>
                    </m:d>
                    <m:r>
                      <a:rPr lang="en-GB" i="1">
                        <a:latin typeface="Cambria Math" panose="02040503050406030204" pitchFamily="18" charset="0"/>
                      </a:rPr>
                      <m:t>, </m:t>
                    </m:r>
                    <m:r>
                      <a:rPr lang="en-GB" i="1">
                        <a:latin typeface="Cambria Math" panose="02040503050406030204" pitchFamily="18" charset="0"/>
                      </a:rPr>
                      <m:t>𝑗</m:t>
                    </m:r>
                    <m:r>
                      <a:rPr lang="en-GB" i="1">
                        <a:latin typeface="Cambria Math" panose="02040503050406030204" pitchFamily="18" charset="0"/>
                      </a:rPr>
                      <m:t>∈[1,</m:t>
                    </m:r>
                    <m:r>
                      <a:rPr lang="en-GB" i="1">
                        <a:latin typeface="Cambria Math" panose="02040503050406030204" pitchFamily="18" charset="0"/>
                      </a:rPr>
                      <m:t>𝑤</m:t>
                    </m:r>
                    <m:r>
                      <a:rPr lang="en-GB" i="1">
                        <a:latin typeface="Cambria Math" panose="02040503050406030204" pitchFamily="18" charset="0"/>
                      </a:rPr>
                      <m:t>′]</m:t>
                    </m:r>
                  </m:oMath>
                </a14:m>
                <a:r>
                  <a:rPr lang="en-GB" dirty="0"/>
                  <a:t> as:</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solidFill>
                                <a:srgbClr val="0070C0"/>
                              </a:solidFill>
                              <a:latin typeface="Cambria Math" panose="02040503050406030204" pitchFamily="18" charset="0"/>
                            </a:rPr>
                            <m:t>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r>
                        <a:rPr lang="en-GB" i="1">
                          <a:latin typeface="Cambria Math" panose="02040503050406030204" pitchFamily="18" charset="0"/>
                        </a:rPr>
                        <m:t>=</m:t>
                      </m:r>
                      <m:f>
                        <m:fPr>
                          <m:ctrlPr>
                            <a:rPr lang="en-GB" i="1" smtClean="0">
                              <a:solidFill>
                                <a:srgbClr val="FF0000"/>
                              </a:solidFill>
                              <a:latin typeface="Cambria Math" panose="02040503050406030204" pitchFamily="18" charset="0"/>
                            </a:rPr>
                          </m:ctrlPr>
                        </m:fPr>
                        <m:num>
                          <m:r>
                            <a:rPr lang="en-GB" i="1">
                              <a:solidFill>
                                <a:srgbClr val="FF0000"/>
                              </a:solidFill>
                              <a:latin typeface="Cambria Math" panose="02040503050406030204" pitchFamily="18" charset="0"/>
                            </a:rPr>
                            <m:t>1</m:t>
                          </m:r>
                        </m:num>
                        <m:den>
                          <m:sSup>
                            <m:sSupPr>
                              <m:ctrlPr>
                                <a:rPr lang="en-GB" i="1">
                                  <a:solidFill>
                                    <a:srgbClr val="FF0000"/>
                                  </a:solidFill>
                                  <a:latin typeface="Cambria Math" panose="02040503050406030204" pitchFamily="18" charset="0"/>
                                </a:rPr>
                              </m:ctrlPr>
                            </m:sSupPr>
                            <m:e>
                              <m:r>
                                <a:rPr lang="en-GB" i="1">
                                  <a:solidFill>
                                    <a:srgbClr val="FF0000"/>
                                  </a:solidFill>
                                  <a:latin typeface="Cambria Math" panose="02040503050406030204" pitchFamily="18" charset="0"/>
                                </a:rPr>
                                <m:t>𝑘</m:t>
                              </m:r>
                            </m:e>
                            <m:sup>
                              <m:r>
                                <a:rPr lang="en-GB" i="1">
                                  <a:solidFill>
                                    <a:srgbClr val="FF0000"/>
                                  </a:solidFill>
                                  <a:latin typeface="Cambria Math" panose="02040503050406030204" pitchFamily="18" charset="0"/>
                                </a:rPr>
                                <m:t>2</m:t>
                              </m:r>
                            </m:sup>
                          </m:sSup>
                        </m:den>
                      </m:f>
                      <m:nary>
                        <m:naryPr>
                          <m:chr m:val="∑"/>
                          <m:ctrlPr>
                            <a:rPr lang="en-GB" i="1">
                              <a:latin typeface="Cambria Math" panose="02040503050406030204" pitchFamily="18" charset="0"/>
                            </a:rPr>
                          </m:ctrlPr>
                        </m:naryPr>
                        <m:sub>
                          <m:r>
                            <a:rPr lang="en-GB" i="1">
                              <a:latin typeface="Cambria Math" panose="02040503050406030204" pitchFamily="18" charset="0"/>
                            </a:rPr>
                            <m:t>𝑚</m:t>
                          </m:r>
                          <m:r>
                            <a:rPr lang="en-GB" i="1">
                              <a:latin typeface="Cambria Math" panose="02040503050406030204" pitchFamily="18" charset="0"/>
                            </a:rPr>
                            <m:t>=1</m:t>
                          </m:r>
                        </m:sub>
                        <m:sup>
                          <m:r>
                            <a:rPr lang="en-GB" i="1">
                              <a:latin typeface="Cambria Math" panose="02040503050406030204" pitchFamily="18" charset="0"/>
                            </a:rPr>
                            <m:t>𝑘</m:t>
                          </m:r>
                        </m:sup>
                        <m:e>
                          <m:nary>
                            <m:naryPr>
                              <m:chr m:val="∑"/>
                              <m:ctrlPr>
                                <a:rPr lang="en-GB" i="1">
                                  <a:latin typeface="Cambria Math" panose="02040503050406030204" pitchFamily="18" charset="0"/>
                                </a:rPr>
                              </m:ctrlPr>
                            </m:naryPr>
                            <m:sub>
                              <m:r>
                                <a:rPr lang="en-GB" i="1">
                                  <a:latin typeface="Cambria Math" panose="02040503050406030204" pitchFamily="18" charset="0"/>
                                </a:rPr>
                                <m:t>𝑛</m:t>
                              </m:r>
                              <m:r>
                                <a:rPr lang="en-GB" i="1">
                                  <a:latin typeface="Cambria Math" panose="02040503050406030204" pitchFamily="18" charset="0"/>
                                </a:rPr>
                                <m:t>=1</m:t>
                              </m:r>
                            </m:sub>
                            <m:sup>
                              <m:r>
                                <a:rPr lang="en-GB" i="1">
                                  <a:latin typeface="Cambria Math" panose="02040503050406030204" pitchFamily="18" charset="0"/>
                                </a:rPr>
                                <m:t>𝑘</m:t>
                              </m:r>
                            </m:sup>
                            <m:e>
                              <m:sSub>
                                <m:sSubPr>
                                  <m:ctrlPr>
                                    <a:rPr lang="en-GB" i="1">
                                      <a:latin typeface="Cambria Math" panose="02040503050406030204" pitchFamily="18" charset="0"/>
                                    </a:rPr>
                                  </m:ctrlPr>
                                </m:sSubPr>
                                <m:e>
                                  <m:r>
                                    <a:rPr lang="en-GB" i="1">
                                      <a:solidFill>
                                        <a:srgbClr val="00B050"/>
                                      </a:solidFill>
                                      <a:latin typeface="Cambria Math" panose="02040503050406030204" pitchFamily="18" charset="0"/>
                                    </a:rPr>
                                    <m:t>𝑋</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𝑚</m:t>
                                  </m:r>
                                  <m:r>
                                    <a:rPr lang="en-GB" i="1">
                                      <a:latin typeface="Cambria Math" panose="02040503050406030204" pitchFamily="18" charset="0"/>
                                    </a:rPr>
                                    <m:t>−1,   </m:t>
                                  </m:r>
                                  <m:r>
                                    <a:rPr lang="en-GB" i="1">
                                      <a:latin typeface="Cambria Math" panose="02040503050406030204" pitchFamily="18" charset="0"/>
                                    </a:rPr>
                                    <m:t>𝑗</m:t>
                                  </m:r>
                                  <m:r>
                                    <a:rPr lang="en-GB" i="1">
                                      <a:latin typeface="Cambria Math" panose="02040503050406030204" pitchFamily="18" charset="0"/>
                                    </a:rPr>
                                    <m:t>+</m:t>
                                  </m:r>
                                  <m:r>
                                    <a:rPr lang="en-GB" i="1">
                                      <a:latin typeface="Cambria Math" panose="02040503050406030204" pitchFamily="18" charset="0"/>
                                    </a:rPr>
                                    <m:t>𝑛</m:t>
                                  </m:r>
                                  <m:r>
                                    <a:rPr lang="en-GB" i="1">
                                      <a:latin typeface="Cambria Math" panose="02040503050406030204" pitchFamily="18" charset="0"/>
                                    </a:rPr>
                                    <m:t>−1</m:t>
                                  </m:r>
                                </m:sub>
                              </m:sSub>
                              <m:r>
                                <m:rPr>
                                  <m:nor/>
                                </m:rPr>
                                <a:rPr lang="en-SG"/>
                                <m:t> </m:t>
                              </m:r>
                              <m:sSub>
                                <m:sSubPr>
                                  <m:ctrlPr>
                                    <a:rPr lang="en-GB" i="1">
                                      <a:latin typeface="Cambria Math" panose="02040503050406030204" pitchFamily="18" charset="0"/>
                                    </a:rPr>
                                  </m:ctrlPr>
                                </m:sSubPr>
                                <m:e>
                                  <m:r>
                                    <a:rPr lang="en-GB" i="1">
                                      <a:solidFill>
                                        <a:schemeClr val="accent2"/>
                                      </a:solidFill>
                                      <a:latin typeface="Cambria Math" panose="02040503050406030204" pitchFamily="18" charset="0"/>
                                    </a:rPr>
                                    <m:t>𝐾</m:t>
                                  </m:r>
                                </m:e>
                                <m:sub>
                                  <m:r>
                                    <a:rPr lang="en-GB" i="1">
                                      <a:latin typeface="Cambria Math" panose="02040503050406030204" pitchFamily="18" charset="0"/>
                                    </a:rPr>
                                    <m:t>𝑚</m:t>
                                  </m:r>
                                  <m:r>
                                    <a:rPr lang="en-GB" i="1">
                                      <a:latin typeface="Cambria Math" panose="02040503050406030204" pitchFamily="18" charset="0"/>
                                    </a:rPr>
                                    <m:t>,</m:t>
                                  </m:r>
                                  <m:r>
                                    <a:rPr lang="en-GB" i="1">
                                      <a:latin typeface="Cambria Math" panose="02040503050406030204" pitchFamily="18" charset="0"/>
                                    </a:rPr>
                                    <m:t>𝑛</m:t>
                                  </m:r>
                                </m:sub>
                              </m:sSub>
                            </m:e>
                          </m:nary>
                        </m:e>
                      </m:nary>
                    </m:oMath>
                  </m:oMathPara>
                </a14:m>
                <a:endParaRPr lang="en-GB" dirty="0"/>
              </a:p>
              <a:p>
                <a:pPr marL="0" indent="0">
                  <a:buNone/>
                </a:pPr>
                <a:endParaRPr lang="en-GB" dirty="0"/>
              </a:p>
              <a:p>
                <a:pPr marL="0" indent="0">
                  <a:buNone/>
                </a:pPr>
                <a:r>
                  <a:rPr lang="en-GB" dirty="0"/>
                  <a:t>This operation might seem complicated, but is easily visualised!</a:t>
                </a:r>
              </a:p>
            </p:txBody>
          </p:sp>
        </mc:Choice>
        <mc:Fallback xmlns="">
          <p:sp>
            <p:nvSpPr>
              <p:cNvPr id="3" name="Content Placeholder 2">
                <a:extLst>
                  <a:ext uri="{FF2B5EF4-FFF2-40B4-BE49-F238E27FC236}">
                    <a16:creationId xmlns:a16="http://schemas.microsoft.com/office/drawing/2014/main" id="{2B9DC721-309A-2C82-0DAA-1F45A4E1C7EE}"/>
                  </a:ext>
                </a:extLst>
              </p:cNvPr>
              <p:cNvSpPr>
                <a:spLocks noGrp="1" noRot="1" noChangeAspect="1" noMove="1" noResize="1" noEditPoints="1" noAdjustHandles="1" noChangeArrowheads="1" noChangeShapeType="1" noTextEdit="1"/>
              </p:cNvSpPr>
              <p:nvPr>
                <p:ph sz="half" idx="1"/>
              </p:nvPr>
            </p:nvSpPr>
            <p:spPr>
              <a:xfrm>
                <a:off x="838199" y="1825624"/>
                <a:ext cx="5757986" cy="5032375"/>
              </a:xfrm>
              <a:blipFill>
                <a:blip r:embed="rId2"/>
                <a:stretch>
                  <a:fillRect l="-2116" t="-1695" r="-2434"/>
                </a:stretch>
              </a:blipFill>
            </p:spPr>
            <p:txBody>
              <a:bodyPr/>
              <a:lstStyle/>
              <a:p>
                <a:r>
                  <a:rPr lang="en-SG">
                    <a:noFill/>
                  </a:rPr>
                  <a:t> </a:t>
                </a:r>
              </a:p>
            </p:txBody>
          </p:sp>
        </mc:Fallback>
      </mc:AlternateContent>
      <p:graphicFrame>
        <p:nvGraphicFramePr>
          <p:cNvPr id="6" name="Table 6">
            <a:extLst>
              <a:ext uri="{FF2B5EF4-FFF2-40B4-BE49-F238E27FC236}">
                <a16:creationId xmlns:a16="http://schemas.microsoft.com/office/drawing/2014/main" id="{92EDE3AF-8E7F-4B86-2425-4F993E81F45C}"/>
              </a:ext>
            </a:extLst>
          </p:cNvPr>
          <p:cNvGraphicFramePr>
            <a:graphicFrameLocks noGrp="1"/>
          </p:cNvGraphicFramePr>
          <p:nvPr>
            <p:extLst>
              <p:ext uri="{D42A27DB-BD31-4B8C-83A1-F6EECF244321}">
                <p14:modId xmlns:p14="http://schemas.microsoft.com/office/powerpoint/2010/main" val="4287927271"/>
              </p:ext>
            </p:extLst>
          </p:nvPr>
        </p:nvGraphicFramePr>
        <p:xfrm>
          <a:off x="8643816" y="539913"/>
          <a:ext cx="1800000" cy="18288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700703413"/>
                    </a:ext>
                  </a:extLst>
                </a:gridCol>
                <a:gridCol w="360000">
                  <a:extLst>
                    <a:ext uri="{9D8B030D-6E8A-4147-A177-3AD203B41FA5}">
                      <a16:colId xmlns:a16="http://schemas.microsoft.com/office/drawing/2014/main" val="1188093310"/>
                    </a:ext>
                  </a:extLst>
                </a:gridCol>
                <a:gridCol w="360000">
                  <a:extLst>
                    <a:ext uri="{9D8B030D-6E8A-4147-A177-3AD203B41FA5}">
                      <a16:colId xmlns:a16="http://schemas.microsoft.com/office/drawing/2014/main" val="4191100445"/>
                    </a:ext>
                  </a:extLst>
                </a:gridCol>
                <a:gridCol w="360000">
                  <a:extLst>
                    <a:ext uri="{9D8B030D-6E8A-4147-A177-3AD203B41FA5}">
                      <a16:colId xmlns:a16="http://schemas.microsoft.com/office/drawing/2014/main" val="3874915201"/>
                    </a:ext>
                  </a:extLst>
                </a:gridCol>
                <a:gridCol w="360000">
                  <a:extLst>
                    <a:ext uri="{9D8B030D-6E8A-4147-A177-3AD203B41FA5}">
                      <a16:colId xmlns:a16="http://schemas.microsoft.com/office/drawing/2014/main" val="3356821557"/>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509791817"/>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7</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777963115"/>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5</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578879875"/>
                  </a:ext>
                </a:extLst>
              </a:tr>
              <a:tr h="360000">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7</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8</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696099757"/>
                  </a:ext>
                </a:extLst>
              </a:tr>
              <a:tr h="360000">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7</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8</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409685490"/>
                  </a:ext>
                </a:extLst>
              </a:tr>
            </a:tbl>
          </a:graphicData>
        </a:graphic>
      </p:graphicFrame>
      <p:graphicFrame>
        <p:nvGraphicFramePr>
          <p:cNvPr id="7" name="Table 7">
            <a:extLst>
              <a:ext uri="{FF2B5EF4-FFF2-40B4-BE49-F238E27FC236}">
                <a16:creationId xmlns:a16="http://schemas.microsoft.com/office/drawing/2014/main" id="{097D2466-E678-68BD-BE73-0A05DB2927E0}"/>
              </a:ext>
            </a:extLst>
          </p:cNvPr>
          <p:cNvGraphicFramePr>
            <a:graphicFrameLocks noGrp="1"/>
          </p:cNvGraphicFramePr>
          <p:nvPr>
            <p:extLst>
              <p:ext uri="{D42A27DB-BD31-4B8C-83A1-F6EECF244321}">
                <p14:modId xmlns:p14="http://schemas.microsoft.com/office/powerpoint/2010/main" val="2084984136"/>
              </p:ext>
            </p:extLst>
          </p:nvPr>
        </p:nvGraphicFramePr>
        <p:xfrm>
          <a:off x="9058032" y="2880360"/>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10625315"/>
                  </a:ext>
                </a:extLst>
              </a:tr>
              <a:tr h="360000">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0130699"/>
                  </a:ext>
                </a:extLst>
              </a:tr>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773086537"/>
                  </a:ext>
                </a:extLst>
              </a:tr>
            </a:tbl>
          </a:graphicData>
        </a:graphic>
      </p:graphicFrame>
      <p:graphicFrame>
        <p:nvGraphicFramePr>
          <p:cNvPr id="8" name="Table 7">
            <a:extLst>
              <a:ext uri="{FF2B5EF4-FFF2-40B4-BE49-F238E27FC236}">
                <a16:creationId xmlns:a16="http://schemas.microsoft.com/office/drawing/2014/main" id="{1D4E4870-EB98-3077-99F3-1F9675794ECF}"/>
              </a:ext>
            </a:extLst>
          </p:cNvPr>
          <p:cNvGraphicFramePr>
            <a:graphicFrameLocks noGrp="1"/>
          </p:cNvGraphicFramePr>
          <p:nvPr>
            <p:extLst>
              <p:ext uri="{D42A27DB-BD31-4B8C-83A1-F6EECF244321}">
                <p14:modId xmlns:p14="http://schemas.microsoft.com/office/powerpoint/2010/main" val="467358227"/>
              </p:ext>
            </p:extLst>
          </p:nvPr>
        </p:nvGraphicFramePr>
        <p:xfrm>
          <a:off x="9058032" y="4400452"/>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4FEDCA2-715E-8CCD-C69B-50F3EB70CB65}"/>
                  </a:ext>
                </a:extLst>
              </p:cNvPr>
              <p:cNvSpPr txBox="1"/>
              <p:nvPr/>
            </p:nvSpPr>
            <p:spPr>
              <a:xfrm>
                <a:off x="7791938" y="1195754"/>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B050"/>
                          </a:solidFill>
                          <a:latin typeface="Cambria Math" panose="02040503050406030204" pitchFamily="18" charset="0"/>
                        </a:rPr>
                        <m:t>𝑿</m:t>
                      </m:r>
                    </m:oMath>
                  </m:oMathPara>
                </a14:m>
                <a:endParaRPr lang="en-SG" sz="2800" b="1" dirty="0">
                  <a:solidFill>
                    <a:srgbClr val="00B050"/>
                  </a:solidFill>
                </a:endParaRPr>
              </a:p>
            </p:txBody>
          </p:sp>
        </mc:Choice>
        <mc:Fallback xmlns="">
          <p:sp>
            <p:nvSpPr>
              <p:cNvPr id="9" name="TextBox 8">
                <a:extLst>
                  <a:ext uri="{FF2B5EF4-FFF2-40B4-BE49-F238E27FC236}">
                    <a16:creationId xmlns:a16="http://schemas.microsoft.com/office/drawing/2014/main" id="{B4FEDCA2-715E-8CCD-C69B-50F3EB70CB65}"/>
                  </a:ext>
                </a:extLst>
              </p:cNvPr>
              <p:cNvSpPr txBox="1">
                <a:spLocks noRot="1" noChangeAspect="1" noMove="1" noResize="1" noEditPoints="1" noAdjustHandles="1" noChangeArrowheads="1" noChangeShapeType="1" noTextEdit="1"/>
              </p:cNvSpPr>
              <p:nvPr/>
            </p:nvSpPr>
            <p:spPr>
              <a:xfrm>
                <a:off x="7791938" y="1195754"/>
                <a:ext cx="648677" cy="523220"/>
              </a:xfrm>
              <a:prstGeom prst="rect">
                <a:avLst/>
              </a:prstGeom>
              <a:blipFill>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1CC23F9-3037-01D0-AB2C-3952CB2B1D42}"/>
                  </a:ext>
                </a:extLst>
              </p:cNvPr>
              <p:cNvSpPr txBox="1"/>
              <p:nvPr/>
            </p:nvSpPr>
            <p:spPr>
              <a:xfrm>
                <a:off x="7791937" y="3167390"/>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chemeClr val="accent2"/>
                          </a:solidFill>
                          <a:latin typeface="Cambria Math" panose="02040503050406030204" pitchFamily="18" charset="0"/>
                        </a:rPr>
                        <m:t>𝑲</m:t>
                      </m:r>
                    </m:oMath>
                  </m:oMathPara>
                </a14:m>
                <a:endParaRPr lang="en-SG" sz="2800" b="1" dirty="0">
                  <a:solidFill>
                    <a:schemeClr val="accent2"/>
                  </a:solidFill>
                </a:endParaRPr>
              </a:p>
            </p:txBody>
          </p:sp>
        </mc:Choice>
        <mc:Fallback xmlns="">
          <p:sp>
            <p:nvSpPr>
              <p:cNvPr id="10" name="TextBox 9">
                <a:extLst>
                  <a:ext uri="{FF2B5EF4-FFF2-40B4-BE49-F238E27FC236}">
                    <a16:creationId xmlns:a16="http://schemas.microsoft.com/office/drawing/2014/main" id="{21CC23F9-3037-01D0-AB2C-3952CB2B1D42}"/>
                  </a:ext>
                </a:extLst>
              </p:cNvPr>
              <p:cNvSpPr txBox="1">
                <a:spLocks noRot="1" noChangeAspect="1" noMove="1" noResize="1" noEditPoints="1" noAdjustHandles="1" noChangeArrowheads="1" noChangeShapeType="1" noTextEdit="1"/>
              </p:cNvSpPr>
              <p:nvPr/>
            </p:nvSpPr>
            <p:spPr>
              <a:xfrm>
                <a:off x="7791937" y="3167390"/>
                <a:ext cx="648677" cy="523220"/>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5408004-0261-C7CE-BBF1-20C8725C5ACF}"/>
                  </a:ext>
                </a:extLst>
              </p:cNvPr>
              <p:cNvSpPr txBox="1"/>
              <p:nvPr/>
            </p:nvSpPr>
            <p:spPr>
              <a:xfrm>
                <a:off x="7791937" y="468748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70C0"/>
                          </a:solidFill>
                          <a:latin typeface="Cambria Math" panose="02040503050406030204" pitchFamily="18" charset="0"/>
                        </a:rPr>
                        <m:t>𝒀</m:t>
                      </m:r>
                    </m:oMath>
                  </m:oMathPara>
                </a14:m>
                <a:endParaRPr lang="en-SG" sz="2800" b="1" dirty="0">
                  <a:solidFill>
                    <a:srgbClr val="0070C0"/>
                  </a:solidFill>
                </a:endParaRPr>
              </a:p>
            </p:txBody>
          </p:sp>
        </mc:Choice>
        <mc:Fallback xmlns="">
          <p:sp>
            <p:nvSpPr>
              <p:cNvPr id="11" name="TextBox 10">
                <a:extLst>
                  <a:ext uri="{FF2B5EF4-FFF2-40B4-BE49-F238E27FC236}">
                    <a16:creationId xmlns:a16="http://schemas.microsoft.com/office/drawing/2014/main" id="{25408004-0261-C7CE-BBF1-20C8725C5ACF}"/>
                  </a:ext>
                </a:extLst>
              </p:cNvPr>
              <p:cNvSpPr txBox="1">
                <a:spLocks noRot="1" noChangeAspect="1" noMove="1" noResize="1" noEditPoints="1" noAdjustHandles="1" noChangeArrowheads="1" noChangeShapeType="1" noTextEdit="1"/>
              </p:cNvSpPr>
              <p:nvPr/>
            </p:nvSpPr>
            <p:spPr>
              <a:xfrm>
                <a:off x="7791937" y="4687482"/>
                <a:ext cx="648677" cy="523220"/>
              </a:xfrm>
              <a:prstGeom prst="rect">
                <a:avLst/>
              </a:prstGeom>
              <a:blipFill>
                <a:blip r:embed="rId5"/>
                <a:stretch>
                  <a:fillRect/>
                </a:stretch>
              </a:blipFill>
            </p:spPr>
            <p:txBody>
              <a:bodyPr/>
              <a:lstStyle/>
              <a:p>
                <a:r>
                  <a:rPr lang="en-SG">
                    <a:noFill/>
                  </a:rPr>
                  <a:t> </a:t>
                </a:r>
              </a:p>
            </p:txBody>
          </p:sp>
        </mc:Fallback>
      </mc:AlternateContent>
      <p:sp>
        <p:nvSpPr>
          <p:cNvPr id="12" name="TextBox 11">
            <a:extLst>
              <a:ext uri="{FF2B5EF4-FFF2-40B4-BE49-F238E27FC236}">
                <a16:creationId xmlns:a16="http://schemas.microsoft.com/office/drawing/2014/main" id="{2A03E450-7B78-6F17-D4CF-7857B85EF591}"/>
              </a:ext>
            </a:extLst>
          </p:cNvPr>
          <p:cNvSpPr txBox="1"/>
          <p:nvPr/>
        </p:nvSpPr>
        <p:spPr>
          <a:xfrm>
            <a:off x="10658772" y="536526"/>
            <a:ext cx="1474645" cy="2308324"/>
          </a:xfrm>
          <a:prstGeom prst="rect">
            <a:avLst/>
          </a:prstGeom>
          <a:noFill/>
        </p:spPr>
        <p:txBody>
          <a:bodyPr wrap="square" rtlCol="0">
            <a:spAutoFit/>
          </a:bodyPr>
          <a:lstStyle/>
          <a:p>
            <a:r>
              <a:rPr lang="en-GB" dirty="0"/>
              <a:t>X is 5 by 5</a:t>
            </a:r>
          </a:p>
          <a:p>
            <a:endParaRPr lang="en-GB" dirty="0"/>
          </a:p>
          <a:p>
            <a:r>
              <a:rPr lang="en-GB" dirty="0"/>
              <a:t>K is 3 by 3</a:t>
            </a:r>
          </a:p>
          <a:p>
            <a:endParaRPr lang="en-GB" dirty="0"/>
          </a:p>
          <a:p>
            <a:r>
              <a:rPr lang="en-GB" dirty="0"/>
              <a:t>Y is therefore 3 by 3.</a:t>
            </a:r>
          </a:p>
          <a:p>
            <a:endParaRPr lang="en-GB" dirty="0"/>
          </a:p>
          <a:p>
            <a:r>
              <a:rPr lang="en-GB" dirty="0"/>
              <a:t>(5-3+1 = 3)</a:t>
            </a:r>
            <a:endParaRPr lang="en-SG" dirty="0"/>
          </a:p>
        </p:txBody>
      </p:sp>
    </p:spTree>
    <p:extLst>
      <p:ext uri="{BB962C8B-B14F-4D97-AF65-F5344CB8AC3E}">
        <p14:creationId xmlns:p14="http://schemas.microsoft.com/office/powerpoint/2010/main" val="40234183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C51B9-1C83-B006-5EBD-5A0427C6F480}"/>
              </a:ext>
            </a:extLst>
          </p:cNvPr>
          <p:cNvSpPr>
            <a:spLocks noGrp="1"/>
          </p:cNvSpPr>
          <p:nvPr>
            <p:ph type="title"/>
          </p:nvPr>
        </p:nvSpPr>
        <p:spPr/>
        <p:txBody>
          <a:bodyPr/>
          <a:lstStyle/>
          <a:p>
            <a:r>
              <a:rPr lang="en-GB" dirty="0"/>
              <a:t>Introducing convolution!</a:t>
            </a:r>
            <a:endParaRPr lang="en-SG" dirty="0"/>
          </a:p>
        </p:txBody>
      </p:sp>
      <p:graphicFrame>
        <p:nvGraphicFramePr>
          <p:cNvPr id="6" name="Table 6">
            <a:extLst>
              <a:ext uri="{FF2B5EF4-FFF2-40B4-BE49-F238E27FC236}">
                <a16:creationId xmlns:a16="http://schemas.microsoft.com/office/drawing/2014/main" id="{92EDE3AF-8E7F-4B86-2425-4F993E81F45C}"/>
              </a:ext>
            </a:extLst>
          </p:cNvPr>
          <p:cNvGraphicFramePr>
            <a:graphicFrameLocks noGrp="1"/>
          </p:cNvGraphicFramePr>
          <p:nvPr>
            <p:extLst>
              <p:ext uri="{D42A27DB-BD31-4B8C-83A1-F6EECF244321}">
                <p14:modId xmlns:p14="http://schemas.microsoft.com/office/powerpoint/2010/main" val="3804082918"/>
              </p:ext>
            </p:extLst>
          </p:nvPr>
        </p:nvGraphicFramePr>
        <p:xfrm>
          <a:off x="8643816" y="539913"/>
          <a:ext cx="1800000" cy="18288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700703413"/>
                    </a:ext>
                  </a:extLst>
                </a:gridCol>
                <a:gridCol w="360000">
                  <a:extLst>
                    <a:ext uri="{9D8B030D-6E8A-4147-A177-3AD203B41FA5}">
                      <a16:colId xmlns:a16="http://schemas.microsoft.com/office/drawing/2014/main" val="1188093310"/>
                    </a:ext>
                  </a:extLst>
                </a:gridCol>
                <a:gridCol w="360000">
                  <a:extLst>
                    <a:ext uri="{9D8B030D-6E8A-4147-A177-3AD203B41FA5}">
                      <a16:colId xmlns:a16="http://schemas.microsoft.com/office/drawing/2014/main" val="4191100445"/>
                    </a:ext>
                  </a:extLst>
                </a:gridCol>
                <a:gridCol w="360000">
                  <a:extLst>
                    <a:ext uri="{9D8B030D-6E8A-4147-A177-3AD203B41FA5}">
                      <a16:colId xmlns:a16="http://schemas.microsoft.com/office/drawing/2014/main" val="3874915201"/>
                    </a:ext>
                  </a:extLst>
                </a:gridCol>
                <a:gridCol w="360000">
                  <a:extLst>
                    <a:ext uri="{9D8B030D-6E8A-4147-A177-3AD203B41FA5}">
                      <a16:colId xmlns:a16="http://schemas.microsoft.com/office/drawing/2014/main" val="3356821557"/>
                    </a:ext>
                  </a:extLst>
                </a:gridCol>
              </a:tblGrid>
              <a:tr h="360000">
                <a:tc>
                  <a:txBody>
                    <a:bodyPr/>
                    <a:lstStyle/>
                    <a:p>
                      <a:pPr algn="ctr"/>
                      <a:r>
                        <a:rPr lang="en-GB" b="1" dirty="0">
                          <a:solidFill>
                            <a:srgbClr val="FF0000"/>
                          </a:solidFill>
                        </a:rPr>
                        <a:t>1</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4</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509791817"/>
                  </a:ext>
                </a:extLst>
              </a:tr>
              <a:tr h="360000">
                <a:tc>
                  <a:txBody>
                    <a:bodyPr/>
                    <a:lstStyle/>
                    <a:p>
                      <a:pPr algn="ctr"/>
                      <a:r>
                        <a:rPr lang="en-GB" b="1" dirty="0">
                          <a:solidFill>
                            <a:srgbClr val="FF0000"/>
                          </a:solidFill>
                        </a:rPr>
                        <a:t>4</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3</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777963115"/>
                  </a:ext>
                </a:extLst>
              </a:tr>
              <a:tr h="360000">
                <a:tc>
                  <a:txBody>
                    <a:bodyPr/>
                    <a:lstStyle/>
                    <a:p>
                      <a:pPr algn="ctr"/>
                      <a:r>
                        <a:rPr lang="en-GB" b="1" dirty="0">
                          <a:solidFill>
                            <a:srgbClr val="FF0000"/>
                          </a:solidFill>
                        </a:rPr>
                        <a:t>4</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5</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578879875"/>
                  </a:ext>
                </a:extLst>
              </a:tr>
              <a:tr h="360000">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7</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8</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696099757"/>
                  </a:ext>
                </a:extLst>
              </a:tr>
              <a:tr h="360000">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7</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8</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409685490"/>
                  </a:ext>
                </a:extLst>
              </a:tr>
            </a:tbl>
          </a:graphicData>
        </a:graphic>
      </p:graphicFrame>
      <p:graphicFrame>
        <p:nvGraphicFramePr>
          <p:cNvPr id="7" name="Table 7">
            <a:extLst>
              <a:ext uri="{FF2B5EF4-FFF2-40B4-BE49-F238E27FC236}">
                <a16:creationId xmlns:a16="http://schemas.microsoft.com/office/drawing/2014/main" id="{097D2466-E678-68BD-BE73-0A05DB2927E0}"/>
              </a:ext>
            </a:extLst>
          </p:cNvPr>
          <p:cNvGraphicFramePr>
            <a:graphicFrameLocks noGrp="1"/>
          </p:cNvGraphicFramePr>
          <p:nvPr/>
        </p:nvGraphicFramePr>
        <p:xfrm>
          <a:off x="9058032" y="2880360"/>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10625315"/>
                  </a:ext>
                </a:extLst>
              </a:tr>
              <a:tr h="360000">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0130699"/>
                  </a:ext>
                </a:extLst>
              </a:tr>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773086537"/>
                  </a:ext>
                </a:extLst>
              </a:tr>
            </a:tbl>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4FEDCA2-715E-8CCD-C69B-50F3EB70CB65}"/>
                  </a:ext>
                </a:extLst>
              </p:cNvPr>
              <p:cNvSpPr txBox="1"/>
              <p:nvPr/>
            </p:nvSpPr>
            <p:spPr>
              <a:xfrm>
                <a:off x="7791938" y="1195754"/>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B050"/>
                          </a:solidFill>
                          <a:latin typeface="Cambria Math" panose="02040503050406030204" pitchFamily="18" charset="0"/>
                        </a:rPr>
                        <m:t>𝑿</m:t>
                      </m:r>
                    </m:oMath>
                  </m:oMathPara>
                </a14:m>
                <a:endParaRPr lang="en-SG" sz="2800" b="1" dirty="0">
                  <a:solidFill>
                    <a:srgbClr val="00B050"/>
                  </a:solidFill>
                </a:endParaRPr>
              </a:p>
            </p:txBody>
          </p:sp>
        </mc:Choice>
        <mc:Fallback xmlns="">
          <p:sp>
            <p:nvSpPr>
              <p:cNvPr id="9" name="TextBox 8">
                <a:extLst>
                  <a:ext uri="{FF2B5EF4-FFF2-40B4-BE49-F238E27FC236}">
                    <a16:creationId xmlns:a16="http://schemas.microsoft.com/office/drawing/2014/main" id="{B4FEDCA2-715E-8CCD-C69B-50F3EB70CB65}"/>
                  </a:ext>
                </a:extLst>
              </p:cNvPr>
              <p:cNvSpPr txBox="1">
                <a:spLocks noRot="1" noChangeAspect="1" noMove="1" noResize="1" noEditPoints="1" noAdjustHandles="1" noChangeArrowheads="1" noChangeShapeType="1" noTextEdit="1"/>
              </p:cNvSpPr>
              <p:nvPr/>
            </p:nvSpPr>
            <p:spPr>
              <a:xfrm>
                <a:off x="7791938" y="1195754"/>
                <a:ext cx="648677" cy="523220"/>
              </a:xfrm>
              <a:prstGeom prst="rect">
                <a:avLst/>
              </a:prstGeom>
              <a:blipFill>
                <a:blip r:embed="rId2"/>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1CC23F9-3037-01D0-AB2C-3952CB2B1D42}"/>
                  </a:ext>
                </a:extLst>
              </p:cNvPr>
              <p:cNvSpPr txBox="1"/>
              <p:nvPr/>
            </p:nvSpPr>
            <p:spPr>
              <a:xfrm>
                <a:off x="7791937" y="3167390"/>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chemeClr val="accent2"/>
                          </a:solidFill>
                          <a:latin typeface="Cambria Math" panose="02040503050406030204" pitchFamily="18" charset="0"/>
                        </a:rPr>
                        <m:t>𝑲</m:t>
                      </m:r>
                    </m:oMath>
                  </m:oMathPara>
                </a14:m>
                <a:endParaRPr lang="en-SG" sz="2800" b="1" dirty="0">
                  <a:solidFill>
                    <a:schemeClr val="accent2"/>
                  </a:solidFill>
                </a:endParaRPr>
              </a:p>
            </p:txBody>
          </p:sp>
        </mc:Choice>
        <mc:Fallback xmlns="">
          <p:sp>
            <p:nvSpPr>
              <p:cNvPr id="10" name="TextBox 9">
                <a:extLst>
                  <a:ext uri="{FF2B5EF4-FFF2-40B4-BE49-F238E27FC236}">
                    <a16:creationId xmlns:a16="http://schemas.microsoft.com/office/drawing/2014/main" id="{21CC23F9-3037-01D0-AB2C-3952CB2B1D42}"/>
                  </a:ext>
                </a:extLst>
              </p:cNvPr>
              <p:cNvSpPr txBox="1">
                <a:spLocks noRot="1" noChangeAspect="1" noMove="1" noResize="1" noEditPoints="1" noAdjustHandles="1" noChangeArrowheads="1" noChangeShapeType="1" noTextEdit="1"/>
              </p:cNvSpPr>
              <p:nvPr/>
            </p:nvSpPr>
            <p:spPr>
              <a:xfrm>
                <a:off x="7791937" y="3167390"/>
                <a:ext cx="648677" cy="523220"/>
              </a:xfrm>
              <a:prstGeom prst="rect">
                <a:avLst/>
              </a:prstGeom>
              <a:blipFill>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5408004-0261-C7CE-BBF1-20C8725C5ACF}"/>
                  </a:ext>
                </a:extLst>
              </p:cNvPr>
              <p:cNvSpPr txBox="1"/>
              <p:nvPr/>
            </p:nvSpPr>
            <p:spPr>
              <a:xfrm>
                <a:off x="7791937" y="468748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70C0"/>
                          </a:solidFill>
                          <a:latin typeface="Cambria Math" panose="02040503050406030204" pitchFamily="18" charset="0"/>
                        </a:rPr>
                        <m:t>𝒀</m:t>
                      </m:r>
                    </m:oMath>
                  </m:oMathPara>
                </a14:m>
                <a:endParaRPr lang="en-SG" sz="2800" b="1" dirty="0">
                  <a:solidFill>
                    <a:srgbClr val="0070C0"/>
                  </a:solidFill>
                </a:endParaRPr>
              </a:p>
            </p:txBody>
          </p:sp>
        </mc:Choice>
        <mc:Fallback xmlns="">
          <p:sp>
            <p:nvSpPr>
              <p:cNvPr id="11" name="TextBox 10">
                <a:extLst>
                  <a:ext uri="{FF2B5EF4-FFF2-40B4-BE49-F238E27FC236}">
                    <a16:creationId xmlns:a16="http://schemas.microsoft.com/office/drawing/2014/main" id="{25408004-0261-C7CE-BBF1-20C8725C5ACF}"/>
                  </a:ext>
                </a:extLst>
              </p:cNvPr>
              <p:cNvSpPr txBox="1">
                <a:spLocks noRot="1" noChangeAspect="1" noMove="1" noResize="1" noEditPoints="1" noAdjustHandles="1" noChangeArrowheads="1" noChangeShapeType="1" noTextEdit="1"/>
              </p:cNvSpPr>
              <p:nvPr/>
            </p:nvSpPr>
            <p:spPr>
              <a:xfrm>
                <a:off x="7791937" y="4687482"/>
                <a:ext cx="648677" cy="523220"/>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8C57D67-20AF-19C9-C61D-5EAABF7AA63D}"/>
                  </a:ext>
                </a:extLst>
              </p:cNvPr>
              <p:cNvSpPr txBox="1"/>
              <p:nvPr/>
            </p:nvSpPr>
            <p:spPr>
              <a:xfrm>
                <a:off x="10647017" y="539913"/>
                <a:ext cx="1320801" cy="31393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solidFill>
                            <a:srgbClr val="00B050"/>
                          </a:solidFill>
                          <a:latin typeface="Cambria Math" panose="02040503050406030204" pitchFamily="18" charset="0"/>
                        </a:rPr>
                        <m:t>1</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2</m:t>
                      </m:r>
                      <m:r>
                        <a:rPr lang="en-GB" i="1">
                          <a:latin typeface="Cambria Math" panose="02040503050406030204" pitchFamily="18" charset="0"/>
                        </a:rPr>
                        <m:t>×</m:t>
                      </m:r>
                      <m:r>
                        <a:rPr lang="en-GB" b="0" i="1" smtClean="0">
                          <a:solidFill>
                            <a:schemeClr val="accent2"/>
                          </a:solidFill>
                          <a:latin typeface="Cambria Math" panose="02040503050406030204" pitchFamily="18" charset="0"/>
                        </a:rPr>
                        <m:t>0</m:t>
                      </m:r>
                    </m:oMath>
                  </m:oMathPara>
                </a14:m>
                <a:endParaRPr lang="en-GB"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m:t>
                      </m:r>
                      <m:r>
                        <a:rPr lang="en-GB" b="0" i="1" smtClean="0">
                          <a:solidFill>
                            <a:srgbClr val="00B050"/>
                          </a:solidFill>
                          <a:latin typeface="Cambria Math" panose="02040503050406030204" pitchFamily="18" charset="0"/>
                        </a:rPr>
                        <m:t>4</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4</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0</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7</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2</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3</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4</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5</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0</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2</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lgn="ctr"/>
                <a14:m>
                  <m:oMath xmlns:m="http://schemas.openxmlformats.org/officeDocument/2006/math">
                    <m:r>
                      <a:rPr lang="en-GB" b="0" i="1" smtClean="0">
                        <a:solidFill>
                          <a:schemeClr val="tx1"/>
                        </a:solidFill>
                        <a:latin typeface="Cambria Math" panose="02040503050406030204" pitchFamily="18" charset="0"/>
                      </a:rPr>
                      <m:t>=</m:t>
                    </m:r>
                  </m:oMath>
                </a14:m>
                <a:r>
                  <a:rPr lang="en-SG" dirty="0"/>
                  <a:t> </a:t>
                </a:r>
                <a:r>
                  <a:rPr lang="en-SG" dirty="0">
                    <a:solidFill>
                      <a:srgbClr val="0070C0"/>
                    </a:solidFill>
                  </a:rPr>
                  <a:t>28</a:t>
                </a:r>
              </a:p>
              <a:p>
                <a:endParaRPr lang="en-SG" dirty="0"/>
              </a:p>
            </p:txBody>
          </p:sp>
        </mc:Choice>
        <mc:Fallback xmlns="">
          <p:sp>
            <p:nvSpPr>
              <p:cNvPr id="4" name="TextBox 3">
                <a:extLst>
                  <a:ext uri="{FF2B5EF4-FFF2-40B4-BE49-F238E27FC236}">
                    <a16:creationId xmlns:a16="http://schemas.microsoft.com/office/drawing/2014/main" id="{98C57D67-20AF-19C9-C61D-5EAABF7AA63D}"/>
                  </a:ext>
                </a:extLst>
              </p:cNvPr>
              <p:cNvSpPr txBox="1">
                <a:spLocks noRot="1" noChangeAspect="1" noMove="1" noResize="1" noEditPoints="1" noAdjustHandles="1" noChangeArrowheads="1" noChangeShapeType="1" noTextEdit="1"/>
              </p:cNvSpPr>
              <p:nvPr/>
            </p:nvSpPr>
            <p:spPr>
              <a:xfrm>
                <a:off x="10647017" y="539913"/>
                <a:ext cx="1320801" cy="3139321"/>
              </a:xfrm>
              <a:prstGeom prst="rect">
                <a:avLst/>
              </a:prstGeom>
              <a:blipFill>
                <a:blip r:embed="rId5"/>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51F833A6-0BED-0084-BD99-25BC64614783}"/>
                  </a:ext>
                </a:extLst>
              </p:cNvPr>
              <p:cNvGraphicFramePr>
                <a:graphicFrameLocks noGrp="1"/>
              </p:cNvGraphicFramePr>
              <p:nvPr>
                <p:extLst>
                  <p:ext uri="{D42A27DB-BD31-4B8C-83A1-F6EECF244321}">
                    <p14:modId xmlns:p14="http://schemas.microsoft.com/office/powerpoint/2010/main" val="2585445021"/>
                  </p:ext>
                </p:extLst>
              </p:nvPr>
            </p:nvGraphicFramePr>
            <p:xfrm>
              <a:off x="9058032" y="4400452"/>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pPr algn="ctr"/>
                          <a14:m>
                            <m:oMathPara xmlns:m="http://schemas.openxmlformats.org/officeDocument/2006/math">
                              <m:oMathParaPr>
                                <m:jc m:val="centerGroup"/>
                              </m:oMathParaPr>
                              <m:oMath xmlns:m="http://schemas.openxmlformats.org/officeDocument/2006/math">
                                <m:f>
                                  <m:fPr>
                                    <m:ctrlPr>
                                      <a:rPr lang="en-GB" b="1" i="1" dirty="0" smtClean="0">
                                        <a:solidFill>
                                          <a:srgbClr val="FF0000"/>
                                        </a:solidFill>
                                        <a:latin typeface="Cambria Math" panose="02040503050406030204" pitchFamily="18" charset="0"/>
                                      </a:rPr>
                                    </m:ctrlPr>
                                  </m:fPr>
                                  <m:num>
                                    <m:r>
                                      <a:rPr lang="en-GB" b="1" i="1" dirty="0" smtClean="0">
                                        <a:solidFill>
                                          <a:srgbClr val="FF0000"/>
                                        </a:solidFill>
                                        <a:latin typeface="Cambria Math" panose="02040503050406030204" pitchFamily="18" charset="0"/>
                                      </a:rPr>
                                      <m:t>𝟐𝟖</m:t>
                                    </m:r>
                                  </m:num>
                                  <m:den>
                                    <m:r>
                                      <a:rPr lang="en-GB" b="1" i="1" dirty="0" smtClean="0">
                                        <a:solidFill>
                                          <a:srgbClr val="FF0000"/>
                                        </a:solidFill>
                                        <a:latin typeface="Cambria Math" panose="02040503050406030204" pitchFamily="18" charset="0"/>
                                      </a:rPr>
                                      <m:t>𝟗</m:t>
                                    </m:r>
                                  </m:den>
                                </m:f>
                              </m:oMath>
                            </m:oMathPara>
                          </a14:m>
                          <a:endParaRPr lang="en-GB"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Choice>
        <mc:Fallback xmlns="">
          <p:graphicFrame>
            <p:nvGraphicFramePr>
              <p:cNvPr id="5" name="Table 4">
                <a:extLst>
                  <a:ext uri="{FF2B5EF4-FFF2-40B4-BE49-F238E27FC236}">
                    <a16:creationId xmlns:a16="http://schemas.microsoft.com/office/drawing/2014/main" id="{51F833A6-0BED-0084-BD99-25BC64614783}"/>
                  </a:ext>
                </a:extLst>
              </p:cNvPr>
              <p:cNvGraphicFramePr>
                <a:graphicFrameLocks noGrp="1"/>
              </p:cNvGraphicFramePr>
              <p:nvPr>
                <p:extLst>
                  <p:ext uri="{D42A27DB-BD31-4B8C-83A1-F6EECF244321}">
                    <p14:modId xmlns:p14="http://schemas.microsoft.com/office/powerpoint/2010/main" val="2585445021"/>
                  </p:ext>
                </p:extLst>
              </p:nvPr>
            </p:nvGraphicFramePr>
            <p:xfrm>
              <a:off x="9058032" y="4400452"/>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40" t="-4202" r="-200840" b="-200840"/>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Fallback>
      </mc:AlternateContent>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070CFF2C-FCE8-4013-82A9-464834890F0C}"/>
                  </a:ext>
                </a:extLst>
              </p:cNvPr>
              <p:cNvSpPr>
                <a:spLocks noGrp="1"/>
              </p:cNvSpPr>
              <p:nvPr>
                <p:ph sz="half" idx="1"/>
              </p:nvPr>
            </p:nvSpPr>
            <p:spPr>
              <a:xfrm>
                <a:off x="838199" y="1825624"/>
                <a:ext cx="5757986" cy="5032375"/>
              </a:xfrm>
            </p:spPr>
            <p:txBody>
              <a:bodyPr>
                <a:normAutofit/>
              </a:bodyPr>
              <a:lstStyle/>
              <a:p>
                <a:pPr marL="0" indent="0">
                  <a:buNone/>
                </a:pPr>
                <a:r>
                  <a:rPr lang="en-GB" b="1" dirty="0"/>
                  <a:t>Second</a:t>
                </a:r>
                <a:r>
                  <a:rPr lang="en-GB" dirty="0"/>
                  <a:t>, the pixel values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r>
                      <a:rPr lang="en-GB" i="1">
                        <a:latin typeface="Cambria Math" panose="02040503050406030204" pitchFamily="18" charset="0"/>
                      </a:rPr>
                      <m:t> </m:t>
                    </m:r>
                  </m:oMath>
                </a14:m>
                <a:r>
                  <a:rPr lang="en-GB" dirty="0"/>
                  <a:t>for image </a:t>
                </a:r>
                <a14:m>
                  <m:oMath xmlns:m="http://schemas.openxmlformats.org/officeDocument/2006/math">
                    <m:r>
                      <a:rPr lang="en-GB" i="1">
                        <a:latin typeface="Cambria Math" panose="02040503050406030204" pitchFamily="18" charset="0"/>
                      </a:rPr>
                      <m:t>𝑌</m:t>
                    </m:r>
                  </m:oMath>
                </a14:m>
                <a:r>
                  <a:rPr lang="en-GB" dirty="0"/>
                  <a:t> are calculated using the convolution operation, defining </a:t>
                </a:r>
                <a14:m>
                  <m:oMath xmlns:m="http://schemas.openxmlformats.org/officeDocument/2006/math">
                    <m:sSub>
                      <m:sSubPr>
                        <m:ctrlPr>
                          <a:rPr lang="en-GB" i="1">
                            <a:latin typeface="Cambria Math" panose="02040503050406030204" pitchFamily="18" charset="0"/>
                          </a:rPr>
                        </m:ctrlPr>
                      </m:sSubPr>
                      <m:e>
                        <m:r>
                          <a:rPr lang="en-GB" b="0" i="1" smtClean="0">
                            <a:latin typeface="Cambria Math" panose="02040503050406030204" pitchFamily="18" charset="0"/>
                          </a:rPr>
                          <m:t>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oMath>
                </a14:m>
                <a:r>
                  <a:rPr lang="en-GB" dirty="0"/>
                  <a:t>,</a:t>
                </a:r>
                <a:br>
                  <a:rPr lang="en-GB" dirty="0"/>
                </a:br>
                <a14:m>
                  <m:oMath xmlns:m="http://schemas.openxmlformats.org/officeDocument/2006/math">
                    <m:r>
                      <a:rPr lang="en-GB" i="1">
                        <a:latin typeface="Cambria Math" panose="02040503050406030204" pitchFamily="18" charset="0"/>
                      </a:rPr>
                      <m:t>∀</m:t>
                    </m:r>
                    <m:r>
                      <a:rPr lang="en-GB" i="1">
                        <a:latin typeface="Cambria Math" panose="02040503050406030204" pitchFamily="18" charset="0"/>
                      </a:rPr>
                      <m:t>𝑖</m:t>
                    </m:r>
                    <m:r>
                      <a:rPr lang="en-GB" i="1">
                        <a:latin typeface="Cambria Math" panose="02040503050406030204" pitchFamily="18" charset="0"/>
                      </a:rPr>
                      <m:t>∈</m:t>
                    </m:r>
                    <m:d>
                      <m:dPr>
                        <m:begChr m:val="["/>
                        <m:endChr m:val="]"/>
                        <m:ctrlPr>
                          <a:rPr lang="en-GB" i="1">
                            <a:latin typeface="Cambria Math" panose="02040503050406030204" pitchFamily="18" charset="0"/>
                          </a:rPr>
                        </m:ctrlPr>
                      </m:dPr>
                      <m:e>
                        <m:r>
                          <a:rPr lang="en-GB" i="1">
                            <a:latin typeface="Cambria Math" panose="02040503050406030204" pitchFamily="18" charset="0"/>
                          </a:rPr>
                          <m:t>1, </m:t>
                        </m:r>
                        <m:sSup>
                          <m:sSupPr>
                            <m:ctrlPr>
                              <a:rPr lang="en-GB" i="1">
                                <a:latin typeface="Cambria Math" panose="02040503050406030204" pitchFamily="18" charset="0"/>
                              </a:rPr>
                            </m:ctrlPr>
                          </m:sSupPr>
                          <m:e>
                            <m:r>
                              <a:rPr lang="en-GB" i="1">
                                <a:latin typeface="Cambria Math" panose="02040503050406030204" pitchFamily="18" charset="0"/>
                              </a:rPr>
                              <m:t>h</m:t>
                            </m:r>
                          </m:e>
                          <m:sup>
                            <m:r>
                              <a:rPr lang="en-GB" i="1">
                                <a:latin typeface="Cambria Math" panose="02040503050406030204" pitchFamily="18" charset="0"/>
                              </a:rPr>
                              <m:t>′</m:t>
                            </m:r>
                          </m:sup>
                        </m:sSup>
                      </m:e>
                    </m:d>
                    <m:r>
                      <a:rPr lang="en-GB" i="1">
                        <a:latin typeface="Cambria Math" panose="02040503050406030204" pitchFamily="18" charset="0"/>
                      </a:rPr>
                      <m:t>, </m:t>
                    </m:r>
                    <m:r>
                      <a:rPr lang="en-GB" i="1" smtClean="0">
                        <a:latin typeface="Cambria Math" panose="02040503050406030204" pitchFamily="18" charset="0"/>
                      </a:rPr>
                      <m:t>𝑗</m:t>
                    </m:r>
                    <m:r>
                      <a:rPr lang="en-GB" i="1" smtClean="0">
                        <a:latin typeface="Cambria Math" panose="02040503050406030204" pitchFamily="18" charset="0"/>
                      </a:rPr>
                      <m:t>∈[1,</m:t>
                    </m:r>
                    <m:r>
                      <a:rPr lang="en-GB" i="1">
                        <a:latin typeface="Cambria Math" panose="02040503050406030204" pitchFamily="18" charset="0"/>
                      </a:rPr>
                      <m:t>𝑤</m:t>
                    </m:r>
                    <m:r>
                      <a:rPr lang="en-GB" i="1">
                        <a:latin typeface="Cambria Math" panose="02040503050406030204" pitchFamily="18" charset="0"/>
                      </a:rPr>
                      <m:t>′]</m:t>
                    </m:r>
                  </m:oMath>
                </a14:m>
                <a:r>
                  <a:rPr lang="en-GB" dirty="0"/>
                  <a:t> as:</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solidFill>
                                <a:srgbClr val="0070C0"/>
                              </a:solidFill>
                              <a:latin typeface="Cambria Math" panose="02040503050406030204" pitchFamily="18" charset="0"/>
                            </a:rPr>
                            <m:t>𝑌</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𝑗</m:t>
                          </m:r>
                        </m:sub>
                      </m:sSub>
                      <m:r>
                        <a:rPr lang="en-GB" b="0" i="1" smtClean="0">
                          <a:latin typeface="Cambria Math" panose="02040503050406030204" pitchFamily="18" charset="0"/>
                        </a:rPr>
                        <m:t>=</m:t>
                      </m:r>
                      <m:f>
                        <m:fPr>
                          <m:ctrlPr>
                            <a:rPr lang="en-GB" b="0" i="1" smtClean="0">
                              <a:solidFill>
                                <a:srgbClr val="FF0000"/>
                              </a:solidFill>
                              <a:latin typeface="Cambria Math" panose="02040503050406030204" pitchFamily="18" charset="0"/>
                            </a:rPr>
                          </m:ctrlPr>
                        </m:fPr>
                        <m:num>
                          <m:r>
                            <a:rPr lang="en-GB" b="0" i="1" smtClean="0">
                              <a:solidFill>
                                <a:srgbClr val="FF0000"/>
                              </a:solidFill>
                              <a:latin typeface="Cambria Math" panose="02040503050406030204" pitchFamily="18" charset="0"/>
                            </a:rPr>
                            <m:t>1</m:t>
                          </m:r>
                        </m:num>
                        <m:den>
                          <m:sSup>
                            <m:sSupPr>
                              <m:ctrlPr>
                                <a:rPr lang="en-GB" b="0" i="1" smtClean="0">
                                  <a:solidFill>
                                    <a:srgbClr val="FF0000"/>
                                  </a:solidFill>
                                  <a:latin typeface="Cambria Math" panose="02040503050406030204" pitchFamily="18" charset="0"/>
                                </a:rPr>
                              </m:ctrlPr>
                            </m:sSupPr>
                            <m:e>
                              <m:r>
                                <a:rPr lang="en-GB" b="0" i="1" smtClean="0">
                                  <a:solidFill>
                                    <a:srgbClr val="FF0000"/>
                                  </a:solidFill>
                                  <a:latin typeface="Cambria Math" panose="02040503050406030204" pitchFamily="18" charset="0"/>
                                </a:rPr>
                                <m:t>𝑘</m:t>
                              </m:r>
                            </m:e>
                            <m:sup>
                              <m:r>
                                <a:rPr lang="en-GB" b="0" i="1" smtClean="0">
                                  <a:solidFill>
                                    <a:srgbClr val="FF0000"/>
                                  </a:solidFill>
                                  <a:latin typeface="Cambria Math" panose="02040503050406030204" pitchFamily="18" charset="0"/>
                                </a:rPr>
                                <m:t>2</m:t>
                              </m:r>
                            </m:sup>
                          </m:sSup>
                        </m:den>
                      </m:f>
                      <m:nary>
                        <m:naryPr>
                          <m:chr m:val="∑"/>
                          <m:ctrlPr>
                            <a:rPr lang="en-GB" b="0" i="1" smtClean="0">
                              <a:latin typeface="Cambria Math" panose="02040503050406030204" pitchFamily="18" charset="0"/>
                            </a:rPr>
                          </m:ctrlPr>
                        </m:naryPr>
                        <m:sub>
                          <m:r>
                            <a:rPr lang="en-GB" b="0" i="1" smtClean="0">
                              <a:latin typeface="Cambria Math" panose="02040503050406030204" pitchFamily="18" charset="0"/>
                            </a:rPr>
                            <m:t>𝑚</m:t>
                          </m:r>
                          <m:r>
                            <a:rPr lang="en-GB" b="0" i="1" smtClean="0">
                              <a:latin typeface="Cambria Math" panose="02040503050406030204" pitchFamily="18" charset="0"/>
                            </a:rPr>
                            <m:t>=1</m:t>
                          </m:r>
                        </m:sub>
                        <m:sup>
                          <m:r>
                            <a:rPr lang="en-GB" b="0" i="1" smtClean="0">
                              <a:latin typeface="Cambria Math" panose="02040503050406030204" pitchFamily="18" charset="0"/>
                            </a:rPr>
                            <m:t>𝑘</m:t>
                          </m:r>
                        </m:sup>
                        <m:e>
                          <m:nary>
                            <m:naryPr>
                              <m:chr m:val="∑"/>
                              <m:ctrlPr>
                                <a:rPr lang="en-GB" b="0" i="1" smtClean="0">
                                  <a:latin typeface="Cambria Math" panose="02040503050406030204" pitchFamily="18" charset="0"/>
                                </a:rPr>
                              </m:ctrlPr>
                            </m:naryPr>
                            <m:sub>
                              <m:r>
                                <a:rPr lang="en-GB" b="0" i="1" smtClean="0">
                                  <a:latin typeface="Cambria Math" panose="02040503050406030204" pitchFamily="18" charset="0"/>
                                </a:rPr>
                                <m:t>𝑛</m:t>
                              </m:r>
                              <m:r>
                                <a:rPr lang="en-GB" b="0" i="1" smtClean="0">
                                  <a:latin typeface="Cambria Math" panose="02040503050406030204" pitchFamily="18" charset="0"/>
                                </a:rPr>
                                <m:t>=1</m:t>
                              </m:r>
                            </m:sub>
                            <m:sup>
                              <m:r>
                                <a:rPr lang="en-GB" b="0" i="1" smtClean="0">
                                  <a:latin typeface="Cambria Math" panose="02040503050406030204" pitchFamily="18" charset="0"/>
                                </a:rPr>
                                <m:t>𝑘</m:t>
                              </m:r>
                            </m:sup>
                            <m:e>
                              <m:sSub>
                                <m:sSubPr>
                                  <m:ctrlPr>
                                    <a:rPr lang="en-GB" b="0" i="1" smtClean="0">
                                      <a:latin typeface="Cambria Math" panose="02040503050406030204" pitchFamily="18" charset="0"/>
                                    </a:rPr>
                                  </m:ctrlPr>
                                </m:sSubPr>
                                <m:e>
                                  <m:r>
                                    <a:rPr lang="en-GB" b="0" i="1" smtClean="0">
                                      <a:solidFill>
                                        <a:srgbClr val="00B050"/>
                                      </a:solidFill>
                                      <a:latin typeface="Cambria Math" panose="02040503050406030204" pitchFamily="18" charset="0"/>
                                    </a:rPr>
                                    <m:t>𝑋</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𝑚</m:t>
                                  </m:r>
                                  <m:r>
                                    <a:rPr lang="en-GB" b="0" i="1" smtClean="0">
                                      <a:latin typeface="Cambria Math" panose="02040503050406030204" pitchFamily="18" charset="0"/>
                                    </a:rPr>
                                    <m:t>−1,   </m:t>
                                  </m:r>
                                  <m:r>
                                    <a:rPr lang="en-GB" b="0" i="1" smtClean="0">
                                      <a:latin typeface="Cambria Math" panose="02040503050406030204" pitchFamily="18" charset="0"/>
                                    </a:rPr>
                                    <m:t>𝑗</m:t>
                                  </m:r>
                                  <m:r>
                                    <a:rPr lang="en-GB" b="0" i="1" smtClean="0">
                                      <a:latin typeface="Cambria Math" panose="02040503050406030204" pitchFamily="18" charset="0"/>
                                    </a:rPr>
                                    <m:t>+</m:t>
                                  </m:r>
                                  <m:r>
                                    <a:rPr lang="en-GB" b="0" i="1" smtClean="0">
                                      <a:latin typeface="Cambria Math" panose="02040503050406030204" pitchFamily="18" charset="0"/>
                                    </a:rPr>
                                    <m:t>𝑛</m:t>
                                  </m:r>
                                  <m:r>
                                    <a:rPr lang="en-GB" b="0" i="1" smtClean="0">
                                      <a:latin typeface="Cambria Math" panose="02040503050406030204" pitchFamily="18" charset="0"/>
                                    </a:rPr>
                                    <m:t>−1</m:t>
                                  </m:r>
                                </m:sub>
                              </m:sSub>
                              <m:r>
                                <m:rPr>
                                  <m:nor/>
                                </m:rPr>
                                <a:rPr lang="en-SG"/>
                                <m:t> </m:t>
                              </m:r>
                              <m:sSub>
                                <m:sSubPr>
                                  <m:ctrlPr>
                                    <a:rPr lang="en-GB" b="0" i="1" smtClean="0">
                                      <a:latin typeface="Cambria Math" panose="02040503050406030204" pitchFamily="18" charset="0"/>
                                    </a:rPr>
                                  </m:ctrlPr>
                                </m:sSubPr>
                                <m:e>
                                  <m:r>
                                    <a:rPr lang="en-GB" b="0" i="1" smtClean="0">
                                      <a:solidFill>
                                        <a:schemeClr val="accent2"/>
                                      </a:solidFill>
                                      <a:latin typeface="Cambria Math" panose="02040503050406030204" pitchFamily="18" charset="0"/>
                                    </a:rPr>
                                    <m:t>𝐾</m:t>
                                  </m:r>
                                </m:e>
                                <m:sub>
                                  <m:r>
                                    <a:rPr lang="en-GB" b="0" i="1" smtClean="0">
                                      <a:latin typeface="Cambria Math" panose="02040503050406030204" pitchFamily="18" charset="0"/>
                                    </a:rPr>
                                    <m:t>𝑚</m:t>
                                  </m:r>
                                  <m:r>
                                    <a:rPr lang="en-GB" b="0" i="1" smtClean="0">
                                      <a:latin typeface="Cambria Math" panose="02040503050406030204" pitchFamily="18" charset="0"/>
                                    </a:rPr>
                                    <m:t>,</m:t>
                                  </m:r>
                                  <m:r>
                                    <a:rPr lang="en-GB" b="0" i="1" smtClean="0">
                                      <a:latin typeface="Cambria Math" panose="02040503050406030204" pitchFamily="18" charset="0"/>
                                    </a:rPr>
                                    <m:t>𝑛</m:t>
                                  </m:r>
                                </m:sub>
                              </m:sSub>
                            </m:e>
                          </m:nary>
                        </m:e>
                      </m:nary>
                    </m:oMath>
                  </m:oMathPara>
                </a14:m>
                <a:endParaRPr lang="en-GB" dirty="0"/>
              </a:p>
              <a:p>
                <a:pPr marL="0" indent="0">
                  <a:buNone/>
                </a:pPr>
                <a:endParaRPr lang="en-GB" dirty="0"/>
              </a:p>
              <a:p>
                <a:pPr marL="0" indent="0">
                  <a:buNone/>
                </a:pPr>
                <a:r>
                  <a:rPr lang="en-GB" b="1" dirty="0"/>
                  <a:t>This operation is a weighted average of a pixel and its neighbouring pixels!</a:t>
                </a:r>
              </a:p>
            </p:txBody>
          </p:sp>
        </mc:Choice>
        <mc:Fallback xmlns="">
          <p:sp>
            <p:nvSpPr>
              <p:cNvPr id="14" name="Content Placeholder 2">
                <a:extLst>
                  <a:ext uri="{FF2B5EF4-FFF2-40B4-BE49-F238E27FC236}">
                    <a16:creationId xmlns:a16="http://schemas.microsoft.com/office/drawing/2014/main" id="{070CFF2C-FCE8-4013-82A9-464834890F0C}"/>
                  </a:ext>
                </a:extLst>
              </p:cNvPr>
              <p:cNvSpPr>
                <a:spLocks noGrp="1" noRot="1" noChangeAspect="1" noMove="1" noResize="1" noEditPoints="1" noAdjustHandles="1" noChangeArrowheads="1" noChangeShapeType="1" noTextEdit="1"/>
              </p:cNvSpPr>
              <p:nvPr>
                <p:ph sz="half" idx="1"/>
              </p:nvPr>
            </p:nvSpPr>
            <p:spPr>
              <a:xfrm>
                <a:off x="838199" y="1825624"/>
                <a:ext cx="5757986" cy="5032375"/>
              </a:xfrm>
              <a:blipFill>
                <a:blip r:embed="rId7"/>
                <a:stretch>
                  <a:fillRect l="-2116" t="-1695" r="-2434"/>
                </a:stretch>
              </a:blipFill>
            </p:spPr>
            <p:txBody>
              <a:bodyPr/>
              <a:lstStyle/>
              <a:p>
                <a:r>
                  <a:rPr lang="en-SG">
                    <a:noFill/>
                  </a:rPr>
                  <a:t> </a:t>
                </a:r>
              </a:p>
            </p:txBody>
          </p:sp>
        </mc:Fallback>
      </mc:AlternateContent>
    </p:spTree>
    <p:extLst>
      <p:ext uri="{BB962C8B-B14F-4D97-AF65-F5344CB8AC3E}">
        <p14:creationId xmlns:p14="http://schemas.microsoft.com/office/powerpoint/2010/main" val="2242837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C51B9-1C83-B006-5EBD-5A0427C6F480}"/>
              </a:ext>
            </a:extLst>
          </p:cNvPr>
          <p:cNvSpPr>
            <a:spLocks noGrp="1"/>
          </p:cNvSpPr>
          <p:nvPr>
            <p:ph type="title"/>
          </p:nvPr>
        </p:nvSpPr>
        <p:spPr/>
        <p:txBody>
          <a:bodyPr/>
          <a:lstStyle/>
          <a:p>
            <a:r>
              <a:rPr lang="en-GB" dirty="0"/>
              <a:t>Introducing convolution!</a:t>
            </a:r>
            <a:endParaRPr lang="en-SG" dirty="0"/>
          </a:p>
        </p:txBody>
      </p:sp>
      <p:graphicFrame>
        <p:nvGraphicFramePr>
          <p:cNvPr id="6" name="Table 6">
            <a:extLst>
              <a:ext uri="{FF2B5EF4-FFF2-40B4-BE49-F238E27FC236}">
                <a16:creationId xmlns:a16="http://schemas.microsoft.com/office/drawing/2014/main" id="{92EDE3AF-8E7F-4B86-2425-4F993E81F45C}"/>
              </a:ext>
            </a:extLst>
          </p:cNvPr>
          <p:cNvGraphicFramePr>
            <a:graphicFrameLocks noGrp="1"/>
          </p:cNvGraphicFramePr>
          <p:nvPr>
            <p:extLst>
              <p:ext uri="{D42A27DB-BD31-4B8C-83A1-F6EECF244321}">
                <p14:modId xmlns:p14="http://schemas.microsoft.com/office/powerpoint/2010/main" val="1594661710"/>
              </p:ext>
            </p:extLst>
          </p:nvPr>
        </p:nvGraphicFramePr>
        <p:xfrm>
          <a:off x="8643816" y="539913"/>
          <a:ext cx="1800000" cy="18288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700703413"/>
                    </a:ext>
                  </a:extLst>
                </a:gridCol>
                <a:gridCol w="360000">
                  <a:extLst>
                    <a:ext uri="{9D8B030D-6E8A-4147-A177-3AD203B41FA5}">
                      <a16:colId xmlns:a16="http://schemas.microsoft.com/office/drawing/2014/main" val="1188093310"/>
                    </a:ext>
                  </a:extLst>
                </a:gridCol>
                <a:gridCol w="360000">
                  <a:extLst>
                    <a:ext uri="{9D8B030D-6E8A-4147-A177-3AD203B41FA5}">
                      <a16:colId xmlns:a16="http://schemas.microsoft.com/office/drawing/2014/main" val="4191100445"/>
                    </a:ext>
                  </a:extLst>
                </a:gridCol>
                <a:gridCol w="360000">
                  <a:extLst>
                    <a:ext uri="{9D8B030D-6E8A-4147-A177-3AD203B41FA5}">
                      <a16:colId xmlns:a16="http://schemas.microsoft.com/office/drawing/2014/main" val="3874915201"/>
                    </a:ext>
                  </a:extLst>
                </a:gridCol>
                <a:gridCol w="360000">
                  <a:extLst>
                    <a:ext uri="{9D8B030D-6E8A-4147-A177-3AD203B41FA5}">
                      <a16:colId xmlns:a16="http://schemas.microsoft.com/office/drawing/2014/main" val="3356821557"/>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509791817"/>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7</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777963115"/>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5</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3</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578879875"/>
                  </a:ext>
                </a:extLst>
              </a:tr>
              <a:tr h="360000">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1</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8</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696099757"/>
                  </a:ext>
                </a:extLst>
              </a:tr>
              <a:tr h="360000">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4</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8</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409685490"/>
                  </a:ext>
                </a:extLst>
              </a:tr>
            </a:tbl>
          </a:graphicData>
        </a:graphic>
      </p:graphicFrame>
      <p:graphicFrame>
        <p:nvGraphicFramePr>
          <p:cNvPr id="7" name="Table 7">
            <a:extLst>
              <a:ext uri="{FF2B5EF4-FFF2-40B4-BE49-F238E27FC236}">
                <a16:creationId xmlns:a16="http://schemas.microsoft.com/office/drawing/2014/main" id="{097D2466-E678-68BD-BE73-0A05DB2927E0}"/>
              </a:ext>
            </a:extLst>
          </p:cNvPr>
          <p:cNvGraphicFramePr>
            <a:graphicFrameLocks noGrp="1"/>
          </p:cNvGraphicFramePr>
          <p:nvPr/>
        </p:nvGraphicFramePr>
        <p:xfrm>
          <a:off x="9058032" y="2880360"/>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10625315"/>
                  </a:ext>
                </a:extLst>
              </a:tr>
              <a:tr h="360000">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0130699"/>
                  </a:ext>
                </a:extLst>
              </a:tr>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773086537"/>
                  </a:ext>
                </a:extLst>
              </a:tr>
            </a:tbl>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4FEDCA2-715E-8CCD-C69B-50F3EB70CB65}"/>
                  </a:ext>
                </a:extLst>
              </p:cNvPr>
              <p:cNvSpPr txBox="1"/>
              <p:nvPr/>
            </p:nvSpPr>
            <p:spPr>
              <a:xfrm>
                <a:off x="7791938" y="1195754"/>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B050"/>
                          </a:solidFill>
                          <a:latin typeface="Cambria Math" panose="02040503050406030204" pitchFamily="18" charset="0"/>
                        </a:rPr>
                        <m:t>𝑿</m:t>
                      </m:r>
                    </m:oMath>
                  </m:oMathPara>
                </a14:m>
                <a:endParaRPr lang="en-SG" sz="2800" b="1" dirty="0">
                  <a:solidFill>
                    <a:srgbClr val="00B050"/>
                  </a:solidFill>
                </a:endParaRPr>
              </a:p>
            </p:txBody>
          </p:sp>
        </mc:Choice>
        <mc:Fallback xmlns="">
          <p:sp>
            <p:nvSpPr>
              <p:cNvPr id="9" name="TextBox 8">
                <a:extLst>
                  <a:ext uri="{FF2B5EF4-FFF2-40B4-BE49-F238E27FC236}">
                    <a16:creationId xmlns:a16="http://schemas.microsoft.com/office/drawing/2014/main" id="{B4FEDCA2-715E-8CCD-C69B-50F3EB70CB65}"/>
                  </a:ext>
                </a:extLst>
              </p:cNvPr>
              <p:cNvSpPr txBox="1">
                <a:spLocks noRot="1" noChangeAspect="1" noMove="1" noResize="1" noEditPoints="1" noAdjustHandles="1" noChangeArrowheads="1" noChangeShapeType="1" noTextEdit="1"/>
              </p:cNvSpPr>
              <p:nvPr/>
            </p:nvSpPr>
            <p:spPr>
              <a:xfrm>
                <a:off x="7791938" y="1195754"/>
                <a:ext cx="648677" cy="523220"/>
              </a:xfrm>
              <a:prstGeom prst="rect">
                <a:avLst/>
              </a:prstGeom>
              <a:blipFill>
                <a:blip r:embed="rId2"/>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1CC23F9-3037-01D0-AB2C-3952CB2B1D42}"/>
                  </a:ext>
                </a:extLst>
              </p:cNvPr>
              <p:cNvSpPr txBox="1"/>
              <p:nvPr/>
            </p:nvSpPr>
            <p:spPr>
              <a:xfrm>
                <a:off x="7791937" y="3167390"/>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chemeClr val="accent2"/>
                          </a:solidFill>
                          <a:latin typeface="Cambria Math" panose="02040503050406030204" pitchFamily="18" charset="0"/>
                        </a:rPr>
                        <m:t>𝑲</m:t>
                      </m:r>
                    </m:oMath>
                  </m:oMathPara>
                </a14:m>
                <a:endParaRPr lang="en-SG" sz="2800" b="1" dirty="0">
                  <a:solidFill>
                    <a:schemeClr val="accent2"/>
                  </a:solidFill>
                </a:endParaRPr>
              </a:p>
            </p:txBody>
          </p:sp>
        </mc:Choice>
        <mc:Fallback xmlns="">
          <p:sp>
            <p:nvSpPr>
              <p:cNvPr id="10" name="TextBox 9">
                <a:extLst>
                  <a:ext uri="{FF2B5EF4-FFF2-40B4-BE49-F238E27FC236}">
                    <a16:creationId xmlns:a16="http://schemas.microsoft.com/office/drawing/2014/main" id="{21CC23F9-3037-01D0-AB2C-3952CB2B1D42}"/>
                  </a:ext>
                </a:extLst>
              </p:cNvPr>
              <p:cNvSpPr txBox="1">
                <a:spLocks noRot="1" noChangeAspect="1" noMove="1" noResize="1" noEditPoints="1" noAdjustHandles="1" noChangeArrowheads="1" noChangeShapeType="1" noTextEdit="1"/>
              </p:cNvSpPr>
              <p:nvPr/>
            </p:nvSpPr>
            <p:spPr>
              <a:xfrm>
                <a:off x="7791937" y="3167390"/>
                <a:ext cx="648677" cy="523220"/>
              </a:xfrm>
              <a:prstGeom prst="rect">
                <a:avLst/>
              </a:prstGeom>
              <a:blipFill>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5408004-0261-C7CE-BBF1-20C8725C5ACF}"/>
                  </a:ext>
                </a:extLst>
              </p:cNvPr>
              <p:cNvSpPr txBox="1"/>
              <p:nvPr/>
            </p:nvSpPr>
            <p:spPr>
              <a:xfrm>
                <a:off x="7791937" y="468748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70C0"/>
                          </a:solidFill>
                          <a:latin typeface="Cambria Math" panose="02040503050406030204" pitchFamily="18" charset="0"/>
                        </a:rPr>
                        <m:t>𝒀</m:t>
                      </m:r>
                    </m:oMath>
                  </m:oMathPara>
                </a14:m>
                <a:endParaRPr lang="en-SG" sz="2800" b="1" dirty="0">
                  <a:solidFill>
                    <a:srgbClr val="0070C0"/>
                  </a:solidFill>
                </a:endParaRPr>
              </a:p>
            </p:txBody>
          </p:sp>
        </mc:Choice>
        <mc:Fallback xmlns="">
          <p:sp>
            <p:nvSpPr>
              <p:cNvPr id="11" name="TextBox 10">
                <a:extLst>
                  <a:ext uri="{FF2B5EF4-FFF2-40B4-BE49-F238E27FC236}">
                    <a16:creationId xmlns:a16="http://schemas.microsoft.com/office/drawing/2014/main" id="{25408004-0261-C7CE-BBF1-20C8725C5ACF}"/>
                  </a:ext>
                </a:extLst>
              </p:cNvPr>
              <p:cNvSpPr txBox="1">
                <a:spLocks noRot="1" noChangeAspect="1" noMove="1" noResize="1" noEditPoints="1" noAdjustHandles="1" noChangeArrowheads="1" noChangeShapeType="1" noTextEdit="1"/>
              </p:cNvSpPr>
              <p:nvPr/>
            </p:nvSpPr>
            <p:spPr>
              <a:xfrm>
                <a:off x="7791937" y="4687482"/>
                <a:ext cx="648677" cy="523220"/>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AA9CD5B-49EA-F0FF-60AB-64DCDB08037A}"/>
                  </a:ext>
                </a:extLst>
              </p:cNvPr>
              <p:cNvSpPr txBox="1"/>
              <p:nvPr/>
            </p:nvSpPr>
            <p:spPr>
              <a:xfrm>
                <a:off x="10650417" y="539913"/>
                <a:ext cx="1320801" cy="31393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solidFill>
                            <a:srgbClr val="00B050"/>
                          </a:solidFill>
                          <a:latin typeface="Cambria Math" panose="02040503050406030204" pitchFamily="18" charset="0"/>
                        </a:rPr>
                        <m:t>5</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2</m:t>
                      </m:r>
                      <m:r>
                        <a:rPr lang="en-GB" i="1">
                          <a:latin typeface="Cambria Math" panose="02040503050406030204" pitchFamily="18" charset="0"/>
                        </a:rPr>
                        <m:t>×</m:t>
                      </m:r>
                      <m:r>
                        <a:rPr lang="en-GB" b="0" i="1" smtClean="0">
                          <a:solidFill>
                            <a:schemeClr val="accent2"/>
                          </a:solidFill>
                          <a:latin typeface="Cambria Math" panose="02040503050406030204" pitchFamily="18" charset="0"/>
                        </a:rPr>
                        <m:t>0</m:t>
                      </m:r>
                    </m:oMath>
                  </m:oMathPara>
                </a14:m>
                <a:endParaRPr lang="en-GB"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m:t>
                      </m:r>
                      <m:r>
                        <a:rPr lang="en-GB" b="0" i="1" smtClean="0">
                          <a:solidFill>
                            <a:srgbClr val="00B050"/>
                          </a:solidFill>
                          <a:latin typeface="Cambria Math" panose="02040503050406030204" pitchFamily="18" charset="0"/>
                        </a:rPr>
                        <m:t>3</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1</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0</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7</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2</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8</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2</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4</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0</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7</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lgn="ctr"/>
                <a14:m>
                  <m:oMath xmlns:m="http://schemas.openxmlformats.org/officeDocument/2006/math">
                    <m:r>
                      <a:rPr lang="en-GB" b="0" i="1" smtClean="0">
                        <a:solidFill>
                          <a:schemeClr val="tx1"/>
                        </a:solidFill>
                        <a:latin typeface="Cambria Math" panose="02040503050406030204" pitchFamily="18" charset="0"/>
                      </a:rPr>
                      <m:t>=</m:t>
                    </m:r>
                  </m:oMath>
                </a14:m>
                <a:r>
                  <a:rPr lang="en-SG" dirty="0"/>
                  <a:t> </a:t>
                </a:r>
                <a:r>
                  <a:rPr lang="en-SG" dirty="0">
                    <a:solidFill>
                      <a:srgbClr val="0070C0"/>
                    </a:solidFill>
                  </a:rPr>
                  <a:t>39</a:t>
                </a:r>
              </a:p>
              <a:p>
                <a:endParaRPr lang="en-SG" dirty="0"/>
              </a:p>
            </p:txBody>
          </p:sp>
        </mc:Choice>
        <mc:Fallback xmlns="">
          <p:sp>
            <p:nvSpPr>
              <p:cNvPr id="4" name="TextBox 3">
                <a:extLst>
                  <a:ext uri="{FF2B5EF4-FFF2-40B4-BE49-F238E27FC236}">
                    <a16:creationId xmlns:a16="http://schemas.microsoft.com/office/drawing/2014/main" id="{9AA9CD5B-49EA-F0FF-60AB-64DCDB08037A}"/>
                  </a:ext>
                </a:extLst>
              </p:cNvPr>
              <p:cNvSpPr txBox="1">
                <a:spLocks noRot="1" noChangeAspect="1" noMove="1" noResize="1" noEditPoints="1" noAdjustHandles="1" noChangeArrowheads="1" noChangeShapeType="1" noTextEdit="1"/>
              </p:cNvSpPr>
              <p:nvPr/>
            </p:nvSpPr>
            <p:spPr>
              <a:xfrm>
                <a:off x="10650417" y="539913"/>
                <a:ext cx="1320801" cy="3139321"/>
              </a:xfrm>
              <a:prstGeom prst="rect">
                <a:avLst/>
              </a:prstGeom>
              <a:blipFill>
                <a:blip r:embed="rId5"/>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ED6E9FB3-9A1D-D12E-5ED7-E88942AA371E}"/>
                  </a:ext>
                </a:extLst>
              </p:cNvPr>
              <p:cNvGraphicFramePr>
                <a:graphicFrameLocks noGrp="1"/>
              </p:cNvGraphicFramePr>
              <p:nvPr>
                <p:extLst>
                  <p:ext uri="{D42A27DB-BD31-4B8C-83A1-F6EECF244321}">
                    <p14:modId xmlns:p14="http://schemas.microsoft.com/office/powerpoint/2010/main" val="3195115131"/>
                  </p:ext>
                </p:extLst>
              </p:nvPr>
            </p:nvGraphicFramePr>
            <p:xfrm>
              <a:off x="9058032" y="4400452"/>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pPr algn="ctr"/>
                          <a14:m>
                            <m:oMathPara xmlns:m="http://schemas.openxmlformats.org/officeDocument/2006/math">
                              <m:oMathParaPr>
                                <m:jc m:val="centerGroup"/>
                              </m:oMathParaPr>
                              <m:oMath xmlns:m="http://schemas.openxmlformats.org/officeDocument/2006/math">
                                <m:f>
                                  <m:fPr>
                                    <m:ctrlPr>
                                      <a:rPr lang="en-GB" b="1" i="1" dirty="0" smtClean="0">
                                        <a:solidFill>
                                          <a:schemeClr val="bg1"/>
                                        </a:solidFill>
                                        <a:latin typeface="Cambria Math" panose="02040503050406030204" pitchFamily="18" charset="0"/>
                                      </a:rPr>
                                    </m:ctrlPr>
                                  </m:fPr>
                                  <m:num>
                                    <m:r>
                                      <a:rPr lang="en-GB" b="1" i="1" dirty="0" smtClean="0">
                                        <a:solidFill>
                                          <a:schemeClr val="bg1"/>
                                        </a:solidFill>
                                        <a:latin typeface="Cambria Math" panose="02040503050406030204" pitchFamily="18" charset="0"/>
                                      </a:rPr>
                                      <m:t>𝟐𝟖</m:t>
                                    </m:r>
                                  </m:num>
                                  <m:den>
                                    <m:r>
                                      <a:rPr lang="en-GB" b="1" i="1" dirty="0" smtClean="0">
                                        <a:solidFill>
                                          <a:schemeClr val="bg1"/>
                                        </a:solidFill>
                                        <a:latin typeface="Cambria Math" panose="02040503050406030204" pitchFamily="18" charset="0"/>
                                      </a:rPr>
                                      <m:t>𝟗</m:t>
                                    </m:r>
                                  </m:den>
                                </m:f>
                              </m:oMath>
                            </m:oMathPara>
                          </a14:m>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14:m>
                            <m:oMathPara xmlns:m="http://schemas.openxmlformats.org/officeDocument/2006/math">
                              <m:oMathParaPr>
                                <m:jc m:val="centerGroup"/>
                              </m:oMathParaPr>
                              <m:oMath xmlns:m="http://schemas.openxmlformats.org/officeDocument/2006/math">
                                <m:f>
                                  <m:fPr>
                                    <m:ctrlPr>
                                      <a:rPr lang="en-GB" b="1" i="1" dirty="0" smtClean="0">
                                        <a:solidFill>
                                          <a:srgbClr val="FF0000"/>
                                        </a:solidFill>
                                        <a:latin typeface="Cambria Math" panose="02040503050406030204" pitchFamily="18" charset="0"/>
                                      </a:rPr>
                                    </m:ctrlPr>
                                  </m:fPr>
                                  <m:num>
                                    <m:r>
                                      <a:rPr lang="en-GB" b="1" i="1" dirty="0" smtClean="0">
                                        <a:solidFill>
                                          <a:srgbClr val="FF0000"/>
                                        </a:solidFill>
                                        <a:latin typeface="Cambria Math" panose="02040503050406030204" pitchFamily="18" charset="0"/>
                                      </a:rPr>
                                      <m:t>𝟑𝟗</m:t>
                                    </m:r>
                                  </m:num>
                                  <m:den>
                                    <m:r>
                                      <a:rPr lang="en-GB" b="1" i="1" dirty="0" smtClean="0">
                                        <a:solidFill>
                                          <a:srgbClr val="FF0000"/>
                                        </a:solidFill>
                                        <a:latin typeface="Cambria Math" panose="02040503050406030204" pitchFamily="18" charset="0"/>
                                      </a:rPr>
                                      <m:t>𝟗</m:t>
                                    </m:r>
                                  </m:den>
                                </m:f>
                              </m:oMath>
                            </m:oMathPara>
                          </a14:m>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Choice>
        <mc:Fallback xmlns="">
          <p:graphicFrame>
            <p:nvGraphicFramePr>
              <p:cNvPr id="5" name="Table 4">
                <a:extLst>
                  <a:ext uri="{FF2B5EF4-FFF2-40B4-BE49-F238E27FC236}">
                    <a16:creationId xmlns:a16="http://schemas.microsoft.com/office/drawing/2014/main" id="{ED6E9FB3-9A1D-D12E-5ED7-E88942AA371E}"/>
                  </a:ext>
                </a:extLst>
              </p:cNvPr>
              <p:cNvGraphicFramePr>
                <a:graphicFrameLocks noGrp="1"/>
              </p:cNvGraphicFramePr>
              <p:nvPr>
                <p:extLst>
                  <p:ext uri="{D42A27DB-BD31-4B8C-83A1-F6EECF244321}">
                    <p14:modId xmlns:p14="http://schemas.microsoft.com/office/powerpoint/2010/main" val="3195115131"/>
                  </p:ext>
                </p:extLst>
              </p:nvPr>
            </p:nvGraphicFramePr>
            <p:xfrm>
              <a:off x="9058032" y="4400452"/>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40" t="-4202" r="-200840" b="-200840"/>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1695" t="-203361" r="-102542" b="-1681"/>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Fallback>
      </mc:AlternateContent>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7B59F037-103B-22C1-0244-C1334FABB21D}"/>
                  </a:ext>
                </a:extLst>
              </p:cNvPr>
              <p:cNvSpPr>
                <a:spLocks noGrp="1"/>
              </p:cNvSpPr>
              <p:nvPr>
                <p:ph sz="half" idx="1"/>
              </p:nvPr>
            </p:nvSpPr>
            <p:spPr>
              <a:xfrm>
                <a:off x="838199" y="1825624"/>
                <a:ext cx="5757986" cy="5032375"/>
              </a:xfrm>
            </p:spPr>
            <p:txBody>
              <a:bodyPr>
                <a:normAutofit/>
              </a:bodyPr>
              <a:lstStyle/>
              <a:p>
                <a:pPr marL="0" indent="0">
                  <a:buNone/>
                </a:pPr>
                <a:r>
                  <a:rPr lang="en-GB" b="1" dirty="0"/>
                  <a:t>Second</a:t>
                </a:r>
                <a:r>
                  <a:rPr lang="en-GB" dirty="0"/>
                  <a:t>, the pixel values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r>
                      <a:rPr lang="en-GB" i="1">
                        <a:latin typeface="Cambria Math" panose="02040503050406030204" pitchFamily="18" charset="0"/>
                      </a:rPr>
                      <m:t> </m:t>
                    </m:r>
                  </m:oMath>
                </a14:m>
                <a:r>
                  <a:rPr lang="en-GB" dirty="0"/>
                  <a:t>for image </a:t>
                </a:r>
                <a14:m>
                  <m:oMath xmlns:m="http://schemas.openxmlformats.org/officeDocument/2006/math">
                    <m:r>
                      <a:rPr lang="en-GB" i="1">
                        <a:latin typeface="Cambria Math" panose="02040503050406030204" pitchFamily="18" charset="0"/>
                      </a:rPr>
                      <m:t>𝑌</m:t>
                    </m:r>
                  </m:oMath>
                </a14:m>
                <a:r>
                  <a:rPr lang="en-GB" dirty="0"/>
                  <a:t> are calculated using the convolution operation, defining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oMath>
                </a14:m>
                <a:r>
                  <a:rPr lang="en-GB" dirty="0"/>
                  <a:t>,</a:t>
                </a:r>
                <a:br>
                  <a:rPr lang="en-GB" dirty="0"/>
                </a:br>
                <a14:m>
                  <m:oMath xmlns:m="http://schemas.openxmlformats.org/officeDocument/2006/math">
                    <m:r>
                      <a:rPr lang="en-GB" i="1">
                        <a:latin typeface="Cambria Math" panose="02040503050406030204" pitchFamily="18" charset="0"/>
                      </a:rPr>
                      <m:t>∀</m:t>
                    </m:r>
                    <m:r>
                      <a:rPr lang="en-GB" i="1">
                        <a:latin typeface="Cambria Math" panose="02040503050406030204" pitchFamily="18" charset="0"/>
                      </a:rPr>
                      <m:t>𝑖</m:t>
                    </m:r>
                    <m:r>
                      <a:rPr lang="en-GB" i="1">
                        <a:latin typeface="Cambria Math" panose="02040503050406030204" pitchFamily="18" charset="0"/>
                      </a:rPr>
                      <m:t>∈</m:t>
                    </m:r>
                    <m:d>
                      <m:dPr>
                        <m:begChr m:val="["/>
                        <m:endChr m:val="]"/>
                        <m:ctrlPr>
                          <a:rPr lang="en-GB" i="1">
                            <a:latin typeface="Cambria Math" panose="02040503050406030204" pitchFamily="18" charset="0"/>
                          </a:rPr>
                        </m:ctrlPr>
                      </m:dPr>
                      <m:e>
                        <m:r>
                          <a:rPr lang="en-GB" i="1">
                            <a:latin typeface="Cambria Math" panose="02040503050406030204" pitchFamily="18" charset="0"/>
                          </a:rPr>
                          <m:t>1, </m:t>
                        </m:r>
                        <m:sSup>
                          <m:sSupPr>
                            <m:ctrlPr>
                              <a:rPr lang="en-GB" i="1">
                                <a:latin typeface="Cambria Math" panose="02040503050406030204" pitchFamily="18" charset="0"/>
                              </a:rPr>
                            </m:ctrlPr>
                          </m:sSupPr>
                          <m:e>
                            <m:r>
                              <a:rPr lang="en-GB" i="1">
                                <a:latin typeface="Cambria Math" panose="02040503050406030204" pitchFamily="18" charset="0"/>
                              </a:rPr>
                              <m:t>h</m:t>
                            </m:r>
                          </m:e>
                          <m:sup>
                            <m:r>
                              <a:rPr lang="en-GB" i="1">
                                <a:latin typeface="Cambria Math" panose="02040503050406030204" pitchFamily="18" charset="0"/>
                              </a:rPr>
                              <m:t>′</m:t>
                            </m:r>
                          </m:sup>
                        </m:sSup>
                      </m:e>
                    </m:d>
                    <m:r>
                      <a:rPr lang="en-GB" i="1">
                        <a:latin typeface="Cambria Math" panose="02040503050406030204" pitchFamily="18" charset="0"/>
                      </a:rPr>
                      <m:t>, </m:t>
                    </m:r>
                    <m:r>
                      <a:rPr lang="en-GB" i="1">
                        <a:latin typeface="Cambria Math" panose="02040503050406030204" pitchFamily="18" charset="0"/>
                      </a:rPr>
                      <m:t>𝑗</m:t>
                    </m:r>
                    <m:r>
                      <a:rPr lang="en-GB" i="1">
                        <a:latin typeface="Cambria Math" panose="02040503050406030204" pitchFamily="18" charset="0"/>
                      </a:rPr>
                      <m:t>∈[1,</m:t>
                    </m:r>
                    <m:r>
                      <a:rPr lang="en-GB" i="1">
                        <a:latin typeface="Cambria Math" panose="02040503050406030204" pitchFamily="18" charset="0"/>
                      </a:rPr>
                      <m:t>𝑤</m:t>
                    </m:r>
                    <m:r>
                      <a:rPr lang="en-GB" i="1">
                        <a:latin typeface="Cambria Math" panose="02040503050406030204" pitchFamily="18" charset="0"/>
                      </a:rPr>
                      <m:t>′]</m:t>
                    </m:r>
                  </m:oMath>
                </a14:m>
                <a:r>
                  <a:rPr lang="en-GB" dirty="0"/>
                  <a:t> as:</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solidFill>
                                <a:srgbClr val="0070C0"/>
                              </a:solidFill>
                              <a:latin typeface="Cambria Math" panose="02040503050406030204" pitchFamily="18" charset="0"/>
                            </a:rPr>
                            <m:t>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r>
                        <a:rPr lang="en-GB" i="1">
                          <a:latin typeface="Cambria Math" panose="02040503050406030204" pitchFamily="18" charset="0"/>
                        </a:rPr>
                        <m:t>=</m:t>
                      </m:r>
                      <m:f>
                        <m:fPr>
                          <m:ctrlPr>
                            <a:rPr lang="en-GB" i="1" smtClean="0">
                              <a:solidFill>
                                <a:srgbClr val="FF0000"/>
                              </a:solidFill>
                              <a:latin typeface="Cambria Math" panose="02040503050406030204" pitchFamily="18" charset="0"/>
                            </a:rPr>
                          </m:ctrlPr>
                        </m:fPr>
                        <m:num>
                          <m:r>
                            <a:rPr lang="en-GB" i="1">
                              <a:solidFill>
                                <a:srgbClr val="FF0000"/>
                              </a:solidFill>
                              <a:latin typeface="Cambria Math" panose="02040503050406030204" pitchFamily="18" charset="0"/>
                            </a:rPr>
                            <m:t>1</m:t>
                          </m:r>
                        </m:num>
                        <m:den>
                          <m:sSup>
                            <m:sSupPr>
                              <m:ctrlPr>
                                <a:rPr lang="en-GB" i="1">
                                  <a:solidFill>
                                    <a:srgbClr val="FF0000"/>
                                  </a:solidFill>
                                  <a:latin typeface="Cambria Math" panose="02040503050406030204" pitchFamily="18" charset="0"/>
                                </a:rPr>
                              </m:ctrlPr>
                            </m:sSupPr>
                            <m:e>
                              <m:r>
                                <a:rPr lang="en-GB" i="1">
                                  <a:solidFill>
                                    <a:srgbClr val="FF0000"/>
                                  </a:solidFill>
                                  <a:latin typeface="Cambria Math" panose="02040503050406030204" pitchFamily="18" charset="0"/>
                                </a:rPr>
                                <m:t>𝑘</m:t>
                              </m:r>
                            </m:e>
                            <m:sup>
                              <m:r>
                                <a:rPr lang="en-GB" i="1">
                                  <a:solidFill>
                                    <a:srgbClr val="FF0000"/>
                                  </a:solidFill>
                                  <a:latin typeface="Cambria Math" panose="02040503050406030204" pitchFamily="18" charset="0"/>
                                </a:rPr>
                                <m:t>2</m:t>
                              </m:r>
                            </m:sup>
                          </m:sSup>
                        </m:den>
                      </m:f>
                      <m:nary>
                        <m:naryPr>
                          <m:chr m:val="∑"/>
                          <m:ctrlPr>
                            <a:rPr lang="en-GB" i="1">
                              <a:latin typeface="Cambria Math" panose="02040503050406030204" pitchFamily="18" charset="0"/>
                            </a:rPr>
                          </m:ctrlPr>
                        </m:naryPr>
                        <m:sub>
                          <m:r>
                            <a:rPr lang="en-GB" i="1">
                              <a:latin typeface="Cambria Math" panose="02040503050406030204" pitchFamily="18" charset="0"/>
                            </a:rPr>
                            <m:t>𝑚</m:t>
                          </m:r>
                          <m:r>
                            <a:rPr lang="en-GB" i="1">
                              <a:latin typeface="Cambria Math" panose="02040503050406030204" pitchFamily="18" charset="0"/>
                            </a:rPr>
                            <m:t>=1</m:t>
                          </m:r>
                        </m:sub>
                        <m:sup>
                          <m:r>
                            <a:rPr lang="en-GB" i="1">
                              <a:latin typeface="Cambria Math" panose="02040503050406030204" pitchFamily="18" charset="0"/>
                            </a:rPr>
                            <m:t>𝑘</m:t>
                          </m:r>
                        </m:sup>
                        <m:e>
                          <m:nary>
                            <m:naryPr>
                              <m:chr m:val="∑"/>
                              <m:ctrlPr>
                                <a:rPr lang="en-GB" i="1">
                                  <a:latin typeface="Cambria Math" panose="02040503050406030204" pitchFamily="18" charset="0"/>
                                </a:rPr>
                              </m:ctrlPr>
                            </m:naryPr>
                            <m:sub>
                              <m:r>
                                <a:rPr lang="en-GB" i="1">
                                  <a:latin typeface="Cambria Math" panose="02040503050406030204" pitchFamily="18" charset="0"/>
                                </a:rPr>
                                <m:t>𝑛</m:t>
                              </m:r>
                              <m:r>
                                <a:rPr lang="en-GB" i="1">
                                  <a:latin typeface="Cambria Math" panose="02040503050406030204" pitchFamily="18" charset="0"/>
                                </a:rPr>
                                <m:t>=1</m:t>
                              </m:r>
                            </m:sub>
                            <m:sup>
                              <m:r>
                                <a:rPr lang="en-GB" i="1">
                                  <a:latin typeface="Cambria Math" panose="02040503050406030204" pitchFamily="18" charset="0"/>
                                </a:rPr>
                                <m:t>𝑘</m:t>
                              </m:r>
                            </m:sup>
                            <m:e>
                              <m:sSub>
                                <m:sSubPr>
                                  <m:ctrlPr>
                                    <a:rPr lang="en-GB" i="1">
                                      <a:latin typeface="Cambria Math" panose="02040503050406030204" pitchFamily="18" charset="0"/>
                                    </a:rPr>
                                  </m:ctrlPr>
                                </m:sSubPr>
                                <m:e>
                                  <m:r>
                                    <a:rPr lang="en-GB" i="1">
                                      <a:solidFill>
                                        <a:srgbClr val="00B050"/>
                                      </a:solidFill>
                                      <a:latin typeface="Cambria Math" panose="02040503050406030204" pitchFamily="18" charset="0"/>
                                    </a:rPr>
                                    <m:t>𝑋</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𝑚</m:t>
                                  </m:r>
                                  <m:r>
                                    <a:rPr lang="en-GB" i="1">
                                      <a:latin typeface="Cambria Math" panose="02040503050406030204" pitchFamily="18" charset="0"/>
                                    </a:rPr>
                                    <m:t>−1,   </m:t>
                                  </m:r>
                                  <m:r>
                                    <a:rPr lang="en-GB" i="1">
                                      <a:latin typeface="Cambria Math" panose="02040503050406030204" pitchFamily="18" charset="0"/>
                                    </a:rPr>
                                    <m:t>𝑗</m:t>
                                  </m:r>
                                  <m:r>
                                    <a:rPr lang="en-GB" i="1">
                                      <a:latin typeface="Cambria Math" panose="02040503050406030204" pitchFamily="18" charset="0"/>
                                    </a:rPr>
                                    <m:t>+</m:t>
                                  </m:r>
                                  <m:r>
                                    <a:rPr lang="en-GB" i="1">
                                      <a:latin typeface="Cambria Math" panose="02040503050406030204" pitchFamily="18" charset="0"/>
                                    </a:rPr>
                                    <m:t>𝑛</m:t>
                                  </m:r>
                                  <m:r>
                                    <a:rPr lang="en-GB" i="1">
                                      <a:latin typeface="Cambria Math" panose="02040503050406030204" pitchFamily="18" charset="0"/>
                                    </a:rPr>
                                    <m:t>−1</m:t>
                                  </m:r>
                                </m:sub>
                              </m:sSub>
                              <m:r>
                                <m:rPr>
                                  <m:nor/>
                                </m:rPr>
                                <a:rPr lang="en-SG"/>
                                <m:t> </m:t>
                              </m:r>
                              <m:sSub>
                                <m:sSubPr>
                                  <m:ctrlPr>
                                    <a:rPr lang="en-GB" i="1">
                                      <a:latin typeface="Cambria Math" panose="02040503050406030204" pitchFamily="18" charset="0"/>
                                    </a:rPr>
                                  </m:ctrlPr>
                                </m:sSubPr>
                                <m:e>
                                  <m:r>
                                    <a:rPr lang="en-GB" i="1">
                                      <a:solidFill>
                                        <a:schemeClr val="accent2"/>
                                      </a:solidFill>
                                      <a:latin typeface="Cambria Math" panose="02040503050406030204" pitchFamily="18" charset="0"/>
                                    </a:rPr>
                                    <m:t>𝐾</m:t>
                                  </m:r>
                                </m:e>
                                <m:sub>
                                  <m:r>
                                    <a:rPr lang="en-GB" i="1">
                                      <a:latin typeface="Cambria Math" panose="02040503050406030204" pitchFamily="18" charset="0"/>
                                    </a:rPr>
                                    <m:t>𝑚</m:t>
                                  </m:r>
                                  <m:r>
                                    <a:rPr lang="en-GB" i="1">
                                      <a:latin typeface="Cambria Math" panose="02040503050406030204" pitchFamily="18" charset="0"/>
                                    </a:rPr>
                                    <m:t>,</m:t>
                                  </m:r>
                                  <m:r>
                                    <a:rPr lang="en-GB" i="1">
                                      <a:latin typeface="Cambria Math" panose="02040503050406030204" pitchFamily="18" charset="0"/>
                                    </a:rPr>
                                    <m:t>𝑛</m:t>
                                  </m:r>
                                </m:sub>
                              </m:sSub>
                            </m:e>
                          </m:nary>
                        </m:e>
                      </m:nary>
                    </m:oMath>
                  </m:oMathPara>
                </a14:m>
                <a:endParaRPr lang="en-GB" dirty="0"/>
              </a:p>
              <a:p>
                <a:pPr marL="0" indent="0">
                  <a:buNone/>
                </a:pPr>
                <a:endParaRPr lang="en-GB" dirty="0"/>
              </a:p>
              <a:p>
                <a:pPr marL="0" indent="0">
                  <a:buNone/>
                </a:pPr>
                <a:r>
                  <a:rPr lang="en-GB" b="1" dirty="0"/>
                  <a:t>This operation is a weighted average of a pixel and its neighbouring pixels!</a:t>
                </a:r>
              </a:p>
            </p:txBody>
          </p:sp>
        </mc:Choice>
        <mc:Fallback xmlns="">
          <p:sp>
            <p:nvSpPr>
              <p:cNvPr id="14" name="Content Placeholder 2">
                <a:extLst>
                  <a:ext uri="{FF2B5EF4-FFF2-40B4-BE49-F238E27FC236}">
                    <a16:creationId xmlns:a16="http://schemas.microsoft.com/office/drawing/2014/main" id="{7B59F037-103B-22C1-0244-C1334FABB21D}"/>
                  </a:ext>
                </a:extLst>
              </p:cNvPr>
              <p:cNvSpPr>
                <a:spLocks noGrp="1" noRot="1" noChangeAspect="1" noMove="1" noResize="1" noEditPoints="1" noAdjustHandles="1" noChangeArrowheads="1" noChangeShapeType="1" noTextEdit="1"/>
              </p:cNvSpPr>
              <p:nvPr>
                <p:ph sz="half" idx="1"/>
              </p:nvPr>
            </p:nvSpPr>
            <p:spPr>
              <a:xfrm>
                <a:off x="838199" y="1825624"/>
                <a:ext cx="5757986" cy="5032375"/>
              </a:xfrm>
              <a:blipFill>
                <a:blip r:embed="rId7"/>
                <a:stretch>
                  <a:fillRect l="-2116" t="-1695" r="-2434"/>
                </a:stretch>
              </a:blipFill>
            </p:spPr>
            <p:txBody>
              <a:bodyPr/>
              <a:lstStyle/>
              <a:p>
                <a:r>
                  <a:rPr lang="en-SG">
                    <a:noFill/>
                  </a:rPr>
                  <a:t> </a:t>
                </a:r>
              </a:p>
            </p:txBody>
          </p:sp>
        </mc:Fallback>
      </mc:AlternateContent>
    </p:spTree>
    <p:extLst>
      <p:ext uri="{BB962C8B-B14F-4D97-AF65-F5344CB8AC3E}">
        <p14:creationId xmlns:p14="http://schemas.microsoft.com/office/powerpoint/2010/main" val="37088421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C51B9-1C83-B006-5EBD-5A0427C6F480}"/>
              </a:ext>
            </a:extLst>
          </p:cNvPr>
          <p:cNvSpPr>
            <a:spLocks noGrp="1"/>
          </p:cNvSpPr>
          <p:nvPr>
            <p:ph type="title"/>
          </p:nvPr>
        </p:nvSpPr>
        <p:spPr/>
        <p:txBody>
          <a:bodyPr/>
          <a:lstStyle/>
          <a:p>
            <a:r>
              <a:rPr lang="en-GB" dirty="0"/>
              <a:t>Introducing convolution!</a:t>
            </a:r>
            <a:endParaRPr lang="en-SG" dirty="0"/>
          </a:p>
        </p:txBody>
      </p:sp>
      <p:graphicFrame>
        <p:nvGraphicFramePr>
          <p:cNvPr id="6" name="Table 6">
            <a:extLst>
              <a:ext uri="{FF2B5EF4-FFF2-40B4-BE49-F238E27FC236}">
                <a16:creationId xmlns:a16="http://schemas.microsoft.com/office/drawing/2014/main" id="{92EDE3AF-8E7F-4B86-2425-4F993E81F45C}"/>
              </a:ext>
            </a:extLst>
          </p:cNvPr>
          <p:cNvGraphicFramePr>
            <a:graphicFrameLocks noGrp="1"/>
          </p:cNvGraphicFramePr>
          <p:nvPr/>
        </p:nvGraphicFramePr>
        <p:xfrm>
          <a:off x="8643816" y="539913"/>
          <a:ext cx="1800000" cy="18288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700703413"/>
                    </a:ext>
                  </a:extLst>
                </a:gridCol>
                <a:gridCol w="360000">
                  <a:extLst>
                    <a:ext uri="{9D8B030D-6E8A-4147-A177-3AD203B41FA5}">
                      <a16:colId xmlns:a16="http://schemas.microsoft.com/office/drawing/2014/main" val="1188093310"/>
                    </a:ext>
                  </a:extLst>
                </a:gridCol>
                <a:gridCol w="360000">
                  <a:extLst>
                    <a:ext uri="{9D8B030D-6E8A-4147-A177-3AD203B41FA5}">
                      <a16:colId xmlns:a16="http://schemas.microsoft.com/office/drawing/2014/main" val="4191100445"/>
                    </a:ext>
                  </a:extLst>
                </a:gridCol>
                <a:gridCol w="360000">
                  <a:extLst>
                    <a:ext uri="{9D8B030D-6E8A-4147-A177-3AD203B41FA5}">
                      <a16:colId xmlns:a16="http://schemas.microsoft.com/office/drawing/2014/main" val="3874915201"/>
                    </a:ext>
                  </a:extLst>
                </a:gridCol>
                <a:gridCol w="360000">
                  <a:extLst>
                    <a:ext uri="{9D8B030D-6E8A-4147-A177-3AD203B41FA5}">
                      <a16:colId xmlns:a16="http://schemas.microsoft.com/office/drawing/2014/main" val="3356821557"/>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509791817"/>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7</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777963115"/>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5</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3</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578879875"/>
                  </a:ext>
                </a:extLst>
              </a:tr>
              <a:tr h="360000">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1</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8</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696099757"/>
                  </a:ext>
                </a:extLst>
              </a:tr>
              <a:tr h="360000">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4</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8</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409685490"/>
                  </a:ext>
                </a:extLst>
              </a:tr>
            </a:tbl>
          </a:graphicData>
        </a:graphic>
      </p:graphicFrame>
      <p:graphicFrame>
        <p:nvGraphicFramePr>
          <p:cNvPr id="7" name="Table 7">
            <a:extLst>
              <a:ext uri="{FF2B5EF4-FFF2-40B4-BE49-F238E27FC236}">
                <a16:creationId xmlns:a16="http://schemas.microsoft.com/office/drawing/2014/main" id="{097D2466-E678-68BD-BE73-0A05DB2927E0}"/>
              </a:ext>
            </a:extLst>
          </p:cNvPr>
          <p:cNvGraphicFramePr>
            <a:graphicFrameLocks noGrp="1"/>
          </p:cNvGraphicFramePr>
          <p:nvPr/>
        </p:nvGraphicFramePr>
        <p:xfrm>
          <a:off x="9058032" y="2880360"/>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10625315"/>
                  </a:ext>
                </a:extLst>
              </a:tr>
              <a:tr h="360000">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0130699"/>
                  </a:ext>
                </a:extLst>
              </a:tr>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773086537"/>
                  </a:ext>
                </a:extLst>
              </a:tr>
            </a:tbl>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4FEDCA2-715E-8CCD-C69B-50F3EB70CB65}"/>
                  </a:ext>
                </a:extLst>
              </p:cNvPr>
              <p:cNvSpPr txBox="1"/>
              <p:nvPr/>
            </p:nvSpPr>
            <p:spPr>
              <a:xfrm>
                <a:off x="7791938" y="1195754"/>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B050"/>
                          </a:solidFill>
                          <a:latin typeface="Cambria Math" panose="02040503050406030204" pitchFamily="18" charset="0"/>
                        </a:rPr>
                        <m:t>𝑿</m:t>
                      </m:r>
                    </m:oMath>
                  </m:oMathPara>
                </a14:m>
                <a:endParaRPr lang="en-SG" sz="2800" b="1" dirty="0">
                  <a:solidFill>
                    <a:srgbClr val="00B050"/>
                  </a:solidFill>
                </a:endParaRPr>
              </a:p>
            </p:txBody>
          </p:sp>
        </mc:Choice>
        <mc:Fallback xmlns="">
          <p:sp>
            <p:nvSpPr>
              <p:cNvPr id="9" name="TextBox 8">
                <a:extLst>
                  <a:ext uri="{FF2B5EF4-FFF2-40B4-BE49-F238E27FC236}">
                    <a16:creationId xmlns:a16="http://schemas.microsoft.com/office/drawing/2014/main" id="{B4FEDCA2-715E-8CCD-C69B-50F3EB70CB65}"/>
                  </a:ext>
                </a:extLst>
              </p:cNvPr>
              <p:cNvSpPr txBox="1">
                <a:spLocks noRot="1" noChangeAspect="1" noMove="1" noResize="1" noEditPoints="1" noAdjustHandles="1" noChangeArrowheads="1" noChangeShapeType="1" noTextEdit="1"/>
              </p:cNvSpPr>
              <p:nvPr/>
            </p:nvSpPr>
            <p:spPr>
              <a:xfrm>
                <a:off x="7791938" y="1195754"/>
                <a:ext cx="648677" cy="523220"/>
              </a:xfrm>
              <a:prstGeom prst="rect">
                <a:avLst/>
              </a:prstGeom>
              <a:blipFill>
                <a:blip r:embed="rId2"/>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1CC23F9-3037-01D0-AB2C-3952CB2B1D42}"/>
                  </a:ext>
                </a:extLst>
              </p:cNvPr>
              <p:cNvSpPr txBox="1"/>
              <p:nvPr/>
            </p:nvSpPr>
            <p:spPr>
              <a:xfrm>
                <a:off x="7791937" y="3167390"/>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chemeClr val="accent2"/>
                          </a:solidFill>
                          <a:latin typeface="Cambria Math" panose="02040503050406030204" pitchFamily="18" charset="0"/>
                        </a:rPr>
                        <m:t>𝑲</m:t>
                      </m:r>
                    </m:oMath>
                  </m:oMathPara>
                </a14:m>
                <a:endParaRPr lang="en-SG" sz="2800" b="1" dirty="0">
                  <a:solidFill>
                    <a:schemeClr val="accent2"/>
                  </a:solidFill>
                </a:endParaRPr>
              </a:p>
            </p:txBody>
          </p:sp>
        </mc:Choice>
        <mc:Fallback xmlns="">
          <p:sp>
            <p:nvSpPr>
              <p:cNvPr id="10" name="TextBox 9">
                <a:extLst>
                  <a:ext uri="{FF2B5EF4-FFF2-40B4-BE49-F238E27FC236}">
                    <a16:creationId xmlns:a16="http://schemas.microsoft.com/office/drawing/2014/main" id="{21CC23F9-3037-01D0-AB2C-3952CB2B1D42}"/>
                  </a:ext>
                </a:extLst>
              </p:cNvPr>
              <p:cNvSpPr txBox="1">
                <a:spLocks noRot="1" noChangeAspect="1" noMove="1" noResize="1" noEditPoints="1" noAdjustHandles="1" noChangeArrowheads="1" noChangeShapeType="1" noTextEdit="1"/>
              </p:cNvSpPr>
              <p:nvPr/>
            </p:nvSpPr>
            <p:spPr>
              <a:xfrm>
                <a:off x="7791937" y="3167390"/>
                <a:ext cx="648677" cy="523220"/>
              </a:xfrm>
              <a:prstGeom prst="rect">
                <a:avLst/>
              </a:prstGeom>
              <a:blipFill>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5408004-0261-C7CE-BBF1-20C8725C5ACF}"/>
                  </a:ext>
                </a:extLst>
              </p:cNvPr>
              <p:cNvSpPr txBox="1"/>
              <p:nvPr/>
            </p:nvSpPr>
            <p:spPr>
              <a:xfrm>
                <a:off x="7791937" y="468748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70C0"/>
                          </a:solidFill>
                          <a:latin typeface="Cambria Math" panose="02040503050406030204" pitchFamily="18" charset="0"/>
                        </a:rPr>
                        <m:t>𝒀</m:t>
                      </m:r>
                    </m:oMath>
                  </m:oMathPara>
                </a14:m>
                <a:endParaRPr lang="en-SG" sz="2800" b="1" dirty="0">
                  <a:solidFill>
                    <a:srgbClr val="0070C0"/>
                  </a:solidFill>
                </a:endParaRPr>
              </a:p>
            </p:txBody>
          </p:sp>
        </mc:Choice>
        <mc:Fallback xmlns="">
          <p:sp>
            <p:nvSpPr>
              <p:cNvPr id="11" name="TextBox 10">
                <a:extLst>
                  <a:ext uri="{FF2B5EF4-FFF2-40B4-BE49-F238E27FC236}">
                    <a16:creationId xmlns:a16="http://schemas.microsoft.com/office/drawing/2014/main" id="{25408004-0261-C7CE-BBF1-20C8725C5ACF}"/>
                  </a:ext>
                </a:extLst>
              </p:cNvPr>
              <p:cNvSpPr txBox="1">
                <a:spLocks noRot="1" noChangeAspect="1" noMove="1" noResize="1" noEditPoints="1" noAdjustHandles="1" noChangeArrowheads="1" noChangeShapeType="1" noTextEdit="1"/>
              </p:cNvSpPr>
              <p:nvPr/>
            </p:nvSpPr>
            <p:spPr>
              <a:xfrm>
                <a:off x="7791937" y="4687482"/>
                <a:ext cx="648677" cy="523220"/>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AA9CD5B-49EA-F0FF-60AB-64DCDB08037A}"/>
                  </a:ext>
                </a:extLst>
              </p:cNvPr>
              <p:cNvSpPr txBox="1"/>
              <p:nvPr/>
            </p:nvSpPr>
            <p:spPr>
              <a:xfrm>
                <a:off x="10650417" y="539913"/>
                <a:ext cx="1320801" cy="31393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solidFill>
                            <a:srgbClr val="00B050"/>
                          </a:solidFill>
                          <a:latin typeface="Cambria Math" panose="02040503050406030204" pitchFamily="18" charset="0"/>
                        </a:rPr>
                        <m:t>5</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2</m:t>
                      </m:r>
                      <m:r>
                        <a:rPr lang="en-GB" i="1">
                          <a:latin typeface="Cambria Math" panose="02040503050406030204" pitchFamily="18" charset="0"/>
                        </a:rPr>
                        <m:t>×</m:t>
                      </m:r>
                      <m:r>
                        <a:rPr lang="en-GB" b="0" i="1" smtClean="0">
                          <a:solidFill>
                            <a:schemeClr val="accent2"/>
                          </a:solidFill>
                          <a:latin typeface="Cambria Math" panose="02040503050406030204" pitchFamily="18" charset="0"/>
                        </a:rPr>
                        <m:t>0</m:t>
                      </m:r>
                    </m:oMath>
                  </m:oMathPara>
                </a14:m>
                <a:endParaRPr lang="en-GB"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m:t>
                      </m:r>
                      <m:r>
                        <a:rPr lang="en-GB" b="0" i="1" smtClean="0">
                          <a:solidFill>
                            <a:srgbClr val="00B050"/>
                          </a:solidFill>
                          <a:latin typeface="Cambria Math" panose="02040503050406030204" pitchFamily="18" charset="0"/>
                        </a:rPr>
                        <m:t>3</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1</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0</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7</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2</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8</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2</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4</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0</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7</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lgn="ctr"/>
                <a14:m>
                  <m:oMath xmlns:m="http://schemas.openxmlformats.org/officeDocument/2006/math">
                    <m:r>
                      <a:rPr lang="en-GB" b="0" i="1" smtClean="0">
                        <a:solidFill>
                          <a:schemeClr val="tx1"/>
                        </a:solidFill>
                        <a:latin typeface="Cambria Math" panose="02040503050406030204" pitchFamily="18" charset="0"/>
                      </a:rPr>
                      <m:t>=</m:t>
                    </m:r>
                  </m:oMath>
                </a14:m>
                <a:r>
                  <a:rPr lang="en-SG" dirty="0"/>
                  <a:t> </a:t>
                </a:r>
                <a:r>
                  <a:rPr lang="en-SG" dirty="0">
                    <a:solidFill>
                      <a:srgbClr val="0070C0"/>
                    </a:solidFill>
                  </a:rPr>
                  <a:t>39</a:t>
                </a:r>
              </a:p>
              <a:p>
                <a:endParaRPr lang="en-SG" dirty="0"/>
              </a:p>
            </p:txBody>
          </p:sp>
        </mc:Choice>
        <mc:Fallback xmlns="">
          <p:sp>
            <p:nvSpPr>
              <p:cNvPr id="4" name="TextBox 3">
                <a:extLst>
                  <a:ext uri="{FF2B5EF4-FFF2-40B4-BE49-F238E27FC236}">
                    <a16:creationId xmlns:a16="http://schemas.microsoft.com/office/drawing/2014/main" id="{9AA9CD5B-49EA-F0FF-60AB-64DCDB08037A}"/>
                  </a:ext>
                </a:extLst>
              </p:cNvPr>
              <p:cNvSpPr txBox="1">
                <a:spLocks noRot="1" noChangeAspect="1" noMove="1" noResize="1" noEditPoints="1" noAdjustHandles="1" noChangeArrowheads="1" noChangeShapeType="1" noTextEdit="1"/>
              </p:cNvSpPr>
              <p:nvPr/>
            </p:nvSpPr>
            <p:spPr>
              <a:xfrm>
                <a:off x="10650417" y="539913"/>
                <a:ext cx="1320801" cy="3139321"/>
              </a:xfrm>
              <a:prstGeom prst="rect">
                <a:avLst/>
              </a:prstGeom>
              <a:blipFill>
                <a:blip r:embed="rId5"/>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ED6E9FB3-9A1D-D12E-5ED7-E88942AA371E}"/>
                  </a:ext>
                </a:extLst>
              </p:cNvPr>
              <p:cNvGraphicFramePr>
                <a:graphicFrameLocks noGrp="1"/>
              </p:cNvGraphicFramePr>
              <p:nvPr/>
            </p:nvGraphicFramePr>
            <p:xfrm>
              <a:off x="9058032" y="4400452"/>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pPr algn="ctr"/>
                          <a14:m>
                            <m:oMathPara xmlns:m="http://schemas.openxmlformats.org/officeDocument/2006/math">
                              <m:oMathParaPr>
                                <m:jc m:val="centerGroup"/>
                              </m:oMathParaPr>
                              <m:oMath xmlns:m="http://schemas.openxmlformats.org/officeDocument/2006/math">
                                <m:f>
                                  <m:fPr>
                                    <m:ctrlPr>
                                      <a:rPr lang="en-GB" b="1" i="1" dirty="0" smtClean="0">
                                        <a:solidFill>
                                          <a:schemeClr val="bg1"/>
                                        </a:solidFill>
                                        <a:latin typeface="Cambria Math" panose="02040503050406030204" pitchFamily="18" charset="0"/>
                                      </a:rPr>
                                    </m:ctrlPr>
                                  </m:fPr>
                                  <m:num>
                                    <m:r>
                                      <a:rPr lang="en-GB" b="1" i="1" dirty="0" smtClean="0">
                                        <a:solidFill>
                                          <a:schemeClr val="bg1"/>
                                        </a:solidFill>
                                        <a:latin typeface="Cambria Math" panose="02040503050406030204" pitchFamily="18" charset="0"/>
                                      </a:rPr>
                                      <m:t>𝟐𝟖</m:t>
                                    </m:r>
                                  </m:num>
                                  <m:den>
                                    <m:r>
                                      <a:rPr lang="en-GB" b="1" i="1" dirty="0" smtClean="0">
                                        <a:solidFill>
                                          <a:schemeClr val="bg1"/>
                                        </a:solidFill>
                                        <a:latin typeface="Cambria Math" panose="02040503050406030204" pitchFamily="18" charset="0"/>
                                      </a:rPr>
                                      <m:t>𝟗</m:t>
                                    </m:r>
                                  </m:den>
                                </m:f>
                              </m:oMath>
                            </m:oMathPara>
                          </a14:m>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14:m>
                            <m:oMathPara xmlns:m="http://schemas.openxmlformats.org/officeDocument/2006/math">
                              <m:oMathParaPr>
                                <m:jc m:val="centerGroup"/>
                              </m:oMathParaPr>
                              <m:oMath xmlns:m="http://schemas.openxmlformats.org/officeDocument/2006/math">
                                <m:f>
                                  <m:fPr>
                                    <m:ctrlPr>
                                      <a:rPr lang="en-GB" b="1" i="1" dirty="0" smtClean="0">
                                        <a:solidFill>
                                          <a:srgbClr val="FF0000"/>
                                        </a:solidFill>
                                        <a:latin typeface="Cambria Math" panose="02040503050406030204" pitchFamily="18" charset="0"/>
                                      </a:rPr>
                                    </m:ctrlPr>
                                  </m:fPr>
                                  <m:num>
                                    <m:r>
                                      <a:rPr lang="en-GB" b="1" i="1" dirty="0" smtClean="0">
                                        <a:solidFill>
                                          <a:srgbClr val="FF0000"/>
                                        </a:solidFill>
                                        <a:latin typeface="Cambria Math" panose="02040503050406030204" pitchFamily="18" charset="0"/>
                                      </a:rPr>
                                      <m:t>𝟑𝟗</m:t>
                                    </m:r>
                                  </m:num>
                                  <m:den>
                                    <m:r>
                                      <a:rPr lang="en-GB" b="1" i="1" dirty="0" smtClean="0">
                                        <a:solidFill>
                                          <a:srgbClr val="FF0000"/>
                                        </a:solidFill>
                                        <a:latin typeface="Cambria Math" panose="02040503050406030204" pitchFamily="18" charset="0"/>
                                      </a:rPr>
                                      <m:t>𝟗</m:t>
                                    </m:r>
                                  </m:den>
                                </m:f>
                              </m:oMath>
                            </m:oMathPara>
                          </a14:m>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Choice>
        <mc:Fallback xmlns="">
          <p:graphicFrame>
            <p:nvGraphicFramePr>
              <p:cNvPr id="5" name="Table 4">
                <a:extLst>
                  <a:ext uri="{FF2B5EF4-FFF2-40B4-BE49-F238E27FC236}">
                    <a16:creationId xmlns:a16="http://schemas.microsoft.com/office/drawing/2014/main" id="{ED6E9FB3-9A1D-D12E-5ED7-E88942AA371E}"/>
                  </a:ext>
                </a:extLst>
              </p:cNvPr>
              <p:cNvGraphicFramePr>
                <a:graphicFrameLocks noGrp="1"/>
              </p:cNvGraphicFramePr>
              <p:nvPr/>
            </p:nvGraphicFramePr>
            <p:xfrm>
              <a:off x="9058032" y="4400452"/>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40" t="-4202" r="-200840" b="-200840"/>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1695" t="-203361" r="-102542" b="-1681"/>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Fallback>
      </mc:AlternateContent>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7B59F037-103B-22C1-0244-C1334FABB21D}"/>
                  </a:ext>
                </a:extLst>
              </p:cNvPr>
              <p:cNvSpPr>
                <a:spLocks noGrp="1"/>
              </p:cNvSpPr>
              <p:nvPr>
                <p:ph sz="half" idx="1"/>
              </p:nvPr>
            </p:nvSpPr>
            <p:spPr>
              <a:xfrm>
                <a:off x="838199" y="1825624"/>
                <a:ext cx="5757986" cy="5032375"/>
              </a:xfrm>
            </p:spPr>
            <p:txBody>
              <a:bodyPr>
                <a:normAutofit/>
              </a:bodyPr>
              <a:lstStyle/>
              <a:p>
                <a:pPr marL="0" indent="0">
                  <a:buNone/>
                </a:pPr>
                <a:r>
                  <a:rPr lang="en-GB" b="1" dirty="0"/>
                  <a:t>Second</a:t>
                </a:r>
                <a:r>
                  <a:rPr lang="en-GB" dirty="0"/>
                  <a:t>, the pixel values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r>
                      <a:rPr lang="en-GB" i="1">
                        <a:latin typeface="Cambria Math" panose="02040503050406030204" pitchFamily="18" charset="0"/>
                      </a:rPr>
                      <m:t> </m:t>
                    </m:r>
                  </m:oMath>
                </a14:m>
                <a:r>
                  <a:rPr lang="en-GB" dirty="0"/>
                  <a:t>for image </a:t>
                </a:r>
                <a14:m>
                  <m:oMath xmlns:m="http://schemas.openxmlformats.org/officeDocument/2006/math">
                    <m:r>
                      <a:rPr lang="en-GB" i="1">
                        <a:latin typeface="Cambria Math" panose="02040503050406030204" pitchFamily="18" charset="0"/>
                      </a:rPr>
                      <m:t>𝑌</m:t>
                    </m:r>
                  </m:oMath>
                </a14:m>
                <a:r>
                  <a:rPr lang="en-GB" dirty="0"/>
                  <a:t> are calculated using the convolution operation, defining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oMath>
                </a14:m>
                <a:r>
                  <a:rPr lang="en-GB" dirty="0"/>
                  <a:t>,</a:t>
                </a:r>
                <a:br>
                  <a:rPr lang="en-GB" dirty="0"/>
                </a:br>
                <a14:m>
                  <m:oMath xmlns:m="http://schemas.openxmlformats.org/officeDocument/2006/math">
                    <m:r>
                      <a:rPr lang="en-GB" i="1">
                        <a:latin typeface="Cambria Math" panose="02040503050406030204" pitchFamily="18" charset="0"/>
                      </a:rPr>
                      <m:t>∀</m:t>
                    </m:r>
                    <m:r>
                      <a:rPr lang="en-GB" i="1">
                        <a:latin typeface="Cambria Math" panose="02040503050406030204" pitchFamily="18" charset="0"/>
                      </a:rPr>
                      <m:t>𝑖</m:t>
                    </m:r>
                    <m:r>
                      <a:rPr lang="en-GB" i="1">
                        <a:latin typeface="Cambria Math" panose="02040503050406030204" pitchFamily="18" charset="0"/>
                      </a:rPr>
                      <m:t>∈</m:t>
                    </m:r>
                    <m:d>
                      <m:dPr>
                        <m:begChr m:val="["/>
                        <m:endChr m:val="]"/>
                        <m:ctrlPr>
                          <a:rPr lang="en-GB" i="1">
                            <a:latin typeface="Cambria Math" panose="02040503050406030204" pitchFamily="18" charset="0"/>
                          </a:rPr>
                        </m:ctrlPr>
                      </m:dPr>
                      <m:e>
                        <m:r>
                          <a:rPr lang="en-GB" i="1">
                            <a:latin typeface="Cambria Math" panose="02040503050406030204" pitchFamily="18" charset="0"/>
                          </a:rPr>
                          <m:t>1, </m:t>
                        </m:r>
                        <m:sSup>
                          <m:sSupPr>
                            <m:ctrlPr>
                              <a:rPr lang="en-GB" i="1">
                                <a:latin typeface="Cambria Math" panose="02040503050406030204" pitchFamily="18" charset="0"/>
                              </a:rPr>
                            </m:ctrlPr>
                          </m:sSupPr>
                          <m:e>
                            <m:r>
                              <a:rPr lang="en-GB" i="1">
                                <a:latin typeface="Cambria Math" panose="02040503050406030204" pitchFamily="18" charset="0"/>
                              </a:rPr>
                              <m:t>h</m:t>
                            </m:r>
                          </m:e>
                          <m:sup>
                            <m:r>
                              <a:rPr lang="en-GB" i="1">
                                <a:latin typeface="Cambria Math" panose="02040503050406030204" pitchFamily="18" charset="0"/>
                              </a:rPr>
                              <m:t>′</m:t>
                            </m:r>
                          </m:sup>
                        </m:sSup>
                      </m:e>
                    </m:d>
                    <m:r>
                      <a:rPr lang="en-GB" i="1">
                        <a:latin typeface="Cambria Math" panose="02040503050406030204" pitchFamily="18" charset="0"/>
                      </a:rPr>
                      <m:t>, </m:t>
                    </m:r>
                    <m:r>
                      <a:rPr lang="en-GB" i="1">
                        <a:latin typeface="Cambria Math" panose="02040503050406030204" pitchFamily="18" charset="0"/>
                      </a:rPr>
                      <m:t>𝑗</m:t>
                    </m:r>
                    <m:r>
                      <a:rPr lang="en-GB" i="1">
                        <a:latin typeface="Cambria Math" panose="02040503050406030204" pitchFamily="18" charset="0"/>
                      </a:rPr>
                      <m:t>∈[1,</m:t>
                    </m:r>
                    <m:r>
                      <a:rPr lang="en-GB" i="1">
                        <a:latin typeface="Cambria Math" panose="02040503050406030204" pitchFamily="18" charset="0"/>
                      </a:rPr>
                      <m:t>𝑤</m:t>
                    </m:r>
                    <m:r>
                      <a:rPr lang="en-GB" i="1">
                        <a:latin typeface="Cambria Math" panose="02040503050406030204" pitchFamily="18" charset="0"/>
                      </a:rPr>
                      <m:t>′]</m:t>
                    </m:r>
                  </m:oMath>
                </a14:m>
                <a:r>
                  <a:rPr lang="en-GB" dirty="0"/>
                  <a:t> as:</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solidFill>
                                <a:srgbClr val="0070C0"/>
                              </a:solidFill>
                              <a:latin typeface="Cambria Math" panose="02040503050406030204" pitchFamily="18" charset="0"/>
                            </a:rPr>
                            <m:t>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r>
                        <a:rPr lang="en-GB" i="1">
                          <a:latin typeface="Cambria Math" panose="02040503050406030204" pitchFamily="18" charset="0"/>
                        </a:rPr>
                        <m:t>=</m:t>
                      </m:r>
                      <m:f>
                        <m:fPr>
                          <m:ctrlPr>
                            <a:rPr lang="en-GB" i="1" smtClean="0">
                              <a:solidFill>
                                <a:srgbClr val="FF0000"/>
                              </a:solidFill>
                              <a:latin typeface="Cambria Math" panose="02040503050406030204" pitchFamily="18" charset="0"/>
                            </a:rPr>
                          </m:ctrlPr>
                        </m:fPr>
                        <m:num>
                          <m:r>
                            <a:rPr lang="en-GB" i="1">
                              <a:solidFill>
                                <a:srgbClr val="FF0000"/>
                              </a:solidFill>
                              <a:latin typeface="Cambria Math" panose="02040503050406030204" pitchFamily="18" charset="0"/>
                            </a:rPr>
                            <m:t>1</m:t>
                          </m:r>
                        </m:num>
                        <m:den>
                          <m:sSup>
                            <m:sSupPr>
                              <m:ctrlPr>
                                <a:rPr lang="en-GB" i="1">
                                  <a:solidFill>
                                    <a:srgbClr val="FF0000"/>
                                  </a:solidFill>
                                  <a:latin typeface="Cambria Math" panose="02040503050406030204" pitchFamily="18" charset="0"/>
                                </a:rPr>
                              </m:ctrlPr>
                            </m:sSupPr>
                            <m:e>
                              <m:r>
                                <a:rPr lang="en-GB" i="1">
                                  <a:solidFill>
                                    <a:srgbClr val="FF0000"/>
                                  </a:solidFill>
                                  <a:latin typeface="Cambria Math" panose="02040503050406030204" pitchFamily="18" charset="0"/>
                                </a:rPr>
                                <m:t>𝑘</m:t>
                              </m:r>
                            </m:e>
                            <m:sup>
                              <m:r>
                                <a:rPr lang="en-GB" i="1">
                                  <a:solidFill>
                                    <a:srgbClr val="FF0000"/>
                                  </a:solidFill>
                                  <a:latin typeface="Cambria Math" panose="02040503050406030204" pitchFamily="18" charset="0"/>
                                </a:rPr>
                                <m:t>2</m:t>
                              </m:r>
                            </m:sup>
                          </m:sSup>
                        </m:den>
                      </m:f>
                      <m:nary>
                        <m:naryPr>
                          <m:chr m:val="∑"/>
                          <m:ctrlPr>
                            <a:rPr lang="en-GB" i="1">
                              <a:latin typeface="Cambria Math" panose="02040503050406030204" pitchFamily="18" charset="0"/>
                            </a:rPr>
                          </m:ctrlPr>
                        </m:naryPr>
                        <m:sub>
                          <m:r>
                            <a:rPr lang="en-GB" i="1">
                              <a:latin typeface="Cambria Math" panose="02040503050406030204" pitchFamily="18" charset="0"/>
                            </a:rPr>
                            <m:t>𝑚</m:t>
                          </m:r>
                          <m:r>
                            <a:rPr lang="en-GB" i="1">
                              <a:latin typeface="Cambria Math" panose="02040503050406030204" pitchFamily="18" charset="0"/>
                            </a:rPr>
                            <m:t>=1</m:t>
                          </m:r>
                        </m:sub>
                        <m:sup>
                          <m:r>
                            <a:rPr lang="en-GB" i="1">
                              <a:latin typeface="Cambria Math" panose="02040503050406030204" pitchFamily="18" charset="0"/>
                            </a:rPr>
                            <m:t>𝑘</m:t>
                          </m:r>
                        </m:sup>
                        <m:e>
                          <m:nary>
                            <m:naryPr>
                              <m:chr m:val="∑"/>
                              <m:ctrlPr>
                                <a:rPr lang="en-GB" i="1">
                                  <a:latin typeface="Cambria Math" panose="02040503050406030204" pitchFamily="18" charset="0"/>
                                </a:rPr>
                              </m:ctrlPr>
                            </m:naryPr>
                            <m:sub>
                              <m:r>
                                <a:rPr lang="en-GB" i="1">
                                  <a:latin typeface="Cambria Math" panose="02040503050406030204" pitchFamily="18" charset="0"/>
                                </a:rPr>
                                <m:t>𝑛</m:t>
                              </m:r>
                              <m:r>
                                <a:rPr lang="en-GB" i="1">
                                  <a:latin typeface="Cambria Math" panose="02040503050406030204" pitchFamily="18" charset="0"/>
                                </a:rPr>
                                <m:t>=1</m:t>
                              </m:r>
                            </m:sub>
                            <m:sup>
                              <m:r>
                                <a:rPr lang="en-GB" i="1">
                                  <a:latin typeface="Cambria Math" panose="02040503050406030204" pitchFamily="18" charset="0"/>
                                </a:rPr>
                                <m:t>𝑘</m:t>
                              </m:r>
                            </m:sup>
                            <m:e>
                              <m:sSub>
                                <m:sSubPr>
                                  <m:ctrlPr>
                                    <a:rPr lang="en-GB" i="1">
                                      <a:latin typeface="Cambria Math" panose="02040503050406030204" pitchFamily="18" charset="0"/>
                                    </a:rPr>
                                  </m:ctrlPr>
                                </m:sSubPr>
                                <m:e>
                                  <m:r>
                                    <a:rPr lang="en-GB" i="1">
                                      <a:solidFill>
                                        <a:srgbClr val="00B050"/>
                                      </a:solidFill>
                                      <a:latin typeface="Cambria Math" panose="02040503050406030204" pitchFamily="18" charset="0"/>
                                    </a:rPr>
                                    <m:t>𝑋</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𝑚</m:t>
                                  </m:r>
                                  <m:r>
                                    <a:rPr lang="en-GB" i="1">
                                      <a:latin typeface="Cambria Math" panose="02040503050406030204" pitchFamily="18" charset="0"/>
                                    </a:rPr>
                                    <m:t>−1,   </m:t>
                                  </m:r>
                                  <m:r>
                                    <a:rPr lang="en-GB" i="1">
                                      <a:latin typeface="Cambria Math" panose="02040503050406030204" pitchFamily="18" charset="0"/>
                                    </a:rPr>
                                    <m:t>𝑗</m:t>
                                  </m:r>
                                  <m:r>
                                    <a:rPr lang="en-GB" i="1">
                                      <a:latin typeface="Cambria Math" panose="02040503050406030204" pitchFamily="18" charset="0"/>
                                    </a:rPr>
                                    <m:t>+</m:t>
                                  </m:r>
                                  <m:r>
                                    <a:rPr lang="en-GB" i="1">
                                      <a:latin typeface="Cambria Math" panose="02040503050406030204" pitchFamily="18" charset="0"/>
                                    </a:rPr>
                                    <m:t>𝑛</m:t>
                                  </m:r>
                                  <m:r>
                                    <a:rPr lang="en-GB" i="1">
                                      <a:latin typeface="Cambria Math" panose="02040503050406030204" pitchFamily="18" charset="0"/>
                                    </a:rPr>
                                    <m:t>−1</m:t>
                                  </m:r>
                                </m:sub>
                              </m:sSub>
                              <m:r>
                                <m:rPr>
                                  <m:nor/>
                                </m:rPr>
                                <a:rPr lang="en-SG"/>
                                <m:t> </m:t>
                              </m:r>
                              <m:sSub>
                                <m:sSubPr>
                                  <m:ctrlPr>
                                    <a:rPr lang="en-GB" i="1">
                                      <a:latin typeface="Cambria Math" panose="02040503050406030204" pitchFamily="18" charset="0"/>
                                    </a:rPr>
                                  </m:ctrlPr>
                                </m:sSubPr>
                                <m:e>
                                  <m:r>
                                    <a:rPr lang="en-GB" i="1">
                                      <a:solidFill>
                                        <a:schemeClr val="accent2"/>
                                      </a:solidFill>
                                      <a:latin typeface="Cambria Math" panose="02040503050406030204" pitchFamily="18" charset="0"/>
                                    </a:rPr>
                                    <m:t>𝐾</m:t>
                                  </m:r>
                                </m:e>
                                <m:sub>
                                  <m:r>
                                    <a:rPr lang="en-GB" i="1">
                                      <a:latin typeface="Cambria Math" panose="02040503050406030204" pitchFamily="18" charset="0"/>
                                    </a:rPr>
                                    <m:t>𝑚</m:t>
                                  </m:r>
                                  <m:r>
                                    <a:rPr lang="en-GB" i="1">
                                      <a:latin typeface="Cambria Math" panose="02040503050406030204" pitchFamily="18" charset="0"/>
                                    </a:rPr>
                                    <m:t>,</m:t>
                                  </m:r>
                                  <m:r>
                                    <a:rPr lang="en-GB" i="1">
                                      <a:latin typeface="Cambria Math" panose="02040503050406030204" pitchFamily="18" charset="0"/>
                                    </a:rPr>
                                    <m:t>𝑛</m:t>
                                  </m:r>
                                </m:sub>
                              </m:sSub>
                            </m:e>
                          </m:nary>
                        </m:e>
                      </m:nary>
                    </m:oMath>
                  </m:oMathPara>
                </a14:m>
                <a:endParaRPr lang="en-GB" dirty="0"/>
              </a:p>
              <a:p>
                <a:pPr marL="0" indent="0">
                  <a:buNone/>
                </a:pPr>
                <a:endParaRPr lang="en-GB" dirty="0"/>
              </a:p>
            </p:txBody>
          </p:sp>
        </mc:Choice>
        <mc:Fallback xmlns="">
          <p:sp>
            <p:nvSpPr>
              <p:cNvPr id="14" name="Content Placeholder 2">
                <a:extLst>
                  <a:ext uri="{FF2B5EF4-FFF2-40B4-BE49-F238E27FC236}">
                    <a16:creationId xmlns:a16="http://schemas.microsoft.com/office/drawing/2014/main" id="{7B59F037-103B-22C1-0244-C1334FABB21D}"/>
                  </a:ext>
                </a:extLst>
              </p:cNvPr>
              <p:cNvSpPr>
                <a:spLocks noGrp="1" noRot="1" noChangeAspect="1" noMove="1" noResize="1" noEditPoints="1" noAdjustHandles="1" noChangeArrowheads="1" noChangeShapeType="1" noTextEdit="1"/>
              </p:cNvSpPr>
              <p:nvPr>
                <p:ph sz="half" idx="1"/>
              </p:nvPr>
            </p:nvSpPr>
            <p:spPr>
              <a:xfrm>
                <a:off x="838199" y="1825624"/>
                <a:ext cx="5757986" cy="5032375"/>
              </a:xfrm>
              <a:blipFill>
                <a:blip r:embed="rId7"/>
                <a:stretch>
                  <a:fillRect l="-2116" t="-1695" r="-2434"/>
                </a:stretch>
              </a:blipFill>
            </p:spPr>
            <p:txBody>
              <a:bodyPr/>
              <a:lstStyle/>
              <a:p>
                <a:r>
                  <a:rPr lang="en-SG">
                    <a:noFill/>
                  </a:rPr>
                  <a:t> </a:t>
                </a:r>
              </a:p>
            </p:txBody>
          </p:sp>
        </mc:Fallback>
      </mc:AlternateContent>
      <p:sp>
        <p:nvSpPr>
          <p:cNvPr id="3" name="TextBox 2">
            <a:extLst>
              <a:ext uri="{FF2B5EF4-FFF2-40B4-BE49-F238E27FC236}">
                <a16:creationId xmlns:a16="http://schemas.microsoft.com/office/drawing/2014/main" id="{42F19C81-1A92-C8D6-51B8-B25290D7DDC9}"/>
              </a:ext>
            </a:extLst>
          </p:cNvPr>
          <p:cNvSpPr txBox="1"/>
          <p:nvPr/>
        </p:nvSpPr>
        <p:spPr>
          <a:xfrm>
            <a:off x="234461" y="5345638"/>
            <a:ext cx="7963877" cy="1384995"/>
          </a:xfrm>
          <a:prstGeom prst="rect">
            <a:avLst/>
          </a:prstGeom>
          <a:noFill/>
        </p:spPr>
        <p:txBody>
          <a:bodyPr wrap="square" rtlCol="0">
            <a:spAutoFit/>
          </a:bodyPr>
          <a:lstStyle/>
          <a:p>
            <a:pPr marL="0" indent="0">
              <a:buNone/>
            </a:pPr>
            <a:r>
              <a:rPr lang="en-GB" sz="2800" b="1" dirty="0"/>
              <a:t>Note: </a:t>
            </a:r>
            <a:r>
              <a:rPr lang="en-GB" sz="2800" dirty="0"/>
              <a:t>Sometimes, the </a:t>
            </a:r>
            <a:r>
              <a:rPr lang="en-GB" sz="2800" b="1" dirty="0">
                <a:solidFill>
                  <a:srgbClr val="FF0000"/>
                </a:solidFill>
              </a:rPr>
              <a:t>normalization</a:t>
            </a:r>
            <a:r>
              <a:rPr lang="en-GB" sz="2800" dirty="0"/>
              <a:t> </a:t>
            </a:r>
            <a:r>
              <a:rPr lang="en-GB" sz="2800" b="1" dirty="0">
                <a:solidFill>
                  <a:srgbClr val="FF0000"/>
                </a:solidFill>
              </a:rPr>
              <a:t>term</a:t>
            </a:r>
            <a:r>
              <a:rPr lang="en-GB" sz="2800" dirty="0"/>
              <a:t> is removed and we may instead </a:t>
            </a:r>
            <a:r>
              <a:rPr lang="en-GB" sz="2800" b="1" dirty="0"/>
              <a:t>normalize</a:t>
            </a:r>
            <a:r>
              <a:rPr lang="en-GB" sz="2800" dirty="0"/>
              <a:t> </a:t>
            </a:r>
            <a:r>
              <a:rPr lang="en-GB" sz="2800" b="1" dirty="0"/>
              <a:t>the</a:t>
            </a:r>
            <a:r>
              <a:rPr lang="en-GB" sz="2800" dirty="0"/>
              <a:t> </a:t>
            </a:r>
            <a:r>
              <a:rPr lang="en-GB" sz="2800" b="1" dirty="0"/>
              <a:t>kernel</a:t>
            </a:r>
            <a:r>
              <a:rPr lang="en-GB" sz="2800" dirty="0"/>
              <a:t> (ensuring elements in kernel matrix sum up to 1), or not.</a:t>
            </a:r>
          </a:p>
        </p:txBody>
      </p:sp>
      <p:cxnSp>
        <p:nvCxnSpPr>
          <p:cNvPr id="12" name="Straight Connector 11">
            <a:extLst>
              <a:ext uri="{FF2B5EF4-FFF2-40B4-BE49-F238E27FC236}">
                <a16:creationId xmlns:a16="http://schemas.microsoft.com/office/drawing/2014/main" id="{4C384981-E4CB-DF89-ED45-D6F6C86983E3}"/>
              </a:ext>
            </a:extLst>
          </p:cNvPr>
          <p:cNvCxnSpPr/>
          <p:nvPr/>
        </p:nvCxnSpPr>
        <p:spPr>
          <a:xfrm flipH="1">
            <a:off x="1805354" y="4032738"/>
            <a:ext cx="515815" cy="100037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95555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C51B9-1C83-B006-5EBD-5A0427C6F480}"/>
              </a:ext>
            </a:extLst>
          </p:cNvPr>
          <p:cNvSpPr>
            <a:spLocks noGrp="1"/>
          </p:cNvSpPr>
          <p:nvPr>
            <p:ph type="title"/>
          </p:nvPr>
        </p:nvSpPr>
        <p:spPr/>
        <p:txBody>
          <a:bodyPr/>
          <a:lstStyle/>
          <a:p>
            <a:r>
              <a:rPr lang="en-GB" dirty="0"/>
              <a:t>Introducing convolution!</a:t>
            </a:r>
            <a:endParaRPr lang="en-SG" dirty="0"/>
          </a:p>
        </p:txBody>
      </p:sp>
      <p:graphicFrame>
        <p:nvGraphicFramePr>
          <p:cNvPr id="6" name="Table 6">
            <a:extLst>
              <a:ext uri="{FF2B5EF4-FFF2-40B4-BE49-F238E27FC236}">
                <a16:creationId xmlns:a16="http://schemas.microsoft.com/office/drawing/2014/main" id="{92EDE3AF-8E7F-4B86-2425-4F993E81F45C}"/>
              </a:ext>
            </a:extLst>
          </p:cNvPr>
          <p:cNvGraphicFramePr>
            <a:graphicFrameLocks noGrp="1"/>
          </p:cNvGraphicFramePr>
          <p:nvPr/>
        </p:nvGraphicFramePr>
        <p:xfrm>
          <a:off x="8643816" y="539913"/>
          <a:ext cx="1800000" cy="18288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700703413"/>
                    </a:ext>
                  </a:extLst>
                </a:gridCol>
                <a:gridCol w="360000">
                  <a:extLst>
                    <a:ext uri="{9D8B030D-6E8A-4147-A177-3AD203B41FA5}">
                      <a16:colId xmlns:a16="http://schemas.microsoft.com/office/drawing/2014/main" val="1188093310"/>
                    </a:ext>
                  </a:extLst>
                </a:gridCol>
                <a:gridCol w="360000">
                  <a:extLst>
                    <a:ext uri="{9D8B030D-6E8A-4147-A177-3AD203B41FA5}">
                      <a16:colId xmlns:a16="http://schemas.microsoft.com/office/drawing/2014/main" val="4191100445"/>
                    </a:ext>
                  </a:extLst>
                </a:gridCol>
                <a:gridCol w="360000">
                  <a:extLst>
                    <a:ext uri="{9D8B030D-6E8A-4147-A177-3AD203B41FA5}">
                      <a16:colId xmlns:a16="http://schemas.microsoft.com/office/drawing/2014/main" val="3874915201"/>
                    </a:ext>
                  </a:extLst>
                </a:gridCol>
                <a:gridCol w="360000">
                  <a:extLst>
                    <a:ext uri="{9D8B030D-6E8A-4147-A177-3AD203B41FA5}">
                      <a16:colId xmlns:a16="http://schemas.microsoft.com/office/drawing/2014/main" val="3356821557"/>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509791817"/>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7</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777963115"/>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5</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3</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578879875"/>
                  </a:ext>
                </a:extLst>
              </a:tr>
              <a:tr h="360000">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1</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8</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696099757"/>
                  </a:ext>
                </a:extLst>
              </a:tr>
              <a:tr h="360000">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4</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8</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409685490"/>
                  </a:ext>
                </a:extLst>
              </a:tr>
            </a:tbl>
          </a:graphicData>
        </a:graphic>
      </p:graphicFrame>
      <p:graphicFrame>
        <p:nvGraphicFramePr>
          <p:cNvPr id="7" name="Table 7">
            <a:extLst>
              <a:ext uri="{FF2B5EF4-FFF2-40B4-BE49-F238E27FC236}">
                <a16:creationId xmlns:a16="http://schemas.microsoft.com/office/drawing/2014/main" id="{097D2466-E678-68BD-BE73-0A05DB2927E0}"/>
              </a:ext>
            </a:extLst>
          </p:cNvPr>
          <p:cNvGraphicFramePr>
            <a:graphicFrameLocks noGrp="1"/>
          </p:cNvGraphicFramePr>
          <p:nvPr/>
        </p:nvGraphicFramePr>
        <p:xfrm>
          <a:off x="9058032" y="2880360"/>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10625315"/>
                  </a:ext>
                </a:extLst>
              </a:tr>
              <a:tr h="360000">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0130699"/>
                  </a:ext>
                </a:extLst>
              </a:tr>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773086537"/>
                  </a:ext>
                </a:extLst>
              </a:tr>
            </a:tbl>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4FEDCA2-715E-8CCD-C69B-50F3EB70CB65}"/>
                  </a:ext>
                </a:extLst>
              </p:cNvPr>
              <p:cNvSpPr txBox="1"/>
              <p:nvPr/>
            </p:nvSpPr>
            <p:spPr>
              <a:xfrm>
                <a:off x="7791938" y="1195754"/>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B050"/>
                          </a:solidFill>
                          <a:latin typeface="Cambria Math" panose="02040503050406030204" pitchFamily="18" charset="0"/>
                        </a:rPr>
                        <m:t>𝑿</m:t>
                      </m:r>
                    </m:oMath>
                  </m:oMathPara>
                </a14:m>
                <a:endParaRPr lang="en-SG" sz="2800" b="1" dirty="0">
                  <a:solidFill>
                    <a:srgbClr val="00B050"/>
                  </a:solidFill>
                </a:endParaRPr>
              </a:p>
            </p:txBody>
          </p:sp>
        </mc:Choice>
        <mc:Fallback xmlns="">
          <p:sp>
            <p:nvSpPr>
              <p:cNvPr id="9" name="TextBox 8">
                <a:extLst>
                  <a:ext uri="{FF2B5EF4-FFF2-40B4-BE49-F238E27FC236}">
                    <a16:creationId xmlns:a16="http://schemas.microsoft.com/office/drawing/2014/main" id="{B4FEDCA2-715E-8CCD-C69B-50F3EB70CB65}"/>
                  </a:ext>
                </a:extLst>
              </p:cNvPr>
              <p:cNvSpPr txBox="1">
                <a:spLocks noRot="1" noChangeAspect="1" noMove="1" noResize="1" noEditPoints="1" noAdjustHandles="1" noChangeArrowheads="1" noChangeShapeType="1" noTextEdit="1"/>
              </p:cNvSpPr>
              <p:nvPr/>
            </p:nvSpPr>
            <p:spPr>
              <a:xfrm>
                <a:off x="7791938" y="1195754"/>
                <a:ext cx="648677" cy="523220"/>
              </a:xfrm>
              <a:prstGeom prst="rect">
                <a:avLst/>
              </a:prstGeom>
              <a:blipFill>
                <a:blip r:embed="rId2"/>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1CC23F9-3037-01D0-AB2C-3952CB2B1D42}"/>
                  </a:ext>
                </a:extLst>
              </p:cNvPr>
              <p:cNvSpPr txBox="1"/>
              <p:nvPr/>
            </p:nvSpPr>
            <p:spPr>
              <a:xfrm>
                <a:off x="7791937" y="3167390"/>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chemeClr val="accent2"/>
                          </a:solidFill>
                          <a:latin typeface="Cambria Math" panose="02040503050406030204" pitchFamily="18" charset="0"/>
                        </a:rPr>
                        <m:t>𝑲</m:t>
                      </m:r>
                    </m:oMath>
                  </m:oMathPara>
                </a14:m>
                <a:endParaRPr lang="en-SG" sz="2800" b="1" dirty="0">
                  <a:solidFill>
                    <a:schemeClr val="accent2"/>
                  </a:solidFill>
                </a:endParaRPr>
              </a:p>
            </p:txBody>
          </p:sp>
        </mc:Choice>
        <mc:Fallback xmlns="">
          <p:sp>
            <p:nvSpPr>
              <p:cNvPr id="10" name="TextBox 9">
                <a:extLst>
                  <a:ext uri="{FF2B5EF4-FFF2-40B4-BE49-F238E27FC236}">
                    <a16:creationId xmlns:a16="http://schemas.microsoft.com/office/drawing/2014/main" id="{21CC23F9-3037-01D0-AB2C-3952CB2B1D42}"/>
                  </a:ext>
                </a:extLst>
              </p:cNvPr>
              <p:cNvSpPr txBox="1">
                <a:spLocks noRot="1" noChangeAspect="1" noMove="1" noResize="1" noEditPoints="1" noAdjustHandles="1" noChangeArrowheads="1" noChangeShapeType="1" noTextEdit="1"/>
              </p:cNvSpPr>
              <p:nvPr/>
            </p:nvSpPr>
            <p:spPr>
              <a:xfrm>
                <a:off x="7791937" y="3167390"/>
                <a:ext cx="648677" cy="523220"/>
              </a:xfrm>
              <a:prstGeom prst="rect">
                <a:avLst/>
              </a:prstGeom>
              <a:blipFill>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5408004-0261-C7CE-BBF1-20C8725C5ACF}"/>
                  </a:ext>
                </a:extLst>
              </p:cNvPr>
              <p:cNvSpPr txBox="1"/>
              <p:nvPr/>
            </p:nvSpPr>
            <p:spPr>
              <a:xfrm>
                <a:off x="7791937" y="468748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70C0"/>
                          </a:solidFill>
                          <a:latin typeface="Cambria Math" panose="02040503050406030204" pitchFamily="18" charset="0"/>
                        </a:rPr>
                        <m:t>𝒀</m:t>
                      </m:r>
                    </m:oMath>
                  </m:oMathPara>
                </a14:m>
                <a:endParaRPr lang="en-SG" sz="2800" b="1" dirty="0">
                  <a:solidFill>
                    <a:srgbClr val="0070C0"/>
                  </a:solidFill>
                </a:endParaRPr>
              </a:p>
            </p:txBody>
          </p:sp>
        </mc:Choice>
        <mc:Fallback xmlns="">
          <p:sp>
            <p:nvSpPr>
              <p:cNvPr id="11" name="TextBox 10">
                <a:extLst>
                  <a:ext uri="{FF2B5EF4-FFF2-40B4-BE49-F238E27FC236}">
                    <a16:creationId xmlns:a16="http://schemas.microsoft.com/office/drawing/2014/main" id="{25408004-0261-C7CE-BBF1-20C8725C5ACF}"/>
                  </a:ext>
                </a:extLst>
              </p:cNvPr>
              <p:cNvSpPr txBox="1">
                <a:spLocks noRot="1" noChangeAspect="1" noMove="1" noResize="1" noEditPoints="1" noAdjustHandles="1" noChangeArrowheads="1" noChangeShapeType="1" noTextEdit="1"/>
              </p:cNvSpPr>
              <p:nvPr/>
            </p:nvSpPr>
            <p:spPr>
              <a:xfrm>
                <a:off x="7791937" y="4687482"/>
                <a:ext cx="648677" cy="523220"/>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AA9CD5B-49EA-F0FF-60AB-64DCDB08037A}"/>
                  </a:ext>
                </a:extLst>
              </p:cNvPr>
              <p:cNvSpPr txBox="1"/>
              <p:nvPr/>
            </p:nvSpPr>
            <p:spPr>
              <a:xfrm>
                <a:off x="10650417" y="539913"/>
                <a:ext cx="1320801" cy="31393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solidFill>
                            <a:srgbClr val="00B050"/>
                          </a:solidFill>
                          <a:latin typeface="Cambria Math" panose="02040503050406030204" pitchFamily="18" charset="0"/>
                        </a:rPr>
                        <m:t>5</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2</m:t>
                      </m:r>
                      <m:r>
                        <a:rPr lang="en-GB" i="1">
                          <a:latin typeface="Cambria Math" panose="02040503050406030204" pitchFamily="18" charset="0"/>
                        </a:rPr>
                        <m:t>×</m:t>
                      </m:r>
                      <m:r>
                        <a:rPr lang="en-GB" b="0" i="1" smtClean="0">
                          <a:solidFill>
                            <a:schemeClr val="accent2"/>
                          </a:solidFill>
                          <a:latin typeface="Cambria Math" panose="02040503050406030204" pitchFamily="18" charset="0"/>
                        </a:rPr>
                        <m:t>0</m:t>
                      </m:r>
                    </m:oMath>
                  </m:oMathPara>
                </a14:m>
                <a:endParaRPr lang="en-GB"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m:t>
                      </m:r>
                      <m:r>
                        <a:rPr lang="en-GB" b="0" i="1" smtClean="0">
                          <a:solidFill>
                            <a:srgbClr val="00B050"/>
                          </a:solidFill>
                          <a:latin typeface="Cambria Math" panose="02040503050406030204" pitchFamily="18" charset="0"/>
                        </a:rPr>
                        <m:t>3</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1</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0</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7</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2</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8</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2</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4</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0</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7</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lgn="ctr"/>
                <a14:m>
                  <m:oMath xmlns:m="http://schemas.openxmlformats.org/officeDocument/2006/math">
                    <m:r>
                      <a:rPr lang="en-GB" b="0" i="1" smtClean="0">
                        <a:solidFill>
                          <a:schemeClr val="tx1"/>
                        </a:solidFill>
                        <a:latin typeface="Cambria Math" panose="02040503050406030204" pitchFamily="18" charset="0"/>
                      </a:rPr>
                      <m:t>=</m:t>
                    </m:r>
                  </m:oMath>
                </a14:m>
                <a:r>
                  <a:rPr lang="en-SG" dirty="0"/>
                  <a:t> </a:t>
                </a:r>
                <a:r>
                  <a:rPr lang="en-SG" dirty="0">
                    <a:solidFill>
                      <a:srgbClr val="0070C0"/>
                    </a:solidFill>
                  </a:rPr>
                  <a:t>39</a:t>
                </a:r>
              </a:p>
              <a:p>
                <a:endParaRPr lang="en-SG" dirty="0"/>
              </a:p>
            </p:txBody>
          </p:sp>
        </mc:Choice>
        <mc:Fallback xmlns="">
          <p:sp>
            <p:nvSpPr>
              <p:cNvPr id="4" name="TextBox 3">
                <a:extLst>
                  <a:ext uri="{FF2B5EF4-FFF2-40B4-BE49-F238E27FC236}">
                    <a16:creationId xmlns:a16="http://schemas.microsoft.com/office/drawing/2014/main" id="{9AA9CD5B-49EA-F0FF-60AB-64DCDB08037A}"/>
                  </a:ext>
                </a:extLst>
              </p:cNvPr>
              <p:cNvSpPr txBox="1">
                <a:spLocks noRot="1" noChangeAspect="1" noMove="1" noResize="1" noEditPoints="1" noAdjustHandles="1" noChangeArrowheads="1" noChangeShapeType="1" noTextEdit="1"/>
              </p:cNvSpPr>
              <p:nvPr/>
            </p:nvSpPr>
            <p:spPr>
              <a:xfrm>
                <a:off x="10650417" y="539913"/>
                <a:ext cx="1320801" cy="3139321"/>
              </a:xfrm>
              <a:prstGeom prst="rect">
                <a:avLst/>
              </a:prstGeom>
              <a:blipFill>
                <a:blip r:embed="rId5"/>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ED6E9FB3-9A1D-D12E-5ED7-E88942AA371E}"/>
                  </a:ext>
                </a:extLst>
              </p:cNvPr>
              <p:cNvGraphicFramePr>
                <a:graphicFrameLocks noGrp="1"/>
              </p:cNvGraphicFramePr>
              <p:nvPr/>
            </p:nvGraphicFramePr>
            <p:xfrm>
              <a:off x="9058032" y="4400452"/>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pPr algn="ctr"/>
                          <a14:m>
                            <m:oMathPara xmlns:m="http://schemas.openxmlformats.org/officeDocument/2006/math">
                              <m:oMathParaPr>
                                <m:jc m:val="centerGroup"/>
                              </m:oMathParaPr>
                              <m:oMath xmlns:m="http://schemas.openxmlformats.org/officeDocument/2006/math">
                                <m:f>
                                  <m:fPr>
                                    <m:ctrlPr>
                                      <a:rPr lang="en-GB" b="1" i="1" dirty="0" smtClean="0">
                                        <a:solidFill>
                                          <a:schemeClr val="bg1"/>
                                        </a:solidFill>
                                        <a:latin typeface="Cambria Math" panose="02040503050406030204" pitchFamily="18" charset="0"/>
                                      </a:rPr>
                                    </m:ctrlPr>
                                  </m:fPr>
                                  <m:num>
                                    <m:r>
                                      <a:rPr lang="en-GB" b="1" i="1" dirty="0" smtClean="0">
                                        <a:solidFill>
                                          <a:schemeClr val="bg1"/>
                                        </a:solidFill>
                                        <a:latin typeface="Cambria Math" panose="02040503050406030204" pitchFamily="18" charset="0"/>
                                      </a:rPr>
                                      <m:t>𝟐𝟖</m:t>
                                    </m:r>
                                  </m:num>
                                  <m:den>
                                    <m:r>
                                      <a:rPr lang="en-GB" b="1" i="1" dirty="0" smtClean="0">
                                        <a:solidFill>
                                          <a:schemeClr val="bg1"/>
                                        </a:solidFill>
                                        <a:latin typeface="Cambria Math" panose="02040503050406030204" pitchFamily="18" charset="0"/>
                                      </a:rPr>
                                      <m:t>𝟗</m:t>
                                    </m:r>
                                  </m:den>
                                </m:f>
                              </m:oMath>
                            </m:oMathPara>
                          </a14:m>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14:m>
                            <m:oMathPara xmlns:m="http://schemas.openxmlformats.org/officeDocument/2006/math">
                              <m:oMathParaPr>
                                <m:jc m:val="centerGroup"/>
                              </m:oMathParaPr>
                              <m:oMath xmlns:m="http://schemas.openxmlformats.org/officeDocument/2006/math">
                                <m:f>
                                  <m:fPr>
                                    <m:ctrlPr>
                                      <a:rPr lang="en-GB" b="1" i="1" dirty="0" smtClean="0">
                                        <a:solidFill>
                                          <a:srgbClr val="FF0000"/>
                                        </a:solidFill>
                                        <a:latin typeface="Cambria Math" panose="02040503050406030204" pitchFamily="18" charset="0"/>
                                      </a:rPr>
                                    </m:ctrlPr>
                                  </m:fPr>
                                  <m:num>
                                    <m:r>
                                      <a:rPr lang="en-GB" b="1" i="1" dirty="0" smtClean="0">
                                        <a:solidFill>
                                          <a:srgbClr val="FF0000"/>
                                        </a:solidFill>
                                        <a:latin typeface="Cambria Math" panose="02040503050406030204" pitchFamily="18" charset="0"/>
                                      </a:rPr>
                                      <m:t>𝟑𝟗</m:t>
                                    </m:r>
                                  </m:num>
                                  <m:den>
                                    <m:r>
                                      <a:rPr lang="en-GB" b="1" i="1" dirty="0" smtClean="0">
                                        <a:solidFill>
                                          <a:srgbClr val="FF0000"/>
                                        </a:solidFill>
                                        <a:latin typeface="Cambria Math" panose="02040503050406030204" pitchFamily="18" charset="0"/>
                                      </a:rPr>
                                      <m:t>𝟗</m:t>
                                    </m:r>
                                  </m:den>
                                </m:f>
                              </m:oMath>
                            </m:oMathPara>
                          </a14:m>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Choice>
        <mc:Fallback xmlns="">
          <p:graphicFrame>
            <p:nvGraphicFramePr>
              <p:cNvPr id="5" name="Table 4">
                <a:extLst>
                  <a:ext uri="{FF2B5EF4-FFF2-40B4-BE49-F238E27FC236}">
                    <a16:creationId xmlns:a16="http://schemas.microsoft.com/office/drawing/2014/main" id="{ED6E9FB3-9A1D-D12E-5ED7-E88942AA371E}"/>
                  </a:ext>
                </a:extLst>
              </p:cNvPr>
              <p:cNvGraphicFramePr>
                <a:graphicFrameLocks noGrp="1"/>
              </p:cNvGraphicFramePr>
              <p:nvPr/>
            </p:nvGraphicFramePr>
            <p:xfrm>
              <a:off x="9058032" y="4400452"/>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40" t="-4202" r="-200840" b="-200840"/>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1695" t="-203361" r="-102542" b="-1681"/>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Fallback>
      </mc:AlternateContent>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7B59F037-103B-22C1-0244-C1334FABB21D}"/>
                  </a:ext>
                </a:extLst>
              </p:cNvPr>
              <p:cNvSpPr>
                <a:spLocks noGrp="1"/>
              </p:cNvSpPr>
              <p:nvPr>
                <p:ph sz="half" idx="1"/>
              </p:nvPr>
            </p:nvSpPr>
            <p:spPr>
              <a:xfrm>
                <a:off x="838199" y="1825624"/>
                <a:ext cx="5757986" cy="5032375"/>
              </a:xfrm>
            </p:spPr>
            <p:txBody>
              <a:bodyPr>
                <a:normAutofit/>
              </a:bodyPr>
              <a:lstStyle/>
              <a:p>
                <a:pPr marL="0" indent="0">
                  <a:buNone/>
                </a:pPr>
                <a:r>
                  <a:rPr lang="en-GB" b="1" dirty="0"/>
                  <a:t>Second</a:t>
                </a:r>
                <a:r>
                  <a:rPr lang="en-GB" dirty="0"/>
                  <a:t>, the pixel values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r>
                      <a:rPr lang="en-GB" i="1">
                        <a:latin typeface="Cambria Math" panose="02040503050406030204" pitchFamily="18" charset="0"/>
                      </a:rPr>
                      <m:t> </m:t>
                    </m:r>
                  </m:oMath>
                </a14:m>
                <a:r>
                  <a:rPr lang="en-GB" dirty="0"/>
                  <a:t>for image </a:t>
                </a:r>
                <a14:m>
                  <m:oMath xmlns:m="http://schemas.openxmlformats.org/officeDocument/2006/math">
                    <m:r>
                      <a:rPr lang="en-GB" i="1">
                        <a:latin typeface="Cambria Math" panose="02040503050406030204" pitchFamily="18" charset="0"/>
                      </a:rPr>
                      <m:t>𝑌</m:t>
                    </m:r>
                  </m:oMath>
                </a14:m>
                <a:r>
                  <a:rPr lang="en-GB" dirty="0"/>
                  <a:t> are calculated using the convolution operation, defining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oMath>
                </a14:m>
                <a:r>
                  <a:rPr lang="en-GB" dirty="0"/>
                  <a:t>,</a:t>
                </a:r>
                <a:br>
                  <a:rPr lang="en-GB" dirty="0"/>
                </a:br>
                <a14:m>
                  <m:oMath xmlns:m="http://schemas.openxmlformats.org/officeDocument/2006/math">
                    <m:r>
                      <a:rPr lang="en-GB" i="1">
                        <a:latin typeface="Cambria Math" panose="02040503050406030204" pitchFamily="18" charset="0"/>
                      </a:rPr>
                      <m:t>∀</m:t>
                    </m:r>
                    <m:r>
                      <a:rPr lang="en-GB" i="1">
                        <a:latin typeface="Cambria Math" panose="02040503050406030204" pitchFamily="18" charset="0"/>
                      </a:rPr>
                      <m:t>𝑖</m:t>
                    </m:r>
                    <m:r>
                      <a:rPr lang="en-GB" i="1">
                        <a:latin typeface="Cambria Math" panose="02040503050406030204" pitchFamily="18" charset="0"/>
                      </a:rPr>
                      <m:t>∈</m:t>
                    </m:r>
                    <m:d>
                      <m:dPr>
                        <m:begChr m:val="["/>
                        <m:endChr m:val="]"/>
                        <m:ctrlPr>
                          <a:rPr lang="en-GB" i="1">
                            <a:latin typeface="Cambria Math" panose="02040503050406030204" pitchFamily="18" charset="0"/>
                          </a:rPr>
                        </m:ctrlPr>
                      </m:dPr>
                      <m:e>
                        <m:r>
                          <a:rPr lang="en-GB" i="1">
                            <a:latin typeface="Cambria Math" panose="02040503050406030204" pitchFamily="18" charset="0"/>
                          </a:rPr>
                          <m:t>1, </m:t>
                        </m:r>
                        <m:sSup>
                          <m:sSupPr>
                            <m:ctrlPr>
                              <a:rPr lang="en-GB" i="1">
                                <a:latin typeface="Cambria Math" panose="02040503050406030204" pitchFamily="18" charset="0"/>
                              </a:rPr>
                            </m:ctrlPr>
                          </m:sSupPr>
                          <m:e>
                            <m:r>
                              <a:rPr lang="en-GB" i="1">
                                <a:latin typeface="Cambria Math" panose="02040503050406030204" pitchFamily="18" charset="0"/>
                              </a:rPr>
                              <m:t>h</m:t>
                            </m:r>
                          </m:e>
                          <m:sup>
                            <m:r>
                              <a:rPr lang="en-GB" i="1">
                                <a:latin typeface="Cambria Math" panose="02040503050406030204" pitchFamily="18" charset="0"/>
                              </a:rPr>
                              <m:t>′</m:t>
                            </m:r>
                          </m:sup>
                        </m:sSup>
                      </m:e>
                    </m:d>
                    <m:r>
                      <a:rPr lang="en-GB" i="1">
                        <a:latin typeface="Cambria Math" panose="02040503050406030204" pitchFamily="18" charset="0"/>
                      </a:rPr>
                      <m:t>, </m:t>
                    </m:r>
                    <m:r>
                      <a:rPr lang="en-GB" i="1">
                        <a:latin typeface="Cambria Math" panose="02040503050406030204" pitchFamily="18" charset="0"/>
                      </a:rPr>
                      <m:t>𝑗</m:t>
                    </m:r>
                    <m:r>
                      <a:rPr lang="en-GB" i="1">
                        <a:latin typeface="Cambria Math" panose="02040503050406030204" pitchFamily="18" charset="0"/>
                      </a:rPr>
                      <m:t>∈[1,</m:t>
                    </m:r>
                    <m:r>
                      <a:rPr lang="en-GB" i="1">
                        <a:latin typeface="Cambria Math" panose="02040503050406030204" pitchFamily="18" charset="0"/>
                      </a:rPr>
                      <m:t>𝑤</m:t>
                    </m:r>
                    <m:r>
                      <a:rPr lang="en-GB" i="1">
                        <a:latin typeface="Cambria Math" panose="02040503050406030204" pitchFamily="18" charset="0"/>
                      </a:rPr>
                      <m:t>′]</m:t>
                    </m:r>
                  </m:oMath>
                </a14:m>
                <a:r>
                  <a:rPr lang="en-GB" dirty="0"/>
                  <a:t> as:</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solidFill>
                                <a:srgbClr val="0070C0"/>
                              </a:solidFill>
                              <a:latin typeface="Cambria Math" panose="02040503050406030204" pitchFamily="18" charset="0"/>
                            </a:rPr>
                            <m:t>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r>
                        <a:rPr lang="en-GB" i="1">
                          <a:latin typeface="Cambria Math" panose="02040503050406030204" pitchFamily="18" charset="0"/>
                        </a:rPr>
                        <m:t>=</m:t>
                      </m:r>
                      <m:f>
                        <m:fPr>
                          <m:ctrlPr>
                            <a:rPr lang="en-GB" i="1" smtClean="0">
                              <a:solidFill>
                                <a:srgbClr val="FF0000"/>
                              </a:solidFill>
                              <a:latin typeface="Cambria Math" panose="02040503050406030204" pitchFamily="18" charset="0"/>
                            </a:rPr>
                          </m:ctrlPr>
                        </m:fPr>
                        <m:num>
                          <m:r>
                            <a:rPr lang="en-GB" i="1">
                              <a:solidFill>
                                <a:srgbClr val="FF0000"/>
                              </a:solidFill>
                              <a:latin typeface="Cambria Math" panose="02040503050406030204" pitchFamily="18" charset="0"/>
                            </a:rPr>
                            <m:t>1</m:t>
                          </m:r>
                        </m:num>
                        <m:den>
                          <m:sSup>
                            <m:sSupPr>
                              <m:ctrlPr>
                                <a:rPr lang="en-GB" i="1">
                                  <a:solidFill>
                                    <a:srgbClr val="FF0000"/>
                                  </a:solidFill>
                                  <a:latin typeface="Cambria Math" panose="02040503050406030204" pitchFamily="18" charset="0"/>
                                </a:rPr>
                              </m:ctrlPr>
                            </m:sSupPr>
                            <m:e>
                              <m:r>
                                <a:rPr lang="en-GB" i="1">
                                  <a:solidFill>
                                    <a:srgbClr val="FF0000"/>
                                  </a:solidFill>
                                  <a:latin typeface="Cambria Math" panose="02040503050406030204" pitchFamily="18" charset="0"/>
                                </a:rPr>
                                <m:t>𝑘</m:t>
                              </m:r>
                            </m:e>
                            <m:sup>
                              <m:r>
                                <a:rPr lang="en-GB" i="1">
                                  <a:solidFill>
                                    <a:srgbClr val="FF0000"/>
                                  </a:solidFill>
                                  <a:latin typeface="Cambria Math" panose="02040503050406030204" pitchFamily="18" charset="0"/>
                                </a:rPr>
                                <m:t>2</m:t>
                              </m:r>
                            </m:sup>
                          </m:sSup>
                        </m:den>
                      </m:f>
                      <m:nary>
                        <m:naryPr>
                          <m:chr m:val="∑"/>
                          <m:ctrlPr>
                            <a:rPr lang="en-GB" i="1">
                              <a:latin typeface="Cambria Math" panose="02040503050406030204" pitchFamily="18" charset="0"/>
                            </a:rPr>
                          </m:ctrlPr>
                        </m:naryPr>
                        <m:sub>
                          <m:r>
                            <a:rPr lang="en-GB" i="1">
                              <a:latin typeface="Cambria Math" panose="02040503050406030204" pitchFamily="18" charset="0"/>
                            </a:rPr>
                            <m:t>𝑚</m:t>
                          </m:r>
                          <m:r>
                            <a:rPr lang="en-GB" i="1">
                              <a:latin typeface="Cambria Math" panose="02040503050406030204" pitchFamily="18" charset="0"/>
                            </a:rPr>
                            <m:t>=1</m:t>
                          </m:r>
                        </m:sub>
                        <m:sup>
                          <m:r>
                            <a:rPr lang="en-GB" i="1">
                              <a:latin typeface="Cambria Math" panose="02040503050406030204" pitchFamily="18" charset="0"/>
                            </a:rPr>
                            <m:t>𝑘</m:t>
                          </m:r>
                        </m:sup>
                        <m:e>
                          <m:nary>
                            <m:naryPr>
                              <m:chr m:val="∑"/>
                              <m:ctrlPr>
                                <a:rPr lang="en-GB" i="1">
                                  <a:latin typeface="Cambria Math" panose="02040503050406030204" pitchFamily="18" charset="0"/>
                                </a:rPr>
                              </m:ctrlPr>
                            </m:naryPr>
                            <m:sub>
                              <m:r>
                                <a:rPr lang="en-GB" i="1">
                                  <a:latin typeface="Cambria Math" panose="02040503050406030204" pitchFamily="18" charset="0"/>
                                </a:rPr>
                                <m:t>𝑛</m:t>
                              </m:r>
                              <m:r>
                                <a:rPr lang="en-GB" i="1">
                                  <a:latin typeface="Cambria Math" panose="02040503050406030204" pitchFamily="18" charset="0"/>
                                </a:rPr>
                                <m:t>=1</m:t>
                              </m:r>
                            </m:sub>
                            <m:sup>
                              <m:r>
                                <a:rPr lang="en-GB" i="1">
                                  <a:latin typeface="Cambria Math" panose="02040503050406030204" pitchFamily="18" charset="0"/>
                                </a:rPr>
                                <m:t>𝑘</m:t>
                              </m:r>
                            </m:sup>
                            <m:e>
                              <m:sSub>
                                <m:sSubPr>
                                  <m:ctrlPr>
                                    <a:rPr lang="en-GB" i="1">
                                      <a:latin typeface="Cambria Math" panose="02040503050406030204" pitchFamily="18" charset="0"/>
                                    </a:rPr>
                                  </m:ctrlPr>
                                </m:sSubPr>
                                <m:e>
                                  <m:r>
                                    <a:rPr lang="en-GB" i="1">
                                      <a:solidFill>
                                        <a:srgbClr val="00B050"/>
                                      </a:solidFill>
                                      <a:latin typeface="Cambria Math" panose="02040503050406030204" pitchFamily="18" charset="0"/>
                                    </a:rPr>
                                    <m:t>𝑋</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𝑚</m:t>
                                  </m:r>
                                  <m:r>
                                    <a:rPr lang="en-GB" i="1">
                                      <a:latin typeface="Cambria Math" panose="02040503050406030204" pitchFamily="18" charset="0"/>
                                    </a:rPr>
                                    <m:t>−1,   </m:t>
                                  </m:r>
                                  <m:r>
                                    <a:rPr lang="en-GB" i="1">
                                      <a:latin typeface="Cambria Math" panose="02040503050406030204" pitchFamily="18" charset="0"/>
                                    </a:rPr>
                                    <m:t>𝑗</m:t>
                                  </m:r>
                                  <m:r>
                                    <a:rPr lang="en-GB" i="1">
                                      <a:latin typeface="Cambria Math" panose="02040503050406030204" pitchFamily="18" charset="0"/>
                                    </a:rPr>
                                    <m:t>+</m:t>
                                  </m:r>
                                  <m:r>
                                    <a:rPr lang="en-GB" i="1">
                                      <a:latin typeface="Cambria Math" panose="02040503050406030204" pitchFamily="18" charset="0"/>
                                    </a:rPr>
                                    <m:t>𝑛</m:t>
                                  </m:r>
                                  <m:r>
                                    <a:rPr lang="en-GB" i="1">
                                      <a:latin typeface="Cambria Math" panose="02040503050406030204" pitchFamily="18" charset="0"/>
                                    </a:rPr>
                                    <m:t>−1</m:t>
                                  </m:r>
                                </m:sub>
                              </m:sSub>
                              <m:r>
                                <m:rPr>
                                  <m:nor/>
                                </m:rPr>
                                <a:rPr lang="en-SG"/>
                                <m:t> </m:t>
                              </m:r>
                              <m:sSub>
                                <m:sSubPr>
                                  <m:ctrlPr>
                                    <a:rPr lang="en-GB" i="1">
                                      <a:latin typeface="Cambria Math" panose="02040503050406030204" pitchFamily="18" charset="0"/>
                                    </a:rPr>
                                  </m:ctrlPr>
                                </m:sSubPr>
                                <m:e>
                                  <m:r>
                                    <a:rPr lang="en-GB" i="1">
                                      <a:solidFill>
                                        <a:schemeClr val="accent2"/>
                                      </a:solidFill>
                                      <a:latin typeface="Cambria Math" panose="02040503050406030204" pitchFamily="18" charset="0"/>
                                    </a:rPr>
                                    <m:t>𝐾</m:t>
                                  </m:r>
                                </m:e>
                                <m:sub>
                                  <m:r>
                                    <a:rPr lang="en-GB" i="1">
                                      <a:latin typeface="Cambria Math" panose="02040503050406030204" pitchFamily="18" charset="0"/>
                                    </a:rPr>
                                    <m:t>𝑚</m:t>
                                  </m:r>
                                  <m:r>
                                    <a:rPr lang="en-GB" i="1">
                                      <a:latin typeface="Cambria Math" panose="02040503050406030204" pitchFamily="18" charset="0"/>
                                    </a:rPr>
                                    <m:t>,</m:t>
                                  </m:r>
                                  <m:r>
                                    <a:rPr lang="en-GB" i="1">
                                      <a:latin typeface="Cambria Math" panose="02040503050406030204" pitchFamily="18" charset="0"/>
                                    </a:rPr>
                                    <m:t>𝑛</m:t>
                                  </m:r>
                                </m:sub>
                              </m:sSub>
                            </m:e>
                          </m:nary>
                        </m:e>
                      </m:nary>
                    </m:oMath>
                  </m:oMathPara>
                </a14:m>
                <a:endParaRPr lang="en-GB" dirty="0"/>
              </a:p>
              <a:p>
                <a:pPr marL="0" indent="0">
                  <a:buNone/>
                </a:pPr>
                <a:endParaRPr lang="en-GB" dirty="0"/>
              </a:p>
            </p:txBody>
          </p:sp>
        </mc:Choice>
        <mc:Fallback xmlns="">
          <p:sp>
            <p:nvSpPr>
              <p:cNvPr id="14" name="Content Placeholder 2">
                <a:extLst>
                  <a:ext uri="{FF2B5EF4-FFF2-40B4-BE49-F238E27FC236}">
                    <a16:creationId xmlns:a16="http://schemas.microsoft.com/office/drawing/2014/main" id="{7B59F037-103B-22C1-0244-C1334FABB21D}"/>
                  </a:ext>
                </a:extLst>
              </p:cNvPr>
              <p:cNvSpPr>
                <a:spLocks noGrp="1" noRot="1" noChangeAspect="1" noMove="1" noResize="1" noEditPoints="1" noAdjustHandles="1" noChangeArrowheads="1" noChangeShapeType="1" noTextEdit="1"/>
              </p:cNvSpPr>
              <p:nvPr>
                <p:ph sz="half" idx="1"/>
              </p:nvPr>
            </p:nvSpPr>
            <p:spPr>
              <a:xfrm>
                <a:off x="838199" y="1825624"/>
                <a:ext cx="5757986" cy="5032375"/>
              </a:xfrm>
              <a:blipFill>
                <a:blip r:embed="rId7"/>
                <a:stretch>
                  <a:fillRect l="-2116" t="-1695" r="-2434"/>
                </a:stretch>
              </a:blipFill>
            </p:spPr>
            <p:txBody>
              <a:bodyPr/>
              <a:lstStyle/>
              <a:p>
                <a:r>
                  <a:rPr lang="en-SG">
                    <a:noFill/>
                  </a:rPr>
                  <a:t> </a:t>
                </a:r>
              </a:p>
            </p:txBody>
          </p:sp>
        </mc:Fallback>
      </mc:AlternateContent>
      <p:sp>
        <p:nvSpPr>
          <p:cNvPr id="3" name="TextBox 2">
            <a:extLst>
              <a:ext uri="{FF2B5EF4-FFF2-40B4-BE49-F238E27FC236}">
                <a16:creationId xmlns:a16="http://schemas.microsoft.com/office/drawing/2014/main" id="{42F19C81-1A92-C8D6-51B8-B25290D7DDC9}"/>
              </a:ext>
            </a:extLst>
          </p:cNvPr>
          <p:cNvSpPr txBox="1"/>
          <p:nvPr/>
        </p:nvSpPr>
        <p:spPr>
          <a:xfrm>
            <a:off x="351692" y="5629842"/>
            <a:ext cx="7440245" cy="954107"/>
          </a:xfrm>
          <a:prstGeom prst="rect">
            <a:avLst/>
          </a:prstGeom>
          <a:noFill/>
        </p:spPr>
        <p:txBody>
          <a:bodyPr wrap="square" rtlCol="0">
            <a:spAutoFit/>
          </a:bodyPr>
          <a:lstStyle/>
          <a:p>
            <a:pPr algn="ctr"/>
            <a:r>
              <a:rPr lang="en-GB" sz="2800" b="1" dirty="0">
                <a:solidFill>
                  <a:srgbClr val="7030A0"/>
                </a:solidFill>
                <a:sym typeface="Wingdings" panose="05000000000000000000" pitchFamily="2" charset="2"/>
              </a:rPr>
              <a:t> </a:t>
            </a:r>
            <a:r>
              <a:rPr lang="en-GB" sz="2800" b="1" dirty="0">
                <a:solidFill>
                  <a:srgbClr val="7030A0"/>
                </a:solidFill>
              </a:rPr>
              <a:t>At the end of the day, convolution is just another type of matrix multiplication!</a:t>
            </a:r>
          </a:p>
        </p:txBody>
      </p:sp>
      <p:cxnSp>
        <p:nvCxnSpPr>
          <p:cNvPr id="8" name="Straight Connector 7">
            <a:extLst>
              <a:ext uri="{FF2B5EF4-FFF2-40B4-BE49-F238E27FC236}">
                <a16:creationId xmlns:a16="http://schemas.microsoft.com/office/drawing/2014/main" id="{F87FBCD5-93A0-B75F-26DC-D3903A1D7BB6}"/>
              </a:ext>
            </a:extLst>
          </p:cNvPr>
          <p:cNvCxnSpPr/>
          <p:nvPr/>
        </p:nvCxnSpPr>
        <p:spPr>
          <a:xfrm flipH="1">
            <a:off x="1805354" y="4032738"/>
            <a:ext cx="515815" cy="1000370"/>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99135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5B6EF-21AB-FCC6-C0B1-1654E35B253B}"/>
              </a:ext>
            </a:extLst>
          </p:cNvPr>
          <p:cNvSpPr>
            <a:spLocks noGrp="1"/>
          </p:cNvSpPr>
          <p:nvPr>
            <p:ph type="title"/>
          </p:nvPr>
        </p:nvSpPr>
        <p:spPr/>
        <p:txBody>
          <a:bodyPr/>
          <a:lstStyle/>
          <a:p>
            <a:r>
              <a:rPr lang="en-GB" dirty="0"/>
              <a:t>An animated visualisation of Convolution</a:t>
            </a:r>
            <a:endParaRPr lang="en-SG" dirty="0"/>
          </a:p>
        </p:txBody>
      </p:sp>
      <p:pic>
        <p:nvPicPr>
          <p:cNvPr id="6" name="Picture 5" descr="A screenshot of a computer&#10;&#10;Description automatically generated">
            <a:extLst>
              <a:ext uri="{FF2B5EF4-FFF2-40B4-BE49-F238E27FC236}">
                <a16:creationId xmlns:a16="http://schemas.microsoft.com/office/drawing/2014/main" id="{34A5B2C4-F4DE-4D1A-870F-5069D68B808D}"/>
              </a:ext>
            </a:extLst>
          </p:cNvPr>
          <p:cNvPicPr>
            <a:picLocks noChangeAspect="1"/>
          </p:cNvPicPr>
          <p:nvPr/>
        </p:nvPicPr>
        <p:blipFill rotWithShape="1">
          <a:blip r:embed="rId2">
            <a:extLst>
              <a:ext uri="{28A0092B-C50C-407E-A947-70E740481C1C}">
                <a14:useLocalDpi xmlns:a14="http://schemas.microsoft.com/office/drawing/2010/main" val="0"/>
              </a:ext>
            </a:extLst>
          </a:blip>
          <a:srcRect t="24240"/>
          <a:stretch/>
        </p:blipFill>
        <p:spPr>
          <a:xfrm>
            <a:off x="945817" y="1465672"/>
            <a:ext cx="10300366" cy="5188678"/>
          </a:xfrm>
          <a:prstGeom prst="rect">
            <a:avLst/>
          </a:prstGeom>
        </p:spPr>
      </p:pic>
    </p:spTree>
    <p:extLst>
      <p:ext uri="{BB962C8B-B14F-4D97-AF65-F5344CB8AC3E}">
        <p14:creationId xmlns:p14="http://schemas.microsoft.com/office/powerpoint/2010/main" val="17340704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C4AA5-86F1-08AE-75AA-9AE798E6289B}"/>
              </a:ext>
            </a:extLst>
          </p:cNvPr>
          <p:cNvSpPr>
            <a:spLocks noGrp="1"/>
          </p:cNvSpPr>
          <p:nvPr>
            <p:ph type="title"/>
          </p:nvPr>
        </p:nvSpPr>
        <p:spPr/>
        <p:txBody>
          <a:bodyPr/>
          <a:lstStyle/>
          <a:p>
            <a:r>
              <a:rPr lang="en-GB" dirty="0"/>
              <a:t>Convolution and Image Processing courses</a:t>
            </a:r>
            <a:endParaRPr lang="en-SG" dirty="0"/>
          </a:p>
        </p:txBody>
      </p:sp>
      <p:sp>
        <p:nvSpPr>
          <p:cNvPr id="3" name="Content Placeholder 2">
            <a:extLst>
              <a:ext uri="{FF2B5EF4-FFF2-40B4-BE49-F238E27FC236}">
                <a16:creationId xmlns:a16="http://schemas.microsoft.com/office/drawing/2014/main" id="{A0448D74-9E04-EB9B-7352-6DC20929ADB3}"/>
              </a:ext>
            </a:extLst>
          </p:cNvPr>
          <p:cNvSpPr>
            <a:spLocks noGrp="1"/>
          </p:cNvSpPr>
          <p:nvPr>
            <p:ph idx="1"/>
          </p:nvPr>
        </p:nvSpPr>
        <p:spPr>
          <a:xfrm>
            <a:off x="838200" y="1825624"/>
            <a:ext cx="10515600" cy="5032375"/>
          </a:xfrm>
        </p:spPr>
        <p:txBody>
          <a:bodyPr>
            <a:normAutofit/>
          </a:bodyPr>
          <a:lstStyle/>
          <a:p>
            <a:pPr marL="0" indent="0">
              <a:buNone/>
            </a:pPr>
            <a:r>
              <a:rPr lang="en-GB" b="1" dirty="0"/>
              <a:t>Convolution</a:t>
            </a:r>
            <a:r>
              <a:rPr lang="en-GB" dirty="0"/>
              <a:t> is a </a:t>
            </a:r>
            <a:r>
              <a:rPr lang="en-GB" b="1" dirty="0"/>
              <a:t>key</a:t>
            </a:r>
            <a:r>
              <a:rPr lang="en-GB" dirty="0"/>
              <a:t> </a:t>
            </a:r>
            <a:r>
              <a:rPr lang="en-GB" b="1" dirty="0"/>
              <a:t>mathematical</a:t>
            </a:r>
            <a:r>
              <a:rPr lang="en-GB" dirty="0"/>
              <a:t> </a:t>
            </a:r>
            <a:r>
              <a:rPr lang="en-GB" b="1" dirty="0"/>
              <a:t>operation</a:t>
            </a:r>
            <a:r>
              <a:rPr lang="en-GB" dirty="0"/>
              <a:t> that is widely used in computer vision and image processing to apply a wide range of </a:t>
            </a:r>
            <a:r>
              <a:rPr lang="en-GB" b="1" dirty="0"/>
              <a:t>transformations on an image </a:t>
            </a:r>
            <a:r>
              <a:rPr lang="en-GB" dirty="0"/>
              <a:t>(enhancing contrast, blurring, edge detection, Instagram filters, etc).</a:t>
            </a:r>
          </a:p>
          <a:p>
            <a:r>
              <a:rPr lang="en-SG" dirty="0"/>
              <a:t>If </a:t>
            </a:r>
            <a:r>
              <a:rPr lang="en-SG" b="1" dirty="0"/>
              <a:t>Computer</a:t>
            </a:r>
            <a:r>
              <a:rPr lang="en-SG" dirty="0"/>
              <a:t> </a:t>
            </a:r>
            <a:r>
              <a:rPr lang="en-SG" b="1" dirty="0"/>
              <a:t>Vision</a:t>
            </a:r>
            <a:r>
              <a:rPr lang="en-SG" dirty="0"/>
              <a:t> is a direction that interests you, I would strongly advise to take a course on Image Processing (with implementations in OpenCV, Photoshop, etc.) during your continued learning.</a:t>
            </a:r>
          </a:p>
          <a:p>
            <a:r>
              <a:rPr lang="en-SG" dirty="0"/>
              <a:t>For instance: </a:t>
            </a:r>
            <a:r>
              <a:rPr lang="en-SG" dirty="0">
                <a:hlinkClick r:id="rId2"/>
              </a:rPr>
              <a:t>https://www.udemy.com/course/digital-image-processing-from-ground-up-in-python/</a:t>
            </a:r>
            <a:endParaRPr lang="en-SG" dirty="0"/>
          </a:p>
          <a:p>
            <a:endParaRPr lang="en-SG" dirty="0"/>
          </a:p>
        </p:txBody>
      </p:sp>
    </p:spTree>
    <p:extLst>
      <p:ext uri="{BB962C8B-B14F-4D97-AF65-F5344CB8AC3E}">
        <p14:creationId xmlns:p14="http://schemas.microsoft.com/office/powerpoint/2010/main" val="11812486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5E799-7684-A653-9672-5659F1D59B21}"/>
              </a:ext>
            </a:extLst>
          </p:cNvPr>
          <p:cNvSpPr>
            <a:spLocks noGrp="1"/>
          </p:cNvSpPr>
          <p:nvPr>
            <p:ph type="title"/>
          </p:nvPr>
        </p:nvSpPr>
        <p:spPr/>
        <p:txBody>
          <a:bodyPr/>
          <a:lstStyle/>
          <a:p>
            <a:r>
              <a:rPr lang="en-GB" dirty="0"/>
              <a:t>Testing convolution</a:t>
            </a:r>
            <a:br>
              <a:rPr lang="en-GB" dirty="0"/>
            </a:br>
            <a:r>
              <a:rPr lang="en-GB" dirty="0"/>
              <a:t>on images</a:t>
            </a:r>
            <a:endParaRPr lang="en-SG" dirty="0"/>
          </a:p>
        </p:txBody>
      </p:sp>
      <p:sp>
        <p:nvSpPr>
          <p:cNvPr id="4" name="Content Placeholder 3">
            <a:extLst>
              <a:ext uri="{FF2B5EF4-FFF2-40B4-BE49-F238E27FC236}">
                <a16:creationId xmlns:a16="http://schemas.microsoft.com/office/drawing/2014/main" id="{CC2FBEC1-65A9-2CDC-8F3D-81E29687F927}"/>
              </a:ext>
            </a:extLst>
          </p:cNvPr>
          <p:cNvSpPr>
            <a:spLocks noGrp="1"/>
          </p:cNvSpPr>
          <p:nvPr>
            <p:ph sz="half" idx="1"/>
          </p:nvPr>
        </p:nvSpPr>
        <p:spPr>
          <a:xfrm>
            <a:off x="838200" y="1825625"/>
            <a:ext cx="4863522" cy="4351338"/>
          </a:xfrm>
        </p:spPr>
        <p:txBody>
          <a:bodyPr/>
          <a:lstStyle/>
          <a:p>
            <a:pPr marL="0" indent="0">
              <a:buNone/>
            </a:pPr>
            <a:r>
              <a:rPr lang="en-GB" dirty="0"/>
              <a:t>Let us try the convolution operation on images to see their effect.</a:t>
            </a:r>
          </a:p>
          <a:p>
            <a:r>
              <a:rPr lang="en-GB" dirty="0"/>
              <a:t>First, we need a </a:t>
            </a:r>
            <a:r>
              <a:rPr lang="en-GB" b="1" dirty="0"/>
              <a:t>greyscale</a:t>
            </a:r>
            <a:r>
              <a:rPr lang="en-GB" dirty="0"/>
              <a:t> </a:t>
            </a:r>
            <a:r>
              <a:rPr lang="en-GB" b="1" dirty="0"/>
              <a:t>image</a:t>
            </a:r>
            <a:r>
              <a:rPr lang="en-GB" dirty="0"/>
              <a:t>.</a:t>
            </a:r>
            <a:endParaRPr lang="en-SG" dirty="0"/>
          </a:p>
        </p:txBody>
      </p:sp>
      <p:pic>
        <p:nvPicPr>
          <p:cNvPr id="7" name="Picture 6">
            <a:extLst>
              <a:ext uri="{FF2B5EF4-FFF2-40B4-BE49-F238E27FC236}">
                <a16:creationId xmlns:a16="http://schemas.microsoft.com/office/drawing/2014/main" id="{6F2E45E6-E950-A30E-009B-7CE779F3500A}"/>
              </a:ext>
            </a:extLst>
          </p:cNvPr>
          <p:cNvPicPr>
            <a:picLocks noChangeAspect="1"/>
          </p:cNvPicPr>
          <p:nvPr/>
        </p:nvPicPr>
        <p:blipFill>
          <a:blip r:embed="rId2"/>
          <a:stretch>
            <a:fillRect/>
          </a:stretch>
        </p:blipFill>
        <p:spPr>
          <a:xfrm>
            <a:off x="6490279" y="0"/>
            <a:ext cx="5593582" cy="6858000"/>
          </a:xfrm>
          <a:prstGeom prst="rect">
            <a:avLst/>
          </a:prstGeom>
        </p:spPr>
      </p:pic>
    </p:spTree>
    <p:extLst>
      <p:ext uri="{BB962C8B-B14F-4D97-AF65-F5344CB8AC3E}">
        <p14:creationId xmlns:p14="http://schemas.microsoft.com/office/powerpoint/2010/main" val="21727906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5E799-7684-A653-9672-5659F1D59B21}"/>
              </a:ext>
            </a:extLst>
          </p:cNvPr>
          <p:cNvSpPr>
            <a:spLocks noGrp="1"/>
          </p:cNvSpPr>
          <p:nvPr>
            <p:ph type="title"/>
          </p:nvPr>
        </p:nvSpPr>
        <p:spPr/>
        <p:txBody>
          <a:bodyPr/>
          <a:lstStyle/>
          <a:p>
            <a:r>
              <a:rPr lang="en-GB" dirty="0"/>
              <a:t>Testing convolution</a:t>
            </a:r>
            <a:br>
              <a:rPr lang="en-GB" dirty="0"/>
            </a:br>
            <a:r>
              <a:rPr lang="en-GB" dirty="0"/>
              <a:t>on images</a:t>
            </a:r>
            <a:endParaRPr lang="en-SG" dirty="0"/>
          </a:p>
        </p:txBody>
      </p:sp>
      <p:sp>
        <p:nvSpPr>
          <p:cNvPr id="4" name="Content Placeholder 3">
            <a:extLst>
              <a:ext uri="{FF2B5EF4-FFF2-40B4-BE49-F238E27FC236}">
                <a16:creationId xmlns:a16="http://schemas.microsoft.com/office/drawing/2014/main" id="{CC2FBEC1-65A9-2CDC-8F3D-81E29687F927}"/>
              </a:ext>
            </a:extLst>
          </p:cNvPr>
          <p:cNvSpPr>
            <a:spLocks noGrp="1"/>
          </p:cNvSpPr>
          <p:nvPr>
            <p:ph sz="half" idx="1"/>
          </p:nvPr>
        </p:nvSpPr>
        <p:spPr>
          <a:xfrm>
            <a:off x="838200" y="1825625"/>
            <a:ext cx="4749800" cy="4351338"/>
          </a:xfrm>
        </p:spPr>
        <p:txBody>
          <a:bodyPr/>
          <a:lstStyle/>
          <a:p>
            <a:pPr marL="0" indent="0">
              <a:buNone/>
            </a:pPr>
            <a:r>
              <a:rPr lang="en-GB" dirty="0"/>
              <a:t>Let us try the convolution operation on images to see their effect.</a:t>
            </a:r>
          </a:p>
          <a:p>
            <a:r>
              <a:rPr lang="en-GB" dirty="0"/>
              <a:t>First, we need a greyscale image.</a:t>
            </a:r>
          </a:p>
          <a:p>
            <a:r>
              <a:rPr lang="en-GB" dirty="0"/>
              <a:t>Second, we need a </a:t>
            </a:r>
            <a:r>
              <a:rPr lang="en-GB" b="1" dirty="0"/>
              <a:t>convolution</a:t>
            </a:r>
            <a:r>
              <a:rPr lang="en-GB" dirty="0"/>
              <a:t> </a:t>
            </a:r>
            <a:r>
              <a:rPr lang="en-GB" b="1" dirty="0"/>
              <a:t>function</a:t>
            </a:r>
            <a:r>
              <a:rPr lang="en-GB" dirty="0"/>
              <a:t>.</a:t>
            </a:r>
            <a:endParaRPr lang="en-SG" dirty="0"/>
          </a:p>
        </p:txBody>
      </p:sp>
      <p:pic>
        <p:nvPicPr>
          <p:cNvPr id="5" name="Picture 4">
            <a:extLst>
              <a:ext uri="{FF2B5EF4-FFF2-40B4-BE49-F238E27FC236}">
                <a16:creationId xmlns:a16="http://schemas.microsoft.com/office/drawing/2014/main" id="{00DD1030-CB74-BC3B-F7E0-3C3DC0BCFA0B}"/>
              </a:ext>
            </a:extLst>
          </p:cNvPr>
          <p:cNvPicPr>
            <a:picLocks noChangeAspect="1"/>
          </p:cNvPicPr>
          <p:nvPr/>
        </p:nvPicPr>
        <p:blipFill>
          <a:blip r:embed="rId2"/>
          <a:stretch>
            <a:fillRect/>
          </a:stretch>
        </p:blipFill>
        <p:spPr>
          <a:xfrm>
            <a:off x="5763408" y="593970"/>
            <a:ext cx="6318714" cy="3704916"/>
          </a:xfrm>
          <a:prstGeom prst="rect">
            <a:avLst/>
          </a:prstGeom>
        </p:spPr>
      </p:pic>
    </p:spTree>
    <p:extLst>
      <p:ext uri="{BB962C8B-B14F-4D97-AF65-F5344CB8AC3E}">
        <p14:creationId xmlns:p14="http://schemas.microsoft.com/office/powerpoint/2010/main" val="30451397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5E799-7684-A653-9672-5659F1D59B21}"/>
              </a:ext>
            </a:extLst>
          </p:cNvPr>
          <p:cNvSpPr>
            <a:spLocks noGrp="1"/>
          </p:cNvSpPr>
          <p:nvPr>
            <p:ph type="title"/>
          </p:nvPr>
        </p:nvSpPr>
        <p:spPr/>
        <p:txBody>
          <a:bodyPr/>
          <a:lstStyle/>
          <a:p>
            <a:r>
              <a:rPr lang="en-GB" dirty="0"/>
              <a:t>Testing convolution</a:t>
            </a:r>
            <a:br>
              <a:rPr lang="en-GB" dirty="0"/>
            </a:br>
            <a:r>
              <a:rPr lang="en-GB" dirty="0"/>
              <a:t>on images</a:t>
            </a:r>
            <a:endParaRPr lang="en-SG" dirty="0"/>
          </a:p>
        </p:txBody>
      </p:sp>
      <p:sp>
        <p:nvSpPr>
          <p:cNvPr id="4" name="Content Placeholder 3">
            <a:extLst>
              <a:ext uri="{FF2B5EF4-FFF2-40B4-BE49-F238E27FC236}">
                <a16:creationId xmlns:a16="http://schemas.microsoft.com/office/drawing/2014/main" id="{CC2FBEC1-65A9-2CDC-8F3D-81E29687F927}"/>
              </a:ext>
            </a:extLst>
          </p:cNvPr>
          <p:cNvSpPr>
            <a:spLocks noGrp="1"/>
          </p:cNvSpPr>
          <p:nvPr>
            <p:ph sz="half" idx="1"/>
          </p:nvPr>
        </p:nvSpPr>
        <p:spPr>
          <a:xfrm>
            <a:off x="838200" y="1825624"/>
            <a:ext cx="4640385" cy="5032375"/>
          </a:xfrm>
        </p:spPr>
        <p:txBody>
          <a:bodyPr>
            <a:normAutofit/>
          </a:bodyPr>
          <a:lstStyle/>
          <a:p>
            <a:pPr marL="0" indent="0">
              <a:buNone/>
            </a:pPr>
            <a:r>
              <a:rPr lang="en-GB" b="1" dirty="0"/>
              <a:t>What is the purpose of flipping the kernel?</a:t>
            </a:r>
          </a:p>
          <a:p>
            <a:pPr marL="0" indent="0">
              <a:buNone/>
            </a:pPr>
            <a:r>
              <a:rPr lang="en-GB" u="sng" dirty="0"/>
              <a:t>Optional</a:t>
            </a:r>
            <a:r>
              <a:rPr lang="en-GB" dirty="0"/>
              <a:t>, but in short, flipping the kernel has mathematical and practical advantages that make it a common practice in deep learning.</a:t>
            </a:r>
          </a:p>
          <a:p>
            <a:pPr marL="0" indent="0">
              <a:buNone/>
            </a:pPr>
            <a:r>
              <a:rPr lang="en-GB" dirty="0"/>
              <a:t>(It has to do with commutativity, signal processing, the Fourier Transform and the convolution theorem, 100% </a:t>
            </a:r>
            <a:r>
              <a:rPr lang="en-GB" u="sng" dirty="0"/>
              <a:t>out-of-scope</a:t>
            </a:r>
            <a:r>
              <a:rPr lang="en-GB" dirty="0"/>
              <a:t>).</a:t>
            </a:r>
          </a:p>
          <a:p>
            <a:pPr marL="0" indent="0">
              <a:buNone/>
            </a:pPr>
            <a:endParaRPr lang="en-GB" dirty="0"/>
          </a:p>
          <a:p>
            <a:pPr marL="0" indent="0">
              <a:buNone/>
            </a:pPr>
            <a:endParaRPr lang="en-SG" dirty="0"/>
          </a:p>
        </p:txBody>
      </p:sp>
      <p:pic>
        <p:nvPicPr>
          <p:cNvPr id="5" name="Picture 4">
            <a:extLst>
              <a:ext uri="{FF2B5EF4-FFF2-40B4-BE49-F238E27FC236}">
                <a16:creationId xmlns:a16="http://schemas.microsoft.com/office/drawing/2014/main" id="{00DD1030-CB74-BC3B-F7E0-3C3DC0BCFA0B}"/>
              </a:ext>
            </a:extLst>
          </p:cNvPr>
          <p:cNvPicPr>
            <a:picLocks noChangeAspect="1"/>
          </p:cNvPicPr>
          <p:nvPr/>
        </p:nvPicPr>
        <p:blipFill>
          <a:blip r:embed="rId2"/>
          <a:stretch>
            <a:fillRect/>
          </a:stretch>
        </p:blipFill>
        <p:spPr>
          <a:xfrm>
            <a:off x="5763408" y="593970"/>
            <a:ext cx="6318714" cy="3704916"/>
          </a:xfrm>
          <a:prstGeom prst="rect">
            <a:avLst/>
          </a:prstGeom>
        </p:spPr>
      </p:pic>
      <p:sp>
        <p:nvSpPr>
          <p:cNvPr id="3" name="TextBox 2">
            <a:extLst>
              <a:ext uri="{FF2B5EF4-FFF2-40B4-BE49-F238E27FC236}">
                <a16:creationId xmlns:a16="http://schemas.microsoft.com/office/drawing/2014/main" id="{FFE76459-3FF9-8D67-834F-5E9091A1412A}"/>
              </a:ext>
            </a:extLst>
          </p:cNvPr>
          <p:cNvSpPr txBox="1"/>
          <p:nvPr/>
        </p:nvSpPr>
        <p:spPr>
          <a:xfrm>
            <a:off x="6228861" y="4798646"/>
            <a:ext cx="5541108" cy="2123658"/>
          </a:xfrm>
          <a:prstGeom prst="rect">
            <a:avLst/>
          </a:prstGeom>
          <a:noFill/>
        </p:spPr>
        <p:txBody>
          <a:bodyPr wrap="square" rtlCol="0">
            <a:spAutoFit/>
          </a:bodyPr>
          <a:lstStyle/>
          <a:p>
            <a:r>
              <a:rPr lang="en-SG" sz="2800" dirty="0">
                <a:hlinkClick r:id="rId3"/>
              </a:rPr>
              <a:t>https://stackoverflow.com/questions/45152473/why-is-the-convolutional-filter-flipped-in-convolutional-neural-networks</a:t>
            </a:r>
            <a:endParaRPr lang="en-GB" sz="2800" dirty="0"/>
          </a:p>
          <a:p>
            <a:endParaRPr lang="en-SG" sz="2000" dirty="0"/>
          </a:p>
        </p:txBody>
      </p:sp>
      <p:sp>
        <p:nvSpPr>
          <p:cNvPr id="6" name="Rectangle 5">
            <a:extLst>
              <a:ext uri="{FF2B5EF4-FFF2-40B4-BE49-F238E27FC236}">
                <a16:creationId xmlns:a16="http://schemas.microsoft.com/office/drawing/2014/main" id="{8B0AC34D-CEB7-6A76-0D3A-DA43132321DA}"/>
              </a:ext>
            </a:extLst>
          </p:cNvPr>
          <p:cNvSpPr/>
          <p:nvPr/>
        </p:nvSpPr>
        <p:spPr>
          <a:xfrm>
            <a:off x="6033477" y="1023816"/>
            <a:ext cx="2915138" cy="414215"/>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4238077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5E799-7684-A653-9672-5659F1D59B21}"/>
              </a:ext>
            </a:extLst>
          </p:cNvPr>
          <p:cNvSpPr>
            <a:spLocks noGrp="1"/>
          </p:cNvSpPr>
          <p:nvPr>
            <p:ph type="title"/>
          </p:nvPr>
        </p:nvSpPr>
        <p:spPr/>
        <p:txBody>
          <a:bodyPr/>
          <a:lstStyle/>
          <a:p>
            <a:r>
              <a:rPr lang="en-GB" dirty="0"/>
              <a:t>Testing convolution</a:t>
            </a:r>
            <a:br>
              <a:rPr lang="en-GB" dirty="0"/>
            </a:br>
            <a:r>
              <a:rPr lang="en-GB" dirty="0"/>
              <a:t>on images</a:t>
            </a:r>
            <a:endParaRPr lang="en-SG" dirty="0"/>
          </a:p>
        </p:txBody>
      </p:sp>
      <p:sp>
        <p:nvSpPr>
          <p:cNvPr id="4" name="Content Placeholder 3">
            <a:extLst>
              <a:ext uri="{FF2B5EF4-FFF2-40B4-BE49-F238E27FC236}">
                <a16:creationId xmlns:a16="http://schemas.microsoft.com/office/drawing/2014/main" id="{CC2FBEC1-65A9-2CDC-8F3D-81E29687F927}"/>
              </a:ext>
            </a:extLst>
          </p:cNvPr>
          <p:cNvSpPr>
            <a:spLocks noGrp="1"/>
          </p:cNvSpPr>
          <p:nvPr>
            <p:ph sz="half" idx="1"/>
          </p:nvPr>
        </p:nvSpPr>
        <p:spPr>
          <a:xfrm>
            <a:off x="838200" y="1825624"/>
            <a:ext cx="4749800" cy="4926867"/>
          </a:xfrm>
        </p:spPr>
        <p:txBody>
          <a:bodyPr/>
          <a:lstStyle/>
          <a:p>
            <a:pPr marL="0" indent="0">
              <a:buNone/>
            </a:pPr>
            <a:r>
              <a:rPr lang="en-GB" dirty="0"/>
              <a:t>Let us try the convolution operation on images to see their effect.</a:t>
            </a:r>
          </a:p>
          <a:p>
            <a:r>
              <a:rPr lang="en-GB" dirty="0"/>
              <a:t>First, we need a greyscale image.</a:t>
            </a:r>
          </a:p>
          <a:p>
            <a:r>
              <a:rPr lang="en-GB" dirty="0"/>
              <a:t>Second, we need a </a:t>
            </a:r>
            <a:r>
              <a:rPr lang="en-GB" b="1" dirty="0"/>
              <a:t>convolution</a:t>
            </a:r>
            <a:r>
              <a:rPr lang="en-GB" dirty="0"/>
              <a:t> </a:t>
            </a:r>
            <a:r>
              <a:rPr lang="en-GB" b="1" dirty="0"/>
              <a:t>function</a:t>
            </a:r>
            <a:r>
              <a:rPr lang="en-GB" dirty="0"/>
              <a:t>.</a:t>
            </a:r>
          </a:p>
          <a:p>
            <a:r>
              <a:rPr lang="en-GB" dirty="0"/>
              <a:t>The magic for the transformation then happens when deciding </a:t>
            </a:r>
            <a:r>
              <a:rPr lang="en-GB" b="1" dirty="0"/>
              <a:t>which</a:t>
            </a:r>
            <a:r>
              <a:rPr lang="en-GB" dirty="0"/>
              <a:t> </a:t>
            </a:r>
            <a:r>
              <a:rPr lang="en-GB" b="1" dirty="0"/>
              <a:t>kernel</a:t>
            </a:r>
            <a:r>
              <a:rPr lang="en-GB" dirty="0"/>
              <a:t> </a:t>
            </a:r>
            <a:r>
              <a:rPr lang="en-GB" b="1" dirty="0"/>
              <a:t>to</a:t>
            </a:r>
            <a:r>
              <a:rPr lang="en-GB" dirty="0"/>
              <a:t> </a:t>
            </a:r>
            <a:r>
              <a:rPr lang="en-GB" b="1" dirty="0"/>
              <a:t>use</a:t>
            </a:r>
            <a:r>
              <a:rPr lang="en-GB" dirty="0"/>
              <a:t>.</a:t>
            </a:r>
          </a:p>
          <a:p>
            <a:endParaRPr lang="en-SG" dirty="0"/>
          </a:p>
        </p:txBody>
      </p:sp>
      <p:pic>
        <p:nvPicPr>
          <p:cNvPr id="5" name="Picture 4">
            <a:extLst>
              <a:ext uri="{FF2B5EF4-FFF2-40B4-BE49-F238E27FC236}">
                <a16:creationId xmlns:a16="http://schemas.microsoft.com/office/drawing/2014/main" id="{00DD1030-CB74-BC3B-F7E0-3C3DC0BCFA0B}"/>
              </a:ext>
            </a:extLst>
          </p:cNvPr>
          <p:cNvPicPr>
            <a:picLocks noChangeAspect="1"/>
          </p:cNvPicPr>
          <p:nvPr/>
        </p:nvPicPr>
        <p:blipFill>
          <a:blip r:embed="rId2"/>
          <a:stretch>
            <a:fillRect/>
          </a:stretch>
        </p:blipFill>
        <p:spPr>
          <a:xfrm>
            <a:off x="5763408" y="593970"/>
            <a:ext cx="6318714" cy="3704916"/>
          </a:xfrm>
          <a:prstGeom prst="rect">
            <a:avLst/>
          </a:prstGeom>
        </p:spPr>
      </p:pic>
    </p:spTree>
    <p:extLst>
      <p:ext uri="{BB962C8B-B14F-4D97-AF65-F5344CB8AC3E}">
        <p14:creationId xmlns:p14="http://schemas.microsoft.com/office/powerpoint/2010/main" val="25214911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5E799-7684-A653-9672-5659F1D59B21}"/>
              </a:ext>
            </a:extLst>
          </p:cNvPr>
          <p:cNvSpPr>
            <a:spLocks noGrp="1"/>
          </p:cNvSpPr>
          <p:nvPr>
            <p:ph type="title"/>
          </p:nvPr>
        </p:nvSpPr>
        <p:spPr/>
        <p:txBody>
          <a:bodyPr/>
          <a:lstStyle/>
          <a:p>
            <a:r>
              <a:rPr lang="en-GB" dirty="0"/>
              <a:t>Testing convolution</a:t>
            </a:r>
            <a:br>
              <a:rPr lang="en-GB" dirty="0"/>
            </a:br>
            <a:r>
              <a:rPr lang="en-GB" dirty="0"/>
              <a:t>on images</a:t>
            </a:r>
            <a:endParaRPr lang="en-SG"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CC2FBEC1-65A9-2CDC-8F3D-81E29687F927}"/>
                  </a:ext>
                </a:extLst>
              </p:cNvPr>
              <p:cNvSpPr>
                <a:spLocks noGrp="1"/>
              </p:cNvSpPr>
              <p:nvPr>
                <p:ph sz="half" idx="1"/>
              </p:nvPr>
            </p:nvSpPr>
            <p:spPr>
              <a:xfrm>
                <a:off x="838200" y="1825624"/>
                <a:ext cx="5382846" cy="5032375"/>
              </a:xfrm>
            </p:spPr>
            <p:txBody>
              <a:bodyPr>
                <a:normAutofit/>
              </a:bodyPr>
              <a:lstStyle/>
              <a:p>
                <a:pPr marL="0" indent="0">
                  <a:buNone/>
                </a:pPr>
                <a:r>
                  <a:rPr lang="en-GB" b="1" dirty="0"/>
                  <a:t>Definition (the </a:t>
                </a:r>
                <a:r>
                  <a:rPr lang="en-GB" b="1" dirty="0">
                    <a:solidFill>
                      <a:srgbClr val="00B050"/>
                    </a:solidFill>
                  </a:rPr>
                  <a:t>blur</a:t>
                </a:r>
                <a:r>
                  <a:rPr lang="en-GB" b="1" dirty="0"/>
                  <a:t> kernel):</a:t>
                </a:r>
              </a:p>
              <a:p>
                <a:pPr marL="0" indent="0">
                  <a:buNone/>
                </a:pPr>
                <a:r>
                  <a:rPr lang="en-GB" dirty="0"/>
                  <a:t>The </a:t>
                </a:r>
                <a:r>
                  <a:rPr lang="en-GB" b="1" dirty="0">
                    <a:solidFill>
                      <a:srgbClr val="00B050"/>
                    </a:solidFill>
                  </a:rPr>
                  <a:t>blur</a:t>
                </a:r>
                <a:r>
                  <a:rPr lang="en-GB" dirty="0"/>
                  <a:t> </a:t>
                </a:r>
                <a:r>
                  <a:rPr lang="en-GB" b="1" dirty="0"/>
                  <a:t>kernel</a:t>
                </a:r>
                <a:r>
                  <a:rPr lang="en-GB" dirty="0"/>
                  <a:t> is a matrix with constant values, summing up to 1.</a:t>
                </a:r>
              </a:p>
              <a:p>
                <a:pPr marL="0" indent="0">
                  <a:buNone/>
                </a:pPr>
                <a:r>
                  <a:rPr lang="en-GB" dirty="0"/>
                  <a:t>For instance, a </a:t>
                </a:r>
                <a14:m>
                  <m:oMath xmlns:m="http://schemas.openxmlformats.org/officeDocument/2006/math">
                    <m:r>
                      <a:rPr lang="en-GB" b="0" i="1" smtClean="0">
                        <a:latin typeface="Cambria Math" panose="02040503050406030204" pitchFamily="18" charset="0"/>
                      </a:rPr>
                      <m:t>5×5</m:t>
                    </m:r>
                  </m:oMath>
                </a14:m>
                <a:r>
                  <a:rPr lang="en-GB" dirty="0"/>
                  <a:t> </a:t>
                </a:r>
                <a:r>
                  <a:rPr lang="en-GB" b="1" dirty="0">
                    <a:solidFill>
                      <a:srgbClr val="00B050"/>
                    </a:solidFill>
                  </a:rPr>
                  <a:t>blur</a:t>
                </a:r>
                <a:r>
                  <a:rPr lang="en-GB" dirty="0"/>
                  <a:t> </a:t>
                </a:r>
                <a:r>
                  <a:rPr lang="en-GB" b="1" dirty="0"/>
                  <a:t>kernel</a:t>
                </a:r>
                <a:r>
                  <a:rPr lang="en-GB" dirty="0"/>
                  <a:t> is defined as:</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𝐾</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25</m:t>
                          </m:r>
                        </m:den>
                      </m:f>
                      <m:d>
                        <m:dPr>
                          <m:ctrlPr>
                            <a:rPr lang="en-GB" b="0" i="1" smtClean="0">
                              <a:latin typeface="Cambria Math" panose="02040503050406030204" pitchFamily="18" charset="0"/>
                            </a:rPr>
                          </m:ctrlPr>
                        </m:dPr>
                        <m:e>
                          <m:m>
                            <m:mPr>
                              <m:mcs>
                                <m:mc>
                                  <m:mcPr>
                                    <m:count m:val="3"/>
                                    <m:mcJc m:val="center"/>
                                  </m:mcPr>
                                </m:mc>
                              </m:mcs>
                              <m:ctrlPr>
                                <a:rPr lang="en-GB" b="0" i="1" smtClean="0">
                                  <a:latin typeface="Cambria Math" panose="02040503050406030204" pitchFamily="18" charset="0"/>
                                </a:rPr>
                              </m:ctrlPr>
                            </m:mPr>
                            <m:mr>
                              <m:e>
                                <m:m>
                                  <m:mPr>
                                    <m:mcs>
                                      <m:mc>
                                        <m:mcPr>
                                          <m:count m:val="3"/>
                                          <m:mcJc m:val="center"/>
                                        </m:mcPr>
                                      </m:mc>
                                    </m:mcs>
                                    <m:ctrlPr>
                                      <a:rPr lang="en-GB" b="0" i="1" smtClean="0">
                                        <a:latin typeface="Cambria Math" panose="02040503050406030204" pitchFamily="18" charset="0"/>
                                      </a:rPr>
                                    </m:ctrlPr>
                                  </m:mPr>
                                  <m:mr>
                                    <m:e>
                                      <m:r>
                                        <m:rPr>
                                          <m:brk m:alnAt="7"/>
                                        </m:rPr>
                                        <a:rPr lang="en-GB" b="0" i="1" smtClean="0">
                                          <a:latin typeface="Cambria Math" panose="02040503050406030204" pitchFamily="18" charset="0"/>
                                        </a:rPr>
                                        <m:t>1</m:t>
                                      </m:r>
                                    </m:e>
                                    <m:e>
                                      <m:r>
                                        <a:rPr lang="en-GB" b="0" i="1" smtClean="0">
                                          <a:latin typeface="Cambria Math" panose="02040503050406030204" pitchFamily="18" charset="0"/>
                                        </a:rPr>
                                        <m:t>1</m:t>
                                      </m:r>
                                    </m:e>
                                    <m:e>
                                      <m:r>
                                        <a:rPr lang="en-GB" b="0" i="1" smtClean="0">
                                          <a:latin typeface="Cambria Math" panose="02040503050406030204" pitchFamily="18" charset="0"/>
                                        </a:rPr>
                                        <m:t>1</m:t>
                                      </m:r>
                                    </m:e>
                                  </m:mr>
                                  <m:mr>
                                    <m:e>
                                      <m:r>
                                        <a:rPr lang="en-GB" b="0" i="1" smtClean="0">
                                          <a:latin typeface="Cambria Math" panose="02040503050406030204" pitchFamily="18" charset="0"/>
                                        </a:rPr>
                                        <m:t>1</m:t>
                                      </m:r>
                                    </m:e>
                                    <m:e>
                                      <m:r>
                                        <a:rPr lang="en-GB" b="0" i="1" smtClean="0">
                                          <a:latin typeface="Cambria Math" panose="02040503050406030204" pitchFamily="18" charset="0"/>
                                        </a:rPr>
                                        <m:t>1</m:t>
                                      </m:r>
                                    </m:e>
                                    <m:e>
                                      <m:r>
                                        <a:rPr lang="en-GB" b="0" i="1" smtClean="0">
                                          <a:latin typeface="Cambria Math" panose="02040503050406030204" pitchFamily="18" charset="0"/>
                                        </a:rPr>
                                        <m:t>1</m:t>
                                      </m:r>
                                    </m:e>
                                  </m:mr>
                                </m:m>
                              </m:e>
                              <m:e>
                                <m:m>
                                  <m:mPr>
                                    <m:mcs>
                                      <m:mc>
                                        <m:mcPr>
                                          <m:count m:val="1"/>
                                          <m:mcJc m:val="center"/>
                                        </m:mcPr>
                                      </m:mc>
                                    </m:mcs>
                                    <m:ctrlPr>
                                      <a:rPr lang="en-GB" b="0" i="1" smtClean="0">
                                        <a:latin typeface="Cambria Math" panose="02040503050406030204" pitchFamily="18" charset="0"/>
                                      </a:rPr>
                                    </m:ctrlPr>
                                  </m:mPr>
                                  <m:mr>
                                    <m:e>
                                      <m:r>
                                        <m:rPr>
                                          <m:brk m:alnAt="7"/>
                                        </m:rPr>
                                        <a:rPr lang="en-GB" b="0" i="1" smtClean="0">
                                          <a:latin typeface="Cambria Math" panose="02040503050406030204" pitchFamily="18" charset="0"/>
                                        </a:rPr>
                                        <m:t>1</m:t>
                                      </m:r>
                                    </m:e>
                                  </m:mr>
                                  <m:mr>
                                    <m:e>
                                      <m:r>
                                        <a:rPr lang="en-GB" b="0" i="1" smtClean="0">
                                          <a:latin typeface="Cambria Math" panose="02040503050406030204" pitchFamily="18" charset="0"/>
                                        </a:rPr>
                                        <m:t>1</m:t>
                                      </m:r>
                                    </m:e>
                                  </m:mr>
                                </m:m>
                              </m:e>
                              <m:e>
                                <m:m>
                                  <m:mPr>
                                    <m:mcs>
                                      <m:mc>
                                        <m:mcPr>
                                          <m:count m:val="1"/>
                                          <m:mcJc m:val="center"/>
                                        </m:mcPr>
                                      </m:mc>
                                    </m:mcs>
                                    <m:ctrlPr>
                                      <a:rPr lang="en-GB" b="0" i="1" smtClean="0">
                                        <a:latin typeface="Cambria Math" panose="02040503050406030204" pitchFamily="18" charset="0"/>
                                      </a:rPr>
                                    </m:ctrlPr>
                                  </m:mPr>
                                  <m:mr>
                                    <m:e>
                                      <m:r>
                                        <m:rPr>
                                          <m:brk m:alnAt="7"/>
                                        </m:rPr>
                                        <a:rPr lang="en-GB" b="0" i="1" smtClean="0">
                                          <a:latin typeface="Cambria Math" panose="02040503050406030204" pitchFamily="18" charset="0"/>
                                        </a:rPr>
                                        <m:t>1</m:t>
                                      </m:r>
                                    </m:e>
                                  </m:mr>
                                  <m:mr>
                                    <m:e>
                                      <m:r>
                                        <a:rPr lang="en-GB" b="0" i="1" smtClean="0">
                                          <a:latin typeface="Cambria Math" panose="02040503050406030204" pitchFamily="18" charset="0"/>
                                        </a:rPr>
                                        <m:t>1</m:t>
                                      </m:r>
                                    </m:e>
                                  </m:mr>
                                </m:m>
                              </m:e>
                            </m:mr>
                            <m:mr>
                              <m:e>
                                <m:m>
                                  <m:mPr>
                                    <m:mcs>
                                      <m:mc>
                                        <m:mcPr>
                                          <m:count m:val="3"/>
                                          <m:mcJc m:val="center"/>
                                        </m:mcPr>
                                      </m:mc>
                                    </m:mcs>
                                    <m:ctrlPr>
                                      <a:rPr lang="en-GB" b="0" i="1" smtClean="0">
                                        <a:latin typeface="Cambria Math" panose="02040503050406030204" pitchFamily="18" charset="0"/>
                                      </a:rPr>
                                    </m:ctrlPr>
                                  </m:mPr>
                                  <m:mr>
                                    <m:e>
                                      <m:r>
                                        <m:rPr>
                                          <m:brk m:alnAt="7"/>
                                        </m:rPr>
                                        <a:rPr lang="en-GB" b="0" i="1" smtClean="0">
                                          <a:latin typeface="Cambria Math" panose="02040503050406030204" pitchFamily="18" charset="0"/>
                                        </a:rPr>
                                        <m:t>1</m:t>
                                      </m:r>
                                    </m:e>
                                    <m:e>
                                      <m:r>
                                        <a:rPr lang="en-GB" b="0" i="1" smtClean="0">
                                          <a:latin typeface="Cambria Math" panose="02040503050406030204" pitchFamily="18" charset="0"/>
                                        </a:rPr>
                                        <m:t>1</m:t>
                                      </m:r>
                                    </m:e>
                                    <m:e>
                                      <m:r>
                                        <a:rPr lang="en-GB" b="0" i="1" smtClean="0">
                                          <a:latin typeface="Cambria Math" panose="02040503050406030204" pitchFamily="18" charset="0"/>
                                        </a:rPr>
                                        <m:t>1</m:t>
                                      </m:r>
                                    </m:e>
                                  </m:mr>
                                  <m:mr>
                                    <m:e>
                                      <m:r>
                                        <a:rPr lang="en-GB" b="0" i="1" smtClean="0">
                                          <a:latin typeface="Cambria Math" panose="02040503050406030204" pitchFamily="18" charset="0"/>
                                        </a:rPr>
                                        <m:t>1</m:t>
                                      </m:r>
                                    </m:e>
                                    <m:e>
                                      <m:r>
                                        <a:rPr lang="en-GB" b="0" i="1" smtClean="0">
                                          <a:latin typeface="Cambria Math" panose="02040503050406030204" pitchFamily="18" charset="0"/>
                                        </a:rPr>
                                        <m:t>1</m:t>
                                      </m:r>
                                    </m:e>
                                    <m:e>
                                      <m:r>
                                        <a:rPr lang="en-GB" b="0" i="1" smtClean="0">
                                          <a:latin typeface="Cambria Math" panose="02040503050406030204" pitchFamily="18" charset="0"/>
                                        </a:rPr>
                                        <m:t>1</m:t>
                                      </m:r>
                                    </m:e>
                                  </m:mr>
                                </m:m>
                              </m:e>
                              <m:e>
                                <m:m>
                                  <m:mPr>
                                    <m:mcs>
                                      <m:mc>
                                        <m:mcPr>
                                          <m:count m:val="1"/>
                                          <m:mcJc m:val="center"/>
                                        </m:mcPr>
                                      </m:mc>
                                    </m:mcs>
                                    <m:ctrlPr>
                                      <a:rPr lang="en-GB" b="0" i="1" smtClean="0">
                                        <a:latin typeface="Cambria Math" panose="02040503050406030204" pitchFamily="18" charset="0"/>
                                      </a:rPr>
                                    </m:ctrlPr>
                                  </m:mPr>
                                  <m:mr>
                                    <m:e>
                                      <m:r>
                                        <m:rPr>
                                          <m:brk m:alnAt="7"/>
                                        </m:rPr>
                                        <a:rPr lang="en-GB" b="0" i="1" smtClean="0">
                                          <a:latin typeface="Cambria Math" panose="02040503050406030204" pitchFamily="18" charset="0"/>
                                        </a:rPr>
                                        <m:t>1</m:t>
                                      </m:r>
                                    </m:e>
                                  </m:mr>
                                  <m:mr>
                                    <m:e>
                                      <m:r>
                                        <a:rPr lang="en-GB" b="0" i="1" smtClean="0">
                                          <a:latin typeface="Cambria Math" panose="02040503050406030204" pitchFamily="18" charset="0"/>
                                        </a:rPr>
                                        <m:t>1</m:t>
                                      </m:r>
                                    </m:e>
                                  </m:mr>
                                </m:m>
                              </m:e>
                              <m:e>
                                <m:m>
                                  <m:mPr>
                                    <m:mcs>
                                      <m:mc>
                                        <m:mcPr>
                                          <m:count m:val="1"/>
                                          <m:mcJc m:val="center"/>
                                        </m:mcPr>
                                      </m:mc>
                                    </m:mcs>
                                    <m:ctrlPr>
                                      <a:rPr lang="en-GB" b="0" i="1" smtClean="0">
                                        <a:latin typeface="Cambria Math" panose="02040503050406030204" pitchFamily="18" charset="0"/>
                                      </a:rPr>
                                    </m:ctrlPr>
                                  </m:mPr>
                                  <m:mr>
                                    <m:e>
                                      <m:r>
                                        <m:rPr>
                                          <m:brk m:alnAt="7"/>
                                        </m:rPr>
                                        <a:rPr lang="en-GB" b="0" i="1" smtClean="0">
                                          <a:latin typeface="Cambria Math" panose="02040503050406030204" pitchFamily="18" charset="0"/>
                                        </a:rPr>
                                        <m:t>1</m:t>
                                      </m:r>
                                    </m:e>
                                  </m:mr>
                                  <m:mr>
                                    <m:e>
                                      <m:r>
                                        <a:rPr lang="en-GB" b="0" i="1" smtClean="0">
                                          <a:latin typeface="Cambria Math" panose="02040503050406030204" pitchFamily="18" charset="0"/>
                                        </a:rPr>
                                        <m:t>1</m:t>
                                      </m:r>
                                    </m:e>
                                  </m:mr>
                                </m:m>
                              </m:e>
                            </m:mr>
                            <m:mr>
                              <m:e>
                                <m:m>
                                  <m:mPr>
                                    <m:mcs>
                                      <m:mc>
                                        <m:mcPr>
                                          <m:count m:val="3"/>
                                          <m:mcJc m:val="center"/>
                                        </m:mcPr>
                                      </m:mc>
                                    </m:mcs>
                                    <m:ctrlPr>
                                      <a:rPr lang="en-GB" b="0" i="1" smtClean="0">
                                        <a:latin typeface="Cambria Math" panose="02040503050406030204" pitchFamily="18" charset="0"/>
                                      </a:rPr>
                                    </m:ctrlPr>
                                  </m:mPr>
                                  <m:mr>
                                    <m:e>
                                      <m:r>
                                        <m:rPr>
                                          <m:brk m:alnAt="7"/>
                                        </m:rPr>
                                        <a:rPr lang="en-GB" b="0" i="1" smtClean="0">
                                          <a:latin typeface="Cambria Math" panose="02040503050406030204" pitchFamily="18" charset="0"/>
                                        </a:rPr>
                                        <m:t>1</m:t>
                                      </m:r>
                                    </m:e>
                                    <m:e>
                                      <m:r>
                                        <a:rPr lang="en-GB" b="0" i="1" smtClean="0">
                                          <a:latin typeface="Cambria Math" panose="02040503050406030204" pitchFamily="18" charset="0"/>
                                        </a:rPr>
                                        <m:t>1</m:t>
                                      </m:r>
                                    </m:e>
                                    <m:e>
                                      <m:r>
                                        <a:rPr lang="en-GB" b="0" i="1" smtClean="0">
                                          <a:latin typeface="Cambria Math" panose="02040503050406030204" pitchFamily="18" charset="0"/>
                                        </a:rPr>
                                        <m:t>1</m:t>
                                      </m:r>
                                    </m:e>
                                  </m:mr>
                                </m:m>
                              </m:e>
                              <m:e>
                                <m:r>
                                  <a:rPr lang="en-GB" b="0" i="1" smtClean="0">
                                    <a:latin typeface="Cambria Math" panose="02040503050406030204" pitchFamily="18" charset="0"/>
                                  </a:rPr>
                                  <m:t>1</m:t>
                                </m:r>
                              </m:e>
                              <m:e>
                                <m:r>
                                  <a:rPr lang="en-GB" b="0" i="1" smtClean="0">
                                    <a:latin typeface="Cambria Math" panose="02040503050406030204" pitchFamily="18" charset="0"/>
                                  </a:rPr>
                                  <m:t>1</m:t>
                                </m:r>
                              </m:e>
                            </m:mr>
                          </m:m>
                        </m:e>
                      </m:d>
                    </m:oMath>
                  </m:oMathPara>
                </a14:m>
                <a:endParaRPr lang="en-GB" dirty="0"/>
              </a:p>
              <a:p>
                <a:pPr marL="0" indent="0">
                  <a:buNone/>
                </a:pPr>
                <a:r>
                  <a:rPr lang="en-GB" dirty="0"/>
                  <a:t>Its effect is to </a:t>
                </a:r>
                <a:r>
                  <a:rPr lang="en-GB" b="1" dirty="0"/>
                  <a:t>transform the image into a more blurred version of it</a:t>
                </a:r>
                <a:r>
                  <a:rPr lang="en-GB" dirty="0"/>
                  <a:t>.</a:t>
                </a:r>
              </a:p>
              <a:p>
                <a:pPr marL="0" indent="0">
                  <a:buNone/>
                </a:pPr>
                <a:endParaRPr lang="en-SG" dirty="0"/>
              </a:p>
            </p:txBody>
          </p:sp>
        </mc:Choice>
        <mc:Fallback xmlns="">
          <p:sp>
            <p:nvSpPr>
              <p:cNvPr id="4" name="Content Placeholder 3">
                <a:extLst>
                  <a:ext uri="{FF2B5EF4-FFF2-40B4-BE49-F238E27FC236}">
                    <a16:creationId xmlns:a16="http://schemas.microsoft.com/office/drawing/2014/main" id="{CC2FBEC1-65A9-2CDC-8F3D-81E29687F927}"/>
                  </a:ext>
                </a:extLst>
              </p:cNvPr>
              <p:cNvSpPr>
                <a:spLocks noGrp="1" noRot="1" noChangeAspect="1" noMove="1" noResize="1" noEditPoints="1" noAdjustHandles="1" noChangeArrowheads="1" noChangeShapeType="1" noTextEdit="1"/>
              </p:cNvSpPr>
              <p:nvPr>
                <p:ph sz="half" idx="1"/>
              </p:nvPr>
            </p:nvSpPr>
            <p:spPr>
              <a:xfrm>
                <a:off x="838200" y="1825624"/>
                <a:ext cx="5382846" cy="5032375"/>
              </a:xfrm>
              <a:blipFill>
                <a:blip r:embed="rId2"/>
                <a:stretch>
                  <a:fillRect l="-2378" t="-1937" r="-680" b="-2421"/>
                </a:stretch>
              </a:blipFill>
            </p:spPr>
            <p:txBody>
              <a:bodyPr/>
              <a:lstStyle/>
              <a:p>
                <a:r>
                  <a:rPr lang="en-GB">
                    <a:noFill/>
                  </a:rPr>
                  <a:t> </a:t>
                </a:r>
              </a:p>
            </p:txBody>
          </p:sp>
        </mc:Fallback>
      </mc:AlternateContent>
      <p:pic>
        <p:nvPicPr>
          <p:cNvPr id="7" name="Picture 6">
            <a:extLst>
              <a:ext uri="{FF2B5EF4-FFF2-40B4-BE49-F238E27FC236}">
                <a16:creationId xmlns:a16="http://schemas.microsoft.com/office/drawing/2014/main" id="{8D0C5671-51B1-CC4B-67D0-F79E02CBA878}"/>
              </a:ext>
            </a:extLst>
          </p:cNvPr>
          <p:cNvPicPr>
            <a:picLocks noChangeAspect="1"/>
          </p:cNvPicPr>
          <p:nvPr/>
        </p:nvPicPr>
        <p:blipFill>
          <a:blip r:embed="rId3"/>
          <a:stretch>
            <a:fillRect/>
          </a:stretch>
        </p:blipFill>
        <p:spPr>
          <a:xfrm>
            <a:off x="6346092" y="0"/>
            <a:ext cx="5657216" cy="6858000"/>
          </a:xfrm>
          <a:prstGeom prst="rect">
            <a:avLst/>
          </a:prstGeom>
        </p:spPr>
      </p:pic>
    </p:spTree>
    <p:extLst>
      <p:ext uri="{BB962C8B-B14F-4D97-AF65-F5344CB8AC3E}">
        <p14:creationId xmlns:p14="http://schemas.microsoft.com/office/powerpoint/2010/main" val="20398726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BC5A42E-E75D-45E1-F89A-C0451D6CFD33}"/>
              </a:ext>
            </a:extLst>
          </p:cNvPr>
          <p:cNvPicPr>
            <a:picLocks noChangeAspect="1"/>
          </p:cNvPicPr>
          <p:nvPr/>
        </p:nvPicPr>
        <p:blipFill>
          <a:blip r:embed="rId2"/>
          <a:stretch>
            <a:fillRect/>
          </a:stretch>
        </p:blipFill>
        <p:spPr>
          <a:xfrm>
            <a:off x="6346092" y="0"/>
            <a:ext cx="5657216" cy="6858000"/>
          </a:xfrm>
          <a:prstGeom prst="rect">
            <a:avLst/>
          </a:prstGeom>
        </p:spPr>
      </p:pic>
      <p:pic>
        <p:nvPicPr>
          <p:cNvPr id="9" name="Picture 8">
            <a:extLst>
              <a:ext uri="{FF2B5EF4-FFF2-40B4-BE49-F238E27FC236}">
                <a16:creationId xmlns:a16="http://schemas.microsoft.com/office/drawing/2014/main" id="{1C8735B4-BA4F-8929-5907-8A1E79E1415D}"/>
              </a:ext>
            </a:extLst>
          </p:cNvPr>
          <p:cNvPicPr>
            <a:picLocks noChangeAspect="1"/>
          </p:cNvPicPr>
          <p:nvPr/>
        </p:nvPicPr>
        <p:blipFill>
          <a:blip r:embed="rId3"/>
          <a:stretch>
            <a:fillRect/>
          </a:stretch>
        </p:blipFill>
        <p:spPr>
          <a:xfrm>
            <a:off x="120740" y="0"/>
            <a:ext cx="5593582" cy="6858000"/>
          </a:xfrm>
          <a:prstGeom prst="rect">
            <a:avLst/>
          </a:prstGeom>
        </p:spPr>
      </p:pic>
      <p:sp>
        <p:nvSpPr>
          <p:cNvPr id="10" name="Arrow: Right 9">
            <a:extLst>
              <a:ext uri="{FF2B5EF4-FFF2-40B4-BE49-F238E27FC236}">
                <a16:creationId xmlns:a16="http://schemas.microsoft.com/office/drawing/2014/main" id="{A28F6333-EB01-D70E-61F0-7A1DCAA0D7AC}"/>
              </a:ext>
            </a:extLst>
          </p:cNvPr>
          <p:cNvSpPr/>
          <p:nvPr/>
        </p:nvSpPr>
        <p:spPr>
          <a:xfrm>
            <a:off x="5220677" y="4407877"/>
            <a:ext cx="2047631" cy="77372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41846255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BC5A42E-E75D-45E1-F89A-C0451D6CFD33}"/>
              </a:ext>
            </a:extLst>
          </p:cNvPr>
          <p:cNvPicPr>
            <a:picLocks noChangeAspect="1"/>
          </p:cNvPicPr>
          <p:nvPr/>
        </p:nvPicPr>
        <p:blipFill>
          <a:blip r:embed="rId2"/>
          <a:stretch>
            <a:fillRect/>
          </a:stretch>
        </p:blipFill>
        <p:spPr>
          <a:xfrm>
            <a:off x="6346092" y="0"/>
            <a:ext cx="5657216" cy="6858000"/>
          </a:xfrm>
          <a:prstGeom prst="rect">
            <a:avLst/>
          </a:prstGeom>
        </p:spPr>
      </p:pic>
      <p:pic>
        <p:nvPicPr>
          <p:cNvPr id="9" name="Picture 8">
            <a:extLst>
              <a:ext uri="{FF2B5EF4-FFF2-40B4-BE49-F238E27FC236}">
                <a16:creationId xmlns:a16="http://schemas.microsoft.com/office/drawing/2014/main" id="{1C8735B4-BA4F-8929-5907-8A1E79E1415D}"/>
              </a:ext>
            </a:extLst>
          </p:cNvPr>
          <p:cNvPicPr>
            <a:picLocks noChangeAspect="1"/>
          </p:cNvPicPr>
          <p:nvPr/>
        </p:nvPicPr>
        <p:blipFill>
          <a:blip r:embed="rId3"/>
          <a:stretch>
            <a:fillRect/>
          </a:stretch>
        </p:blipFill>
        <p:spPr>
          <a:xfrm>
            <a:off x="120740" y="0"/>
            <a:ext cx="5593582" cy="6858000"/>
          </a:xfrm>
          <a:prstGeom prst="rect">
            <a:avLst/>
          </a:prstGeom>
        </p:spPr>
      </p:pic>
      <p:sp>
        <p:nvSpPr>
          <p:cNvPr id="10" name="Arrow: Right 9">
            <a:extLst>
              <a:ext uri="{FF2B5EF4-FFF2-40B4-BE49-F238E27FC236}">
                <a16:creationId xmlns:a16="http://schemas.microsoft.com/office/drawing/2014/main" id="{A28F6333-EB01-D70E-61F0-7A1DCAA0D7AC}"/>
              </a:ext>
            </a:extLst>
          </p:cNvPr>
          <p:cNvSpPr/>
          <p:nvPr/>
        </p:nvSpPr>
        <p:spPr>
          <a:xfrm>
            <a:off x="5220677" y="4407877"/>
            <a:ext cx="2047631" cy="77372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3" name="Picture 2">
            <a:extLst>
              <a:ext uri="{FF2B5EF4-FFF2-40B4-BE49-F238E27FC236}">
                <a16:creationId xmlns:a16="http://schemas.microsoft.com/office/drawing/2014/main" id="{B382462A-EAE3-512E-4CB0-CC1DF384E195}"/>
              </a:ext>
            </a:extLst>
          </p:cNvPr>
          <p:cNvPicPr>
            <a:picLocks noChangeAspect="1"/>
          </p:cNvPicPr>
          <p:nvPr/>
        </p:nvPicPr>
        <p:blipFill>
          <a:blip r:embed="rId4"/>
          <a:stretch>
            <a:fillRect/>
          </a:stretch>
        </p:blipFill>
        <p:spPr>
          <a:xfrm>
            <a:off x="7268308" y="2969846"/>
            <a:ext cx="4550344" cy="3429942"/>
          </a:xfrm>
          <a:prstGeom prst="rect">
            <a:avLst/>
          </a:prstGeom>
        </p:spPr>
      </p:pic>
      <p:sp>
        <p:nvSpPr>
          <p:cNvPr id="4" name="TextBox 3">
            <a:extLst>
              <a:ext uri="{FF2B5EF4-FFF2-40B4-BE49-F238E27FC236}">
                <a16:creationId xmlns:a16="http://schemas.microsoft.com/office/drawing/2014/main" id="{D84F2D87-59BC-08F9-850A-414D75610BD3}"/>
              </a:ext>
            </a:extLst>
          </p:cNvPr>
          <p:cNvSpPr txBox="1"/>
          <p:nvPr/>
        </p:nvSpPr>
        <p:spPr>
          <a:xfrm>
            <a:off x="4235938" y="5005864"/>
            <a:ext cx="2571262" cy="1569660"/>
          </a:xfrm>
          <a:prstGeom prst="rect">
            <a:avLst/>
          </a:prstGeom>
          <a:noFill/>
        </p:spPr>
        <p:txBody>
          <a:bodyPr wrap="square" rtlCol="0">
            <a:spAutoFit/>
          </a:bodyPr>
          <a:lstStyle/>
          <a:p>
            <a:pPr algn="ctr"/>
            <a:r>
              <a:rPr lang="en-GB" sz="2400" b="1" dirty="0">
                <a:ln w="3175">
                  <a:solidFill>
                    <a:schemeClr val="bg1"/>
                  </a:solidFill>
                  <a:prstDash val="solid"/>
                </a:ln>
                <a:solidFill>
                  <a:schemeClr val="accent1"/>
                </a:solidFill>
              </a:rPr>
              <a:t>Can be repeated multiple times to increase the blur effect!</a:t>
            </a:r>
            <a:endParaRPr lang="en-SG" sz="2400" b="1" dirty="0">
              <a:ln w="3175">
                <a:solidFill>
                  <a:schemeClr val="bg1"/>
                </a:solidFill>
                <a:prstDash val="solid"/>
              </a:ln>
              <a:solidFill>
                <a:schemeClr val="accent1"/>
              </a:solidFill>
            </a:endParaRPr>
          </a:p>
        </p:txBody>
      </p:sp>
    </p:spTree>
    <p:extLst>
      <p:ext uri="{BB962C8B-B14F-4D97-AF65-F5344CB8AC3E}">
        <p14:creationId xmlns:p14="http://schemas.microsoft.com/office/powerpoint/2010/main" val="40232303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5E799-7684-A653-9672-5659F1D59B21}"/>
              </a:ext>
            </a:extLst>
          </p:cNvPr>
          <p:cNvSpPr>
            <a:spLocks noGrp="1"/>
          </p:cNvSpPr>
          <p:nvPr>
            <p:ph type="title"/>
          </p:nvPr>
        </p:nvSpPr>
        <p:spPr/>
        <p:txBody>
          <a:bodyPr/>
          <a:lstStyle/>
          <a:p>
            <a:r>
              <a:rPr lang="en-GB" dirty="0"/>
              <a:t>Testing convolution</a:t>
            </a:r>
            <a:br>
              <a:rPr lang="en-GB" dirty="0"/>
            </a:br>
            <a:r>
              <a:rPr lang="en-GB" dirty="0"/>
              <a:t>on images</a:t>
            </a:r>
            <a:endParaRPr lang="en-SG"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CC2FBEC1-65A9-2CDC-8F3D-81E29687F927}"/>
                  </a:ext>
                </a:extLst>
              </p:cNvPr>
              <p:cNvSpPr>
                <a:spLocks noGrp="1"/>
              </p:cNvSpPr>
              <p:nvPr>
                <p:ph sz="half" idx="1"/>
              </p:nvPr>
            </p:nvSpPr>
            <p:spPr>
              <a:xfrm>
                <a:off x="838200" y="1825624"/>
                <a:ext cx="5382846" cy="5032375"/>
              </a:xfrm>
            </p:spPr>
            <p:txBody>
              <a:bodyPr>
                <a:normAutofit/>
              </a:bodyPr>
              <a:lstStyle/>
              <a:p>
                <a:pPr marL="0" indent="0">
                  <a:buNone/>
                </a:pPr>
                <a:r>
                  <a:rPr lang="en-GB" b="1" dirty="0"/>
                  <a:t>Definition (the </a:t>
                </a:r>
                <a:r>
                  <a:rPr lang="en-GB" b="1" dirty="0">
                    <a:solidFill>
                      <a:srgbClr val="00B050"/>
                    </a:solidFill>
                  </a:rPr>
                  <a:t>edge detection</a:t>
                </a:r>
                <a:r>
                  <a:rPr lang="en-GB" b="1" dirty="0"/>
                  <a:t> kernel):</a:t>
                </a:r>
              </a:p>
              <a:p>
                <a:pPr marL="0" indent="0">
                  <a:buNone/>
                </a:pPr>
                <a:r>
                  <a:rPr lang="en-GB" dirty="0"/>
                  <a:t>We can also perform </a:t>
                </a:r>
                <a:r>
                  <a:rPr lang="en-GB" b="1" dirty="0">
                    <a:solidFill>
                      <a:srgbClr val="00B050"/>
                    </a:solidFill>
                  </a:rPr>
                  <a:t>edge</a:t>
                </a:r>
                <a:r>
                  <a:rPr lang="en-GB" dirty="0"/>
                  <a:t> </a:t>
                </a:r>
                <a:r>
                  <a:rPr lang="en-GB" b="1" dirty="0">
                    <a:solidFill>
                      <a:srgbClr val="00B050"/>
                    </a:solidFill>
                  </a:rPr>
                  <a:t>detection</a:t>
                </a:r>
                <a:r>
                  <a:rPr lang="en-GB" dirty="0"/>
                  <a:t>, using, for instance the </a:t>
                </a:r>
                <a14:m>
                  <m:oMath xmlns:m="http://schemas.openxmlformats.org/officeDocument/2006/math">
                    <m:r>
                      <a:rPr lang="en-GB" i="1">
                        <a:latin typeface="Cambria Math" panose="02040503050406030204" pitchFamily="18" charset="0"/>
                      </a:rPr>
                      <m:t>3</m:t>
                    </m:r>
                    <m:r>
                      <a:rPr lang="en-GB" b="0" i="1" smtClean="0">
                        <a:latin typeface="Cambria Math" panose="02040503050406030204" pitchFamily="18" charset="0"/>
                      </a:rPr>
                      <m:t>×3</m:t>
                    </m:r>
                  </m:oMath>
                </a14:m>
                <a:r>
                  <a:rPr lang="en-GB" dirty="0"/>
                  <a:t> </a:t>
                </a:r>
                <a:r>
                  <a:rPr lang="en-GB" b="1" dirty="0"/>
                  <a:t>Prewitt</a:t>
                </a:r>
                <a:r>
                  <a:rPr lang="en-GB" dirty="0"/>
                  <a:t> </a:t>
                </a:r>
                <a:r>
                  <a:rPr lang="en-GB" b="1" dirty="0"/>
                  <a:t>horizontal</a:t>
                </a:r>
                <a:r>
                  <a:rPr lang="en-GB" dirty="0"/>
                  <a:t> </a:t>
                </a:r>
                <a:r>
                  <a:rPr lang="en-GB" b="1" dirty="0"/>
                  <a:t>kernel</a:t>
                </a:r>
                <a:r>
                  <a:rPr lang="en-GB" dirty="0"/>
                  <a:t>, defined as:</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𝐾</m:t>
                      </m:r>
                      <m:r>
                        <a:rPr lang="en-GB" b="0" i="1" smtClean="0">
                          <a:latin typeface="Cambria Math" panose="02040503050406030204" pitchFamily="18" charset="0"/>
                        </a:rPr>
                        <m:t>=</m:t>
                      </m:r>
                      <m:d>
                        <m:dPr>
                          <m:ctrlPr>
                            <a:rPr lang="en-GB" b="0" i="1" smtClean="0">
                              <a:latin typeface="Cambria Math" panose="02040503050406030204" pitchFamily="18" charset="0"/>
                            </a:rPr>
                          </m:ctrlPr>
                        </m:dPr>
                        <m:e>
                          <m:m>
                            <m:mPr>
                              <m:mcs>
                                <m:mc>
                                  <m:mcPr>
                                    <m:count m:val="3"/>
                                    <m:mcJc m:val="center"/>
                                  </m:mcPr>
                                </m:mc>
                              </m:mcs>
                              <m:ctrlPr>
                                <a:rPr lang="en-GB" b="0" i="1" smtClean="0">
                                  <a:latin typeface="Cambria Math" panose="02040503050406030204" pitchFamily="18" charset="0"/>
                                </a:rPr>
                              </m:ctrlPr>
                            </m:mPr>
                            <m:mr>
                              <m:e>
                                <m:r>
                                  <m:rPr>
                                    <m:brk m:alnAt="7"/>
                                  </m:rPr>
                                  <a:rPr lang="en-GB" b="0" i="1" smtClean="0">
                                    <a:latin typeface="Cambria Math" panose="02040503050406030204" pitchFamily="18" charset="0"/>
                                  </a:rPr>
                                  <m:t>1</m:t>
                                </m:r>
                              </m:e>
                              <m:e>
                                <m:r>
                                  <a:rPr lang="en-GB" b="0" i="1" smtClean="0">
                                    <a:latin typeface="Cambria Math" panose="02040503050406030204" pitchFamily="18" charset="0"/>
                                  </a:rPr>
                                  <m:t>1</m:t>
                                </m:r>
                              </m:e>
                              <m:e>
                                <m:r>
                                  <a:rPr lang="en-GB" b="0" i="1" smtClean="0">
                                    <a:latin typeface="Cambria Math" panose="02040503050406030204" pitchFamily="18" charset="0"/>
                                  </a:rPr>
                                  <m:t>1</m:t>
                                </m:r>
                              </m:e>
                            </m:mr>
                            <m:mr>
                              <m:e>
                                <m:r>
                                  <a:rPr lang="en-GB" b="0" i="1" smtClean="0">
                                    <a:latin typeface="Cambria Math" panose="02040503050406030204" pitchFamily="18" charset="0"/>
                                  </a:rPr>
                                  <m:t>0</m:t>
                                </m:r>
                              </m:e>
                              <m:e>
                                <m:r>
                                  <a:rPr lang="en-GB" b="0" i="1" smtClean="0">
                                    <a:latin typeface="Cambria Math" panose="02040503050406030204" pitchFamily="18" charset="0"/>
                                  </a:rPr>
                                  <m:t>0</m:t>
                                </m:r>
                              </m:e>
                              <m:e>
                                <m:r>
                                  <a:rPr lang="en-GB" b="0" i="1" smtClean="0">
                                    <a:latin typeface="Cambria Math" panose="02040503050406030204" pitchFamily="18" charset="0"/>
                                  </a:rPr>
                                  <m:t>0</m:t>
                                </m:r>
                              </m:e>
                            </m:mr>
                            <m:mr>
                              <m:e>
                                <m:r>
                                  <a:rPr lang="en-GB" b="0" i="1" smtClean="0">
                                    <a:latin typeface="Cambria Math" panose="02040503050406030204" pitchFamily="18" charset="0"/>
                                  </a:rPr>
                                  <m:t>−1</m:t>
                                </m:r>
                              </m:e>
                              <m:e>
                                <m:r>
                                  <a:rPr lang="en-GB" b="0" i="1" smtClean="0">
                                    <a:latin typeface="Cambria Math" panose="02040503050406030204" pitchFamily="18" charset="0"/>
                                  </a:rPr>
                                  <m:t>−1</m:t>
                                </m:r>
                              </m:e>
                              <m:e>
                                <m:r>
                                  <a:rPr lang="en-GB" b="0" i="1" smtClean="0">
                                    <a:latin typeface="Cambria Math" panose="02040503050406030204" pitchFamily="18" charset="0"/>
                                  </a:rPr>
                                  <m:t>−1</m:t>
                                </m:r>
                              </m:e>
                            </m:mr>
                          </m:m>
                        </m:e>
                      </m:d>
                    </m:oMath>
                  </m:oMathPara>
                </a14:m>
                <a:endParaRPr lang="en-GB" dirty="0"/>
              </a:p>
              <a:p>
                <a:pPr marL="0" indent="0">
                  <a:buNone/>
                </a:pPr>
                <a:endParaRPr lang="en-GB" dirty="0"/>
              </a:p>
              <a:p>
                <a:pPr marL="0" indent="0">
                  <a:buNone/>
                </a:pPr>
                <a:r>
                  <a:rPr lang="en-GB" dirty="0"/>
                  <a:t>This kernel highlights the</a:t>
                </a:r>
                <a:br>
                  <a:rPr lang="en-GB" dirty="0"/>
                </a:br>
                <a:r>
                  <a:rPr lang="en-GB" dirty="0"/>
                  <a:t>horizontal edges in the image.</a:t>
                </a:r>
              </a:p>
              <a:p>
                <a:pPr marL="0" indent="0">
                  <a:buNone/>
                </a:pPr>
                <a:endParaRPr lang="en-SG" dirty="0"/>
              </a:p>
            </p:txBody>
          </p:sp>
        </mc:Choice>
        <mc:Fallback xmlns="">
          <p:sp>
            <p:nvSpPr>
              <p:cNvPr id="4" name="Content Placeholder 3">
                <a:extLst>
                  <a:ext uri="{FF2B5EF4-FFF2-40B4-BE49-F238E27FC236}">
                    <a16:creationId xmlns:a16="http://schemas.microsoft.com/office/drawing/2014/main" id="{CC2FBEC1-65A9-2CDC-8F3D-81E29687F927}"/>
                  </a:ext>
                </a:extLst>
              </p:cNvPr>
              <p:cNvSpPr>
                <a:spLocks noGrp="1" noRot="1" noChangeAspect="1" noMove="1" noResize="1" noEditPoints="1" noAdjustHandles="1" noChangeArrowheads="1" noChangeShapeType="1" noTextEdit="1"/>
              </p:cNvSpPr>
              <p:nvPr>
                <p:ph sz="half" idx="1"/>
              </p:nvPr>
            </p:nvSpPr>
            <p:spPr>
              <a:xfrm>
                <a:off x="838200" y="1825624"/>
                <a:ext cx="5382846" cy="5032375"/>
              </a:xfrm>
              <a:blipFill>
                <a:blip r:embed="rId2"/>
                <a:stretch>
                  <a:fillRect l="-2378" t="-1937" b="-1574"/>
                </a:stretch>
              </a:blipFill>
            </p:spPr>
            <p:txBody>
              <a:bodyPr/>
              <a:lstStyle/>
              <a:p>
                <a:r>
                  <a:rPr lang="en-SG">
                    <a:noFill/>
                  </a:rPr>
                  <a:t> </a:t>
                </a:r>
              </a:p>
            </p:txBody>
          </p:sp>
        </mc:Fallback>
      </mc:AlternateContent>
      <p:pic>
        <p:nvPicPr>
          <p:cNvPr id="3" name="Picture 2">
            <a:extLst>
              <a:ext uri="{FF2B5EF4-FFF2-40B4-BE49-F238E27FC236}">
                <a16:creationId xmlns:a16="http://schemas.microsoft.com/office/drawing/2014/main" id="{4EAB7371-1635-8E41-2FBA-F972530E0167}"/>
              </a:ext>
            </a:extLst>
          </p:cNvPr>
          <p:cNvPicPr>
            <a:picLocks noChangeAspect="1"/>
          </p:cNvPicPr>
          <p:nvPr/>
        </p:nvPicPr>
        <p:blipFill>
          <a:blip r:embed="rId3"/>
          <a:stretch>
            <a:fillRect/>
          </a:stretch>
        </p:blipFill>
        <p:spPr>
          <a:xfrm>
            <a:off x="5906762" y="0"/>
            <a:ext cx="6253976" cy="6858000"/>
          </a:xfrm>
          <a:prstGeom prst="rect">
            <a:avLst/>
          </a:prstGeom>
        </p:spPr>
      </p:pic>
    </p:spTree>
    <p:extLst>
      <p:ext uri="{BB962C8B-B14F-4D97-AF65-F5344CB8AC3E}">
        <p14:creationId xmlns:p14="http://schemas.microsoft.com/office/powerpoint/2010/main" val="8313019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5E799-7684-A653-9672-5659F1D59B21}"/>
              </a:ext>
            </a:extLst>
          </p:cNvPr>
          <p:cNvSpPr>
            <a:spLocks noGrp="1"/>
          </p:cNvSpPr>
          <p:nvPr>
            <p:ph type="title"/>
          </p:nvPr>
        </p:nvSpPr>
        <p:spPr/>
        <p:txBody>
          <a:bodyPr/>
          <a:lstStyle/>
          <a:p>
            <a:r>
              <a:rPr lang="en-GB" dirty="0"/>
              <a:t>Testing convolution</a:t>
            </a:r>
            <a:br>
              <a:rPr lang="en-GB" dirty="0"/>
            </a:br>
            <a:r>
              <a:rPr lang="en-GB" dirty="0"/>
              <a:t>on images</a:t>
            </a:r>
            <a:endParaRPr lang="en-SG" dirty="0"/>
          </a:p>
        </p:txBody>
      </p:sp>
      <p:sp>
        <p:nvSpPr>
          <p:cNvPr id="4" name="Content Placeholder 3">
            <a:extLst>
              <a:ext uri="{FF2B5EF4-FFF2-40B4-BE49-F238E27FC236}">
                <a16:creationId xmlns:a16="http://schemas.microsoft.com/office/drawing/2014/main" id="{CC2FBEC1-65A9-2CDC-8F3D-81E29687F927}"/>
              </a:ext>
            </a:extLst>
          </p:cNvPr>
          <p:cNvSpPr>
            <a:spLocks noGrp="1"/>
          </p:cNvSpPr>
          <p:nvPr>
            <p:ph sz="half" idx="1"/>
          </p:nvPr>
        </p:nvSpPr>
        <p:spPr>
          <a:xfrm>
            <a:off x="838200" y="1825624"/>
            <a:ext cx="4984262" cy="5032375"/>
          </a:xfrm>
        </p:spPr>
        <p:txBody>
          <a:bodyPr>
            <a:normAutofit lnSpcReduction="10000"/>
          </a:bodyPr>
          <a:lstStyle/>
          <a:p>
            <a:pPr marL="0" indent="0">
              <a:buNone/>
            </a:pPr>
            <a:r>
              <a:rPr lang="en-GB" b="1" dirty="0"/>
              <a:t>Definition (the </a:t>
            </a:r>
            <a:r>
              <a:rPr lang="en-GB" b="1" dirty="0">
                <a:solidFill>
                  <a:srgbClr val="00B050"/>
                </a:solidFill>
              </a:rPr>
              <a:t>edge detection</a:t>
            </a:r>
            <a:r>
              <a:rPr lang="en-GB" b="1" dirty="0"/>
              <a:t> kernel):</a:t>
            </a:r>
            <a:endParaRPr lang="en-GB" dirty="0"/>
          </a:p>
          <a:p>
            <a:pPr marL="0" indent="0">
              <a:buNone/>
            </a:pPr>
            <a:r>
              <a:rPr lang="en-SG" dirty="0"/>
              <a:t>This kernel produces</a:t>
            </a:r>
          </a:p>
          <a:p>
            <a:r>
              <a:rPr lang="en-SG" dirty="0"/>
              <a:t>a value close to zero when all pixels are similar,</a:t>
            </a:r>
          </a:p>
          <a:p>
            <a:r>
              <a:rPr lang="en-SG" dirty="0"/>
              <a:t>and a non-zero value if there is a drastic change of values in the pixel and its neighbouring pixels.</a:t>
            </a:r>
          </a:p>
          <a:p>
            <a:pPr marL="0" indent="0">
              <a:buNone/>
            </a:pPr>
            <a:r>
              <a:rPr lang="en-SG" dirty="0"/>
              <a:t>Typically, it detects scenarios where the </a:t>
            </a:r>
            <a:r>
              <a:rPr lang="en-SG" b="1" dirty="0"/>
              <a:t>homophily</a:t>
            </a:r>
            <a:r>
              <a:rPr lang="en-SG" dirty="0"/>
              <a:t> </a:t>
            </a:r>
            <a:r>
              <a:rPr lang="en-SG" b="1" dirty="0"/>
              <a:t>property</a:t>
            </a:r>
            <a:r>
              <a:rPr lang="en-SG" dirty="0"/>
              <a:t> </a:t>
            </a:r>
            <a:r>
              <a:rPr lang="en-SG" b="1" dirty="0"/>
              <a:t>does not hold </a:t>
            </a:r>
            <a:r>
              <a:rPr lang="en-SG" dirty="0"/>
              <a:t>(i.e. an edge!).</a:t>
            </a:r>
          </a:p>
        </p:txBody>
      </p:sp>
      <p:pic>
        <p:nvPicPr>
          <p:cNvPr id="3" name="Picture 2">
            <a:extLst>
              <a:ext uri="{FF2B5EF4-FFF2-40B4-BE49-F238E27FC236}">
                <a16:creationId xmlns:a16="http://schemas.microsoft.com/office/drawing/2014/main" id="{4EAB7371-1635-8E41-2FBA-F972530E0167}"/>
              </a:ext>
            </a:extLst>
          </p:cNvPr>
          <p:cNvPicPr>
            <a:picLocks noChangeAspect="1"/>
          </p:cNvPicPr>
          <p:nvPr/>
        </p:nvPicPr>
        <p:blipFill>
          <a:blip r:embed="rId2"/>
          <a:stretch>
            <a:fillRect/>
          </a:stretch>
        </p:blipFill>
        <p:spPr>
          <a:xfrm>
            <a:off x="5906762" y="0"/>
            <a:ext cx="6253976" cy="6858000"/>
          </a:xfrm>
          <a:prstGeom prst="rect">
            <a:avLst/>
          </a:prstGeom>
        </p:spPr>
      </p:pic>
    </p:spTree>
    <p:extLst>
      <p:ext uri="{BB962C8B-B14F-4D97-AF65-F5344CB8AC3E}">
        <p14:creationId xmlns:p14="http://schemas.microsoft.com/office/powerpoint/2010/main" val="19349514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C8735B4-BA4F-8929-5907-8A1E79E1415D}"/>
              </a:ext>
            </a:extLst>
          </p:cNvPr>
          <p:cNvPicPr>
            <a:picLocks noChangeAspect="1"/>
          </p:cNvPicPr>
          <p:nvPr/>
        </p:nvPicPr>
        <p:blipFill>
          <a:blip r:embed="rId2"/>
          <a:stretch>
            <a:fillRect/>
          </a:stretch>
        </p:blipFill>
        <p:spPr>
          <a:xfrm>
            <a:off x="120740" y="0"/>
            <a:ext cx="5593582" cy="6858000"/>
          </a:xfrm>
          <a:prstGeom prst="rect">
            <a:avLst/>
          </a:prstGeom>
        </p:spPr>
      </p:pic>
      <p:pic>
        <p:nvPicPr>
          <p:cNvPr id="3" name="Picture 2">
            <a:extLst>
              <a:ext uri="{FF2B5EF4-FFF2-40B4-BE49-F238E27FC236}">
                <a16:creationId xmlns:a16="http://schemas.microsoft.com/office/drawing/2014/main" id="{7C45D81E-E9BB-A9B3-9B60-534F0F5B3104}"/>
              </a:ext>
            </a:extLst>
          </p:cNvPr>
          <p:cNvPicPr>
            <a:picLocks noChangeAspect="1"/>
          </p:cNvPicPr>
          <p:nvPr/>
        </p:nvPicPr>
        <p:blipFill>
          <a:blip r:embed="rId3"/>
          <a:stretch>
            <a:fillRect/>
          </a:stretch>
        </p:blipFill>
        <p:spPr>
          <a:xfrm>
            <a:off x="5906762" y="0"/>
            <a:ext cx="6253976" cy="6858000"/>
          </a:xfrm>
          <a:prstGeom prst="rect">
            <a:avLst/>
          </a:prstGeom>
        </p:spPr>
      </p:pic>
      <p:sp>
        <p:nvSpPr>
          <p:cNvPr id="10" name="Arrow: Right 9">
            <a:extLst>
              <a:ext uri="{FF2B5EF4-FFF2-40B4-BE49-F238E27FC236}">
                <a16:creationId xmlns:a16="http://schemas.microsoft.com/office/drawing/2014/main" id="{A28F6333-EB01-D70E-61F0-7A1DCAA0D7AC}"/>
              </a:ext>
            </a:extLst>
          </p:cNvPr>
          <p:cNvSpPr/>
          <p:nvPr/>
        </p:nvSpPr>
        <p:spPr>
          <a:xfrm>
            <a:off x="5220677" y="4407877"/>
            <a:ext cx="1617785" cy="77372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42308802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5E799-7684-A653-9672-5659F1D59B21}"/>
              </a:ext>
            </a:extLst>
          </p:cNvPr>
          <p:cNvSpPr>
            <a:spLocks noGrp="1"/>
          </p:cNvSpPr>
          <p:nvPr>
            <p:ph type="title"/>
          </p:nvPr>
        </p:nvSpPr>
        <p:spPr/>
        <p:txBody>
          <a:bodyPr/>
          <a:lstStyle/>
          <a:p>
            <a:r>
              <a:rPr lang="en-GB" dirty="0"/>
              <a:t>Testing convolution</a:t>
            </a:r>
            <a:br>
              <a:rPr lang="en-GB" dirty="0"/>
            </a:br>
            <a:r>
              <a:rPr lang="en-GB" dirty="0"/>
              <a:t>on images</a:t>
            </a:r>
            <a:endParaRPr lang="en-SG"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CC2FBEC1-65A9-2CDC-8F3D-81E29687F927}"/>
                  </a:ext>
                </a:extLst>
              </p:cNvPr>
              <p:cNvSpPr>
                <a:spLocks noGrp="1"/>
              </p:cNvSpPr>
              <p:nvPr>
                <p:ph sz="half" idx="1"/>
              </p:nvPr>
            </p:nvSpPr>
            <p:spPr>
              <a:xfrm>
                <a:off x="838200" y="1825624"/>
                <a:ext cx="4922726" cy="5032375"/>
              </a:xfrm>
            </p:spPr>
            <p:txBody>
              <a:bodyPr>
                <a:normAutofit/>
              </a:bodyPr>
              <a:lstStyle/>
              <a:p>
                <a:pPr marL="0" indent="0">
                  <a:buNone/>
                </a:pPr>
                <a:r>
                  <a:rPr lang="en-GB" b="1" dirty="0"/>
                  <a:t>Definition (the </a:t>
                </a:r>
                <a:r>
                  <a:rPr lang="en-GB" b="1" dirty="0">
                    <a:solidFill>
                      <a:srgbClr val="00B050"/>
                    </a:solidFill>
                  </a:rPr>
                  <a:t>sharpen</a:t>
                </a:r>
                <a:r>
                  <a:rPr lang="en-GB" b="1" dirty="0"/>
                  <a:t>, or </a:t>
                </a:r>
                <a:r>
                  <a:rPr lang="en-GB" b="1" dirty="0">
                    <a:solidFill>
                      <a:srgbClr val="00B050"/>
                    </a:solidFill>
                  </a:rPr>
                  <a:t>contrast enhancer </a:t>
                </a:r>
                <a:r>
                  <a:rPr lang="en-GB" b="1" dirty="0"/>
                  <a:t>kernel):</a:t>
                </a:r>
              </a:p>
              <a:p>
                <a:pPr marL="0" indent="0">
                  <a:buNone/>
                </a:pPr>
                <a:r>
                  <a:rPr lang="en-GB" dirty="0"/>
                  <a:t>We can also perform </a:t>
                </a:r>
                <a:r>
                  <a:rPr lang="en-GB" b="1" dirty="0">
                    <a:solidFill>
                      <a:srgbClr val="00B050"/>
                    </a:solidFill>
                  </a:rPr>
                  <a:t>contrast enhancement </a:t>
                </a:r>
                <a:r>
                  <a:rPr lang="en-GB" dirty="0"/>
                  <a:t>(or </a:t>
                </a:r>
                <a:r>
                  <a:rPr lang="en-GB" b="1" dirty="0">
                    <a:solidFill>
                      <a:srgbClr val="00B050"/>
                    </a:solidFill>
                  </a:rPr>
                  <a:t>sharpening</a:t>
                </a:r>
                <a:r>
                  <a:rPr lang="en-GB" dirty="0"/>
                  <a:t>), using, the following  </a:t>
                </a:r>
                <a14:m>
                  <m:oMath xmlns:m="http://schemas.openxmlformats.org/officeDocument/2006/math">
                    <m:r>
                      <a:rPr lang="en-GB" i="1">
                        <a:latin typeface="Cambria Math" panose="02040503050406030204" pitchFamily="18" charset="0"/>
                      </a:rPr>
                      <m:t>3</m:t>
                    </m:r>
                    <m:r>
                      <a:rPr lang="en-GB" b="0" i="1" smtClean="0">
                        <a:latin typeface="Cambria Math" panose="02040503050406030204" pitchFamily="18" charset="0"/>
                      </a:rPr>
                      <m:t>×3</m:t>
                    </m:r>
                  </m:oMath>
                </a14:m>
                <a:r>
                  <a:rPr lang="en-GB" dirty="0"/>
                  <a:t> </a:t>
                </a:r>
                <a:r>
                  <a:rPr lang="en-GB" b="1" dirty="0"/>
                  <a:t>sharpen kernel</a:t>
                </a:r>
                <a:r>
                  <a:rPr lang="en-GB" dirty="0"/>
                  <a:t>, defined as:</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𝐾</m:t>
                      </m:r>
                      <m:r>
                        <a:rPr lang="en-GB" b="0" i="1" smtClean="0">
                          <a:latin typeface="Cambria Math" panose="02040503050406030204" pitchFamily="18" charset="0"/>
                        </a:rPr>
                        <m:t>=</m:t>
                      </m:r>
                      <m:d>
                        <m:dPr>
                          <m:ctrlPr>
                            <a:rPr lang="en-GB" b="0" i="1" smtClean="0">
                              <a:latin typeface="Cambria Math" panose="02040503050406030204" pitchFamily="18" charset="0"/>
                            </a:rPr>
                          </m:ctrlPr>
                        </m:dPr>
                        <m:e>
                          <m:m>
                            <m:mPr>
                              <m:mcs>
                                <m:mc>
                                  <m:mcPr>
                                    <m:count m:val="3"/>
                                    <m:mcJc m:val="center"/>
                                  </m:mcPr>
                                </m:mc>
                              </m:mcs>
                              <m:ctrlPr>
                                <a:rPr lang="en-GB" b="0" i="1" smtClean="0">
                                  <a:latin typeface="Cambria Math" panose="02040503050406030204" pitchFamily="18" charset="0"/>
                                </a:rPr>
                              </m:ctrlPr>
                            </m:mPr>
                            <m:mr>
                              <m:e>
                                <m:r>
                                  <m:rPr>
                                    <m:brk m:alnAt="7"/>
                                  </m:rPr>
                                  <a:rPr lang="en-GB" b="0" i="1" smtClean="0">
                                    <a:latin typeface="Cambria Math" panose="02040503050406030204" pitchFamily="18" charset="0"/>
                                  </a:rPr>
                                  <m:t>0</m:t>
                                </m:r>
                              </m:e>
                              <m:e>
                                <m:r>
                                  <a:rPr lang="en-GB" b="0" i="1" smtClean="0">
                                    <a:latin typeface="Cambria Math" panose="02040503050406030204" pitchFamily="18" charset="0"/>
                                  </a:rPr>
                                  <m:t>−1</m:t>
                                </m:r>
                              </m:e>
                              <m:e>
                                <m:r>
                                  <a:rPr lang="en-GB" b="0" i="1" smtClean="0">
                                    <a:latin typeface="Cambria Math" panose="02040503050406030204" pitchFamily="18" charset="0"/>
                                  </a:rPr>
                                  <m:t>0</m:t>
                                </m:r>
                              </m:e>
                            </m:mr>
                            <m:mr>
                              <m:e>
                                <m:r>
                                  <a:rPr lang="en-GB" b="0" i="1" smtClean="0">
                                    <a:latin typeface="Cambria Math" panose="02040503050406030204" pitchFamily="18" charset="0"/>
                                  </a:rPr>
                                  <m:t>−1</m:t>
                                </m:r>
                              </m:e>
                              <m:e>
                                <m:r>
                                  <a:rPr lang="en-GB" b="0" i="1" smtClean="0">
                                    <a:latin typeface="Cambria Math" panose="02040503050406030204" pitchFamily="18" charset="0"/>
                                  </a:rPr>
                                  <m:t>5</m:t>
                                </m:r>
                              </m:e>
                              <m:e>
                                <m:r>
                                  <a:rPr lang="en-GB" b="0" i="1" smtClean="0">
                                    <a:latin typeface="Cambria Math" panose="02040503050406030204" pitchFamily="18" charset="0"/>
                                  </a:rPr>
                                  <m:t>−1</m:t>
                                </m:r>
                              </m:e>
                            </m:mr>
                            <m:mr>
                              <m:e>
                                <m:r>
                                  <a:rPr lang="en-GB" b="0" i="1" smtClean="0">
                                    <a:latin typeface="Cambria Math" panose="02040503050406030204" pitchFamily="18" charset="0"/>
                                  </a:rPr>
                                  <m:t>0</m:t>
                                </m:r>
                              </m:e>
                              <m:e>
                                <m:r>
                                  <a:rPr lang="en-GB" b="0" i="1" smtClean="0">
                                    <a:latin typeface="Cambria Math" panose="02040503050406030204" pitchFamily="18" charset="0"/>
                                  </a:rPr>
                                  <m:t>−1</m:t>
                                </m:r>
                              </m:e>
                              <m:e>
                                <m:r>
                                  <a:rPr lang="en-GB" b="0" i="1" smtClean="0">
                                    <a:latin typeface="Cambria Math" panose="02040503050406030204" pitchFamily="18" charset="0"/>
                                  </a:rPr>
                                  <m:t>0</m:t>
                                </m:r>
                              </m:e>
                            </m:mr>
                          </m:m>
                        </m:e>
                      </m:d>
                    </m:oMath>
                  </m:oMathPara>
                </a14:m>
                <a:endParaRPr lang="en-GB" dirty="0"/>
              </a:p>
              <a:p>
                <a:pPr marL="0" indent="0">
                  <a:buNone/>
                </a:pPr>
                <a:r>
                  <a:rPr lang="en-GB" dirty="0"/>
                  <a:t>This kernel typically enhances the edges and high-frequency details</a:t>
                </a:r>
              </a:p>
              <a:p>
                <a:pPr marL="0" indent="0">
                  <a:buNone/>
                </a:pPr>
                <a:endParaRPr lang="en-SG" dirty="0"/>
              </a:p>
            </p:txBody>
          </p:sp>
        </mc:Choice>
        <mc:Fallback xmlns="">
          <p:sp>
            <p:nvSpPr>
              <p:cNvPr id="4" name="Content Placeholder 3">
                <a:extLst>
                  <a:ext uri="{FF2B5EF4-FFF2-40B4-BE49-F238E27FC236}">
                    <a16:creationId xmlns:a16="http://schemas.microsoft.com/office/drawing/2014/main" id="{CC2FBEC1-65A9-2CDC-8F3D-81E29687F927}"/>
                  </a:ext>
                </a:extLst>
              </p:cNvPr>
              <p:cNvSpPr>
                <a:spLocks noGrp="1" noRot="1" noChangeAspect="1" noMove="1" noResize="1" noEditPoints="1" noAdjustHandles="1" noChangeArrowheads="1" noChangeShapeType="1" noTextEdit="1"/>
              </p:cNvSpPr>
              <p:nvPr>
                <p:ph sz="half" idx="1"/>
              </p:nvPr>
            </p:nvSpPr>
            <p:spPr>
              <a:xfrm>
                <a:off x="838200" y="1825624"/>
                <a:ext cx="4922726" cy="5032375"/>
              </a:xfrm>
              <a:blipFill>
                <a:blip r:embed="rId2"/>
                <a:stretch>
                  <a:fillRect l="-2602" t="-1937"/>
                </a:stretch>
              </a:blipFill>
            </p:spPr>
            <p:txBody>
              <a:bodyPr/>
              <a:lstStyle/>
              <a:p>
                <a:r>
                  <a:rPr lang="en-SG">
                    <a:noFill/>
                  </a:rPr>
                  <a:t> </a:t>
                </a:r>
              </a:p>
            </p:txBody>
          </p:sp>
        </mc:Fallback>
      </mc:AlternateContent>
      <p:pic>
        <p:nvPicPr>
          <p:cNvPr id="6" name="Picture 5">
            <a:extLst>
              <a:ext uri="{FF2B5EF4-FFF2-40B4-BE49-F238E27FC236}">
                <a16:creationId xmlns:a16="http://schemas.microsoft.com/office/drawing/2014/main" id="{1A13859B-0558-8EFA-7CB2-A87B514BAA40}"/>
              </a:ext>
            </a:extLst>
          </p:cNvPr>
          <p:cNvPicPr>
            <a:picLocks noChangeAspect="1"/>
          </p:cNvPicPr>
          <p:nvPr/>
        </p:nvPicPr>
        <p:blipFill>
          <a:blip r:embed="rId3"/>
          <a:stretch>
            <a:fillRect/>
          </a:stretch>
        </p:blipFill>
        <p:spPr>
          <a:xfrm>
            <a:off x="5760926" y="-1"/>
            <a:ext cx="6344117" cy="6858000"/>
          </a:xfrm>
          <a:prstGeom prst="rect">
            <a:avLst/>
          </a:prstGeom>
        </p:spPr>
      </p:pic>
    </p:spTree>
    <p:extLst>
      <p:ext uri="{BB962C8B-B14F-4D97-AF65-F5344CB8AC3E}">
        <p14:creationId xmlns:p14="http://schemas.microsoft.com/office/powerpoint/2010/main" val="30517966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C8735B4-BA4F-8929-5907-8A1E79E1415D}"/>
              </a:ext>
            </a:extLst>
          </p:cNvPr>
          <p:cNvPicPr>
            <a:picLocks noChangeAspect="1"/>
          </p:cNvPicPr>
          <p:nvPr/>
        </p:nvPicPr>
        <p:blipFill>
          <a:blip r:embed="rId2"/>
          <a:stretch>
            <a:fillRect/>
          </a:stretch>
        </p:blipFill>
        <p:spPr>
          <a:xfrm>
            <a:off x="120740" y="0"/>
            <a:ext cx="5593582" cy="6858000"/>
          </a:xfrm>
          <a:prstGeom prst="rect">
            <a:avLst/>
          </a:prstGeom>
        </p:spPr>
      </p:pic>
      <p:pic>
        <p:nvPicPr>
          <p:cNvPr id="2" name="Picture 1">
            <a:extLst>
              <a:ext uri="{FF2B5EF4-FFF2-40B4-BE49-F238E27FC236}">
                <a16:creationId xmlns:a16="http://schemas.microsoft.com/office/drawing/2014/main" id="{2388759E-0BD1-F482-DD5E-F4EE9ABB55CE}"/>
              </a:ext>
            </a:extLst>
          </p:cNvPr>
          <p:cNvPicPr>
            <a:picLocks noChangeAspect="1"/>
          </p:cNvPicPr>
          <p:nvPr/>
        </p:nvPicPr>
        <p:blipFill>
          <a:blip r:embed="rId3"/>
          <a:stretch>
            <a:fillRect/>
          </a:stretch>
        </p:blipFill>
        <p:spPr>
          <a:xfrm>
            <a:off x="5760926" y="-1"/>
            <a:ext cx="6344117" cy="6858000"/>
          </a:xfrm>
          <a:prstGeom prst="rect">
            <a:avLst/>
          </a:prstGeom>
        </p:spPr>
      </p:pic>
      <p:sp>
        <p:nvSpPr>
          <p:cNvPr id="10" name="Arrow: Right 9">
            <a:extLst>
              <a:ext uri="{FF2B5EF4-FFF2-40B4-BE49-F238E27FC236}">
                <a16:creationId xmlns:a16="http://schemas.microsoft.com/office/drawing/2014/main" id="{A28F6333-EB01-D70E-61F0-7A1DCAA0D7AC}"/>
              </a:ext>
            </a:extLst>
          </p:cNvPr>
          <p:cNvSpPr/>
          <p:nvPr/>
        </p:nvSpPr>
        <p:spPr>
          <a:xfrm>
            <a:off x="5220677" y="4407877"/>
            <a:ext cx="1617785" cy="77372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40826827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9988CB4-E369-113E-C460-5EAC14B3A6B9}"/>
              </a:ext>
            </a:extLst>
          </p:cNvPr>
          <p:cNvPicPr>
            <a:picLocks noChangeAspect="1"/>
          </p:cNvPicPr>
          <p:nvPr/>
        </p:nvPicPr>
        <p:blipFill>
          <a:blip r:embed="rId2"/>
          <a:stretch>
            <a:fillRect/>
          </a:stretch>
        </p:blipFill>
        <p:spPr>
          <a:xfrm>
            <a:off x="1556859" y="1440440"/>
            <a:ext cx="9078282" cy="5417560"/>
          </a:xfrm>
          <a:prstGeom prst="rect">
            <a:avLst/>
          </a:prstGeom>
        </p:spPr>
      </p:pic>
      <p:sp>
        <p:nvSpPr>
          <p:cNvPr id="7" name="Title 6">
            <a:extLst>
              <a:ext uri="{FF2B5EF4-FFF2-40B4-BE49-F238E27FC236}">
                <a16:creationId xmlns:a16="http://schemas.microsoft.com/office/drawing/2014/main" id="{387C2A4A-25D4-F0BA-CDA4-2EAB54C9CD3B}"/>
              </a:ext>
            </a:extLst>
          </p:cNvPr>
          <p:cNvSpPr>
            <a:spLocks noGrp="1"/>
          </p:cNvSpPr>
          <p:nvPr>
            <p:ph type="title"/>
          </p:nvPr>
        </p:nvSpPr>
        <p:spPr/>
        <p:txBody>
          <a:bodyPr/>
          <a:lstStyle/>
          <a:p>
            <a:r>
              <a:rPr lang="en-GB" dirty="0"/>
              <a:t>Many transformation kernels exist</a:t>
            </a:r>
            <a:endParaRPr lang="en-SG" dirty="0"/>
          </a:p>
        </p:txBody>
      </p:sp>
    </p:spTree>
    <p:extLst>
      <p:ext uri="{BB962C8B-B14F-4D97-AF65-F5344CB8AC3E}">
        <p14:creationId xmlns:p14="http://schemas.microsoft.com/office/powerpoint/2010/main" val="14617958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9EA23-73BA-FA7A-320C-4A93C706661B}"/>
              </a:ext>
            </a:extLst>
          </p:cNvPr>
          <p:cNvSpPr>
            <a:spLocks noGrp="1"/>
          </p:cNvSpPr>
          <p:nvPr>
            <p:ph type="title"/>
          </p:nvPr>
        </p:nvSpPr>
        <p:spPr/>
        <p:txBody>
          <a:bodyPr/>
          <a:lstStyle/>
          <a:p>
            <a:r>
              <a:rPr lang="en-GB" dirty="0"/>
              <a:t>More on convolution kernels and their effects</a:t>
            </a:r>
            <a:endParaRPr lang="en-SG" dirty="0"/>
          </a:p>
        </p:txBody>
      </p:sp>
      <p:pic>
        <p:nvPicPr>
          <p:cNvPr id="4" name="Picture 3" descr="A building with many windows&#10;&#10;Description automatically generated">
            <a:extLst>
              <a:ext uri="{FF2B5EF4-FFF2-40B4-BE49-F238E27FC236}">
                <a16:creationId xmlns:a16="http://schemas.microsoft.com/office/drawing/2014/main" id="{B8108E1A-95D0-2E7E-D174-E03EDCA5761D}"/>
              </a:ext>
            </a:extLst>
          </p:cNvPr>
          <p:cNvPicPr>
            <a:picLocks noChangeAspect="1"/>
          </p:cNvPicPr>
          <p:nvPr/>
        </p:nvPicPr>
        <p:blipFill rotWithShape="1">
          <a:blip r:embed="rId2">
            <a:extLst>
              <a:ext uri="{28A0092B-C50C-407E-A947-70E740481C1C}">
                <a14:useLocalDpi xmlns:a14="http://schemas.microsoft.com/office/drawing/2010/main" val="0"/>
              </a:ext>
            </a:extLst>
          </a:blip>
          <a:srcRect t="19783" b="7193"/>
          <a:stretch/>
        </p:blipFill>
        <p:spPr>
          <a:xfrm>
            <a:off x="1531866" y="1360271"/>
            <a:ext cx="9128268" cy="5207678"/>
          </a:xfrm>
          <a:prstGeom prst="rect">
            <a:avLst/>
          </a:prstGeom>
        </p:spPr>
      </p:pic>
    </p:spTree>
    <p:extLst>
      <p:ext uri="{BB962C8B-B14F-4D97-AF65-F5344CB8AC3E}">
        <p14:creationId xmlns:p14="http://schemas.microsoft.com/office/powerpoint/2010/main" val="7685514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421EB-F36D-5AB4-3FC2-F756CDEAFBE5}"/>
              </a:ext>
            </a:extLst>
          </p:cNvPr>
          <p:cNvSpPr>
            <a:spLocks noGrp="1"/>
          </p:cNvSpPr>
          <p:nvPr>
            <p:ph type="title"/>
          </p:nvPr>
        </p:nvSpPr>
        <p:spPr/>
        <p:txBody>
          <a:bodyPr/>
          <a:lstStyle/>
          <a:p>
            <a:r>
              <a:rPr lang="en-GB" dirty="0"/>
              <a:t>Downsizing</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8A556D-4CAB-6268-0872-293E7E85D4FE}"/>
                  </a:ext>
                </a:extLst>
              </p:cNvPr>
              <p:cNvSpPr>
                <a:spLocks noGrp="1"/>
              </p:cNvSpPr>
              <p:nvPr>
                <p:ph idx="1"/>
              </p:nvPr>
            </p:nvSpPr>
            <p:spPr>
              <a:xfrm>
                <a:off x="838200" y="1825624"/>
                <a:ext cx="10515600" cy="5032375"/>
              </a:xfrm>
            </p:spPr>
            <p:txBody>
              <a:bodyPr/>
              <a:lstStyle/>
              <a:p>
                <a:pPr marL="0" indent="0">
                  <a:buNone/>
                </a:pPr>
                <a:r>
                  <a:rPr lang="en-GB" b="1" dirty="0"/>
                  <a:t>Remember: </a:t>
                </a:r>
                <a:r>
                  <a:rPr lang="en-GB" dirty="0"/>
                  <a:t>The convolution operation defined as </a:t>
                </a:r>
                <a14:m>
                  <m:oMath xmlns:m="http://schemas.openxmlformats.org/officeDocument/2006/math">
                    <m:r>
                      <a:rPr lang="en-GB" i="1" dirty="0">
                        <a:latin typeface="Cambria Math" panose="02040503050406030204" pitchFamily="18" charset="0"/>
                      </a:rPr>
                      <m:t>𝑌</m:t>
                    </m:r>
                    <m:r>
                      <a:rPr lang="en-GB" i="1" dirty="0">
                        <a:latin typeface="Cambria Math" panose="02040503050406030204" pitchFamily="18" charset="0"/>
                      </a:rPr>
                      <m:t> = </m:t>
                    </m:r>
                    <m:r>
                      <a:rPr lang="en-GB" i="1" dirty="0">
                        <a:latin typeface="Cambria Math" panose="02040503050406030204" pitchFamily="18" charset="0"/>
                      </a:rPr>
                      <m:t>𝑓</m:t>
                    </m:r>
                    <m:d>
                      <m:dPr>
                        <m:ctrlPr>
                          <a:rPr lang="en-GB" i="1" dirty="0">
                            <a:latin typeface="Cambria Math" panose="02040503050406030204" pitchFamily="18" charset="0"/>
                          </a:rPr>
                        </m:ctrlPr>
                      </m:dPr>
                      <m:e>
                        <m:r>
                          <a:rPr lang="en-GB" i="1" dirty="0">
                            <a:latin typeface="Cambria Math" panose="02040503050406030204" pitchFamily="18" charset="0"/>
                          </a:rPr>
                          <m:t>𝑋</m:t>
                        </m:r>
                        <m:r>
                          <a:rPr lang="en-GB" i="1" dirty="0">
                            <a:latin typeface="Cambria Math" panose="02040503050406030204" pitchFamily="18" charset="0"/>
                          </a:rPr>
                          <m:t>, </m:t>
                        </m:r>
                        <m:r>
                          <a:rPr lang="en-GB" i="1" dirty="0">
                            <a:latin typeface="Cambria Math" panose="02040503050406030204" pitchFamily="18" charset="0"/>
                          </a:rPr>
                          <m:t>𝐾</m:t>
                        </m:r>
                      </m:e>
                    </m:d>
                  </m:oMath>
                </a14:m>
                <a:r>
                  <a:rPr lang="en-SG" dirty="0"/>
                  <a:t>, produces an image </a:t>
                </a:r>
                <a14:m>
                  <m:oMath xmlns:m="http://schemas.openxmlformats.org/officeDocument/2006/math">
                    <m:r>
                      <a:rPr lang="en-SG" i="1" dirty="0">
                        <a:latin typeface="Cambria Math" panose="02040503050406030204" pitchFamily="18" charset="0"/>
                      </a:rPr>
                      <m:t>𝑌</m:t>
                    </m:r>
                  </m:oMath>
                </a14:m>
                <a:r>
                  <a:rPr lang="en-SG" dirty="0"/>
                  <a:t> of size </a:t>
                </a:r>
                <a14:m>
                  <m:oMath xmlns:m="http://schemas.openxmlformats.org/officeDocument/2006/math">
                    <m:r>
                      <a:rPr lang="en-GB" i="1">
                        <a:latin typeface="Cambria Math" panose="02040503050406030204" pitchFamily="18" charset="0"/>
                      </a:rPr>
                      <m:t>h</m:t>
                    </m:r>
                    <m:r>
                      <a:rPr lang="en-GB" i="1">
                        <a:latin typeface="Cambria Math" panose="02040503050406030204" pitchFamily="18" charset="0"/>
                      </a:rPr>
                      <m:t>′×</m:t>
                    </m:r>
                    <m:r>
                      <a:rPr lang="en-GB" i="1">
                        <a:latin typeface="Cambria Math" panose="02040503050406030204" pitchFamily="18" charset="0"/>
                      </a:rPr>
                      <m:t>𝑤</m:t>
                    </m:r>
                    <m:r>
                      <a:rPr lang="en-GB" i="1">
                        <a:latin typeface="Cambria Math" panose="02040503050406030204" pitchFamily="18" charset="0"/>
                      </a:rPr>
                      <m:t>′</m:t>
                    </m:r>
                  </m:oMath>
                </a14:m>
                <a:r>
                  <a:rPr lang="en-SG" dirty="0"/>
                  <a:t>,</a:t>
                </a:r>
              </a:p>
              <a:p>
                <a:r>
                  <a:rPr lang="en-SG" dirty="0"/>
                  <a:t>With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h</m:t>
                        </m:r>
                      </m:e>
                      <m:sup>
                        <m:r>
                          <a:rPr lang="en-GB" i="1">
                            <a:latin typeface="Cambria Math" panose="02040503050406030204" pitchFamily="18" charset="0"/>
                          </a:rPr>
                          <m:t>′</m:t>
                        </m:r>
                      </m:sup>
                    </m:sSup>
                    <m:r>
                      <a:rPr lang="en-GB" i="1">
                        <a:latin typeface="Cambria Math" panose="02040503050406030204" pitchFamily="18" charset="0"/>
                      </a:rPr>
                      <m:t>=</m:t>
                    </m:r>
                    <m:r>
                      <a:rPr lang="en-GB" i="1">
                        <a:latin typeface="Cambria Math" panose="02040503050406030204" pitchFamily="18" charset="0"/>
                      </a:rPr>
                      <m:t>h</m:t>
                    </m:r>
                    <m:r>
                      <a:rPr lang="en-GB" i="1">
                        <a:latin typeface="Cambria Math" panose="02040503050406030204" pitchFamily="18" charset="0"/>
                      </a:rPr>
                      <m:t>−</m:t>
                    </m:r>
                    <m:r>
                      <a:rPr lang="en-GB" i="1">
                        <a:latin typeface="Cambria Math" panose="02040503050406030204" pitchFamily="18" charset="0"/>
                      </a:rPr>
                      <m:t>𝑘</m:t>
                    </m:r>
                    <m:r>
                      <a:rPr lang="en-GB" i="1">
                        <a:latin typeface="Cambria Math" panose="02040503050406030204" pitchFamily="18" charset="0"/>
                      </a:rPr>
                      <m:t>+1</m:t>
                    </m:r>
                  </m:oMath>
                </a14:m>
                <a:r>
                  <a:rPr lang="en-SG" dirty="0"/>
                  <a:t>,</a:t>
                </a:r>
              </a:p>
              <a:p>
                <a:r>
                  <a:rPr lang="en-SG" dirty="0"/>
                  <a:t>And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𝑤</m:t>
                        </m:r>
                      </m:e>
                      <m:sup>
                        <m:r>
                          <a:rPr lang="en-GB" i="1">
                            <a:latin typeface="Cambria Math" panose="02040503050406030204" pitchFamily="18" charset="0"/>
                          </a:rPr>
                          <m:t>′</m:t>
                        </m:r>
                      </m:sup>
                    </m:sSup>
                    <m:r>
                      <a:rPr lang="en-GB" i="1">
                        <a:latin typeface="Cambria Math" panose="02040503050406030204" pitchFamily="18" charset="0"/>
                      </a:rPr>
                      <m:t>=</m:t>
                    </m:r>
                    <m:r>
                      <a:rPr lang="en-GB" i="1">
                        <a:latin typeface="Cambria Math" panose="02040503050406030204" pitchFamily="18" charset="0"/>
                      </a:rPr>
                      <m:t>𝑤</m:t>
                    </m:r>
                    <m:r>
                      <a:rPr lang="en-GB" i="1">
                        <a:latin typeface="Cambria Math" panose="02040503050406030204" pitchFamily="18" charset="0"/>
                      </a:rPr>
                      <m:t> −</m:t>
                    </m:r>
                    <m:r>
                      <a:rPr lang="en-GB" i="1">
                        <a:latin typeface="Cambria Math" panose="02040503050406030204" pitchFamily="18" charset="0"/>
                      </a:rPr>
                      <m:t>𝑘</m:t>
                    </m:r>
                    <m:r>
                      <a:rPr lang="en-GB" i="1">
                        <a:latin typeface="Cambria Math" panose="02040503050406030204" pitchFamily="18" charset="0"/>
                      </a:rPr>
                      <m:t>+1</m:t>
                    </m:r>
                  </m:oMath>
                </a14:m>
                <a:r>
                  <a:rPr lang="en-GB" dirty="0"/>
                  <a:t>.</a:t>
                </a:r>
              </a:p>
              <a:p>
                <a:pPr marL="0" indent="0">
                  <a:buNone/>
                </a:pPr>
                <a:r>
                  <a:rPr lang="en-GB" dirty="0"/>
                  <a:t>A typical problem with the convolution operation we defined earlier is that </a:t>
                </a:r>
                <a:r>
                  <a:rPr lang="en-GB" b="1" dirty="0"/>
                  <a:t>it produces a new image </a:t>
                </a:r>
                <a14:m>
                  <m:oMath xmlns:m="http://schemas.openxmlformats.org/officeDocument/2006/math">
                    <m:r>
                      <a:rPr lang="en-GB" b="1" i="1" dirty="0" smtClean="0">
                        <a:latin typeface="Cambria Math" panose="02040503050406030204" pitchFamily="18" charset="0"/>
                      </a:rPr>
                      <m:t>𝒀</m:t>
                    </m:r>
                  </m:oMath>
                </a14:m>
                <a:r>
                  <a:rPr lang="en-GB" b="1" dirty="0"/>
                  <a:t> whose size/resolution has been reduced</a:t>
                </a:r>
                <a:r>
                  <a:rPr lang="en-GB" dirty="0"/>
                  <a:t>.</a:t>
                </a:r>
              </a:p>
              <a:p>
                <a:pPr marL="0" indent="0">
                  <a:buNone/>
                </a:pPr>
                <a:r>
                  <a:rPr lang="en-GB" dirty="0"/>
                  <a:t>This has to do with the kernel being used, which sums several pixels together, but only produces one pixel as a result.</a:t>
                </a:r>
              </a:p>
              <a:p>
                <a:pPr marL="0" indent="0">
                  <a:buNone/>
                </a:pPr>
                <a:r>
                  <a:rPr lang="en-GB" dirty="0"/>
                  <a:t>This effect is even increased with the size of the kernel being used.</a:t>
                </a:r>
                <a:endParaRPr lang="en-SG" dirty="0"/>
              </a:p>
            </p:txBody>
          </p:sp>
        </mc:Choice>
        <mc:Fallback xmlns="">
          <p:sp>
            <p:nvSpPr>
              <p:cNvPr id="3" name="Content Placeholder 2">
                <a:extLst>
                  <a:ext uri="{FF2B5EF4-FFF2-40B4-BE49-F238E27FC236}">
                    <a16:creationId xmlns:a16="http://schemas.microsoft.com/office/drawing/2014/main" id="{2D8A556D-4CAB-6268-0872-293E7E85D4FE}"/>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SG">
                    <a:noFill/>
                  </a:rPr>
                  <a:t> </a:t>
                </a:r>
              </a:p>
            </p:txBody>
          </p:sp>
        </mc:Fallback>
      </mc:AlternateContent>
    </p:spTree>
    <p:extLst>
      <p:ext uri="{BB962C8B-B14F-4D97-AF65-F5344CB8AC3E}">
        <p14:creationId xmlns:p14="http://schemas.microsoft.com/office/powerpoint/2010/main" val="42403718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2C13E-BBE6-06FE-60A9-F9A31DA263BA}"/>
              </a:ext>
            </a:extLst>
          </p:cNvPr>
          <p:cNvSpPr>
            <a:spLocks noGrp="1"/>
          </p:cNvSpPr>
          <p:nvPr>
            <p:ph type="title"/>
          </p:nvPr>
        </p:nvSpPr>
        <p:spPr/>
        <p:txBody>
          <a:bodyPr/>
          <a:lstStyle/>
          <a:p>
            <a:r>
              <a:rPr lang="en-GB" dirty="0"/>
              <a:t>Adding some padding</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4B8663-0A2B-1CFA-FAE2-DCD3C0ADD837}"/>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00B050"/>
                    </a:solidFill>
                  </a:rPr>
                  <a:t>padding</a:t>
                </a:r>
                <a:r>
                  <a:rPr lang="en-GB" b="1" dirty="0"/>
                  <a:t> in convolution):</a:t>
                </a:r>
              </a:p>
              <a:p>
                <a:pPr marL="0" indent="0">
                  <a:buNone/>
                </a:pPr>
                <a:r>
                  <a:rPr lang="en-GB" dirty="0"/>
                  <a:t>A typical way to address this issue consists of </a:t>
                </a:r>
                <a:r>
                  <a:rPr lang="en-GB" b="1" dirty="0">
                    <a:solidFill>
                      <a:srgbClr val="00B050"/>
                    </a:solidFill>
                  </a:rPr>
                  <a:t>padding</a:t>
                </a:r>
                <a:r>
                  <a:rPr lang="en-GB" dirty="0"/>
                  <a:t> the image.</a:t>
                </a:r>
              </a:p>
              <a:p>
                <a:pPr marL="0" indent="0">
                  <a:buNone/>
                </a:pPr>
                <a:r>
                  <a:rPr lang="en-GB" b="1" dirty="0">
                    <a:solidFill>
                      <a:srgbClr val="00B050"/>
                    </a:solidFill>
                  </a:rPr>
                  <a:t>Padding</a:t>
                </a:r>
                <a:r>
                  <a:rPr lang="en-GB" dirty="0"/>
                  <a:t> consists of </a:t>
                </a:r>
                <a:r>
                  <a:rPr lang="en-GB" b="1" dirty="0"/>
                  <a:t>adding some extra pixels on the outer part of the original image </a:t>
                </a:r>
                <a14:m>
                  <m:oMath xmlns:m="http://schemas.openxmlformats.org/officeDocument/2006/math">
                    <m:r>
                      <a:rPr lang="en-GB" b="1" i="1" dirty="0" smtClean="0">
                        <a:latin typeface="Cambria Math" panose="02040503050406030204" pitchFamily="18" charset="0"/>
                      </a:rPr>
                      <m:t>𝑿</m:t>
                    </m:r>
                    <m:r>
                      <a:rPr lang="en-GB" b="0" i="0" dirty="0" smtClean="0">
                        <a:latin typeface="Cambria Math" panose="02040503050406030204" pitchFamily="18" charset="0"/>
                      </a:rPr>
                      <m:t>.</m:t>
                    </m:r>
                  </m:oMath>
                </a14:m>
                <a:endParaRPr lang="en-GB" b="0" dirty="0"/>
              </a:p>
              <a:p>
                <a:pPr marL="0" indent="0">
                  <a:buNone/>
                </a:pPr>
                <a:r>
                  <a:rPr lang="en-GB" b="1" dirty="0">
                    <a:solidFill>
                      <a:srgbClr val="00B050"/>
                    </a:solidFill>
                  </a:rPr>
                  <a:t>Padding</a:t>
                </a:r>
                <a:r>
                  <a:rPr lang="en-GB" dirty="0"/>
                  <a:t> artificially increases the size of the original image </a:t>
                </a:r>
                <a14:m>
                  <m:oMath xmlns:m="http://schemas.openxmlformats.org/officeDocument/2006/math">
                    <m:r>
                      <a:rPr lang="en-GB" i="1" dirty="0" smtClean="0">
                        <a:latin typeface="Cambria Math" panose="02040503050406030204" pitchFamily="18" charset="0"/>
                      </a:rPr>
                      <m:t>𝑋</m:t>
                    </m:r>
                  </m:oMath>
                </a14:m>
                <a:r>
                  <a:rPr lang="en-GB" dirty="0"/>
                  <a:t>, so that the convolution produces an image </a:t>
                </a:r>
                <a14:m>
                  <m:oMath xmlns:m="http://schemas.openxmlformats.org/officeDocument/2006/math">
                    <m:r>
                      <a:rPr lang="en-GB" i="1" dirty="0" smtClean="0">
                        <a:latin typeface="Cambria Math" panose="02040503050406030204" pitchFamily="18" charset="0"/>
                      </a:rPr>
                      <m:t>𝑌</m:t>
                    </m:r>
                  </m:oMath>
                </a14:m>
                <a:r>
                  <a:rPr lang="en-GB" dirty="0"/>
                  <a:t> matching the size of </a:t>
                </a:r>
                <a14:m>
                  <m:oMath xmlns:m="http://schemas.openxmlformats.org/officeDocument/2006/math">
                    <m:r>
                      <a:rPr lang="en-GB" i="1" dirty="0" smtClean="0">
                        <a:latin typeface="Cambria Math" panose="02040503050406030204" pitchFamily="18" charset="0"/>
                      </a:rPr>
                      <m:t>𝑋</m:t>
                    </m:r>
                  </m:oMath>
                </a14:m>
                <a:r>
                  <a:rPr lang="en-GB" dirty="0"/>
                  <a:t>.</a:t>
                </a:r>
              </a:p>
            </p:txBody>
          </p:sp>
        </mc:Choice>
        <mc:Fallback xmlns="">
          <p:sp>
            <p:nvSpPr>
              <p:cNvPr id="3" name="Content Placeholder 2">
                <a:extLst>
                  <a:ext uri="{FF2B5EF4-FFF2-40B4-BE49-F238E27FC236}">
                    <a16:creationId xmlns:a16="http://schemas.microsoft.com/office/drawing/2014/main" id="{3C4B8663-0A2B-1CFA-FAE2-DCD3C0ADD837}"/>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1765"/>
                </a:stretch>
              </a:blipFill>
            </p:spPr>
            <p:txBody>
              <a:bodyPr/>
              <a:lstStyle/>
              <a:p>
                <a:r>
                  <a:rPr lang="en-SG">
                    <a:noFill/>
                  </a:rPr>
                  <a:t> </a:t>
                </a:r>
              </a:p>
            </p:txBody>
          </p:sp>
        </mc:Fallback>
      </mc:AlternateContent>
      <p:sp>
        <p:nvSpPr>
          <p:cNvPr id="4" name="Content Placeholder 3">
            <a:extLst>
              <a:ext uri="{FF2B5EF4-FFF2-40B4-BE49-F238E27FC236}">
                <a16:creationId xmlns:a16="http://schemas.microsoft.com/office/drawing/2014/main" id="{36A5486D-D27A-2E00-6363-68292893EFF8}"/>
              </a:ext>
            </a:extLst>
          </p:cNvPr>
          <p:cNvSpPr>
            <a:spLocks noGrp="1"/>
          </p:cNvSpPr>
          <p:nvPr>
            <p:ph sz="half" idx="2"/>
          </p:nvPr>
        </p:nvSpPr>
        <p:spPr>
          <a:xfrm>
            <a:off x="6172200" y="1825625"/>
            <a:ext cx="5181600" cy="5032374"/>
          </a:xfrm>
        </p:spPr>
        <p:txBody>
          <a:bodyPr>
            <a:normAutofit/>
          </a:bodyPr>
          <a:lstStyle/>
          <a:p>
            <a:pPr marL="0" indent="0">
              <a:buNone/>
            </a:pPr>
            <a:r>
              <a:rPr lang="en-GB" dirty="0"/>
              <a:t>Three possible patterns for padding exist:</a:t>
            </a:r>
          </a:p>
          <a:p>
            <a:r>
              <a:rPr lang="en-GB" dirty="0"/>
              <a:t>Valid/Same padding,</a:t>
            </a:r>
          </a:p>
          <a:p>
            <a:r>
              <a:rPr lang="en-GB" dirty="0"/>
              <a:t>Zero padding,</a:t>
            </a:r>
          </a:p>
          <a:p>
            <a:r>
              <a:rPr lang="en-GB" dirty="0"/>
              <a:t>Other types of padding…</a:t>
            </a:r>
          </a:p>
          <a:p>
            <a:pPr marL="0" indent="0">
              <a:buNone/>
            </a:pPr>
            <a:r>
              <a:rPr lang="en-GB" dirty="0"/>
              <a:t>This is typically be used to maintain the spatial dimensions of the input image and prevent the spatial dimensions of the output from getting too small.</a:t>
            </a:r>
            <a:endParaRPr lang="en-SG" dirty="0"/>
          </a:p>
          <a:p>
            <a:endParaRPr lang="en-SG" dirty="0"/>
          </a:p>
        </p:txBody>
      </p:sp>
    </p:spTree>
    <p:extLst>
      <p:ext uri="{BB962C8B-B14F-4D97-AF65-F5344CB8AC3E}">
        <p14:creationId xmlns:p14="http://schemas.microsoft.com/office/powerpoint/2010/main" val="19277152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2C13E-BBE6-06FE-60A9-F9A31DA263BA}"/>
              </a:ext>
            </a:extLst>
          </p:cNvPr>
          <p:cNvSpPr>
            <a:spLocks noGrp="1"/>
          </p:cNvSpPr>
          <p:nvPr>
            <p:ph type="title"/>
          </p:nvPr>
        </p:nvSpPr>
        <p:spPr/>
        <p:txBody>
          <a:bodyPr/>
          <a:lstStyle/>
          <a:p>
            <a:r>
              <a:rPr lang="en-GB" dirty="0"/>
              <a:t>Adding some padding</a:t>
            </a:r>
            <a:endParaRPr lang="en-SG" dirty="0"/>
          </a:p>
        </p:txBody>
      </p:sp>
      <p:sp>
        <p:nvSpPr>
          <p:cNvPr id="3" name="Content Placeholder 2">
            <a:extLst>
              <a:ext uri="{FF2B5EF4-FFF2-40B4-BE49-F238E27FC236}">
                <a16:creationId xmlns:a16="http://schemas.microsoft.com/office/drawing/2014/main" id="{3C4B8663-0A2B-1CFA-FAE2-DCD3C0ADD837}"/>
              </a:ext>
            </a:extLst>
          </p:cNvPr>
          <p:cNvSpPr>
            <a:spLocks noGrp="1"/>
          </p:cNvSpPr>
          <p:nvPr>
            <p:ph idx="1"/>
          </p:nvPr>
        </p:nvSpPr>
        <p:spPr>
          <a:xfrm>
            <a:off x="838199" y="1825625"/>
            <a:ext cx="10853615" cy="4351338"/>
          </a:xfrm>
        </p:spPr>
        <p:txBody>
          <a:bodyPr>
            <a:normAutofit/>
          </a:bodyPr>
          <a:lstStyle/>
          <a:p>
            <a:pPr marL="0" indent="0">
              <a:buNone/>
            </a:pPr>
            <a:r>
              <a:rPr lang="en-GB" b="1" dirty="0"/>
              <a:t>Valid padding: </a:t>
            </a:r>
            <a:r>
              <a:rPr lang="en-GB" dirty="0"/>
              <a:t>default configuration, no padding is applied to the input data. The convolution operation is only performed only on the valid parts of the input and the output size is then smaller than the input size. </a:t>
            </a:r>
            <a:endParaRPr lang="en-SG" dirty="0"/>
          </a:p>
        </p:txBody>
      </p:sp>
      <p:graphicFrame>
        <p:nvGraphicFramePr>
          <p:cNvPr id="5" name="Table 4">
            <a:extLst>
              <a:ext uri="{FF2B5EF4-FFF2-40B4-BE49-F238E27FC236}">
                <a16:creationId xmlns:a16="http://schemas.microsoft.com/office/drawing/2014/main" id="{E3CF4D12-DE2F-EE41-3923-4F35CB8545CF}"/>
              </a:ext>
            </a:extLst>
          </p:cNvPr>
          <p:cNvGraphicFramePr>
            <a:graphicFrameLocks noGrp="1"/>
          </p:cNvGraphicFramePr>
          <p:nvPr>
            <p:extLst>
              <p:ext uri="{D42A27DB-BD31-4B8C-83A1-F6EECF244321}">
                <p14:modId xmlns:p14="http://schemas.microsoft.com/office/powerpoint/2010/main" val="305249334"/>
              </p:ext>
            </p:extLst>
          </p:nvPr>
        </p:nvGraphicFramePr>
        <p:xfrm>
          <a:off x="4884615" y="4000378"/>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10625315"/>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0130699"/>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773086537"/>
                  </a:ext>
                </a:extLst>
              </a:tr>
            </a:tbl>
          </a:graphicData>
        </a:graphic>
      </p:graphicFrame>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DB84C10-47EF-B179-1B90-48C40B8FE525}"/>
                  </a:ext>
                </a:extLst>
              </p:cNvPr>
              <p:cNvSpPr txBox="1"/>
              <p:nvPr/>
            </p:nvSpPr>
            <p:spPr>
              <a:xfrm>
                <a:off x="1662491" y="626435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B050"/>
                          </a:solidFill>
                          <a:latin typeface="Cambria Math" panose="02040503050406030204" pitchFamily="18" charset="0"/>
                        </a:rPr>
                        <m:t>𝑿</m:t>
                      </m:r>
                    </m:oMath>
                  </m:oMathPara>
                </a14:m>
                <a:endParaRPr lang="en-SG" sz="2800" b="1" dirty="0">
                  <a:solidFill>
                    <a:srgbClr val="00B050"/>
                  </a:solidFill>
                </a:endParaRPr>
              </a:p>
            </p:txBody>
          </p:sp>
        </mc:Choice>
        <mc:Fallback xmlns="">
          <p:sp>
            <p:nvSpPr>
              <p:cNvPr id="6" name="TextBox 5">
                <a:extLst>
                  <a:ext uri="{FF2B5EF4-FFF2-40B4-BE49-F238E27FC236}">
                    <a16:creationId xmlns:a16="http://schemas.microsoft.com/office/drawing/2014/main" id="{1DB84C10-47EF-B179-1B90-48C40B8FE525}"/>
                  </a:ext>
                </a:extLst>
              </p:cNvPr>
              <p:cNvSpPr txBox="1">
                <a:spLocks noRot="1" noChangeAspect="1" noMove="1" noResize="1" noEditPoints="1" noAdjustHandles="1" noChangeArrowheads="1" noChangeShapeType="1" noTextEdit="1"/>
              </p:cNvSpPr>
              <p:nvPr/>
            </p:nvSpPr>
            <p:spPr>
              <a:xfrm>
                <a:off x="1662491" y="6264352"/>
                <a:ext cx="648677" cy="523220"/>
              </a:xfrm>
              <a:prstGeom prst="rect">
                <a:avLst/>
              </a:prstGeom>
              <a:blipFill>
                <a:blip r:embed="rId2"/>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C22F582-A710-C0B1-5C69-FB960FF852BB}"/>
                  </a:ext>
                </a:extLst>
              </p:cNvPr>
              <p:cNvSpPr txBox="1"/>
              <p:nvPr/>
            </p:nvSpPr>
            <p:spPr>
              <a:xfrm>
                <a:off x="5100277" y="6181779"/>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chemeClr val="accent2"/>
                          </a:solidFill>
                          <a:latin typeface="Cambria Math" panose="02040503050406030204" pitchFamily="18" charset="0"/>
                        </a:rPr>
                        <m:t>𝑲</m:t>
                      </m:r>
                    </m:oMath>
                  </m:oMathPara>
                </a14:m>
                <a:endParaRPr lang="en-SG" sz="2800" b="1" dirty="0">
                  <a:solidFill>
                    <a:schemeClr val="accent2"/>
                  </a:solidFill>
                </a:endParaRPr>
              </a:p>
            </p:txBody>
          </p:sp>
        </mc:Choice>
        <mc:Fallback xmlns="">
          <p:sp>
            <p:nvSpPr>
              <p:cNvPr id="13" name="TextBox 12">
                <a:extLst>
                  <a:ext uri="{FF2B5EF4-FFF2-40B4-BE49-F238E27FC236}">
                    <a16:creationId xmlns:a16="http://schemas.microsoft.com/office/drawing/2014/main" id="{6C22F582-A710-C0B1-5C69-FB960FF852BB}"/>
                  </a:ext>
                </a:extLst>
              </p:cNvPr>
              <p:cNvSpPr txBox="1">
                <a:spLocks noRot="1" noChangeAspect="1" noMove="1" noResize="1" noEditPoints="1" noAdjustHandles="1" noChangeArrowheads="1" noChangeShapeType="1" noTextEdit="1"/>
              </p:cNvSpPr>
              <p:nvPr/>
            </p:nvSpPr>
            <p:spPr>
              <a:xfrm>
                <a:off x="5100277" y="6181779"/>
                <a:ext cx="648677" cy="523220"/>
              </a:xfrm>
              <a:prstGeom prst="rect">
                <a:avLst/>
              </a:prstGeom>
              <a:blipFill>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9AF0BE7-4335-96E1-874D-DC1B25935528}"/>
                  </a:ext>
                </a:extLst>
              </p:cNvPr>
              <p:cNvSpPr txBox="1"/>
              <p:nvPr/>
            </p:nvSpPr>
            <p:spPr>
              <a:xfrm>
                <a:off x="9674722" y="609510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70C0"/>
                          </a:solidFill>
                          <a:latin typeface="Cambria Math" panose="02040503050406030204" pitchFamily="18" charset="0"/>
                        </a:rPr>
                        <m:t>𝒀</m:t>
                      </m:r>
                    </m:oMath>
                  </m:oMathPara>
                </a14:m>
                <a:endParaRPr lang="en-SG" sz="2800" b="1" dirty="0">
                  <a:solidFill>
                    <a:srgbClr val="0070C0"/>
                  </a:solidFill>
                </a:endParaRPr>
              </a:p>
            </p:txBody>
          </p:sp>
        </mc:Choice>
        <mc:Fallback xmlns="">
          <p:sp>
            <p:nvSpPr>
              <p:cNvPr id="14" name="TextBox 13">
                <a:extLst>
                  <a:ext uri="{FF2B5EF4-FFF2-40B4-BE49-F238E27FC236}">
                    <a16:creationId xmlns:a16="http://schemas.microsoft.com/office/drawing/2014/main" id="{39AF0BE7-4335-96E1-874D-DC1B25935528}"/>
                  </a:ext>
                </a:extLst>
              </p:cNvPr>
              <p:cNvSpPr txBox="1">
                <a:spLocks noRot="1" noChangeAspect="1" noMove="1" noResize="1" noEditPoints="1" noAdjustHandles="1" noChangeArrowheads="1" noChangeShapeType="1" noTextEdit="1"/>
              </p:cNvSpPr>
              <p:nvPr/>
            </p:nvSpPr>
            <p:spPr>
              <a:xfrm>
                <a:off x="9674722" y="6095102"/>
                <a:ext cx="648677" cy="523220"/>
              </a:xfrm>
              <a:prstGeom prst="rect">
                <a:avLst/>
              </a:prstGeom>
              <a:blipFill>
                <a:blip r:embed="rId4"/>
                <a:stretch>
                  <a:fillRect/>
                </a:stretch>
              </a:blipFill>
            </p:spPr>
            <p:txBody>
              <a:bodyPr/>
              <a:lstStyle/>
              <a:p>
                <a:r>
                  <a:rPr lang="en-SG">
                    <a:noFill/>
                  </a:rPr>
                  <a:t> </a:t>
                </a:r>
              </a:p>
            </p:txBody>
          </p:sp>
        </mc:Fallback>
      </mc:AlternateContent>
      <p:graphicFrame>
        <p:nvGraphicFramePr>
          <p:cNvPr id="17" name="Table 16">
            <a:extLst>
              <a:ext uri="{FF2B5EF4-FFF2-40B4-BE49-F238E27FC236}">
                <a16:creationId xmlns:a16="http://schemas.microsoft.com/office/drawing/2014/main" id="{0CF8CDF4-66EB-E1F6-939C-482B1E5CA9D0}"/>
              </a:ext>
            </a:extLst>
          </p:cNvPr>
          <p:cNvGraphicFramePr>
            <a:graphicFrameLocks noGrp="1"/>
          </p:cNvGraphicFramePr>
          <p:nvPr>
            <p:extLst>
              <p:ext uri="{D42A27DB-BD31-4B8C-83A1-F6EECF244321}">
                <p14:modId xmlns:p14="http://schemas.microsoft.com/office/powerpoint/2010/main" val="3579067279"/>
              </p:ext>
            </p:extLst>
          </p:nvPr>
        </p:nvGraphicFramePr>
        <p:xfrm>
          <a:off x="1086829" y="4001294"/>
          <a:ext cx="1800000" cy="18288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700703413"/>
                    </a:ext>
                  </a:extLst>
                </a:gridCol>
                <a:gridCol w="360000">
                  <a:extLst>
                    <a:ext uri="{9D8B030D-6E8A-4147-A177-3AD203B41FA5}">
                      <a16:colId xmlns:a16="http://schemas.microsoft.com/office/drawing/2014/main" val="1188093310"/>
                    </a:ext>
                  </a:extLst>
                </a:gridCol>
                <a:gridCol w="360000">
                  <a:extLst>
                    <a:ext uri="{9D8B030D-6E8A-4147-A177-3AD203B41FA5}">
                      <a16:colId xmlns:a16="http://schemas.microsoft.com/office/drawing/2014/main" val="4191100445"/>
                    </a:ext>
                  </a:extLst>
                </a:gridCol>
                <a:gridCol w="360000">
                  <a:extLst>
                    <a:ext uri="{9D8B030D-6E8A-4147-A177-3AD203B41FA5}">
                      <a16:colId xmlns:a16="http://schemas.microsoft.com/office/drawing/2014/main" val="3874915201"/>
                    </a:ext>
                  </a:extLst>
                </a:gridCol>
                <a:gridCol w="360000">
                  <a:extLst>
                    <a:ext uri="{9D8B030D-6E8A-4147-A177-3AD203B41FA5}">
                      <a16:colId xmlns:a16="http://schemas.microsoft.com/office/drawing/2014/main" val="3356821557"/>
                    </a:ext>
                  </a:extLst>
                </a:gridCol>
              </a:tblGrid>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509791817"/>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777963115"/>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578879875"/>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696099757"/>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409685490"/>
                  </a:ext>
                </a:extLst>
              </a:tr>
            </a:tbl>
          </a:graphicData>
        </a:graphic>
      </p:graphicFrame>
      <p:graphicFrame>
        <p:nvGraphicFramePr>
          <p:cNvPr id="18" name="Table 17">
            <a:extLst>
              <a:ext uri="{FF2B5EF4-FFF2-40B4-BE49-F238E27FC236}">
                <a16:creationId xmlns:a16="http://schemas.microsoft.com/office/drawing/2014/main" id="{74CC86D1-B72F-3F66-2708-76ACC45DECE2}"/>
              </a:ext>
            </a:extLst>
          </p:cNvPr>
          <p:cNvGraphicFramePr>
            <a:graphicFrameLocks noGrp="1"/>
          </p:cNvGraphicFramePr>
          <p:nvPr>
            <p:extLst>
              <p:ext uri="{D42A27DB-BD31-4B8C-83A1-F6EECF244321}">
                <p14:modId xmlns:p14="http://schemas.microsoft.com/office/powerpoint/2010/main" val="3460508042"/>
              </p:ext>
            </p:extLst>
          </p:nvPr>
        </p:nvGraphicFramePr>
        <p:xfrm>
          <a:off x="9459060" y="4000378"/>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79FD5DB-0DB9-4B05-05E9-37C5E0563706}"/>
                  </a:ext>
                </a:extLst>
              </p:cNvPr>
              <p:cNvSpPr txBox="1"/>
              <p:nvPr/>
            </p:nvSpPr>
            <p:spPr>
              <a:xfrm>
                <a:off x="6469191" y="5097658"/>
                <a:ext cx="2485292" cy="523220"/>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GB" sz="2800" i="1" dirty="0" smtClean="0">
                          <a:latin typeface="Cambria Math" panose="02040503050406030204" pitchFamily="18" charset="0"/>
                        </a:rPr>
                        <m:t>𝑌</m:t>
                      </m:r>
                      <m:r>
                        <a:rPr lang="en-GB" sz="2800" i="1" dirty="0" smtClean="0">
                          <a:latin typeface="Cambria Math" panose="02040503050406030204" pitchFamily="18" charset="0"/>
                        </a:rPr>
                        <m:t> = </m:t>
                      </m:r>
                      <m:r>
                        <a:rPr lang="en-GB" sz="2800" i="1" dirty="0" smtClean="0">
                          <a:latin typeface="Cambria Math" panose="02040503050406030204" pitchFamily="18" charset="0"/>
                        </a:rPr>
                        <m:t>𝑓</m:t>
                      </m:r>
                      <m:r>
                        <a:rPr lang="en-GB" sz="2800" i="1" dirty="0" smtClean="0">
                          <a:latin typeface="Cambria Math" panose="02040503050406030204" pitchFamily="18" charset="0"/>
                        </a:rPr>
                        <m:t>(</m:t>
                      </m:r>
                      <m:r>
                        <a:rPr lang="en-GB" sz="2800" i="1" dirty="0" smtClean="0">
                          <a:latin typeface="Cambria Math" panose="02040503050406030204" pitchFamily="18" charset="0"/>
                        </a:rPr>
                        <m:t>𝑋</m:t>
                      </m:r>
                      <m:r>
                        <a:rPr lang="en-GB" sz="2800" i="1" dirty="0" smtClean="0">
                          <a:latin typeface="Cambria Math" panose="02040503050406030204" pitchFamily="18" charset="0"/>
                        </a:rPr>
                        <m:t>, </m:t>
                      </m:r>
                      <m:r>
                        <a:rPr lang="en-GB" sz="2800" i="1" dirty="0" smtClean="0">
                          <a:latin typeface="Cambria Math" panose="02040503050406030204" pitchFamily="18" charset="0"/>
                        </a:rPr>
                        <m:t>𝐾</m:t>
                      </m:r>
                      <m:r>
                        <a:rPr lang="en-GB" sz="2800" i="1" dirty="0" smtClean="0">
                          <a:latin typeface="Cambria Math" panose="02040503050406030204" pitchFamily="18" charset="0"/>
                        </a:rPr>
                        <m:t>)</m:t>
                      </m:r>
                    </m:oMath>
                  </m:oMathPara>
                </a14:m>
                <a:endParaRPr lang="en-SG" sz="2800" dirty="0"/>
              </a:p>
            </p:txBody>
          </p:sp>
        </mc:Choice>
        <mc:Fallback xmlns="">
          <p:sp>
            <p:nvSpPr>
              <p:cNvPr id="20" name="TextBox 19">
                <a:extLst>
                  <a:ext uri="{FF2B5EF4-FFF2-40B4-BE49-F238E27FC236}">
                    <a16:creationId xmlns:a16="http://schemas.microsoft.com/office/drawing/2014/main" id="{B79FD5DB-0DB9-4B05-05E9-37C5E0563706}"/>
                  </a:ext>
                </a:extLst>
              </p:cNvPr>
              <p:cNvSpPr txBox="1">
                <a:spLocks noRot="1" noChangeAspect="1" noMove="1" noResize="1" noEditPoints="1" noAdjustHandles="1" noChangeArrowheads="1" noChangeShapeType="1" noTextEdit="1"/>
              </p:cNvSpPr>
              <p:nvPr/>
            </p:nvSpPr>
            <p:spPr>
              <a:xfrm>
                <a:off x="6469191" y="5097658"/>
                <a:ext cx="2485292" cy="523220"/>
              </a:xfrm>
              <a:prstGeom prst="rect">
                <a:avLst/>
              </a:prstGeom>
              <a:blipFill>
                <a:blip r:embed="rId5"/>
                <a:stretch>
                  <a:fillRect/>
                </a:stretch>
              </a:blipFill>
            </p:spPr>
            <p:txBody>
              <a:bodyPr/>
              <a:lstStyle/>
              <a:p>
                <a:r>
                  <a:rPr lang="en-SG">
                    <a:noFill/>
                  </a:rPr>
                  <a:t> </a:t>
                </a:r>
              </a:p>
            </p:txBody>
          </p:sp>
        </mc:Fallback>
      </mc:AlternateContent>
      <p:cxnSp>
        <p:nvCxnSpPr>
          <p:cNvPr id="22" name="Straight Arrow Connector 21">
            <a:extLst>
              <a:ext uri="{FF2B5EF4-FFF2-40B4-BE49-F238E27FC236}">
                <a16:creationId xmlns:a16="http://schemas.microsoft.com/office/drawing/2014/main" id="{0E0DEB67-8D31-7DD8-36BF-275779635BB5}"/>
              </a:ext>
            </a:extLst>
          </p:cNvPr>
          <p:cNvCxnSpPr/>
          <p:nvPr/>
        </p:nvCxnSpPr>
        <p:spPr>
          <a:xfrm>
            <a:off x="6227387" y="4549018"/>
            <a:ext cx="3072921" cy="0"/>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47841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2C13E-BBE6-06FE-60A9-F9A31DA263BA}"/>
              </a:ext>
            </a:extLst>
          </p:cNvPr>
          <p:cNvSpPr>
            <a:spLocks noGrp="1"/>
          </p:cNvSpPr>
          <p:nvPr>
            <p:ph type="title"/>
          </p:nvPr>
        </p:nvSpPr>
        <p:spPr/>
        <p:txBody>
          <a:bodyPr/>
          <a:lstStyle/>
          <a:p>
            <a:r>
              <a:rPr lang="en-GB" dirty="0"/>
              <a:t>Adding some padding</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4B8663-0A2B-1CFA-FAE2-DCD3C0ADD837}"/>
                  </a:ext>
                </a:extLst>
              </p:cNvPr>
              <p:cNvSpPr>
                <a:spLocks noGrp="1"/>
              </p:cNvSpPr>
              <p:nvPr>
                <p:ph idx="1"/>
              </p:nvPr>
            </p:nvSpPr>
            <p:spPr/>
            <p:txBody>
              <a:bodyPr>
                <a:normAutofit/>
              </a:bodyPr>
              <a:lstStyle/>
              <a:p>
                <a:pPr marL="0" indent="0">
                  <a:buNone/>
                </a:pPr>
                <a:r>
                  <a:rPr lang="en-GB" b="1" dirty="0"/>
                  <a:t>Same padding: </a:t>
                </a:r>
                <a:r>
                  <a:rPr lang="en-GB" dirty="0"/>
                  <a:t>The number of elements added to the image (i.e. </a:t>
                </a:r>
                <a:r>
                  <a:rPr lang="en-GB" b="1" dirty="0"/>
                  <a:t>padding size </a:t>
                </a:r>
                <a14:m>
                  <m:oMath xmlns:m="http://schemas.openxmlformats.org/officeDocument/2006/math">
                    <m:r>
                      <a:rPr lang="en-GB" b="1" i="1" dirty="0" smtClean="0">
                        <a:latin typeface="Cambria Math" panose="02040503050406030204" pitchFamily="18" charset="0"/>
                      </a:rPr>
                      <m:t>𝒑</m:t>
                    </m:r>
                  </m:oMath>
                </a14:m>
                <a:r>
                  <a:rPr lang="en-GB" dirty="0"/>
                  <a:t>) is defined so that image </a:t>
                </a:r>
                <a14:m>
                  <m:oMath xmlns:m="http://schemas.openxmlformats.org/officeDocument/2006/math">
                    <m:r>
                      <a:rPr lang="en-GB" i="1" dirty="0" smtClean="0">
                        <a:latin typeface="Cambria Math" panose="02040503050406030204" pitchFamily="18" charset="0"/>
                      </a:rPr>
                      <m:t>𝑌</m:t>
                    </m:r>
                  </m:oMath>
                </a14:m>
                <a:r>
                  <a:rPr lang="en-GB" dirty="0"/>
                  <a:t> has the same size as </a:t>
                </a:r>
                <a14:m>
                  <m:oMath xmlns:m="http://schemas.openxmlformats.org/officeDocument/2006/math">
                    <m:r>
                      <a:rPr lang="en-GB" i="1" dirty="0" smtClean="0">
                        <a:latin typeface="Cambria Math" panose="02040503050406030204" pitchFamily="18" charset="0"/>
                      </a:rPr>
                      <m:t>𝑋</m:t>
                    </m:r>
                  </m:oMath>
                </a14:m>
                <a:r>
                  <a:rPr lang="en-GB" dirty="0"/>
                  <a:t>.</a:t>
                </a:r>
              </a:p>
              <a:p>
                <a:pPr marL="0" indent="0">
                  <a:buNone/>
                </a:pPr>
                <a:r>
                  <a:rPr lang="en-GB" b="1" dirty="0"/>
                  <a:t>Zero padding:</a:t>
                </a:r>
                <a:r>
                  <a:rPr lang="en-GB" dirty="0"/>
                  <a:t> added pixels can simply be set to have the value 0.</a:t>
                </a:r>
                <a:endParaRPr lang="en-SG" dirty="0"/>
              </a:p>
            </p:txBody>
          </p:sp>
        </mc:Choice>
        <mc:Fallback xmlns="">
          <p:sp>
            <p:nvSpPr>
              <p:cNvPr id="3" name="Content Placeholder 2">
                <a:extLst>
                  <a:ext uri="{FF2B5EF4-FFF2-40B4-BE49-F238E27FC236}">
                    <a16:creationId xmlns:a16="http://schemas.microsoft.com/office/drawing/2014/main" id="{3C4B8663-0A2B-1CFA-FAE2-DCD3C0ADD837}"/>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GB">
                    <a:noFill/>
                  </a:rPr>
                  <a:t> </a:t>
                </a:r>
              </a:p>
            </p:txBody>
          </p:sp>
        </mc:Fallback>
      </mc:AlternateContent>
      <p:graphicFrame>
        <p:nvGraphicFramePr>
          <p:cNvPr id="7" name="Table 6">
            <a:extLst>
              <a:ext uri="{FF2B5EF4-FFF2-40B4-BE49-F238E27FC236}">
                <a16:creationId xmlns:a16="http://schemas.microsoft.com/office/drawing/2014/main" id="{3A3EBCD4-A24F-2308-46CE-423854A8A069}"/>
              </a:ext>
            </a:extLst>
          </p:cNvPr>
          <p:cNvGraphicFramePr>
            <a:graphicFrameLocks noGrp="1"/>
          </p:cNvGraphicFramePr>
          <p:nvPr>
            <p:extLst>
              <p:ext uri="{D42A27DB-BD31-4B8C-83A1-F6EECF244321}">
                <p14:modId xmlns:p14="http://schemas.microsoft.com/office/powerpoint/2010/main" val="1825082465"/>
              </p:ext>
            </p:extLst>
          </p:nvPr>
        </p:nvGraphicFramePr>
        <p:xfrm>
          <a:off x="9099060" y="3789544"/>
          <a:ext cx="1800000" cy="18288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700703413"/>
                    </a:ext>
                  </a:extLst>
                </a:gridCol>
                <a:gridCol w="360000">
                  <a:extLst>
                    <a:ext uri="{9D8B030D-6E8A-4147-A177-3AD203B41FA5}">
                      <a16:colId xmlns:a16="http://schemas.microsoft.com/office/drawing/2014/main" val="1188093310"/>
                    </a:ext>
                  </a:extLst>
                </a:gridCol>
                <a:gridCol w="360000">
                  <a:extLst>
                    <a:ext uri="{9D8B030D-6E8A-4147-A177-3AD203B41FA5}">
                      <a16:colId xmlns:a16="http://schemas.microsoft.com/office/drawing/2014/main" val="4191100445"/>
                    </a:ext>
                  </a:extLst>
                </a:gridCol>
                <a:gridCol w="360000">
                  <a:extLst>
                    <a:ext uri="{9D8B030D-6E8A-4147-A177-3AD203B41FA5}">
                      <a16:colId xmlns:a16="http://schemas.microsoft.com/office/drawing/2014/main" val="3874915201"/>
                    </a:ext>
                  </a:extLst>
                </a:gridCol>
                <a:gridCol w="360000">
                  <a:extLst>
                    <a:ext uri="{9D8B030D-6E8A-4147-A177-3AD203B41FA5}">
                      <a16:colId xmlns:a16="http://schemas.microsoft.com/office/drawing/2014/main" val="3356821557"/>
                    </a:ext>
                  </a:extLst>
                </a:gridCol>
              </a:tblGrid>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509791817"/>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777963115"/>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578879875"/>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696099757"/>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409685490"/>
                  </a:ext>
                </a:extLst>
              </a:tr>
            </a:tbl>
          </a:graphicData>
        </a:graphic>
      </p:graphicFrame>
      <p:graphicFrame>
        <p:nvGraphicFramePr>
          <p:cNvPr id="8" name="Table 7">
            <a:extLst>
              <a:ext uri="{FF2B5EF4-FFF2-40B4-BE49-F238E27FC236}">
                <a16:creationId xmlns:a16="http://schemas.microsoft.com/office/drawing/2014/main" id="{766F728B-F5F8-D11C-E8C5-C65B03DA2190}"/>
              </a:ext>
            </a:extLst>
          </p:cNvPr>
          <p:cNvGraphicFramePr>
            <a:graphicFrameLocks noGrp="1"/>
          </p:cNvGraphicFramePr>
          <p:nvPr>
            <p:extLst>
              <p:ext uri="{D42A27DB-BD31-4B8C-83A1-F6EECF244321}">
                <p14:modId xmlns:p14="http://schemas.microsoft.com/office/powerpoint/2010/main" val="1206099758"/>
              </p:ext>
            </p:extLst>
          </p:nvPr>
        </p:nvGraphicFramePr>
        <p:xfrm>
          <a:off x="4884615" y="3820807"/>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10625315"/>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0130699"/>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773086537"/>
                  </a:ext>
                </a:extLst>
              </a:tr>
            </a:tbl>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A609753-A9D7-2520-3DF5-5F85E65F89D4}"/>
                  </a:ext>
                </a:extLst>
              </p:cNvPr>
              <p:cNvSpPr txBox="1"/>
              <p:nvPr/>
            </p:nvSpPr>
            <p:spPr>
              <a:xfrm>
                <a:off x="1662491" y="626435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B050"/>
                          </a:solidFill>
                          <a:latin typeface="Cambria Math" panose="02040503050406030204" pitchFamily="18" charset="0"/>
                        </a:rPr>
                        <m:t>𝑿</m:t>
                      </m:r>
                    </m:oMath>
                  </m:oMathPara>
                </a14:m>
                <a:endParaRPr lang="en-SG" sz="2800" b="1" dirty="0">
                  <a:solidFill>
                    <a:srgbClr val="00B050"/>
                  </a:solidFill>
                </a:endParaRPr>
              </a:p>
            </p:txBody>
          </p:sp>
        </mc:Choice>
        <mc:Fallback xmlns="">
          <p:sp>
            <p:nvSpPr>
              <p:cNvPr id="9" name="TextBox 8">
                <a:extLst>
                  <a:ext uri="{FF2B5EF4-FFF2-40B4-BE49-F238E27FC236}">
                    <a16:creationId xmlns:a16="http://schemas.microsoft.com/office/drawing/2014/main" id="{CA609753-A9D7-2520-3DF5-5F85E65F89D4}"/>
                  </a:ext>
                </a:extLst>
              </p:cNvPr>
              <p:cNvSpPr txBox="1">
                <a:spLocks noRot="1" noChangeAspect="1" noMove="1" noResize="1" noEditPoints="1" noAdjustHandles="1" noChangeArrowheads="1" noChangeShapeType="1" noTextEdit="1"/>
              </p:cNvSpPr>
              <p:nvPr/>
            </p:nvSpPr>
            <p:spPr>
              <a:xfrm>
                <a:off x="1662491" y="6264352"/>
                <a:ext cx="648677" cy="523220"/>
              </a:xfrm>
              <a:prstGeom prst="rect">
                <a:avLst/>
              </a:prstGeom>
              <a:blipFill>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A962805-A1FE-6007-D028-3B0DC4BE5B0D}"/>
                  </a:ext>
                </a:extLst>
              </p:cNvPr>
              <p:cNvSpPr txBox="1"/>
              <p:nvPr/>
            </p:nvSpPr>
            <p:spPr>
              <a:xfrm>
                <a:off x="5100277" y="6181779"/>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chemeClr val="accent2"/>
                          </a:solidFill>
                          <a:latin typeface="Cambria Math" panose="02040503050406030204" pitchFamily="18" charset="0"/>
                        </a:rPr>
                        <m:t>𝑲</m:t>
                      </m:r>
                    </m:oMath>
                  </m:oMathPara>
                </a14:m>
                <a:endParaRPr lang="en-SG" sz="2800" b="1" dirty="0">
                  <a:solidFill>
                    <a:schemeClr val="accent2"/>
                  </a:solidFill>
                </a:endParaRPr>
              </a:p>
            </p:txBody>
          </p:sp>
        </mc:Choice>
        <mc:Fallback xmlns="">
          <p:sp>
            <p:nvSpPr>
              <p:cNvPr id="10" name="TextBox 9">
                <a:extLst>
                  <a:ext uri="{FF2B5EF4-FFF2-40B4-BE49-F238E27FC236}">
                    <a16:creationId xmlns:a16="http://schemas.microsoft.com/office/drawing/2014/main" id="{9A962805-A1FE-6007-D028-3B0DC4BE5B0D}"/>
                  </a:ext>
                </a:extLst>
              </p:cNvPr>
              <p:cNvSpPr txBox="1">
                <a:spLocks noRot="1" noChangeAspect="1" noMove="1" noResize="1" noEditPoints="1" noAdjustHandles="1" noChangeArrowheads="1" noChangeShapeType="1" noTextEdit="1"/>
              </p:cNvSpPr>
              <p:nvPr/>
            </p:nvSpPr>
            <p:spPr>
              <a:xfrm>
                <a:off x="5100277" y="6181779"/>
                <a:ext cx="648677" cy="523220"/>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AC0F4E6-13CC-E514-D0A6-37D3D2599388}"/>
                  </a:ext>
                </a:extLst>
              </p:cNvPr>
              <p:cNvSpPr txBox="1"/>
              <p:nvPr/>
            </p:nvSpPr>
            <p:spPr>
              <a:xfrm>
                <a:off x="9674722" y="609510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70C0"/>
                          </a:solidFill>
                          <a:latin typeface="Cambria Math" panose="02040503050406030204" pitchFamily="18" charset="0"/>
                        </a:rPr>
                        <m:t>𝒀</m:t>
                      </m:r>
                    </m:oMath>
                  </m:oMathPara>
                </a14:m>
                <a:endParaRPr lang="en-SG" sz="2800" b="1" dirty="0">
                  <a:solidFill>
                    <a:srgbClr val="0070C0"/>
                  </a:solidFill>
                </a:endParaRPr>
              </a:p>
            </p:txBody>
          </p:sp>
        </mc:Choice>
        <mc:Fallback xmlns="">
          <p:sp>
            <p:nvSpPr>
              <p:cNvPr id="11" name="TextBox 10">
                <a:extLst>
                  <a:ext uri="{FF2B5EF4-FFF2-40B4-BE49-F238E27FC236}">
                    <a16:creationId xmlns:a16="http://schemas.microsoft.com/office/drawing/2014/main" id="{4AC0F4E6-13CC-E514-D0A6-37D3D2599388}"/>
                  </a:ext>
                </a:extLst>
              </p:cNvPr>
              <p:cNvSpPr txBox="1">
                <a:spLocks noRot="1" noChangeAspect="1" noMove="1" noResize="1" noEditPoints="1" noAdjustHandles="1" noChangeArrowheads="1" noChangeShapeType="1" noTextEdit="1"/>
              </p:cNvSpPr>
              <p:nvPr/>
            </p:nvSpPr>
            <p:spPr>
              <a:xfrm>
                <a:off x="9674722" y="6095102"/>
                <a:ext cx="648677" cy="523220"/>
              </a:xfrm>
              <a:prstGeom prst="rect">
                <a:avLst/>
              </a:prstGeom>
              <a:blipFill>
                <a:blip r:embed="rId5"/>
                <a:stretch>
                  <a:fillRect/>
                </a:stretch>
              </a:blipFill>
            </p:spPr>
            <p:txBody>
              <a:bodyPr/>
              <a:lstStyle/>
              <a:p>
                <a:r>
                  <a:rPr lang="en-SG">
                    <a:noFill/>
                  </a:rPr>
                  <a:t> </a:t>
                </a:r>
              </a:p>
            </p:txBody>
          </p:sp>
        </mc:Fallback>
      </mc:AlternateContent>
      <p:graphicFrame>
        <p:nvGraphicFramePr>
          <p:cNvPr id="12" name="Table 12">
            <a:extLst>
              <a:ext uri="{FF2B5EF4-FFF2-40B4-BE49-F238E27FC236}">
                <a16:creationId xmlns:a16="http://schemas.microsoft.com/office/drawing/2014/main" id="{03612730-FD90-CF9B-428A-61DE5F6AD82D}"/>
              </a:ext>
            </a:extLst>
          </p:cNvPr>
          <p:cNvGraphicFramePr>
            <a:graphicFrameLocks noGrp="1"/>
          </p:cNvGraphicFramePr>
          <p:nvPr>
            <p:extLst>
              <p:ext uri="{D42A27DB-BD31-4B8C-83A1-F6EECF244321}">
                <p14:modId xmlns:p14="http://schemas.microsoft.com/office/powerpoint/2010/main" val="1089540074"/>
              </p:ext>
            </p:extLst>
          </p:nvPr>
        </p:nvGraphicFramePr>
        <p:xfrm>
          <a:off x="726830" y="3423784"/>
          <a:ext cx="2520000" cy="256032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2822408721"/>
                    </a:ext>
                  </a:extLst>
                </a:gridCol>
                <a:gridCol w="360000">
                  <a:extLst>
                    <a:ext uri="{9D8B030D-6E8A-4147-A177-3AD203B41FA5}">
                      <a16:colId xmlns:a16="http://schemas.microsoft.com/office/drawing/2014/main" val="7696452"/>
                    </a:ext>
                  </a:extLst>
                </a:gridCol>
                <a:gridCol w="360000">
                  <a:extLst>
                    <a:ext uri="{9D8B030D-6E8A-4147-A177-3AD203B41FA5}">
                      <a16:colId xmlns:a16="http://schemas.microsoft.com/office/drawing/2014/main" val="1898891438"/>
                    </a:ext>
                  </a:extLst>
                </a:gridCol>
                <a:gridCol w="360000">
                  <a:extLst>
                    <a:ext uri="{9D8B030D-6E8A-4147-A177-3AD203B41FA5}">
                      <a16:colId xmlns:a16="http://schemas.microsoft.com/office/drawing/2014/main" val="2401033360"/>
                    </a:ext>
                  </a:extLst>
                </a:gridCol>
                <a:gridCol w="360000">
                  <a:extLst>
                    <a:ext uri="{9D8B030D-6E8A-4147-A177-3AD203B41FA5}">
                      <a16:colId xmlns:a16="http://schemas.microsoft.com/office/drawing/2014/main" val="2199237322"/>
                    </a:ext>
                  </a:extLst>
                </a:gridCol>
                <a:gridCol w="360000">
                  <a:extLst>
                    <a:ext uri="{9D8B030D-6E8A-4147-A177-3AD203B41FA5}">
                      <a16:colId xmlns:a16="http://schemas.microsoft.com/office/drawing/2014/main" val="1800328485"/>
                    </a:ext>
                  </a:extLst>
                </a:gridCol>
                <a:gridCol w="360000">
                  <a:extLst>
                    <a:ext uri="{9D8B030D-6E8A-4147-A177-3AD203B41FA5}">
                      <a16:colId xmlns:a16="http://schemas.microsoft.com/office/drawing/2014/main" val="3830588725"/>
                    </a:ext>
                  </a:extLst>
                </a:gridCol>
              </a:tblGrid>
              <a:tr h="360000">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386900393"/>
                  </a:ext>
                </a:extLst>
              </a:tr>
              <a:tr h="360000">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88744272"/>
                  </a:ext>
                </a:extLst>
              </a:tr>
              <a:tr h="360000">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860802916"/>
                  </a:ext>
                </a:extLst>
              </a:tr>
              <a:tr h="360000">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775767866"/>
                  </a:ext>
                </a:extLst>
              </a:tr>
              <a:tr h="360000">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4092754649"/>
                  </a:ext>
                </a:extLst>
              </a:tr>
              <a:tr h="360000">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578972192"/>
                  </a:ext>
                </a:extLst>
              </a:tr>
              <a:tr h="360000">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467325683"/>
                  </a:ext>
                </a:extLst>
              </a:tr>
            </a:tbl>
          </a:graphicData>
        </a:graphic>
      </p:graphicFrame>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75EE7C9-3829-0CE2-6D25-E44D269AC5FE}"/>
                  </a:ext>
                </a:extLst>
              </p:cNvPr>
              <p:cNvSpPr txBox="1"/>
              <p:nvPr/>
            </p:nvSpPr>
            <p:spPr>
              <a:xfrm>
                <a:off x="6469191" y="5097658"/>
                <a:ext cx="2485292" cy="523220"/>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GB" sz="2800" i="1" dirty="0" smtClean="0">
                          <a:latin typeface="Cambria Math" panose="02040503050406030204" pitchFamily="18" charset="0"/>
                        </a:rPr>
                        <m:t>𝑌</m:t>
                      </m:r>
                      <m:r>
                        <a:rPr lang="en-GB" sz="2800" i="1" dirty="0" smtClean="0">
                          <a:latin typeface="Cambria Math" panose="02040503050406030204" pitchFamily="18" charset="0"/>
                        </a:rPr>
                        <m:t> = </m:t>
                      </m:r>
                      <m:r>
                        <a:rPr lang="en-GB" sz="2800" i="1" dirty="0" smtClean="0">
                          <a:latin typeface="Cambria Math" panose="02040503050406030204" pitchFamily="18" charset="0"/>
                        </a:rPr>
                        <m:t>𝑓</m:t>
                      </m:r>
                      <m:r>
                        <a:rPr lang="en-GB" sz="2800" i="1" dirty="0" smtClean="0">
                          <a:latin typeface="Cambria Math" panose="02040503050406030204" pitchFamily="18" charset="0"/>
                        </a:rPr>
                        <m:t>(</m:t>
                      </m:r>
                      <m:r>
                        <a:rPr lang="en-GB" sz="2800" i="1" dirty="0" smtClean="0">
                          <a:latin typeface="Cambria Math" panose="02040503050406030204" pitchFamily="18" charset="0"/>
                        </a:rPr>
                        <m:t>𝑋</m:t>
                      </m:r>
                      <m:r>
                        <a:rPr lang="en-GB" sz="2800" i="1" dirty="0" smtClean="0">
                          <a:latin typeface="Cambria Math" panose="02040503050406030204" pitchFamily="18" charset="0"/>
                        </a:rPr>
                        <m:t>, </m:t>
                      </m:r>
                      <m:r>
                        <a:rPr lang="en-GB" sz="2800" i="1" dirty="0" smtClean="0">
                          <a:latin typeface="Cambria Math" panose="02040503050406030204" pitchFamily="18" charset="0"/>
                        </a:rPr>
                        <m:t>𝐾</m:t>
                      </m:r>
                      <m:r>
                        <a:rPr lang="en-GB" sz="2800" i="1" dirty="0" smtClean="0">
                          <a:latin typeface="Cambria Math" panose="02040503050406030204" pitchFamily="18" charset="0"/>
                        </a:rPr>
                        <m:t>)</m:t>
                      </m:r>
                    </m:oMath>
                  </m:oMathPara>
                </a14:m>
                <a:endParaRPr lang="en-SG" sz="2800" dirty="0"/>
              </a:p>
            </p:txBody>
          </p:sp>
        </mc:Choice>
        <mc:Fallback xmlns="">
          <p:sp>
            <p:nvSpPr>
              <p:cNvPr id="13" name="TextBox 12">
                <a:extLst>
                  <a:ext uri="{FF2B5EF4-FFF2-40B4-BE49-F238E27FC236}">
                    <a16:creationId xmlns:a16="http://schemas.microsoft.com/office/drawing/2014/main" id="{575EE7C9-3829-0CE2-6D25-E44D269AC5FE}"/>
                  </a:ext>
                </a:extLst>
              </p:cNvPr>
              <p:cNvSpPr txBox="1">
                <a:spLocks noRot="1" noChangeAspect="1" noMove="1" noResize="1" noEditPoints="1" noAdjustHandles="1" noChangeArrowheads="1" noChangeShapeType="1" noTextEdit="1"/>
              </p:cNvSpPr>
              <p:nvPr/>
            </p:nvSpPr>
            <p:spPr>
              <a:xfrm>
                <a:off x="6469191" y="5097658"/>
                <a:ext cx="2485292" cy="523220"/>
              </a:xfrm>
              <a:prstGeom prst="rect">
                <a:avLst/>
              </a:prstGeom>
              <a:blipFill>
                <a:blip r:embed="rId6"/>
                <a:stretch>
                  <a:fillRect/>
                </a:stretch>
              </a:blipFill>
            </p:spPr>
            <p:txBody>
              <a:bodyPr/>
              <a:lstStyle/>
              <a:p>
                <a:r>
                  <a:rPr lang="en-SG">
                    <a:noFill/>
                  </a:rPr>
                  <a:t> </a:t>
                </a:r>
              </a:p>
            </p:txBody>
          </p:sp>
        </mc:Fallback>
      </mc:AlternateContent>
      <p:cxnSp>
        <p:nvCxnSpPr>
          <p:cNvPr id="14" name="Straight Arrow Connector 13">
            <a:extLst>
              <a:ext uri="{FF2B5EF4-FFF2-40B4-BE49-F238E27FC236}">
                <a16:creationId xmlns:a16="http://schemas.microsoft.com/office/drawing/2014/main" id="{62D9AD87-2CE5-295E-628E-C4A6025D1704}"/>
              </a:ext>
            </a:extLst>
          </p:cNvPr>
          <p:cNvCxnSpPr>
            <a:cxnSpLocks/>
          </p:cNvCxnSpPr>
          <p:nvPr/>
        </p:nvCxnSpPr>
        <p:spPr>
          <a:xfrm>
            <a:off x="6096000" y="4338003"/>
            <a:ext cx="2797908" cy="0"/>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94913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2C13E-BBE6-06FE-60A9-F9A31DA263BA}"/>
              </a:ext>
            </a:extLst>
          </p:cNvPr>
          <p:cNvSpPr>
            <a:spLocks noGrp="1"/>
          </p:cNvSpPr>
          <p:nvPr>
            <p:ph type="title"/>
          </p:nvPr>
        </p:nvSpPr>
        <p:spPr/>
        <p:txBody>
          <a:bodyPr/>
          <a:lstStyle/>
          <a:p>
            <a:r>
              <a:rPr lang="en-GB" dirty="0"/>
              <a:t>Adding some padding</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4B8663-0A2B-1CFA-FAE2-DCD3C0ADD837}"/>
                  </a:ext>
                </a:extLst>
              </p:cNvPr>
              <p:cNvSpPr>
                <a:spLocks noGrp="1"/>
              </p:cNvSpPr>
              <p:nvPr>
                <p:ph idx="1"/>
              </p:nvPr>
            </p:nvSpPr>
            <p:spPr>
              <a:xfrm>
                <a:off x="838200" y="1825624"/>
                <a:ext cx="10515600" cy="5032375"/>
              </a:xfrm>
            </p:spPr>
            <p:txBody>
              <a:bodyPr>
                <a:normAutofit/>
              </a:bodyPr>
              <a:lstStyle/>
              <a:p>
                <a:pPr marL="0" indent="0">
                  <a:buNone/>
                </a:pPr>
                <a:r>
                  <a:rPr lang="en-GB" b="1" dirty="0"/>
                  <a:t>When using a padding with size </a:t>
                </a:r>
                <a14:m>
                  <m:oMath xmlns:m="http://schemas.openxmlformats.org/officeDocument/2006/math">
                    <m:r>
                      <a:rPr lang="en-GB" b="1" i="1" dirty="0" smtClean="0">
                        <a:latin typeface="Cambria Math" panose="02040503050406030204" pitchFamily="18" charset="0"/>
                      </a:rPr>
                      <m:t>𝒑</m:t>
                    </m:r>
                  </m:oMath>
                </a14:m>
                <a:r>
                  <a:rPr lang="en-GB" dirty="0"/>
                  <a:t>, the convolution operation defined as </a:t>
                </a:r>
                <a14:m>
                  <m:oMath xmlns:m="http://schemas.openxmlformats.org/officeDocument/2006/math">
                    <m:r>
                      <a:rPr lang="en-GB" i="1" dirty="0">
                        <a:latin typeface="Cambria Math" panose="02040503050406030204" pitchFamily="18" charset="0"/>
                      </a:rPr>
                      <m:t>𝑌</m:t>
                    </m:r>
                    <m:r>
                      <a:rPr lang="en-GB" i="1" dirty="0">
                        <a:latin typeface="Cambria Math" panose="02040503050406030204" pitchFamily="18" charset="0"/>
                      </a:rPr>
                      <m:t> = </m:t>
                    </m:r>
                    <m:r>
                      <a:rPr lang="en-GB" i="1" dirty="0">
                        <a:latin typeface="Cambria Math" panose="02040503050406030204" pitchFamily="18" charset="0"/>
                      </a:rPr>
                      <m:t>𝑓</m:t>
                    </m:r>
                    <m:d>
                      <m:dPr>
                        <m:ctrlPr>
                          <a:rPr lang="en-GB" i="1" dirty="0">
                            <a:latin typeface="Cambria Math" panose="02040503050406030204" pitchFamily="18" charset="0"/>
                          </a:rPr>
                        </m:ctrlPr>
                      </m:dPr>
                      <m:e>
                        <m:r>
                          <a:rPr lang="en-GB" i="1" dirty="0">
                            <a:latin typeface="Cambria Math" panose="02040503050406030204" pitchFamily="18" charset="0"/>
                          </a:rPr>
                          <m:t>𝑋</m:t>
                        </m:r>
                        <m:r>
                          <a:rPr lang="en-GB" i="1" dirty="0">
                            <a:latin typeface="Cambria Math" panose="02040503050406030204" pitchFamily="18" charset="0"/>
                          </a:rPr>
                          <m:t>, </m:t>
                        </m:r>
                        <m:r>
                          <a:rPr lang="en-GB" i="1" dirty="0">
                            <a:latin typeface="Cambria Math" panose="02040503050406030204" pitchFamily="18" charset="0"/>
                          </a:rPr>
                          <m:t>𝐾</m:t>
                        </m:r>
                      </m:e>
                    </m:d>
                  </m:oMath>
                </a14:m>
                <a:r>
                  <a:rPr lang="en-SG" dirty="0"/>
                  <a:t>, produces an image </a:t>
                </a:r>
                <a14:m>
                  <m:oMath xmlns:m="http://schemas.openxmlformats.org/officeDocument/2006/math">
                    <m:r>
                      <a:rPr lang="en-SG" i="1" dirty="0">
                        <a:latin typeface="Cambria Math" panose="02040503050406030204" pitchFamily="18" charset="0"/>
                      </a:rPr>
                      <m:t>𝑌</m:t>
                    </m:r>
                  </m:oMath>
                </a14:m>
                <a:r>
                  <a:rPr lang="en-SG" dirty="0"/>
                  <a:t> of size </a:t>
                </a:r>
                <a14:m>
                  <m:oMath xmlns:m="http://schemas.openxmlformats.org/officeDocument/2006/math">
                    <m:r>
                      <a:rPr lang="en-GB" i="1">
                        <a:latin typeface="Cambria Math" panose="02040503050406030204" pitchFamily="18" charset="0"/>
                      </a:rPr>
                      <m:t>h</m:t>
                    </m:r>
                    <m:r>
                      <a:rPr lang="en-GB" i="1">
                        <a:latin typeface="Cambria Math" panose="02040503050406030204" pitchFamily="18" charset="0"/>
                      </a:rPr>
                      <m:t>′×</m:t>
                    </m:r>
                    <m:r>
                      <a:rPr lang="en-GB" i="1">
                        <a:latin typeface="Cambria Math" panose="02040503050406030204" pitchFamily="18" charset="0"/>
                      </a:rPr>
                      <m:t>𝑤</m:t>
                    </m:r>
                    <m:r>
                      <a:rPr lang="en-GB" i="1">
                        <a:latin typeface="Cambria Math" panose="02040503050406030204" pitchFamily="18" charset="0"/>
                      </a:rPr>
                      <m:t>′</m:t>
                    </m:r>
                  </m:oMath>
                </a14:m>
                <a:r>
                  <a:rPr lang="en-SG" dirty="0"/>
                  <a:t>,</a:t>
                </a:r>
              </a:p>
              <a:p>
                <a:r>
                  <a:rPr lang="en-SG" dirty="0"/>
                  <a:t>With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h</m:t>
                        </m:r>
                      </m:e>
                      <m:sup>
                        <m:r>
                          <a:rPr lang="en-GB" i="1">
                            <a:latin typeface="Cambria Math" panose="02040503050406030204" pitchFamily="18" charset="0"/>
                          </a:rPr>
                          <m:t>′</m:t>
                        </m:r>
                      </m:sup>
                    </m:sSup>
                    <m:r>
                      <a:rPr lang="en-GB" i="1">
                        <a:latin typeface="Cambria Math" panose="02040503050406030204" pitchFamily="18" charset="0"/>
                      </a:rPr>
                      <m:t>=</m:t>
                    </m:r>
                    <m:r>
                      <a:rPr lang="en-GB" i="1">
                        <a:latin typeface="Cambria Math" panose="02040503050406030204" pitchFamily="18" charset="0"/>
                      </a:rPr>
                      <m:t>h</m:t>
                    </m:r>
                    <m:r>
                      <a:rPr lang="en-GB" b="0" i="1" smtClean="0">
                        <a:latin typeface="Cambria Math" panose="02040503050406030204" pitchFamily="18" charset="0"/>
                      </a:rPr>
                      <m:t>+</m:t>
                    </m:r>
                    <m:r>
                      <a:rPr lang="en-GB" b="1" i="1" smtClean="0">
                        <a:latin typeface="Cambria Math" panose="02040503050406030204" pitchFamily="18" charset="0"/>
                      </a:rPr>
                      <m:t>𝟐</m:t>
                    </m:r>
                    <m:r>
                      <a:rPr lang="en-GB" b="1" i="1" smtClean="0">
                        <a:latin typeface="Cambria Math" panose="02040503050406030204" pitchFamily="18" charset="0"/>
                      </a:rPr>
                      <m:t>𝒑</m:t>
                    </m:r>
                    <m:r>
                      <a:rPr lang="en-GB" i="1">
                        <a:latin typeface="Cambria Math" panose="02040503050406030204" pitchFamily="18" charset="0"/>
                      </a:rPr>
                      <m:t>−</m:t>
                    </m:r>
                    <m:r>
                      <a:rPr lang="en-GB" i="1">
                        <a:latin typeface="Cambria Math" panose="02040503050406030204" pitchFamily="18" charset="0"/>
                      </a:rPr>
                      <m:t>𝑘</m:t>
                    </m:r>
                    <m:r>
                      <a:rPr lang="en-GB" i="1">
                        <a:latin typeface="Cambria Math" panose="02040503050406030204" pitchFamily="18" charset="0"/>
                      </a:rPr>
                      <m:t>+1</m:t>
                    </m:r>
                  </m:oMath>
                </a14:m>
                <a:r>
                  <a:rPr lang="en-SG" dirty="0"/>
                  <a:t>,</a:t>
                </a:r>
              </a:p>
              <a:p>
                <a:r>
                  <a:rPr lang="en-SG" dirty="0"/>
                  <a:t>And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𝑤</m:t>
                        </m:r>
                      </m:e>
                      <m:sup>
                        <m:r>
                          <a:rPr lang="en-GB" i="1">
                            <a:latin typeface="Cambria Math" panose="02040503050406030204" pitchFamily="18" charset="0"/>
                          </a:rPr>
                          <m:t>′</m:t>
                        </m:r>
                      </m:sup>
                    </m:sSup>
                    <m:r>
                      <a:rPr lang="en-GB" i="1">
                        <a:latin typeface="Cambria Math" panose="02040503050406030204" pitchFamily="18" charset="0"/>
                      </a:rPr>
                      <m:t>=</m:t>
                    </m:r>
                    <m:r>
                      <a:rPr lang="en-GB" i="1">
                        <a:latin typeface="Cambria Math" panose="02040503050406030204" pitchFamily="18" charset="0"/>
                      </a:rPr>
                      <m:t>𝑤</m:t>
                    </m:r>
                    <m:r>
                      <a:rPr lang="en-GB" b="0" i="1" smtClean="0">
                        <a:latin typeface="Cambria Math" panose="02040503050406030204" pitchFamily="18" charset="0"/>
                      </a:rPr>
                      <m:t>+</m:t>
                    </m:r>
                    <m:r>
                      <a:rPr lang="en-GB" b="1" i="1" smtClean="0">
                        <a:latin typeface="Cambria Math" panose="02040503050406030204" pitchFamily="18" charset="0"/>
                      </a:rPr>
                      <m:t>𝟐</m:t>
                    </m:r>
                    <m:r>
                      <a:rPr lang="en-GB" b="1" i="1" smtClean="0">
                        <a:latin typeface="Cambria Math" panose="02040503050406030204" pitchFamily="18" charset="0"/>
                      </a:rPr>
                      <m:t>𝒑</m:t>
                    </m:r>
                    <m:r>
                      <a:rPr lang="en-GB" b="1" i="1">
                        <a:latin typeface="Cambria Math" panose="02040503050406030204" pitchFamily="18" charset="0"/>
                      </a:rPr>
                      <m:t> </m:t>
                    </m:r>
                    <m:r>
                      <a:rPr lang="en-GB" i="1">
                        <a:latin typeface="Cambria Math" panose="02040503050406030204" pitchFamily="18" charset="0"/>
                      </a:rPr>
                      <m:t>−</m:t>
                    </m:r>
                    <m:r>
                      <a:rPr lang="en-GB" i="1">
                        <a:latin typeface="Cambria Math" panose="02040503050406030204" pitchFamily="18" charset="0"/>
                      </a:rPr>
                      <m:t>𝑘</m:t>
                    </m:r>
                    <m:r>
                      <a:rPr lang="en-GB" i="1">
                        <a:latin typeface="Cambria Math" panose="02040503050406030204" pitchFamily="18" charset="0"/>
                      </a:rPr>
                      <m:t>+1</m:t>
                    </m:r>
                  </m:oMath>
                </a14:m>
                <a:r>
                  <a:rPr lang="en-GB" dirty="0"/>
                  <a:t>.</a:t>
                </a:r>
              </a:p>
              <a:p>
                <a:pPr marL="0" indent="0">
                  <a:buNone/>
                </a:pPr>
                <a:endParaRPr lang="en-GB" dirty="0"/>
              </a:p>
              <a:p>
                <a:pPr marL="0" indent="0">
                  <a:buNone/>
                </a:pPr>
                <a:r>
                  <a:rPr lang="en-GB" b="1" dirty="0"/>
                  <a:t>Same padding: </a:t>
                </a:r>
                <a:r>
                  <a:rPr lang="en-GB" dirty="0"/>
                  <a:t>to ensure the image </a:t>
                </a:r>
                <a14:m>
                  <m:oMath xmlns:m="http://schemas.openxmlformats.org/officeDocument/2006/math">
                    <m:r>
                      <a:rPr lang="en-GB" i="1" dirty="0" smtClean="0">
                        <a:latin typeface="Cambria Math" panose="02040503050406030204" pitchFamily="18" charset="0"/>
                      </a:rPr>
                      <m:t>𝑌</m:t>
                    </m:r>
                  </m:oMath>
                </a14:m>
                <a:r>
                  <a:rPr lang="en-GB" dirty="0"/>
                  <a:t> has the same dimension as </a:t>
                </a:r>
                <a14:m>
                  <m:oMath xmlns:m="http://schemas.openxmlformats.org/officeDocument/2006/math">
                    <m:r>
                      <a:rPr lang="en-GB" i="1" dirty="0" smtClean="0">
                        <a:latin typeface="Cambria Math" panose="02040503050406030204" pitchFamily="18" charset="0"/>
                      </a:rPr>
                      <m:t>𝑋</m:t>
                    </m:r>
                  </m:oMath>
                </a14:m>
                <a:r>
                  <a:rPr lang="en-GB" dirty="0"/>
                  <a:t>, we need to use a padding size </a:t>
                </a:r>
                <a14:m>
                  <m:oMath xmlns:m="http://schemas.openxmlformats.org/officeDocument/2006/math">
                    <m:r>
                      <a:rPr lang="en-GB" i="1" dirty="0" smtClean="0">
                        <a:latin typeface="Cambria Math" panose="02040503050406030204" pitchFamily="18" charset="0"/>
                      </a:rPr>
                      <m:t>𝑝</m:t>
                    </m:r>
                    <m:r>
                      <a:rPr lang="en-GB" i="1" dirty="0" smtClean="0">
                        <a:latin typeface="Cambria Math" panose="02040503050406030204" pitchFamily="18" charset="0"/>
                      </a:rPr>
                      <m:t> =</m:t>
                    </m:r>
                    <m:f>
                      <m:fPr>
                        <m:ctrlPr>
                          <a:rPr lang="en-GB" i="1" dirty="0" smtClean="0">
                            <a:latin typeface="Cambria Math" panose="02040503050406030204" pitchFamily="18" charset="0"/>
                          </a:rPr>
                        </m:ctrlPr>
                      </m:fPr>
                      <m:num>
                        <m:r>
                          <a:rPr lang="en-GB" i="1" dirty="0" smtClean="0">
                            <a:latin typeface="Cambria Math" panose="02040503050406030204" pitchFamily="18" charset="0"/>
                          </a:rPr>
                          <m:t>𝑘</m:t>
                        </m:r>
                        <m:r>
                          <a:rPr lang="en-GB" i="1" dirty="0" smtClean="0">
                            <a:latin typeface="Cambria Math" panose="02040503050406030204" pitchFamily="18" charset="0"/>
                          </a:rPr>
                          <m:t>−1</m:t>
                        </m:r>
                      </m:num>
                      <m:den>
                        <m:r>
                          <a:rPr lang="en-GB" i="1" dirty="0" smtClean="0">
                            <a:latin typeface="Cambria Math" panose="02040503050406030204" pitchFamily="18" charset="0"/>
                          </a:rPr>
                          <m:t>2</m:t>
                        </m:r>
                      </m:den>
                    </m:f>
                  </m:oMath>
                </a14:m>
                <a:r>
                  <a:rPr lang="en-GB" dirty="0"/>
                  <a:t>.</a:t>
                </a:r>
                <a:br>
                  <a:rPr lang="en-GB" dirty="0"/>
                </a:br>
                <a:r>
                  <a:rPr lang="en-GB" dirty="0"/>
                  <a:t>It is therefore adjusted to the kernel size </a:t>
                </a:r>
                <a14:m>
                  <m:oMath xmlns:m="http://schemas.openxmlformats.org/officeDocument/2006/math">
                    <m:r>
                      <a:rPr lang="en-GB" i="1" dirty="0" smtClean="0">
                        <a:latin typeface="Cambria Math" panose="02040503050406030204" pitchFamily="18" charset="0"/>
                      </a:rPr>
                      <m:t>𝑘</m:t>
                    </m:r>
                  </m:oMath>
                </a14:m>
                <a:r>
                  <a:rPr lang="en-GB" dirty="0"/>
                  <a:t>.</a:t>
                </a:r>
              </a:p>
              <a:p>
                <a:pPr marL="0" indent="0">
                  <a:buNone/>
                </a:pPr>
                <a:r>
                  <a:rPr lang="en-GB" dirty="0"/>
                  <a:t>If we are not interested in </a:t>
                </a:r>
                <a14:m>
                  <m:oMath xmlns:m="http://schemas.openxmlformats.org/officeDocument/2006/math">
                    <m:r>
                      <a:rPr lang="en-GB" i="1" dirty="0" smtClean="0">
                        <a:latin typeface="Cambria Math" panose="02040503050406030204" pitchFamily="18" charset="0"/>
                      </a:rPr>
                      <m:t>𝑌</m:t>
                    </m:r>
                  </m:oMath>
                </a14:m>
                <a:r>
                  <a:rPr lang="en-GB" dirty="0"/>
                  <a:t> having the same size as </a:t>
                </a:r>
                <a14:m>
                  <m:oMath xmlns:m="http://schemas.openxmlformats.org/officeDocument/2006/math">
                    <m:r>
                      <a:rPr lang="en-GB" i="1" dirty="0" smtClean="0">
                        <a:latin typeface="Cambria Math" panose="02040503050406030204" pitchFamily="18" charset="0"/>
                      </a:rPr>
                      <m:t>𝑋</m:t>
                    </m:r>
                  </m:oMath>
                </a14:m>
                <a:r>
                  <a:rPr lang="en-GB" dirty="0"/>
                  <a:t>, we are free to use any padding size.</a:t>
                </a:r>
              </a:p>
              <a:p>
                <a:pPr marL="0" indent="0">
                  <a:buNone/>
                </a:pPr>
                <a:endParaRPr lang="en-GB" dirty="0"/>
              </a:p>
              <a:p>
                <a:pPr marL="0" indent="0">
                  <a:buNone/>
                </a:pPr>
                <a:endParaRPr lang="en-SG" dirty="0"/>
              </a:p>
              <a:p>
                <a:endParaRPr lang="en-SG" dirty="0"/>
              </a:p>
            </p:txBody>
          </p:sp>
        </mc:Choice>
        <mc:Fallback xmlns="">
          <p:sp>
            <p:nvSpPr>
              <p:cNvPr id="3" name="Content Placeholder 2">
                <a:extLst>
                  <a:ext uri="{FF2B5EF4-FFF2-40B4-BE49-F238E27FC236}">
                    <a16:creationId xmlns:a16="http://schemas.microsoft.com/office/drawing/2014/main" id="{3C4B8663-0A2B-1CFA-FAE2-DCD3C0ADD837}"/>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SG">
                    <a:noFill/>
                  </a:rPr>
                  <a:t> </a:t>
                </a:r>
              </a:p>
            </p:txBody>
          </p:sp>
        </mc:Fallback>
      </mc:AlternateContent>
    </p:spTree>
    <p:extLst>
      <p:ext uri="{BB962C8B-B14F-4D97-AF65-F5344CB8AC3E}">
        <p14:creationId xmlns:p14="http://schemas.microsoft.com/office/powerpoint/2010/main" val="12224836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2C13E-BBE6-06FE-60A9-F9A31DA263BA}"/>
              </a:ext>
            </a:extLst>
          </p:cNvPr>
          <p:cNvSpPr>
            <a:spLocks noGrp="1"/>
          </p:cNvSpPr>
          <p:nvPr>
            <p:ph type="title"/>
          </p:nvPr>
        </p:nvSpPr>
        <p:spPr/>
        <p:txBody>
          <a:bodyPr/>
          <a:lstStyle/>
          <a:p>
            <a:r>
              <a:rPr lang="en-GB" dirty="0"/>
              <a:t>Adding some padding</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4B8663-0A2B-1CFA-FAE2-DCD3C0ADD837}"/>
                  </a:ext>
                </a:extLst>
              </p:cNvPr>
              <p:cNvSpPr>
                <a:spLocks noGrp="1"/>
              </p:cNvSpPr>
              <p:nvPr>
                <p:ph idx="1"/>
              </p:nvPr>
            </p:nvSpPr>
            <p:spPr/>
            <p:txBody>
              <a:bodyPr>
                <a:normAutofit/>
              </a:bodyPr>
              <a:lstStyle/>
              <a:p>
                <a:pPr marL="0" indent="0">
                  <a:buNone/>
                </a:pPr>
                <a:r>
                  <a:rPr lang="en-GB" b="1" dirty="0"/>
                  <a:t>Interpolation padding:</a:t>
                </a:r>
                <a:r>
                  <a:rPr lang="en-GB" dirty="0"/>
                  <a:t> instead of zeros, added pixels have the value of the closest pixel. Can also “zoom in” the original image and resize it to the expected number of pixels we want for image </a:t>
                </a:r>
                <a14:m>
                  <m:oMath xmlns:m="http://schemas.openxmlformats.org/officeDocument/2006/math">
                    <m:r>
                      <a:rPr lang="en-GB" i="1" dirty="0" smtClean="0">
                        <a:latin typeface="Cambria Math" panose="02040503050406030204" pitchFamily="18" charset="0"/>
                      </a:rPr>
                      <m:t>𝑋</m:t>
                    </m:r>
                  </m:oMath>
                </a14:m>
                <a:r>
                  <a:rPr lang="en-GB" dirty="0"/>
                  <a:t> after padding.</a:t>
                </a:r>
                <a:endParaRPr lang="en-SG" dirty="0"/>
              </a:p>
            </p:txBody>
          </p:sp>
        </mc:Choice>
        <mc:Fallback xmlns="">
          <p:sp>
            <p:nvSpPr>
              <p:cNvPr id="3" name="Content Placeholder 2">
                <a:extLst>
                  <a:ext uri="{FF2B5EF4-FFF2-40B4-BE49-F238E27FC236}">
                    <a16:creationId xmlns:a16="http://schemas.microsoft.com/office/drawing/2014/main" id="{3C4B8663-0A2B-1CFA-FAE2-DCD3C0ADD837}"/>
                  </a:ext>
                </a:extLst>
              </p:cNvPr>
              <p:cNvSpPr>
                <a:spLocks noGrp="1" noRot="1" noChangeAspect="1" noMove="1" noResize="1" noEditPoints="1" noAdjustHandles="1" noChangeArrowheads="1" noChangeShapeType="1" noTextEdit="1"/>
              </p:cNvSpPr>
              <p:nvPr>
                <p:ph idx="1"/>
              </p:nvPr>
            </p:nvSpPr>
            <p:spPr>
              <a:blipFill>
                <a:blip r:embed="rId2"/>
                <a:stretch>
                  <a:fillRect l="-1217" t="-2241" r="-522"/>
                </a:stretch>
              </a:blipFill>
            </p:spPr>
            <p:txBody>
              <a:bodyPr/>
              <a:lstStyle/>
              <a:p>
                <a:r>
                  <a:rPr lang="en-SG">
                    <a:noFill/>
                  </a:rPr>
                  <a:t> </a:t>
                </a:r>
              </a:p>
            </p:txBody>
          </p:sp>
        </mc:Fallback>
      </mc:AlternateContent>
      <p:graphicFrame>
        <p:nvGraphicFramePr>
          <p:cNvPr id="7" name="Table 6">
            <a:extLst>
              <a:ext uri="{FF2B5EF4-FFF2-40B4-BE49-F238E27FC236}">
                <a16:creationId xmlns:a16="http://schemas.microsoft.com/office/drawing/2014/main" id="{3A3EBCD4-A24F-2308-46CE-423854A8A069}"/>
              </a:ext>
            </a:extLst>
          </p:cNvPr>
          <p:cNvGraphicFramePr>
            <a:graphicFrameLocks noGrp="1"/>
          </p:cNvGraphicFramePr>
          <p:nvPr>
            <p:extLst>
              <p:ext uri="{D42A27DB-BD31-4B8C-83A1-F6EECF244321}">
                <p14:modId xmlns:p14="http://schemas.microsoft.com/office/powerpoint/2010/main" val="1170806879"/>
              </p:ext>
            </p:extLst>
          </p:nvPr>
        </p:nvGraphicFramePr>
        <p:xfrm>
          <a:off x="9099060" y="3789544"/>
          <a:ext cx="1800000" cy="18288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700703413"/>
                    </a:ext>
                  </a:extLst>
                </a:gridCol>
                <a:gridCol w="360000">
                  <a:extLst>
                    <a:ext uri="{9D8B030D-6E8A-4147-A177-3AD203B41FA5}">
                      <a16:colId xmlns:a16="http://schemas.microsoft.com/office/drawing/2014/main" val="1188093310"/>
                    </a:ext>
                  </a:extLst>
                </a:gridCol>
                <a:gridCol w="360000">
                  <a:extLst>
                    <a:ext uri="{9D8B030D-6E8A-4147-A177-3AD203B41FA5}">
                      <a16:colId xmlns:a16="http://schemas.microsoft.com/office/drawing/2014/main" val="4191100445"/>
                    </a:ext>
                  </a:extLst>
                </a:gridCol>
                <a:gridCol w="360000">
                  <a:extLst>
                    <a:ext uri="{9D8B030D-6E8A-4147-A177-3AD203B41FA5}">
                      <a16:colId xmlns:a16="http://schemas.microsoft.com/office/drawing/2014/main" val="3874915201"/>
                    </a:ext>
                  </a:extLst>
                </a:gridCol>
                <a:gridCol w="360000">
                  <a:extLst>
                    <a:ext uri="{9D8B030D-6E8A-4147-A177-3AD203B41FA5}">
                      <a16:colId xmlns:a16="http://schemas.microsoft.com/office/drawing/2014/main" val="3356821557"/>
                    </a:ext>
                  </a:extLst>
                </a:gridCol>
              </a:tblGrid>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509791817"/>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777963115"/>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578879875"/>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696099757"/>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409685490"/>
                  </a:ext>
                </a:extLst>
              </a:tr>
            </a:tbl>
          </a:graphicData>
        </a:graphic>
      </p:graphicFrame>
      <p:graphicFrame>
        <p:nvGraphicFramePr>
          <p:cNvPr id="8" name="Table 7">
            <a:extLst>
              <a:ext uri="{FF2B5EF4-FFF2-40B4-BE49-F238E27FC236}">
                <a16:creationId xmlns:a16="http://schemas.microsoft.com/office/drawing/2014/main" id="{766F728B-F5F8-D11C-E8C5-C65B03DA2190}"/>
              </a:ext>
            </a:extLst>
          </p:cNvPr>
          <p:cNvGraphicFramePr>
            <a:graphicFrameLocks noGrp="1"/>
          </p:cNvGraphicFramePr>
          <p:nvPr/>
        </p:nvGraphicFramePr>
        <p:xfrm>
          <a:off x="4884615" y="3820807"/>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10625315"/>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0130699"/>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773086537"/>
                  </a:ext>
                </a:extLst>
              </a:tr>
            </a:tbl>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A609753-A9D7-2520-3DF5-5F85E65F89D4}"/>
                  </a:ext>
                </a:extLst>
              </p:cNvPr>
              <p:cNvSpPr txBox="1"/>
              <p:nvPr/>
            </p:nvSpPr>
            <p:spPr>
              <a:xfrm>
                <a:off x="1662491" y="626435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B050"/>
                          </a:solidFill>
                          <a:latin typeface="Cambria Math" panose="02040503050406030204" pitchFamily="18" charset="0"/>
                        </a:rPr>
                        <m:t>𝑿</m:t>
                      </m:r>
                    </m:oMath>
                  </m:oMathPara>
                </a14:m>
                <a:endParaRPr lang="en-SG" sz="2800" b="1" dirty="0">
                  <a:solidFill>
                    <a:srgbClr val="00B050"/>
                  </a:solidFill>
                </a:endParaRPr>
              </a:p>
            </p:txBody>
          </p:sp>
        </mc:Choice>
        <mc:Fallback xmlns="">
          <p:sp>
            <p:nvSpPr>
              <p:cNvPr id="9" name="TextBox 8">
                <a:extLst>
                  <a:ext uri="{FF2B5EF4-FFF2-40B4-BE49-F238E27FC236}">
                    <a16:creationId xmlns:a16="http://schemas.microsoft.com/office/drawing/2014/main" id="{CA609753-A9D7-2520-3DF5-5F85E65F89D4}"/>
                  </a:ext>
                </a:extLst>
              </p:cNvPr>
              <p:cNvSpPr txBox="1">
                <a:spLocks noRot="1" noChangeAspect="1" noMove="1" noResize="1" noEditPoints="1" noAdjustHandles="1" noChangeArrowheads="1" noChangeShapeType="1" noTextEdit="1"/>
              </p:cNvSpPr>
              <p:nvPr/>
            </p:nvSpPr>
            <p:spPr>
              <a:xfrm>
                <a:off x="1662491" y="6264352"/>
                <a:ext cx="648677" cy="523220"/>
              </a:xfrm>
              <a:prstGeom prst="rect">
                <a:avLst/>
              </a:prstGeom>
              <a:blipFill>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A962805-A1FE-6007-D028-3B0DC4BE5B0D}"/>
                  </a:ext>
                </a:extLst>
              </p:cNvPr>
              <p:cNvSpPr txBox="1"/>
              <p:nvPr/>
            </p:nvSpPr>
            <p:spPr>
              <a:xfrm>
                <a:off x="5100277" y="6181779"/>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chemeClr val="accent2"/>
                          </a:solidFill>
                          <a:latin typeface="Cambria Math" panose="02040503050406030204" pitchFamily="18" charset="0"/>
                        </a:rPr>
                        <m:t>𝑲</m:t>
                      </m:r>
                    </m:oMath>
                  </m:oMathPara>
                </a14:m>
                <a:endParaRPr lang="en-SG" sz="2800" b="1" dirty="0">
                  <a:solidFill>
                    <a:schemeClr val="accent2"/>
                  </a:solidFill>
                </a:endParaRPr>
              </a:p>
            </p:txBody>
          </p:sp>
        </mc:Choice>
        <mc:Fallback xmlns="">
          <p:sp>
            <p:nvSpPr>
              <p:cNvPr id="10" name="TextBox 9">
                <a:extLst>
                  <a:ext uri="{FF2B5EF4-FFF2-40B4-BE49-F238E27FC236}">
                    <a16:creationId xmlns:a16="http://schemas.microsoft.com/office/drawing/2014/main" id="{9A962805-A1FE-6007-D028-3B0DC4BE5B0D}"/>
                  </a:ext>
                </a:extLst>
              </p:cNvPr>
              <p:cNvSpPr txBox="1">
                <a:spLocks noRot="1" noChangeAspect="1" noMove="1" noResize="1" noEditPoints="1" noAdjustHandles="1" noChangeArrowheads="1" noChangeShapeType="1" noTextEdit="1"/>
              </p:cNvSpPr>
              <p:nvPr/>
            </p:nvSpPr>
            <p:spPr>
              <a:xfrm>
                <a:off x="5100277" y="6181779"/>
                <a:ext cx="648677" cy="523220"/>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AC0F4E6-13CC-E514-D0A6-37D3D2599388}"/>
                  </a:ext>
                </a:extLst>
              </p:cNvPr>
              <p:cNvSpPr txBox="1"/>
              <p:nvPr/>
            </p:nvSpPr>
            <p:spPr>
              <a:xfrm>
                <a:off x="9674722" y="609510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70C0"/>
                          </a:solidFill>
                          <a:latin typeface="Cambria Math" panose="02040503050406030204" pitchFamily="18" charset="0"/>
                        </a:rPr>
                        <m:t>𝒀</m:t>
                      </m:r>
                    </m:oMath>
                  </m:oMathPara>
                </a14:m>
                <a:endParaRPr lang="en-SG" sz="2800" b="1" dirty="0">
                  <a:solidFill>
                    <a:srgbClr val="0070C0"/>
                  </a:solidFill>
                </a:endParaRPr>
              </a:p>
            </p:txBody>
          </p:sp>
        </mc:Choice>
        <mc:Fallback xmlns="">
          <p:sp>
            <p:nvSpPr>
              <p:cNvPr id="11" name="TextBox 10">
                <a:extLst>
                  <a:ext uri="{FF2B5EF4-FFF2-40B4-BE49-F238E27FC236}">
                    <a16:creationId xmlns:a16="http://schemas.microsoft.com/office/drawing/2014/main" id="{4AC0F4E6-13CC-E514-D0A6-37D3D2599388}"/>
                  </a:ext>
                </a:extLst>
              </p:cNvPr>
              <p:cNvSpPr txBox="1">
                <a:spLocks noRot="1" noChangeAspect="1" noMove="1" noResize="1" noEditPoints="1" noAdjustHandles="1" noChangeArrowheads="1" noChangeShapeType="1" noTextEdit="1"/>
              </p:cNvSpPr>
              <p:nvPr/>
            </p:nvSpPr>
            <p:spPr>
              <a:xfrm>
                <a:off x="9674722" y="6095102"/>
                <a:ext cx="648677" cy="523220"/>
              </a:xfrm>
              <a:prstGeom prst="rect">
                <a:avLst/>
              </a:prstGeom>
              <a:blipFill>
                <a:blip r:embed="rId5"/>
                <a:stretch>
                  <a:fillRect/>
                </a:stretch>
              </a:blipFill>
            </p:spPr>
            <p:txBody>
              <a:bodyPr/>
              <a:lstStyle/>
              <a:p>
                <a:r>
                  <a:rPr lang="en-SG">
                    <a:noFill/>
                  </a:rPr>
                  <a:t> </a:t>
                </a:r>
              </a:p>
            </p:txBody>
          </p:sp>
        </mc:Fallback>
      </mc:AlternateContent>
      <p:graphicFrame>
        <p:nvGraphicFramePr>
          <p:cNvPr id="12" name="Table 12">
            <a:extLst>
              <a:ext uri="{FF2B5EF4-FFF2-40B4-BE49-F238E27FC236}">
                <a16:creationId xmlns:a16="http://schemas.microsoft.com/office/drawing/2014/main" id="{03612730-FD90-CF9B-428A-61DE5F6AD82D}"/>
              </a:ext>
            </a:extLst>
          </p:cNvPr>
          <p:cNvGraphicFramePr>
            <a:graphicFrameLocks noGrp="1"/>
          </p:cNvGraphicFramePr>
          <p:nvPr>
            <p:extLst>
              <p:ext uri="{D42A27DB-BD31-4B8C-83A1-F6EECF244321}">
                <p14:modId xmlns:p14="http://schemas.microsoft.com/office/powerpoint/2010/main" val="882259528"/>
              </p:ext>
            </p:extLst>
          </p:nvPr>
        </p:nvGraphicFramePr>
        <p:xfrm>
          <a:off x="726830" y="3423784"/>
          <a:ext cx="2520000" cy="256032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2822408721"/>
                    </a:ext>
                  </a:extLst>
                </a:gridCol>
                <a:gridCol w="360000">
                  <a:extLst>
                    <a:ext uri="{9D8B030D-6E8A-4147-A177-3AD203B41FA5}">
                      <a16:colId xmlns:a16="http://schemas.microsoft.com/office/drawing/2014/main" val="7696452"/>
                    </a:ext>
                  </a:extLst>
                </a:gridCol>
                <a:gridCol w="360000">
                  <a:extLst>
                    <a:ext uri="{9D8B030D-6E8A-4147-A177-3AD203B41FA5}">
                      <a16:colId xmlns:a16="http://schemas.microsoft.com/office/drawing/2014/main" val="1898891438"/>
                    </a:ext>
                  </a:extLst>
                </a:gridCol>
                <a:gridCol w="360000">
                  <a:extLst>
                    <a:ext uri="{9D8B030D-6E8A-4147-A177-3AD203B41FA5}">
                      <a16:colId xmlns:a16="http://schemas.microsoft.com/office/drawing/2014/main" val="2401033360"/>
                    </a:ext>
                  </a:extLst>
                </a:gridCol>
                <a:gridCol w="360000">
                  <a:extLst>
                    <a:ext uri="{9D8B030D-6E8A-4147-A177-3AD203B41FA5}">
                      <a16:colId xmlns:a16="http://schemas.microsoft.com/office/drawing/2014/main" val="2199237322"/>
                    </a:ext>
                  </a:extLst>
                </a:gridCol>
                <a:gridCol w="360000">
                  <a:extLst>
                    <a:ext uri="{9D8B030D-6E8A-4147-A177-3AD203B41FA5}">
                      <a16:colId xmlns:a16="http://schemas.microsoft.com/office/drawing/2014/main" val="1800328485"/>
                    </a:ext>
                  </a:extLst>
                </a:gridCol>
                <a:gridCol w="360000">
                  <a:extLst>
                    <a:ext uri="{9D8B030D-6E8A-4147-A177-3AD203B41FA5}">
                      <a16:colId xmlns:a16="http://schemas.microsoft.com/office/drawing/2014/main" val="3830588725"/>
                    </a:ext>
                  </a:extLst>
                </a:gridCol>
              </a:tblGrid>
              <a:tr h="360000">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386900393"/>
                  </a:ext>
                </a:extLst>
              </a:tr>
              <a:tr h="360000">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88744272"/>
                  </a:ext>
                </a:extLst>
              </a:tr>
              <a:tr h="360000">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860802916"/>
                  </a:ext>
                </a:extLst>
              </a:tr>
              <a:tr h="360000">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775767866"/>
                  </a:ext>
                </a:extLst>
              </a:tr>
              <a:tr h="360000">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7</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4092754649"/>
                  </a:ext>
                </a:extLst>
              </a:tr>
              <a:tr h="360000">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578972192"/>
                  </a:ext>
                </a:extLst>
              </a:tr>
              <a:tr h="360000">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467325683"/>
                  </a:ext>
                </a:extLst>
              </a:tr>
            </a:tbl>
          </a:graphicData>
        </a:graphic>
      </p:graphicFrame>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75EE7C9-3829-0CE2-6D25-E44D269AC5FE}"/>
                  </a:ext>
                </a:extLst>
              </p:cNvPr>
              <p:cNvSpPr txBox="1"/>
              <p:nvPr/>
            </p:nvSpPr>
            <p:spPr>
              <a:xfrm>
                <a:off x="6469191" y="5097658"/>
                <a:ext cx="2485292" cy="523220"/>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GB" sz="2800" i="1" dirty="0" smtClean="0">
                          <a:latin typeface="Cambria Math" panose="02040503050406030204" pitchFamily="18" charset="0"/>
                        </a:rPr>
                        <m:t>𝑌</m:t>
                      </m:r>
                      <m:r>
                        <a:rPr lang="en-GB" sz="2800" i="1" dirty="0" smtClean="0">
                          <a:latin typeface="Cambria Math" panose="02040503050406030204" pitchFamily="18" charset="0"/>
                        </a:rPr>
                        <m:t> = </m:t>
                      </m:r>
                      <m:r>
                        <a:rPr lang="en-GB" sz="2800" i="1" dirty="0" smtClean="0">
                          <a:latin typeface="Cambria Math" panose="02040503050406030204" pitchFamily="18" charset="0"/>
                        </a:rPr>
                        <m:t>𝑓</m:t>
                      </m:r>
                      <m:r>
                        <a:rPr lang="en-GB" sz="2800" i="1" dirty="0" smtClean="0">
                          <a:latin typeface="Cambria Math" panose="02040503050406030204" pitchFamily="18" charset="0"/>
                        </a:rPr>
                        <m:t>(</m:t>
                      </m:r>
                      <m:r>
                        <a:rPr lang="en-GB" sz="2800" i="1" dirty="0" smtClean="0">
                          <a:latin typeface="Cambria Math" panose="02040503050406030204" pitchFamily="18" charset="0"/>
                        </a:rPr>
                        <m:t>𝑋</m:t>
                      </m:r>
                      <m:r>
                        <a:rPr lang="en-GB" sz="2800" i="1" dirty="0" smtClean="0">
                          <a:latin typeface="Cambria Math" panose="02040503050406030204" pitchFamily="18" charset="0"/>
                        </a:rPr>
                        <m:t>, </m:t>
                      </m:r>
                      <m:r>
                        <a:rPr lang="en-GB" sz="2800" i="1" dirty="0" smtClean="0">
                          <a:latin typeface="Cambria Math" panose="02040503050406030204" pitchFamily="18" charset="0"/>
                        </a:rPr>
                        <m:t>𝐾</m:t>
                      </m:r>
                      <m:r>
                        <a:rPr lang="en-GB" sz="2800" i="1" dirty="0" smtClean="0">
                          <a:latin typeface="Cambria Math" panose="02040503050406030204" pitchFamily="18" charset="0"/>
                        </a:rPr>
                        <m:t>)</m:t>
                      </m:r>
                    </m:oMath>
                  </m:oMathPara>
                </a14:m>
                <a:endParaRPr lang="en-SG" sz="2800" dirty="0"/>
              </a:p>
            </p:txBody>
          </p:sp>
        </mc:Choice>
        <mc:Fallback xmlns="">
          <p:sp>
            <p:nvSpPr>
              <p:cNvPr id="13" name="TextBox 12">
                <a:extLst>
                  <a:ext uri="{FF2B5EF4-FFF2-40B4-BE49-F238E27FC236}">
                    <a16:creationId xmlns:a16="http://schemas.microsoft.com/office/drawing/2014/main" id="{575EE7C9-3829-0CE2-6D25-E44D269AC5FE}"/>
                  </a:ext>
                </a:extLst>
              </p:cNvPr>
              <p:cNvSpPr txBox="1">
                <a:spLocks noRot="1" noChangeAspect="1" noMove="1" noResize="1" noEditPoints="1" noAdjustHandles="1" noChangeArrowheads="1" noChangeShapeType="1" noTextEdit="1"/>
              </p:cNvSpPr>
              <p:nvPr/>
            </p:nvSpPr>
            <p:spPr>
              <a:xfrm>
                <a:off x="6469191" y="5097658"/>
                <a:ext cx="2485292" cy="523220"/>
              </a:xfrm>
              <a:prstGeom prst="rect">
                <a:avLst/>
              </a:prstGeom>
              <a:blipFill>
                <a:blip r:embed="rId6"/>
                <a:stretch>
                  <a:fillRect/>
                </a:stretch>
              </a:blipFill>
            </p:spPr>
            <p:txBody>
              <a:bodyPr/>
              <a:lstStyle/>
              <a:p>
                <a:r>
                  <a:rPr lang="en-SG">
                    <a:noFill/>
                  </a:rPr>
                  <a:t> </a:t>
                </a:r>
              </a:p>
            </p:txBody>
          </p:sp>
        </mc:Fallback>
      </mc:AlternateContent>
      <p:cxnSp>
        <p:nvCxnSpPr>
          <p:cNvPr id="14" name="Straight Arrow Connector 13">
            <a:extLst>
              <a:ext uri="{FF2B5EF4-FFF2-40B4-BE49-F238E27FC236}">
                <a16:creationId xmlns:a16="http://schemas.microsoft.com/office/drawing/2014/main" id="{62D9AD87-2CE5-295E-628E-C4A6025D1704}"/>
              </a:ext>
            </a:extLst>
          </p:cNvPr>
          <p:cNvCxnSpPr>
            <a:cxnSpLocks/>
          </p:cNvCxnSpPr>
          <p:nvPr/>
        </p:nvCxnSpPr>
        <p:spPr>
          <a:xfrm>
            <a:off x="6096000" y="4338003"/>
            <a:ext cx="2797908" cy="0"/>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7187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93A70-6341-4961-B3B0-EB9DFF81044A}"/>
              </a:ext>
            </a:extLst>
          </p:cNvPr>
          <p:cNvSpPr>
            <a:spLocks noGrp="1"/>
          </p:cNvSpPr>
          <p:nvPr>
            <p:ph type="title"/>
          </p:nvPr>
        </p:nvSpPr>
        <p:spPr/>
        <p:txBody>
          <a:bodyPr/>
          <a:lstStyle/>
          <a:p>
            <a:r>
              <a:rPr lang="en-GB" dirty="0"/>
              <a:t>Adding some padding</a:t>
            </a:r>
            <a:endParaRPr lang="en-SG" dirty="0"/>
          </a:p>
        </p:txBody>
      </p:sp>
      <p:sp>
        <p:nvSpPr>
          <p:cNvPr id="6" name="Content Placeholder 5">
            <a:extLst>
              <a:ext uri="{FF2B5EF4-FFF2-40B4-BE49-F238E27FC236}">
                <a16:creationId xmlns:a16="http://schemas.microsoft.com/office/drawing/2014/main" id="{7467E9C2-B097-F5B9-97EE-A6F2BD179B1D}"/>
              </a:ext>
            </a:extLst>
          </p:cNvPr>
          <p:cNvSpPr>
            <a:spLocks noGrp="1"/>
          </p:cNvSpPr>
          <p:nvPr>
            <p:ph sz="half" idx="1"/>
          </p:nvPr>
        </p:nvSpPr>
        <p:spPr>
          <a:xfrm>
            <a:off x="838200" y="1825625"/>
            <a:ext cx="3416559" cy="4351338"/>
          </a:xfrm>
        </p:spPr>
        <p:txBody>
          <a:bodyPr/>
          <a:lstStyle/>
          <a:p>
            <a:pPr marL="0" indent="0">
              <a:buNone/>
            </a:pPr>
            <a:r>
              <a:rPr lang="en-GB" dirty="0"/>
              <a:t>Padding is simply implemented using the </a:t>
            </a:r>
            <a:r>
              <a:rPr lang="en-GB" b="1" dirty="0"/>
              <a:t>pad()</a:t>
            </a:r>
            <a:r>
              <a:rPr lang="en-GB" dirty="0"/>
              <a:t> function.</a:t>
            </a:r>
          </a:p>
          <a:p>
            <a:pPr marL="0" indent="0">
              <a:buNone/>
            </a:pPr>
            <a:r>
              <a:rPr lang="en-GB" dirty="0"/>
              <a:t>It adds a layer of zeroes to the matrix image, of size </a:t>
            </a:r>
            <a:r>
              <a:rPr lang="en-GB" i="1" dirty="0"/>
              <a:t>padding</a:t>
            </a:r>
            <a:r>
              <a:rPr lang="en-GB" dirty="0"/>
              <a:t> on top, bottom, right and left side of the image matrix.</a:t>
            </a:r>
            <a:endParaRPr lang="en-SG" dirty="0"/>
          </a:p>
        </p:txBody>
      </p:sp>
      <p:pic>
        <p:nvPicPr>
          <p:cNvPr id="5" name="Picture 4">
            <a:extLst>
              <a:ext uri="{FF2B5EF4-FFF2-40B4-BE49-F238E27FC236}">
                <a16:creationId xmlns:a16="http://schemas.microsoft.com/office/drawing/2014/main" id="{DF091DF8-6090-AD55-9331-9BA5245994EC}"/>
              </a:ext>
            </a:extLst>
          </p:cNvPr>
          <p:cNvPicPr>
            <a:picLocks noChangeAspect="1"/>
          </p:cNvPicPr>
          <p:nvPr/>
        </p:nvPicPr>
        <p:blipFill>
          <a:blip r:embed="rId2"/>
          <a:stretch>
            <a:fillRect/>
          </a:stretch>
        </p:blipFill>
        <p:spPr>
          <a:xfrm>
            <a:off x="4767438" y="1820459"/>
            <a:ext cx="7249537" cy="4115374"/>
          </a:xfrm>
          <a:prstGeom prst="rect">
            <a:avLst/>
          </a:prstGeom>
        </p:spPr>
      </p:pic>
      <p:sp>
        <p:nvSpPr>
          <p:cNvPr id="8" name="Rectangle 7">
            <a:extLst>
              <a:ext uri="{FF2B5EF4-FFF2-40B4-BE49-F238E27FC236}">
                <a16:creationId xmlns:a16="http://schemas.microsoft.com/office/drawing/2014/main" id="{D3B8CDB3-F945-E770-8D74-B1FCD3CD36DB}"/>
              </a:ext>
            </a:extLst>
          </p:cNvPr>
          <p:cNvSpPr/>
          <p:nvPr/>
        </p:nvSpPr>
        <p:spPr>
          <a:xfrm>
            <a:off x="4861249" y="3429000"/>
            <a:ext cx="7155726" cy="583163"/>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aphicFrame>
        <p:nvGraphicFramePr>
          <p:cNvPr id="3" name="Table 12">
            <a:extLst>
              <a:ext uri="{FF2B5EF4-FFF2-40B4-BE49-F238E27FC236}">
                <a16:creationId xmlns:a16="http://schemas.microsoft.com/office/drawing/2014/main" id="{55CDD810-EBEE-F0AD-386E-9457A476E21A}"/>
              </a:ext>
            </a:extLst>
          </p:cNvPr>
          <p:cNvGraphicFramePr>
            <a:graphicFrameLocks noGrp="1"/>
          </p:cNvGraphicFramePr>
          <p:nvPr>
            <p:extLst>
              <p:ext uri="{D42A27DB-BD31-4B8C-83A1-F6EECF244321}">
                <p14:modId xmlns:p14="http://schemas.microsoft.com/office/powerpoint/2010/main" val="4164399219"/>
              </p:ext>
            </p:extLst>
          </p:nvPr>
        </p:nvGraphicFramePr>
        <p:xfrm>
          <a:off x="10450452" y="1451435"/>
          <a:ext cx="1240155" cy="1275120"/>
        </p:xfrm>
        <a:graphic>
          <a:graphicData uri="http://schemas.openxmlformats.org/drawingml/2006/table">
            <a:tbl>
              <a:tblPr firstRow="1" bandRow="1">
                <a:tableStyleId>{5C22544A-7EE6-4342-B048-85BDC9FD1C3A}</a:tableStyleId>
              </a:tblPr>
              <a:tblGrid>
                <a:gridCol w="177165">
                  <a:extLst>
                    <a:ext uri="{9D8B030D-6E8A-4147-A177-3AD203B41FA5}">
                      <a16:colId xmlns:a16="http://schemas.microsoft.com/office/drawing/2014/main" val="2822408721"/>
                    </a:ext>
                  </a:extLst>
                </a:gridCol>
                <a:gridCol w="177165">
                  <a:extLst>
                    <a:ext uri="{9D8B030D-6E8A-4147-A177-3AD203B41FA5}">
                      <a16:colId xmlns:a16="http://schemas.microsoft.com/office/drawing/2014/main" val="7696452"/>
                    </a:ext>
                  </a:extLst>
                </a:gridCol>
                <a:gridCol w="177165">
                  <a:extLst>
                    <a:ext uri="{9D8B030D-6E8A-4147-A177-3AD203B41FA5}">
                      <a16:colId xmlns:a16="http://schemas.microsoft.com/office/drawing/2014/main" val="1898891438"/>
                    </a:ext>
                  </a:extLst>
                </a:gridCol>
                <a:gridCol w="177165">
                  <a:extLst>
                    <a:ext uri="{9D8B030D-6E8A-4147-A177-3AD203B41FA5}">
                      <a16:colId xmlns:a16="http://schemas.microsoft.com/office/drawing/2014/main" val="2401033360"/>
                    </a:ext>
                  </a:extLst>
                </a:gridCol>
                <a:gridCol w="177165">
                  <a:extLst>
                    <a:ext uri="{9D8B030D-6E8A-4147-A177-3AD203B41FA5}">
                      <a16:colId xmlns:a16="http://schemas.microsoft.com/office/drawing/2014/main" val="2199237322"/>
                    </a:ext>
                  </a:extLst>
                </a:gridCol>
                <a:gridCol w="177165">
                  <a:extLst>
                    <a:ext uri="{9D8B030D-6E8A-4147-A177-3AD203B41FA5}">
                      <a16:colId xmlns:a16="http://schemas.microsoft.com/office/drawing/2014/main" val="1800328485"/>
                    </a:ext>
                  </a:extLst>
                </a:gridCol>
                <a:gridCol w="177165">
                  <a:extLst>
                    <a:ext uri="{9D8B030D-6E8A-4147-A177-3AD203B41FA5}">
                      <a16:colId xmlns:a16="http://schemas.microsoft.com/office/drawing/2014/main" val="3830588725"/>
                    </a:ext>
                  </a:extLst>
                </a:gridCol>
              </a:tblGrid>
              <a:tr h="180000">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386900393"/>
                  </a:ext>
                </a:extLst>
              </a:tr>
              <a:tr h="180000">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88744272"/>
                  </a:ext>
                </a:extLst>
              </a:tr>
              <a:tr h="180000">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860802916"/>
                  </a:ext>
                </a:extLst>
              </a:tr>
              <a:tr h="180000">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775767866"/>
                  </a:ext>
                </a:extLst>
              </a:tr>
              <a:tr h="180000">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4092754649"/>
                  </a:ext>
                </a:extLst>
              </a:tr>
              <a:tr h="180000">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578972192"/>
                  </a:ext>
                </a:extLst>
              </a:tr>
              <a:tr h="180000">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467325683"/>
                  </a:ext>
                </a:extLst>
              </a:tr>
            </a:tbl>
          </a:graphicData>
        </a:graphic>
      </p:graphicFrame>
    </p:spTree>
    <p:extLst>
      <p:ext uri="{BB962C8B-B14F-4D97-AF65-F5344CB8AC3E}">
        <p14:creationId xmlns:p14="http://schemas.microsoft.com/office/powerpoint/2010/main" val="33229603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93A70-6341-4961-B3B0-EB9DFF81044A}"/>
              </a:ext>
            </a:extLst>
          </p:cNvPr>
          <p:cNvSpPr>
            <a:spLocks noGrp="1"/>
          </p:cNvSpPr>
          <p:nvPr>
            <p:ph type="title"/>
          </p:nvPr>
        </p:nvSpPr>
        <p:spPr/>
        <p:txBody>
          <a:bodyPr/>
          <a:lstStyle/>
          <a:p>
            <a:r>
              <a:rPr lang="en-GB" dirty="0"/>
              <a:t>Adding some padding</a:t>
            </a:r>
            <a:endParaRPr lang="en-SG" dirty="0"/>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7467E9C2-B097-F5B9-97EE-A6F2BD179B1D}"/>
                  </a:ext>
                </a:extLst>
              </p:cNvPr>
              <p:cNvSpPr>
                <a:spLocks noGrp="1"/>
              </p:cNvSpPr>
              <p:nvPr>
                <p:ph sz="half" idx="1"/>
              </p:nvPr>
            </p:nvSpPr>
            <p:spPr>
              <a:xfrm>
                <a:off x="838200" y="1825624"/>
                <a:ext cx="3960446" cy="5032375"/>
              </a:xfrm>
            </p:spPr>
            <p:txBody>
              <a:bodyPr>
                <a:normAutofit/>
              </a:bodyPr>
              <a:lstStyle/>
              <a:p>
                <a:r>
                  <a:rPr lang="en-GB" dirty="0"/>
                  <a:t>When using no padding, the resulting image is downsized.</a:t>
                </a:r>
              </a:p>
              <a:p>
                <a:r>
                  <a:rPr lang="en-GB" dirty="0"/>
                  <a:t>When using </a:t>
                </a:r>
                <a:r>
                  <a:rPr lang="en-GB" b="1" dirty="0"/>
                  <a:t>same</a:t>
                </a:r>
                <a:r>
                  <a:rPr lang="en-GB" dirty="0"/>
                  <a:t> </a:t>
                </a:r>
                <a:r>
                  <a:rPr lang="en-GB" b="1" dirty="0"/>
                  <a:t>padding</a:t>
                </a:r>
                <a:r>
                  <a:rPr lang="en-GB" dirty="0"/>
                  <a:t>, i.e.</a:t>
                </a:r>
              </a:p>
              <a:p>
                <a:pPr marL="0" indent="0">
                  <a:buNone/>
                </a:pPr>
                <a:r>
                  <a:rPr lang="en-GB" dirty="0"/>
                  <a:t> </a:t>
                </a:r>
                <a14:m>
                  <m:oMath xmlns:m="http://schemas.openxmlformats.org/officeDocument/2006/math">
                    <m:r>
                      <a:rPr lang="en-GB" i="1" dirty="0" smtClean="0">
                        <a:latin typeface="Cambria Math" panose="02040503050406030204" pitchFamily="18" charset="0"/>
                      </a:rPr>
                      <m:t>𝑝</m:t>
                    </m:r>
                    <m:r>
                      <a:rPr lang="en-GB" i="1" dirty="0" smtClean="0">
                        <a:latin typeface="Cambria Math" panose="02040503050406030204" pitchFamily="18" charset="0"/>
                      </a:rPr>
                      <m:t> =</m:t>
                    </m:r>
                    <m:f>
                      <m:fPr>
                        <m:ctrlPr>
                          <a:rPr lang="en-GB" i="1" dirty="0" smtClean="0">
                            <a:latin typeface="Cambria Math" panose="02040503050406030204" pitchFamily="18" charset="0"/>
                          </a:rPr>
                        </m:ctrlPr>
                      </m:fPr>
                      <m:num>
                        <m:r>
                          <a:rPr lang="en-GB" i="1" dirty="0" smtClean="0">
                            <a:latin typeface="Cambria Math" panose="02040503050406030204" pitchFamily="18" charset="0"/>
                          </a:rPr>
                          <m:t>𝑘</m:t>
                        </m:r>
                        <m:r>
                          <a:rPr lang="en-GB" i="1" dirty="0" smtClean="0">
                            <a:latin typeface="Cambria Math" panose="02040503050406030204" pitchFamily="18" charset="0"/>
                          </a:rPr>
                          <m:t>−1</m:t>
                        </m:r>
                      </m:num>
                      <m:den>
                        <m:r>
                          <a:rPr lang="en-GB" i="1" dirty="0" smtClean="0">
                            <a:latin typeface="Cambria Math" panose="02040503050406030204" pitchFamily="18" charset="0"/>
                          </a:rPr>
                          <m:t>2</m:t>
                        </m:r>
                      </m:den>
                    </m:f>
                    <m:r>
                      <a:rPr lang="en-GB" b="0" i="0" dirty="0" smtClean="0">
                        <a:latin typeface="Cambria Math" panose="02040503050406030204" pitchFamily="18" charset="0"/>
                      </a:rPr>
                      <m:t>=</m:t>
                    </m:r>
                    <m:f>
                      <m:fPr>
                        <m:ctrlPr>
                          <a:rPr lang="en-GB" b="0" i="1" dirty="0" smtClean="0">
                            <a:latin typeface="Cambria Math" panose="02040503050406030204" pitchFamily="18" charset="0"/>
                          </a:rPr>
                        </m:ctrlPr>
                      </m:fPr>
                      <m:num>
                        <m:r>
                          <a:rPr lang="en-GB" b="0" i="1" dirty="0" smtClean="0">
                            <a:latin typeface="Cambria Math" panose="02040503050406030204" pitchFamily="18" charset="0"/>
                          </a:rPr>
                          <m:t>5−1</m:t>
                        </m:r>
                      </m:num>
                      <m:den>
                        <m:r>
                          <a:rPr lang="en-GB" b="0" i="0" dirty="0" smtClean="0">
                            <a:latin typeface="Cambria Math" panose="02040503050406030204" pitchFamily="18" charset="0"/>
                          </a:rPr>
                          <m:t>2</m:t>
                        </m:r>
                      </m:den>
                    </m:f>
                    <m:r>
                      <a:rPr lang="en-GB" b="0" i="0" dirty="0" smtClean="0">
                        <a:latin typeface="Cambria Math" panose="02040503050406030204" pitchFamily="18" charset="0"/>
                      </a:rPr>
                      <m:t>=2</m:t>
                    </m:r>
                  </m:oMath>
                </a14:m>
                <a:r>
                  <a:rPr lang="en-SG" dirty="0"/>
                  <a:t>,</a:t>
                </a:r>
              </a:p>
              <a:p>
                <a:pPr marL="0" indent="0">
                  <a:buNone/>
                </a:pPr>
                <a:r>
                  <a:rPr lang="en-SG" b="1" dirty="0"/>
                  <a:t>the resulting image has the same size as the original one.</a:t>
                </a:r>
              </a:p>
            </p:txBody>
          </p:sp>
        </mc:Choice>
        <mc:Fallback xmlns="">
          <p:sp>
            <p:nvSpPr>
              <p:cNvPr id="6" name="Content Placeholder 5">
                <a:extLst>
                  <a:ext uri="{FF2B5EF4-FFF2-40B4-BE49-F238E27FC236}">
                    <a16:creationId xmlns:a16="http://schemas.microsoft.com/office/drawing/2014/main" id="{7467E9C2-B097-F5B9-97EE-A6F2BD179B1D}"/>
                  </a:ext>
                </a:extLst>
              </p:cNvPr>
              <p:cNvSpPr>
                <a:spLocks noGrp="1" noRot="1" noChangeAspect="1" noMove="1" noResize="1" noEditPoints="1" noAdjustHandles="1" noChangeArrowheads="1" noChangeShapeType="1" noTextEdit="1"/>
              </p:cNvSpPr>
              <p:nvPr>
                <p:ph sz="half" idx="1"/>
              </p:nvPr>
            </p:nvSpPr>
            <p:spPr>
              <a:xfrm>
                <a:off x="838200" y="1825624"/>
                <a:ext cx="3960446" cy="5032375"/>
              </a:xfrm>
              <a:blipFill>
                <a:blip r:embed="rId2"/>
                <a:stretch>
                  <a:fillRect l="-3236" t="-1937" r="-4160"/>
                </a:stretch>
              </a:blipFill>
            </p:spPr>
            <p:txBody>
              <a:bodyPr/>
              <a:lstStyle/>
              <a:p>
                <a:r>
                  <a:rPr lang="en-SG">
                    <a:noFill/>
                  </a:rPr>
                  <a:t> </a:t>
                </a:r>
              </a:p>
            </p:txBody>
          </p:sp>
        </mc:Fallback>
      </mc:AlternateContent>
      <p:pic>
        <p:nvPicPr>
          <p:cNvPr id="4" name="Picture 3">
            <a:extLst>
              <a:ext uri="{FF2B5EF4-FFF2-40B4-BE49-F238E27FC236}">
                <a16:creationId xmlns:a16="http://schemas.microsoft.com/office/drawing/2014/main" id="{2D7E8E8D-2644-EC1F-849A-C9D7FFB75E85}"/>
              </a:ext>
            </a:extLst>
          </p:cNvPr>
          <p:cNvPicPr>
            <a:picLocks noChangeAspect="1"/>
          </p:cNvPicPr>
          <p:nvPr/>
        </p:nvPicPr>
        <p:blipFill>
          <a:blip r:embed="rId3"/>
          <a:stretch>
            <a:fillRect/>
          </a:stretch>
        </p:blipFill>
        <p:spPr>
          <a:xfrm>
            <a:off x="5479180" y="1530220"/>
            <a:ext cx="6712819" cy="5327780"/>
          </a:xfrm>
          <a:prstGeom prst="rect">
            <a:avLst/>
          </a:prstGeom>
        </p:spPr>
      </p:pic>
    </p:spTree>
    <p:extLst>
      <p:ext uri="{BB962C8B-B14F-4D97-AF65-F5344CB8AC3E}">
        <p14:creationId xmlns:p14="http://schemas.microsoft.com/office/powerpoint/2010/main" val="12256597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A37E7-1372-A069-FCEE-59F2F7A5F9BB}"/>
              </a:ext>
            </a:extLst>
          </p:cNvPr>
          <p:cNvSpPr>
            <a:spLocks noGrp="1"/>
          </p:cNvSpPr>
          <p:nvPr>
            <p:ph type="title"/>
          </p:nvPr>
        </p:nvSpPr>
        <p:spPr/>
        <p:txBody>
          <a:bodyPr/>
          <a:lstStyle/>
          <a:p>
            <a:r>
              <a:rPr lang="en-GB" dirty="0"/>
              <a:t>Adding a stride</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22378FA-2B31-93D8-0B74-E4CFBE58773B}"/>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stride</a:t>
                </a:r>
                <a:r>
                  <a:rPr lang="en-GB" b="1" dirty="0"/>
                  <a:t> in convolution):</a:t>
                </a:r>
              </a:p>
              <a:p>
                <a:pPr marL="0" indent="0">
                  <a:buNone/>
                </a:pPr>
                <a:r>
                  <a:rPr lang="en-GB" dirty="0"/>
                  <a:t>The purpose of </a:t>
                </a:r>
                <a:r>
                  <a:rPr lang="en-GB" b="1" dirty="0"/>
                  <a:t>stride</a:t>
                </a:r>
                <a:r>
                  <a:rPr lang="en-GB" dirty="0"/>
                  <a:t> in convolution is to </a:t>
                </a:r>
                <a:r>
                  <a:rPr lang="en-GB" b="1" dirty="0"/>
                  <a:t>control the movement or step size of the convolution filter as it slides over the input image</a:t>
                </a:r>
                <a:r>
                  <a:rPr lang="en-GB" dirty="0"/>
                  <a:t>.</a:t>
                </a:r>
              </a:p>
              <a:p>
                <a:pPr marL="0" indent="0">
                  <a:buNone/>
                </a:pPr>
                <a:r>
                  <a:rPr lang="en-GB" dirty="0"/>
                  <a:t>A larger stride results in a smaller output feature map, while a smaller stride results in a larger output feature map.</a:t>
                </a:r>
              </a:p>
              <a:p>
                <a:pPr marL="0" indent="0">
                  <a:buNone/>
                </a:pPr>
                <a:r>
                  <a:rPr lang="en-GB" dirty="0"/>
                  <a:t>Stride can also be used to reduce the spatial dimensions of the feature map, which can help to reduce the number of parameters and computation in the network.</a:t>
                </a:r>
              </a:p>
              <a:p>
                <a:pPr marL="0" indent="0">
                  <a:buNone/>
                </a:pPr>
                <a:r>
                  <a:rPr lang="en-GB" b="1" dirty="0"/>
                  <a:t>Note: </a:t>
                </a:r>
                <a:r>
                  <a:rPr lang="en-GB" dirty="0"/>
                  <a:t>Using a stride with a size </a:t>
                </a:r>
                <a14:m>
                  <m:oMath xmlns:m="http://schemas.openxmlformats.org/officeDocument/2006/math">
                    <m:r>
                      <a:rPr lang="en-GB" i="1" dirty="0" smtClean="0">
                        <a:latin typeface="Cambria Math" panose="02040503050406030204" pitchFamily="18" charset="0"/>
                      </a:rPr>
                      <m:t>𝑠</m:t>
                    </m:r>
                  </m:oMath>
                </a14:m>
                <a:r>
                  <a:rPr lang="en-GB" dirty="0"/>
                  <a:t> that is not 1, will drastically reduce the size of the output image, so beware!</a:t>
                </a:r>
                <a:endParaRPr lang="en-SG" dirty="0"/>
              </a:p>
            </p:txBody>
          </p:sp>
        </mc:Choice>
        <mc:Fallback xmlns="">
          <p:sp>
            <p:nvSpPr>
              <p:cNvPr id="3" name="Content Placeholder 2">
                <a:extLst>
                  <a:ext uri="{FF2B5EF4-FFF2-40B4-BE49-F238E27FC236}">
                    <a16:creationId xmlns:a16="http://schemas.microsoft.com/office/drawing/2014/main" id="{922378FA-2B31-93D8-0B74-E4CFBE58773B}"/>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290"/>
                </a:stretch>
              </a:blipFill>
            </p:spPr>
            <p:txBody>
              <a:bodyPr/>
              <a:lstStyle/>
              <a:p>
                <a:r>
                  <a:rPr lang="en-SG">
                    <a:noFill/>
                  </a:rPr>
                  <a:t> </a:t>
                </a:r>
              </a:p>
            </p:txBody>
          </p:sp>
        </mc:Fallback>
      </mc:AlternateContent>
    </p:spTree>
    <p:extLst>
      <p:ext uri="{BB962C8B-B14F-4D97-AF65-F5344CB8AC3E}">
        <p14:creationId xmlns:p14="http://schemas.microsoft.com/office/powerpoint/2010/main" val="1187613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A37E7-1372-A069-FCEE-59F2F7A5F9BB}"/>
              </a:ext>
            </a:extLst>
          </p:cNvPr>
          <p:cNvSpPr>
            <a:spLocks noGrp="1"/>
          </p:cNvSpPr>
          <p:nvPr>
            <p:ph type="title"/>
          </p:nvPr>
        </p:nvSpPr>
        <p:spPr/>
        <p:txBody>
          <a:bodyPr/>
          <a:lstStyle/>
          <a:p>
            <a:r>
              <a:rPr lang="en-GB" dirty="0"/>
              <a:t>Adding a stride</a:t>
            </a:r>
            <a:endParaRPr lang="en-SG" dirty="0"/>
          </a:p>
        </p:txBody>
      </p:sp>
      <mc:AlternateContent xmlns:mc="http://schemas.openxmlformats.org/markup-compatibility/2006" xmlns:a14="http://schemas.microsoft.com/office/drawing/2010/main">
        <mc:Choice Requires="a14">
          <p:sp>
            <p:nvSpPr>
              <p:cNvPr id="15" name="Content Placeholder 14">
                <a:extLst>
                  <a:ext uri="{FF2B5EF4-FFF2-40B4-BE49-F238E27FC236}">
                    <a16:creationId xmlns:a16="http://schemas.microsoft.com/office/drawing/2014/main" id="{4AEDCABB-CD97-5965-08EF-FF9C4896A51E}"/>
                  </a:ext>
                </a:extLst>
              </p:cNvPr>
              <p:cNvSpPr>
                <a:spLocks noGrp="1"/>
              </p:cNvSpPr>
              <p:nvPr>
                <p:ph idx="1"/>
              </p:nvPr>
            </p:nvSpPr>
            <p:spPr/>
            <p:txBody>
              <a:bodyPr/>
              <a:lstStyle/>
              <a:p>
                <a:pPr marL="0" indent="0">
                  <a:buNone/>
                </a:pPr>
                <a:r>
                  <a:rPr lang="en-GB" dirty="0"/>
                  <a:t>Below, we demonstrate </a:t>
                </a:r>
                <a:r>
                  <a:rPr lang="en-GB" b="1" dirty="0"/>
                  <a:t>what a stride of size </a:t>
                </a:r>
                <a14:m>
                  <m:oMath xmlns:m="http://schemas.openxmlformats.org/officeDocument/2006/math">
                    <m:r>
                      <a:rPr lang="en-GB" b="1" i="1" dirty="0">
                        <a:latin typeface="Cambria Math" panose="02040503050406030204" pitchFamily="18" charset="0"/>
                      </a:rPr>
                      <m:t>𝒔</m:t>
                    </m:r>
                    <m:r>
                      <a:rPr lang="en-GB" b="1" i="1" dirty="0">
                        <a:latin typeface="Cambria Math" panose="02040503050406030204" pitchFamily="18" charset="0"/>
                      </a:rPr>
                      <m:t> = </m:t>
                    </m:r>
                    <m:r>
                      <a:rPr lang="en-GB" b="1" i="1" dirty="0">
                        <a:latin typeface="Cambria Math" panose="02040503050406030204" pitchFamily="18" charset="0"/>
                      </a:rPr>
                      <m:t>𝟐</m:t>
                    </m:r>
                    <m:r>
                      <a:rPr lang="en-GB" b="1" i="1" dirty="0">
                        <a:latin typeface="Cambria Math" panose="02040503050406030204" pitchFamily="18" charset="0"/>
                      </a:rPr>
                      <m:t> </m:t>
                    </m:r>
                  </m:oMath>
                </a14:m>
                <a:r>
                  <a:rPr lang="en-GB" b="1" dirty="0"/>
                  <a:t>does </a:t>
                </a:r>
                <a:r>
                  <a:rPr lang="en-GB" dirty="0"/>
                  <a:t>(no padding).</a:t>
                </a:r>
              </a:p>
              <a:p>
                <a:pPr marL="0" indent="0">
                  <a:buNone/>
                </a:pPr>
                <a:r>
                  <a:rPr lang="en-GB" dirty="0"/>
                  <a:t>First, use the convolution as before, next elements t</a:t>
                </a:r>
                <a:r>
                  <a:rPr lang="en-SG" dirty="0"/>
                  <a:t>o be used are “two steps” away from the first position, and so on.</a:t>
                </a:r>
                <a:endParaRPr lang="en-GB" dirty="0"/>
              </a:p>
            </p:txBody>
          </p:sp>
        </mc:Choice>
        <mc:Fallback xmlns="">
          <p:sp>
            <p:nvSpPr>
              <p:cNvPr id="15" name="Content Placeholder 14">
                <a:extLst>
                  <a:ext uri="{FF2B5EF4-FFF2-40B4-BE49-F238E27FC236}">
                    <a16:creationId xmlns:a16="http://schemas.microsoft.com/office/drawing/2014/main" id="{4AEDCABB-CD97-5965-08EF-FF9C4896A51E}"/>
                  </a:ext>
                </a:extLst>
              </p:cNvPr>
              <p:cNvSpPr>
                <a:spLocks noGrp="1" noRot="1" noChangeAspect="1" noMove="1" noResize="1" noEditPoints="1" noAdjustHandles="1" noChangeArrowheads="1" noChangeShapeType="1" noTextEdit="1"/>
              </p:cNvSpPr>
              <p:nvPr>
                <p:ph idx="1"/>
              </p:nvPr>
            </p:nvSpPr>
            <p:spPr>
              <a:blipFill>
                <a:blip r:embed="rId2"/>
                <a:stretch>
                  <a:fillRect l="-1217" t="-2241" r="-754"/>
                </a:stretch>
              </a:blipFill>
            </p:spPr>
            <p:txBody>
              <a:bodyPr/>
              <a:lstStyle/>
              <a:p>
                <a:r>
                  <a:rPr lang="en-SG">
                    <a:noFill/>
                  </a:rPr>
                  <a:t> </a:t>
                </a:r>
              </a:p>
            </p:txBody>
          </p:sp>
        </mc:Fallback>
      </mc:AlternateContent>
      <p:graphicFrame>
        <p:nvGraphicFramePr>
          <p:cNvPr id="7" name="Table 6">
            <a:extLst>
              <a:ext uri="{FF2B5EF4-FFF2-40B4-BE49-F238E27FC236}">
                <a16:creationId xmlns:a16="http://schemas.microsoft.com/office/drawing/2014/main" id="{AA01DEF7-BAD1-5126-F3F9-CC653E2AD3CF}"/>
              </a:ext>
            </a:extLst>
          </p:cNvPr>
          <p:cNvGraphicFramePr>
            <a:graphicFrameLocks noGrp="1"/>
          </p:cNvGraphicFramePr>
          <p:nvPr/>
        </p:nvGraphicFramePr>
        <p:xfrm>
          <a:off x="4884615" y="3820807"/>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10625315"/>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0130699"/>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773086537"/>
                  </a:ext>
                </a:extLst>
              </a:tr>
            </a:tbl>
          </a:graphicData>
        </a:graphic>
      </p:graphicFrame>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5D44913-96A5-4373-9222-42AADA4593DF}"/>
                  </a:ext>
                </a:extLst>
              </p:cNvPr>
              <p:cNvSpPr txBox="1"/>
              <p:nvPr/>
            </p:nvSpPr>
            <p:spPr>
              <a:xfrm>
                <a:off x="1662491" y="626435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B050"/>
                          </a:solidFill>
                          <a:latin typeface="Cambria Math" panose="02040503050406030204" pitchFamily="18" charset="0"/>
                        </a:rPr>
                        <m:t>𝑿</m:t>
                      </m:r>
                    </m:oMath>
                  </m:oMathPara>
                </a14:m>
                <a:endParaRPr lang="en-SG" sz="2800" b="1" dirty="0">
                  <a:solidFill>
                    <a:srgbClr val="00B050"/>
                  </a:solidFill>
                </a:endParaRPr>
              </a:p>
            </p:txBody>
          </p:sp>
        </mc:Choice>
        <mc:Fallback xmlns="">
          <p:sp>
            <p:nvSpPr>
              <p:cNvPr id="8" name="TextBox 7">
                <a:extLst>
                  <a:ext uri="{FF2B5EF4-FFF2-40B4-BE49-F238E27FC236}">
                    <a16:creationId xmlns:a16="http://schemas.microsoft.com/office/drawing/2014/main" id="{E5D44913-96A5-4373-9222-42AADA4593DF}"/>
                  </a:ext>
                </a:extLst>
              </p:cNvPr>
              <p:cNvSpPr txBox="1">
                <a:spLocks noRot="1" noChangeAspect="1" noMove="1" noResize="1" noEditPoints="1" noAdjustHandles="1" noChangeArrowheads="1" noChangeShapeType="1" noTextEdit="1"/>
              </p:cNvSpPr>
              <p:nvPr/>
            </p:nvSpPr>
            <p:spPr>
              <a:xfrm>
                <a:off x="1662491" y="6264352"/>
                <a:ext cx="648677" cy="523220"/>
              </a:xfrm>
              <a:prstGeom prst="rect">
                <a:avLst/>
              </a:prstGeom>
              <a:blipFill>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8D53F16-4E69-AF51-5C72-B5B80B3FCC96}"/>
                  </a:ext>
                </a:extLst>
              </p:cNvPr>
              <p:cNvSpPr txBox="1"/>
              <p:nvPr/>
            </p:nvSpPr>
            <p:spPr>
              <a:xfrm>
                <a:off x="5100277" y="6181779"/>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chemeClr val="accent2"/>
                          </a:solidFill>
                          <a:latin typeface="Cambria Math" panose="02040503050406030204" pitchFamily="18" charset="0"/>
                        </a:rPr>
                        <m:t>𝑲</m:t>
                      </m:r>
                    </m:oMath>
                  </m:oMathPara>
                </a14:m>
                <a:endParaRPr lang="en-SG" sz="2800" b="1" dirty="0">
                  <a:solidFill>
                    <a:schemeClr val="accent2"/>
                  </a:solidFill>
                </a:endParaRPr>
              </a:p>
            </p:txBody>
          </p:sp>
        </mc:Choice>
        <mc:Fallback xmlns="">
          <p:sp>
            <p:nvSpPr>
              <p:cNvPr id="9" name="TextBox 8">
                <a:extLst>
                  <a:ext uri="{FF2B5EF4-FFF2-40B4-BE49-F238E27FC236}">
                    <a16:creationId xmlns:a16="http://schemas.microsoft.com/office/drawing/2014/main" id="{08D53F16-4E69-AF51-5C72-B5B80B3FCC96}"/>
                  </a:ext>
                </a:extLst>
              </p:cNvPr>
              <p:cNvSpPr txBox="1">
                <a:spLocks noRot="1" noChangeAspect="1" noMove="1" noResize="1" noEditPoints="1" noAdjustHandles="1" noChangeArrowheads="1" noChangeShapeType="1" noTextEdit="1"/>
              </p:cNvSpPr>
              <p:nvPr/>
            </p:nvSpPr>
            <p:spPr>
              <a:xfrm>
                <a:off x="5100277" y="6181779"/>
                <a:ext cx="648677" cy="523220"/>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50494FE-F9BA-2B94-DDD0-E6E4C8CAFB19}"/>
                  </a:ext>
                </a:extLst>
              </p:cNvPr>
              <p:cNvSpPr txBox="1"/>
              <p:nvPr/>
            </p:nvSpPr>
            <p:spPr>
              <a:xfrm>
                <a:off x="9674722" y="609510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70C0"/>
                          </a:solidFill>
                          <a:latin typeface="Cambria Math" panose="02040503050406030204" pitchFamily="18" charset="0"/>
                        </a:rPr>
                        <m:t>𝒀</m:t>
                      </m:r>
                    </m:oMath>
                  </m:oMathPara>
                </a14:m>
                <a:endParaRPr lang="en-SG" sz="2800" b="1" dirty="0">
                  <a:solidFill>
                    <a:srgbClr val="0070C0"/>
                  </a:solidFill>
                </a:endParaRPr>
              </a:p>
            </p:txBody>
          </p:sp>
        </mc:Choice>
        <mc:Fallback xmlns="">
          <p:sp>
            <p:nvSpPr>
              <p:cNvPr id="10" name="TextBox 9">
                <a:extLst>
                  <a:ext uri="{FF2B5EF4-FFF2-40B4-BE49-F238E27FC236}">
                    <a16:creationId xmlns:a16="http://schemas.microsoft.com/office/drawing/2014/main" id="{350494FE-F9BA-2B94-DDD0-E6E4C8CAFB19}"/>
                  </a:ext>
                </a:extLst>
              </p:cNvPr>
              <p:cNvSpPr txBox="1">
                <a:spLocks noRot="1" noChangeAspect="1" noMove="1" noResize="1" noEditPoints="1" noAdjustHandles="1" noChangeArrowheads="1" noChangeShapeType="1" noTextEdit="1"/>
              </p:cNvSpPr>
              <p:nvPr/>
            </p:nvSpPr>
            <p:spPr>
              <a:xfrm>
                <a:off x="9674722" y="6095102"/>
                <a:ext cx="648677" cy="523220"/>
              </a:xfrm>
              <a:prstGeom prst="rect">
                <a:avLst/>
              </a:prstGeom>
              <a:blipFill>
                <a:blip r:embed="rId5"/>
                <a:stretch>
                  <a:fillRect/>
                </a:stretch>
              </a:blipFill>
            </p:spPr>
            <p:txBody>
              <a:bodyPr/>
              <a:lstStyle/>
              <a:p>
                <a:r>
                  <a:rPr lang="en-SG">
                    <a:noFill/>
                  </a:rPr>
                  <a:t> </a:t>
                </a:r>
              </a:p>
            </p:txBody>
          </p:sp>
        </mc:Fallback>
      </mc:AlternateContent>
      <p:graphicFrame>
        <p:nvGraphicFramePr>
          <p:cNvPr id="11" name="Table 12">
            <a:extLst>
              <a:ext uri="{FF2B5EF4-FFF2-40B4-BE49-F238E27FC236}">
                <a16:creationId xmlns:a16="http://schemas.microsoft.com/office/drawing/2014/main" id="{F7B6D6C6-80E7-A027-37AD-DE27D26A8E18}"/>
              </a:ext>
            </a:extLst>
          </p:cNvPr>
          <p:cNvGraphicFramePr>
            <a:graphicFrameLocks noGrp="1"/>
          </p:cNvGraphicFramePr>
          <p:nvPr>
            <p:extLst>
              <p:ext uri="{D42A27DB-BD31-4B8C-83A1-F6EECF244321}">
                <p14:modId xmlns:p14="http://schemas.microsoft.com/office/powerpoint/2010/main" val="988892538"/>
              </p:ext>
            </p:extLst>
          </p:nvPr>
        </p:nvGraphicFramePr>
        <p:xfrm>
          <a:off x="726830" y="3423784"/>
          <a:ext cx="2520000" cy="256032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2822408721"/>
                    </a:ext>
                  </a:extLst>
                </a:gridCol>
                <a:gridCol w="360000">
                  <a:extLst>
                    <a:ext uri="{9D8B030D-6E8A-4147-A177-3AD203B41FA5}">
                      <a16:colId xmlns:a16="http://schemas.microsoft.com/office/drawing/2014/main" val="7696452"/>
                    </a:ext>
                  </a:extLst>
                </a:gridCol>
                <a:gridCol w="360000">
                  <a:extLst>
                    <a:ext uri="{9D8B030D-6E8A-4147-A177-3AD203B41FA5}">
                      <a16:colId xmlns:a16="http://schemas.microsoft.com/office/drawing/2014/main" val="1898891438"/>
                    </a:ext>
                  </a:extLst>
                </a:gridCol>
                <a:gridCol w="360000">
                  <a:extLst>
                    <a:ext uri="{9D8B030D-6E8A-4147-A177-3AD203B41FA5}">
                      <a16:colId xmlns:a16="http://schemas.microsoft.com/office/drawing/2014/main" val="2401033360"/>
                    </a:ext>
                  </a:extLst>
                </a:gridCol>
                <a:gridCol w="360000">
                  <a:extLst>
                    <a:ext uri="{9D8B030D-6E8A-4147-A177-3AD203B41FA5}">
                      <a16:colId xmlns:a16="http://schemas.microsoft.com/office/drawing/2014/main" val="2199237322"/>
                    </a:ext>
                  </a:extLst>
                </a:gridCol>
                <a:gridCol w="360000">
                  <a:extLst>
                    <a:ext uri="{9D8B030D-6E8A-4147-A177-3AD203B41FA5}">
                      <a16:colId xmlns:a16="http://schemas.microsoft.com/office/drawing/2014/main" val="1800328485"/>
                    </a:ext>
                  </a:extLst>
                </a:gridCol>
                <a:gridCol w="360000">
                  <a:extLst>
                    <a:ext uri="{9D8B030D-6E8A-4147-A177-3AD203B41FA5}">
                      <a16:colId xmlns:a16="http://schemas.microsoft.com/office/drawing/2014/main" val="3830588725"/>
                    </a:ext>
                  </a:extLst>
                </a:gridCol>
              </a:tblGrid>
              <a:tr h="360000">
                <a:tc>
                  <a:txBody>
                    <a:bodyPr/>
                    <a:lstStyle/>
                    <a:p>
                      <a:pPr algn="ctr"/>
                      <a:r>
                        <a:rPr lang="en-GB" b="1" dirty="0">
                          <a:solidFill>
                            <a:srgbClr val="FF0000"/>
                          </a:solidFill>
                        </a:rPr>
                        <a:t>1</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1</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5</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3386900393"/>
                  </a:ext>
                </a:extLst>
              </a:tr>
              <a:tr h="360000">
                <a:tc>
                  <a:txBody>
                    <a:bodyPr/>
                    <a:lstStyle/>
                    <a:p>
                      <a:pPr algn="ctr"/>
                      <a:r>
                        <a:rPr lang="en-GB" b="1" dirty="0">
                          <a:solidFill>
                            <a:srgbClr val="FF0000"/>
                          </a:solidFill>
                        </a:rPr>
                        <a:t>1</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1</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5</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288744272"/>
                  </a:ext>
                </a:extLst>
              </a:tr>
              <a:tr h="360000">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4</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860802916"/>
                  </a:ext>
                </a:extLst>
              </a:tr>
              <a:tr h="360000">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775767866"/>
                  </a:ext>
                </a:extLst>
              </a:tr>
              <a:tr h="360000">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7</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4092754649"/>
                  </a:ext>
                </a:extLst>
              </a:tr>
              <a:tr h="360000">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3578972192"/>
                  </a:ext>
                </a:extLst>
              </a:tr>
              <a:tr h="360000">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467325683"/>
                  </a:ext>
                </a:extLst>
              </a:tr>
            </a:tbl>
          </a:graphicData>
        </a:graphic>
      </p:graphicFrame>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EAE59E-582C-0F4A-FA88-D19B0F3DEEA4}"/>
                  </a:ext>
                </a:extLst>
              </p:cNvPr>
              <p:cNvSpPr txBox="1"/>
              <p:nvPr/>
            </p:nvSpPr>
            <p:spPr>
              <a:xfrm>
                <a:off x="6469191" y="5097658"/>
                <a:ext cx="2485292" cy="523220"/>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GB" sz="2800" i="1" dirty="0" smtClean="0">
                          <a:latin typeface="Cambria Math" panose="02040503050406030204" pitchFamily="18" charset="0"/>
                        </a:rPr>
                        <m:t>𝑌</m:t>
                      </m:r>
                      <m:r>
                        <a:rPr lang="en-GB" sz="2800" i="1" dirty="0" smtClean="0">
                          <a:latin typeface="Cambria Math" panose="02040503050406030204" pitchFamily="18" charset="0"/>
                        </a:rPr>
                        <m:t> = </m:t>
                      </m:r>
                      <m:r>
                        <a:rPr lang="en-GB" sz="2800" i="1" dirty="0" smtClean="0">
                          <a:latin typeface="Cambria Math" panose="02040503050406030204" pitchFamily="18" charset="0"/>
                        </a:rPr>
                        <m:t>𝑓</m:t>
                      </m:r>
                      <m:r>
                        <a:rPr lang="en-GB" sz="2800" i="1" dirty="0" smtClean="0">
                          <a:latin typeface="Cambria Math" panose="02040503050406030204" pitchFamily="18" charset="0"/>
                        </a:rPr>
                        <m:t>(</m:t>
                      </m:r>
                      <m:r>
                        <a:rPr lang="en-GB" sz="2800" i="1" dirty="0" smtClean="0">
                          <a:latin typeface="Cambria Math" panose="02040503050406030204" pitchFamily="18" charset="0"/>
                        </a:rPr>
                        <m:t>𝑋</m:t>
                      </m:r>
                      <m:r>
                        <a:rPr lang="en-GB" sz="2800" i="1" dirty="0" smtClean="0">
                          <a:latin typeface="Cambria Math" panose="02040503050406030204" pitchFamily="18" charset="0"/>
                        </a:rPr>
                        <m:t>, </m:t>
                      </m:r>
                      <m:r>
                        <a:rPr lang="en-GB" sz="2800" i="1" dirty="0" smtClean="0">
                          <a:latin typeface="Cambria Math" panose="02040503050406030204" pitchFamily="18" charset="0"/>
                        </a:rPr>
                        <m:t>𝐾</m:t>
                      </m:r>
                      <m:r>
                        <a:rPr lang="en-GB" sz="2800" i="1" dirty="0" smtClean="0">
                          <a:latin typeface="Cambria Math" panose="02040503050406030204" pitchFamily="18" charset="0"/>
                        </a:rPr>
                        <m:t>)</m:t>
                      </m:r>
                    </m:oMath>
                  </m:oMathPara>
                </a14:m>
                <a:endParaRPr lang="en-SG" sz="2800" dirty="0"/>
              </a:p>
            </p:txBody>
          </p:sp>
        </mc:Choice>
        <mc:Fallback xmlns="">
          <p:sp>
            <p:nvSpPr>
              <p:cNvPr id="12" name="TextBox 11">
                <a:extLst>
                  <a:ext uri="{FF2B5EF4-FFF2-40B4-BE49-F238E27FC236}">
                    <a16:creationId xmlns:a16="http://schemas.microsoft.com/office/drawing/2014/main" id="{75EAE59E-582C-0F4A-FA88-D19B0F3DEEA4}"/>
                  </a:ext>
                </a:extLst>
              </p:cNvPr>
              <p:cNvSpPr txBox="1">
                <a:spLocks noRot="1" noChangeAspect="1" noMove="1" noResize="1" noEditPoints="1" noAdjustHandles="1" noChangeArrowheads="1" noChangeShapeType="1" noTextEdit="1"/>
              </p:cNvSpPr>
              <p:nvPr/>
            </p:nvSpPr>
            <p:spPr>
              <a:xfrm>
                <a:off x="6469191" y="5097658"/>
                <a:ext cx="2485292" cy="523220"/>
              </a:xfrm>
              <a:prstGeom prst="rect">
                <a:avLst/>
              </a:prstGeom>
              <a:blipFill>
                <a:blip r:embed="rId6"/>
                <a:stretch>
                  <a:fillRect/>
                </a:stretch>
              </a:blipFill>
            </p:spPr>
            <p:txBody>
              <a:bodyPr/>
              <a:lstStyle/>
              <a:p>
                <a:r>
                  <a:rPr lang="en-SG">
                    <a:noFill/>
                  </a:rPr>
                  <a:t> </a:t>
                </a:r>
              </a:p>
            </p:txBody>
          </p:sp>
        </mc:Fallback>
      </mc:AlternateContent>
      <p:cxnSp>
        <p:nvCxnSpPr>
          <p:cNvPr id="13" name="Straight Arrow Connector 12">
            <a:extLst>
              <a:ext uri="{FF2B5EF4-FFF2-40B4-BE49-F238E27FC236}">
                <a16:creationId xmlns:a16="http://schemas.microsoft.com/office/drawing/2014/main" id="{6AF86042-EA5D-5C38-9DDF-963CCA802465}"/>
              </a:ext>
            </a:extLst>
          </p:cNvPr>
          <p:cNvCxnSpPr>
            <a:cxnSpLocks/>
          </p:cNvCxnSpPr>
          <p:nvPr/>
        </p:nvCxnSpPr>
        <p:spPr>
          <a:xfrm>
            <a:off x="6096000" y="4338003"/>
            <a:ext cx="2797908" cy="0"/>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aphicFrame>
        <p:nvGraphicFramePr>
          <p:cNvPr id="14" name="Table 13">
            <a:extLst>
              <a:ext uri="{FF2B5EF4-FFF2-40B4-BE49-F238E27FC236}">
                <a16:creationId xmlns:a16="http://schemas.microsoft.com/office/drawing/2014/main" id="{B869EF30-F822-2DB5-9691-D0C26A749148}"/>
              </a:ext>
            </a:extLst>
          </p:cNvPr>
          <p:cNvGraphicFramePr>
            <a:graphicFrameLocks noGrp="1"/>
          </p:cNvGraphicFramePr>
          <p:nvPr>
            <p:extLst>
              <p:ext uri="{D42A27DB-BD31-4B8C-83A1-F6EECF244321}">
                <p14:modId xmlns:p14="http://schemas.microsoft.com/office/powerpoint/2010/main" val="1803524285"/>
              </p:ext>
            </p:extLst>
          </p:nvPr>
        </p:nvGraphicFramePr>
        <p:xfrm>
          <a:off x="9459060" y="3820807"/>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r>
                        <a:rPr lang="en-GB" b="1" dirty="0">
                          <a:solidFill>
                            <a:srgbClr val="FF0000"/>
                          </a:solidFill>
                        </a:rPr>
                        <a:t>…</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p:spTree>
    <p:extLst>
      <p:ext uri="{BB962C8B-B14F-4D97-AF65-F5344CB8AC3E}">
        <p14:creationId xmlns:p14="http://schemas.microsoft.com/office/powerpoint/2010/main" val="37045896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A37E7-1372-A069-FCEE-59F2F7A5F9BB}"/>
              </a:ext>
            </a:extLst>
          </p:cNvPr>
          <p:cNvSpPr>
            <a:spLocks noGrp="1"/>
          </p:cNvSpPr>
          <p:nvPr>
            <p:ph type="title"/>
          </p:nvPr>
        </p:nvSpPr>
        <p:spPr/>
        <p:txBody>
          <a:bodyPr/>
          <a:lstStyle/>
          <a:p>
            <a:r>
              <a:rPr lang="en-GB" dirty="0"/>
              <a:t>Adding a stride</a:t>
            </a:r>
            <a:endParaRPr lang="en-SG" dirty="0"/>
          </a:p>
        </p:txBody>
      </p:sp>
      <p:graphicFrame>
        <p:nvGraphicFramePr>
          <p:cNvPr id="7" name="Table 6">
            <a:extLst>
              <a:ext uri="{FF2B5EF4-FFF2-40B4-BE49-F238E27FC236}">
                <a16:creationId xmlns:a16="http://schemas.microsoft.com/office/drawing/2014/main" id="{AA01DEF7-BAD1-5126-F3F9-CC653E2AD3CF}"/>
              </a:ext>
            </a:extLst>
          </p:cNvPr>
          <p:cNvGraphicFramePr>
            <a:graphicFrameLocks noGrp="1"/>
          </p:cNvGraphicFramePr>
          <p:nvPr/>
        </p:nvGraphicFramePr>
        <p:xfrm>
          <a:off x="4884615" y="3820807"/>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10625315"/>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0130699"/>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773086537"/>
                  </a:ext>
                </a:extLst>
              </a:tr>
            </a:tbl>
          </a:graphicData>
        </a:graphic>
      </p:graphicFrame>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5D44913-96A5-4373-9222-42AADA4593DF}"/>
                  </a:ext>
                </a:extLst>
              </p:cNvPr>
              <p:cNvSpPr txBox="1"/>
              <p:nvPr/>
            </p:nvSpPr>
            <p:spPr>
              <a:xfrm>
                <a:off x="1662491" y="626435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B050"/>
                          </a:solidFill>
                          <a:latin typeface="Cambria Math" panose="02040503050406030204" pitchFamily="18" charset="0"/>
                        </a:rPr>
                        <m:t>𝑿</m:t>
                      </m:r>
                    </m:oMath>
                  </m:oMathPara>
                </a14:m>
                <a:endParaRPr lang="en-SG" sz="2800" b="1" dirty="0">
                  <a:solidFill>
                    <a:srgbClr val="00B050"/>
                  </a:solidFill>
                </a:endParaRPr>
              </a:p>
            </p:txBody>
          </p:sp>
        </mc:Choice>
        <mc:Fallback xmlns="">
          <p:sp>
            <p:nvSpPr>
              <p:cNvPr id="8" name="TextBox 7">
                <a:extLst>
                  <a:ext uri="{FF2B5EF4-FFF2-40B4-BE49-F238E27FC236}">
                    <a16:creationId xmlns:a16="http://schemas.microsoft.com/office/drawing/2014/main" id="{E5D44913-96A5-4373-9222-42AADA4593DF}"/>
                  </a:ext>
                </a:extLst>
              </p:cNvPr>
              <p:cNvSpPr txBox="1">
                <a:spLocks noRot="1" noChangeAspect="1" noMove="1" noResize="1" noEditPoints="1" noAdjustHandles="1" noChangeArrowheads="1" noChangeShapeType="1" noTextEdit="1"/>
              </p:cNvSpPr>
              <p:nvPr/>
            </p:nvSpPr>
            <p:spPr>
              <a:xfrm>
                <a:off x="1662491" y="6264352"/>
                <a:ext cx="648677" cy="523220"/>
              </a:xfrm>
              <a:prstGeom prst="rect">
                <a:avLst/>
              </a:prstGeom>
              <a:blipFill>
                <a:blip r:embed="rId2"/>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8D53F16-4E69-AF51-5C72-B5B80B3FCC96}"/>
                  </a:ext>
                </a:extLst>
              </p:cNvPr>
              <p:cNvSpPr txBox="1"/>
              <p:nvPr/>
            </p:nvSpPr>
            <p:spPr>
              <a:xfrm>
                <a:off x="5100277" y="6181779"/>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chemeClr val="accent2"/>
                          </a:solidFill>
                          <a:latin typeface="Cambria Math" panose="02040503050406030204" pitchFamily="18" charset="0"/>
                        </a:rPr>
                        <m:t>𝑲</m:t>
                      </m:r>
                    </m:oMath>
                  </m:oMathPara>
                </a14:m>
                <a:endParaRPr lang="en-SG" sz="2800" b="1" dirty="0">
                  <a:solidFill>
                    <a:schemeClr val="accent2"/>
                  </a:solidFill>
                </a:endParaRPr>
              </a:p>
            </p:txBody>
          </p:sp>
        </mc:Choice>
        <mc:Fallback xmlns="">
          <p:sp>
            <p:nvSpPr>
              <p:cNvPr id="9" name="TextBox 8">
                <a:extLst>
                  <a:ext uri="{FF2B5EF4-FFF2-40B4-BE49-F238E27FC236}">
                    <a16:creationId xmlns:a16="http://schemas.microsoft.com/office/drawing/2014/main" id="{08D53F16-4E69-AF51-5C72-B5B80B3FCC96}"/>
                  </a:ext>
                </a:extLst>
              </p:cNvPr>
              <p:cNvSpPr txBox="1">
                <a:spLocks noRot="1" noChangeAspect="1" noMove="1" noResize="1" noEditPoints="1" noAdjustHandles="1" noChangeArrowheads="1" noChangeShapeType="1" noTextEdit="1"/>
              </p:cNvSpPr>
              <p:nvPr/>
            </p:nvSpPr>
            <p:spPr>
              <a:xfrm>
                <a:off x="5100277" y="6181779"/>
                <a:ext cx="648677" cy="523220"/>
              </a:xfrm>
              <a:prstGeom prst="rect">
                <a:avLst/>
              </a:prstGeom>
              <a:blipFill>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50494FE-F9BA-2B94-DDD0-E6E4C8CAFB19}"/>
                  </a:ext>
                </a:extLst>
              </p:cNvPr>
              <p:cNvSpPr txBox="1"/>
              <p:nvPr/>
            </p:nvSpPr>
            <p:spPr>
              <a:xfrm>
                <a:off x="9674722" y="609510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70C0"/>
                          </a:solidFill>
                          <a:latin typeface="Cambria Math" panose="02040503050406030204" pitchFamily="18" charset="0"/>
                        </a:rPr>
                        <m:t>𝒀</m:t>
                      </m:r>
                    </m:oMath>
                  </m:oMathPara>
                </a14:m>
                <a:endParaRPr lang="en-SG" sz="2800" b="1" dirty="0">
                  <a:solidFill>
                    <a:srgbClr val="0070C0"/>
                  </a:solidFill>
                </a:endParaRPr>
              </a:p>
            </p:txBody>
          </p:sp>
        </mc:Choice>
        <mc:Fallback xmlns="">
          <p:sp>
            <p:nvSpPr>
              <p:cNvPr id="10" name="TextBox 9">
                <a:extLst>
                  <a:ext uri="{FF2B5EF4-FFF2-40B4-BE49-F238E27FC236}">
                    <a16:creationId xmlns:a16="http://schemas.microsoft.com/office/drawing/2014/main" id="{350494FE-F9BA-2B94-DDD0-E6E4C8CAFB19}"/>
                  </a:ext>
                </a:extLst>
              </p:cNvPr>
              <p:cNvSpPr txBox="1">
                <a:spLocks noRot="1" noChangeAspect="1" noMove="1" noResize="1" noEditPoints="1" noAdjustHandles="1" noChangeArrowheads="1" noChangeShapeType="1" noTextEdit="1"/>
              </p:cNvSpPr>
              <p:nvPr/>
            </p:nvSpPr>
            <p:spPr>
              <a:xfrm>
                <a:off x="9674722" y="6095102"/>
                <a:ext cx="648677" cy="523220"/>
              </a:xfrm>
              <a:prstGeom prst="rect">
                <a:avLst/>
              </a:prstGeom>
              <a:blipFill>
                <a:blip r:embed="rId4"/>
                <a:stretch>
                  <a:fillRect/>
                </a:stretch>
              </a:blipFill>
            </p:spPr>
            <p:txBody>
              <a:bodyPr/>
              <a:lstStyle/>
              <a:p>
                <a:r>
                  <a:rPr lang="en-SG">
                    <a:noFill/>
                  </a:rPr>
                  <a:t> </a:t>
                </a:r>
              </a:p>
            </p:txBody>
          </p:sp>
        </mc:Fallback>
      </mc:AlternateContent>
      <p:graphicFrame>
        <p:nvGraphicFramePr>
          <p:cNvPr id="11" name="Table 12">
            <a:extLst>
              <a:ext uri="{FF2B5EF4-FFF2-40B4-BE49-F238E27FC236}">
                <a16:creationId xmlns:a16="http://schemas.microsoft.com/office/drawing/2014/main" id="{F7B6D6C6-80E7-A027-37AD-DE27D26A8E18}"/>
              </a:ext>
            </a:extLst>
          </p:cNvPr>
          <p:cNvGraphicFramePr>
            <a:graphicFrameLocks noGrp="1"/>
          </p:cNvGraphicFramePr>
          <p:nvPr>
            <p:extLst>
              <p:ext uri="{D42A27DB-BD31-4B8C-83A1-F6EECF244321}">
                <p14:modId xmlns:p14="http://schemas.microsoft.com/office/powerpoint/2010/main" val="2564546507"/>
              </p:ext>
            </p:extLst>
          </p:nvPr>
        </p:nvGraphicFramePr>
        <p:xfrm>
          <a:off x="726830" y="3423784"/>
          <a:ext cx="2520000" cy="256032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2822408721"/>
                    </a:ext>
                  </a:extLst>
                </a:gridCol>
                <a:gridCol w="360000">
                  <a:extLst>
                    <a:ext uri="{9D8B030D-6E8A-4147-A177-3AD203B41FA5}">
                      <a16:colId xmlns:a16="http://schemas.microsoft.com/office/drawing/2014/main" val="7696452"/>
                    </a:ext>
                  </a:extLst>
                </a:gridCol>
                <a:gridCol w="360000">
                  <a:extLst>
                    <a:ext uri="{9D8B030D-6E8A-4147-A177-3AD203B41FA5}">
                      <a16:colId xmlns:a16="http://schemas.microsoft.com/office/drawing/2014/main" val="1898891438"/>
                    </a:ext>
                  </a:extLst>
                </a:gridCol>
                <a:gridCol w="360000">
                  <a:extLst>
                    <a:ext uri="{9D8B030D-6E8A-4147-A177-3AD203B41FA5}">
                      <a16:colId xmlns:a16="http://schemas.microsoft.com/office/drawing/2014/main" val="2401033360"/>
                    </a:ext>
                  </a:extLst>
                </a:gridCol>
                <a:gridCol w="360000">
                  <a:extLst>
                    <a:ext uri="{9D8B030D-6E8A-4147-A177-3AD203B41FA5}">
                      <a16:colId xmlns:a16="http://schemas.microsoft.com/office/drawing/2014/main" val="2199237322"/>
                    </a:ext>
                  </a:extLst>
                </a:gridCol>
                <a:gridCol w="360000">
                  <a:extLst>
                    <a:ext uri="{9D8B030D-6E8A-4147-A177-3AD203B41FA5}">
                      <a16:colId xmlns:a16="http://schemas.microsoft.com/office/drawing/2014/main" val="1800328485"/>
                    </a:ext>
                  </a:extLst>
                </a:gridCol>
                <a:gridCol w="360000">
                  <a:extLst>
                    <a:ext uri="{9D8B030D-6E8A-4147-A177-3AD203B41FA5}">
                      <a16:colId xmlns:a16="http://schemas.microsoft.com/office/drawing/2014/main" val="3830588725"/>
                    </a:ext>
                  </a:extLst>
                </a:gridCol>
              </a:tblGrid>
              <a:tr h="360000">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5</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5</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3386900393"/>
                  </a:ext>
                </a:extLst>
              </a:tr>
              <a:tr h="360000">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5</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5</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288744272"/>
                  </a:ext>
                </a:extLst>
              </a:tr>
              <a:tr h="360000">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4</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5</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860802916"/>
                  </a:ext>
                </a:extLst>
              </a:tr>
              <a:tr h="360000">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775767866"/>
                  </a:ext>
                </a:extLst>
              </a:tr>
              <a:tr h="360000">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7</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4092754649"/>
                  </a:ext>
                </a:extLst>
              </a:tr>
              <a:tr h="360000">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3578972192"/>
                  </a:ext>
                </a:extLst>
              </a:tr>
              <a:tr h="360000">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467325683"/>
                  </a:ext>
                </a:extLst>
              </a:tr>
            </a:tbl>
          </a:graphicData>
        </a:graphic>
      </p:graphicFrame>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EAE59E-582C-0F4A-FA88-D19B0F3DEEA4}"/>
                  </a:ext>
                </a:extLst>
              </p:cNvPr>
              <p:cNvSpPr txBox="1"/>
              <p:nvPr/>
            </p:nvSpPr>
            <p:spPr>
              <a:xfrm>
                <a:off x="6469191" y="5097658"/>
                <a:ext cx="2485292" cy="523220"/>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GB" sz="2800" i="1" dirty="0" smtClean="0">
                          <a:latin typeface="Cambria Math" panose="02040503050406030204" pitchFamily="18" charset="0"/>
                        </a:rPr>
                        <m:t>𝑌</m:t>
                      </m:r>
                      <m:r>
                        <a:rPr lang="en-GB" sz="2800" i="1" dirty="0" smtClean="0">
                          <a:latin typeface="Cambria Math" panose="02040503050406030204" pitchFamily="18" charset="0"/>
                        </a:rPr>
                        <m:t> = </m:t>
                      </m:r>
                      <m:r>
                        <a:rPr lang="en-GB" sz="2800" i="1" dirty="0" smtClean="0">
                          <a:latin typeface="Cambria Math" panose="02040503050406030204" pitchFamily="18" charset="0"/>
                        </a:rPr>
                        <m:t>𝑓</m:t>
                      </m:r>
                      <m:r>
                        <a:rPr lang="en-GB" sz="2800" i="1" dirty="0" smtClean="0">
                          <a:latin typeface="Cambria Math" panose="02040503050406030204" pitchFamily="18" charset="0"/>
                        </a:rPr>
                        <m:t>(</m:t>
                      </m:r>
                      <m:r>
                        <a:rPr lang="en-GB" sz="2800" i="1" dirty="0" smtClean="0">
                          <a:latin typeface="Cambria Math" panose="02040503050406030204" pitchFamily="18" charset="0"/>
                        </a:rPr>
                        <m:t>𝑋</m:t>
                      </m:r>
                      <m:r>
                        <a:rPr lang="en-GB" sz="2800" i="1" dirty="0" smtClean="0">
                          <a:latin typeface="Cambria Math" panose="02040503050406030204" pitchFamily="18" charset="0"/>
                        </a:rPr>
                        <m:t>, </m:t>
                      </m:r>
                      <m:r>
                        <a:rPr lang="en-GB" sz="2800" i="1" dirty="0" smtClean="0">
                          <a:latin typeface="Cambria Math" panose="02040503050406030204" pitchFamily="18" charset="0"/>
                        </a:rPr>
                        <m:t>𝐾</m:t>
                      </m:r>
                      <m:r>
                        <a:rPr lang="en-GB" sz="2800" i="1" dirty="0" smtClean="0">
                          <a:latin typeface="Cambria Math" panose="02040503050406030204" pitchFamily="18" charset="0"/>
                        </a:rPr>
                        <m:t>)</m:t>
                      </m:r>
                    </m:oMath>
                  </m:oMathPara>
                </a14:m>
                <a:endParaRPr lang="en-SG" sz="2800" dirty="0"/>
              </a:p>
            </p:txBody>
          </p:sp>
        </mc:Choice>
        <mc:Fallback xmlns="">
          <p:sp>
            <p:nvSpPr>
              <p:cNvPr id="12" name="TextBox 11">
                <a:extLst>
                  <a:ext uri="{FF2B5EF4-FFF2-40B4-BE49-F238E27FC236}">
                    <a16:creationId xmlns:a16="http://schemas.microsoft.com/office/drawing/2014/main" id="{75EAE59E-582C-0F4A-FA88-D19B0F3DEEA4}"/>
                  </a:ext>
                </a:extLst>
              </p:cNvPr>
              <p:cNvSpPr txBox="1">
                <a:spLocks noRot="1" noChangeAspect="1" noMove="1" noResize="1" noEditPoints="1" noAdjustHandles="1" noChangeArrowheads="1" noChangeShapeType="1" noTextEdit="1"/>
              </p:cNvSpPr>
              <p:nvPr/>
            </p:nvSpPr>
            <p:spPr>
              <a:xfrm>
                <a:off x="6469191" y="5097658"/>
                <a:ext cx="2485292" cy="523220"/>
              </a:xfrm>
              <a:prstGeom prst="rect">
                <a:avLst/>
              </a:prstGeom>
              <a:blipFill>
                <a:blip r:embed="rId5"/>
                <a:stretch>
                  <a:fillRect/>
                </a:stretch>
              </a:blipFill>
            </p:spPr>
            <p:txBody>
              <a:bodyPr/>
              <a:lstStyle/>
              <a:p>
                <a:r>
                  <a:rPr lang="en-SG">
                    <a:noFill/>
                  </a:rPr>
                  <a:t> </a:t>
                </a:r>
              </a:p>
            </p:txBody>
          </p:sp>
        </mc:Fallback>
      </mc:AlternateContent>
      <p:cxnSp>
        <p:nvCxnSpPr>
          <p:cNvPr id="13" name="Straight Arrow Connector 12">
            <a:extLst>
              <a:ext uri="{FF2B5EF4-FFF2-40B4-BE49-F238E27FC236}">
                <a16:creationId xmlns:a16="http://schemas.microsoft.com/office/drawing/2014/main" id="{6AF86042-EA5D-5C38-9DDF-963CCA802465}"/>
              </a:ext>
            </a:extLst>
          </p:cNvPr>
          <p:cNvCxnSpPr>
            <a:cxnSpLocks/>
          </p:cNvCxnSpPr>
          <p:nvPr/>
        </p:nvCxnSpPr>
        <p:spPr>
          <a:xfrm>
            <a:off x="6096000" y="4338003"/>
            <a:ext cx="2797908" cy="0"/>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aphicFrame>
        <p:nvGraphicFramePr>
          <p:cNvPr id="14" name="Table 13">
            <a:extLst>
              <a:ext uri="{FF2B5EF4-FFF2-40B4-BE49-F238E27FC236}">
                <a16:creationId xmlns:a16="http://schemas.microsoft.com/office/drawing/2014/main" id="{B869EF30-F822-2DB5-9691-D0C26A749148}"/>
              </a:ext>
            </a:extLst>
          </p:cNvPr>
          <p:cNvGraphicFramePr>
            <a:graphicFrameLocks noGrp="1"/>
          </p:cNvGraphicFramePr>
          <p:nvPr>
            <p:extLst>
              <p:ext uri="{D42A27DB-BD31-4B8C-83A1-F6EECF244321}">
                <p14:modId xmlns:p14="http://schemas.microsoft.com/office/powerpoint/2010/main" val="258080140"/>
              </p:ext>
            </p:extLst>
          </p:nvPr>
        </p:nvGraphicFramePr>
        <p:xfrm>
          <a:off x="9459060" y="3820807"/>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r>
                        <a:rPr lang="en-GB" b="1" dirty="0">
                          <a:solidFill>
                            <a:schemeClr val="bg1"/>
                          </a:solidFill>
                        </a:rPr>
                        <a:t>…</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rgbClr val="FF0000"/>
                          </a:solidFill>
                        </a:rPr>
                        <a:t>…</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AlternateContent xmlns:mc="http://schemas.openxmlformats.org/markup-compatibility/2006" xmlns:a14="http://schemas.microsoft.com/office/drawing/2010/main">
        <mc:Choice Requires="a14">
          <p:sp>
            <p:nvSpPr>
              <p:cNvPr id="3" name="Content Placeholder 14">
                <a:extLst>
                  <a:ext uri="{FF2B5EF4-FFF2-40B4-BE49-F238E27FC236}">
                    <a16:creationId xmlns:a16="http://schemas.microsoft.com/office/drawing/2014/main" id="{E390C78E-0EBB-A564-E085-2D1F4D50018A}"/>
                  </a:ext>
                </a:extLst>
              </p:cNvPr>
              <p:cNvSpPr>
                <a:spLocks noGrp="1"/>
              </p:cNvSpPr>
              <p:nvPr>
                <p:ph idx="1"/>
              </p:nvPr>
            </p:nvSpPr>
            <p:spPr>
              <a:xfrm>
                <a:off x="838200" y="1825625"/>
                <a:ext cx="10515600" cy="4351338"/>
              </a:xfrm>
            </p:spPr>
            <p:txBody>
              <a:bodyPr/>
              <a:lstStyle/>
              <a:p>
                <a:pPr marL="0" indent="0">
                  <a:buNone/>
                </a:pPr>
                <a:r>
                  <a:rPr lang="en-GB" dirty="0"/>
                  <a:t>Below, we demonstrate </a:t>
                </a:r>
                <a:r>
                  <a:rPr lang="en-GB" b="1" dirty="0"/>
                  <a:t>what a</a:t>
                </a:r>
                <a:r>
                  <a:rPr lang="en-GB" dirty="0"/>
                  <a:t> </a:t>
                </a:r>
                <a:r>
                  <a:rPr lang="en-GB" b="1" dirty="0"/>
                  <a:t>stride of size </a:t>
                </a:r>
                <a14:m>
                  <m:oMath xmlns:m="http://schemas.openxmlformats.org/officeDocument/2006/math">
                    <m:r>
                      <a:rPr lang="en-GB" b="1" i="1" dirty="0" smtClean="0">
                        <a:latin typeface="Cambria Math" panose="02040503050406030204" pitchFamily="18" charset="0"/>
                      </a:rPr>
                      <m:t>𝒔</m:t>
                    </m:r>
                    <m:r>
                      <a:rPr lang="en-GB" b="1" i="1" dirty="0" smtClean="0">
                        <a:latin typeface="Cambria Math" panose="02040503050406030204" pitchFamily="18" charset="0"/>
                      </a:rPr>
                      <m:t> = </m:t>
                    </m:r>
                    <m:r>
                      <a:rPr lang="en-GB" b="1" i="1" dirty="0" smtClean="0">
                        <a:latin typeface="Cambria Math" panose="02040503050406030204" pitchFamily="18" charset="0"/>
                      </a:rPr>
                      <m:t>𝟐</m:t>
                    </m:r>
                    <m:r>
                      <a:rPr lang="en-GB" b="1" i="1" dirty="0" smtClean="0">
                        <a:latin typeface="Cambria Math" panose="02040503050406030204" pitchFamily="18" charset="0"/>
                      </a:rPr>
                      <m:t> </m:t>
                    </m:r>
                  </m:oMath>
                </a14:m>
                <a:r>
                  <a:rPr lang="en-GB" b="1" dirty="0"/>
                  <a:t>does </a:t>
                </a:r>
                <a:r>
                  <a:rPr lang="en-GB" dirty="0"/>
                  <a:t>(no padding).</a:t>
                </a:r>
              </a:p>
              <a:p>
                <a:pPr marL="0" indent="0">
                  <a:buNone/>
                </a:pPr>
                <a:r>
                  <a:rPr lang="en-GB" dirty="0"/>
                  <a:t>First, use the convolution as before, next elements t</a:t>
                </a:r>
                <a:r>
                  <a:rPr lang="en-SG" dirty="0"/>
                  <a:t>o be used are “two steps” away from the first position, and so on.</a:t>
                </a:r>
                <a:endParaRPr lang="en-GB" dirty="0"/>
              </a:p>
            </p:txBody>
          </p:sp>
        </mc:Choice>
        <mc:Fallback xmlns="">
          <p:sp>
            <p:nvSpPr>
              <p:cNvPr id="3" name="Content Placeholder 14">
                <a:extLst>
                  <a:ext uri="{FF2B5EF4-FFF2-40B4-BE49-F238E27FC236}">
                    <a16:creationId xmlns:a16="http://schemas.microsoft.com/office/drawing/2014/main" id="{E390C78E-0EBB-A564-E085-2D1F4D50018A}"/>
                  </a:ext>
                </a:extLst>
              </p:cNvPr>
              <p:cNvSpPr>
                <a:spLocks noGrp="1" noRot="1" noChangeAspect="1" noMove="1" noResize="1" noEditPoints="1" noAdjustHandles="1" noChangeArrowheads="1" noChangeShapeType="1" noTextEdit="1"/>
              </p:cNvSpPr>
              <p:nvPr>
                <p:ph idx="1"/>
              </p:nvPr>
            </p:nvSpPr>
            <p:spPr>
              <a:xfrm>
                <a:off x="838200" y="1825625"/>
                <a:ext cx="10515600" cy="4351338"/>
              </a:xfrm>
              <a:blipFill>
                <a:blip r:embed="rId6"/>
                <a:stretch>
                  <a:fillRect l="-1217" t="-2241" r="-754"/>
                </a:stretch>
              </a:blipFill>
            </p:spPr>
            <p:txBody>
              <a:bodyPr/>
              <a:lstStyle/>
              <a:p>
                <a:r>
                  <a:rPr lang="en-SG">
                    <a:noFill/>
                  </a:rPr>
                  <a:t> </a:t>
                </a:r>
              </a:p>
            </p:txBody>
          </p:sp>
        </mc:Fallback>
      </mc:AlternateContent>
    </p:spTree>
    <p:extLst>
      <p:ext uri="{BB962C8B-B14F-4D97-AF65-F5344CB8AC3E}">
        <p14:creationId xmlns:p14="http://schemas.microsoft.com/office/powerpoint/2010/main" val="37588813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A37E7-1372-A069-FCEE-59F2F7A5F9BB}"/>
              </a:ext>
            </a:extLst>
          </p:cNvPr>
          <p:cNvSpPr>
            <a:spLocks noGrp="1"/>
          </p:cNvSpPr>
          <p:nvPr>
            <p:ph type="title"/>
          </p:nvPr>
        </p:nvSpPr>
        <p:spPr/>
        <p:txBody>
          <a:bodyPr/>
          <a:lstStyle/>
          <a:p>
            <a:r>
              <a:rPr lang="en-GB" dirty="0"/>
              <a:t>Adding a stride</a:t>
            </a:r>
            <a:endParaRPr lang="en-SG" dirty="0"/>
          </a:p>
        </p:txBody>
      </p:sp>
      <p:sp>
        <p:nvSpPr>
          <p:cNvPr id="6" name="Content Placeholder 5">
            <a:extLst>
              <a:ext uri="{FF2B5EF4-FFF2-40B4-BE49-F238E27FC236}">
                <a16:creationId xmlns:a16="http://schemas.microsoft.com/office/drawing/2014/main" id="{FD6212AA-6432-0630-F85C-EF8C46DBB1FB}"/>
              </a:ext>
            </a:extLst>
          </p:cNvPr>
          <p:cNvSpPr>
            <a:spLocks noGrp="1"/>
          </p:cNvSpPr>
          <p:nvPr>
            <p:ph sz="half" idx="1"/>
          </p:nvPr>
        </p:nvSpPr>
        <p:spPr>
          <a:xfrm>
            <a:off x="838200" y="1825624"/>
            <a:ext cx="3960446" cy="5032375"/>
          </a:xfrm>
        </p:spPr>
        <p:txBody>
          <a:bodyPr>
            <a:normAutofit/>
          </a:bodyPr>
          <a:lstStyle/>
          <a:p>
            <a:r>
              <a:rPr lang="en-GB" dirty="0"/>
              <a:t>Stride is easily implemented by using a slicing in the result of the correlation.</a:t>
            </a:r>
          </a:p>
          <a:p>
            <a:r>
              <a:rPr lang="en-GB" dirty="0"/>
              <a:t>This is not the most optimized way to do it, however!</a:t>
            </a:r>
          </a:p>
          <a:p>
            <a:r>
              <a:rPr lang="en-GB" i="1" dirty="0"/>
              <a:t>(We do not care so much, as we will use the </a:t>
            </a:r>
            <a:r>
              <a:rPr lang="en-GB" i="1" dirty="0" err="1"/>
              <a:t>PyTorch</a:t>
            </a:r>
            <a:r>
              <a:rPr lang="en-GB" i="1" dirty="0"/>
              <a:t> version of convolution after this!)</a:t>
            </a:r>
            <a:endParaRPr lang="en-SG" i="1" dirty="0"/>
          </a:p>
        </p:txBody>
      </p:sp>
      <p:pic>
        <p:nvPicPr>
          <p:cNvPr id="16" name="Picture 15">
            <a:extLst>
              <a:ext uri="{FF2B5EF4-FFF2-40B4-BE49-F238E27FC236}">
                <a16:creationId xmlns:a16="http://schemas.microsoft.com/office/drawing/2014/main" id="{D646269D-2671-04C0-CA75-CF731B68BBC3}"/>
              </a:ext>
            </a:extLst>
          </p:cNvPr>
          <p:cNvPicPr>
            <a:picLocks noChangeAspect="1"/>
          </p:cNvPicPr>
          <p:nvPr/>
        </p:nvPicPr>
        <p:blipFill>
          <a:blip r:embed="rId2"/>
          <a:stretch>
            <a:fillRect/>
          </a:stretch>
        </p:blipFill>
        <p:spPr>
          <a:xfrm>
            <a:off x="4945224" y="2021998"/>
            <a:ext cx="7246776" cy="4204236"/>
          </a:xfrm>
          <a:prstGeom prst="rect">
            <a:avLst/>
          </a:prstGeom>
        </p:spPr>
      </p:pic>
      <p:sp>
        <p:nvSpPr>
          <p:cNvPr id="17" name="Rectangle 16">
            <a:extLst>
              <a:ext uri="{FF2B5EF4-FFF2-40B4-BE49-F238E27FC236}">
                <a16:creationId xmlns:a16="http://schemas.microsoft.com/office/drawing/2014/main" id="{E8E6D32D-1C4B-1C81-ABBE-847D5DE9BF3E}"/>
              </a:ext>
            </a:extLst>
          </p:cNvPr>
          <p:cNvSpPr/>
          <p:nvPr/>
        </p:nvSpPr>
        <p:spPr>
          <a:xfrm>
            <a:off x="5036274" y="5117841"/>
            <a:ext cx="6317526" cy="713792"/>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6491174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B7672-0320-7CBC-593E-0A204ADAD849}"/>
              </a:ext>
            </a:extLst>
          </p:cNvPr>
          <p:cNvSpPr>
            <a:spLocks noGrp="1"/>
          </p:cNvSpPr>
          <p:nvPr>
            <p:ph type="title"/>
          </p:nvPr>
        </p:nvSpPr>
        <p:spPr/>
        <p:txBody>
          <a:bodyPr/>
          <a:lstStyle/>
          <a:p>
            <a:r>
              <a:rPr lang="en-GB" dirty="0"/>
              <a:t>The (final) magic formula for convolution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586F4A0-31BD-25C3-7687-B096DA8695AD}"/>
                  </a:ext>
                </a:extLst>
              </p:cNvPr>
              <p:cNvSpPr>
                <a:spLocks noGrp="1"/>
              </p:cNvSpPr>
              <p:nvPr>
                <p:ph sz="half" idx="1"/>
              </p:nvPr>
            </p:nvSpPr>
            <p:spPr>
              <a:xfrm>
                <a:off x="838200" y="1825624"/>
                <a:ext cx="5181600" cy="5032375"/>
              </a:xfrm>
            </p:spPr>
            <p:txBody>
              <a:bodyPr>
                <a:normAutofit/>
              </a:bodyPr>
              <a:lstStyle/>
              <a:p>
                <a:pPr marL="0" indent="0">
                  <a:buNone/>
                </a:pPr>
                <a:r>
                  <a:rPr lang="en-GB" b="1" dirty="0"/>
                  <a:t>Magic formula for convolution: </a:t>
                </a:r>
                <a:r>
                  <a:rPr lang="en-GB" dirty="0"/>
                  <a:t>let us consider</a:t>
                </a:r>
              </a:p>
              <a:p>
                <a:r>
                  <a:rPr lang="en-GB" dirty="0"/>
                  <a:t>An input image, defined as a 3D tensor </a:t>
                </a:r>
                <a14:m>
                  <m:oMath xmlns:m="http://schemas.openxmlformats.org/officeDocument/2006/math">
                    <m:r>
                      <a:rPr lang="en-GB" b="0" i="1" smtClean="0">
                        <a:latin typeface="Cambria Math" panose="02040503050406030204" pitchFamily="18" charset="0"/>
                      </a:rPr>
                      <m:t>𝑋</m:t>
                    </m:r>
                  </m:oMath>
                </a14:m>
                <a:r>
                  <a:rPr lang="en-GB" dirty="0"/>
                  <a:t> of size </a:t>
                </a:r>
                <a14:m>
                  <m:oMath xmlns:m="http://schemas.openxmlformats.org/officeDocument/2006/math">
                    <m:r>
                      <a:rPr lang="en-GB" b="0" i="1" smtClean="0">
                        <a:latin typeface="Cambria Math" panose="02040503050406030204" pitchFamily="18" charset="0"/>
                      </a:rPr>
                      <m:t>h</m:t>
                    </m:r>
                    <m:r>
                      <a:rPr lang="en-GB" b="0" i="1" smtClean="0">
                        <a:latin typeface="Cambria Math" panose="02040503050406030204" pitchFamily="18" charset="0"/>
                      </a:rPr>
                      <m:t>×</m:t>
                    </m:r>
                    <m:r>
                      <a:rPr lang="en-GB" b="0" i="1" smtClean="0">
                        <a:latin typeface="Cambria Math" panose="02040503050406030204" pitchFamily="18" charset="0"/>
                      </a:rPr>
                      <m:t>𝑤</m:t>
                    </m:r>
                    <m:r>
                      <a:rPr lang="en-GB" b="0" i="1" smtClean="0">
                        <a:latin typeface="Cambria Math" panose="02040503050406030204" pitchFamily="18" charset="0"/>
                      </a:rPr>
                      <m:t>×</m:t>
                    </m:r>
                    <m:r>
                      <a:rPr lang="en-GB" b="0" i="1" smtClean="0">
                        <a:latin typeface="Cambria Math" panose="02040503050406030204" pitchFamily="18" charset="0"/>
                      </a:rPr>
                      <m:t>𝑐</m:t>
                    </m:r>
                  </m:oMath>
                </a14:m>
                <a:r>
                  <a:rPr lang="en-GB" dirty="0"/>
                  <a:t>, with </a:t>
                </a:r>
                <a14:m>
                  <m:oMath xmlns:m="http://schemas.openxmlformats.org/officeDocument/2006/math">
                    <m:r>
                      <a:rPr lang="en-GB" i="1" dirty="0" smtClean="0">
                        <a:latin typeface="Cambria Math" panose="02040503050406030204" pitchFamily="18" charset="0"/>
                      </a:rPr>
                      <m:t>h</m:t>
                    </m:r>
                  </m:oMath>
                </a14:m>
                <a:r>
                  <a:rPr lang="en-GB" dirty="0"/>
                  <a:t> the height, </a:t>
                </a:r>
                <a14:m>
                  <m:oMath xmlns:m="http://schemas.openxmlformats.org/officeDocument/2006/math">
                    <m:r>
                      <a:rPr lang="en-GB" i="1" dirty="0" smtClean="0">
                        <a:latin typeface="Cambria Math" panose="02040503050406030204" pitchFamily="18" charset="0"/>
                      </a:rPr>
                      <m:t>𝑤</m:t>
                    </m:r>
                  </m:oMath>
                </a14:m>
                <a:r>
                  <a:rPr lang="en-GB" dirty="0"/>
                  <a:t> the weight and </a:t>
                </a:r>
                <a14:m>
                  <m:oMath xmlns:m="http://schemas.openxmlformats.org/officeDocument/2006/math">
                    <m:r>
                      <a:rPr lang="en-GB" i="1" dirty="0" smtClean="0">
                        <a:latin typeface="Cambria Math" panose="02040503050406030204" pitchFamily="18" charset="0"/>
                      </a:rPr>
                      <m:t>𝑐</m:t>
                    </m:r>
                  </m:oMath>
                </a14:m>
                <a:r>
                  <a:rPr lang="en-GB" dirty="0"/>
                  <a:t> the number of channels.</a:t>
                </a:r>
              </a:p>
              <a:p>
                <a:r>
                  <a:rPr lang="en-GB" dirty="0"/>
                  <a:t>A convolution kernel </a:t>
                </a:r>
                <a14:m>
                  <m:oMath xmlns:m="http://schemas.openxmlformats.org/officeDocument/2006/math">
                    <m:r>
                      <a:rPr lang="en-GB" b="0" i="1" smtClean="0">
                        <a:latin typeface="Cambria Math" panose="02040503050406030204" pitchFamily="18" charset="0"/>
                      </a:rPr>
                      <m:t>𝐾</m:t>
                    </m:r>
                  </m:oMath>
                </a14:m>
                <a:r>
                  <a:rPr lang="en-GB" dirty="0"/>
                  <a:t> of size </a:t>
                </a:r>
                <a14:m>
                  <m:oMath xmlns:m="http://schemas.openxmlformats.org/officeDocument/2006/math">
                    <m:r>
                      <a:rPr lang="en-GB" b="0" i="1" smtClean="0">
                        <a:latin typeface="Cambria Math" panose="02040503050406030204" pitchFamily="18" charset="0"/>
                      </a:rPr>
                      <m:t>𝑘</m:t>
                    </m:r>
                    <m:r>
                      <a:rPr lang="en-GB" b="0" i="1" smtClean="0">
                        <a:latin typeface="Cambria Math" panose="02040503050406030204" pitchFamily="18" charset="0"/>
                      </a:rPr>
                      <m:t>×</m:t>
                    </m:r>
                    <m:r>
                      <a:rPr lang="en-GB" b="0" i="1" smtClean="0">
                        <a:latin typeface="Cambria Math" panose="02040503050406030204" pitchFamily="18" charset="0"/>
                      </a:rPr>
                      <m:t>𝑘</m:t>
                    </m:r>
                  </m:oMath>
                </a14:m>
                <a:r>
                  <a:rPr lang="en-GB" dirty="0"/>
                  <a:t>.</a:t>
                </a:r>
              </a:p>
              <a:p>
                <a:r>
                  <a:rPr lang="en-GB" dirty="0"/>
                  <a:t>A padding of size </a:t>
                </a:r>
                <a14:m>
                  <m:oMath xmlns:m="http://schemas.openxmlformats.org/officeDocument/2006/math">
                    <m:r>
                      <a:rPr lang="en-GB" i="1" dirty="0" smtClean="0">
                        <a:latin typeface="Cambria Math" panose="02040503050406030204" pitchFamily="18" charset="0"/>
                      </a:rPr>
                      <m:t>𝑝</m:t>
                    </m:r>
                  </m:oMath>
                </a14:m>
                <a:r>
                  <a:rPr lang="en-GB" dirty="0"/>
                  <a:t>, a stride of size </a:t>
                </a:r>
                <a14:m>
                  <m:oMath xmlns:m="http://schemas.openxmlformats.org/officeDocument/2006/math">
                    <m:r>
                      <a:rPr lang="en-GB" i="1" dirty="0" smtClean="0">
                        <a:latin typeface="Cambria Math" panose="02040503050406030204" pitchFamily="18" charset="0"/>
                      </a:rPr>
                      <m:t>𝑠</m:t>
                    </m:r>
                  </m:oMath>
                </a14:m>
                <a:r>
                  <a:rPr lang="en-GB" dirty="0"/>
                  <a:t>.</a:t>
                </a:r>
              </a:p>
              <a:p>
                <a:pPr marL="0" indent="0">
                  <a:buNone/>
                </a:pPr>
                <a:endParaRPr lang="en-GB" dirty="0"/>
              </a:p>
              <a:p>
                <a:pPr marL="0" indent="0">
                  <a:buNone/>
                </a:pPr>
                <a:endParaRPr lang="en-SG" dirty="0"/>
              </a:p>
            </p:txBody>
          </p:sp>
        </mc:Choice>
        <mc:Fallback xmlns="">
          <p:sp>
            <p:nvSpPr>
              <p:cNvPr id="3" name="Content Placeholder 2">
                <a:extLst>
                  <a:ext uri="{FF2B5EF4-FFF2-40B4-BE49-F238E27FC236}">
                    <a16:creationId xmlns:a16="http://schemas.microsoft.com/office/drawing/2014/main" id="{5586F4A0-31BD-25C3-7687-B096DA8695AD}"/>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706"/>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C4B6875B-58E7-6C60-4459-8077EA91B7F8}"/>
                  </a:ext>
                </a:extLst>
              </p:cNvPr>
              <p:cNvSpPr>
                <a:spLocks noGrp="1"/>
              </p:cNvSpPr>
              <p:nvPr>
                <p:ph sz="half" idx="2"/>
              </p:nvPr>
            </p:nvSpPr>
            <p:spPr>
              <a:xfrm>
                <a:off x="6172199" y="1825624"/>
                <a:ext cx="5808785" cy="5032375"/>
              </a:xfrm>
            </p:spPr>
            <p:txBody>
              <a:bodyPr>
                <a:normAutofit/>
              </a:bodyPr>
              <a:lstStyle/>
              <a:p>
                <a:pPr marL="0" indent="0">
                  <a:buNone/>
                </a:pPr>
                <a:r>
                  <a:rPr lang="en-GB" dirty="0"/>
                  <a:t>The resulting image </a:t>
                </a:r>
                <a14:m>
                  <m:oMath xmlns:m="http://schemas.openxmlformats.org/officeDocument/2006/math">
                    <m:r>
                      <a:rPr lang="en-GB" i="1" dirty="0" smtClean="0">
                        <a:latin typeface="Cambria Math" panose="02040503050406030204" pitchFamily="18" charset="0"/>
                      </a:rPr>
                      <m:t>𝑌</m:t>
                    </m:r>
                  </m:oMath>
                </a14:m>
                <a:r>
                  <a:rPr lang="en-GB" dirty="0"/>
                  <a:t> will have a size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h</m:t>
                        </m:r>
                      </m:e>
                      <m:sup>
                        <m:r>
                          <a:rPr lang="en-GB" b="0" i="1" smtClean="0">
                            <a:latin typeface="Cambria Math" panose="02040503050406030204" pitchFamily="18" charset="0"/>
                          </a:rPr>
                          <m:t>′</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𝑤</m:t>
                        </m:r>
                      </m:e>
                      <m:sup>
                        <m:r>
                          <a:rPr lang="en-GB" b="0" i="1" smtClean="0">
                            <a:latin typeface="Cambria Math" panose="02040503050406030204" pitchFamily="18" charset="0"/>
                          </a:rPr>
                          <m:t>′</m:t>
                        </m:r>
                      </m:sup>
                    </m:sSup>
                    <m:r>
                      <a:rPr lang="en-GB" b="0" i="1" smtClean="0">
                        <a:latin typeface="Cambria Math" panose="02040503050406030204" pitchFamily="18" charset="0"/>
                      </a:rPr>
                      <m:t>×</m:t>
                    </m:r>
                    <m:r>
                      <a:rPr lang="en-GB" b="0" i="1" smtClean="0">
                        <a:latin typeface="Cambria Math" panose="02040503050406030204" pitchFamily="18" charset="0"/>
                      </a:rPr>
                      <m:t>𝑐</m:t>
                    </m:r>
                  </m:oMath>
                </a14:m>
                <a:r>
                  <a:rPr lang="en-GB" dirty="0"/>
                  <a:t>, with:</a:t>
                </a:r>
                <a:br>
                  <a:rPr lang="en-GB" dirty="0"/>
                </a:br>
                <a:endParaRPr lang="en-GB" dirty="0"/>
              </a:p>
              <a:p>
                <a:pPr marL="0" indent="0">
                  <a:buNone/>
                </a:pPr>
                <a14:m>
                  <m:oMathPara xmlns:m="http://schemas.openxmlformats.org/officeDocument/2006/math">
                    <m:oMathParaPr>
                      <m:jc m:val="centerGroup"/>
                    </m:oMathParaPr>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h</m:t>
                          </m:r>
                        </m:e>
                        <m:sup>
                          <m:r>
                            <a:rPr lang="en-GB" b="0" i="1" smtClean="0">
                              <a:latin typeface="Cambria Math" panose="02040503050406030204" pitchFamily="18" charset="0"/>
                            </a:rPr>
                            <m:t>′</m:t>
                          </m:r>
                        </m:sup>
                      </m:sSup>
                      <m:r>
                        <a:rPr lang="en-GB" b="0" i="1" smtClean="0">
                          <a:latin typeface="Cambria Math" panose="02040503050406030204" pitchFamily="18" charset="0"/>
                        </a:rPr>
                        <m:t>=</m:t>
                      </m:r>
                      <m:d>
                        <m:dPr>
                          <m:begChr m:val="⌊"/>
                          <m:endChr m:val="⌋"/>
                          <m:ctrlPr>
                            <a:rPr lang="en-GB" b="0" i="1" smtClean="0">
                              <a:latin typeface="Cambria Math" panose="02040503050406030204" pitchFamily="18" charset="0"/>
                            </a:rPr>
                          </m:ctrlPr>
                        </m:dPr>
                        <m:e>
                          <m:f>
                            <m:fPr>
                              <m:ctrlPr>
                                <a:rPr lang="en-GB" i="1">
                                  <a:latin typeface="Cambria Math" panose="02040503050406030204" pitchFamily="18" charset="0"/>
                                </a:rPr>
                              </m:ctrlPr>
                            </m:fPr>
                            <m:num>
                              <m:r>
                                <a:rPr lang="en-GB" i="1">
                                  <a:latin typeface="Cambria Math" panose="02040503050406030204" pitchFamily="18" charset="0"/>
                                </a:rPr>
                                <m:t>h</m:t>
                              </m:r>
                              <m:r>
                                <a:rPr lang="en-GB" i="1">
                                  <a:latin typeface="Cambria Math" panose="02040503050406030204" pitchFamily="18" charset="0"/>
                                </a:rPr>
                                <m:t>+2</m:t>
                              </m:r>
                              <m:r>
                                <a:rPr lang="en-GB" i="1">
                                  <a:latin typeface="Cambria Math" panose="02040503050406030204" pitchFamily="18" charset="0"/>
                                </a:rPr>
                                <m:t>𝑝</m:t>
                              </m:r>
                              <m:r>
                                <a:rPr lang="en-GB" i="1">
                                  <a:latin typeface="Cambria Math" panose="02040503050406030204" pitchFamily="18" charset="0"/>
                                </a:rPr>
                                <m:t>−</m:t>
                              </m:r>
                              <m:r>
                                <a:rPr lang="en-GB" b="0" i="1" smtClean="0">
                                  <a:latin typeface="Cambria Math" panose="02040503050406030204" pitchFamily="18" charset="0"/>
                                </a:rPr>
                                <m:t>𝑘</m:t>
                              </m:r>
                            </m:num>
                            <m:den>
                              <m:r>
                                <a:rPr lang="en-GB" i="1">
                                  <a:latin typeface="Cambria Math" panose="02040503050406030204" pitchFamily="18" charset="0"/>
                                </a:rPr>
                                <m:t>𝑠</m:t>
                              </m:r>
                            </m:den>
                          </m:f>
                          <m:r>
                            <a:rPr lang="en-GB">
                              <a:latin typeface="Cambria Math" panose="02040503050406030204" pitchFamily="18" charset="0"/>
                            </a:rPr>
                            <m:t>+1</m:t>
                          </m:r>
                        </m:e>
                      </m:d>
                    </m:oMath>
                  </m:oMathPara>
                </a14:m>
                <a:br>
                  <a:rPr lang="en-GB" dirty="0">
                    <a:latin typeface="Cambria Math" panose="02040503050406030204" pitchFamily="18" charset="0"/>
                  </a:rPr>
                </a:br>
                <a:endParaRPr lang="en-GB" b="0" i="1" dirty="0">
                  <a:latin typeface="Cambria Math" panose="02040503050406030204" pitchFamily="18" charset="0"/>
                </a:endParaRPr>
              </a:p>
              <a:p>
                <a:pPr marL="0" indent="0">
                  <a:buNone/>
                </a:pPr>
                <a:r>
                  <a:rPr lang="en-GB" b="0" dirty="0">
                    <a:latin typeface="Cambria Math" panose="02040503050406030204" pitchFamily="18" charset="0"/>
                  </a:rPr>
                  <a:t>And</a:t>
                </a:r>
                <a:br>
                  <a:rPr lang="en-GB" b="0" i="1" dirty="0">
                    <a:latin typeface="Cambria Math" panose="02040503050406030204" pitchFamily="18" charset="0"/>
                  </a:rPr>
                </a:br>
                <a14:m>
                  <m:oMathPara xmlns:m="http://schemas.openxmlformats.org/officeDocument/2006/math">
                    <m:oMathParaPr>
                      <m:jc m:val="centerGroup"/>
                    </m:oMathParaPr>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𝑤</m:t>
                          </m:r>
                        </m:e>
                        <m:sup>
                          <m:r>
                            <a:rPr lang="en-GB" b="0" i="1" smtClean="0">
                              <a:latin typeface="Cambria Math" panose="02040503050406030204" pitchFamily="18" charset="0"/>
                            </a:rPr>
                            <m:t>′</m:t>
                          </m:r>
                        </m:sup>
                      </m:sSup>
                      <m:r>
                        <a:rPr lang="en-GB" b="0" i="1" smtClean="0">
                          <a:latin typeface="Cambria Math" panose="02040503050406030204" pitchFamily="18" charset="0"/>
                        </a:rPr>
                        <m:t>=</m:t>
                      </m:r>
                      <m:d>
                        <m:dPr>
                          <m:begChr m:val="⌊"/>
                          <m:endChr m:val="⌋"/>
                          <m:ctrlPr>
                            <a:rPr lang="en-GB" b="0" i="1" smtClean="0">
                              <a:latin typeface="Cambria Math" panose="02040503050406030204" pitchFamily="18" charset="0"/>
                            </a:rPr>
                          </m:ctrlPr>
                        </m:dPr>
                        <m:e>
                          <m:f>
                            <m:fPr>
                              <m:ctrlPr>
                                <a:rPr lang="en-GB" i="1">
                                  <a:latin typeface="Cambria Math" panose="02040503050406030204" pitchFamily="18" charset="0"/>
                                </a:rPr>
                              </m:ctrlPr>
                            </m:fPr>
                            <m:num>
                              <m:r>
                                <a:rPr lang="en-GB" i="1">
                                  <a:latin typeface="Cambria Math" panose="02040503050406030204" pitchFamily="18" charset="0"/>
                                </a:rPr>
                                <m:t>𝑤</m:t>
                              </m:r>
                              <m:r>
                                <a:rPr lang="en-GB" i="1">
                                  <a:latin typeface="Cambria Math" panose="02040503050406030204" pitchFamily="18" charset="0"/>
                                </a:rPr>
                                <m:t>+2</m:t>
                              </m:r>
                              <m:r>
                                <a:rPr lang="en-GB" i="1">
                                  <a:latin typeface="Cambria Math" panose="02040503050406030204" pitchFamily="18" charset="0"/>
                                </a:rPr>
                                <m:t>𝑝</m:t>
                              </m:r>
                              <m:r>
                                <a:rPr lang="en-GB" i="1">
                                  <a:latin typeface="Cambria Math" panose="02040503050406030204" pitchFamily="18" charset="0"/>
                                </a:rPr>
                                <m:t>−</m:t>
                              </m:r>
                              <m:r>
                                <a:rPr lang="en-GB" b="0" i="1" smtClean="0">
                                  <a:latin typeface="Cambria Math" panose="02040503050406030204" pitchFamily="18" charset="0"/>
                                </a:rPr>
                                <m:t>𝑘</m:t>
                              </m:r>
                            </m:num>
                            <m:den>
                              <m:r>
                                <a:rPr lang="en-GB" i="1">
                                  <a:latin typeface="Cambria Math" panose="02040503050406030204" pitchFamily="18" charset="0"/>
                                </a:rPr>
                                <m:t>𝑠</m:t>
                              </m:r>
                            </m:den>
                          </m:f>
                          <m:r>
                            <a:rPr lang="en-GB">
                              <a:latin typeface="Cambria Math" panose="02040503050406030204" pitchFamily="18" charset="0"/>
                            </a:rPr>
                            <m:t>+1</m:t>
                          </m:r>
                          <m:r>
                            <m:rPr>
                              <m:nor/>
                            </m:rPr>
                            <a:rPr lang="en-GB" dirty="0"/>
                            <m:t> </m:t>
                          </m:r>
                        </m:e>
                      </m:d>
                    </m:oMath>
                  </m:oMathPara>
                </a14:m>
                <a:endParaRPr lang="en-SG" dirty="0"/>
              </a:p>
              <a:p>
                <a:pPr marL="0" indent="0">
                  <a:buNone/>
                </a:pPr>
                <a:endParaRPr lang="en-SG" dirty="0"/>
              </a:p>
              <a:p>
                <a:pPr marL="0" indent="0">
                  <a:buNone/>
                </a:pPr>
                <a:r>
                  <a:rPr lang="en-SG" b="1" dirty="0"/>
                  <a:t>Note: </a:t>
                </a:r>
                <a:r>
                  <a:rPr lang="en-SG" dirty="0"/>
                  <a:t>the floor function </a:t>
                </a:r>
                <a14:m>
                  <m:oMath xmlns:m="http://schemas.openxmlformats.org/officeDocument/2006/math">
                    <m:d>
                      <m:dPr>
                        <m:begChr m:val="⌊"/>
                        <m:endChr m:val="⌋"/>
                        <m:ctrlPr>
                          <a:rPr lang="en-SG" i="1" smtClean="0">
                            <a:latin typeface="Cambria Math" panose="02040503050406030204" pitchFamily="18" charset="0"/>
                          </a:rPr>
                        </m:ctrlPr>
                      </m:dPr>
                      <m:e>
                        <m:r>
                          <a:rPr lang="en-GB" b="0" i="1" smtClean="0">
                            <a:latin typeface="Cambria Math" panose="02040503050406030204" pitchFamily="18" charset="0"/>
                          </a:rPr>
                          <m:t>…</m:t>
                        </m:r>
                      </m:e>
                    </m:d>
                  </m:oMath>
                </a14:m>
                <a:r>
                  <a:rPr lang="en-SG" dirty="0"/>
                  <a:t> is used in case the division result is an integer.</a:t>
                </a:r>
              </a:p>
            </p:txBody>
          </p:sp>
        </mc:Choice>
        <mc:Fallback xmlns="">
          <p:sp>
            <p:nvSpPr>
              <p:cNvPr id="4" name="Content Placeholder 3">
                <a:extLst>
                  <a:ext uri="{FF2B5EF4-FFF2-40B4-BE49-F238E27FC236}">
                    <a16:creationId xmlns:a16="http://schemas.microsoft.com/office/drawing/2014/main" id="{C4B6875B-58E7-6C60-4459-8077EA91B7F8}"/>
                  </a:ext>
                </a:extLst>
              </p:cNvPr>
              <p:cNvSpPr>
                <a:spLocks noGrp="1" noRot="1" noChangeAspect="1" noMove="1" noResize="1" noEditPoints="1" noAdjustHandles="1" noChangeArrowheads="1" noChangeShapeType="1" noTextEdit="1"/>
              </p:cNvSpPr>
              <p:nvPr>
                <p:ph sz="half" idx="2"/>
              </p:nvPr>
            </p:nvSpPr>
            <p:spPr>
              <a:xfrm>
                <a:off x="6172199" y="1825624"/>
                <a:ext cx="5808785" cy="5032375"/>
              </a:xfrm>
              <a:blipFill>
                <a:blip r:embed="rId3"/>
                <a:stretch>
                  <a:fillRect l="-2099" t="-1937" r="-1784" b="-121"/>
                </a:stretch>
              </a:blipFill>
            </p:spPr>
            <p:txBody>
              <a:bodyPr/>
              <a:lstStyle/>
              <a:p>
                <a:r>
                  <a:rPr lang="en-SG">
                    <a:noFill/>
                  </a:rPr>
                  <a:t> </a:t>
                </a:r>
              </a:p>
            </p:txBody>
          </p:sp>
        </mc:Fallback>
      </mc:AlternateContent>
    </p:spTree>
    <p:extLst>
      <p:ext uri="{BB962C8B-B14F-4D97-AF65-F5344CB8AC3E}">
        <p14:creationId xmlns:p14="http://schemas.microsoft.com/office/powerpoint/2010/main" val="29258556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A37E7-1372-A069-FCEE-59F2F7A5F9BB}"/>
              </a:ext>
            </a:extLst>
          </p:cNvPr>
          <p:cNvSpPr>
            <a:spLocks noGrp="1"/>
          </p:cNvSpPr>
          <p:nvPr>
            <p:ph type="title"/>
          </p:nvPr>
        </p:nvSpPr>
        <p:spPr/>
        <p:txBody>
          <a:bodyPr/>
          <a:lstStyle/>
          <a:p>
            <a:r>
              <a:rPr lang="en-GB" dirty="0"/>
              <a:t>Adding a stride</a:t>
            </a:r>
            <a:endParaRPr lang="en-SG" dirty="0"/>
          </a:p>
        </p:txBody>
      </p:sp>
      <p:pic>
        <p:nvPicPr>
          <p:cNvPr id="4" name="Picture 3">
            <a:extLst>
              <a:ext uri="{FF2B5EF4-FFF2-40B4-BE49-F238E27FC236}">
                <a16:creationId xmlns:a16="http://schemas.microsoft.com/office/drawing/2014/main" id="{D988C47D-701E-7704-7AE2-E815444F26AF}"/>
              </a:ext>
            </a:extLst>
          </p:cNvPr>
          <p:cNvPicPr>
            <a:picLocks noChangeAspect="1"/>
          </p:cNvPicPr>
          <p:nvPr/>
        </p:nvPicPr>
        <p:blipFill>
          <a:blip r:embed="rId2"/>
          <a:stretch>
            <a:fillRect/>
          </a:stretch>
        </p:blipFill>
        <p:spPr>
          <a:xfrm>
            <a:off x="431800" y="1464042"/>
            <a:ext cx="10209245" cy="4661945"/>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5ABB89A-E089-1F03-9031-00DA1035B970}"/>
                  </a:ext>
                </a:extLst>
              </p:cNvPr>
              <p:cNvSpPr txBox="1"/>
              <p:nvPr/>
            </p:nvSpPr>
            <p:spPr>
              <a:xfrm>
                <a:off x="5947507" y="4876799"/>
                <a:ext cx="6025661" cy="17358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GB" sz="2400" b="0" i="1" smtClean="0">
                              <a:solidFill>
                                <a:schemeClr val="accent2"/>
                              </a:solidFill>
                              <a:latin typeface="Cambria Math" panose="02040503050406030204" pitchFamily="18" charset="0"/>
                            </a:rPr>
                          </m:ctrlPr>
                        </m:sSupPr>
                        <m:e>
                          <m:r>
                            <a:rPr lang="en-GB" sz="2400" b="0" i="1" smtClean="0">
                              <a:solidFill>
                                <a:schemeClr val="accent2"/>
                              </a:solidFill>
                              <a:latin typeface="Cambria Math" panose="02040503050406030204" pitchFamily="18" charset="0"/>
                            </a:rPr>
                            <m:t>h</m:t>
                          </m:r>
                        </m:e>
                        <m:sup>
                          <m:r>
                            <a:rPr lang="en-GB" sz="2400" b="0" i="1" smtClean="0">
                              <a:solidFill>
                                <a:schemeClr val="accent2"/>
                              </a:solidFill>
                              <a:latin typeface="Cambria Math" panose="02040503050406030204" pitchFamily="18" charset="0"/>
                            </a:rPr>
                            <m:t>′</m:t>
                          </m:r>
                        </m:sup>
                      </m:sSup>
                      <m:r>
                        <a:rPr lang="en-GB" sz="2400" b="0" i="1" smtClean="0">
                          <a:solidFill>
                            <a:schemeClr val="accent2"/>
                          </a:solidFill>
                          <a:latin typeface="Cambria Math" panose="02040503050406030204" pitchFamily="18" charset="0"/>
                        </a:rPr>
                        <m:t>=</m:t>
                      </m:r>
                      <m:d>
                        <m:dPr>
                          <m:begChr m:val="⌊"/>
                          <m:endChr m:val="⌋"/>
                          <m:ctrlPr>
                            <a:rPr lang="en-GB" sz="2400" i="1">
                              <a:solidFill>
                                <a:schemeClr val="accent2"/>
                              </a:solidFill>
                              <a:latin typeface="Cambria Math" panose="02040503050406030204" pitchFamily="18" charset="0"/>
                            </a:rPr>
                          </m:ctrlPr>
                        </m:dPr>
                        <m:e>
                          <m:f>
                            <m:fPr>
                              <m:ctrlPr>
                                <a:rPr lang="en-GB" sz="2400" i="1">
                                  <a:solidFill>
                                    <a:schemeClr val="accent2"/>
                                  </a:solidFill>
                                  <a:latin typeface="Cambria Math" panose="02040503050406030204" pitchFamily="18" charset="0"/>
                                </a:rPr>
                              </m:ctrlPr>
                            </m:fPr>
                            <m:num>
                              <m:r>
                                <a:rPr lang="en-GB" sz="2400" i="1">
                                  <a:solidFill>
                                    <a:schemeClr val="accent2"/>
                                  </a:solidFill>
                                  <a:latin typeface="Cambria Math" panose="02040503050406030204" pitchFamily="18" charset="0"/>
                                </a:rPr>
                                <m:t>h</m:t>
                              </m:r>
                              <m:r>
                                <a:rPr lang="en-GB" sz="2400" i="1">
                                  <a:solidFill>
                                    <a:schemeClr val="accent2"/>
                                  </a:solidFill>
                                  <a:latin typeface="Cambria Math" panose="02040503050406030204" pitchFamily="18" charset="0"/>
                                </a:rPr>
                                <m:t>+2</m:t>
                              </m:r>
                              <m:r>
                                <a:rPr lang="en-GB" sz="2400" i="1">
                                  <a:solidFill>
                                    <a:schemeClr val="accent2"/>
                                  </a:solidFill>
                                  <a:latin typeface="Cambria Math" panose="02040503050406030204" pitchFamily="18" charset="0"/>
                                </a:rPr>
                                <m:t>𝑝</m:t>
                              </m:r>
                              <m:r>
                                <a:rPr lang="en-GB" sz="2400" i="1">
                                  <a:solidFill>
                                    <a:schemeClr val="accent2"/>
                                  </a:solidFill>
                                  <a:latin typeface="Cambria Math" panose="02040503050406030204" pitchFamily="18" charset="0"/>
                                </a:rPr>
                                <m:t>−</m:t>
                              </m:r>
                              <m:r>
                                <a:rPr lang="en-GB" sz="2400" i="1">
                                  <a:solidFill>
                                    <a:schemeClr val="accent2"/>
                                  </a:solidFill>
                                  <a:latin typeface="Cambria Math" panose="02040503050406030204" pitchFamily="18" charset="0"/>
                                </a:rPr>
                                <m:t>𝑘</m:t>
                              </m:r>
                            </m:num>
                            <m:den>
                              <m:r>
                                <a:rPr lang="en-GB" sz="2400" i="1">
                                  <a:solidFill>
                                    <a:schemeClr val="accent2"/>
                                  </a:solidFill>
                                  <a:latin typeface="Cambria Math" panose="02040503050406030204" pitchFamily="18" charset="0"/>
                                </a:rPr>
                                <m:t>𝑠</m:t>
                              </m:r>
                            </m:den>
                          </m:f>
                          <m:r>
                            <a:rPr lang="en-GB" sz="2400">
                              <a:solidFill>
                                <a:schemeClr val="accent2"/>
                              </a:solidFill>
                              <a:latin typeface="Cambria Math" panose="02040503050406030204" pitchFamily="18" charset="0"/>
                            </a:rPr>
                            <m:t>+1</m:t>
                          </m:r>
                        </m:e>
                      </m:d>
                    </m:oMath>
                  </m:oMathPara>
                </a14:m>
                <a:endParaRPr lang="en-GB" sz="240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sz="2400" b="0" i="1" smtClean="0">
                          <a:solidFill>
                            <a:schemeClr val="accent2"/>
                          </a:solidFill>
                          <a:latin typeface="Cambria Math" panose="02040503050406030204" pitchFamily="18" charset="0"/>
                        </a:rPr>
                        <m:t>h</m:t>
                      </m:r>
                      <m:r>
                        <a:rPr lang="en-GB" sz="2400" b="0" i="1" smtClean="0">
                          <a:solidFill>
                            <a:schemeClr val="accent2"/>
                          </a:solidFill>
                          <a:latin typeface="Cambria Math" panose="02040503050406030204" pitchFamily="18" charset="0"/>
                        </a:rPr>
                        <m:t>′=</m:t>
                      </m:r>
                      <m:d>
                        <m:dPr>
                          <m:begChr m:val="⌊"/>
                          <m:endChr m:val="⌋"/>
                          <m:ctrlPr>
                            <a:rPr lang="en-GB" sz="2400" b="0" i="1" smtClean="0">
                              <a:solidFill>
                                <a:schemeClr val="accent2"/>
                              </a:solidFill>
                              <a:latin typeface="Cambria Math" panose="02040503050406030204" pitchFamily="18" charset="0"/>
                            </a:rPr>
                          </m:ctrlPr>
                        </m:dPr>
                        <m:e>
                          <m:f>
                            <m:fPr>
                              <m:ctrlPr>
                                <a:rPr lang="en-GB" sz="2400" i="1">
                                  <a:solidFill>
                                    <a:schemeClr val="accent2"/>
                                  </a:solidFill>
                                  <a:latin typeface="Cambria Math" panose="02040503050406030204" pitchFamily="18" charset="0"/>
                                </a:rPr>
                              </m:ctrlPr>
                            </m:fPr>
                            <m:num>
                              <m:r>
                                <a:rPr lang="en-GB" sz="2400" b="0" i="1" smtClean="0">
                                  <a:solidFill>
                                    <a:schemeClr val="accent2"/>
                                  </a:solidFill>
                                  <a:latin typeface="Cambria Math" panose="02040503050406030204" pitchFamily="18" charset="0"/>
                                </a:rPr>
                                <m:t>459</m:t>
                              </m:r>
                              <m:r>
                                <a:rPr lang="en-GB" sz="2400" i="1">
                                  <a:solidFill>
                                    <a:schemeClr val="accent2"/>
                                  </a:solidFill>
                                  <a:latin typeface="Cambria Math" panose="02040503050406030204" pitchFamily="18" charset="0"/>
                                </a:rPr>
                                <m:t>+2</m:t>
                              </m:r>
                              <m:r>
                                <a:rPr lang="en-GB" sz="2400" b="0" i="1" smtClean="0">
                                  <a:solidFill>
                                    <a:schemeClr val="accent2"/>
                                  </a:solidFill>
                                  <a:latin typeface="Cambria Math" panose="02040503050406030204" pitchFamily="18" charset="0"/>
                                </a:rPr>
                                <m:t>×2</m:t>
                              </m:r>
                              <m:r>
                                <a:rPr lang="en-GB" sz="2400" i="1">
                                  <a:solidFill>
                                    <a:schemeClr val="accent2"/>
                                  </a:solidFill>
                                  <a:latin typeface="Cambria Math" panose="02040503050406030204" pitchFamily="18" charset="0"/>
                                </a:rPr>
                                <m:t>−</m:t>
                              </m:r>
                              <m:r>
                                <a:rPr lang="en-GB" sz="2400" b="0" i="1" smtClean="0">
                                  <a:solidFill>
                                    <a:schemeClr val="accent2"/>
                                  </a:solidFill>
                                  <a:latin typeface="Cambria Math" panose="02040503050406030204" pitchFamily="18" charset="0"/>
                                </a:rPr>
                                <m:t>5</m:t>
                              </m:r>
                            </m:num>
                            <m:den>
                              <m:r>
                                <a:rPr lang="en-GB" sz="2400" b="0" i="1" smtClean="0">
                                  <a:solidFill>
                                    <a:schemeClr val="accent2"/>
                                  </a:solidFill>
                                  <a:latin typeface="Cambria Math" panose="02040503050406030204" pitchFamily="18" charset="0"/>
                                </a:rPr>
                                <m:t>2</m:t>
                              </m:r>
                            </m:den>
                          </m:f>
                          <m:r>
                            <a:rPr lang="en-GB" sz="2400">
                              <a:solidFill>
                                <a:schemeClr val="accent2"/>
                              </a:solidFill>
                              <a:latin typeface="Cambria Math" panose="02040503050406030204" pitchFamily="18" charset="0"/>
                            </a:rPr>
                            <m:t>+1</m:t>
                          </m:r>
                        </m:e>
                      </m:d>
                      <m:r>
                        <a:rPr lang="en-GB" sz="2400" b="0" i="0" smtClean="0">
                          <a:solidFill>
                            <a:schemeClr val="accent2"/>
                          </a:solidFill>
                          <a:latin typeface="Cambria Math" panose="02040503050406030204" pitchFamily="18" charset="0"/>
                        </a:rPr>
                        <m:t>=230</m:t>
                      </m:r>
                    </m:oMath>
                  </m:oMathPara>
                </a14:m>
                <a:endParaRPr lang="en-SG" sz="2400" dirty="0">
                  <a:solidFill>
                    <a:schemeClr val="accent2"/>
                  </a:solidFill>
                </a:endParaRPr>
              </a:p>
            </p:txBody>
          </p:sp>
        </mc:Choice>
        <mc:Fallback xmlns="">
          <p:sp>
            <p:nvSpPr>
              <p:cNvPr id="8" name="TextBox 7">
                <a:extLst>
                  <a:ext uri="{FF2B5EF4-FFF2-40B4-BE49-F238E27FC236}">
                    <a16:creationId xmlns:a16="http://schemas.microsoft.com/office/drawing/2014/main" id="{85ABB89A-E089-1F03-9031-00DA1035B970}"/>
                  </a:ext>
                </a:extLst>
              </p:cNvPr>
              <p:cNvSpPr txBox="1">
                <a:spLocks noRot="1" noChangeAspect="1" noMove="1" noResize="1" noEditPoints="1" noAdjustHandles="1" noChangeArrowheads="1" noChangeShapeType="1" noTextEdit="1"/>
              </p:cNvSpPr>
              <p:nvPr/>
            </p:nvSpPr>
            <p:spPr>
              <a:xfrm>
                <a:off x="5947507" y="4876799"/>
                <a:ext cx="6025661" cy="1735860"/>
              </a:xfrm>
              <a:prstGeom prst="rect">
                <a:avLst/>
              </a:prstGeom>
              <a:blipFill>
                <a:blip r:embed="rId3"/>
                <a:stretch>
                  <a:fillRect/>
                </a:stretch>
              </a:blipFill>
            </p:spPr>
            <p:txBody>
              <a:bodyPr/>
              <a:lstStyle/>
              <a:p>
                <a:r>
                  <a:rPr lang="en-SG">
                    <a:noFill/>
                  </a:rPr>
                  <a:t> </a:t>
                </a:r>
              </a:p>
            </p:txBody>
          </p:sp>
        </mc:Fallback>
      </mc:AlternateContent>
    </p:spTree>
    <p:extLst>
      <p:ext uri="{BB962C8B-B14F-4D97-AF65-F5344CB8AC3E}">
        <p14:creationId xmlns:p14="http://schemas.microsoft.com/office/powerpoint/2010/main" val="2186567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A37E7-1372-A069-FCEE-59F2F7A5F9BB}"/>
              </a:ext>
            </a:extLst>
          </p:cNvPr>
          <p:cNvSpPr>
            <a:spLocks noGrp="1"/>
          </p:cNvSpPr>
          <p:nvPr>
            <p:ph type="title"/>
          </p:nvPr>
        </p:nvSpPr>
        <p:spPr/>
        <p:txBody>
          <a:bodyPr/>
          <a:lstStyle/>
          <a:p>
            <a:r>
              <a:rPr lang="en-GB" dirty="0"/>
              <a:t>Adding a dilation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22378FA-2B31-93D8-0B74-E4CFBE58773B}"/>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dilation</a:t>
                </a:r>
                <a:r>
                  <a:rPr lang="en-GB" b="1" dirty="0"/>
                  <a:t> in convolution):</a:t>
                </a:r>
              </a:p>
              <a:p>
                <a:pPr marL="0" indent="0">
                  <a:buNone/>
                </a:pPr>
                <a:r>
                  <a:rPr lang="en-GB" dirty="0"/>
                  <a:t>Dilation in image convolution determines </a:t>
                </a:r>
                <a:r>
                  <a:rPr lang="en-GB" b="1" dirty="0"/>
                  <a:t>the spacing between the values of the original image multiplying the kernel</a:t>
                </a:r>
                <a:r>
                  <a:rPr lang="en-GB" dirty="0"/>
                  <a:t>.</a:t>
                </a:r>
              </a:p>
              <a:p>
                <a:pPr marL="0" indent="0">
                  <a:buNone/>
                </a:pPr>
                <a:r>
                  <a:rPr lang="en-GB" dirty="0"/>
                  <a:t>By default, the value for dilation is </a:t>
                </a:r>
                <a14:m>
                  <m:oMath xmlns:m="http://schemas.openxmlformats.org/officeDocument/2006/math">
                    <m:r>
                      <a:rPr lang="en-GB" i="1" dirty="0" smtClean="0">
                        <a:latin typeface="Cambria Math" panose="02040503050406030204" pitchFamily="18" charset="0"/>
                      </a:rPr>
                      <m:t>𝑑</m:t>
                    </m:r>
                    <m:r>
                      <a:rPr lang="en-GB" i="1" dirty="0" smtClean="0">
                        <a:latin typeface="Cambria Math" panose="02040503050406030204" pitchFamily="18" charset="0"/>
                      </a:rPr>
                      <m:t> = 1.</m:t>
                    </m:r>
                  </m:oMath>
                </a14:m>
                <a:endParaRPr lang="en-GB" dirty="0"/>
              </a:p>
              <a:p>
                <a:pPr marL="0" indent="0">
                  <a:buNone/>
                </a:pPr>
                <a:r>
                  <a:rPr lang="en-GB" dirty="0"/>
                  <a:t>With a dilation greater than 1, the pixel values of the original image multiplying the kernel are </a:t>
                </a:r>
                <a:r>
                  <a:rPr lang="en-GB" b="1" dirty="0"/>
                  <a:t>spread apart by a specified number of pixels</a:t>
                </a:r>
                <a:r>
                  <a:rPr lang="en-GB" dirty="0"/>
                  <a:t>.</a:t>
                </a:r>
              </a:p>
              <a:p>
                <a:pPr marL="0" indent="0">
                  <a:buNone/>
                </a:pPr>
                <a:r>
                  <a:rPr lang="en-GB" dirty="0"/>
                  <a:t>This is a very niche feature of the convolution operation. It is easier to visualise it than explain it.</a:t>
                </a:r>
              </a:p>
              <a:p>
                <a:pPr marL="0" indent="0">
                  <a:buNone/>
                </a:pPr>
                <a:r>
                  <a:rPr lang="en-GB" i="1" dirty="0"/>
                  <a:t>(We leave its implementation as practice to the reader.)</a:t>
                </a:r>
                <a:endParaRPr lang="en-SG" i="1" dirty="0"/>
              </a:p>
            </p:txBody>
          </p:sp>
        </mc:Choice>
        <mc:Fallback xmlns="">
          <p:sp>
            <p:nvSpPr>
              <p:cNvPr id="3" name="Content Placeholder 2">
                <a:extLst>
                  <a:ext uri="{FF2B5EF4-FFF2-40B4-BE49-F238E27FC236}">
                    <a16:creationId xmlns:a16="http://schemas.microsoft.com/office/drawing/2014/main" id="{922378FA-2B31-93D8-0B74-E4CFBE58773B}"/>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GB">
                    <a:noFill/>
                  </a:rPr>
                  <a:t> </a:t>
                </a:r>
              </a:p>
            </p:txBody>
          </p:sp>
        </mc:Fallback>
      </mc:AlternateContent>
    </p:spTree>
    <p:extLst>
      <p:ext uri="{BB962C8B-B14F-4D97-AF65-F5344CB8AC3E}">
        <p14:creationId xmlns:p14="http://schemas.microsoft.com/office/powerpoint/2010/main" val="37121747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A37E7-1372-A069-FCEE-59F2F7A5F9BB}"/>
              </a:ext>
            </a:extLst>
          </p:cNvPr>
          <p:cNvSpPr>
            <a:spLocks noGrp="1"/>
          </p:cNvSpPr>
          <p:nvPr>
            <p:ph type="title"/>
          </p:nvPr>
        </p:nvSpPr>
        <p:spPr/>
        <p:txBody>
          <a:bodyPr/>
          <a:lstStyle/>
          <a:p>
            <a:r>
              <a:rPr lang="en-GB" dirty="0"/>
              <a:t>Adding a dilation</a:t>
            </a:r>
            <a:endParaRPr lang="en-SG" dirty="0"/>
          </a:p>
        </p:txBody>
      </p:sp>
      <p:graphicFrame>
        <p:nvGraphicFramePr>
          <p:cNvPr id="7" name="Table 6">
            <a:extLst>
              <a:ext uri="{FF2B5EF4-FFF2-40B4-BE49-F238E27FC236}">
                <a16:creationId xmlns:a16="http://schemas.microsoft.com/office/drawing/2014/main" id="{AA01DEF7-BAD1-5126-F3F9-CC653E2AD3CF}"/>
              </a:ext>
            </a:extLst>
          </p:cNvPr>
          <p:cNvGraphicFramePr>
            <a:graphicFrameLocks noGrp="1"/>
          </p:cNvGraphicFramePr>
          <p:nvPr/>
        </p:nvGraphicFramePr>
        <p:xfrm>
          <a:off x="4884615" y="3820807"/>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10625315"/>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0130699"/>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773086537"/>
                  </a:ext>
                </a:extLst>
              </a:tr>
            </a:tbl>
          </a:graphicData>
        </a:graphic>
      </p:graphicFrame>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5D44913-96A5-4373-9222-42AADA4593DF}"/>
                  </a:ext>
                </a:extLst>
              </p:cNvPr>
              <p:cNvSpPr txBox="1"/>
              <p:nvPr/>
            </p:nvSpPr>
            <p:spPr>
              <a:xfrm>
                <a:off x="1662491" y="626435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B050"/>
                          </a:solidFill>
                          <a:latin typeface="Cambria Math" panose="02040503050406030204" pitchFamily="18" charset="0"/>
                        </a:rPr>
                        <m:t>𝑿</m:t>
                      </m:r>
                    </m:oMath>
                  </m:oMathPara>
                </a14:m>
                <a:endParaRPr lang="en-SG" sz="2800" b="1" dirty="0">
                  <a:solidFill>
                    <a:srgbClr val="00B050"/>
                  </a:solidFill>
                </a:endParaRPr>
              </a:p>
            </p:txBody>
          </p:sp>
        </mc:Choice>
        <mc:Fallback xmlns="">
          <p:sp>
            <p:nvSpPr>
              <p:cNvPr id="8" name="TextBox 7">
                <a:extLst>
                  <a:ext uri="{FF2B5EF4-FFF2-40B4-BE49-F238E27FC236}">
                    <a16:creationId xmlns:a16="http://schemas.microsoft.com/office/drawing/2014/main" id="{E5D44913-96A5-4373-9222-42AADA4593DF}"/>
                  </a:ext>
                </a:extLst>
              </p:cNvPr>
              <p:cNvSpPr txBox="1">
                <a:spLocks noRot="1" noChangeAspect="1" noMove="1" noResize="1" noEditPoints="1" noAdjustHandles="1" noChangeArrowheads="1" noChangeShapeType="1" noTextEdit="1"/>
              </p:cNvSpPr>
              <p:nvPr/>
            </p:nvSpPr>
            <p:spPr>
              <a:xfrm>
                <a:off x="1662491" y="6264352"/>
                <a:ext cx="648677" cy="523220"/>
              </a:xfrm>
              <a:prstGeom prst="rect">
                <a:avLst/>
              </a:prstGeom>
              <a:blipFill>
                <a:blip r:embed="rId2"/>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8D53F16-4E69-AF51-5C72-B5B80B3FCC96}"/>
                  </a:ext>
                </a:extLst>
              </p:cNvPr>
              <p:cNvSpPr txBox="1"/>
              <p:nvPr/>
            </p:nvSpPr>
            <p:spPr>
              <a:xfrm>
                <a:off x="5100277" y="6181779"/>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chemeClr val="accent2"/>
                          </a:solidFill>
                          <a:latin typeface="Cambria Math" panose="02040503050406030204" pitchFamily="18" charset="0"/>
                        </a:rPr>
                        <m:t>𝑲</m:t>
                      </m:r>
                    </m:oMath>
                  </m:oMathPara>
                </a14:m>
                <a:endParaRPr lang="en-SG" sz="2800" b="1" dirty="0">
                  <a:solidFill>
                    <a:schemeClr val="accent2"/>
                  </a:solidFill>
                </a:endParaRPr>
              </a:p>
            </p:txBody>
          </p:sp>
        </mc:Choice>
        <mc:Fallback xmlns="">
          <p:sp>
            <p:nvSpPr>
              <p:cNvPr id="9" name="TextBox 8">
                <a:extLst>
                  <a:ext uri="{FF2B5EF4-FFF2-40B4-BE49-F238E27FC236}">
                    <a16:creationId xmlns:a16="http://schemas.microsoft.com/office/drawing/2014/main" id="{08D53F16-4E69-AF51-5C72-B5B80B3FCC96}"/>
                  </a:ext>
                </a:extLst>
              </p:cNvPr>
              <p:cNvSpPr txBox="1">
                <a:spLocks noRot="1" noChangeAspect="1" noMove="1" noResize="1" noEditPoints="1" noAdjustHandles="1" noChangeArrowheads="1" noChangeShapeType="1" noTextEdit="1"/>
              </p:cNvSpPr>
              <p:nvPr/>
            </p:nvSpPr>
            <p:spPr>
              <a:xfrm>
                <a:off x="5100277" y="6181779"/>
                <a:ext cx="648677" cy="523220"/>
              </a:xfrm>
              <a:prstGeom prst="rect">
                <a:avLst/>
              </a:prstGeom>
              <a:blipFill>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50494FE-F9BA-2B94-DDD0-E6E4C8CAFB19}"/>
                  </a:ext>
                </a:extLst>
              </p:cNvPr>
              <p:cNvSpPr txBox="1"/>
              <p:nvPr/>
            </p:nvSpPr>
            <p:spPr>
              <a:xfrm>
                <a:off x="9674722" y="609510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70C0"/>
                          </a:solidFill>
                          <a:latin typeface="Cambria Math" panose="02040503050406030204" pitchFamily="18" charset="0"/>
                        </a:rPr>
                        <m:t>𝒀</m:t>
                      </m:r>
                    </m:oMath>
                  </m:oMathPara>
                </a14:m>
                <a:endParaRPr lang="en-SG" sz="2800" b="1" dirty="0">
                  <a:solidFill>
                    <a:srgbClr val="0070C0"/>
                  </a:solidFill>
                </a:endParaRPr>
              </a:p>
            </p:txBody>
          </p:sp>
        </mc:Choice>
        <mc:Fallback xmlns="">
          <p:sp>
            <p:nvSpPr>
              <p:cNvPr id="10" name="TextBox 9">
                <a:extLst>
                  <a:ext uri="{FF2B5EF4-FFF2-40B4-BE49-F238E27FC236}">
                    <a16:creationId xmlns:a16="http://schemas.microsoft.com/office/drawing/2014/main" id="{350494FE-F9BA-2B94-DDD0-E6E4C8CAFB19}"/>
                  </a:ext>
                </a:extLst>
              </p:cNvPr>
              <p:cNvSpPr txBox="1">
                <a:spLocks noRot="1" noChangeAspect="1" noMove="1" noResize="1" noEditPoints="1" noAdjustHandles="1" noChangeArrowheads="1" noChangeShapeType="1" noTextEdit="1"/>
              </p:cNvSpPr>
              <p:nvPr/>
            </p:nvSpPr>
            <p:spPr>
              <a:xfrm>
                <a:off x="9674722" y="6095102"/>
                <a:ext cx="648677" cy="523220"/>
              </a:xfrm>
              <a:prstGeom prst="rect">
                <a:avLst/>
              </a:prstGeom>
              <a:blipFill>
                <a:blip r:embed="rId4"/>
                <a:stretch>
                  <a:fillRect/>
                </a:stretch>
              </a:blipFill>
            </p:spPr>
            <p:txBody>
              <a:bodyPr/>
              <a:lstStyle/>
              <a:p>
                <a:r>
                  <a:rPr lang="en-SG">
                    <a:noFill/>
                  </a:rPr>
                  <a:t> </a:t>
                </a:r>
              </a:p>
            </p:txBody>
          </p:sp>
        </mc:Fallback>
      </mc:AlternateContent>
      <p:graphicFrame>
        <p:nvGraphicFramePr>
          <p:cNvPr id="11" name="Table 12">
            <a:extLst>
              <a:ext uri="{FF2B5EF4-FFF2-40B4-BE49-F238E27FC236}">
                <a16:creationId xmlns:a16="http://schemas.microsoft.com/office/drawing/2014/main" id="{F7B6D6C6-80E7-A027-37AD-DE27D26A8E18}"/>
              </a:ext>
            </a:extLst>
          </p:cNvPr>
          <p:cNvGraphicFramePr>
            <a:graphicFrameLocks noGrp="1"/>
          </p:cNvGraphicFramePr>
          <p:nvPr>
            <p:extLst>
              <p:ext uri="{D42A27DB-BD31-4B8C-83A1-F6EECF244321}">
                <p14:modId xmlns:p14="http://schemas.microsoft.com/office/powerpoint/2010/main" val="2550089751"/>
              </p:ext>
            </p:extLst>
          </p:nvPr>
        </p:nvGraphicFramePr>
        <p:xfrm>
          <a:off x="726830" y="3423784"/>
          <a:ext cx="2520000" cy="256032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2822408721"/>
                    </a:ext>
                  </a:extLst>
                </a:gridCol>
                <a:gridCol w="360000">
                  <a:extLst>
                    <a:ext uri="{9D8B030D-6E8A-4147-A177-3AD203B41FA5}">
                      <a16:colId xmlns:a16="http://schemas.microsoft.com/office/drawing/2014/main" val="7696452"/>
                    </a:ext>
                  </a:extLst>
                </a:gridCol>
                <a:gridCol w="360000">
                  <a:extLst>
                    <a:ext uri="{9D8B030D-6E8A-4147-A177-3AD203B41FA5}">
                      <a16:colId xmlns:a16="http://schemas.microsoft.com/office/drawing/2014/main" val="1898891438"/>
                    </a:ext>
                  </a:extLst>
                </a:gridCol>
                <a:gridCol w="360000">
                  <a:extLst>
                    <a:ext uri="{9D8B030D-6E8A-4147-A177-3AD203B41FA5}">
                      <a16:colId xmlns:a16="http://schemas.microsoft.com/office/drawing/2014/main" val="2401033360"/>
                    </a:ext>
                  </a:extLst>
                </a:gridCol>
                <a:gridCol w="360000">
                  <a:extLst>
                    <a:ext uri="{9D8B030D-6E8A-4147-A177-3AD203B41FA5}">
                      <a16:colId xmlns:a16="http://schemas.microsoft.com/office/drawing/2014/main" val="2199237322"/>
                    </a:ext>
                  </a:extLst>
                </a:gridCol>
                <a:gridCol w="360000">
                  <a:extLst>
                    <a:ext uri="{9D8B030D-6E8A-4147-A177-3AD203B41FA5}">
                      <a16:colId xmlns:a16="http://schemas.microsoft.com/office/drawing/2014/main" val="1800328485"/>
                    </a:ext>
                  </a:extLst>
                </a:gridCol>
                <a:gridCol w="360000">
                  <a:extLst>
                    <a:ext uri="{9D8B030D-6E8A-4147-A177-3AD203B41FA5}">
                      <a16:colId xmlns:a16="http://schemas.microsoft.com/office/drawing/2014/main" val="3830588725"/>
                    </a:ext>
                  </a:extLst>
                </a:gridCol>
              </a:tblGrid>
              <a:tr h="360000">
                <a:tc>
                  <a:txBody>
                    <a:bodyPr/>
                    <a:lstStyle/>
                    <a:p>
                      <a:pPr algn="ctr"/>
                      <a:r>
                        <a:rPr lang="en-GB" b="1" dirty="0">
                          <a:solidFill>
                            <a:srgbClr val="FF0000"/>
                          </a:solidFill>
                        </a:rPr>
                        <a:t>1</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5</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3386900393"/>
                  </a:ext>
                </a:extLst>
              </a:tr>
              <a:tr h="360000">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288744272"/>
                  </a:ext>
                </a:extLst>
              </a:tr>
              <a:tr h="360000">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4</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860802916"/>
                  </a:ext>
                </a:extLst>
              </a:tr>
              <a:tr h="360000">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775767866"/>
                  </a:ext>
                </a:extLst>
              </a:tr>
              <a:tr h="360000">
                <a:tc>
                  <a:txBody>
                    <a:bodyPr/>
                    <a:lstStyle/>
                    <a:p>
                      <a:pPr algn="ctr"/>
                      <a:r>
                        <a:rPr lang="en-GB" b="1" dirty="0">
                          <a:solidFill>
                            <a:srgbClr val="FF0000"/>
                          </a:solidFill>
                        </a:rPr>
                        <a:t>4</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4</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7</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4092754649"/>
                  </a:ext>
                </a:extLst>
              </a:tr>
              <a:tr h="360000">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3578972192"/>
                  </a:ext>
                </a:extLst>
              </a:tr>
              <a:tr h="360000">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467325683"/>
                  </a:ext>
                </a:extLst>
              </a:tr>
            </a:tbl>
          </a:graphicData>
        </a:graphic>
      </p:graphicFrame>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EAE59E-582C-0F4A-FA88-D19B0F3DEEA4}"/>
                  </a:ext>
                </a:extLst>
              </p:cNvPr>
              <p:cNvSpPr txBox="1"/>
              <p:nvPr/>
            </p:nvSpPr>
            <p:spPr>
              <a:xfrm>
                <a:off x="6469191" y="5097658"/>
                <a:ext cx="2485292" cy="523220"/>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GB" sz="2800" i="1" dirty="0" smtClean="0">
                          <a:latin typeface="Cambria Math" panose="02040503050406030204" pitchFamily="18" charset="0"/>
                        </a:rPr>
                        <m:t>𝑌</m:t>
                      </m:r>
                      <m:r>
                        <a:rPr lang="en-GB" sz="2800" i="1" dirty="0" smtClean="0">
                          <a:latin typeface="Cambria Math" panose="02040503050406030204" pitchFamily="18" charset="0"/>
                        </a:rPr>
                        <m:t> = </m:t>
                      </m:r>
                      <m:r>
                        <a:rPr lang="en-GB" sz="2800" i="1" dirty="0" smtClean="0">
                          <a:latin typeface="Cambria Math" panose="02040503050406030204" pitchFamily="18" charset="0"/>
                        </a:rPr>
                        <m:t>𝑓</m:t>
                      </m:r>
                      <m:r>
                        <a:rPr lang="en-GB" sz="2800" i="1" dirty="0" smtClean="0">
                          <a:latin typeface="Cambria Math" panose="02040503050406030204" pitchFamily="18" charset="0"/>
                        </a:rPr>
                        <m:t>(</m:t>
                      </m:r>
                      <m:r>
                        <a:rPr lang="en-GB" sz="2800" i="1" dirty="0" smtClean="0">
                          <a:latin typeface="Cambria Math" panose="02040503050406030204" pitchFamily="18" charset="0"/>
                        </a:rPr>
                        <m:t>𝑋</m:t>
                      </m:r>
                      <m:r>
                        <a:rPr lang="en-GB" sz="2800" i="1" dirty="0" smtClean="0">
                          <a:latin typeface="Cambria Math" panose="02040503050406030204" pitchFamily="18" charset="0"/>
                        </a:rPr>
                        <m:t>, </m:t>
                      </m:r>
                      <m:r>
                        <a:rPr lang="en-GB" sz="2800" i="1" dirty="0" smtClean="0">
                          <a:latin typeface="Cambria Math" panose="02040503050406030204" pitchFamily="18" charset="0"/>
                        </a:rPr>
                        <m:t>𝐾</m:t>
                      </m:r>
                      <m:r>
                        <a:rPr lang="en-GB" sz="2800" i="1" dirty="0" smtClean="0">
                          <a:latin typeface="Cambria Math" panose="02040503050406030204" pitchFamily="18" charset="0"/>
                        </a:rPr>
                        <m:t>)</m:t>
                      </m:r>
                    </m:oMath>
                  </m:oMathPara>
                </a14:m>
                <a:endParaRPr lang="en-SG" sz="2800" dirty="0"/>
              </a:p>
            </p:txBody>
          </p:sp>
        </mc:Choice>
        <mc:Fallback xmlns="">
          <p:sp>
            <p:nvSpPr>
              <p:cNvPr id="12" name="TextBox 11">
                <a:extLst>
                  <a:ext uri="{FF2B5EF4-FFF2-40B4-BE49-F238E27FC236}">
                    <a16:creationId xmlns:a16="http://schemas.microsoft.com/office/drawing/2014/main" id="{75EAE59E-582C-0F4A-FA88-D19B0F3DEEA4}"/>
                  </a:ext>
                </a:extLst>
              </p:cNvPr>
              <p:cNvSpPr txBox="1">
                <a:spLocks noRot="1" noChangeAspect="1" noMove="1" noResize="1" noEditPoints="1" noAdjustHandles="1" noChangeArrowheads="1" noChangeShapeType="1" noTextEdit="1"/>
              </p:cNvSpPr>
              <p:nvPr/>
            </p:nvSpPr>
            <p:spPr>
              <a:xfrm>
                <a:off x="6469191" y="5097658"/>
                <a:ext cx="2485292" cy="523220"/>
              </a:xfrm>
              <a:prstGeom prst="rect">
                <a:avLst/>
              </a:prstGeom>
              <a:blipFill>
                <a:blip r:embed="rId5"/>
                <a:stretch>
                  <a:fillRect/>
                </a:stretch>
              </a:blipFill>
            </p:spPr>
            <p:txBody>
              <a:bodyPr/>
              <a:lstStyle/>
              <a:p>
                <a:r>
                  <a:rPr lang="en-SG">
                    <a:noFill/>
                  </a:rPr>
                  <a:t> </a:t>
                </a:r>
              </a:p>
            </p:txBody>
          </p:sp>
        </mc:Fallback>
      </mc:AlternateContent>
      <p:cxnSp>
        <p:nvCxnSpPr>
          <p:cNvPr id="13" name="Straight Arrow Connector 12">
            <a:extLst>
              <a:ext uri="{FF2B5EF4-FFF2-40B4-BE49-F238E27FC236}">
                <a16:creationId xmlns:a16="http://schemas.microsoft.com/office/drawing/2014/main" id="{6AF86042-EA5D-5C38-9DDF-963CCA802465}"/>
              </a:ext>
            </a:extLst>
          </p:cNvPr>
          <p:cNvCxnSpPr>
            <a:cxnSpLocks/>
          </p:cNvCxnSpPr>
          <p:nvPr/>
        </p:nvCxnSpPr>
        <p:spPr>
          <a:xfrm>
            <a:off x="6096000" y="4338003"/>
            <a:ext cx="2797908" cy="0"/>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Content Placeholder 14">
                <a:extLst>
                  <a:ext uri="{FF2B5EF4-FFF2-40B4-BE49-F238E27FC236}">
                    <a16:creationId xmlns:a16="http://schemas.microsoft.com/office/drawing/2014/main" id="{57AD35A6-31E7-AA73-88BF-29D96D8ED8EC}"/>
                  </a:ext>
                </a:extLst>
              </p:cNvPr>
              <p:cNvSpPr>
                <a:spLocks noGrp="1"/>
              </p:cNvSpPr>
              <p:nvPr>
                <p:ph idx="1"/>
              </p:nvPr>
            </p:nvSpPr>
            <p:spPr>
              <a:xfrm>
                <a:off x="838200" y="1825625"/>
                <a:ext cx="10515600" cy="4351338"/>
              </a:xfrm>
            </p:spPr>
            <p:txBody>
              <a:bodyPr/>
              <a:lstStyle/>
              <a:p>
                <a:pPr marL="0" indent="0">
                  <a:buNone/>
                </a:pPr>
                <a:r>
                  <a:rPr lang="en-GB" dirty="0"/>
                  <a:t>Below, we demonstrate </a:t>
                </a:r>
                <a:r>
                  <a:rPr lang="en-GB" b="1" dirty="0"/>
                  <a:t>what a dilation of size </a:t>
                </a:r>
                <a14:m>
                  <m:oMath xmlns:m="http://schemas.openxmlformats.org/officeDocument/2006/math">
                    <m:r>
                      <a:rPr lang="en-GB" b="1" i="1" dirty="0" smtClean="0">
                        <a:latin typeface="Cambria Math" panose="02040503050406030204" pitchFamily="18" charset="0"/>
                      </a:rPr>
                      <m:t>𝒅</m:t>
                    </m:r>
                    <m:r>
                      <a:rPr lang="en-GB" b="1" i="1" dirty="0" smtClean="0">
                        <a:latin typeface="Cambria Math" panose="02040503050406030204" pitchFamily="18" charset="0"/>
                      </a:rPr>
                      <m:t> = </m:t>
                    </m:r>
                    <m:r>
                      <a:rPr lang="en-GB" b="1" i="1" dirty="0" smtClean="0">
                        <a:latin typeface="Cambria Math" panose="02040503050406030204" pitchFamily="18" charset="0"/>
                      </a:rPr>
                      <m:t>𝟐</m:t>
                    </m:r>
                    <m:r>
                      <a:rPr lang="en-GB" b="1" i="1" dirty="0" smtClean="0">
                        <a:latin typeface="Cambria Math" panose="02040503050406030204" pitchFamily="18" charset="0"/>
                      </a:rPr>
                      <m:t> </m:t>
                    </m:r>
                  </m:oMath>
                </a14:m>
                <a:r>
                  <a:rPr lang="en-GB" b="1" dirty="0"/>
                  <a:t>does</a:t>
                </a:r>
                <a:r>
                  <a:rPr lang="en-GB" dirty="0"/>
                  <a:t>.</a:t>
                </a:r>
                <a:br>
                  <a:rPr lang="en-GB" dirty="0"/>
                </a:br>
                <a:r>
                  <a:rPr lang="en-GB" dirty="0"/>
                  <a:t>Our convolution uses a stride with default value set to 1, padding is also set to its default value 0. Elements being computed together at then “2 steps away” from each other.</a:t>
                </a:r>
              </a:p>
            </p:txBody>
          </p:sp>
        </mc:Choice>
        <mc:Fallback xmlns="">
          <p:sp>
            <p:nvSpPr>
              <p:cNvPr id="3" name="Content Placeholder 14">
                <a:extLst>
                  <a:ext uri="{FF2B5EF4-FFF2-40B4-BE49-F238E27FC236}">
                    <a16:creationId xmlns:a16="http://schemas.microsoft.com/office/drawing/2014/main" id="{57AD35A6-31E7-AA73-88BF-29D96D8ED8EC}"/>
                  </a:ext>
                </a:extLst>
              </p:cNvPr>
              <p:cNvSpPr>
                <a:spLocks noGrp="1" noRot="1" noChangeAspect="1" noMove="1" noResize="1" noEditPoints="1" noAdjustHandles="1" noChangeArrowheads="1" noChangeShapeType="1" noTextEdit="1"/>
              </p:cNvSpPr>
              <p:nvPr>
                <p:ph idx="1"/>
              </p:nvPr>
            </p:nvSpPr>
            <p:spPr>
              <a:xfrm>
                <a:off x="838200" y="1825625"/>
                <a:ext cx="10515600" cy="4351338"/>
              </a:xfrm>
              <a:blipFill>
                <a:blip r:embed="rId6"/>
                <a:stretch>
                  <a:fillRect l="-1217" t="-2241"/>
                </a:stretch>
              </a:blipFill>
            </p:spPr>
            <p:txBody>
              <a:bodyPr/>
              <a:lstStyle/>
              <a:p>
                <a:r>
                  <a:rPr lang="en-GB">
                    <a:noFill/>
                  </a:rPr>
                  <a:t> </a:t>
                </a:r>
              </a:p>
            </p:txBody>
          </p:sp>
        </mc:Fallback>
      </mc:AlternateContent>
      <p:graphicFrame>
        <p:nvGraphicFramePr>
          <p:cNvPr id="4" name="Table 3">
            <a:extLst>
              <a:ext uri="{FF2B5EF4-FFF2-40B4-BE49-F238E27FC236}">
                <a16:creationId xmlns:a16="http://schemas.microsoft.com/office/drawing/2014/main" id="{1B8FFA17-ED6F-473D-E11B-F9438F329443}"/>
              </a:ext>
            </a:extLst>
          </p:cNvPr>
          <p:cNvGraphicFramePr>
            <a:graphicFrameLocks noGrp="1"/>
          </p:cNvGraphicFramePr>
          <p:nvPr>
            <p:extLst>
              <p:ext uri="{D42A27DB-BD31-4B8C-83A1-F6EECF244321}">
                <p14:modId xmlns:p14="http://schemas.microsoft.com/office/powerpoint/2010/main" val="2511733219"/>
              </p:ext>
            </p:extLst>
          </p:nvPr>
        </p:nvGraphicFramePr>
        <p:xfrm>
          <a:off x="9459060" y="3820807"/>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r>
                        <a:rPr lang="en-GB" b="1" dirty="0">
                          <a:solidFill>
                            <a:srgbClr val="FF0000"/>
                          </a:solidFill>
                        </a:rPr>
                        <a:t>…</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p:spTree>
    <p:extLst>
      <p:ext uri="{BB962C8B-B14F-4D97-AF65-F5344CB8AC3E}">
        <p14:creationId xmlns:p14="http://schemas.microsoft.com/office/powerpoint/2010/main" val="40127823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B7672-0320-7CBC-593E-0A204ADAD849}"/>
              </a:ext>
            </a:extLst>
          </p:cNvPr>
          <p:cNvSpPr>
            <a:spLocks noGrp="1"/>
          </p:cNvSpPr>
          <p:nvPr>
            <p:ph type="title"/>
          </p:nvPr>
        </p:nvSpPr>
        <p:spPr/>
        <p:txBody>
          <a:bodyPr/>
          <a:lstStyle/>
          <a:p>
            <a:r>
              <a:rPr lang="en-GB" dirty="0"/>
              <a:t>The (final) magic formula for convolution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586F4A0-31BD-25C3-7687-B096DA8695AD}"/>
                  </a:ext>
                </a:extLst>
              </p:cNvPr>
              <p:cNvSpPr>
                <a:spLocks noGrp="1"/>
              </p:cNvSpPr>
              <p:nvPr>
                <p:ph sz="half" idx="1"/>
              </p:nvPr>
            </p:nvSpPr>
            <p:spPr>
              <a:xfrm>
                <a:off x="838200" y="1825624"/>
                <a:ext cx="5181600" cy="5032375"/>
              </a:xfrm>
            </p:spPr>
            <p:txBody>
              <a:bodyPr>
                <a:normAutofit/>
              </a:bodyPr>
              <a:lstStyle/>
              <a:p>
                <a:pPr marL="0" indent="0">
                  <a:buNone/>
                </a:pPr>
                <a:r>
                  <a:rPr lang="en-GB" b="1" dirty="0"/>
                  <a:t>Magic formula for convolution version 2.0: </a:t>
                </a:r>
                <a:r>
                  <a:rPr lang="en-GB" dirty="0"/>
                  <a:t>let us consider</a:t>
                </a:r>
              </a:p>
              <a:p>
                <a:r>
                  <a:rPr lang="en-GB" dirty="0"/>
                  <a:t>An input image, defined as a 3D tensor </a:t>
                </a:r>
                <a14:m>
                  <m:oMath xmlns:m="http://schemas.openxmlformats.org/officeDocument/2006/math">
                    <m:r>
                      <a:rPr lang="en-GB" b="0" i="1" smtClean="0">
                        <a:latin typeface="Cambria Math" panose="02040503050406030204" pitchFamily="18" charset="0"/>
                      </a:rPr>
                      <m:t>𝑋</m:t>
                    </m:r>
                  </m:oMath>
                </a14:m>
                <a:r>
                  <a:rPr lang="en-GB" dirty="0"/>
                  <a:t> of size </a:t>
                </a:r>
                <a14:m>
                  <m:oMath xmlns:m="http://schemas.openxmlformats.org/officeDocument/2006/math">
                    <m:r>
                      <a:rPr lang="en-GB" b="0" i="1" smtClean="0">
                        <a:latin typeface="Cambria Math" panose="02040503050406030204" pitchFamily="18" charset="0"/>
                      </a:rPr>
                      <m:t>h</m:t>
                    </m:r>
                    <m:r>
                      <a:rPr lang="en-GB" b="0" i="1" smtClean="0">
                        <a:latin typeface="Cambria Math" panose="02040503050406030204" pitchFamily="18" charset="0"/>
                      </a:rPr>
                      <m:t>×</m:t>
                    </m:r>
                    <m:r>
                      <a:rPr lang="en-GB" b="0" i="1" smtClean="0">
                        <a:latin typeface="Cambria Math" panose="02040503050406030204" pitchFamily="18" charset="0"/>
                      </a:rPr>
                      <m:t>𝑤</m:t>
                    </m:r>
                    <m:r>
                      <a:rPr lang="en-GB" b="0" i="1" smtClean="0">
                        <a:latin typeface="Cambria Math" panose="02040503050406030204" pitchFamily="18" charset="0"/>
                      </a:rPr>
                      <m:t>×</m:t>
                    </m:r>
                    <m:r>
                      <a:rPr lang="en-GB" b="0" i="1" smtClean="0">
                        <a:latin typeface="Cambria Math" panose="02040503050406030204" pitchFamily="18" charset="0"/>
                      </a:rPr>
                      <m:t>𝑐</m:t>
                    </m:r>
                  </m:oMath>
                </a14:m>
                <a:r>
                  <a:rPr lang="en-GB" dirty="0"/>
                  <a:t>, with </a:t>
                </a:r>
                <a14:m>
                  <m:oMath xmlns:m="http://schemas.openxmlformats.org/officeDocument/2006/math">
                    <m:r>
                      <a:rPr lang="en-GB" i="1" dirty="0" smtClean="0">
                        <a:latin typeface="Cambria Math" panose="02040503050406030204" pitchFamily="18" charset="0"/>
                      </a:rPr>
                      <m:t>h</m:t>
                    </m:r>
                  </m:oMath>
                </a14:m>
                <a:r>
                  <a:rPr lang="en-GB" dirty="0"/>
                  <a:t> the height, </a:t>
                </a:r>
                <a14:m>
                  <m:oMath xmlns:m="http://schemas.openxmlformats.org/officeDocument/2006/math">
                    <m:r>
                      <a:rPr lang="en-GB" i="1" dirty="0" smtClean="0">
                        <a:latin typeface="Cambria Math" panose="02040503050406030204" pitchFamily="18" charset="0"/>
                      </a:rPr>
                      <m:t>𝑤</m:t>
                    </m:r>
                  </m:oMath>
                </a14:m>
                <a:r>
                  <a:rPr lang="en-GB" dirty="0"/>
                  <a:t> the weight and </a:t>
                </a:r>
                <a14:m>
                  <m:oMath xmlns:m="http://schemas.openxmlformats.org/officeDocument/2006/math">
                    <m:r>
                      <a:rPr lang="en-GB" i="1" dirty="0" smtClean="0">
                        <a:latin typeface="Cambria Math" panose="02040503050406030204" pitchFamily="18" charset="0"/>
                      </a:rPr>
                      <m:t>𝑐</m:t>
                    </m:r>
                  </m:oMath>
                </a14:m>
                <a:r>
                  <a:rPr lang="en-GB" dirty="0"/>
                  <a:t> the number of channels.</a:t>
                </a:r>
              </a:p>
              <a:p>
                <a:r>
                  <a:rPr lang="en-GB" dirty="0"/>
                  <a:t>A convolution kernel </a:t>
                </a:r>
                <a14:m>
                  <m:oMath xmlns:m="http://schemas.openxmlformats.org/officeDocument/2006/math">
                    <m:r>
                      <a:rPr lang="en-GB" b="0" i="1" smtClean="0">
                        <a:latin typeface="Cambria Math" panose="02040503050406030204" pitchFamily="18" charset="0"/>
                      </a:rPr>
                      <m:t>𝐾</m:t>
                    </m:r>
                  </m:oMath>
                </a14:m>
                <a:r>
                  <a:rPr lang="en-GB" dirty="0"/>
                  <a:t> of size </a:t>
                </a:r>
                <a14:m>
                  <m:oMath xmlns:m="http://schemas.openxmlformats.org/officeDocument/2006/math">
                    <m:r>
                      <a:rPr lang="en-GB" b="0" i="1" smtClean="0">
                        <a:latin typeface="Cambria Math" panose="02040503050406030204" pitchFamily="18" charset="0"/>
                      </a:rPr>
                      <m:t>𝑘</m:t>
                    </m:r>
                    <m:r>
                      <a:rPr lang="en-GB" b="0" i="1" smtClean="0">
                        <a:latin typeface="Cambria Math" panose="02040503050406030204" pitchFamily="18" charset="0"/>
                      </a:rPr>
                      <m:t>×</m:t>
                    </m:r>
                    <m:r>
                      <a:rPr lang="en-GB" b="0" i="1" smtClean="0">
                        <a:latin typeface="Cambria Math" panose="02040503050406030204" pitchFamily="18" charset="0"/>
                      </a:rPr>
                      <m:t>𝑘</m:t>
                    </m:r>
                  </m:oMath>
                </a14:m>
                <a:r>
                  <a:rPr lang="en-GB" dirty="0"/>
                  <a:t>.</a:t>
                </a:r>
              </a:p>
              <a:p>
                <a:r>
                  <a:rPr lang="en-GB" dirty="0"/>
                  <a:t>A padding of size </a:t>
                </a:r>
                <a14:m>
                  <m:oMath xmlns:m="http://schemas.openxmlformats.org/officeDocument/2006/math">
                    <m:r>
                      <a:rPr lang="en-GB" i="1" dirty="0" smtClean="0">
                        <a:latin typeface="Cambria Math" panose="02040503050406030204" pitchFamily="18" charset="0"/>
                      </a:rPr>
                      <m:t>𝑝</m:t>
                    </m:r>
                  </m:oMath>
                </a14:m>
                <a:r>
                  <a:rPr lang="en-GB" dirty="0"/>
                  <a:t>, a stride of size </a:t>
                </a:r>
                <a14:m>
                  <m:oMath xmlns:m="http://schemas.openxmlformats.org/officeDocument/2006/math">
                    <m:r>
                      <a:rPr lang="en-GB" i="1" dirty="0" smtClean="0">
                        <a:latin typeface="Cambria Math" panose="02040503050406030204" pitchFamily="18" charset="0"/>
                      </a:rPr>
                      <m:t>𝑠</m:t>
                    </m:r>
                  </m:oMath>
                </a14:m>
                <a:r>
                  <a:rPr lang="en-GB" dirty="0"/>
                  <a:t>, and a dilation of size </a:t>
                </a:r>
                <a14:m>
                  <m:oMath xmlns:m="http://schemas.openxmlformats.org/officeDocument/2006/math">
                    <m:r>
                      <a:rPr lang="en-GB" i="1" dirty="0" smtClean="0">
                        <a:latin typeface="Cambria Math" panose="02040503050406030204" pitchFamily="18" charset="0"/>
                      </a:rPr>
                      <m:t>𝑑</m:t>
                    </m:r>
                  </m:oMath>
                </a14:m>
                <a:r>
                  <a:rPr lang="en-GB" dirty="0"/>
                  <a:t>.</a:t>
                </a:r>
              </a:p>
              <a:p>
                <a:pPr marL="0" indent="0">
                  <a:buNone/>
                </a:pPr>
                <a:endParaRPr lang="en-GB" dirty="0"/>
              </a:p>
              <a:p>
                <a:pPr marL="0" indent="0">
                  <a:buNone/>
                </a:pPr>
                <a:endParaRPr lang="en-SG" dirty="0"/>
              </a:p>
            </p:txBody>
          </p:sp>
        </mc:Choice>
        <mc:Fallback xmlns="">
          <p:sp>
            <p:nvSpPr>
              <p:cNvPr id="3" name="Content Placeholder 2">
                <a:extLst>
                  <a:ext uri="{FF2B5EF4-FFF2-40B4-BE49-F238E27FC236}">
                    <a16:creationId xmlns:a16="http://schemas.microsoft.com/office/drawing/2014/main" id="{5586F4A0-31BD-25C3-7687-B096DA8695AD}"/>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70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C4B6875B-58E7-6C60-4459-8077EA91B7F8}"/>
                  </a:ext>
                </a:extLst>
              </p:cNvPr>
              <p:cNvSpPr>
                <a:spLocks noGrp="1"/>
              </p:cNvSpPr>
              <p:nvPr>
                <p:ph sz="half" idx="2"/>
              </p:nvPr>
            </p:nvSpPr>
            <p:spPr>
              <a:xfrm>
                <a:off x="6172199" y="1825624"/>
                <a:ext cx="5808785" cy="5032375"/>
              </a:xfrm>
            </p:spPr>
            <p:txBody>
              <a:bodyPr>
                <a:normAutofit/>
              </a:bodyPr>
              <a:lstStyle/>
              <a:p>
                <a:pPr marL="0" indent="0">
                  <a:buNone/>
                </a:pPr>
                <a:r>
                  <a:rPr lang="en-GB" dirty="0"/>
                  <a:t>The resulting image </a:t>
                </a:r>
                <a14:m>
                  <m:oMath xmlns:m="http://schemas.openxmlformats.org/officeDocument/2006/math">
                    <m:r>
                      <a:rPr lang="en-GB" i="1" dirty="0" smtClean="0">
                        <a:latin typeface="Cambria Math" panose="02040503050406030204" pitchFamily="18" charset="0"/>
                      </a:rPr>
                      <m:t>𝑌</m:t>
                    </m:r>
                  </m:oMath>
                </a14:m>
                <a:r>
                  <a:rPr lang="en-GB" dirty="0"/>
                  <a:t> will have a size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h</m:t>
                        </m:r>
                      </m:e>
                      <m:sup>
                        <m:r>
                          <a:rPr lang="en-GB" b="0" i="1" smtClean="0">
                            <a:latin typeface="Cambria Math" panose="02040503050406030204" pitchFamily="18" charset="0"/>
                          </a:rPr>
                          <m:t>′</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𝑤</m:t>
                        </m:r>
                      </m:e>
                      <m:sup>
                        <m:r>
                          <a:rPr lang="en-GB" b="0" i="1" smtClean="0">
                            <a:latin typeface="Cambria Math" panose="02040503050406030204" pitchFamily="18" charset="0"/>
                          </a:rPr>
                          <m:t>′</m:t>
                        </m:r>
                      </m:sup>
                    </m:sSup>
                    <m:r>
                      <a:rPr lang="en-GB" b="0" i="1" smtClean="0">
                        <a:latin typeface="Cambria Math" panose="02040503050406030204" pitchFamily="18" charset="0"/>
                      </a:rPr>
                      <m:t>×</m:t>
                    </m:r>
                    <m:r>
                      <a:rPr lang="en-GB" b="0" i="1" smtClean="0">
                        <a:latin typeface="Cambria Math" panose="02040503050406030204" pitchFamily="18" charset="0"/>
                      </a:rPr>
                      <m:t>𝑐</m:t>
                    </m:r>
                  </m:oMath>
                </a14:m>
                <a:r>
                  <a:rPr lang="en-GB" dirty="0"/>
                  <a:t>, with:</a:t>
                </a:r>
                <a:br>
                  <a:rPr lang="en-GB" dirty="0"/>
                </a:br>
                <a:endParaRPr lang="en-GB" dirty="0"/>
              </a:p>
              <a:p>
                <a:pPr marL="0" indent="0">
                  <a:buNone/>
                </a:pPr>
                <a14:m>
                  <m:oMathPara xmlns:m="http://schemas.openxmlformats.org/officeDocument/2006/math">
                    <m:oMathParaPr>
                      <m:jc m:val="centerGroup"/>
                    </m:oMathParaPr>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h</m:t>
                          </m:r>
                        </m:e>
                        <m:sup>
                          <m:r>
                            <a:rPr lang="en-GB" b="0" i="1" smtClean="0">
                              <a:latin typeface="Cambria Math" panose="02040503050406030204" pitchFamily="18" charset="0"/>
                            </a:rPr>
                            <m:t>′</m:t>
                          </m:r>
                        </m:sup>
                      </m:sSup>
                      <m:r>
                        <a:rPr lang="en-GB" b="0" i="1" smtClean="0">
                          <a:latin typeface="Cambria Math" panose="02040503050406030204" pitchFamily="18" charset="0"/>
                        </a:rPr>
                        <m:t>=</m:t>
                      </m:r>
                      <m:d>
                        <m:dPr>
                          <m:begChr m:val="⌊"/>
                          <m:endChr m:val="⌋"/>
                          <m:ctrlPr>
                            <a:rPr lang="en-GB" b="0" i="1" smtClean="0">
                              <a:latin typeface="Cambria Math" panose="02040503050406030204" pitchFamily="18" charset="0"/>
                            </a:rPr>
                          </m:ctrlPr>
                        </m:dPr>
                        <m:e>
                          <m:f>
                            <m:fPr>
                              <m:ctrlPr>
                                <a:rPr lang="en-GB" i="1">
                                  <a:latin typeface="Cambria Math" panose="02040503050406030204" pitchFamily="18" charset="0"/>
                                </a:rPr>
                              </m:ctrlPr>
                            </m:fPr>
                            <m:num>
                              <m:r>
                                <a:rPr lang="en-GB" i="1">
                                  <a:latin typeface="Cambria Math" panose="02040503050406030204" pitchFamily="18" charset="0"/>
                                </a:rPr>
                                <m:t>h</m:t>
                              </m:r>
                              <m:r>
                                <a:rPr lang="en-GB" i="1">
                                  <a:latin typeface="Cambria Math" panose="02040503050406030204" pitchFamily="18" charset="0"/>
                                </a:rPr>
                                <m:t>+2</m:t>
                              </m:r>
                              <m:r>
                                <a:rPr lang="en-GB" i="1">
                                  <a:latin typeface="Cambria Math" panose="02040503050406030204" pitchFamily="18" charset="0"/>
                                </a:rPr>
                                <m:t>𝑝</m:t>
                              </m:r>
                              <m:r>
                                <a:rPr lang="en-GB" i="1">
                                  <a:latin typeface="Cambria Math" panose="02040503050406030204" pitchFamily="18" charset="0"/>
                                </a:rPr>
                                <m:t>−</m:t>
                              </m:r>
                              <m:r>
                                <a:rPr lang="en-GB" i="1">
                                  <a:latin typeface="Cambria Math" panose="02040503050406030204" pitchFamily="18" charset="0"/>
                                </a:rPr>
                                <m:t>𝑑</m:t>
                              </m:r>
                              <m:d>
                                <m:dPr>
                                  <m:ctrlPr>
                                    <a:rPr lang="en-GB" i="1">
                                      <a:latin typeface="Cambria Math" panose="02040503050406030204" pitchFamily="18" charset="0"/>
                                    </a:rPr>
                                  </m:ctrlPr>
                                </m:dPr>
                                <m:e>
                                  <m:r>
                                    <a:rPr lang="en-GB" i="1">
                                      <a:latin typeface="Cambria Math" panose="02040503050406030204" pitchFamily="18" charset="0"/>
                                    </a:rPr>
                                    <m:t>𝑘</m:t>
                                  </m:r>
                                  <m:r>
                                    <a:rPr lang="en-GB" i="1">
                                      <a:latin typeface="Cambria Math" panose="02040503050406030204" pitchFamily="18" charset="0"/>
                                    </a:rPr>
                                    <m:t>−1</m:t>
                                  </m:r>
                                </m:e>
                              </m:d>
                              <m:r>
                                <a:rPr lang="en-GB" i="1">
                                  <a:latin typeface="Cambria Math" panose="02040503050406030204" pitchFamily="18" charset="0"/>
                                </a:rPr>
                                <m:t>−1</m:t>
                              </m:r>
                            </m:num>
                            <m:den>
                              <m:r>
                                <a:rPr lang="en-GB" i="1">
                                  <a:latin typeface="Cambria Math" panose="02040503050406030204" pitchFamily="18" charset="0"/>
                                </a:rPr>
                                <m:t>𝑠</m:t>
                              </m:r>
                            </m:den>
                          </m:f>
                          <m:r>
                            <a:rPr lang="en-GB">
                              <a:latin typeface="Cambria Math" panose="02040503050406030204" pitchFamily="18" charset="0"/>
                            </a:rPr>
                            <m:t>+1</m:t>
                          </m:r>
                        </m:e>
                      </m:d>
                    </m:oMath>
                  </m:oMathPara>
                </a14:m>
                <a:br>
                  <a:rPr lang="en-GB" dirty="0">
                    <a:latin typeface="Cambria Math" panose="02040503050406030204" pitchFamily="18" charset="0"/>
                  </a:rPr>
                </a:br>
                <a:endParaRPr lang="en-GB" b="0" i="1" dirty="0">
                  <a:latin typeface="Cambria Math" panose="02040503050406030204" pitchFamily="18" charset="0"/>
                </a:endParaRPr>
              </a:p>
              <a:p>
                <a:pPr marL="0" indent="0">
                  <a:buNone/>
                </a:pPr>
                <a:r>
                  <a:rPr lang="en-GB" b="0" dirty="0">
                    <a:latin typeface="Cambria Math" panose="02040503050406030204" pitchFamily="18" charset="0"/>
                  </a:rPr>
                  <a:t>And</a:t>
                </a:r>
                <a:br>
                  <a:rPr lang="en-GB" b="0" i="1" dirty="0">
                    <a:latin typeface="Cambria Math" panose="02040503050406030204" pitchFamily="18" charset="0"/>
                  </a:rPr>
                </a:br>
                <a14:m>
                  <m:oMathPara xmlns:m="http://schemas.openxmlformats.org/officeDocument/2006/math">
                    <m:oMathParaPr>
                      <m:jc m:val="centerGroup"/>
                    </m:oMathParaPr>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𝑤</m:t>
                          </m:r>
                        </m:e>
                        <m:sup>
                          <m:r>
                            <a:rPr lang="en-GB" b="0" i="1" smtClean="0">
                              <a:latin typeface="Cambria Math" panose="02040503050406030204" pitchFamily="18" charset="0"/>
                            </a:rPr>
                            <m:t>′</m:t>
                          </m:r>
                        </m:sup>
                      </m:sSup>
                      <m:r>
                        <a:rPr lang="en-GB" b="0" i="1" smtClean="0">
                          <a:latin typeface="Cambria Math" panose="02040503050406030204" pitchFamily="18" charset="0"/>
                        </a:rPr>
                        <m:t>=</m:t>
                      </m:r>
                      <m:d>
                        <m:dPr>
                          <m:begChr m:val="⌊"/>
                          <m:endChr m:val="⌋"/>
                          <m:ctrlPr>
                            <a:rPr lang="en-GB" b="0" i="1" smtClean="0">
                              <a:latin typeface="Cambria Math" panose="02040503050406030204" pitchFamily="18" charset="0"/>
                            </a:rPr>
                          </m:ctrlPr>
                        </m:dPr>
                        <m:e>
                          <m:f>
                            <m:fPr>
                              <m:ctrlPr>
                                <a:rPr lang="en-GB" i="1">
                                  <a:latin typeface="Cambria Math" panose="02040503050406030204" pitchFamily="18" charset="0"/>
                                </a:rPr>
                              </m:ctrlPr>
                            </m:fPr>
                            <m:num>
                              <m:r>
                                <a:rPr lang="en-GB" i="1">
                                  <a:latin typeface="Cambria Math" panose="02040503050406030204" pitchFamily="18" charset="0"/>
                                </a:rPr>
                                <m:t>𝑤</m:t>
                              </m:r>
                              <m:r>
                                <a:rPr lang="en-GB" i="1">
                                  <a:latin typeface="Cambria Math" panose="02040503050406030204" pitchFamily="18" charset="0"/>
                                </a:rPr>
                                <m:t>+2</m:t>
                              </m:r>
                              <m:r>
                                <a:rPr lang="en-GB" i="1">
                                  <a:latin typeface="Cambria Math" panose="02040503050406030204" pitchFamily="18" charset="0"/>
                                </a:rPr>
                                <m:t>𝑝</m:t>
                              </m:r>
                              <m:r>
                                <a:rPr lang="en-GB" i="1">
                                  <a:latin typeface="Cambria Math" panose="02040503050406030204" pitchFamily="18" charset="0"/>
                                </a:rPr>
                                <m:t>−</m:t>
                              </m:r>
                              <m:r>
                                <a:rPr lang="en-GB" i="1">
                                  <a:latin typeface="Cambria Math" panose="02040503050406030204" pitchFamily="18" charset="0"/>
                                </a:rPr>
                                <m:t>𝑑</m:t>
                              </m:r>
                              <m:d>
                                <m:dPr>
                                  <m:ctrlPr>
                                    <a:rPr lang="en-GB" i="1">
                                      <a:latin typeface="Cambria Math" panose="02040503050406030204" pitchFamily="18" charset="0"/>
                                    </a:rPr>
                                  </m:ctrlPr>
                                </m:dPr>
                                <m:e>
                                  <m:r>
                                    <a:rPr lang="en-GB" i="1">
                                      <a:latin typeface="Cambria Math" panose="02040503050406030204" pitchFamily="18" charset="0"/>
                                    </a:rPr>
                                    <m:t>𝑘</m:t>
                                  </m:r>
                                  <m:r>
                                    <a:rPr lang="en-GB" i="1">
                                      <a:latin typeface="Cambria Math" panose="02040503050406030204" pitchFamily="18" charset="0"/>
                                    </a:rPr>
                                    <m:t>−1</m:t>
                                  </m:r>
                                </m:e>
                              </m:d>
                              <m:r>
                                <a:rPr lang="en-GB" i="1">
                                  <a:latin typeface="Cambria Math" panose="02040503050406030204" pitchFamily="18" charset="0"/>
                                </a:rPr>
                                <m:t>−1</m:t>
                              </m:r>
                            </m:num>
                            <m:den>
                              <m:r>
                                <a:rPr lang="en-GB" i="1">
                                  <a:latin typeface="Cambria Math" panose="02040503050406030204" pitchFamily="18" charset="0"/>
                                </a:rPr>
                                <m:t>𝑠</m:t>
                              </m:r>
                            </m:den>
                          </m:f>
                          <m:r>
                            <a:rPr lang="en-GB">
                              <a:latin typeface="Cambria Math" panose="02040503050406030204" pitchFamily="18" charset="0"/>
                            </a:rPr>
                            <m:t>+1</m:t>
                          </m:r>
                          <m:r>
                            <m:rPr>
                              <m:nor/>
                            </m:rPr>
                            <a:rPr lang="en-GB" dirty="0"/>
                            <m:t> </m:t>
                          </m:r>
                        </m:e>
                      </m:d>
                    </m:oMath>
                  </m:oMathPara>
                </a14:m>
                <a:endParaRPr lang="en-SG" dirty="0"/>
              </a:p>
              <a:p>
                <a:pPr marL="0" indent="0">
                  <a:buNone/>
                </a:pPr>
                <a:endParaRPr lang="en-SG" dirty="0"/>
              </a:p>
              <a:p>
                <a:pPr marL="0" indent="0">
                  <a:buNone/>
                </a:pPr>
                <a:r>
                  <a:rPr lang="en-SG" b="1" dirty="0"/>
                  <a:t>Note: </a:t>
                </a:r>
                <a:r>
                  <a:rPr lang="en-SG" dirty="0"/>
                  <a:t>the floor function </a:t>
                </a:r>
                <a14:m>
                  <m:oMath xmlns:m="http://schemas.openxmlformats.org/officeDocument/2006/math">
                    <m:d>
                      <m:dPr>
                        <m:begChr m:val="⌊"/>
                        <m:endChr m:val="⌋"/>
                        <m:ctrlPr>
                          <a:rPr lang="en-SG" i="1" smtClean="0">
                            <a:latin typeface="Cambria Math" panose="02040503050406030204" pitchFamily="18" charset="0"/>
                          </a:rPr>
                        </m:ctrlPr>
                      </m:dPr>
                      <m:e>
                        <m:r>
                          <a:rPr lang="en-GB" b="0" i="1" smtClean="0">
                            <a:latin typeface="Cambria Math" panose="02040503050406030204" pitchFamily="18" charset="0"/>
                          </a:rPr>
                          <m:t>…</m:t>
                        </m:r>
                      </m:e>
                    </m:d>
                  </m:oMath>
                </a14:m>
                <a:r>
                  <a:rPr lang="en-SG" dirty="0"/>
                  <a:t> is used in case the division result is an integer.</a:t>
                </a:r>
              </a:p>
            </p:txBody>
          </p:sp>
        </mc:Choice>
        <mc:Fallback xmlns="">
          <p:sp>
            <p:nvSpPr>
              <p:cNvPr id="4" name="Content Placeholder 3">
                <a:extLst>
                  <a:ext uri="{FF2B5EF4-FFF2-40B4-BE49-F238E27FC236}">
                    <a16:creationId xmlns:a16="http://schemas.microsoft.com/office/drawing/2014/main" id="{C4B6875B-58E7-6C60-4459-8077EA91B7F8}"/>
                  </a:ext>
                </a:extLst>
              </p:cNvPr>
              <p:cNvSpPr>
                <a:spLocks noGrp="1" noRot="1" noChangeAspect="1" noMove="1" noResize="1" noEditPoints="1" noAdjustHandles="1" noChangeArrowheads="1" noChangeShapeType="1" noTextEdit="1"/>
              </p:cNvSpPr>
              <p:nvPr>
                <p:ph sz="half" idx="2"/>
              </p:nvPr>
            </p:nvSpPr>
            <p:spPr>
              <a:xfrm>
                <a:off x="6172199" y="1825624"/>
                <a:ext cx="5808785" cy="5032375"/>
              </a:xfrm>
              <a:blipFill>
                <a:blip r:embed="rId3"/>
                <a:stretch>
                  <a:fillRect l="-2099" t="-1937" r="-1784" b="-121"/>
                </a:stretch>
              </a:blipFill>
            </p:spPr>
            <p:txBody>
              <a:bodyPr/>
              <a:lstStyle/>
              <a:p>
                <a:r>
                  <a:rPr lang="en-SG">
                    <a:noFill/>
                  </a:rPr>
                  <a:t> </a:t>
                </a:r>
              </a:p>
            </p:txBody>
          </p:sp>
        </mc:Fallback>
      </mc:AlternateContent>
    </p:spTree>
    <p:extLst>
      <p:ext uri="{BB962C8B-B14F-4D97-AF65-F5344CB8AC3E}">
        <p14:creationId xmlns:p14="http://schemas.microsoft.com/office/powerpoint/2010/main" val="8006680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E47DB-F37F-76C5-4521-3702447EA589}"/>
              </a:ext>
            </a:extLst>
          </p:cNvPr>
          <p:cNvSpPr>
            <a:spLocks noGrp="1"/>
          </p:cNvSpPr>
          <p:nvPr>
            <p:ph type="title"/>
          </p:nvPr>
        </p:nvSpPr>
        <p:spPr/>
        <p:txBody>
          <a:bodyPr/>
          <a:lstStyle/>
          <a:p>
            <a:r>
              <a:rPr lang="en-GB" dirty="0"/>
              <a:t>Implementing a custom Conv in </a:t>
            </a:r>
            <a:r>
              <a:rPr lang="en-GB" dirty="0" err="1"/>
              <a:t>PyTorch</a:t>
            </a:r>
            <a:br>
              <a:rPr lang="en-GB" dirty="0"/>
            </a:br>
            <a:r>
              <a:rPr lang="en-GB" dirty="0"/>
              <a:t>(with stride and padding, no dilation)</a:t>
            </a:r>
            <a:endParaRPr lang="en-SG" dirty="0"/>
          </a:p>
        </p:txBody>
      </p:sp>
      <p:pic>
        <p:nvPicPr>
          <p:cNvPr id="5" name="Picture 4">
            <a:extLst>
              <a:ext uri="{FF2B5EF4-FFF2-40B4-BE49-F238E27FC236}">
                <a16:creationId xmlns:a16="http://schemas.microsoft.com/office/drawing/2014/main" id="{F0079DF4-9ADD-055D-9315-6EE2E19D6DFD}"/>
              </a:ext>
            </a:extLst>
          </p:cNvPr>
          <p:cNvPicPr>
            <a:picLocks noChangeAspect="1"/>
          </p:cNvPicPr>
          <p:nvPr/>
        </p:nvPicPr>
        <p:blipFill>
          <a:blip r:embed="rId2"/>
          <a:stretch>
            <a:fillRect/>
          </a:stretch>
        </p:blipFill>
        <p:spPr>
          <a:xfrm>
            <a:off x="1285032" y="1725575"/>
            <a:ext cx="9621936" cy="5132425"/>
          </a:xfrm>
          <a:prstGeom prst="rect">
            <a:avLst/>
          </a:prstGeom>
        </p:spPr>
      </p:pic>
    </p:spTree>
    <p:extLst>
      <p:ext uri="{BB962C8B-B14F-4D97-AF65-F5344CB8AC3E}">
        <p14:creationId xmlns:p14="http://schemas.microsoft.com/office/powerpoint/2010/main" val="36795758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E47DB-F37F-76C5-4521-3702447EA589}"/>
              </a:ext>
            </a:extLst>
          </p:cNvPr>
          <p:cNvSpPr>
            <a:spLocks noGrp="1"/>
          </p:cNvSpPr>
          <p:nvPr>
            <p:ph type="title"/>
          </p:nvPr>
        </p:nvSpPr>
        <p:spPr/>
        <p:txBody>
          <a:bodyPr/>
          <a:lstStyle/>
          <a:p>
            <a:r>
              <a:rPr lang="en-GB" dirty="0"/>
              <a:t>Implementing a custom Conv in </a:t>
            </a:r>
            <a:r>
              <a:rPr lang="en-GB" dirty="0" err="1"/>
              <a:t>PyTorch</a:t>
            </a:r>
            <a:br>
              <a:rPr lang="en-GB" dirty="0"/>
            </a:br>
            <a:r>
              <a:rPr lang="en-GB" dirty="0"/>
              <a:t>(with stride and padding, no dilation)</a:t>
            </a:r>
            <a:endParaRPr lang="en-SG" dirty="0"/>
          </a:p>
        </p:txBody>
      </p:sp>
      <p:sp>
        <p:nvSpPr>
          <p:cNvPr id="6" name="Content Placeholder 5">
            <a:extLst>
              <a:ext uri="{FF2B5EF4-FFF2-40B4-BE49-F238E27FC236}">
                <a16:creationId xmlns:a16="http://schemas.microsoft.com/office/drawing/2014/main" id="{AB0BFB5C-A7AC-E0B5-C929-3FDCA3E21790}"/>
              </a:ext>
            </a:extLst>
          </p:cNvPr>
          <p:cNvSpPr>
            <a:spLocks noGrp="1"/>
          </p:cNvSpPr>
          <p:nvPr>
            <p:ph idx="1"/>
          </p:nvPr>
        </p:nvSpPr>
        <p:spPr/>
        <p:txBody>
          <a:bodyPr/>
          <a:lstStyle/>
          <a:p>
            <a:pPr marL="0" indent="0">
              <a:buNone/>
            </a:pPr>
            <a:r>
              <a:rPr lang="en-GB" dirty="0"/>
              <a:t>The </a:t>
            </a:r>
            <a:r>
              <a:rPr lang="en-GB" dirty="0" err="1"/>
              <a:t>PyTorch</a:t>
            </a:r>
            <a:r>
              <a:rPr lang="en-GB" dirty="0"/>
              <a:t> and the </a:t>
            </a:r>
            <a:r>
              <a:rPr lang="en-GB" dirty="0" err="1"/>
              <a:t>Numpy</a:t>
            </a:r>
            <a:r>
              <a:rPr lang="en-GB" dirty="0"/>
              <a:t> implementations are indeed equivalent.</a:t>
            </a:r>
            <a:endParaRPr lang="en-SG" dirty="0"/>
          </a:p>
        </p:txBody>
      </p:sp>
      <p:pic>
        <p:nvPicPr>
          <p:cNvPr id="4" name="Picture 3">
            <a:extLst>
              <a:ext uri="{FF2B5EF4-FFF2-40B4-BE49-F238E27FC236}">
                <a16:creationId xmlns:a16="http://schemas.microsoft.com/office/drawing/2014/main" id="{9A25D395-51AA-2B42-F01D-F4913B67815D}"/>
              </a:ext>
            </a:extLst>
          </p:cNvPr>
          <p:cNvPicPr>
            <a:picLocks noChangeAspect="1"/>
          </p:cNvPicPr>
          <p:nvPr/>
        </p:nvPicPr>
        <p:blipFill>
          <a:blip r:embed="rId2"/>
          <a:stretch>
            <a:fillRect/>
          </a:stretch>
        </p:blipFill>
        <p:spPr>
          <a:xfrm>
            <a:off x="777488" y="2910975"/>
            <a:ext cx="10793331" cy="3581900"/>
          </a:xfrm>
          <a:prstGeom prst="rect">
            <a:avLst/>
          </a:prstGeom>
        </p:spPr>
      </p:pic>
    </p:spTree>
    <p:extLst>
      <p:ext uri="{BB962C8B-B14F-4D97-AF65-F5344CB8AC3E}">
        <p14:creationId xmlns:p14="http://schemas.microsoft.com/office/powerpoint/2010/main" val="24705897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FA293-6072-E72C-5191-73E93EBFD3E1}"/>
              </a:ext>
            </a:extLst>
          </p:cNvPr>
          <p:cNvSpPr>
            <a:spLocks noGrp="1"/>
          </p:cNvSpPr>
          <p:nvPr>
            <p:ph type="title"/>
          </p:nvPr>
        </p:nvSpPr>
        <p:spPr/>
        <p:txBody>
          <a:bodyPr/>
          <a:lstStyle/>
          <a:p>
            <a:r>
              <a:rPr lang="en-GB" dirty="0"/>
              <a:t>The Conv2d in </a:t>
            </a:r>
            <a:r>
              <a:rPr lang="en-GB" dirty="0" err="1"/>
              <a:t>PyTorch</a:t>
            </a:r>
            <a:endParaRPr lang="en-SG" dirty="0"/>
          </a:p>
        </p:txBody>
      </p:sp>
      <p:sp>
        <p:nvSpPr>
          <p:cNvPr id="3" name="Content Placeholder 2">
            <a:extLst>
              <a:ext uri="{FF2B5EF4-FFF2-40B4-BE49-F238E27FC236}">
                <a16:creationId xmlns:a16="http://schemas.microsoft.com/office/drawing/2014/main" id="{2175BBF9-2B9D-B6B6-5581-38942EDE386C}"/>
              </a:ext>
            </a:extLst>
          </p:cNvPr>
          <p:cNvSpPr>
            <a:spLocks noGrp="1"/>
          </p:cNvSpPr>
          <p:nvPr>
            <p:ph idx="1"/>
          </p:nvPr>
        </p:nvSpPr>
        <p:spPr>
          <a:xfrm>
            <a:off x="838200" y="1825625"/>
            <a:ext cx="3514969" cy="4351338"/>
          </a:xfrm>
        </p:spPr>
        <p:txBody>
          <a:bodyPr/>
          <a:lstStyle/>
          <a:p>
            <a:pPr marL="0" indent="0">
              <a:buNone/>
            </a:pPr>
            <a:endParaRPr lang="en-GB" dirty="0"/>
          </a:p>
          <a:p>
            <a:pPr marL="0" indent="0">
              <a:buNone/>
            </a:pPr>
            <a:r>
              <a:rPr lang="en-GB" dirty="0" err="1"/>
              <a:t>PyTorch</a:t>
            </a:r>
            <a:r>
              <a:rPr lang="en-GB" dirty="0"/>
              <a:t> has a Conv2d function implementing said convolution.</a:t>
            </a:r>
          </a:p>
          <a:p>
            <a:pPr marL="0" indent="0">
              <a:buNone/>
            </a:pPr>
            <a:endParaRPr lang="en-GB" dirty="0"/>
          </a:p>
          <a:p>
            <a:pPr marL="0" indent="0">
              <a:buNone/>
            </a:pPr>
            <a:r>
              <a:rPr lang="en-GB" dirty="0"/>
              <a:t>We will rely on it from now on.</a:t>
            </a:r>
            <a:endParaRPr lang="en-SG" dirty="0"/>
          </a:p>
        </p:txBody>
      </p:sp>
      <p:pic>
        <p:nvPicPr>
          <p:cNvPr id="5" name="Picture 4">
            <a:extLst>
              <a:ext uri="{FF2B5EF4-FFF2-40B4-BE49-F238E27FC236}">
                <a16:creationId xmlns:a16="http://schemas.microsoft.com/office/drawing/2014/main" id="{92C3BE2A-2E35-B344-E75F-303E430A6BF7}"/>
              </a:ext>
            </a:extLst>
          </p:cNvPr>
          <p:cNvPicPr>
            <a:picLocks noChangeAspect="1"/>
          </p:cNvPicPr>
          <p:nvPr/>
        </p:nvPicPr>
        <p:blipFill>
          <a:blip r:embed="rId2"/>
          <a:stretch>
            <a:fillRect/>
          </a:stretch>
        </p:blipFill>
        <p:spPr>
          <a:xfrm>
            <a:off x="4671146" y="1510934"/>
            <a:ext cx="7163800" cy="5172797"/>
          </a:xfrm>
          <a:prstGeom prst="rect">
            <a:avLst/>
          </a:prstGeom>
        </p:spPr>
      </p:pic>
      <p:sp>
        <p:nvSpPr>
          <p:cNvPr id="6" name="Rectangle 5">
            <a:extLst>
              <a:ext uri="{FF2B5EF4-FFF2-40B4-BE49-F238E27FC236}">
                <a16:creationId xmlns:a16="http://schemas.microsoft.com/office/drawing/2014/main" id="{A034C048-04F6-E33B-D1B6-11C4870DDC7C}"/>
              </a:ext>
            </a:extLst>
          </p:cNvPr>
          <p:cNvSpPr/>
          <p:nvPr/>
        </p:nvSpPr>
        <p:spPr>
          <a:xfrm>
            <a:off x="5431692" y="3556000"/>
            <a:ext cx="5048740" cy="1325563"/>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4141562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FA293-6072-E72C-5191-73E93EBFD3E1}"/>
              </a:ext>
            </a:extLst>
          </p:cNvPr>
          <p:cNvSpPr>
            <a:spLocks noGrp="1"/>
          </p:cNvSpPr>
          <p:nvPr>
            <p:ph type="title"/>
          </p:nvPr>
        </p:nvSpPr>
        <p:spPr/>
        <p:txBody>
          <a:bodyPr/>
          <a:lstStyle/>
          <a:p>
            <a:r>
              <a:rPr lang="en-GB" dirty="0"/>
              <a:t>The Conv2d in </a:t>
            </a:r>
            <a:r>
              <a:rPr lang="en-GB" dirty="0" err="1"/>
              <a:t>PyTorch</a:t>
            </a:r>
            <a:endParaRPr lang="en-SG" dirty="0"/>
          </a:p>
        </p:txBody>
      </p:sp>
      <p:sp>
        <p:nvSpPr>
          <p:cNvPr id="3" name="Content Placeholder 2">
            <a:extLst>
              <a:ext uri="{FF2B5EF4-FFF2-40B4-BE49-F238E27FC236}">
                <a16:creationId xmlns:a16="http://schemas.microsoft.com/office/drawing/2014/main" id="{2175BBF9-2B9D-B6B6-5581-38942EDE386C}"/>
              </a:ext>
            </a:extLst>
          </p:cNvPr>
          <p:cNvSpPr>
            <a:spLocks noGrp="1"/>
          </p:cNvSpPr>
          <p:nvPr>
            <p:ph idx="1"/>
          </p:nvPr>
        </p:nvSpPr>
        <p:spPr>
          <a:xfrm>
            <a:off x="838200" y="1825625"/>
            <a:ext cx="3514969" cy="4351338"/>
          </a:xfrm>
        </p:spPr>
        <p:txBody>
          <a:bodyPr/>
          <a:lstStyle/>
          <a:p>
            <a:pPr marL="0" indent="0">
              <a:buNone/>
            </a:pPr>
            <a:r>
              <a:rPr lang="en-GB" dirty="0"/>
              <a:t>Note, however that this layer has </a:t>
            </a:r>
            <a:r>
              <a:rPr lang="en-GB" b="1" dirty="0"/>
              <a:t>two</a:t>
            </a:r>
            <a:r>
              <a:rPr lang="en-GB" dirty="0"/>
              <a:t> </a:t>
            </a:r>
            <a:r>
              <a:rPr lang="en-GB" b="1" dirty="0"/>
              <a:t>trainable</a:t>
            </a:r>
            <a:r>
              <a:rPr lang="en-GB" dirty="0"/>
              <a:t> </a:t>
            </a:r>
            <a:r>
              <a:rPr lang="en-GB" b="1" dirty="0"/>
              <a:t>parameters</a:t>
            </a:r>
            <a:r>
              <a:rPr lang="en-GB" dirty="0"/>
              <a:t>:</a:t>
            </a:r>
          </a:p>
          <a:p>
            <a:r>
              <a:rPr lang="en-GB" b="1" dirty="0"/>
              <a:t>Weight</a:t>
            </a:r>
            <a:r>
              <a:rPr lang="en-GB" dirty="0"/>
              <a:t> (which is our kernel, whose values will be decided later during training).</a:t>
            </a:r>
          </a:p>
          <a:p>
            <a:r>
              <a:rPr lang="en-GB" b="1" dirty="0"/>
              <a:t>Bias</a:t>
            </a:r>
            <a:r>
              <a:rPr lang="en-GB" dirty="0"/>
              <a:t> (which was not there before?)</a:t>
            </a:r>
            <a:endParaRPr lang="en-SG" dirty="0"/>
          </a:p>
        </p:txBody>
      </p:sp>
      <p:pic>
        <p:nvPicPr>
          <p:cNvPr id="5" name="Picture 4">
            <a:extLst>
              <a:ext uri="{FF2B5EF4-FFF2-40B4-BE49-F238E27FC236}">
                <a16:creationId xmlns:a16="http://schemas.microsoft.com/office/drawing/2014/main" id="{92C3BE2A-2E35-B344-E75F-303E430A6BF7}"/>
              </a:ext>
            </a:extLst>
          </p:cNvPr>
          <p:cNvPicPr>
            <a:picLocks noChangeAspect="1"/>
          </p:cNvPicPr>
          <p:nvPr/>
        </p:nvPicPr>
        <p:blipFill>
          <a:blip r:embed="rId2"/>
          <a:stretch>
            <a:fillRect/>
          </a:stretch>
        </p:blipFill>
        <p:spPr>
          <a:xfrm>
            <a:off x="4671146" y="1510934"/>
            <a:ext cx="7163800" cy="5172797"/>
          </a:xfrm>
          <a:prstGeom prst="rect">
            <a:avLst/>
          </a:prstGeom>
        </p:spPr>
      </p:pic>
      <p:sp>
        <p:nvSpPr>
          <p:cNvPr id="4" name="Rectangle 3">
            <a:extLst>
              <a:ext uri="{FF2B5EF4-FFF2-40B4-BE49-F238E27FC236}">
                <a16:creationId xmlns:a16="http://schemas.microsoft.com/office/drawing/2014/main" id="{00B38CB5-45AC-45E1-AA60-51397435DBDA}"/>
              </a:ext>
            </a:extLst>
          </p:cNvPr>
          <p:cNvSpPr/>
          <p:nvPr/>
        </p:nvSpPr>
        <p:spPr>
          <a:xfrm flipV="1">
            <a:off x="5431692" y="4881563"/>
            <a:ext cx="5048740" cy="745514"/>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7252132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FA293-6072-E72C-5191-73E93EBFD3E1}"/>
              </a:ext>
            </a:extLst>
          </p:cNvPr>
          <p:cNvSpPr>
            <a:spLocks noGrp="1"/>
          </p:cNvSpPr>
          <p:nvPr>
            <p:ph type="title"/>
          </p:nvPr>
        </p:nvSpPr>
        <p:spPr/>
        <p:txBody>
          <a:bodyPr/>
          <a:lstStyle/>
          <a:p>
            <a:r>
              <a:rPr lang="en-GB" dirty="0"/>
              <a:t>The Conv2d in </a:t>
            </a:r>
            <a:r>
              <a:rPr lang="en-GB" dirty="0" err="1"/>
              <a:t>PyTorch</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175BBF9-2B9D-B6B6-5581-38942EDE386C}"/>
                  </a:ext>
                </a:extLst>
              </p:cNvPr>
              <p:cNvSpPr>
                <a:spLocks noGrp="1"/>
              </p:cNvSpPr>
              <p:nvPr>
                <p:ph idx="1"/>
              </p:nvPr>
            </p:nvSpPr>
            <p:spPr>
              <a:xfrm>
                <a:off x="838200" y="1825624"/>
                <a:ext cx="10515600" cy="5032375"/>
              </a:xfrm>
            </p:spPr>
            <p:txBody>
              <a:bodyPr>
                <a:normAutofit/>
              </a:bodyPr>
              <a:lstStyle/>
              <a:p>
                <a:pPr marL="0" indent="0">
                  <a:buNone/>
                </a:pPr>
                <a:r>
                  <a:rPr lang="en-GB" dirty="0"/>
                  <a:t>Note, however that this layer has </a:t>
                </a:r>
                <a:r>
                  <a:rPr lang="en-GB" b="1" dirty="0"/>
                  <a:t>two</a:t>
                </a:r>
                <a:r>
                  <a:rPr lang="en-GB" dirty="0"/>
                  <a:t> </a:t>
                </a:r>
                <a:r>
                  <a:rPr lang="en-GB" b="1" dirty="0"/>
                  <a:t>trainable</a:t>
                </a:r>
                <a:r>
                  <a:rPr lang="en-GB" dirty="0"/>
                  <a:t> </a:t>
                </a:r>
                <a:r>
                  <a:rPr lang="en-GB" b="1" dirty="0"/>
                  <a:t>parameters</a:t>
                </a:r>
                <a:r>
                  <a:rPr lang="en-GB" dirty="0"/>
                  <a:t>:</a:t>
                </a:r>
              </a:p>
              <a:p>
                <a:r>
                  <a:rPr lang="en-GB" b="1" dirty="0"/>
                  <a:t>Weight</a:t>
                </a:r>
                <a:r>
                  <a:rPr lang="en-GB" dirty="0"/>
                  <a:t> (which is our kernel, whose values will be decided later during training).</a:t>
                </a:r>
              </a:p>
              <a:p>
                <a:r>
                  <a:rPr lang="en-GB" b="1" dirty="0">
                    <a:solidFill>
                      <a:srgbClr val="7030A0"/>
                    </a:solidFill>
                  </a:rPr>
                  <a:t>Bias</a:t>
                </a:r>
                <a:r>
                  <a:rPr lang="en-GB" dirty="0"/>
                  <a:t> (which was not there before?)</a:t>
                </a:r>
              </a:p>
              <a:p>
                <a:pPr marL="0" indent="0">
                  <a:buNone/>
                </a:pPr>
                <a:r>
                  <a:rPr lang="en-GB" dirty="0"/>
                  <a:t>Bias is simply added to our convolution operation, following the intuition of the </a:t>
                </a:r>
                <a14:m>
                  <m:oMath xmlns:m="http://schemas.openxmlformats.org/officeDocument/2006/math">
                    <m:r>
                      <a:rPr lang="en-GB" i="1" dirty="0" smtClean="0">
                        <a:latin typeface="Cambria Math" panose="02040503050406030204" pitchFamily="18" charset="0"/>
                      </a:rPr>
                      <m:t>𝑊𝑋</m:t>
                    </m:r>
                    <m:r>
                      <a:rPr lang="en-GB" i="1" dirty="0" smtClean="0">
                        <a:latin typeface="Cambria Math" panose="02040503050406030204" pitchFamily="18" charset="0"/>
                      </a:rPr>
                      <m:t> + </m:t>
                    </m:r>
                    <m:r>
                      <a:rPr lang="en-GB" i="1" dirty="0" smtClean="0">
                        <a:latin typeface="Cambria Math" panose="02040503050406030204" pitchFamily="18" charset="0"/>
                      </a:rPr>
                      <m:t>𝑏</m:t>
                    </m:r>
                    <m:r>
                      <a:rPr lang="en-GB" i="1" dirty="0" smtClean="0">
                        <a:latin typeface="Cambria Math" panose="02040503050406030204" pitchFamily="18" charset="0"/>
                      </a:rPr>
                      <m:t> </m:t>
                    </m:r>
                  </m:oMath>
                </a14:m>
                <a:r>
                  <a:rPr lang="en-GB" dirty="0"/>
                  <a:t>operation from earlier.</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i="1">
                              <a:solidFill>
                                <a:srgbClr val="0070C0"/>
                              </a:solidFill>
                              <a:latin typeface="Cambria Math" panose="02040503050406030204" pitchFamily="18" charset="0"/>
                            </a:rPr>
                            <m:t>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r>
                        <a:rPr lang="en-GB" i="1">
                          <a:latin typeface="Cambria Math" panose="02040503050406030204" pitchFamily="18" charset="0"/>
                        </a:rPr>
                        <m:t>=</m:t>
                      </m:r>
                      <m:f>
                        <m:fPr>
                          <m:ctrlPr>
                            <a:rPr lang="en-GB" i="1" smtClean="0">
                              <a:solidFill>
                                <a:srgbClr val="FF0000"/>
                              </a:solidFill>
                              <a:latin typeface="Cambria Math" panose="02040503050406030204" pitchFamily="18" charset="0"/>
                            </a:rPr>
                          </m:ctrlPr>
                        </m:fPr>
                        <m:num>
                          <m:r>
                            <a:rPr lang="en-GB" i="1">
                              <a:solidFill>
                                <a:srgbClr val="FF0000"/>
                              </a:solidFill>
                              <a:latin typeface="Cambria Math" panose="02040503050406030204" pitchFamily="18" charset="0"/>
                            </a:rPr>
                            <m:t>1</m:t>
                          </m:r>
                        </m:num>
                        <m:den>
                          <m:sSup>
                            <m:sSupPr>
                              <m:ctrlPr>
                                <a:rPr lang="en-GB" i="1">
                                  <a:solidFill>
                                    <a:srgbClr val="FF0000"/>
                                  </a:solidFill>
                                  <a:latin typeface="Cambria Math" panose="02040503050406030204" pitchFamily="18" charset="0"/>
                                </a:rPr>
                              </m:ctrlPr>
                            </m:sSupPr>
                            <m:e>
                              <m:r>
                                <a:rPr lang="en-GB" i="1">
                                  <a:solidFill>
                                    <a:srgbClr val="FF0000"/>
                                  </a:solidFill>
                                  <a:latin typeface="Cambria Math" panose="02040503050406030204" pitchFamily="18" charset="0"/>
                                </a:rPr>
                                <m:t>𝑘</m:t>
                              </m:r>
                            </m:e>
                            <m:sup>
                              <m:r>
                                <a:rPr lang="en-GB" i="1">
                                  <a:solidFill>
                                    <a:srgbClr val="FF0000"/>
                                  </a:solidFill>
                                  <a:latin typeface="Cambria Math" panose="02040503050406030204" pitchFamily="18" charset="0"/>
                                </a:rPr>
                                <m:t>2</m:t>
                              </m:r>
                            </m:sup>
                          </m:sSup>
                        </m:den>
                      </m:f>
                      <m:nary>
                        <m:naryPr>
                          <m:chr m:val="∑"/>
                          <m:ctrlPr>
                            <a:rPr lang="en-GB" i="1">
                              <a:latin typeface="Cambria Math" panose="02040503050406030204" pitchFamily="18" charset="0"/>
                            </a:rPr>
                          </m:ctrlPr>
                        </m:naryPr>
                        <m:sub>
                          <m:r>
                            <a:rPr lang="en-GB" i="1">
                              <a:latin typeface="Cambria Math" panose="02040503050406030204" pitchFamily="18" charset="0"/>
                            </a:rPr>
                            <m:t>𝑚</m:t>
                          </m:r>
                          <m:r>
                            <a:rPr lang="en-GB" i="1">
                              <a:latin typeface="Cambria Math" panose="02040503050406030204" pitchFamily="18" charset="0"/>
                            </a:rPr>
                            <m:t>=1</m:t>
                          </m:r>
                        </m:sub>
                        <m:sup>
                          <m:r>
                            <a:rPr lang="en-GB" i="1">
                              <a:latin typeface="Cambria Math" panose="02040503050406030204" pitchFamily="18" charset="0"/>
                            </a:rPr>
                            <m:t>𝑘</m:t>
                          </m:r>
                        </m:sup>
                        <m:e>
                          <m:nary>
                            <m:naryPr>
                              <m:chr m:val="∑"/>
                              <m:ctrlPr>
                                <a:rPr lang="en-GB" i="1">
                                  <a:latin typeface="Cambria Math" panose="02040503050406030204" pitchFamily="18" charset="0"/>
                                </a:rPr>
                              </m:ctrlPr>
                            </m:naryPr>
                            <m:sub>
                              <m:r>
                                <a:rPr lang="en-GB" i="1">
                                  <a:latin typeface="Cambria Math" panose="02040503050406030204" pitchFamily="18" charset="0"/>
                                </a:rPr>
                                <m:t>𝑛</m:t>
                              </m:r>
                              <m:r>
                                <a:rPr lang="en-GB" i="1">
                                  <a:latin typeface="Cambria Math" panose="02040503050406030204" pitchFamily="18" charset="0"/>
                                </a:rPr>
                                <m:t>=1</m:t>
                              </m:r>
                            </m:sub>
                            <m:sup>
                              <m:r>
                                <a:rPr lang="en-GB" i="1">
                                  <a:latin typeface="Cambria Math" panose="02040503050406030204" pitchFamily="18" charset="0"/>
                                </a:rPr>
                                <m:t>𝑘</m:t>
                              </m:r>
                            </m:sup>
                            <m:e>
                              <m:sSub>
                                <m:sSubPr>
                                  <m:ctrlPr>
                                    <a:rPr lang="en-GB" i="1">
                                      <a:latin typeface="Cambria Math" panose="02040503050406030204" pitchFamily="18" charset="0"/>
                                    </a:rPr>
                                  </m:ctrlPr>
                                </m:sSubPr>
                                <m:e>
                                  <m:r>
                                    <a:rPr lang="en-GB" i="1">
                                      <a:solidFill>
                                        <a:srgbClr val="00B050"/>
                                      </a:solidFill>
                                      <a:latin typeface="Cambria Math" panose="02040503050406030204" pitchFamily="18" charset="0"/>
                                    </a:rPr>
                                    <m:t>𝑋</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𝑚</m:t>
                                  </m:r>
                                  <m:r>
                                    <a:rPr lang="en-GB" i="1">
                                      <a:latin typeface="Cambria Math" panose="02040503050406030204" pitchFamily="18" charset="0"/>
                                    </a:rPr>
                                    <m:t>−1,   </m:t>
                                  </m:r>
                                  <m:r>
                                    <a:rPr lang="en-GB" i="1">
                                      <a:latin typeface="Cambria Math" panose="02040503050406030204" pitchFamily="18" charset="0"/>
                                    </a:rPr>
                                    <m:t>𝑗</m:t>
                                  </m:r>
                                  <m:r>
                                    <a:rPr lang="en-GB" i="1">
                                      <a:latin typeface="Cambria Math" panose="02040503050406030204" pitchFamily="18" charset="0"/>
                                    </a:rPr>
                                    <m:t>+</m:t>
                                  </m:r>
                                  <m:r>
                                    <a:rPr lang="en-GB" i="1">
                                      <a:latin typeface="Cambria Math" panose="02040503050406030204" pitchFamily="18" charset="0"/>
                                    </a:rPr>
                                    <m:t>𝑛</m:t>
                                  </m:r>
                                  <m:r>
                                    <a:rPr lang="en-GB" i="1">
                                      <a:latin typeface="Cambria Math" panose="02040503050406030204" pitchFamily="18" charset="0"/>
                                    </a:rPr>
                                    <m:t>−1</m:t>
                                  </m:r>
                                </m:sub>
                              </m:sSub>
                              <m:r>
                                <m:rPr>
                                  <m:nor/>
                                </m:rPr>
                                <a:rPr lang="en-SG"/>
                                <m:t> </m:t>
                              </m:r>
                              <m:sSub>
                                <m:sSubPr>
                                  <m:ctrlPr>
                                    <a:rPr lang="en-GB" i="1">
                                      <a:latin typeface="Cambria Math" panose="02040503050406030204" pitchFamily="18" charset="0"/>
                                    </a:rPr>
                                  </m:ctrlPr>
                                </m:sSubPr>
                                <m:e>
                                  <m:r>
                                    <a:rPr lang="en-GB" i="1">
                                      <a:solidFill>
                                        <a:schemeClr val="accent2"/>
                                      </a:solidFill>
                                      <a:latin typeface="Cambria Math" panose="02040503050406030204" pitchFamily="18" charset="0"/>
                                    </a:rPr>
                                    <m:t>𝐾</m:t>
                                  </m:r>
                                </m:e>
                                <m:sub>
                                  <m:r>
                                    <a:rPr lang="en-GB" i="1">
                                      <a:latin typeface="Cambria Math" panose="02040503050406030204" pitchFamily="18" charset="0"/>
                                    </a:rPr>
                                    <m:t>𝑚</m:t>
                                  </m:r>
                                  <m:r>
                                    <a:rPr lang="en-GB" i="1">
                                      <a:latin typeface="Cambria Math" panose="02040503050406030204" pitchFamily="18" charset="0"/>
                                    </a:rPr>
                                    <m:t>,</m:t>
                                  </m:r>
                                  <m:r>
                                    <a:rPr lang="en-GB" i="1">
                                      <a:latin typeface="Cambria Math" panose="02040503050406030204" pitchFamily="18" charset="0"/>
                                    </a:rPr>
                                    <m:t>𝑛</m:t>
                                  </m:r>
                                </m:sub>
                              </m:sSub>
                            </m:e>
                          </m:nary>
                        </m:e>
                      </m:nary>
                      <m:r>
                        <a:rPr lang="en-GB" b="0" i="0" smtClean="0">
                          <a:latin typeface="Cambria Math" panose="02040503050406030204" pitchFamily="18" charset="0"/>
                        </a:rPr>
                        <m:t>+</m:t>
                      </m:r>
                      <m:r>
                        <a:rPr lang="en-GB" b="0" i="1" smtClean="0">
                          <a:solidFill>
                            <a:srgbClr val="7030A0"/>
                          </a:solidFill>
                          <a:latin typeface="Cambria Math" panose="02040503050406030204" pitchFamily="18" charset="0"/>
                        </a:rPr>
                        <m:t>𝑏</m:t>
                      </m:r>
                    </m:oMath>
                  </m:oMathPara>
                </a14:m>
                <a:endParaRPr lang="en-SG" i="1" dirty="0"/>
              </a:p>
              <a:p>
                <a:pPr marL="0" indent="0">
                  <a:buNone/>
                </a:pPr>
                <a:endParaRPr lang="en-SG" dirty="0"/>
              </a:p>
            </p:txBody>
          </p:sp>
        </mc:Choice>
        <mc:Fallback xmlns="">
          <p:sp>
            <p:nvSpPr>
              <p:cNvPr id="3" name="Content Placeholder 2">
                <a:extLst>
                  <a:ext uri="{FF2B5EF4-FFF2-40B4-BE49-F238E27FC236}">
                    <a16:creationId xmlns:a16="http://schemas.microsoft.com/office/drawing/2014/main" id="{2175BBF9-2B9D-B6B6-5581-38942EDE386C}"/>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1681"/>
                </a:stretch>
              </a:blipFill>
            </p:spPr>
            <p:txBody>
              <a:bodyPr/>
              <a:lstStyle/>
              <a:p>
                <a:r>
                  <a:rPr lang="en-SG">
                    <a:noFill/>
                  </a:rPr>
                  <a:t> </a:t>
                </a:r>
              </a:p>
            </p:txBody>
          </p:sp>
        </mc:Fallback>
      </mc:AlternateContent>
      <p:cxnSp>
        <p:nvCxnSpPr>
          <p:cNvPr id="7" name="Straight Connector 6">
            <a:extLst>
              <a:ext uri="{FF2B5EF4-FFF2-40B4-BE49-F238E27FC236}">
                <a16:creationId xmlns:a16="http://schemas.microsoft.com/office/drawing/2014/main" id="{B1A294BD-C54E-CB56-3CFE-106FD7CD8D96}"/>
              </a:ext>
            </a:extLst>
          </p:cNvPr>
          <p:cNvCxnSpPr/>
          <p:nvPr/>
        </p:nvCxnSpPr>
        <p:spPr>
          <a:xfrm flipH="1">
            <a:off x="3860801" y="5103446"/>
            <a:ext cx="515815" cy="1000370"/>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68940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2473</TotalTime>
  <Words>4509</Words>
  <Application>Microsoft Office PowerPoint</Application>
  <PresentationFormat>Widescreen</PresentationFormat>
  <Paragraphs>864</Paragraphs>
  <Slides>64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64</vt:i4>
      </vt:variant>
    </vt:vector>
  </HeadingPairs>
  <TitlesOfParts>
    <vt:vector size="70" baseType="lpstr">
      <vt:lpstr>Arial</vt:lpstr>
      <vt:lpstr>Calibri</vt:lpstr>
      <vt:lpstr>Calibri Light</vt:lpstr>
      <vt:lpstr>Cambria Math</vt:lpstr>
      <vt:lpstr>Wingdings</vt:lpstr>
      <vt:lpstr>Office Theme</vt:lpstr>
      <vt:lpstr>50.039 Theory and Practice of Deep Learning W4-S1 Introduction to Computer Vision and Convolutional Neural Networks</vt:lpstr>
      <vt:lpstr>About this week (Week 4)</vt:lpstr>
      <vt:lpstr>About this week (Week 4)</vt:lpstr>
      <vt:lpstr>About this week (Week 4)</vt:lpstr>
      <vt:lpstr>About this week (Week 4)</vt:lpstr>
      <vt:lpstr>How to encode an image</vt:lpstr>
      <vt:lpstr>How to encode an image</vt:lpstr>
      <vt:lpstr>How to encode an image</vt:lpstr>
      <vt:lpstr>How to encode an image</vt:lpstr>
      <vt:lpstr>Pixels information</vt:lpstr>
      <vt:lpstr>Pixels information</vt:lpstr>
      <vt:lpstr>Pixels information</vt:lpstr>
      <vt:lpstr>Pixels information</vt:lpstr>
      <vt:lpstr>Pixels information</vt:lpstr>
      <vt:lpstr>The spatial dependence property</vt:lpstr>
      <vt:lpstr>The homophily property</vt:lpstr>
      <vt:lpstr>The homophily property</vt:lpstr>
      <vt:lpstr>The problem with Linear processing</vt:lpstr>
      <vt:lpstr>The problem with Linear processing</vt:lpstr>
      <vt:lpstr>Introducing convolution!</vt:lpstr>
      <vt:lpstr>Introducing convolution!</vt:lpstr>
      <vt:lpstr>Introducing convolution!</vt:lpstr>
      <vt:lpstr>Introducing convolution!</vt:lpstr>
      <vt:lpstr>Introducing convolution!</vt:lpstr>
      <vt:lpstr>Introducing convolution!</vt:lpstr>
      <vt:lpstr>Introducing convolution!</vt:lpstr>
      <vt:lpstr>An animated visualisation of Convolution</vt:lpstr>
      <vt:lpstr>Convolution and Image Processing courses</vt:lpstr>
      <vt:lpstr>Testing convolution on images</vt:lpstr>
      <vt:lpstr>Testing convolution on images</vt:lpstr>
      <vt:lpstr>Testing convolution on images</vt:lpstr>
      <vt:lpstr>Testing convolution on images</vt:lpstr>
      <vt:lpstr>Testing convolution on images</vt:lpstr>
      <vt:lpstr>PowerPoint Presentation</vt:lpstr>
      <vt:lpstr>PowerPoint Presentation</vt:lpstr>
      <vt:lpstr>Testing convolution on images</vt:lpstr>
      <vt:lpstr>Testing convolution on images</vt:lpstr>
      <vt:lpstr>PowerPoint Presentation</vt:lpstr>
      <vt:lpstr>Testing convolution on images</vt:lpstr>
      <vt:lpstr>PowerPoint Presentation</vt:lpstr>
      <vt:lpstr>Many transformation kernels exist</vt:lpstr>
      <vt:lpstr>More on convolution kernels and their effects</vt:lpstr>
      <vt:lpstr>Downsizing</vt:lpstr>
      <vt:lpstr>Adding some padding</vt:lpstr>
      <vt:lpstr>Adding some padding</vt:lpstr>
      <vt:lpstr>Adding some padding</vt:lpstr>
      <vt:lpstr>Adding some padding</vt:lpstr>
      <vt:lpstr>Adding some padding</vt:lpstr>
      <vt:lpstr>Adding some padding</vt:lpstr>
      <vt:lpstr>Adding some padding</vt:lpstr>
      <vt:lpstr>Adding a stride</vt:lpstr>
      <vt:lpstr>Adding a stride</vt:lpstr>
      <vt:lpstr>Adding a stride</vt:lpstr>
      <vt:lpstr>Adding a stride</vt:lpstr>
      <vt:lpstr>The (final) magic formula for convolution</vt:lpstr>
      <vt:lpstr>Adding a stride</vt:lpstr>
      <vt:lpstr>Adding a dilation</vt:lpstr>
      <vt:lpstr>Adding a dilation</vt:lpstr>
      <vt:lpstr>The (final) magic formula for convolution</vt:lpstr>
      <vt:lpstr>Implementing a custom Conv in PyTorch (with stride and padding, no dilation)</vt:lpstr>
      <vt:lpstr>Implementing a custom Conv in PyTorch (with stride and padding, no dilation)</vt:lpstr>
      <vt:lpstr>The Conv2d in PyTorch</vt:lpstr>
      <vt:lpstr>The Conv2d in PyTorch</vt:lpstr>
      <vt:lpstr>The Conv2d in PyTorch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50.039 Theory and Practice of Deep Learning W8 S1-2-3</dc:title>
  <dc:creator>Matthieu DE MARI</dc:creator>
  <cp:lastModifiedBy>Matthieu De Mari</cp:lastModifiedBy>
  <cp:revision>108</cp:revision>
  <dcterms:created xsi:type="dcterms:W3CDTF">2021-03-10T09:35:15Z</dcterms:created>
  <dcterms:modified xsi:type="dcterms:W3CDTF">2025-12-18T22:35:15Z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de23a9-9a05-4714-826f-57380a17bd9d_Enabled">
    <vt:lpwstr>true</vt:lpwstr>
  </property>
  <property fmtid="{D5CDD505-2E9C-101B-9397-08002B2CF9AE}" pid="3" name="MSIP_Label_7fde23a9-9a05-4714-826f-57380a17bd9d_SetDate">
    <vt:lpwstr>2022-10-19T06:30:58Z</vt:lpwstr>
  </property>
  <property fmtid="{D5CDD505-2E9C-101B-9397-08002B2CF9AE}" pid="4" name="MSIP_Label_7fde23a9-9a05-4714-826f-57380a17bd9d_Method">
    <vt:lpwstr>Privileged</vt:lpwstr>
  </property>
  <property fmtid="{D5CDD505-2E9C-101B-9397-08002B2CF9AE}" pid="5" name="MSIP_Label_7fde23a9-9a05-4714-826f-57380a17bd9d_Name">
    <vt:lpwstr>Restricted</vt:lpwstr>
  </property>
  <property fmtid="{D5CDD505-2E9C-101B-9397-08002B2CF9AE}" pid="6" name="MSIP_Label_7fde23a9-9a05-4714-826f-57380a17bd9d_SiteId">
    <vt:lpwstr>3476b776-e990-4f72-b950-62489831623d</vt:lpwstr>
  </property>
  <property fmtid="{D5CDD505-2E9C-101B-9397-08002B2CF9AE}" pid="7" name="MSIP_Label_7fde23a9-9a05-4714-826f-57380a17bd9d_ActionId">
    <vt:lpwstr>0e56de01-4734-4bb5-8abe-0837a2dfdfb0</vt:lpwstr>
  </property>
  <property fmtid="{D5CDD505-2E9C-101B-9397-08002B2CF9AE}" pid="8" name="MSIP_Label_7fde23a9-9a05-4714-826f-57380a17bd9d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Restricted</vt:lpwstr>
  </property>
  <property fmtid="{D5CDD505-2E9C-101B-9397-08002B2CF9AE}" pid="11" name="ClassificationContentMarkingHeaderLocations">
    <vt:lpwstr>Office Theme:9</vt:lpwstr>
  </property>
  <property fmtid="{D5CDD505-2E9C-101B-9397-08002B2CF9AE}" pid="12" name="ClassificationContentMarkingHeaderText">
    <vt:lpwstr>Restricted</vt:lpwstr>
  </property>
</Properties>
</file>