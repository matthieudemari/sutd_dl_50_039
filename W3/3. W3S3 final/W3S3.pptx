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77" r:id="rId2"/>
    <p:sldId id="783" r:id="rId3"/>
    <p:sldId id="784" r:id="rId4"/>
    <p:sldId id="785" r:id="rId5"/>
    <p:sldId id="782" r:id="rId6"/>
    <p:sldId id="781" r:id="rId7"/>
    <p:sldId id="397" r:id="rId8"/>
    <p:sldId id="790" r:id="rId9"/>
    <p:sldId id="789" r:id="rId10"/>
    <p:sldId id="791" r:id="rId11"/>
    <p:sldId id="792" r:id="rId12"/>
    <p:sldId id="793" r:id="rId13"/>
    <p:sldId id="794" r:id="rId14"/>
    <p:sldId id="398" r:id="rId15"/>
    <p:sldId id="795" r:id="rId16"/>
    <p:sldId id="796" r:id="rId17"/>
    <p:sldId id="396" r:id="rId18"/>
    <p:sldId id="399" r:id="rId19"/>
    <p:sldId id="799" r:id="rId20"/>
    <p:sldId id="798" r:id="rId21"/>
    <p:sldId id="797" r:id="rId22"/>
    <p:sldId id="802" r:id="rId23"/>
    <p:sldId id="801" r:id="rId24"/>
    <p:sldId id="804" r:id="rId25"/>
    <p:sldId id="827" r:id="rId26"/>
    <p:sldId id="805" r:id="rId27"/>
    <p:sldId id="831" r:id="rId28"/>
    <p:sldId id="832" r:id="rId29"/>
    <p:sldId id="803" r:id="rId30"/>
    <p:sldId id="806" r:id="rId31"/>
    <p:sldId id="807" r:id="rId32"/>
    <p:sldId id="833" r:id="rId33"/>
    <p:sldId id="809" r:id="rId34"/>
    <p:sldId id="810" r:id="rId35"/>
    <p:sldId id="811" r:id="rId36"/>
    <p:sldId id="812" r:id="rId37"/>
    <p:sldId id="402" r:id="rId38"/>
    <p:sldId id="828" r:id="rId39"/>
    <p:sldId id="814" r:id="rId40"/>
    <p:sldId id="813" r:id="rId41"/>
    <p:sldId id="815" r:id="rId42"/>
    <p:sldId id="401" r:id="rId43"/>
    <p:sldId id="829" r:id="rId44"/>
    <p:sldId id="816" r:id="rId45"/>
    <p:sldId id="817" r:id="rId46"/>
    <p:sldId id="818" r:id="rId47"/>
    <p:sldId id="830" r:id="rId48"/>
    <p:sldId id="820" r:id="rId49"/>
    <p:sldId id="821" r:id="rId50"/>
    <p:sldId id="822" r:id="rId51"/>
    <p:sldId id="346" r:id="rId52"/>
    <p:sldId id="82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Introduction" id="{2FD0FF71-F5FC-4EB7-B2CB-B31E4CBECD79}">
          <p14:sldIdLst>
            <p14:sldId id="783"/>
            <p14:sldId id="784"/>
            <p14:sldId id="785"/>
            <p14:sldId id="782"/>
            <p14:sldId id="781"/>
          </p14:sldIdLst>
        </p14:section>
        <p14:section name="VI.1. Writing a custom Dataset object" id="{10E169D6-B6C7-473D-9387-FE616ABEAF92}">
          <p14:sldIdLst>
            <p14:sldId id="397"/>
            <p14:sldId id="790"/>
            <p14:sldId id="789"/>
            <p14:sldId id="791"/>
            <p14:sldId id="792"/>
            <p14:sldId id="793"/>
            <p14:sldId id="794"/>
          </p14:sldIdLst>
        </p14:section>
        <p14:section name="VI.2. Writing a Custom Dataloader object" id="{A40E12A9-5236-4289-82D5-A3E0185A78F2}">
          <p14:sldIdLst>
            <p14:sldId id="398"/>
            <p14:sldId id="795"/>
            <p14:sldId id="796"/>
          </p14:sldIdLst>
        </p14:section>
        <p14:section name="VII.1. Demo - A multi-classification task" id="{8C55ED7A-A682-4B9E-8418-647BCC6E8F0F}">
          <p14:sldIdLst>
            <p14:sldId id="396"/>
            <p14:sldId id="399"/>
            <p14:sldId id="799"/>
            <p14:sldId id="798"/>
            <p14:sldId id="797"/>
            <p14:sldId id="802"/>
            <p14:sldId id="801"/>
            <p14:sldId id="804"/>
            <p14:sldId id="827"/>
            <p14:sldId id="805"/>
            <p14:sldId id="831"/>
          </p14:sldIdLst>
        </p14:section>
        <p14:section name="VII.2. Demo - Implementing the forward method" id="{5AC1EE76-9E14-486C-96FA-03FA5B870426}">
          <p14:sldIdLst>
            <p14:sldId id="832"/>
            <p14:sldId id="803"/>
            <p14:sldId id="806"/>
            <p14:sldId id="807"/>
            <p14:sldId id="833"/>
            <p14:sldId id="809"/>
            <p14:sldId id="810"/>
            <p14:sldId id="811"/>
          </p14:sldIdLst>
        </p14:section>
        <p14:section name="VII.3. Demo - Cross Entropy function extension" id="{D15E91CF-E527-45F6-9837-5D5BFB3B5CF7}">
          <p14:sldIdLst>
            <p14:sldId id="812"/>
            <p14:sldId id="402"/>
            <p14:sldId id="828"/>
            <p14:sldId id="814"/>
            <p14:sldId id="813"/>
            <p14:sldId id="815"/>
          </p14:sldIdLst>
        </p14:section>
        <p14:section name="VII.4. Demo - Writing custom Layers and Blocks" id="{F7361A3F-5077-458D-B652-9816D9CE48F5}">
          <p14:sldIdLst>
            <p14:sldId id="401"/>
            <p14:sldId id="829"/>
            <p14:sldId id="816"/>
            <p14:sldId id="817"/>
            <p14:sldId id="818"/>
            <p14:sldId id="830"/>
          </p14:sldIdLst>
        </p14:section>
        <p14:section name="VII.5. Demo - Training a Deep Neural Network" id="{477257E7-571E-4412-9E06-E0B848366484}">
          <p14:sldIdLst>
            <p14:sldId id="820"/>
            <p14:sldId id="821"/>
            <p14:sldId id="822"/>
          </p14:sldIdLst>
        </p14:section>
        <p14:section name="Conclusion" id="{09807B6E-2B76-45C8-B103-96D5021B68A6}">
          <p14:sldIdLst>
            <p14:sldId id="346"/>
          </p14:sldIdLst>
        </p14:section>
        <p14:section name="Homework and Project announcement" id="{B6606B35-10EA-4179-AB4A-AA18317FCF47}">
          <p14:sldIdLst>
            <p14:sldId id="8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F49A5-E8ED-4058-B09D-5D2994BDBA66}" v="42" dt="2026-01-16T05:54:22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114" d="100"/>
          <a:sy n="114" d="100"/>
        </p:scale>
        <p:origin x="4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modSld">
      <pc:chgData name="Matthieu De Mari" userId="dfb708c9-d8dc-439f-9a3b-c772bf4a311c" providerId="ADAL" clId="{81E9B007-0C2C-493E-9B93-55A62C9C1F12}" dt="2026-01-16T05:55:10.274" v="172" actId="207"/>
      <pc:docMkLst>
        <pc:docMk/>
      </pc:docMkLst>
      <pc:sldChg chg="modSp mod">
        <pc:chgData name="Matthieu De Mari" userId="dfb708c9-d8dc-439f-9a3b-c772bf4a311c" providerId="ADAL" clId="{81E9B007-0C2C-493E-9B93-55A62C9C1F12}" dt="2026-01-12T06:33:40.610" v="0" actId="14100"/>
        <pc:sldMkLst>
          <pc:docMk/>
          <pc:sldMk cId="2330822039" sldId="792"/>
        </pc:sldMkLst>
        <pc:spChg chg="mod">
          <ac:chgData name="Matthieu De Mari" userId="dfb708c9-d8dc-439f-9a3b-c772bf4a311c" providerId="ADAL" clId="{81E9B007-0C2C-493E-9B93-55A62C9C1F12}" dt="2026-01-12T06:33:40.610" v="0" actId="14100"/>
          <ac:spMkLst>
            <pc:docMk/>
            <pc:sldMk cId="2330822039" sldId="792"/>
            <ac:spMk id="3" creationId="{BA2A0416-0B18-CDD3-9A37-B441AE8FAEC0}"/>
          </ac:spMkLst>
        </pc:spChg>
      </pc:sldChg>
      <pc:sldChg chg="modSp mod">
        <pc:chgData name="Matthieu De Mari" userId="dfb708c9-d8dc-439f-9a3b-c772bf4a311c" providerId="ADAL" clId="{81E9B007-0C2C-493E-9B93-55A62C9C1F12}" dt="2026-01-16T05:50:03.505" v="23" actId="14100"/>
        <pc:sldMkLst>
          <pc:docMk/>
          <pc:sldMk cId="2353942002" sldId="795"/>
        </pc:sldMkLst>
        <pc:spChg chg="mod">
          <ac:chgData name="Matthieu De Mari" userId="dfb708c9-d8dc-439f-9a3b-c772bf4a311c" providerId="ADAL" clId="{81E9B007-0C2C-493E-9B93-55A62C9C1F12}" dt="2026-01-16T05:50:03.505" v="23" actId="14100"/>
          <ac:spMkLst>
            <pc:docMk/>
            <pc:sldMk cId="2353942002" sldId="795"/>
            <ac:spMk id="3" creationId="{77496A95-7961-91A1-EB76-E57510055A38}"/>
          </ac:spMkLst>
        </pc:spChg>
      </pc:sldChg>
      <pc:sldChg chg="modSp mod">
        <pc:chgData name="Matthieu De Mari" userId="dfb708c9-d8dc-439f-9a3b-c772bf4a311c" providerId="ADAL" clId="{81E9B007-0C2C-493E-9B93-55A62C9C1F12}" dt="2026-01-16T05:49:50.306" v="21" actId="20577"/>
        <pc:sldMkLst>
          <pc:docMk/>
          <pc:sldMk cId="1414932605" sldId="796"/>
        </pc:sldMkLst>
        <pc:spChg chg="mod">
          <ac:chgData name="Matthieu De Mari" userId="dfb708c9-d8dc-439f-9a3b-c772bf4a311c" providerId="ADAL" clId="{81E9B007-0C2C-493E-9B93-55A62C9C1F12}" dt="2026-01-16T05:49:50.306" v="21" actId="20577"/>
          <ac:spMkLst>
            <pc:docMk/>
            <pc:sldMk cId="1414932605" sldId="796"/>
            <ac:spMk id="3" creationId="{77496A95-7961-91A1-EB76-E57510055A38}"/>
          </ac:spMkLst>
        </pc:spChg>
      </pc:sldChg>
      <pc:sldChg chg="modSp mod">
        <pc:chgData name="Matthieu De Mari" userId="dfb708c9-d8dc-439f-9a3b-c772bf4a311c" providerId="ADAL" clId="{81E9B007-0C2C-493E-9B93-55A62C9C1F12}" dt="2026-01-16T05:50:49.880" v="78" actId="20577"/>
        <pc:sldMkLst>
          <pc:docMk/>
          <pc:sldMk cId="703353227" sldId="799"/>
        </pc:sldMkLst>
        <pc:spChg chg="mod">
          <ac:chgData name="Matthieu De Mari" userId="dfb708c9-d8dc-439f-9a3b-c772bf4a311c" providerId="ADAL" clId="{81E9B007-0C2C-493E-9B93-55A62C9C1F12}" dt="2026-01-16T05:50:49.880" v="78" actId="20577"/>
          <ac:spMkLst>
            <pc:docMk/>
            <pc:sldMk cId="703353227" sldId="799"/>
            <ac:spMk id="4" creationId="{3D8906E9-3F26-1680-6CF9-CC0314375949}"/>
          </ac:spMkLst>
        </pc:spChg>
      </pc:sldChg>
      <pc:sldChg chg="modSp mod">
        <pc:chgData name="Matthieu De Mari" userId="dfb708c9-d8dc-439f-9a3b-c772bf4a311c" providerId="ADAL" clId="{81E9B007-0C2C-493E-9B93-55A62C9C1F12}" dt="2026-01-16T05:51:31.777" v="124" actId="14100"/>
        <pc:sldMkLst>
          <pc:docMk/>
          <pc:sldMk cId="253262496" sldId="802"/>
        </pc:sldMkLst>
        <pc:spChg chg="mod">
          <ac:chgData name="Matthieu De Mari" userId="dfb708c9-d8dc-439f-9a3b-c772bf4a311c" providerId="ADAL" clId="{81E9B007-0C2C-493E-9B93-55A62C9C1F12}" dt="2026-01-16T05:51:31.777" v="124" actId="14100"/>
          <ac:spMkLst>
            <pc:docMk/>
            <pc:sldMk cId="253262496" sldId="802"/>
            <ac:spMk id="4" creationId="{3D8906E9-3F26-1680-6CF9-CC0314375949}"/>
          </ac:spMkLst>
        </pc:spChg>
      </pc:sldChg>
      <pc:sldChg chg="modSp mod">
        <pc:chgData name="Matthieu De Mari" userId="dfb708c9-d8dc-439f-9a3b-c772bf4a311c" providerId="ADAL" clId="{81E9B007-0C2C-493E-9B93-55A62C9C1F12}" dt="2026-01-16T05:54:22.450" v="171" actId="207"/>
        <pc:sldMkLst>
          <pc:docMk/>
          <pc:sldMk cId="232544569" sldId="803"/>
        </pc:sldMkLst>
        <pc:spChg chg="mod">
          <ac:chgData name="Matthieu De Mari" userId="dfb708c9-d8dc-439f-9a3b-c772bf4a311c" providerId="ADAL" clId="{81E9B007-0C2C-493E-9B93-55A62C9C1F12}" dt="2026-01-16T05:54:22.450" v="171" actId="207"/>
          <ac:spMkLst>
            <pc:docMk/>
            <pc:sldMk cId="232544569" sldId="803"/>
            <ac:spMk id="3" creationId="{F0814AA9-339A-72D8-E8A9-C066A3ED5800}"/>
          </ac:spMkLst>
        </pc:spChg>
      </pc:sldChg>
      <pc:sldChg chg="modSp mod">
        <pc:chgData name="Matthieu De Mari" userId="dfb708c9-d8dc-439f-9a3b-c772bf4a311c" providerId="ADAL" clId="{81E9B007-0C2C-493E-9B93-55A62C9C1F12}" dt="2026-01-16T05:55:10.274" v="172" actId="207"/>
        <pc:sldMkLst>
          <pc:docMk/>
          <pc:sldMk cId="2804082923" sldId="811"/>
        </pc:sldMkLst>
        <pc:spChg chg="mod">
          <ac:chgData name="Matthieu De Mari" userId="dfb708c9-d8dc-439f-9a3b-c772bf4a311c" providerId="ADAL" clId="{81E9B007-0C2C-493E-9B93-55A62C9C1F12}" dt="2026-01-16T05:55:10.274" v="172" actId="207"/>
          <ac:spMkLst>
            <pc:docMk/>
            <pc:sldMk cId="2804082923" sldId="811"/>
            <ac:spMk id="5" creationId="{0ABFA246-AA73-67B0-2D31-98CDFA32F1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evek18/ames-housing-dataset?resource=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ndas.pydata.org/docs/user_guide/10min.htm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vision/stable/dataset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W3-S3 Introduction to Deep Learning using the </a:t>
            </a:r>
            <a:r>
              <a:rPr lang="en-US" dirty="0" err="1"/>
              <a:t>PyTorch</a:t>
            </a:r>
            <a:r>
              <a:rPr lang="en-US" dirty="0"/>
              <a:t> framework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library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its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benefits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a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tensor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object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its typical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attributes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implement some typical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tensor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operations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broadcasting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on tensors?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are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tensor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locations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in terms of computation?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transform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our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original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NumPy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shallow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Neural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Network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class so it uses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now instead?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implement a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forward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loss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accuracy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metric in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are some measurable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performance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benefits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of using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over NumPy and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GPUs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over CPUs?</a:t>
            </a:r>
          </a:p>
          <a:p>
            <a:pPr marL="514350" indent="-514350">
              <a:buFont typeface="+mj-lt"/>
              <a:buAutoNum type="arabicPeriod"/>
            </a:pPr>
            <a:endParaRPr lang="en-SG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90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autograd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backprop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module in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, and how does it use a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computational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graph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compute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all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derivatives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use the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autograd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to implement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derivatives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a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vanilla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implement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backprop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in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for our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shallow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Neural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Network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class?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use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to implement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advanced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optimizers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use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to implement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advanced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initializers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use </a:t>
            </a:r>
            <a:r>
              <a:rPr lang="en-GB" b="1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to implement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regularization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finally revise our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trainer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function to obtain a minimal, yet complete Neural Network in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PyTorch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080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(Week 3)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 startAt="16"/>
            </a:pPr>
            <a:r>
              <a:rPr lang="en-GB" dirty="0"/>
              <a:t>What are the </a:t>
            </a:r>
            <a:r>
              <a:rPr lang="en-GB" b="1" dirty="0"/>
              <a:t>Dataset</a:t>
            </a:r>
            <a:r>
              <a:rPr lang="en-GB" dirty="0"/>
              <a:t> and </a:t>
            </a:r>
            <a:r>
              <a:rPr lang="en-GB" b="1" dirty="0" err="1"/>
              <a:t>Dataloader</a:t>
            </a:r>
            <a:r>
              <a:rPr lang="en-GB" dirty="0"/>
              <a:t> objects in </a:t>
            </a:r>
            <a:r>
              <a:rPr lang="en-GB" b="1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implement a custom </a:t>
            </a:r>
            <a:r>
              <a:rPr lang="en-GB" b="1" dirty="0" err="1"/>
              <a:t>Dataloader</a:t>
            </a:r>
            <a:r>
              <a:rPr lang="en-GB" dirty="0"/>
              <a:t> and </a:t>
            </a:r>
            <a:r>
              <a:rPr lang="en-GB" b="1" dirty="0"/>
              <a:t>Dataset</a:t>
            </a:r>
            <a:r>
              <a:rPr lang="en-GB" dirty="0"/>
              <a:t> object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move from binary classification to </a:t>
            </a:r>
            <a:r>
              <a:rPr lang="en-GB" b="1" dirty="0"/>
              <a:t>multi-class</a:t>
            </a:r>
            <a:r>
              <a:rPr lang="en-GB" dirty="0"/>
              <a:t> </a:t>
            </a:r>
            <a:r>
              <a:rPr lang="en-GB" b="1" dirty="0"/>
              <a:t>classification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GB" dirty="0"/>
              <a:t>How to adjust output probabilities using the </a:t>
            </a:r>
            <a:r>
              <a:rPr lang="en-GB" b="1" dirty="0" err="1"/>
              <a:t>softmax</a:t>
            </a:r>
            <a:r>
              <a:rPr lang="en-GB" dirty="0"/>
              <a:t> function?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change the </a:t>
            </a:r>
            <a:r>
              <a:rPr lang="en-SG" b="1" dirty="0"/>
              <a:t>cross-entropy</a:t>
            </a:r>
            <a:r>
              <a:rPr lang="en-SG" dirty="0"/>
              <a:t> </a:t>
            </a:r>
            <a:r>
              <a:rPr lang="en-SG" b="1" dirty="0"/>
              <a:t>loss</a:t>
            </a:r>
            <a:r>
              <a:rPr lang="en-SG" dirty="0"/>
              <a:t> so it works in </a:t>
            </a:r>
            <a:r>
              <a:rPr lang="en-SG" b="1" dirty="0"/>
              <a:t>multi-class</a:t>
            </a:r>
            <a:r>
              <a:rPr lang="en-SG" dirty="0"/>
              <a:t> </a:t>
            </a:r>
            <a:r>
              <a:rPr lang="en-SG" b="1" dirty="0"/>
              <a:t>classification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implement </a:t>
            </a:r>
            <a:r>
              <a:rPr lang="en-SG" b="1" dirty="0"/>
              <a:t>building</a:t>
            </a:r>
            <a:r>
              <a:rPr lang="en-SG" dirty="0"/>
              <a:t> </a:t>
            </a:r>
            <a:r>
              <a:rPr lang="en-SG" b="1" dirty="0"/>
              <a:t>blocks</a:t>
            </a:r>
            <a:r>
              <a:rPr lang="en-SG" dirty="0"/>
              <a:t> in </a:t>
            </a:r>
            <a:r>
              <a:rPr lang="en-SG" dirty="0" err="1"/>
              <a:t>PyTorch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How to implement and train our first </a:t>
            </a:r>
            <a:r>
              <a:rPr lang="en-SG" b="1" dirty="0"/>
              <a:t>Deep</a:t>
            </a:r>
            <a:r>
              <a:rPr lang="en-SG" dirty="0"/>
              <a:t> </a:t>
            </a:r>
            <a:r>
              <a:rPr lang="en-SG" b="1" dirty="0"/>
              <a:t>Neural</a:t>
            </a:r>
            <a:r>
              <a:rPr lang="en-SG" dirty="0"/>
              <a:t> </a:t>
            </a:r>
            <a:r>
              <a:rPr lang="en-SG" b="1" dirty="0"/>
              <a:t>Network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16"/>
            </a:pPr>
            <a:r>
              <a:rPr lang="en-SG" dirty="0"/>
              <a:t>What are </a:t>
            </a:r>
            <a:r>
              <a:rPr lang="en-SG" b="1" dirty="0"/>
              <a:t>additional</a:t>
            </a:r>
            <a:r>
              <a:rPr lang="en-SG" dirty="0"/>
              <a:t> </a:t>
            </a:r>
            <a:r>
              <a:rPr lang="en-SG" b="1" dirty="0"/>
              <a:t>good</a:t>
            </a:r>
            <a:r>
              <a:rPr lang="en-SG" dirty="0"/>
              <a:t> </a:t>
            </a:r>
            <a:r>
              <a:rPr lang="en-SG" b="1" dirty="0"/>
              <a:t>practices</a:t>
            </a:r>
            <a:r>
              <a:rPr lang="en-SG" dirty="0"/>
              <a:t> in </a:t>
            </a:r>
            <a:r>
              <a:rPr lang="en-SG" dirty="0" err="1"/>
              <a:t>PyTorch</a:t>
            </a:r>
            <a:r>
              <a:rPr lang="en-S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627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86860C-A975-6A1D-2657-944DB1F94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summarize (last two sessions)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82BC02-8C8A-BDB1-A192-B4E530ACD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now have a full Neural Network class, in </a:t>
            </a:r>
            <a:r>
              <a:rPr lang="en-GB" dirty="0" err="1"/>
              <a:t>PyTorch</a:t>
            </a:r>
            <a:r>
              <a:rPr lang="en-GB" dirty="0"/>
              <a:t>, with:</a:t>
            </a:r>
          </a:p>
          <a:p>
            <a:r>
              <a:rPr lang="en-GB" dirty="0"/>
              <a:t>2 linear layers, sigmoid activation functions,</a:t>
            </a:r>
          </a:p>
          <a:p>
            <a:r>
              <a:rPr lang="en-GB" dirty="0"/>
              <a:t>Xavier uniform initialization on trainable parameters,</a:t>
            </a:r>
          </a:p>
          <a:p>
            <a:r>
              <a:rPr lang="en-SG" dirty="0"/>
              <a:t>Forward pass method,</a:t>
            </a:r>
          </a:p>
          <a:p>
            <a:r>
              <a:rPr lang="en-SG" dirty="0" err="1"/>
              <a:t>Autograd</a:t>
            </a:r>
            <a:r>
              <a:rPr lang="en-SG" dirty="0"/>
              <a:t> backpropagation and trainer method,</a:t>
            </a:r>
          </a:p>
          <a:p>
            <a:r>
              <a:rPr lang="en-SG" dirty="0"/>
              <a:t>Adam optimizer,</a:t>
            </a:r>
          </a:p>
          <a:p>
            <a:r>
              <a:rPr lang="en-SG" dirty="0" err="1"/>
              <a:t>Dataloader</a:t>
            </a:r>
            <a:r>
              <a:rPr lang="en-SG" dirty="0"/>
              <a:t> allowing for stochastic mini-batches,</a:t>
            </a:r>
          </a:p>
          <a:p>
            <a:r>
              <a:rPr lang="en-SG" dirty="0"/>
              <a:t>Cross entropy loss and accuracies,</a:t>
            </a:r>
          </a:p>
          <a:p>
            <a:r>
              <a:rPr lang="en-SG" dirty="0"/>
              <a:t>L1 regularization.</a:t>
            </a:r>
          </a:p>
          <a:p>
            <a:pPr marL="0" indent="0">
              <a:buNone/>
            </a:pPr>
            <a:r>
              <a:rPr lang="en-SG" dirty="0"/>
              <a:t>And </a:t>
            </a:r>
            <a:r>
              <a:rPr lang="en-SG"/>
              <a:t>it runs/trains </a:t>
            </a:r>
            <a:r>
              <a:rPr lang="en-SG" dirty="0"/>
              <a:t>at the speed of light (</a:t>
            </a:r>
            <a:r>
              <a:rPr lang="en-SG"/>
              <a:t>almost…) on GPU!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853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209175-2F79-40CD-60DF-B91C7656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09100"/>
            <a:ext cx="9231013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Most of the time, when demonstrating concepts, we will rely on a "simple"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available in the </a:t>
            </a:r>
            <a:r>
              <a:rPr lang="en-GB" dirty="0" err="1"/>
              <a:t>PyTorch</a:t>
            </a:r>
            <a:r>
              <a:rPr lang="en-GB" dirty="0"/>
              <a:t> library.</a:t>
            </a:r>
          </a:p>
          <a:p>
            <a:pPr marL="0" indent="0">
              <a:buNone/>
            </a:pPr>
            <a:r>
              <a:rPr lang="en-GB" dirty="0"/>
              <a:t>In practice, and more specifically in your project, you will often play with a </a:t>
            </a:r>
            <a:r>
              <a:rPr lang="en-GB" b="1" dirty="0"/>
              <a:t>custom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fitting your needs.</a:t>
            </a:r>
          </a:p>
          <a:p>
            <a:r>
              <a:rPr lang="en-GB" dirty="0"/>
              <a:t>Most datasets will be provided by your company, or can be found on dataset search engines, such as </a:t>
            </a:r>
            <a:r>
              <a:rPr lang="en-GB" b="1" dirty="0"/>
              <a:t>Kaggle</a:t>
            </a:r>
            <a:r>
              <a:rPr lang="en-GB" dirty="0"/>
              <a:t>, </a:t>
            </a:r>
            <a:r>
              <a:rPr lang="en-GB" b="1" dirty="0"/>
              <a:t>Google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 </a:t>
            </a:r>
            <a:r>
              <a:rPr lang="en-GB" b="1" dirty="0"/>
              <a:t>Search</a:t>
            </a:r>
            <a:r>
              <a:rPr lang="en-GB" dirty="0"/>
              <a:t>, etc.</a:t>
            </a:r>
          </a:p>
          <a:p>
            <a:r>
              <a:rPr lang="en-GB" dirty="0"/>
              <a:t>Today, we will play with a simplified version of the </a:t>
            </a:r>
            <a:r>
              <a:rPr lang="en-GB" b="1" dirty="0"/>
              <a:t>Ames</a:t>
            </a:r>
            <a:r>
              <a:rPr lang="en-GB" dirty="0"/>
              <a:t> </a:t>
            </a:r>
            <a:r>
              <a:rPr lang="en-GB" b="1" dirty="0"/>
              <a:t>Housing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, which can be found online, here: </a:t>
            </a:r>
            <a:r>
              <a:rPr lang="en-GB" dirty="0">
                <a:hlinkClick r:id="rId2"/>
              </a:rPr>
              <a:t>https://www.kaggle.com/datasets/prevek18/ames-housing-dataset?resource=download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43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E37773-793F-F9CF-20C7-080A12533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501" r="66293" b="43462"/>
          <a:stretch/>
        </p:blipFill>
        <p:spPr>
          <a:xfrm>
            <a:off x="215319" y="1848463"/>
            <a:ext cx="11761361" cy="4365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EA25B-9659-1DC6-A4D1-D0A5BE37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look at our dataset Excel file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9232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Ames dataset includes a variety of features for approximately 2,800 houses in Ames, Iowa.</a:t>
            </a:r>
          </a:p>
          <a:p>
            <a:r>
              <a:rPr lang="en-GB" dirty="0"/>
              <a:t>Features include the size of the house (in square feet), the number of bedrooms and bathrooms, and many more. It also includes the sale price for each house.</a:t>
            </a:r>
          </a:p>
          <a:p>
            <a:r>
              <a:rPr lang="en-GB" dirty="0"/>
              <a:t>The Ames Housing Dataset is a popular choice for machine learning projects, and it has been used to build AI models for predicting real estate prices, based on various house features.</a:t>
            </a:r>
          </a:p>
          <a:p>
            <a:r>
              <a:rPr lang="en-GB" dirty="0"/>
              <a:t>It consists of an Excel file (AmesHousing.xlsx) stored in the ./</a:t>
            </a:r>
            <a:r>
              <a:rPr lang="en-GB" dirty="0" err="1"/>
              <a:t>ames</a:t>
            </a:r>
            <a:r>
              <a:rPr lang="en-GB" dirty="0"/>
              <a:t>/ folder. The original dataset can be found in the  AmesHousing.csv file, but we have simplified it by removing some of its features.</a:t>
            </a:r>
          </a:p>
        </p:txBody>
      </p:sp>
    </p:spTree>
    <p:extLst>
      <p:ext uri="{BB962C8B-B14F-4D97-AF65-F5344CB8AC3E}">
        <p14:creationId xmlns:p14="http://schemas.microsoft.com/office/powerpoint/2010/main" val="47340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features we are interested in are:</a:t>
            </a:r>
          </a:p>
          <a:p>
            <a:r>
              <a:rPr lang="en-GB" b="1" dirty="0"/>
              <a:t>Lot</a:t>
            </a:r>
            <a:r>
              <a:rPr lang="en-GB" dirty="0"/>
              <a:t> </a:t>
            </a:r>
            <a:r>
              <a:rPr lang="en-GB" b="1" dirty="0"/>
              <a:t>Area</a:t>
            </a:r>
            <a:r>
              <a:rPr lang="en-GB" dirty="0"/>
              <a:t>: The area of the lot in square feet.</a:t>
            </a:r>
          </a:p>
          <a:p>
            <a:r>
              <a:rPr lang="en-GB" b="1" dirty="0"/>
              <a:t>Overall</a:t>
            </a:r>
            <a:r>
              <a:rPr lang="en-GB" dirty="0"/>
              <a:t> </a:t>
            </a:r>
            <a:r>
              <a:rPr lang="en-GB" b="1" dirty="0"/>
              <a:t>Qual</a:t>
            </a:r>
            <a:r>
              <a:rPr lang="en-GB" dirty="0"/>
              <a:t>: A rating of the overall material and finish of the house (1-10).</a:t>
            </a:r>
          </a:p>
          <a:p>
            <a:r>
              <a:rPr lang="en-GB" b="1" dirty="0"/>
              <a:t>Overall</a:t>
            </a:r>
            <a:r>
              <a:rPr lang="en-GB" dirty="0"/>
              <a:t> </a:t>
            </a:r>
            <a:r>
              <a:rPr lang="en-GB" b="1" dirty="0"/>
              <a:t>Cond</a:t>
            </a:r>
            <a:r>
              <a:rPr lang="en-GB" dirty="0"/>
              <a:t>: A rating of the overall condition of the house (1-10).</a:t>
            </a:r>
          </a:p>
          <a:p>
            <a:r>
              <a:rPr lang="en-GB" b="1" dirty="0"/>
              <a:t>Year</a:t>
            </a:r>
            <a:r>
              <a:rPr lang="en-GB" dirty="0"/>
              <a:t> </a:t>
            </a:r>
            <a:r>
              <a:rPr lang="en-GB" b="1" dirty="0"/>
              <a:t>Built</a:t>
            </a:r>
            <a:r>
              <a:rPr lang="en-GB" dirty="0"/>
              <a:t>: The year the house was built.</a:t>
            </a:r>
          </a:p>
          <a:p>
            <a:r>
              <a:rPr lang="en-GB" b="1" dirty="0"/>
              <a:t>Year</a:t>
            </a:r>
            <a:r>
              <a:rPr lang="en-GB" dirty="0"/>
              <a:t> </a:t>
            </a:r>
            <a:r>
              <a:rPr lang="en-GB" b="1" dirty="0" err="1"/>
              <a:t>Remod</a:t>
            </a:r>
            <a:r>
              <a:rPr lang="en-GB" b="1" dirty="0"/>
              <a:t>/Add</a:t>
            </a:r>
            <a:r>
              <a:rPr lang="en-GB" dirty="0"/>
              <a:t>: The year the house was </a:t>
            </a:r>
            <a:r>
              <a:rPr lang="en-GB" dirty="0" err="1"/>
              <a:t>remodeled</a:t>
            </a:r>
            <a:r>
              <a:rPr lang="en-GB" dirty="0"/>
              <a:t> or had an addition added.</a:t>
            </a:r>
          </a:p>
          <a:p>
            <a:r>
              <a:rPr lang="en-GB" dirty="0"/>
              <a:t>And many more features! (not describing all of them)</a:t>
            </a:r>
          </a:p>
          <a:p>
            <a:r>
              <a:rPr lang="en-GB" dirty="0"/>
              <a:t>The last column is the selling price, which is our output.</a:t>
            </a:r>
          </a:p>
        </p:txBody>
      </p:sp>
    </p:spTree>
    <p:extLst>
      <p:ext uri="{BB962C8B-B14F-4D97-AF65-F5344CB8AC3E}">
        <p14:creationId xmlns:p14="http://schemas.microsoft.com/office/powerpoint/2010/main" val="253017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115" y="1825624"/>
            <a:ext cx="513314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start by loading the </a:t>
            </a:r>
            <a:r>
              <a:rPr lang="en-GB" b="1" dirty="0"/>
              <a:t>Excel</a:t>
            </a:r>
            <a:r>
              <a:rPr lang="en-GB" dirty="0"/>
              <a:t> file into a pandas </a:t>
            </a:r>
            <a:r>
              <a:rPr lang="en-GB" b="1" dirty="0" err="1"/>
              <a:t>DataFrame</a:t>
            </a:r>
            <a:r>
              <a:rPr lang="en-GB" dirty="0"/>
              <a:t> first.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i="1" dirty="0"/>
              <a:t>(Note</a:t>
            </a:r>
            <a:r>
              <a:rPr lang="en-GB" b="1" i="1" dirty="0"/>
              <a:t>: </a:t>
            </a:r>
            <a:r>
              <a:rPr lang="en-GB" i="1" dirty="0"/>
              <a:t>Not familiar with the </a:t>
            </a:r>
            <a:r>
              <a:rPr lang="en-GB" b="1" i="1" dirty="0"/>
              <a:t>pandas</a:t>
            </a:r>
            <a:r>
              <a:rPr lang="en-GB" i="1" dirty="0"/>
              <a:t> library? Find 10 minutes to learn it, it will definitely serve you in the long run!</a:t>
            </a:r>
          </a:p>
          <a:p>
            <a:pPr marL="0" indent="0">
              <a:buNone/>
            </a:pPr>
            <a:r>
              <a:rPr lang="en-GB" i="1" dirty="0">
                <a:hlinkClick r:id="rId2"/>
              </a:rPr>
              <a:t>https://pandas.pydata.org/docs/user_guide/10min.html</a:t>
            </a:r>
            <a:r>
              <a:rPr lang="en-GB" i="1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6780B6-213C-112E-4BD5-2725031A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5" y="627105"/>
            <a:ext cx="6420465" cy="560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22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416-0B18-CDD3-9A37-B441AE8FA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825624"/>
            <a:ext cx="5734665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To write a custom </a:t>
            </a:r>
            <a:r>
              <a:rPr lang="en-GB" b="1" dirty="0"/>
              <a:t>dataset</a:t>
            </a:r>
            <a:r>
              <a:rPr lang="en-GB" dirty="0"/>
              <a:t> </a:t>
            </a:r>
            <a:r>
              <a:rPr lang="en-GB" b="1" dirty="0"/>
              <a:t>class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, we need to:</a:t>
            </a:r>
          </a:p>
          <a:p>
            <a:r>
              <a:rPr lang="en-GB" dirty="0"/>
              <a:t>Create a </a:t>
            </a:r>
            <a:r>
              <a:rPr lang="en-GB" b="1" dirty="0"/>
              <a:t>class</a:t>
            </a:r>
            <a:r>
              <a:rPr lang="en-GB" dirty="0"/>
              <a:t> that </a:t>
            </a:r>
            <a:r>
              <a:rPr lang="en-GB" b="1" dirty="0"/>
              <a:t>subclasses</a:t>
            </a:r>
            <a:r>
              <a:rPr lang="en-GB" dirty="0"/>
              <a:t> </a:t>
            </a:r>
            <a:r>
              <a:rPr lang="en-GB" b="1" dirty="0" err="1"/>
              <a:t>torch.utils.data.Dataset</a:t>
            </a:r>
            <a:r>
              <a:rPr lang="en-GB" dirty="0"/>
              <a:t>.</a:t>
            </a:r>
          </a:p>
          <a:p>
            <a:r>
              <a:rPr lang="en-GB" dirty="0"/>
              <a:t>Define a an </a:t>
            </a:r>
            <a:r>
              <a:rPr lang="en-GB" b="1" dirty="0"/>
              <a:t>__</a:t>
            </a:r>
            <a:r>
              <a:rPr lang="en-GB" b="1" dirty="0" err="1"/>
              <a:t>init</a:t>
            </a:r>
            <a:r>
              <a:rPr lang="en-GB" b="1" dirty="0"/>
              <a:t>__</a:t>
            </a:r>
            <a:r>
              <a:rPr lang="en-GB" dirty="0"/>
              <a:t> that loads the excel file and stores data accordingly.</a:t>
            </a:r>
          </a:p>
          <a:p>
            <a:r>
              <a:rPr lang="en-GB" dirty="0"/>
              <a:t>Define a 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b="1" dirty="0" err="1">
                <a:solidFill>
                  <a:schemeClr val="accent2"/>
                </a:solidFill>
              </a:rPr>
              <a:t>getitem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that takes </a:t>
            </a:r>
            <a:r>
              <a:rPr lang="en-GB" b="1" dirty="0"/>
              <a:t>index</a:t>
            </a:r>
            <a:r>
              <a:rPr lang="en-GB" dirty="0"/>
              <a:t> as input, and </a:t>
            </a:r>
            <a:r>
              <a:rPr lang="en-GB" b="1" dirty="0"/>
              <a:t>returns</a:t>
            </a:r>
            <a:r>
              <a:rPr lang="en-GB" dirty="0"/>
              <a:t> the </a:t>
            </a:r>
            <a:r>
              <a:rPr lang="en-GB" b="1" dirty="0"/>
              <a:t>data</a:t>
            </a:r>
            <a:r>
              <a:rPr lang="en-GB" dirty="0"/>
              <a:t> and </a:t>
            </a:r>
            <a:r>
              <a:rPr lang="en-GB" b="1" dirty="0"/>
              <a:t>label</a:t>
            </a:r>
            <a:r>
              <a:rPr lang="en-GB" dirty="0"/>
              <a:t> at that index as an array. This will allow to use the square bracket notation on our dataset object.</a:t>
            </a:r>
          </a:p>
          <a:p>
            <a:r>
              <a:rPr lang="en-GB" dirty="0"/>
              <a:t>Define a method 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b="1" dirty="0" err="1">
                <a:solidFill>
                  <a:srgbClr val="00B050"/>
                </a:solidFill>
              </a:rPr>
              <a:t>len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that returns the </a:t>
            </a:r>
            <a:r>
              <a:rPr lang="en-GB" b="1" dirty="0"/>
              <a:t>number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samples</a:t>
            </a:r>
            <a:r>
              <a:rPr lang="en-GB" dirty="0"/>
              <a:t> </a:t>
            </a:r>
            <a:r>
              <a:rPr lang="en-GB" b="1" dirty="0"/>
              <a:t>in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9F6DB-60AD-A397-D7ED-293A3E80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76" y="445477"/>
            <a:ext cx="6145224" cy="6047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9E5860-1BF4-26E5-512B-CA4CE44F7254}"/>
              </a:ext>
            </a:extLst>
          </p:cNvPr>
          <p:cNvSpPr/>
          <p:nvPr/>
        </p:nvSpPr>
        <p:spPr>
          <a:xfrm>
            <a:off x="6282813" y="3618271"/>
            <a:ext cx="5840361" cy="170098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52B2A-5921-1288-B852-5D12C0459FCA}"/>
              </a:ext>
            </a:extLst>
          </p:cNvPr>
          <p:cNvSpPr/>
          <p:nvPr/>
        </p:nvSpPr>
        <p:spPr>
          <a:xfrm flipV="1">
            <a:off x="6282812" y="5435628"/>
            <a:ext cx="5840361" cy="94087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4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0FA9-852F-88EB-13B7-0F25F1E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/>
              <a:t>Dataset object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AD40C-3E64-86C3-7D31-7B868446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30" y="1027906"/>
            <a:ext cx="5809435" cy="312615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FFFE41-D034-EA6C-3756-750C5DB81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825624"/>
            <a:ext cx="57346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chemeClr val="accent2"/>
                </a:solidFill>
              </a:rPr>
              <a:t>__</a:t>
            </a:r>
            <a:r>
              <a:rPr lang="en-GB" b="1" dirty="0" err="1">
                <a:solidFill>
                  <a:schemeClr val="accent2"/>
                </a:solidFill>
              </a:rPr>
              <a:t>getitem</a:t>
            </a:r>
            <a:r>
              <a:rPr lang="en-GB" b="1" dirty="0">
                <a:solidFill>
                  <a:schemeClr val="accent2"/>
                </a:solidFill>
              </a:rPr>
              <a:t>__() </a:t>
            </a:r>
            <a:r>
              <a:rPr lang="en-GB" dirty="0"/>
              <a:t>and </a:t>
            </a:r>
            <a:r>
              <a:rPr lang="en-GB" b="1" dirty="0">
                <a:solidFill>
                  <a:srgbClr val="00B050"/>
                </a:solidFill>
              </a:rPr>
              <a:t>__</a:t>
            </a:r>
            <a:r>
              <a:rPr lang="en-GB" b="1" dirty="0" err="1">
                <a:solidFill>
                  <a:srgbClr val="00B050"/>
                </a:solidFill>
              </a:rPr>
              <a:t>len</a:t>
            </a:r>
            <a:r>
              <a:rPr lang="en-GB" b="1" dirty="0">
                <a:solidFill>
                  <a:srgbClr val="00B050"/>
                </a:solidFill>
              </a:rPr>
              <a:t>__() </a:t>
            </a:r>
            <a:r>
              <a:rPr lang="en-GB" dirty="0"/>
              <a:t>special methods will allow for </a:t>
            </a:r>
            <a:r>
              <a:rPr lang="en-GB" b="1" dirty="0"/>
              <a:t>indexing</a:t>
            </a:r>
            <a:r>
              <a:rPr lang="en-GB" dirty="0"/>
              <a:t> and </a:t>
            </a:r>
            <a:r>
              <a:rPr lang="en-GB" b="1" dirty="0"/>
              <a:t>using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loops</a:t>
            </a:r>
            <a:r>
              <a:rPr lang="en-GB" dirty="0"/>
              <a:t> on the dataset object.</a:t>
            </a:r>
          </a:p>
          <a:p>
            <a:r>
              <a:rPr lang="en-GB" dirty="0"/>
              <a:t>Later on, we could ask for the sample #286 using the square bracket notation, as shown on side.</a:t>
            </a:r>
          </a:p>
          <a:p>
            <a:pPr marL="0" indent="0">
              <a:buNone/>
            </a:pPr>
            <a:r>
              <a:rPr lang="en-GB" dirty="0"/>
              <a:t>Similarly, the two special methods are all we need to make a </a:t>
            </a:r>
            <a:r>
              <a:rPr lang="en-GB" b="1" dirty="0"/>
              <a:t>for loop </a:t>
            </a:r>
            <a:r>
              <a:rPr lang="en-GB" dirty="0"/>
              <a:t>that uses the dataset object as the </a:t>
            </a:r>
            <a:r>
              <a:rPr lang="en-GB" b="1" dirty="0"/>
              <a:t>generator</a:t>
            </a:r>
            <a:r>
              <a:rPr lang="en-GB" dirty="0"/>
              <a:t> to be looped over!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3733F-99CE-FF22-3D11-CF470D6B6EF8}"/>
              </a:ext>
            </a:extLst>
          </p:cNvPr>
          <p:cNvSpPr txBox="1"/>
          <p:nvPr/>
        </p:nvSpPr>
        <p:spPr>
          <a:xfrm rot="20736359">
            <a:off x="6892413" y="5053781"/>
            <a:ext cx="501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accent1"/>
                </a:solidFill>
              </a:rPr>
              <a:t>More on the for loop later!</a:t>
            </a:r>
            <a:endParaRPr lang="en-SG" sz="3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 </a:t>
            </a: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Before we can feed this dataset object to Neural Networks, we need to </a:t>
            </a:r>
            <a:r>
              <a:rPr lang="en-GB" b="1" dirty="0"/>
              <a:t>supplement it with a</a:t>
            </a:r>
            <a:r>
              <a:rPr lang="en-GB" dirty="0"/>
              <a:t> </a:t>
            </a:r>
            <a:r>
              <a:rPr lang="en-GB" b="1" dirty="0" err="1"/>
              <a:t>Dataloader</a:t>
            </a:r>
            <a:r>
              <a:rPr lang="en-GB" dirty="0"/>
              <a:t>. It serves as a “conveyor belt” processing and feeding data from the Dataset to the Neural Network.</a:t>
            </a:r>
          </a:p>
          <a:p>
            <a:r>
              <a:rPr lang="en-GB" dirty="0"/>
              <a:t>The </a:t>
            </a:r>
            <a:r>
              <a:rPr lang="en-GB" dirty="0" err="1"/>
              <a:t>Dataloader</a:t>
            </a:r>
            <a:r>
              <a:rPr lang="en-GB" dirty="0"/>
              <a:t> will </a:t>
            </a:r>
            <a:r>
              <a:rPr lang="en-GB" b="1" dirty="0"/>
              <a:t>shuffle the samples randomly </a:t>
            </a:r>
            <a:r>
              <a:rPr lang="en-GB" dirty="0"/>
              <a:t>and produce </a:t>
            </a:r>
            <a:r>
              <a:rPr lang="en-GB" b="1" dirty="0"/>
              <a:t>mini-batches</a:t>
            </a:r>
            <a:r>
              <a:rPr lang="en-GB" dirty="0"/>
              <a:t> of a given size.</a:t>
            </a:r>
          </a:p>
          <a:p>
            <a:r>
              <a:rPr lang="en-GB" dirty="0"/>
              <a:t>This </a:t>
            </a:r>
            <a:r>
              <a:rPr lang="en-GB" dirty="0" err="1"/>
              <a:t>Dataloader</a:t>
            </a:r>
            <a:r>
              <a:rPr lang="en-GB" dirty="0"/>
              <a:t> typically allows for </a:t>
            </a:r>
            <a:r>
              <a:rPr lang="en-GB" b="1" dirty="0"/>
              <a:t>stochastic</a:t>
            </a:r>
            <a:r>
              <a:rPr lang="en-GB" dirty="0"/>
              <a:t> </a:t>
            </a:r>
            <a:r>
              <a:rPr lang="en-GB" b="1" dirty="0"/>
              <a:t>mini-batches</a:t>
            </a:r>
            <a:r>
              <a:rPr lang="en-GB" dirty="0"/>
              <a:t>.</a:t>
            </a:r>
          </a:p>
          <a:p>
            <a:r>
              <a:rPr lang="en-GB" dirty="0"/>
              <a:t>The </a:t>
            </a:r>
            <a:r>
              <a:rPr lang="en-GB" dirty="0" err="1"/>
              <a:t>Dataloader</a:t>
            </a:r>
            <a:r>
              <a:rPr lang="en-GB" dirty="0"/>
              <a:t> will also </a:t>
            </a:r>
            <a:r>
              <a:rPr lang="en-GB" b="1" dirty="0"/>
              <a:t>transform</a:t>
            </a:r>
            <a:r>
              <a:rPr lang="en-GB" dirty="0"/>
              <a:t> </a:t>
            </a:r>
            <a:r>
              <a:rPr lang="en-GB" b="1" dirty="0"/>
              <a:t>any</a:t>
            </a:r>
            <a:r>
              <a:rPr lang="en-GB" dirty="0"/>
              <a:t> </a:t>
            </a:r>
            <a:r>
              <a:rPr lang="en-GB" b="1" dirty="0"/>
              <a:t>arrays</a:t>
            </a:r>
            <a:r>
              <a:rPr lang="en-GB" dirty="0"/>
              <a:t> </a:t>
            </a:r>
            <a:r>
              <a:rPr lang="en-GB" b="1" dirty="0"/>
              <a:t>data</a:t>
            </a:r>
            <a:r>
              <a:rPr lang="en-GB" dirty="0"/>
              <a:t> </a:t>
            </a:r>
            <a:r>
              <a:rPr lang="en-GB" b="1" dirty="0"/>
              <a:t>into</a:t>
            </a:r>
            <a:r>
              <a:rPr lang="en-GB" dirty="0"/>
              <a:t> </a:t>
            </a:r>
            <a:r>
              <a:rPr lang="en-GB" b="1" dirty="0"/>
              <a:t>tensors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EFD81-BD83-5CC8-06BA-C13D969EB1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13"/>
          <a:stretch/>
        </p:blipFill>
        <p:spPr>
          <a:xfrm>
            <a:off x="2295833" y="4971984"/>
            <a:ext cx="7600334" cy="18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37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283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can then use this custom </a:t>
            </a:r>
            <a:r>
              <a:rPr lang="en-GB" dirty="0" err="1"/>
              <a:t>Dataloader</a:t>
            </a:r>
            <a:r>
              <a:rPr lang="en-GB" dirty="0"/>
              <a:t> object as the generator in a training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, to draw mini-batches of samples.</a:t>
            </a:r>
          </a:p>
          <a:p>
            <a:r>
              <a:rPr lang="en-GB" dirty="0"/>
              <a:t>Notice how this </a:t>
            </a:r>
            <a:r>
              <a:rPr lang="en-GB" dirty="0" err="1"/>
              <a:t>Dataloader</a:t>
            </a:r>
            <a:r>
              <a:rPr lang="en-GB" dirty="0"/>
              <a:t> generates </a:t>
            </a:r>
            <a:r>
              <a:rPr lang="en-GB" b="1" dirty="0"/>
              <a:t>92</a:t>
            </a:r>
            <a:r>
              <a:rPr lang="en-GB" dirty="0"/>
              <a:t> (i.e. 2928/32, rounded up) </a:t>
            </a:r>
            <a:r>
              <a:rPr lang="en-GB" b="1" dirty="0"/>
              <a:t>batches</a:t>
            </a:r>
            <a:r>
              <a:rPr lang="en-GB" dirty="0"/>
              <a:t> of </a:t>
            </a:r>
            <a:r>
              <a:rPr lang="en-GB" b="1" dirty="0"/>
              <a:t>32</a:t>
            </a:r>
            <a:r>
              <a:rPr lang="en-GB" dirty="0"/>
              <a:t> </a:t>
            </a:r>
            <a:r>
              <a:rPr lang="en-GB" b="1" dirty="0"/>
              <a:t>samples</a:t>
            </a:r>
            <a:r>
              <a:rPr lang="en-GB" dirty="0"/>
              <a:t>.</a:t>
            </a:r>
          </a:p>
          <a:p>
            <a:r>
              <a:rPr lang="en-GB" dirty="0"/>
              <a:t>With the exception of the </a:t>
            </a:r>
            <a:r>
              <a:rPr lang="en-GB" b="1" dirty="0"/>
              <a:t>last</a:t>
            </a:r>
            <a:r>
              <a:rPr lang="en-GB" dirty="0"/>
              <a:t> </a:t>
            </a:r>
            <a:r>
              <a:rPr lang="en-GB" b="1" dirty="0"/>
              <a:t>batch </a:t>
            </a:r>
            <a:r>
              <a:rPr lang="en-GB" dirty="0"/>
              <a:t>(with index 91), that only contains </a:t>
            </a:r>
            <a:r>
              <a:rPr lang="en-GB" b="1" dirty="0"/>
              <a:t>16</a:t>
            </a:r>
            <a:r>
              <a:rPr lang="en-GB" dirty="0"/>
              <a:t> </a:t>
            </a:r>
            <a:r>
              <a:rPr lang="en-GB" b="1" dirty="0"/>
              <a:t>samples</a:t>
            </a:r>
            <a:br>
              <a:rPr lang="en-GB" b="1" dirty="0"/>
            </a:br>
            <a:r>
              <a:rPr lang="en-GB" dirty="0"/>
              <a:t>(that is 2928 % 32).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B0F9D-FEBD-2A8B-C385-DC251D42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04" y="0"/>
            <a:ext cx="5702484" cy="5303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BC4712-EF9F-3388-F417-3805C2C7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83" y="5669048"/>
            <a:ext cx="2734540" cy="10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42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2A57-EC1A-2D3E-0000-4B064C5B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custom</a:t>
            </a:r>
            <a:br>
              <a:rPr lang="en-GB" dirty="0"/>
            </a:br>
            <a:r>
              <a:rPr lang="en-GB" dirty="0" err="1"/>
              <a:t>Dataloader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A95-7961-91A1-EB76-E57510055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36126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can then use this custom </a:t>
            </a:r>
            <a:r>
              <a:rPr lang="en-GB" dirty="0" err="1"/>
              <a:t>Dataloader</a:t>
            </a:r>
            <a:r>
              <a:rPr lang="en-GB" dirty="0"/>
              <a:t> object as the generator in a training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, to draw mini-batches of samples.</a:t>
            </a:r>
          </a:p>
          <a:p>
            <a:r>
              <a:rPr lang="en-GB" b="1" dirty="0"/>
              <a:t>Good practice: </a:t>
            </a:r>
            <a:r>
              <a:rPr lang="en-GB" dirty="0"/>
              <a:t>the custom Dataset and custom </a:t>
            </a:r>
            <a:r>
              <a:rPr lang="en-GB" dirty="0" err="1"/>
              <a:t>Dataloader</a:t>
            </a:r>
            <a:r>
              <a:rPr lang="en-GB" dirty="0"/>
              <a:t> definition should be repeated to generate </a:t>
            </a:r>
            <a:r>
              <a:rPr lang="en-GB" b="1" dirty="0" err="1"/>
              <a:t>dataloaders</a:t>
            </a:r>
            <a:r>
              <a:rPr lang="en-GB" b="1" dirty="0"/>
              <a:t> for</a:t>
            </a:r>
            <a:r>
              <a:rPr lang="en-GB" dirty="0"/>
              <a:t> </a:t>
            </a:r>
            <a:r>
              <a:rPr lang="en-GB" b="1" dirty="0"/>
              <a:t>training</a:t>
            </a:r>
            <a:r>
              <a:rPr lang="en-GB" dirty="0"/>
              <a:t>, </a:t>
            </a:r>
            <a:r>
              <a:rPr lang="en-GB" b="1" dirty="0"/>
              <a:t>testing</a:t>
            </a:r>
            <a:r>
              <a:rPr lang="en-GB" dirty="0"/>
              <a:t> and </a:t>
            </a:r>
            <a:r>
              <a:rPr lang="en-GB" b="1" dirty="0"/>
              <a:t>validation</a:t>
            </a:r>
            <a:r>
              <a:rPr lang="en-GB" dirty="0"/>
              <a:t> </a:t>
            </a:r>
            <a:r>
              <a:rPr lang="en-GB" b="1" dirty="0"/>
              <a:t>sets</a:t>
            </a:r>
            <a:r>
              <a:rPr lang="en-GB" dirty="0"/>
              <a:t>.</a:t>
            </a:r>
          </a:p>
          <a:p>
            <a:r>
              <a:rPr lang="en-GB" dirty="0"/>
              <a:t>These </a:t>
            </a:r>
            <a:r>
              <a:rPr lang="en-GB" dirty="0" err="1"/>
              <a:t>Dataloaders</a:t>
            </a:r>
            <a:r>
              <a:rPr lang="en-GB" dirty="0"/>
              <a:t> will then be given to our </a:t>
            </a:r>
            <a:r>
              <a:rPr lang="en-GB" b="1" dirty="0"/>
              <a:t>trainer</a:t>
            </a:r>
            <a:r>
              <a:rPr lang="en-GB" dirty="0"/>
              <a:t>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B0F9D-FEBD-2A8B-C385-DC251D42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04" y="0"/>
            <a:ext cx="5702484" cy="5303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BC4712-EF9F-3388-F417-3805C2C7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83" y="5669048"/>
            <a:ext cx="2734540" cy="10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3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6BB7-381E-98E3-6E23-B88B8AD3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9669-6AC0-2567-ACE1-A0D719A9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Built-in datasets</a:t>
            </a:r>
            <a:br>
              <a:rPr lang="en-GB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51B3-9D67-5E3A-4E66-8B4FB9E5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has a few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datasets</a:t>
            </a:r>
            <a:r>
              <a:rPr lang="en-GB" dirty="0"/>
              <a:t>, ready to be downloaded and used on models: typically, the most common ones that have been used in research to demonstrate concepts, such as </a:t>
            </a:r>
            <a:r>
              <a:rPr lang="en-GB" b="1" dirty="0"/>
              <a:t>MNIST</a:t>
            </a:r>
            <a:r>
              <a:rPr lang="en-GB" dirty="0"/>
              <a:t> or </a:t>
            </a:r>
            <a:r>
              <a:rPr lang="en-GB" b="1" dirty="0"/>
              <a:t>CIFAR-10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For more details on the available </a:t>
            </a:r>
            <a:r>
              <a:rPr lang="en-GB" b="1" dirty="0"/>
              <a:t>built-in</a:t>
            </a:r>
            <a:r>
              <a:rPr lang="en-GB" dirty="0"/>
              <a:t> </a:t>
            </a:r>
            <a:r>
              <a:rPr lang="en-GB" b="1" dirty="0"/>
              <a:t>datasets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, have a look at the following page: </a:t>
            </a:r>
            <a:r>
              <a:rPr lang="en-GB" dirty="0">
                <a:hlinkClick r:id="rId2"/>
              </a:rPr>
              <a:t>https://pytorch.org/vision/stable/datasets.html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039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</a:t>
            </a:r>
            <a:r>
              <a:rPr lang="en-GB" dirty="0"/>
              <a:t> is another widely-used dataset for the benchmarking of machine learning and computer vision algorithms. </a:t>
            </a:r>
            <a:r>
              <a:rPr lang="en-GB"/>
              <a:t>It consists of</a:t>
            </a:r>
          </a:p>
          <a:p>
            <a:r>
              <a:rPr lang="en-GB"/>
              <a:t>a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60,000 examples,</a:t>
            </a:r>
          </a:p>
          <a:p>
            <a:r>
              <a:rPr lang="en-GB" dirty="0"/>
              <a:t>and a </a:t>
            </a:r>
            <a:r>
              <a:rPr lang="en-GB" b="1" dirty="0"/>
              <a:t>testing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10,000 examples.</a:t>
            </a:r>
          </a:p>
          <a:p>
            <a:pPr marL="0" indent="0">
              <a:buNone/>
            </a:pPr>
            <a:r>
              <a:rPr lang="en-GB" dirty="0"/>
              <a:t>All samples consist of 28x28 pixel grayscale images of handwritten digits (0 to 9).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78382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 is often used as a "Hello, World!" dataset example</a:t>
            </a:r>
            <a:r>
              <a:rPr lang="en-GB" dirty="0"/>
              <a:t>, due to its simplicity, which allows for efficient implementations of ML/DL algorithms.</a:t>
            </a:r>
          </a:p>
        </p:txBody>
      </p:sp>
      <p:pic>
        <p:nvPicPr>
          <p:cNvPr id="8" name="Picture 7" descr="A picture containing text, keyboard, electronics, computer&#10;&#10;Description automatically generated">
            <a:extLst>
              <a:ext uri="{FF2B5EF4-FFF2-40B4-BE49-F238E27FC236}">
                <a16:creationId xmlns:a16="http://schemas.microsoft.com/office/drawing/2014/main" id="{9C7CDEBC-DB21-8D7A-280E-73E78224C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6" y="3539399"/>
            <a:ext cx="4936171" cy="295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3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MNIST</a:t>
            </a:r>
            <a:r>
              <a:rPr lang="en-GB" dirty="0"/>
              <a:t> is another widely-used dataset for the benchmarking of machine learning and computer vision algorithms. It consists of</a:t>
            </a:r>
          </a:p>
          <a:p>
            <a:r>
              <a:rPr lang="en-GB" dirty="0"/>
              <a:t>a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60,000 examples,</a:t>
            </a:r>
          </a:p>
          <a:p>
            <a:r>
              <a:rPr lang="en-GB" dirty="0"/>
              <a:t>and a </a:t>
            </a:r>
            <a:r>
              <a:rPr lang="en-GB" b="1" dirty="0"/>
              <a:t>testing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 of 10,000 examples.</a:t>
            </a:r>
          </a:p>
          <a:p>
            <a:pPr marL="0" indent="0">
              <a:buNone/>
            </a:pPr>
            <a:r>
              <a:rPr lang="en-GB" dirty="0"/>
              <a:t>All samples consist of 28x28 pixel grayscale images of handwritten digits (0 to 9).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Careful however: </a:t>
            </a:r>
            <a:r>
              <a:rPr lang="en-GB" dirty="0"/>
              <a:t>the MNIST dataset is often accused of having been </a:t>
            </a:r>
            <a:r>
              <a:rPr lang="en-GB" b="1" dirty="0"/>
              <a:t>overused</a:t>
            </a:r>
            <a:r>
              <a:rPr lang="en-GB" dirty="0"/>
              <a:t> and of </a:t>
            </a:r>
            <a:r>
              <a:rPr lang="en-GB" b="1" dirty="0"/>
              <a:t>being</a:t>
            </a:r>
            <a:r>
              <a:rPr lang="en-GB" dirty="0"/>
              <a:t> </a:t>
            </a:r>
            <a:r>
              <a:rPr lang="en-GB" b="1" dirty="0"/>
              <a:t>too</a:t>
            </a:r>
            <a:r>
              <a:rPr lang="en-GB" dirty="0"/>
              <a:t> </a:t>
            </a:r>
            <a:r>
              <a:rPr lang="en-GB" b="1" dirty="0"/>
              <a:t>simple</a:t>
            </a:r>
            <a:r>
              <a:rPr lang="en-GB" dirty="0"/>
              <a:t>. Still great for educational purposes, so for now this will do.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CA5DA-BBDC-B1F1-22A7-C8B1B6EB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38" y="4108022"/>
            <a:ext cx="5081362" cy="257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53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MNIST dataset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Nevertheless, it is a good dataset to </a:t>
            </a:r>
            <a:r>
              <a:rPr lang="en-GB"/>
              <a:t>use for </a:t>
            </a:r>
            <a:r>
              <a:rPr lang="en-GB" dirty="0"/>
              <a:t>getting familiar with the basics of machine learning and deep learning algorithms.</a:t>
            </a:r>
          </a:p>
          <a:p>
            <a:r>
              <a:rPr lang="en-GB" dirty="0"/>
              <a:t>The images serve as inputs, and the task is therefore to predict which of the ten digits appears in the image.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This is therefore a </a:t>
            </a:r>
            <a:r>
              <a:rPr lang="en-GB" b="1" dirty="0"/>
              <a:t>classification</a:t>
            </a:r>
            <a:r>
              <a:rPr lang="en-GB" dirty="0"/>
              <a:t> </a:t>
            </a:r>
            <a:r>
              <a:rPr lang="en-GB" b="1" dirty="0"/>
              <a:t>task</a:t>
            </a:r>
            <a:r>
              <a:rPr lang="en-GB" dirty="0"/>
              <a:t>, like before, except that it consists of </a:t>
            </a:r>
            <a:r>
              <a:rPr lang="en-GB" b="1" dirty="0"/>
              <a:t>10</a:t>
            </a:r>
            <a:r>
              <a:rPr lang="en-GB" dirty="0"/>
              <a:t> </a:t>
            </a:r>
            <a:r>
              <a:rPr lang="en-GB" b="1" dirty="0"/>
              <a:t>different</a:t>
            </a:r>
            <a:r>
              <a:rPr lang="en-GB" dirty="0"/>
              <a:t> </a:t>
            </a:r>
            <a:r>
              <a:rPr lang="en-GB" b="1" dirty="0"/>
              <a:t>classes</a:t>
            </a:r>
            <a:r>
              <a:rPr lang="en-GB" dirty="0"/>
              <a:t> (corresponding to the 0-9 digits) </a:t>
            </a:r>
            <a:r>
              <a:rPr lang="en-GB" b="1" dirty="0"/>
              <a:t>instead of just two like in binary classification</a:t>
            </a:r>
            <a:r>
              <a:rPr lang="en-GB" dirty="0"/>
              <a:t>.</a:t>
            </a:r>
            <a:endParaRPr lang="en-SG" dirty="0"/>
          </a:p>
          <a:p>
            <a:endParaRPr lang="en-SG" dirty="0"/>
          </a:p>
        </p:txBody>
      </p:sp>
      <p:pic>
        <p:nvPicPr>
          <p:cNvPr id="7" name="Picture 6" descr="A picture containing text, keyboard, electronics, computer&#10;&#10;Description automatically generated">
            <a:extLst>
              <a:ext uri="{FF2B5EF4-FFF2-40B4-BE49-F238E27FC236}">
                <a16:creationId xmlns:a16="http://schemas.microsoft.com/office/drawing/2014/main" id="{349FAB0E-66A1-6AB7-392C-4CF215863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084" y="4341811"/>
            <a:ext cx="4103831" cy="245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83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the MNIST Dataset and </a:t>
            </a:r>
            <a:r>
              <a:rPr lang="en-GB" dirty="0" err="1"/>
              <a:t>Dataloader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B49C-8D7A-C4C0-665A-5DDD43CC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17" y="1567763"/>
            <a:ext cx="9490965" cy="50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9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parenthesis: normalizing input data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4AA9-339A-72D8-E8A9-C066A3ED5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practice: Always a good idea to normalize your inputs!</a:t>
            </a:r>
          </a:p>
          <a:p>
            <a:pPr marL="0" indent="0">
              <a:buNone/>
            </a:pPr>
            <a:r>
              <a:rPr lang="en-GB" dirty="0"/>
              <a:t>In general, do the following:</a:t>
            </a:r>
          </a:p>
          <a:p>
            <a:r>
              <a:rPr lang="en-GB" dirty="0"/>
              <a:t>Scale the data (pixel values) to the [0,1] range.</a:t>
            </a:r>
          </a:p>
          <a:p>
            <a:r>
              <a:rPr lang="en-GB" dirty="0"/>
              <a:t>Normalize to have zero mean and unit standard deviation.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906E9-3F26-1680-6CF9-CC031437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36266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MNIST, we will then subtract a mean of 0.1307 and divide by a standard deviation of 0.3081. </a:t>
            </a:r>
          </a:p>
          <a:p>
            <a:pPr marL="0" indent="0">
              <a:buNone/>
            </a:pPr>
            <a:r>
              <a:rPr lang="en-GB" dirty="0"/>
              <a:t>These values are the original mean and standard deviation of the dataset pixels values, which can then be used for normalization!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8346F-EA55-D870-F021-BC9E70E7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95" y="5167313"/>
            <a:ext cx="10097659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2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the MNIST Dataset and </a:t>
            </a:r>
            <a:r>
              <a:rPr lang="en-GB" dirty="0" err="1"/>
              <a:t>Dataloader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B49C-8D7A-C4C0-665A-5DDD43CC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17" y="1567763"/>
            <a:ext cx="9490965" cy="50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Recall (</a:t>
                </a:r>
                <a:r>
                  <a:rPr lang="en-GB" b="1" dirty="0">
                    <a:solidFill>
                      <a:srgbClr val="00B050"/>
                    </a:solidFill>
                  </a:rPr>
                  <a:t>Binary classification probabilities as output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In </a:t>
                </a:r>
                <a:r>
                  <a:rPr lang="en-GB" b="1" dirty="0"/>
                  <a:t>binary</a:t>
                </a:r>
                <a:r>
                  <a:rPr lang="en-GB" dirty="0"/>
                  <a:t> </a:t>
                </a:r>
                <a:r>
                  <a:rPr lang="en-GB" b="1" dirty="0"/>
                  <a:t>classification</a:t>
                </a:r>
                <a:r>
                  <a:rPr lang="en-GB" dirty="0"/>
                  <a:t>, we would produce </a:t>
                </a:r>
                <a:r>
                  <a:rPr lang="en-GB" b="1" dirty="0"/>
                  <a:t>a single value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 as </a:t>
                </a:r>
                <a:r>
                  <a:rPr lang="en-GB" b="1" dirty="0"/>
                  <a:t>output</a:t>
                </a:r>
                <a:r>
                  <a:rPr lang="en-GB" dirty="0"/>
                  <a:t>, with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between 0 and 1.</a:t>
                </a:r>
              </a:p>
              <a:p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 would correspond to the </a:t>
                </a:r>
                <a:r>
                  <a:rPr lang="en-GB" b="1" dirty="0"/>
                  <a:t>probability of being of class 1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probability of being of class 0</a:t>
                </a:r>
                <a:r>
                  <a:rPr lang="en-GB" dirty="0"/>
                  <a:t> would then simply be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We would then use a </a:t>
                </a:r>
                <a:r>
                  <a:rPr lang="en-GB" b="1" dirty="0"/>
                  <a:t>threshold</a:t>
                </a:r>
                <a:r>
                  <a:rPr lang="en-GB" dirty="0"/>
                  <a:t> </a:t>
                </a:r>
                <a:r>
                  <a:rPr lang="en-GB" b="1" dirty="0"/>
                  <a:t>0.5</a:t>
                </a:r>
                <a:r>
                  <a:rPr lang="en-GB" dirty="0"/>
                  <a:t> to decide if the sample is predicted of class 0 or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15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Problem: </a:t>
                </a:r>
                <a:r>
                  <a:rPr lang="en-GB" b="1" dirty="0">
                    <a:solidFill>
                      <a:schemeClr val="tx1"/>
                    </a:solidFill>
                  </a:rPr>
                  <a:t>How could we produce multi-class classification probabilities for all possible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>
                    <a:solidFill>
                      <a:schemeClr val="tx1"/>
                    </a:solidFill>
                  </a:rPr>
                  <a:t> classes as outputs?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Unfortunately, when we have more than 2 classes, </a:t>
                </a:r>
                <a:r>
                  <a:rPr lang="en-GB" b="1" dirty="0"/>
                  <a:t>we can no longer rely on a single output value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Instead, it is often preferable to have the model output </a:t>
                </a:r>
                <a:r>
                  <a:rPr lang="en-GB" b="1" dirty="0"/>
                  <a:t>10 values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, …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dirty="0"/>
                  <a:t> corresponds to the </a:t>
                </a:r>
                <a:r>
                  <a:rPr lang="en-GB" b="1" dirty="0"/>
                  <a:t>probability of being of class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This could typically be done by asking for </a:t>
                </a:r>
                <a:r>
                  <a:rPr lang="en-GB" b="1" dirty="0"/>
                  <a:t>the final layer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GB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values </a:t>
                </a:r>
                <a:r>
                  <a:rPr lang="en-GB" dirty="0"/>
                  <a:t>instead of just a single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value.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74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Unfortunately, this is not good enough.</a:t>
                </a:r>
              </a:p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produced by the network are supposed to represent </a:t>
                </a:r>
                <a:r>
                  <a:rPr lang="en-GB" b="1" dirty="0"/>
                  <a:t>probabilities</a:t>
                </a:r>
                <a:r>
                  <a:rPr lang="en-GB" dirty="0"/>
                  <a:t> and </a:t>
                </a:r>
                <a:r>
                  <a:rPr lang="en-GB" b="1" dirty="0"/>
                  <a:t>their sum should therefore be equal to 1</a:t>
                </a:r>
                <a:r>
                  <a:rPr lang="en-GB" dirty="0"/>
                  <a:t>, 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i="1" dirty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A </a:t>
                </a:r>
                <a:r>
                  <a:rPr lang="en-GB" b="1" dirty="0"/>
                  <a:t>fully</a:t>
                </a:r>
                <a:r>
                  <a:rPr lang="en-GB" dirty="0"/>
                  <a:t> </a:t>
                </a:r>
                <a:r>
                  <a:rPr lang="en-GB" b="1" dirty="0"/>
                  <a:t>connected (or linear)</a:t>
                </a:r>
                <a:r>
                  <a:rPr lang="en-GB" dirty="0"/>
                  <a:t> </a:t>
                </a:r>
                <a:r>
                  <a:rPr lang="en-GB" b="1" dirty="0"/>
                  <a:t>layer</a:t>
                </a:r>
                <a:r>
                  <a:rPr lang="en-GB" dirty="0"/>
                  <a:t> (which implements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operation) cannot do that on its own, as</a:t>
                </a:r>
              </a:p>
              <a:p>
                <a:r>
                  <a:rPr lang="en-GB" dirty="0"/>
                  <a:t>it might produce negative values as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</a:t>
                </a:r>
              </a:p>
              <a:p>
                <a:r>
                  <a:rPr lang="en-GB" dirty="0"/>
                  <a:t>and those values may not sum up to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967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to multi-class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To normalize the outputs produced by the final fully connected layer, we will use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dirty="0"/>
                  <a:t> operation, which is a special activation function.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has two effects:</a:t>
                </a:r>
              </a:p>
              <a:p>
                <a:r>
                  <a:rPr lang="en-GB" dirty="0"/>
                  <a:t>It will force the values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to fall in the range of [0, 1].</a:t>
                </a:r>
              </a:p>
              <a:p>
                <a:r>
                  <a:rPr lang="en-GB" dirty="0"/>
                  <a:t>It will force their sum to be equal to 1, that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i="1" dirty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8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SG" dirty="0"/>
                  <a:t>The </a:t>
                </a:r>
                <a:r>
                  <a:rPr lang="en-SG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SG" dirty="0"/>
                  <a:t> operation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is defined,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,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Note: </a:t>
                </a:r>
                <a:r>
                  <a:rPr lang="en-SG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 notation comes from game theory, and consists of every element in vector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, i.e.: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209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SG" dirty="0"/>
                  <a:t>The </a:t>
                </a:r>
                <a:r>
                  <a:rPr lang="en-SG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SG" dirty="0"/>
                  <a:t> operation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is defined,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,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SG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SG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Cool effect of </a:t>
                </a:r>
                <a:r>
                  <a:rPr lang="en-SG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SG" b="1" dirty="0"/>
                  <a:t>: </a:t>
                </a:r>
                <a:r>
                  <a:rPr lang="en-SG" dirty="0"/>
                  <a:t>The new vector </a:t>
                </a:r>
                <a14:m>
                  <m:oMath xmlns:m="http://schemas.openxmlformats.org/officeDocument/2006/math"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SG" b="1" dirty="0"/>
                  <a:t> is guaranteed to contain </a:t>
                </a:r>
                <a:r>
                  <a:rPr lang="en-SG" b="1" u="sng" dirty="0"/>
                  <a:t>positive</a:t>
                </a:r>
                <a:r>
                  <a:rPr lang="en-SG" b="1" dirty="0"/>
                  <a:t> values, and those values will  be summing up to 1</a:t>
                </a:r>
                <a:r>
                  <a:rPr lang="en-SG" dirty="0"/>
                  <a:t>, 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44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01ED2-F704-9071-69AE-32BD0F75DD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Softmax</a:t>
            </a:r>
            <a:r>
              <a:rPr lang="en-GB" dirty="0"/>
              <a:t> can be manually implemented as: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399317-C624-3FED-3E47-E308708DE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6774" y="835742"/>
            <a:ext cx="4717026" cy="5341221"/>
          </a:xfrm>
        </p:spPr>
        <p:txBody>
          <a:bodyPr/>
          <a:lstStyle/>
          <a:p>
            <a:pPr marL="0" indent="0">
              <a:buNone/>
            </a:pPr>
            <a:r>
              <a:rPr lang="en-GB" b="1" dirty="0" err="1"/>
              <a:t>Softmax</a:t>
            </a:r>
            <a:r>
              <a:rPr lang="en-GB" b="1" dirty="0"/>
              <a:t> effect: </a:t>
            </a:r>
            <a:r>
              <a:rPr lang="en-GB" dirty="0"/>
              <a:t>It will rescale values so that the trend is preserved, but the new vector consists of positive values that sum up to 1.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42E19-8CDC-EBB9-0859-16939903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8900"/>
            <a:ext cx="5869859" cy="347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C5BBC9-8E38-C676-ABB4-829048660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3" y="3148430"/>
            <a:ext cx="5075143" cy="34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45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902-2A36-9C91-5F2C-9819DE23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Softmax</a:t>
            </a:r>
            <a:r>
              <a:rPr lang="en-GB" dirty="0"/>
              <a:t> function and prediction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95067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the case of multi-label classification, we will use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softmax</a:t>
                </a:r>
                <a:r>
                  <a:rPr lang="en-GB" dirty="0"/>
                  <a:t> operation </a:t>
                </a:r>
                <a:r>
                  <a:rPr lang="en-GB" b="1" dirty="0"/>
                  <a:t>as the final activation after the last fully connected layer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This will produce a vector of 10 positive values,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Which can be used as the </a:t>
                </a:r>
                <a:r>
                  <a:rPr lang="en-GB" b="1" dirty="0"/>
                  <a:t>probabilities for sample of being of class 𝑖.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/>
                  <a:t>predicted class according to the model </a:t>
                </a:r>
                <a:r>
                  <a:rPr lang="en-GB" dirty="0"/>
                  <a:t>is then defined as the variable</a:t>
                </a:r>
                <a:r>
                  <a:rPr lang="en-GB" b="1" dirty="0"/>
                  <a:t> 𝑝𝑟𝑒𝑑</a:t>
                </a:r>
                <a:r>
                  <a:rPr lang="en-GB" dirty="0"/>
                  <a:t>,</a:t>
                </a:r>
                <a:r>
                  <a:rPr lang="en-GB" b="1" dirty="0"/>
                  <a:t> </a:t>
                </a:r>
                <a:r>
                  <a:rPr lang="en-GB" dirty="0"/>
                  <a:t>corresponding to the index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of the highest probability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i.e.: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𝑝𝑟𝑒𝑑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 dirty="0" err="1" smtClean="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</m:t>
                      </m:r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950677" cy="5032375"/>
              </a:xfrm>
              <a:blipFill>
                <a:blip r:embed="rId2"/>
                <a:stretch>
                  <a:fillRect l="-1113" t="-1937" r="-4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329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C011-4D27-FDC4-61D9-F0559D84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1477-3BF5-2284-D4E3-CE18C477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3A306-BF91-C568-1748-542CF0A0125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For instance, this simple neural network consists of </a:t>
                </a:r>
                <a:r>
                  <a:rPr lang="en-GB" b="1" dirty="0"/>
                  <a:t>two fully-connected/linear layers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A </a:t>
                </a:r>
                <a:r>
                  <a:rPr lang="en-GB" b="1" dirty="0"/>
                  <a:t>single </a:t>
                </a:r>
                <a:r>
                  <a:rPr lang="en-GB" b="1" dirty="0" err="1"/>
                  <a:t>ReLU</a:t>
                </a:r>
                <a:r>
                  <a:rPr lang="en-GB" b="1" dirty="0"/>
                  <a:t> activation </a:t>
                </a:r>
                <a:r>
                  <a:rPr lang="en-GB" dirty="0"/>
                  <a:t>is used between both layers.</a:t>
                </a:r>
              </a:p>
              <a:p>
                <a:pPr marL="0" indent="0">
                  <a:buNone/>
                </a:pPr>
                <a:r>
                  <a:rPr lang="en-GB" b="1" dirty="0"/>
                  <a:t>No final </a:t>
                </a:r>
                <a:r>
                  <a:rPr lang="en-GB" b="1" dirty="0" err="1"/>
                  <a:t>softmax</a:t>
                </a:r>
                <a:r>
                  <a:rPr lang="en-GB" b="1" dirty="0"/>
                  <a:t> activation yet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It also consists of a </a:t>
                </a:r>
                <a:r>
                  <a:rPr lang="en-GB" b="1" dirty="0"/>
                  <a:t>flattening</a:t>
                </a:r>
                <a:r>
                  <a:rPr lang="en-GB" dirty="0"/>
                  <a:t> operation, which will transform our input images (2D tensors, size 28 by 28), into a “flattened” 1D tensor with size 784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=28×28</m:t>
                    </m:r>
                  </m:oMath>
                </a14:m>
                <a:r>
                  <a:rPr lang="en-GB" dirty="0"/>
                  <a:t>).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14AA9-339A-72D8-E8A9-C066A3ED5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4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3FFB917-03AC-A1EC-96A2-AD6CC24D2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54467"/>
            <a:ext cx="603016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33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4B781-4127-18BD-0A62-15A963EF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80B8-F02F-81A4-905C-A12A73155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606" y="1825624"/>
            <a:ext cx="546919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neural network model, with </a:t>
            </a:r>
            <a:r>
              <a:rPr lang="en-GB" b="1" dirty="0"/>
              <a:t>784 input size</a:t>
            </a:r>
            <a:r>
              <a:rPr lang="en-GB" dirty="0"/>
              <a:t>, </a:t>
            </a:r>
            <a:r>
              <a:rPr lang="en-GB" b="1" dirty="0"/>
              <a:t>128 hidden size</a:t>
            </a:r>
            <a:r>
              <a:rPr lang="en-GB" dirty="0"/>
              <a:t>, and </a:t>
            </a:r>
            <a:r>
              <a:rPr lang="en-GB" b="1" dirty="0"/>
              <a:t>10 output size</a:t>
            </a:r>
            <a:r>
              <a:rPr lang="en-GB" dirty="0"/>
              <a:t>, and transferring all the model parameters to a device (e.g. CUDA).</a:t>
            </a:r>
          </a:p>
          <a:p>
            <a:r>
              <a:rPr lang="en-GB" dirty="0"/>
              <a:t>Next, we get </a:t>
            </a:r>
            <a:r>
              <a:rPr lang="en-GB" b="1" dirty="0"/>
              <a:t>a single sample </a:t>
            </a:r>
            <a:r>
              <a:rPr lang="en-GB" dirty="0"/>
              <a:t>from the </a:t>
            </a:r>
            <a:r>
              <a:rPr lang="en-GB" b="1" dirty="0" err="1"/>
              <a:t>train_loader</a:t>
            </a:r>
            <a:r>
              <a:rPr lang="en-GB" dirty="0"/>
              <a:t> iterator and extract sample info in the variables data and target.</a:t>
            </a:r>
          </a:p>
          <a:p>
            <a:r>
              <a:rPr lang="en-GB" dirty="0"/>
              <a:t>This can be simply done with the </a:t>
            </a:r>
            <a:r>
              <a:rPr lang="en-GB" b="1" dirty="0"/>
              <a:t>next</a:t>
            </a:r>
            <a:r>
              <a:rPr lang="en-GB" dirty="0"/>
              <a:t> and </a:t>
            </a:r>
            <a:r>
              <a:rPr lang="en-GB" b="1" dirty="0" err="1"/>
              <a:t>iter</a:t>
            </a:r>
            <a:r>
              <a:rPr lang="en-GB" dirty="0"/>
              <a:t> functions.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B4763-EFF8-7A15-EF7C-DB3468C4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72561" cy="52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53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4B781-4127-18BD-0A62-15A963EF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80B8-F02F-81A4-905C-A12A73155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969" y="1825624"/>
            <a:ext cx="5425831" cy="5032375"/>
          </a:xfrm>
        </p:spPr>
        <p:txBody>
          <a:bodyPr>
            <a:normAutofit/>
          </a:bodyPr>
          <a:lstStyle/>
          <a:p>
            <a:r>
              <a:rPr lang="en-GB" dirty="0"/>
              <a:t>Next, perform a forward pass through the model, storing the </a:t>
            </a:r>
            <a:r>
              <a:rPr lang="en-GB" b="1" dirty="0"/>
              <a:t>output</a:t>
            </a:r>
            <a:r>
              <a:rPr lang="en-GB" dirty="0"/>
              <a:t> in the variable </a:t>
            </a:r>
            <a:r>
              <a:rPr lang="en-GB" b="1" dirty="0"/>
              <a:t>out2</a:t>
            </a:r>
            <a:r>
              <a:rPr lang="en-GB" dirty="0"/>
              <a:t>.</a:t>
            </a:r>
          </a:p>
          <a:p>
            <a:r>
              <a:rPr lang="en-GB" dirty="0"/>
              <a:t>Apply the </a:t>
            </a:r>
            <a:r>
              <a:rPr lang="en-GB" b="1" dirty="0" err="1"/>
              <a:t>softmax</a:t>
            </a:r>
            <a:r>
              <a:rPr lang="en-GB" dirty="0"/>
              <a:t> operation on </a:t>
            </a:r>
            <a:r>
              <a:rPr lang="en-GB" b="1" dirty="0"/>
              <a:t>out2</a:t>
            </a:r>
            <a:r>
              <a:rPr lang="en-GB" dirty="0"/>
              <a:t>. </a:t>
            </a:r>
            <a:r>
              <a:rPr lang="en-GB" dirty="0" err="1"/>
              <a:t>PyTorch</a:t>
            </a:r>
            <a:r>
              <a:rPr lang="en-GB" dirty="0"/>
              <a:t> offers a functional </a:t>
            </a:r>
            <a:r>
              <a:rPr lang="en-GB" dirty="0" err="1"/>
              <a:t>implmentation</a:t>
            </a:r>
            <a:r>
              <a:rPr lang="en-GB" dirty="0"/>
              <a:t> of the </a:t>
            </a:r>
            <a:r>
              <a:rPr lang="en-GB" dirty="0" err="1"/>
              <a:t>softmax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i="1" dirty="0" err="1"/>
              <a:t>torch.nn.functional.softmax</a:t>
            </a:r>
            <a:r>
              <a:rPr lang="en-GB" i="1" dirty="0"/>
              <a:t>()</a:t>
            </a:r>
          </a:p>
          <a:p>
            <a:r>
              <a:rPr lang="en-GB" dirty="0"/>
              <a:t>We can then verify that </a:t>
            </a:r>
            <a:r>
              <a:rPr lang="en-GB" b="1" dirty="0" err="1"/>
              <a:t>softmax</a:t>
            </a:r>
            <a:r>
              <a:rPr lang="en-GB" b="1" dirty="0"/>
              <a:t> will adjust the output of the neural network correctly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EAAD4-D459-DB3F-C0FA-6588AC11F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72561" cy="52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79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852659-0D91-C13B-6A9F-B688CF7A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Implementation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BFA246-AA73-67B0-2D31-98CDFA32F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Our model is however implementing the same forward method as before.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b="1" u="sng" dirty="0">
                <a:solidFill>
                  <a:srgbClr val="7030A0"/>
                </a:solidFill>
              </a:rPr>
              <a:t>In fact, we will </a:t>
            </a:r>
            <a:r>
              <a:rPr lang="en-GB" b="1" u="sng" dirty="0">
                <a:solidFill>
                  <a:srgbClr val="FF0000"/>
                </a:solidFill>
              </a:rPr>
              <a:t>not</a:t>
            </a:r>
            <a:r>
              <a:rPr lang="en-GB" b="1" u="sng" dirty="0">
                <a:solidFill>
                  <a:srgbClr val="7030A0"/>
                </a:solidFill>
              </a:rPr>
              <a:t> use the </a:t>
            </a:r>
            <a:r>
              <a:rPr lang="en-GB" b="1" u="sng" dirty="0" err="1">
                <a:solidFill>
                  <a:srgbClr val="7030A0"/>
                </a:solidFill>
              </a:rPr>
              <a:t>softmax</a:t>
            </a:r>
            <a:r>
              <a:rPr lang="en-GB" b="1" u="sng" dirty="0">
                <a:solidFill>
                  <a:srgbClr val="7030A0"/>
                </a:solidFill>
              </a:rPr>
              <a:t> operation as the final activation function in the forward method.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This is normal as </a:t>
            </a:r>
            <a:r>
              <a:rPr lang="en-GB" b="1" dirty="0"/>
              <a:t>the </a:t>
            </a:r>
            <a:r>
              <a:rPr lang="en-GB" b="1" dirty="0" err="1"/>
              <a:t>softmax</a:t>
            </a:r>
            <a:r>
              <a:rPr lang="en-GB" b="1" dirty="0"/>
              <a:t> operation </a:t>
            </a:r>
            <a:r>
              <a:rPr lang="en-GB" dirty="0"/>
              <a:t>will be applied </a:t>
            </a:r>
            <a:r>
              <a:rPr lang="en-GB" b="1" u="sng" dirty="0"/>
              <a:t>in the loss function instead</a:t>
            </a:r>
            <a:r>
              <a:rPr lang="en-GB" dirty="0"/>
              <a:t>, that is the </a:t>
            </a:r>
            <a:r>
              <a:rPr lang="en-GB" b="1" dirty="0" err="1"/>
              <a:t>cross_entropy</a:t>
            </a:r>
            <a:r>
              <a:rPr lang="en-GB" b="1" dirty="0"/>
              <a:t>() function</a:t>
            </a:r>
            <a:r>
              <a:rPr lang="en-GB" dirty="0"/>
              <a:t>, which will be summoned in the </a:t>
            </a:r>
            <a:r>
              <a:rPr lang="en-GB" b="1" dirty="0"/>
              <a:t>trainer</a:t>
            </a:r>
            <a:r>
              <a:rPr lang="en-GB" dirty="0"/>
              <a:t>() later.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5250B-5390-28A6-504E-461FA801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54467"/>
            <a:ext cx="603016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82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852659-0D91-C13B-6A9F-B688CF7A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binary cross entropy…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ABFA246-AA73-67B0-2D31-98CDFA32F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Speaking of, in the case of the </a:t>
                </a:r>
                <a:r>
                  <a:rPr lang="en-GB" b="1" dirty="0"/>
                  <a:t>binary</a:t>
                </a:r>
                <a:r>
                  <a:rPr lang="en-GB" dirty="0"/>
                  <a:t> </a:t>
                </a:r>
                <a:r>
                  <a:rPr lang="en-GB" b="1" dirty="0"/>
                  <a:t>classification</a:t>
                </a:r>
                <a:r>
                  <a:rPr lang="en-GB" dirty="0"/>
                  <a:t>, we used the following loss function, namely the </a:t>
                </a:r>
                <a:r>
                  <a:rPr lang="en-GB" b="1" dirty="0"/>
                  <a:t>log-likelihood binary cross entropy function.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1− </m:t>
                          </m:r>
                          <m:sSub>
                            <m:sSubPr>
                              <m:ctrlP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 dirty="0" err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 dirty="0" err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r>
                  <a:rPr lang="en-GB" dirty="0"/>
                  <a:t>But in the case of MNIST, </a:t>
                </a:r>
                <a:r>
                  <a:rPr lang="en-GB" b="1" dirty="0"/>
                  <a:t>we have more than two classes…</a:t>
                </a:r>
              </a:p>
              <a:p>
                <a:pPr marL="0" indent="0">
                  <a:buNone/>
                </a:pPr>
                <a:endParaRPr lang="en-GB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7030A0"/>
                    </a:solidFill>
                  </a:rPr>
                  <a:t>How does the loss function change now that we have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>
                    <a:solidFill>
                      <a:srgbClr val="7030A0"/>
                    </a:solidFill>
                  </a:rPr>
                  <a:t> classes?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ABFA246-AA73-67B0-2D31-98CDFA32F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571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9F1-D18C-ED8D-1EF1-E2042C47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multi-class cross entropy!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adjustment is actually quite simple, and the </a:t>
                </a:r>
                <a:r>
                  <a:rPr lang="en-GB" b="1" dirty="0"/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multi-class cross-entropy loss function </a:t>
                </a:r>
                <a:r>
                  <a:rPr lang="en-GB" dirty="0"/>
                  <a:t>simply rewrites as shown below: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nary>
                          <m:func>
                            <m:func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the formula above,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denotes the </a:t>
                </a:r>
                <a:r>
                  <a:rPr lang="en-GB" b="1" dirty="0"/>
                  <a:t>probability for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of being of being predicted as class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, according to our model.</a:t>
                </a:r>
              </a:p>
              <a:p>
                <a:pPr marL="0" indent="0">
                  <a:buNone/>
                </a:pPr>
                <a:r>
                  <a:rPr lang="en-GB" dirty="0"/>
                  <a:t>In other words, it is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value of the output vector produced by the model for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:r>
                  <a:rPr lang="en-GB" b="1" dirty="0"/>
                  <a:t>after </a:t>
                </a:r>
                <a:r>
                  <a:rPr lang="en-GB" b="1" dirty="0" err="1"/>
                  <a:t>softmax</a:t>
                </a:r>
                <a:r>
                  <a:rPr lang="en-GB" b="1" dirty="0"/>
                  <a:t> has been applied to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 of the forward method of the model</a:t>
                </a:r>
                <a:r>
                  <a:rPr lang="en-GB" dirty="0"/>
                  <a:t>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391" b="-2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596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9F1-D18C-ED8D-1EF1-E2042C47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multi-class cross entropy!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Recall the function in the previous slide: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nary>
                          <m:func>
                            <m:func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Similarly, we will define the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GB" dirty="0"/>
                  <a:t> as the ground truth value for the probability of being of class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for sample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if the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we define: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(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, … </m:t>
                      </m:r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  <m:r>
                        <a:rPr lang="en-GB" i="1" dirty="0">
                          <a:latin typeface="Cambria Math" panose="02040503050406030204" pitchFamily="18" charset="0"/>
                        </a:rPr>
                        <m:t>) = (0, 0, 1, 0, …, 0).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say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is the </a:t>
                </a:r>
                <a:r>
                  <a:rPr lang="en-GB" b="1" dirty="0">
                    <a:solidFill>
                      <a:srgbClr val="00B050"/>
                    </a:solidFill>
                  </a:rPr>
                  <a:t>one-hot vector </a:t>
                </a:r>
                <a:r>
                  <a:rPr lang="en-GB" dirty="0"/>
                  <a:t>for the sample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with class 2.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78A-0975-EE46-490C-B98DC55AC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862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D8A6-B599-B063-57F1-1C39C0DC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a model in train/eval mode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3411-BB5D-79FF-453C-75044757B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New good practice: </a:t>
            </a:r>
            <a:r>
              <a:rPr lang="en-GB" dirty="0"/>
              <a:t>some operations (layers, activations, etc.) in the forward method will have </a:t>
            </a:r>
            <a:r>
              <a:rPr lang="en-GB" b="1" dirty="0"/>
              <a:t>two different </a:t>
            </a:r>
            <a:r>
              <a:rPr lang="en-GB" b="1" dirty="0" err="1"/>
              <a:t>behaviors</a:t>
            </a:r>
            <a:r>
              <a:rPr lang="en-GB" dirty="0"/>
              <a:t> depending whether</a:t>
            </a:r>
          </a:p>
          <a:p>
            <a:r>
              <a:rPr lang="en-GB" dirty="0"/>
              <a:t>the model is currently </a:t>
            </a:r>
            <a:r>
              <a:rPr lang="en-GB" b="1" dirty="0"/>
              <a:t>training</a:t>
            </a:r>
            <a:r>
              <a:rPr lang="en-GB" dirty="0"/>
              <a:t>,</a:t>
            </a:r>
          </a:p>
          <a:p>
            <a:r>
              <a:rPr lang="en-GB" dirty="0"/>
              <a:t>or if we are using its trained version for </a:t>
            </a:r>
            <a:r>
              <a:rPr lang="en-GB" b="1" dirty="0"/>
              <a:t>evaluation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i="1" dirty="0"/>
              <a:t>(Note: at the moment, we have not seen such operations.)</a:t>
            </a:r>
          </a:p>
          <a:p>
            <a:pPr marL="0" indent="0">
              <a:buNone/>
            </a:pPr>
            <a:r>
              <a:rPr lang="en-GB" dirty="0"/>
              <a:t>But let us keep this in mind and accept that is good practice to set the model to either </a:t>
            </a:r>
            <a:r>
              <a:rPr lang="en-GB" b="1" dirty="0"/>
              <a:t>train() </a:t>
            </a:r>
            <a:r>
              <a:rPr lang="en-GB" dirty="0"/>
              <a:t>or </a:t>
            </a:r>
            <a:r>
              <a:rPr lang="en-GB" b="1" dirty="0"/>
              <a:t>eval() </a:t>
            </a:r>
            <a:r>
              <a:rPr lang="en-GB" dirty="0"/>
              <a:t>mode.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37326-8F63-DA00-EC3D-4F042F04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078" y="5341646"/>
            <a:ext cx="7963843" cy="15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849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D06D-BD00-566A-9A00-21671B70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our model with Adam GD, as before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2D4A35-E555-1F2A-6430-5DE46FFA8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65" y="1436468"/>
            <a:ext cx="9333270" cy="542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88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D06D-BD00-566A-9A00-21671B70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 mode and accuracy after training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741876-3C5F-A683-C589-99A3ED536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After training, we will evaluate our trained model to check its accuracy on the test set.</a:t>
            </a:r>
          </a:p>
          <a:p>
            <a:r>
              <a:rPr lang="en-GB" dirty="0"/>
              <a:t>Set the model in </a:t>
            </a:r>
            <a:r>
              <a:rPr lang="en-GB" b="1" dirty="0"/>
              <a:t>eval() mode (good practice for later)</a:t>
            </a:r>
            <a:r>
              <a:rPr lang="en-GB" dirty="0"/>
              <a:t>.</a:t>
            </a:r>
          </a:p>
          <a:p>
            <a:r>
              <a:rPr lang="en-GB" dirty="0"/>
              <a:t>Predict on </a:t>
            </a:r>
            <a:r>
              <a:rPr lang="en-GB" b="1" dirty="0"/>
              <a:t>test</a:t>
            </a:r>
            <a:r>
              <a:rPr lang="en-GB" dirty="0"/>
              <a:t> </a:t>
            </a:r>
            <a:r>
              <a:rPr lang="en-GB" b="1" dirty="0" err="1"/>
              <a:t>dataloader</a:t>
            </a:r>
            <a:r>
              <a:rPr lang="en-GB" dirty="0"/>
              <a:t>.</a:t>
            </a:r>
          </a:p>
          <a:p>
            <a:r>
              <a:rPr lang="en-GB" dirty="0"/>
              <a:t>Calculate </a:t>
            </a:r>
            <a:r>
              <a:rPr lang="en-GB" b="1" dirty="0"/>
              <a:t>accuracy</a:t>
            </a:r>
            <a:r>
              <a:rPr lang="en-GB" dirty="0"/>
              <a:t> manually</a:t>
            </a:r>
            <a:br>
              <a:rPr lang="en-GB" dirty="0"/>
            </a:br>
            <a:r>
              <a:rPr lang="en-GB" dirty="0"/>
              <a:t>(we could have probably also used a torch function to do that).</a:t>
            </a:r>
          </a:p>
          <a:p>
            <a:r>
              <a:rPr lang="en-GB" b="1" dirty="0"/>
              <a:t>97% accuracy = a rather nicely trained model!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C9528-03CA-7CE2-2FC1-C6013EF2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69295"/>
            <a:ext cx="589679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41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is now time…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now time for us to define and train a </a:t>
            </a:r>
            <a:r>
              <a:rPr lang="en-GB" b="1" dirty="0">
                <a:solidFill>
                  <a:srgbClr val="00B050"/>
                </a:solidFill>
              </a:rPr>
              <a:t>Deep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Neural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Network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Deep Neural Networks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/>
              <a:t>By definition, a </a:t>
            </a:r>
            <a:r>
              <a:rPr lang="en-GB" b="1" dirty="0">
                <a:solidFill>
                  <a:srgbClr val="00B050"/>
                </a:solidFill>
              </a:rPr>
              <a:t>deep neural network </a:t>
            </a:r>
            <a:r>
              <a:rPr lang="en-GB" b="1" dirty="0"/>
              <a:t>is a neural network, which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b="1" dirty="0"/>
              <a:t>consists of more than two hidden layers.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To demonstrate, we will create a deep neural network with </a:t>
            </a:r>
            <a:r>
              <a:rPr lang="en-GB" u="sng" dirty="0"/>
              <a:t>four</a:t>
            </a:r>
            <a:r>
              <a:rPr lang="en-GB" dirty="0"/>
              <a:t> layers:</a:t>
            </a:r>
          </a:p>
          <a:p>
            <a:r>
              <a:rPr lang="en-GB" b="1" dirty="0"/>
              <a:t>three</a:t>
            </a:r>
            <a:r>
              <a:rPr lang="en-GB" dirty="0"/>
              <a:t>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layers</a:t>
            </a:r>
            <a:r>
              <a:rPr lang="en-GB" dirty="0"/>
              <a:t> with </a:t>
            </a:r>
            <a:r>
              <a:rPr lang="en-GB" b="1" dirty="0" err="1"/>
              <a:t>ReLU</a:t>
            </a:r>
            <a:r>
              <a:rPr lang="en-GB" dirty="0"/>
              <a:t> activation,</a:t>
            </a:r>
          </a:p>
          <a:p>
            <a:r>
              <a:rPr lang="en-GB" dirty="0"/>
              <a:t>followed by </a:t>
            </a:r>
            <a:r>
              <a:rPr lang="en-GB" b="1" dirty="0"/>
              <a:t>one</a:t>
            </a:r>
            <a:r>
              <a:rPr lang="en-GB" dirty="0"/>
              <a:t>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</a:t>
            </a:r>
            <a:r>
              <a:rPr lang="en-GB" dirty="0"/>
              <a:t>, finished with a </a:t>
            </a:r>
            <a:r>
              <a:rPr lang="en-GB" b="1" dirty="0" err="1"/>
              <a:t>softmax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171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is now time…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25624"/>
            <a:ext cx="6046838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Reminder:</a:t>
            </a:r>
            <a:r>
              <a:rPr lang="en-GB" dirty="0"/>
              <a:t> </a:t>
            </a:r>
            <a:r>
              <a:rPr lang="en-GB" b="1" dirty="0"/>
              <a:t>it is good practice to have the size of layers decrease progressively by a factor of at least 2</a:t>
            </a:r>
            <a:r>
              <a:rPr lang="en-GB" dirty="0"/>
              <a:t>.</a:t>
            </a:r>
          </a:p>
          <a:p>
            <a:r>
              <a:rPr lang="en-GB" dirty="0"/>
              <a:t>the first layer has inputs size 784 and outputs size 80,</a:t>
            </a:r>
          </a:p>
          <a:p>
            <a:r>
              <a:rPr lang="en-GB" dirty="0"/>
              <a:t>the second layer has inputs size 80 and outputs size 40,</a:t>
            </a:r>
          </a:p>
          <a:p>
            <a:r>
              <a:rPr lang="en-GB" dirty="0"/>
              <a:t>the third layer has inputs size 40 and outputs size 20,</a:t>
            </a:r>
          </a:p>
          <a:p>
            <a:r>
              <a:rPr lang="en-GB" dirty="0"/>
              <a:t>and the fourth layer has inputs size 20 and outputs size 10, matching the number of classes in the dataset.</a:t>
            </a:r>
            <a:endParaRPr lang="en-SG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E7BE80-0CA2-4B8B-69D7-5C91E3AB8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13" y="3429000"/>
            <a:ext cx="5318625" cy="285453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129023-F68E-078F-9134-3441B0D61EA9}"/>
              </a:ext>
            </a:extLst>
          </p:cNvPr>
          <p:cNvSpPr txBox="1">
            <a:spLocks/>
          </p:cNvSpPr>
          <p:nvPr/>
        </p:nvSpPr>
        <p:spPr>
          <a:xfrm flipH="1">
            <a:off x="6563033" y="1825624"/>
            <a:ext cx="5451986" cy="1477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Note:</a:t>
            </a:r>
            <a:r>
              <a:rPr lang="en-GB" dirty="0"/>
              <a:t> a layer-by-layer model summary can be seen by printing the model object!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1798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Good practice: create </a:t>
            </a:r>
            <a:r>
              <a:rPr lang="en-GB" b="1" dirty="0">
                <a:solidFill>
                  <a:srgbClr val="00B050"/>
                </a:solidFill>
              </a:rPr>
              <a:t>building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blocks</a:t>
            </a:r>
            <a:r>
              <a:rPr lang="en-GB" b="1" dirty="0"/>
              <a:t> for modularity.</a:t>
            </a:r>
          </a:p>
          <a:p>
            <a:r>
              <a:rPr lang="en-GB" dirty="0"/>
              <a:t>The </a:t>
            </a:r>
            <a:r>
              <a:rPr lang="en-GB" b="1" dirty="0" err="1"/>
              <a:t>DenseReLU</a:t>
            </a:r>
            <a:r>
              <a:rPr lang="en-GB" dirty="0"/>
              <a:t> class is a custom </a:t>
            </a:r>
            <a:r>
              <a:rPr lang="en-GB" dirty="0" err="1"/>
              <a:t>PyTorch</a:t>
            </a:r>
            <a:r>
              <a:rPr lang="en-GB" dirty="0"/>
              <a:t> module that consists of a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layer</a:t>
            </a:r>
            <a:r>
              <a:rPr lang="en-GB" dirty="0"/>
              <a:t> followed by a </a:t>
            </a:r>
            <a:r>
              <a:rPr lang="en-GB" b="1" dirty="0" err="1"/>
              <a:t>ReLU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 function.</a:t>
            </a:r>
          </a:p>
          <a:p>
            <a:r>
              <a:rPr lang="en-GB" dirty="0"/>
              <a:t>The </a:t>
            </a:r>
            <a:r>
              <a:rPr lang="en-GB" b="1" dirty="0" err="1"/>
              <a:t>DenseNoRELU</a:t>
            </a:r>
            <a:r>
              <a:rPr lang="en-GB" dirty="0"/>
              <a:t> class is similar, but it applies </a:t>
            </a:r>
            <a:r>
              <a:rPr lang="en-GB" b="1" dirty="0"/>
              <a:t>no</a:t>
            </a:r>
            <a:r>
              <a:rPr lang="en-GB" dirty="0"/>
              <a:t> </a:t>
            </a:r>
            <a:r>
              <a:rPr lang="en-GB" b="1" dirty="0"/>
              <a:t>activation </a:t>
            </a:r>
            <a:r>
              <a:rPr lang="en-GB" dirty="0"/>
              <a:t>function. </a:t>
            </a:r>
          </a:p>
          <a:p>
            <a:pPr marL="0" indent="0">
              <a:buNone/>
            </a:pPr>
            <a:r>
              <a:rPr lang="en-GB" b="1" dirty="0"/>
              <a:t>Important</a:t>
            </a:r>
            <a:r>
              <a:rPr lang="en-GB" dirty="0"/>
              <a:t> </a:t>
            </a:r>
            <a:r>
              <a:rPr lang="en-GB" b="1" dirty="0"/>
              <a:t>note:</a:t>
            </a:r>
            <a:r>
              <a:rPr lang="en-GB" dirty="0"/>
              <a:t> not using </a:t>
            </a:r>
            <a:r>
              <a:rPr lang="en-GB" dirty="0" err="1"/>
              <a:t>softmax</a:t>
            </a:r>
            <a:r>
              <a:rPr lang="en-GB" dirty="0"/>
              <a:t> as final activation here, for the same reasons as before.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7C5F7-862A-F758-549D-0F8847F2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066" y="1573457"/>
            <a:ext cx="5809110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53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DeepNeuralNet</a:t>
            </a:r>
            <a:r>
              <a:rPr lang="en-GB" dirty="0"/>
              <a:t> class will here represent the overall deep neural network.</a:t>
            </a:r>
          </a:p>
          <a:p>
            <a:pPr marL="0" indent="0">
              <a:buNone/>
            </a:pPr>
            <a:r>
              <a:rPr lang="en-GB" dirty="0"/>
              <a:t>It starts by initializing four layers:</a:t>
            </a:r>
          </a:p>
          <a:p>
            <a:r>
              <a:rPr lang="en-GB" dirty="0"/>
              <a:t>Three </a:t>
            </a:r>
            <a:r>
              <a:rPr lang="en-GB" b="1" dirty="0" err="1"/>
              <a:t>DenseReLU</a:t>
            </a:r>
            <a:r>
              <a:rPr lang="en-GB" dirty="0"/>
              <a:t> blocks,</a:t>
            </a:r>
          </a:p>
          <a:p>
            <a:r>
              <a:rPr lang="en-GB" dirty="0"/>
              <a:t>And one </a:t>
            </a:r>
            <a:r>
              <a:rPr lang="en-GB" b="1" dirty="0" err="1"/>
              <a:t>DenseNoReLU</a:t>
            </a:r>
            <a:r>
              <a:rPr lang="en-GB" b="1" dirty="0"/>
              <a:t> </a:t>
            </a:r>
            <a:r>
              <a:rPr lang="en-GB" dirty="0"/>
              <a:t>block.</a:t>
            </a:r>
          </a:p>
          <a:p>
            <a:pPr marL="0" indent="0">
              <a:buNone/>
            </a:pPr>
            <a:r>
              <a:rPr lang="en-GB" dirty="0"/>
              <a:t>It then combines all blocks into a single </a:t>
            </a:r>
            <a:r>
              <a:rPr lang="en-GB" dirty="0" err="1"/>
              <a:t>PyTorch</a:t>
            </a:r>
            <a:r>
              <a:rPr lang="en-GB" dirty="0"/>
              <a:t> sequential model using </a:t>
            </a:r>
            <a:r>
              <a:rPr lang="en-GB" b="1" dirty="0" err="1"/>
              <a:t>torch.nn.Sequential</a:t>
            </a:r>
            <a:r>
              <a:rPr lang="en-GB" b="1" dirty="0"/>
              <a:t>()</a:t>
            </a:r>
            <a:r>
              <a:rPr lang="en-GB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2D7FC-95F1-CCDC-5A07-03771A45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0CC6F8-3B60-1E59-AC98-6A0AD36B8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76" y="5654558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16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forward pass of the network is then simply defined, using the following steps:</a:t>
            </a:r>
          </a:p>
          <a:p>
            <a:r>
              <a:rPr lang="en-GB" dirty="0"/>
              <a:t>The input image is flattened, transforming a 2D tensor image into a 1D tensor,</a:t>
            </a:r>
          </a:p>
          <a:p>
            <a:r>
              <a:rPr lang="en-GB" dirty="0"/>
              <a:t>It is then passed through the combined layers/blocks we have assembled in the Sequential().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D2652-D490-2FE4-7503-4B66383E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BBE6B-CA2E-A219-1DD0-72B4197A1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76" y="5654558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34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82E3-0CF1-4CB6-B079-94D3470F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blocks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38E1-0E19-7F02-7FE0-49EBCE47E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practice: </a:t>
            </a:r>
            <a:r>
              <a:rPr lang="en-GB" dirty="0"/>
              <a:t>This modular block-based approach, which</a:t>
            </a:r>
          </a:p>
          <a:p>
            <a:r>
              <a:rPr lang="en-GB" b="1" dirty="0"/>
              <a:t>Defines blocks of layers,</a:t>
            </a:r>
          </a:p>
          <a:p>
            <a:r>
              <a:rPr lang="en-GB" dirty="0"/>
              <a:t>And eventually </a:t>
            </a:r>
            <a:r>
              <a:rPr lang="en-GB" b="1" dirty="0"/>
              <a:t>assembles them into a larger Deep Neural Network object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Is very common and convenient, especially when the architectures are very heavy and include many layers. It helps to organize</a:t>
            </a:r>
            <a:br>
              <a:rPr lang="en-GB" dirty="0"/>
            </a:br>
            <a:r>
              <a:rPr lang="en-GB" dirty="0"/>
              <a:t>the mess!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D2652-D490-2FE4-7503-4B66383E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063"/>
            <a:ext cx="6019798" cy="5142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2AFA82-4109-7FB0-8594-582930CE5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941" y="5861036"/>
            <a:ext cx="652553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11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0F7B-FCDE-9FCE-D101-EFA2910E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our model as before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45792-4524-0575-15DD-9B0C0E7D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10" y="1429159"/>
            <a:ext cx="9720379" cy="542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59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218B-DBCC-8ECF-CA17-2ECA31EE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Careful: Deeper does not mean better!</a:t>
            </a:r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7E55B2-99AA-F595-1154-A6F073159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Shallow Neural Net: 96.5% test acc.</a:t>
            </a:r>
            <a:br>
              <a:rPr lang="en-GB" dirty="0"/>
            </a:br>
            <a:r>
              <a:rPr lang="en-GB" dirty="0"/>
              <a:t>(not too bad in terms of acc.)</a:t>
            </a:r>
            <a:endParaRPr lang="en-S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B82369-5B36-7EDE-1000-6F2B86EC6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780748" cy="823912"/>
          </a:xfrm>
        </p:spPr>
        <p:txBody>
          <a:bodyPr>
            <a:normAutofit fontScale="92500"/>
          </a:bodyPr>
          <a:lstStyle/>
          <a:p>
            <a:r>
              <a:rPr lang="en-GB" dirty="0"/>
              <a:t>Deep Neural Net: 93.7% test acc.</a:t>
            </a:r>
            <a:br>
              <a:rPr lang="en-GB" dirty="0"/>
            </a:br>
            <a:r>
              <a:rPr lang="en-GB" dirty="0"/>
              <a:t>(lower acc., even though we had a lower loss?!)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D90A8-456B-5F58-9651-22FD72D0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685" y="2505075"/>
            <a:ext cx="5781263" cy="4182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D8491-3C63-7CFD-3324-DD862B42E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7" y="2505075"/>
            <a:ext cx="5331897" cy="41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28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9DCB71-F74D-D630-9FB0-C463BCE4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Experimenting on layers numbers and sizes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CF84BB-623D-B616-27C5-F9CC541D22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fact, in Notebook 7, we trained three DNN models:</a:t>
                </a:r>
              </a:p>
              <a:p>
                <a:r>
                  <a:rPr lang="en-GB" b="1" dirty="0"/>
                  <a:t>Model 1: </a:t>
                </a:r>
                <a:r>
                  <a:rPr lang="en-GB" dirty="0"/>
                  <a:t>6 layers (probably too many layers)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[320, 160, 80, 40, 20],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Model 2: </a:t>
                </a:r>
                <a:r>
                  <a:rPr lang="en-GB" dirty="0"/>
                  <a:t>3 layers (layers probably too large)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[400, 200],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Model 3: </a:t>
                </a:r>
                <a:r>
                  <a:rPr lang="en-GB" dirty="0"/>
                  <a:t>3 layers (just fine?)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[40, 20].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While simpler, model 3 has highest test accuracy!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CF84BB-623D-B616-27C5-F9CC541D2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 r="-5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F669AF8-B316-44F0-1C56-849775CD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480183"/>
            <a:ext cx="5978042" cy="41697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B172A0-05B2-C1BA-B01D-1B1E9A49139A}"/>
              </a:ext>
            </a:extLst>
          </p:cNvPr>
          <p:cNvSpPr txBox="1"/>
          <p:nvPr/>
        </p:nvSpPr>
        <p:spPr>
          <a:xfrm>
            <a:off x="5911660" y="5573387"/>
            <a:ext cx="6194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Important lesson: Larger and deeper network does not necessarily mean better performance!</a:t>
            </a:r>
            <a:br>
              <a:rPr lang="en-GB" sz="2400" b="1" dirty="0">
                <a:solidFill>
                  <a:srgbClr val="7030A0"/>
                </a:solidFill>
              </a:rPr>
            </a:br>
            <a:r>
              <a:rPr lang="en-GB" sz="2400" b="1" dirty="0">
                <a:solidFill>
                  <a:srgbClr val="7030A0"/>
                </a:solidFill>
              </a:rPr>
              <a:t>(Deeper and larger models could overfit!)</a:t>
            </a:r>
            <a:endParaRPr lang="en-SG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78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8BA8-9DEC-4471-8590-434E8D8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(Week 3)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549C-D723-41E6-8478-270ACE0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PyTorch</a:t>
            </a:r>
            <a:r>
              <a:rPr lang="en-US" dirty="0"/>
              <a:t> library and its benefits</a:t>
            </a:r>
          </a:p>
          <a:p>
            <a:r>
              <a:rPr lang="en-US" dirty="0"/>
              <a:t>Tensor objects, attributes and operations on tensors</a:t>
            </a:r>
          </a:p>
          <a:p>
            <a:r>
              <a:rPr lang="en-US" dirty="0"/>
              <a:t>Converting our NumPy shallow neural network into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Parameter objects</a:t>
            </a:r>
          </a:p>
          <a:p>
            <a:r>
              <a:rPr lang="en-US" dirty="0"/>
              <a:t>Forward method implementation</a:t>
            </a:r>
          </a:p>
          <a:p>
            <a:r>
              <a:rPr lang="en-US" dirty="0"/>
              <a:t>Performance benefits of GPU acceleration</a:t>
            </a:r>
          </a:p>
          <a:p>
            <a:r>
              <a:rPr lang="en-US" dirty="0"/>
              <a:t>Using </a:t>
            </a:r>
            <a:r>
              <a:rPr lang="en-US" dirty="0" err="1"/>
              <a:t>autograd</a:t>
            </a:r>
            <a:r>
              <a:rPr lang="en-US" dirty="0"/>
              <a:t> and </a:t>
            </a:r>
            <a:r>
              <a:rPr lang="en-US" dirty="0" err="1"/>
              <a:t>compuitational</a:t>
            </a:r>
            <a:r>
              <a:rPr lang="en-US" dirty="0"/>
              <a:t> graphs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0A50-DCDA-4FEF-986F-775F5306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Advanced optimizers in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Initializers in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Regularization in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Dataset and </a:t>
            </a:r>
            <a:r>
              <a:rPr lang="en-US" dirty="0" err="1"/>
              <a:t>Dataloader</a:t>
            </a:r>
            <a:r>
              <a:rPr lang="en-US" dirty="0"/>
              <a:t> objects</a:t>
            </a:r>
          </a:p>
          <a:p>
            <a:r>
              <a:rPr lang="en-US" dirty="0"/>
              <a:t>Multi-class classification</a:t>
            </a:r>
          </a:p>
          <a:p>
            <a:r>
              <a:rPr lang="en-US" dirty="0" err="1"/>
              <a:t>Softmax</a:t>
            </a:r>
            <a:r>
              <a:rPr lang="en-US" dirty="0"/>
              <a:t> function and multi-class cross entropy loss</a:t>
            </a:r>
          </a:p>
          <a:p>
            <a:r>
              <a:rPr lang="en-US" dirty="0"/>
              <a:t>Building blocks in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Our first Deep Neural Network!</a:t>
            </a:r>
          </a:p>
          <a:p>
            <a:r>
              <a:rPr lang="en-US" dirty="0"/>
              <a:t>Network size vs. overfitting tradeoff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0814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CD5660-3AA0-1773-354B-1B2326A4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</a:t>
            </a:r>
            <a:r>
              <a:rPr lang="en-GB"/>
              <a:t>and HW announcement</a:t>
            </a:r>
            <a:r>
              <a:rPr lang="en-GB" dirty="0"/>
              <a:t>!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CF8BE-879B-5BE7-5756-1FE0DC7D5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 us </a:t>
            </a:r>
            <a:r>
              <a:rPr lang="en-GB"/>
              <a:t>discuss it now.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037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3643</Words>
  <Application>Microsoft Office PowerPoint</Application>
  <PresentationFormat>Widescreen</PresentationFormat>
  <Paragraphs>293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Office Theme</vt:lpstr>
      <vt:lpstr>50.039 Theory and Practice of Deep Learning W3-S3 Introduction to Deep Learning using the PyTorch framework</vt:lpstr>
      <vt:lpstr>Introduction (Week 3)</vt:lpstr>
      <vt:lpstr>Introduction (Week 3)</vt:lpstr>
      <vt:lpstr>Introduction (Week 3)</vt:lpstr>
      <vt:lpstr>To summarize (last two sessions)</vt:lpstr>
      <vt:lpstr>PowerPoint Presentation</vt:lpstr>
      <vt:lpstr>Writing a custom Dataset object</vt:lpstr>
      <vt:lpstr>A look at our dataset Excel file</vt:lpstr>
      <vt:lpstr>Writing a custom Dataset object</vt:lpstr>
      <vt:lpstr>Writing a custom Dataset object</vt:lpstr>
      <vt:lpstr>Writing a custom Dataset object</vt:lpstr>
      <vt:lpstr>Writing a custom Dataset object</vt:lpstr>
      <vt:lpstr>Writing a custom Dataset object</vt:lpstr>
      <vt:lpstr>Writing a custom Dataloader</vt:lpstr>
      <vt:lpstr>Writing a custom Dataloader</vt:lpstr>
      <vt:lpstr>Writing a custom Dataloader</vt:lpstr>
      <vt:lpstr>Built-in datasets </vt:lpstr>
      <vt:lpstr>Introducing the MNIST dataset</vt:lpstr>
      <vt:lpstr>Introducing the MNIST dataset</vt:lpstr>
      <vt:lpstr>Introducing the MNIST dataset</vt:lpstr>
      <vt:lpstr>Writing the MNIST Dataset and Dataloader</vt:lpstr>
      <vt:lpstr>Quick parenthesis: normalizing input data</vt:lpstr>
      <vt:lpstr>Writing the MNIST Dataset and Dataloader</vt:lpstr>
      <vt:lpstr>From binary to multi-class classification</vt:lpstr>
      <vt:lpstr>From binary to multi-class classification</vt:lpstr>
      <vt:lpstr>From binary to multi-class classification</vt:lpstr>
      <vt:lpstr>From binary to multi-class classification</vt:lpstr>
      <vt:lpstr>Softmax function</vt:lpstr>
      <vt:lpstr>Softmax function</vt:lpstr>
      <vt:lpstr>Softmax function</vt:lpstr>
      <vt:lpstr>Softmax function and prediction</vt:lpstr>
      <vt:lpstr>Implementation</vt:lpstr>
      <vt:lpstr>Implementation</vt:lpstr>
      <vt:lpstr>Implementation</vt:lpstr>
      <vt:lpstr>Forward Implementation</vt:lpstr>
      <vt:lpstr>From binary cross entropy…</vt:lpstr>
      <vt:lpstr>…To multi-class cross entropy!</vt:lpstr>
      <vt:lpstr>…To multi-class cross entropy!</vt:lpstr>
      <vt:lpstr>Setting a model in train/eval mode</vt:lpstr>
      <vt:lpstr>Training our model with Adam GD, as before</vt:lpstr>
      <vt:lpstr>Eval mode and accuracy after training</vt:lpstr>
      <vt:lpstr>It is now time…</vt:lpstr>
      <vt:lpstr>It is now time…</vt:lpstr>
      <vt:lpstr>Creating blocks</vt:lpstr>
      <vt:lpstr>Creating blocks</vt:lpstr>
      <vt:lpstr>Creating blocks</vt:lpstr>
      <vt:lpstr>Creating blocks</vt:lpstr>
      <vt:lpstr>Training our model as before</vt:lpstr>
      <vt:lpstr>Careful: Deeper does not mean better!</vt:lpstr>
      <vt:lpstr>Experimenting on layers numbers and sizes</vt:lpstr>
      <vt:lpstr>Conclusion (Week 3)</vt:lpstr>
      <vt:lpstr>Project and HW announcement!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2026-01-16T05:55:20Z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