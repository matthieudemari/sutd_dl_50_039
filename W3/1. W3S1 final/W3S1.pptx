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377" r:id="rId2"/>
    <p:sldId id="760" r:id="rId3"/>
    <p:sldId id="783" r:id="rId4"/>
    <p:sldId id="784" r:id="rId5"/>
    <p:sldId id="405" r:id="rId6"/>
    <p:sldId id="378" r:id="rId7"/>
    <p:sldId id="785" r:id="rId8"/>
    <p:sldId id="406" r:id="rId9"/>
    <p:sldId id="379" r:id="rId10"/>
    <p:sldId id="407" r:id="rId11"/>
    <p:sldId id="408" r:id="rId12"/>
    <p:sldId id="409" r:id="rId13"/>
    <p:sldId id="410" r:id="rId14"/>
    <p:sldId id="411" r:id="rId15"/>
    <p:sldId id="413" r:id="rId16"/>
    <p:sldId id="412" r:id="rId17"/>
    <p:sldId id="414" r:id="rId18"/>
    <p:sldId id="415" r:id="rId19"/>
    <p:sldId id="416" r:id="rId20"/>
    <p:sldId id="417" r:id="rId21"/>
    <p:sldId id="380" r:id="rId22"/>
    <p:sldId id="418" r:id="rId23"/>
    <p:sldId id="419" r:id="rId24"/>
    <p:sldId id="420" r:id="rId25"/>
    <p:sldId id="381" r:id="rId26"/>
    <p:sldId id="421" r:id="rId27"/>
    <p:sldId id="422" r:id="rId28"/>
    <p:sldId id="382" r:id="rId29"/>
    <p:sldId id="423" r:id="rId30"/>
    <p:sldId id="425" r:id="rId31"/>
    <p:sldId id="424" r:id="rId32"/>
    <p:sldId id="426" r:id="rId33"/>
    <p:sldId id="646" r:id="rId34"/>
    <p:sldId id="383" r:id="rId35"/>
    <p:sldId id="647" r:id="rId36"/>
    <p:sldId id="648" r:id="rId37"/>
    <p:sldId id="649" r:id="rId38"/>
    <p:sldId id="384" r:id="rId39"/>
    <p:sldId id="385" r:id="rId40"/>
    <p:sldId id="650" r:id="rId41"/>
    <p:sldId id="651" r:id="rId42"/>
    <p:sldId id="386" r:id="rId43"/>
    <p:sldId id="652" r:id="rId44"/>
    <p:sldId id="787" r:id="rId45"/>
    <p:sldId id="404" r:id="rId46"/>
    <p:sldId id="78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0. Introduction" id="{2FD0FF71-F5FC-4EB7-B2CB-B31E4CBECD79}">
          <p14:sldIdLst>
            <p14:sldId id="760"/>
            <p14:sldId id="783"/>
            <p14:sldId id="784"/>
          </p14:sldIdLst>
        </p14:section>
        <p14:section name="I.1. The PyTorch framework and its benefits" id="{3DB4E890-7E90-4FB2-B232-A4CA3E58405F}">
          <p14:sldIdLst>
            <p14:sldId id="405"/>
            <p14:sldId id="378"/>
            <p14:sldId id="785"/>
            <p14:sldId id="406"/>
          </p14:sldIdLst>
        </p14:section>
        <p14:section name="I.2. The PyTorch Tensor object" id="{1768638D-70DA-424F-8896-144E38C20B7E}">
          <p14:sldIdLst>
            <p14:sldId id="379"/>
            <p14:sldId id="407"/>
            <p14:sldId id="408"/>
            <p14:sldId id="409"/>
            <p14:sldId id="410"/>
            <p14:sldId id="411"/>
            <p14:sldId id="413"/>
            <p14:sldId id="412"/>
          </p14:sldIdLst>
        </p14:section>
        <p14:section name="I.3. Basic operations on Tensors" id="{D24780B9-223D-471E-BEA1-2E21C247BAE1}">
          <p14:sldIdLst>
            <p14:sldId id="414"/>
            <p14:sldId id="415"/>
            <p14:sldId id="416"/>
            <p14:sldId id="417"/>
            <p14:sldId id="380"/>
            <p14:sldId id="418"/>
            <p14:sldId id="419"/>
            <p14:sldId id="420"/>
          </p14:sldIdLst>
        </p14:section>
        <p14:section name="I.4. A quick note on broadcasting" id="{3C6B118A-E43B-4020-95D5-D22B27E8CE6F}">
          <p14:sldIdLst>
            <p14:sldId id="381"/>
            <p14:sldId id="421"/>
            <p14:sldId id="422"/>
          </p14:sldIdLst>
        </p14:section>
        <p14:section name="I.5. Tensor locations" id="{771AE218-AC06-4FBC-B137-8E732849AA6C}">
          <p14:sldIdLst>
            <p14:sldId id="382"/>
            <p14:sldId id="423"/>
            <p14:sldId id="425"/>
            <p14:sldId id="424"/>
            <p14:sldId id="426"/>
          </p14:sldIdLst>
        </p14:section>
        <p14:section name="II.1. Converting our model into PyTorch" id="{A7F7FB4A-93A3-4669-8DFC-6DF59244797C}">
          <p14:sldIdLst>
            <p14:sldId id="646"/>
            <p14:sldId id="383"/>
            <p14:sldId id="647"/>
            <p14:sldId id="648"/>
            <p14:sldId id="649"/>
          </p14:sldIdLst>
        </p14:section>
        <p14:section name="II.2. Writing a forward method" id="{EE78A32E-26E9-4654-8BBF-1E279E6C714E}">
          <p14:sldIdLst>
            <p14:sldId id="384"/>
          </p14:sldIdLst>
        </p14:section>
        <p14:section name="II.3. Implementing a loss and accuracy" id="{D114062D-C6B3-459C-BCC8-5DE3703BF52F}">
          <p14:sldIdLst>
            <p14:sldId id="385"/>
            <p14:sldId id="650"/>
            <p14:sldId id="651"/>
          </p14:sldIdLst>
        </p14:section>
        <p14:section name="II.4. Computation times: GPU vs. CPU" id="{66311FC7-18C1-4097-8DBA-A5161CD65364}">
          <p14:sldIdLst>
            <p14:sldId id="386"/>
            <p14:sldId id="652"/>
            <p14:sldId id="787"/>
          </p14:sldIdLst>
        </p14:section>
        <p14:section name="II.5. A bit of practice" id="{7E6DFD35-08C1-4CD1-A069-3CEB97555F1B}">
          <p14:sldIdLst>
            <p14:sldId id="404"/>
            <p14:sldId id="7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225343-4154-4EC3-8453-B93582813BD1}" v="2" dt="2026-01-12T06:13:44.6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modSld">
      <pc:chgData name="Matthieu De Mari" userId="dfb708c9-d8dc-439f-9a3b-c772bf4a311c" providerId="ADAL" clId="{81E9B007-0C2C-493E-9B93-55A62C9C1F12}" dt="2026-01-12T06:13:44.670" v="4"/>
      <pc:docMkLst>
        <pc:docMk/>
      </pc:docMkLst>
      <pc:sldChg chg="modSp mod">
        <pc:chgData name="Matthieu De Mari" userId="dfb708c9-d8dc-439f-9a3b-c772bf4a311c" providerId="ADAL" clId="{81E9B007-0C2C-493E-9B93-55A62C9C1F12}" dt="2025-12-18T22:17:52.423" v="0" actId="20577"/>
        <pc:sldMkLst>
          <pc:docMk/>
          <pc:sldMk cId="380766058" sldId="378"/>
        </pc:sldMkLst>
        <pc:spChg chg="mod">
          <ac:chgData name="Matthieu De Mari" userId="dfb708c9-d8dc-439f-9a3b-c772bf4a311c" providerId="ADAL" clId="{81E9B007-0C2C-493E-9B93-55A62C9C1F12}" dt="2025-12-18T22:17:52.423" v="0" actId="20577"/>
          <ac:spMkLst>
            <pc:docMk/>
            <pc:sldMk cId="380766058" sldId="378"/>
            <ac:spMk id="3" creationId="{65399E50-9E84-8D67-B55F-073C06C3D10E}"/>
          </ac:spMkLst>
        </pc:spChg>
      </pc:sldChg>
      <pc:sldChg chg="addSp modSp">
        <pc:chgData name="Matthieu De Mari" userId="dfb708c9-d8dc-439f-9a3b-c772bf4a311c" providerId="ADAL" clId="{81E9B007-0C2C-493E-9B93-55A62C9C1F12}" dt="2026-01-12T06:13:22.383" v="3"/>
        <pc:sldMkLst>
          <pc:docMk/>
          <pc:sldMk cId="1172112343" sldId="648"/>
        </pc:sldMkLst>
        <pc:spChg chg="add mod">
          <ac:chgData name="Matthieu De Mari" userId="dfb708c9-d8dc-439f-9a3b-c772bf4a311c" providerId="ADAL" clId="{81E9B007-0C2C-493E-9B93-55A62C9C1F12}" dt="2026-01-12T06:13:22.383" v="3"/>
          <ac:spMkLst>
            <pc:docMk/>
            <pc:sldMk cId="1172112343" sldId="648"/>
            <ac:spMk id="3" creationId="{A5A47B96-2DBF-902D-F1DB-5A5C00D7DCF1}"/>
          </ac:spMkLst>
        </pc:spChg>
      </pc:sldChg>
      <pc:sldChg chg="modSp mod">
        <pc:chgData name="Matthieu De Mari" userId="dfb708c9-d8dc-439f-9a3b-c772bf4a311c" providerId="ADAL" clId="{81E9B007-0C2C-493E-9B93-55A62C9C1F12}" dt="2026-01-12T06:13:44.670" v="4"/>
        <pc:sldMkLst>
          <pc:docMk/>
          <pc:sldMk cId="1146881653" sldId="649"/>
        </pc:sldMkLst>
        <pc:spChg chg="mod">
          <ac:chgData name="Matthieu De Mari" userId="dfb708c9-d8dc-439f-9a3b-c772bf4a311c" providerId="ADAL" clId="{81E9B007-0C2C-493E-9B93-55A62C9C1F12}" dt="2026-01-12T06:13:44.670" v="4"/>
          <ac:spMkLst>
            <pc:docMk/>
            <pc:sldMk cId="1146881653" sldId="649"/>
            <ac:spMk id="3" creationId="{DC9D8363-826B-D189-78FB-CCD945BC5477}"/>
          </ac:spMkLst>
        </pc:spChg>
      </pc:sldChg>
      <pc:sldChg chg="modSp mod">
        <pc:chgData name="Matthieu De Mari" userId="dfb708c9-d8dc-439f-9a3b-c772bf4a311c" providerId="ADAL" clId="{81E9B007-0C2C-493E-9B93-55A62C9C1F12}" dt="2025-12-18T22:20:21.245" v="2" actId="20577"/>
        <pc:sldMkLst>
          <pc:docMk/>
          <pc:sldMk cId="4225424130" sldId="787"/>
        </pc:sldMkLst>
        <pc:spChg chg="mod">
          <ac:chgData name="Matthieu De Mari" userId="dfb708c9-d8dc-439f-9a3b-c772bf4a311c" providerId="ADAL" clId="{81E9B007-0C2C-493E-9B93-55A62C9C1F12}" dt="2025-12-18T22:20:21.245" v="2" actId="20577"/>
          <ac:spMkLst>
            <pc:docMk/>
            <pc:sldMk cId="4225424130" sldId="787"/>
            <ac:spMk id="3" creationId="{811BFAB2-CE03-4B19-15B7-5D788C13B2F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assemblyai.com/blog/pytorch-vs-tensorflow-in-2022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W3-S1 Introduction to Deep Learning using the </a:t>
            </a:r>
            <a:r>
              <a:rPr lang="en-US" dirty="0" err="1"/>
              <a:t>PyTorch</a:t>
            </a:r>
            <a:r>
              <a:rPr lang="en-US"/>
              <a:t> framework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What is the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library</a:t>
            </a:r>
            <a:r>
              <a:rPr lang="en-GB" dirty="0"/>
              <a:t> and its </a:t>
            </a:r>
            <a:r>
              <a:rPr lang="en-GB" b="1" dirty="0"/>
              <a:t>benefits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a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object</a:t>
            </a:r>
            <a:r>
              <a:rPr lang="en-GB" dirty="0"/>
              <a:t> and its typical </a:t>
            </a:r>
            <a:r>
              <a:rPr lang="en-GB" b="1" dirty="0"/>
              <a:t>attributes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some typical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operations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</a:t>
            </a:r>
            <a:r>
              <a:rPr lang="en-GB" b="1" dirty="0"/>
              <a:t>broadcasting</a:t>
            </a:r>
            <a:r>
              <a:rPr lang="en-GB" dirty="0"/>
              <a:t> on tensors?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locations</a:t>
            </a:r>
            <a:r>
              <a:rPr lang="en-GB" dirty="0"/>
              <a:t> in terms of computation?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</a:t>
            </a:r>
            <a:r>
              <a:rPr lang="en-GB" b="1" dirty="0"/>
              <a:t>transform</a:t>
            </a:r>
            <a:r>
              <a:rPr lang="en-GB" dirty="0"/>
              <a:t> </a:t>
            </a:r>
            <a:r>
              <a:rPr lang="en-GB" b="1" dirty="0"/>
              <a:t>our</a:t>
            </a:r>
            <a:r>
              <a:rPr lang="en-GB" dirty="0"/>
              <a:t> </a:t>
            </a:r>
            <a:r>
              <a:rPr lang="en-GB" b="1" dirty="0"/>
              <a:t>original</a:t>
            </a:r>
            <a:r>
              <a:rPr lang="en-GB" dirty="0"/>
              <a:t> </a:t>
            </a:r>
            <a:r>
              <a:rPr lang="en-GB" b="1" dirty="0"/>
              <a:t>NumPy</a:t>
            </a:r>
            <a:r>
              <a:rPr lang="en-GB" dirty="0"/>
              <a:t>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 so it uses </a:t>
            </a:r>
            <a:r>
              <a:rPr lang="en-GB" b="1" dirty="0" err="1"/>
              <a:t>PyTorch</a:t>
            </a:r>
            <a:r>
              <a:rPr lang="en-GB" dirty="0"/>
              <a:t> now instead?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a </a:t>
            </a:r>
            <a:r>
              <a:rPr lang="en-GB" b="1" dirty="0"/>
              <a:t>forward</a:t>
            </a:r>
            <a:r>
              <a:rPr lang="en-GB" dirty="0"/>
              <a:t>,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metric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some measurable </a:t>
            </a:r>
            <a:r>
              <a:rPr lang="en-GB" b="1" dirty="0"/>
              <a:t>performance</a:t>
            </a:r>
            <a:r>
              <a:rPr lang="en-GB" dirty="0"/>
              <a:t> </a:t>
            </a:r>
            <a:r>
              <a:rPr lang="en-GB" b="1" dirty="0"/>
              <a:t>benefits</a:t>
            </a:r>
            <a:r>
              <a:rPr lang="en-GB" dirty="0"/>
              <a:t> of using </a:t>
            </a:r>
            <a:r>
              <a:rPr lang="en-GB" b="1" dirty="0" err="1"/>
              <a:t>PyTorch</a:t>
            </a:r>
            <a:r>
              <a:rPr lang="en-GB" dirty="0"/>
              <a:t> over NumPy and </a:t>
            </a:r>
            <a:r>
              <a:rPr lang="en-GB" b="1" dirty="0"/>
              <a:t>GPUs</a:t>
            </a:r>
            <a:r>
              <a:rPr lang="en-GB" dirty="0"/>
              <a:t> over CPUs?</a:t>
            </a:r>
          </a:p>
          <a:p>
            <a:pPr marL="514350" indent="-514350">
              <a:buFont typeface="+mj-lt"/>
              <a:buAutoNum type="arabicPeriod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17324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9"/>
            </a:pPr>
            <a:r>
              <a:rPr lang="en-GB" dirty="0"/>
              <a:t>What is the </a:t>
            </a:r>
            <a:r>
              <a:rPr lang="en-GB" b="1" dirty="0" err="1"/>
              <a:t>autograd</a:t>
            </a:r>
            <a:r>
              <a:rPr lang="en-GB" dirty="0"/>
              <a:t>/</a:t>
            </a:r>
            <a:r>
              <a:rPr lang="en-GB" b="1" dirty="0"/>
              <a:t>backprop</a:t>
            </a:r>
            <a:r>
              <a:rPr lang="en-GB" dirty="0"/>
              <a:t> module in </a:t>
            </a:r>
            <a:r>
              <a:rPr lang="en-GB" dirty="0" err="1"/>
              <a:t>PyTorch</a:t>
            </a:r>
            <a:r>
              <a:rPr lang="en-GB" dirty="0"/>
              <a:t>, and how does it use a </a:t>
            </a:r>
            <a:r>
              <a:rPr lang="en-GB" b="1" dirty="0"/>
              <a:t>computational</a:t>
            </a:r>
            <a:r>
              <a:rPr lang="en-GB" dirty="0"/>
              <a:t> </a:t>
            </a:r>
            <a:r>
              <a:rPr lang="en-GB" b="1" dirty="0"/>
              <a:t>graph</a:t>
            </a:r>
            <a:r>
              <a:rPr lang="en-GB" dirty="0"/>
              <a:t> to </a:t>
            </a:r>
            <a:r>
              <a:rPr lang="en-GB" b="1" dirty="0"/>
              <a:t>compute</a:t>
            </a:r>
            <a:r>
              <a:rPr lang="en-GB" dirty="0"/>
              <a:t> </a:t>
            </a:r>
            <a:r>
              <a:rPr lang="en-GB" b="1" dirty="0"/>
              <a:t>all</a:t>
            </a:r>
            <a:r>
              <a:rPr lang="en-GB" dirty="0"/>
              <a:t> </a:t>
            </a:r>
            <a:r>
              <a:rPr lang="en-GB" b="1" dirty="0"/>
              <a:t>derivatives</a:t>
            </a:r>
            <a:r>
              <a:rPr lang="en-GB" dirty="0"/>
              <a:t>? 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the </a:t>
            </a:r>
            <a:r>
              <a:rPr lang="en-GB" b="1" dirty="0" err="1"/>
              <a:t>autograd</a:t>
            </a:r>
            <a:r>
              <a:rPr lang="en-GB" dirty="0"/>
              <a:t> to implement </a:t>
            </a:r>
            <a:r>
              <a:rPr lang="en-GB" b="1" dirty="0"/>
              <a:t>derivatives</a:t>
            </a:r>
            <a:r>
              <a:rPr lang="en-GB" dirty="0"/>
              <a:t> and a </a:t>
            </a:r>
            <a:r>
              <a:rPr lang="en-GB" b="1" dirty="0"/>
              <a:t>vanilla</a:t>
            </a:r>
            <a:r>
              <a:rPr lang="en-GB" dirty="0"/>
              <a:t> </a:t>
            </a:r>
            <a:r>
              <a:rPr lang="en-GB" b="1" dirty="0"/>
              <a:t>gradient</a:t>
            </a:r>
            <a:r>
              <a:rPr lang="en-GB" dirty="0"/>
              <a:t> </a:t>
            </a:r>
            <a:r>
              <a:rPr lang="en-GB" b="1" dirty="0"/>
              <a:t>descent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implement </a:t>
            </a:r>
            <a:r>
              <a:rPr lang="en-GB" b="1" dirty="0"/>
              <a:t>backprop</a:t>
            </a:r>
            <a:r>
              <a:rPr lang="en-GB" dirty="0"/>
              <a:t> in </a:t>
            </a:r>
            <a:r>
              <a:rPr lang="en-GB" dirty="0" err="1"/>
              <a:t>PyTorch</a:t>
            </a:r>
            <a:r>
              <a:rPr lang="en-GB" dirty="0"/>
              <a:t> for our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</a:t>
            </a:r>
            <a:r>
              <a:rPr lang="en-GB" b="1" dirty="0" err="1"/>
              <a:t>PyTorch</a:t>
            </a:r>
            <a:r>
              <a:rPr lang="en-GB" dirty="0"/>
              <a:t> to implement </a:t>
            </a:r>
            <a:r>
              <a:rPr lang="en-GB" b="1" dirty="0"/>
              <a:t>advanced</a:t>
            </a:r>
            <a:r>
              <a:rPr lang="en-GB" dirty="0"/>
              <a:t> </a:t>
            </a:r>
            <a:r>
              <a:rPr lang="en-GB" b="1" dirty="0"/>
              <a:t>optimizers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</a:t>
            </a:r>
            <a:r>
              <a:rPr lang="en-GB" b="1" dirty="0" err="1"/>
              <a:t>PyTorch</a:t>
            </a:r>
            <a:r>
              <a:rPr lang="en-GB" dirty="0"/>
              <a:t> to implement </a:t>
            </a:r>
            <a:r>
              <a:rPr lang="en-GB" b="1" dirty="0"/>
              <a:t>advanced</a:t>
            </a:r>
            <a:r>
              <a:rPr lang="en-GB" dirty="0"/>
              <a:t> </a:t>
            </a:r>
            <a:r>
              <a:rPr lang="en-GB" b="1" dirty="0"/>
              <a:t>initializers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</a:t>
            </a:r>
            <a:r>
              <a:rPr lang="en-GB" b="1" dirty="0" err="1"/>
              <a:t>PyTorch</a:t>
            </a:r>
            <a:r>
              <a:rPr lang="en-GB" dirty="0"/>
              <a:t> to implement </a:t>
            </a:r>
            <a:r>
              <a:rPr lang="en-GB" b="1" dirty="0"/>
              <a:t>regularization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finally revise our </a:t>
            </a:r>
            <a:r>
              <a:rPr lang="en-GB" b="1" dirty="0"/>
              <a:t>trainer</a:t>
            </a:r>
            <a:r>
              <a:rPr lang="en-GB" dirty="0"/>
              <a:t> function to obtain a minimal, yet complete Neural Network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0805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 startAt="16"/>
            </a:pPr>
            <a:r>
              <a:rPr lang="en-GB" dirty="0"/>
              <a:t>What are the </a:t>
            </a:r>
            <a:r>
              <a:rPr lang="en-GB" b="1" dirty="0"/>
              <a:t>Dataset</a:t>
            </a:r>
            <a:r>
              <a:rPr lang="en-GB" dirty="0"/>
              <a:t> and </a:t>
            </a:r>
            <a:r>
              <a:rPr lang="en-GB" b="1" dirty="0" err="1"/>
              <a:t>Dataloader</a:t>
            </a:r>
            <a:r>
              <a:rPr lang="en-GB" dirty="0"/>
              <a:t> objects in </a:t>
            </a:r>
            <a:r>
              <a:rPr lang="en-GB" b="1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implement a custom </a:t>
            </a:r>
            <a:r>
              <a:rPr lang="en-GB" b="1" dirty="0" err="1"/>
              <a:t>Dataloader</a:t>
            </a:r>
            <a:r>
              <a:rPr lang="en-GB" dirty="0"/>
              <a:t> and </a:t>
            </a:r>
            <a:r>
              <a:rPr lang="en-GB" b="1" dirty="0"/>
              <a:t>Dataset</a:t>
            </a:r>
            <a:r>
              <a:rPr lang="en-GB" dirty="0"/>
              <a:t> object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move from binary classification to </a:t>
            </a:r>
            <a:r>
              <a:rPr lang="en-GB" b="1" dirty="0"/>
              <a:t>multi-class</a:t>
            </a:r>
            <a:r>
              <a:rPr lang="en-GB" dirty="0"/>
              <a:t> </a:t>
            </a:r>
            <a:r>
              <a:rPr lang="en-GB" b="1" dirty="0"/>
              <a:t>classification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adjust output probabilities using the </a:t>
            </a:r>
            <a:r>
              <a:rPr lang="en-GB" b="1" dirty="0" err="1"/>
              <a:t>softmax</a:t>
            </a:r>
            <a:r>
              <a:rPr lang="en-GB" dirty="0"/>
              <a:t> function?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change the </a:t>
            </a:r>
            <a:r>
              <a:rPr lang="en-SG" b="1" dirty="0"/>
              <a:t>cross-entropy</a:t>
            </a:r>
            <a:r>
              <a:rPr lang="en-SG" dirty="0"/>
              <a:t> </a:t>
            </a:r>
            <a:r>
              <a:rPr lang="en-SG" b="1" dirty="0"/>
              <a:t>loss</a:t>
            </a:r>
            <a:r>
              <a:rPr lang="en-SG" dirty="0"/>
              <a:t> so it works in </a:t>
            </a:r>
            <a:r>
              <a:rPr lang="en-SG" b="1" dirty="0"/>
              <a:t>multi-class</a:t>
            </a:r>
            <a:r>
              <a:rPr lang="en-SG" dirty="0"/>
              <a:t> </a:t>
            </a:r>
            <a:r>
              <a:rPr lang="en-SG" b="1" dirty="0"/>
              <a:t>classification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</a:t>
            </a:r>
            <a:r>
              <a:rPr lang="en-SG" b="1" dirty="0"/>
              <a:t>building</a:t>
            </a:r>
            <a:r>
              <a:rPr lang="en-SG" dirty="0"/>
              <a:t> </a:t>
            </a:r>
            <a:r>
              <a:rPr lang="en-SG" b="1" dirty="0"/>
              <a:t>blocks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and train our first </a:t>
            </a:r>
            <a:r>
              <a:rPr lang="en-SG" b="1" dirty="0"/>
              <a:t>Deep</a:t>
            </a:r>
            <a:r>
              <a:rPr lang="en-SG" dirty="0"/>
              <a:t> </a:t>
            </a:r>
            <a:r>
              <a:rPr lang="en-SG" b="1" dirty="0"/>
              <a:t>Neural</a:t>
            </a:r>
            <a:r>
              <a:rPr lang="en-SG" dirty="0"/>
              <a:t> </a:t>
            </a:r>
            <a:r>
              <a:rPr lang="en-SG" b="1" dirty="0"/>
              <a:t>Network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What are </a:t>
            </a:r>
            <a:r>
              <a:rPr lang="en-SG" b="1" dirty="0"/>
              <a:t>additional</a:t>
            </a:r>
            <a:r>
              <a:rPr lang="en-SG" dirty="0"/>
              <a:t> </a:t>
            </a:r>
            <a:r>
              <a:rPr lang="en-SG" b="1" dirty="0"/>
              <a:t>good</a:t>
            </a:r>
            <a:r>
              <a:rPr lang="en-SG" dirty="0"/>
              <a:t> </a:t>
            </a:r>
            <a:r>
              <a:rPr lang="en-SG" b="1" dirty="0"/>
              <a:t>practices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36279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4693-5090-BB52-ECF3-0666AAD25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pre-requisites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86CDA-C22E-B272-5CB5-BE1E309AA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Framework of choice will be </a:t>
            </a:r>
            <a:r>
              <a:rPr lang="en-GB" b="1" dirty="0" err="1"/>
              <a:t>PyTorch</a:t>
            </a:r>
            <a:r>
              <a:rPr lang="en-GB" b="1" dirty="0"/>
              <a:t>! </a:t>
            </a:r>
            <a:r>
              <a:rPr lang="en-GB" dirty="0"/>
              <a:t>(not </a:t>
            </a:r>
            <a:r>
              <a:rPr lang="en-GB" dirty="0" err="1"/>
              <a:t>Tensorflow</a:t>
            </a:r>
            <a:r>
              <a:rPr lang="en-GB" dirty="0"/>
              <a:t>, not </a:t>
            </a:r>
            <a:r>
              <a:rPr lang="en-GB" dirty="0" err="1"/>
              <a:t>Keras</a:t>
            </a:r>
            <a:r>
              <a:rPr lang="en-GB" dirty="0"/>
              <a:t>, not </a:t>
            </a:r>
            <a:r>
              <a:rPr lang="en-GB" dirty="0" err="1"/>
              <a:t>MXNet</a:t>
            </a:r>
            <a:r>
              <a:rPr lang="en-GB" dirty="0"/>
              <a:t>, etc.)</a:t>
            </a:r>
          </a:p>
          <a:p>
            <a:r>
              <a:rPr lang="en-GB" dirty="0"/>
              <a:t>Increasing popularity and preferred to Google’s </a:t>
            </a:r>
            <a:r>
              <a:rPr lang="en-GB" dirty="0" err="1"/>
              <a:t>Tensorflow</a:t>
            </a:r>
            <a:r>
              <a:rPr lang="en-GB" dirty="0"/>
              <a:t> these days for many reasons.</a:t>
            </a:r>
          </a:p>
          <a:p>
            <a:r>
              <a:rPr lang="en-GB" dirty="0"/>
              <a:t>Learn more, if curious: </a:t>
            </a:r>
            <a:r>
              <a:rPr lang="en-GB" dirty="0">
                <a:hlinkClick r:id="rId2"/>
              </a:rPr>
              <a:t>https://www.assemblyai.com/blog/pytorch-vs-tensorflow-in-2022/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A5EAB954-957E-D4B7-7CEA-B5B5FA43AA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81" y="3328011"/>
            <a:ext cx="5719960" cy="3529989"/>
          </a:xfrm>
          <a:prstGeom prst="rect">
            <a:avLst/>
          </a:prstGeom>
        </p:spPr>
      </p:pic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00EC893D-A9C0-E3AD-91DA-F3EAD655B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157" y="1219994"/>
            <a:ext cx="4216034" cy="210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02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More</a:t>
            </a:r>
            <a:r>
              <a:rPr lang="en-GB" dirty="0"/>
              <a:t> </a:t>
            </a:r>
            <a:r>
              <a:rPr lang="en-GB" b="1" dirty="0"/>
              <a:t>intuitive</a:t>
            </a:r>
            <a:r>
              <a:rPr lang="en-GB" dirty="0"/>
              <a:t> </a:t>
            </a:r>
            <a:r>
              <a:rPr lang="en-GB" b="1" dirty="0"/>
              <a:t>interface</a:t>
            </a:r>
            <a:r>
              <a:rPr lang="en-GB" dirty="0"/>
              <a:t> for working with tensors and neural networks.</a:t>
            </a:r>
          </a:p>
          <a:p>
            <a:pPr lvl="1"/>
            <a:r>
              <a:rPr lang="en-GB" dirty="0"/>
              <a:t>NumPy is primarily a numerical computing library.</a:t>
            </a:r>
          </a:p>
          <a:p>
            <a:pPr lvl="1"/>
            <a:r>
              <a:rPr lang="en-GB" dirty="0" err="1"/>
              <a:t>PyTorch</a:t>
            </a:r>
            <a:r>
              <a:rPr lang="en-GB" dirty="0"/>
              <a:t> is specifically designed with deep learning and provides a more natural and convenient interface.</a:t>
            </a:r>
          </a:p>
          <a:p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active</a:t>
            </a:r>
            <a:r>
              <a:rPr lang="en-GB" dirty="0"/>
              <a:t> </a:t>
            </a:r>
            <a:r>
              <a:rPr lang="en-GB" b="1" dirty="0"/>
              <a:t>community</a:t>
            </a:r>
            <a:r>
              <a:rPr lang="en-GB" dirty="0"/>
              <a:t> of users.</a:t>
            </a:r>
          </a:p>
          <a:p>
            <a:pPr lvl="1"/>
            <a:r>
              <a:rPr lang="en-GB" dirty="0"/>
              <a:t>Many tutorials, detailed documentations and implementations on </a:t>
            </a:r>
            <a:r>
              <a:rPr lang="en-GB" dirty="0" err="1"/>
              <a:t>Github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Stack overflow equivalent.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766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pPr lvl="1"/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(More on this on Week 13!)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High-level</a:t>
            </a:r>
            <a:r>
              <a:rPr lang="en-GB" dirty="0"/>
              <a:t> </a:t>
            </a:r>
            <a:r>
              <a:rPr lang="en-GB" b="1" dirty="0"/>
              <a:t>abstractions</a:t>
            </a:r>
            <a:r>
              <a:rPr lang="en-GB" dirty="0"/>
              <a:t> for building and training neural networks.</a:t>
            </a:r>
          </a:p>
          <a:p>
            <a:pPr lvl="1"/>
            <a:r>
              <a:rPr lang="en-GB" dirty="0"/>
              <a:t>Easier to write and debug code, </a:t>
            </a:r>
          </a:p>
          <a:p>
            <a:pPr lvl="1"/>
            <a:r>
              <a:rPr lang="en-GB" dirty="0"/>
              <a:t>Improve the performance of our model by allowing </a:t>
            </a:r>
            <a:r>
              <a:rPr lang="en-GB" dirty="0" err="1"/>
              <a:t>PyTorch</a:t>
            </a:r>
            <a:r>
              <a:rPr lang="en-GB" dirty="0"/>
              <a:t> to apply optimization techniques</a:t>
            </a:r>
          </a:p>
          <a:p>
            <a:pPr lvl="1"/>
            <a:r>
              <a:rPr lang="en-GB" dirty="0"/>
              <a:t>More specifically, </a:t>
            </a:r>
            <a:r>
              <a:rPr lang="en-GB" b="1" dirty="0">
                <a:solidFill>
                  <a:srgbClr val="FF0000"/>
                </a:solidFill>
              </a:rPr>
              <a:t>automatic</a:t>
            </a:r>
            <a:r>
              <a:rPr lang="en-GB" dirty="0"/>
              <a:t> </a:t>
            </a:r>
            <a:r>
              <a:rPr lang="en-GB" b="1" dirty="0">
                <a:solidFill>
                  <a:srgbClr val="FF0000"/>
                </a:solidFill>
              </a:rPr>
              <a:t>differentiation</a:t>
            </a:r>
            <a:r>
              <a:rPr lang="en-GB" dirty="0"/>
              <a:t>!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7429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8E2B8-16B2-DFEB-21E8-D5EA9B09A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 this point, you should have installed </a:t>
            </a:r>
            <a:r>
              <a:rPr lang="en-GB" dirty="0" err="1"/>
              <a:t>PyTorch</a:t>
            </a:r>
            <a:r>
              <a:rPr lang="en-GB" dirty="0"/>
              <a:t>, and if possible, CUDA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01D2C-4BE4-C6CD-31D7-3F2E182779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can check for CUDA/GPU capabilities, using the code below. If the CUDA has not been properly installed or the GPU is not compatible, you will be using a CPU instead.</a:t>
            </a:r>
          </a:p>
          <a:p>
            <a:r>
              <a:rPr lang="en-GB" dirty="0"/>
              <a:t>We strongly advise to take a moment to make sure your machine is CUDA enabled, assuming your GPU is compatible (see W1S1 bonus).</a:t>
            </a:r>
          </a:p>
          <a:p>
            <a:r>
              <a:rPr lang="en-GB" dirty="0"/>
              <a:t>When CUDA is properly installed on a compatible GPU, the line below should display </a:t>
            </a:r>
            <a:r>
              <a:rPr lang="en-GB" i="1" dirty="0" err="1"/>
              <a:t>cuda</a:t>
            </a:r>
            <a:r>
              <a:rPr lang="en-GB" dirty="0"/>
              <a:t>, otherwise it will print </a:t>
            </a:r>
            <a:r>
              <a:rPr lang="en-GB" i="1" dirty="0" err="1"/>
              <a:t>cpu</a:t>
            </a:r>
            <a:r>
              <a:rPr lang="en-GB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2DA575-615D-9EA0-0B63-D1F67373C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342" y="4925814"/>
            <a:ext cx="9567315" cy="15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927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AF26F8-A3EF-1DA4-0F08-821904720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Tensor object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64FFA-9452-2803-1619-F25629046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Tensor</a:t>
            </a:r>
            <a:r>
              <a:rPr lang="en-GB" b="1" dirty="0"/>
              <a:t>): </a:t>
            </a:r>
          </a:p>
          <a:p>
            <a:pPr marL="0" indent="0">
              <a:buNone/>
            </a:pPr>
            <a:r>
              <a:rPr lang="en-GB" dirty="0"/>
              <a:t>The tensor is </a:t>
            </a:r>
            <a:r>
              <a:rPr lang="en-GB" dirty="0" err="1"/>
              <a:t>PyTorch's</a:t>
            </a:r>
            <a:r>
              <a:rPr lang="en-GB" dirty="0"/>
              <a:t> basic building block and is very similar to NumPy arrays.</a:t>
            </a:r>
          </a:p>
          <a:p>
            <a:pPr marL="0" indent="0">
              <a:buNone/>
            </a:pPr>
            <a:r>
              <a:rPr lang="en-GB" dirty="0"/>
              <a:t>This is why most of the concepts and methods will look similar</a:t>
            </a:r>
          </a:p>
          <a:p>
            <a:pPr marL="0" indent="0">
              <a:buNone/>
            </a:pPr>
            <a:r>
              <a:rPr lang="en-GB" dirty="0"/>
              <a:t> However, these come with additional features, which will be useful later on when building Neural Networks with these tensors.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396DA0-ACDE-2CF1-5318-A812A302B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019" y="2674898"/>
            <a:ext cx="4620270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187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434E9-6928-73A0-43A5-8E0EEE693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a Tensor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D9A86-7C7C-734B-80A4-FB642FF100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GB" dirty="0"/>
              <a:t>Tensors can be simply created as in NumPy, by using </a:t>
            </a:r>
            <a:r>
              <a:rPr lang="en-GB" b="1" dirty="0"/>
              <a:t>zeros()</a:t>
            </a:r>
            <a:r>
              <a:rPr lang="en-GB" dirty="0"/>
              <a:t> or </a:t>
            </a:r>
            <a:r>
              <a:rPr lang="en-GB" b="1" dirty="0"/>
              <a:t>ones()</a:t>
            </a:r>
            <a:r>
              <a:rPr lang="en-GB" dirty="0"/>
              <a:t> functions, specifying dimensions of the expected Tensor, with tuples.</a:t>
            </a:r>
          </a:p>
          <a:p>
            <a:r>
              <a:rPr lang="en-GB" dirty="0"/>
              <a:t>They can also be created from a </a:t>
            </a:r>
            <a:r>
              <a:rPr lang="en-GB" b="1" dirty="0"/>
              <a:t>list</a:t>
            </a:r>
            <a:r>
              <a:rPr lang="en-GB" dirty="0"/>
              <a:t> (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lists</a:t>
            </a:r>
            <a:r>
              <a:rPr lang="en-GB" dirty="0"/>
              <a:t>) of values, by passing it to the </a:t>
            </a:r>
            <a:r>
              <a:rPr lang="en-GB" b="1" dirty="0"/>
              <a:t>tensor() </a:t>
            </a:r>
            <a:r>
              <a:rPr lang="en-GB" dirty="0"/>
              <a:t>function.</a:t>
            </a:r>
          </a:p>
          <a:p>
            <a:r>
              <a:rPr lang="en-GB" dirty="0"/>
              <a:t>Or from a </a:t>
            </a:r>
            <a:r>
              <a:rPr lang="en-GB" b="1" dirty="0" err="1"/>
              <a:t>Numpy</a:t>
            </a:r>
            <a:r>
              <a:rPr lang="en-GB" dirty="0"/>
              <a:t> </a:t>
            </a:r>
            <a:r>
              <a:rPr lang="en-GB" b="1" dirty="0"/>
              <a:t>array</a:t>
            </a:r>
            <a:r>
              <a:rPr lang="en-GB" dirty="0"/>
              <a:t>, using the </a:t>
            </a:r>
            <a:r>
              <a:rPr lang="en-GB" b="1" dirty="0" err="1"/>
              <a:t>from_numpy</a:t>
            </a:r>
            <a:r>
              <a:rPr lang="en-GB" b="1" dirty="0"/>
              <a:t>()</a:t>
            </a:r>
            <a:r>
              <a:rPr lang="en-GB" dirty="0"/>
              <a:t> method. 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EA628-810A-AF2E-00EE-DF691CE16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326" y="90610"/>
            <a:ext cx="5029902" cy="37247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43654B-55A4-7D2C-64C1-EA7202FE6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326" y="3829082"/>
            <a:ext cx="4048690" cy="13527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B9614-48EF-8437-0E5E-9FEF509AB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1326" y="5370748"/>
            <a:ext cx="4906060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028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Here, the dot product failed because one tensor was int, and the other was float/double.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E0B423-3A8C-32D4-141D-C55B53A72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77" y="3070000"/>
            <a:ext cx="5720305" cy="364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396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You can change the </a:t>
            </a:r>
            <a:r>
              <a:rPr lang="en-GB" dirty="0" err="1"/>
              <a:t>dtype</a:t>
            </a:r>
            <a:r>
              <a:rPr lang="en-GB" dirty="0"/>
              <a:t> of a tensor</a:t>
            </a:r>
          </a:p>
          <a:p>
            <a:pPr marL="0" indent="0">
              <a:buNone/>
            </a:pPr>
            <a:r>
              <a:rPr lang="en-GB" dirty="0"/>
              <a:t>- by either </a:t>
            </a:r>
            <a:r>
              <a:rPr lang="en-GB" b="1" dirty="0"/>
              <a:t>specifying</a:t>
            </a:r>
            <a:r>
              <a:rPr lang="en-GB" dirty="0"/>
              <a:t> </a:t>
            </a:r>
            <a:r>
              <a:rPr lang="en-GB" b="1" dirty="0"/>
              <a:t>it</a:t>
            </a:r>
            <a:r>
              <a:rPr lang="en-GB" dirty="0"/>
              <a:t> </a:t>
            </a:r>
            <a:r>
              <a:rPr lang="en-GB" b="1" dirty="0"/>
              <a:t>explicitly</a:t>
            </a:r>
            <a:r>
              <a:rPr lang="en-GB" dirty="0"/>
              <a:t>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its</a:t>
            </a:r>
            <a:r>
              <a:rPr lang="en-GB" dirty="0"/>
              <a:t> </a:t>
            </a:r>
            <a:r>
              <a:rPr lang="en-GB" b="1" dirty="0"/>
              <a:t>creation</a:t>
            </a:r>
            <a:r>
              <a:rPr lang="en-GB" dirty="0"/>
              <a:t>;</a:t>
            </a:r>
          </a:p>
          <a:p>
            <a:pPr marL="0" indent="0">
              <a:buNone/>
            </a:pPr>
            <a:r>
              <a:rPr lang="en-GB" dirty="0"/>
              <a:t>- or by using the </a:t>
            </a:r>
            <a:r>
              <a:rPr lang="en-GB" b="1" dirty="0"/>
              <a:t>type()</a:t>
            </a:r>
            <a:r>
              <a:rPr lang="en-GB" dirty="0"/>
              <a:t> method on the tensor, casting a new </a:t>
            </a:r>
            <a:r>
              <a:rPr lang="en-GB" dirty="0" err="1"/>
              <a:t>dtype</a:t>
            </a:r>
            <a:r>
              <a:rPr lang="en-GB" dirty="0"/>
              <a:t>.</a:t>
            </a:r>
            <a:endParaRPr lang="en-SG" dirty="0"/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74613D-DF48-BF6C-AB43-CCE9EB512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153" y="4225609"/>
            <a:ext cx="5001323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110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08F0D5-1AC9-5C59-E1F6-A4F9915E4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202" y="3328450"/>
            <a:ext cx="5613487" cy="298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350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C2A4C7-E8B8-6EB6-8E8D-628C46CE1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83881"/>
            <a:ext cx="5887083" cy="262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09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</a:t>
            </a:r>
            <a:r>
              <a:rPr lang="en-GB" b="1" dirty="0"/>
              <a:t>many attributes and methods</a:t>
            </a:r>
            <a:r>
              <a:rPr lang="en-GB" dirty="0"/>
              <a:t>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Not planning to cover all of these attributes and methods, because…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2A851B-519D-6246-1325-49AE148D4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15" y="2883454"/>
            <a:ext cx="5032310" cy="123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13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many attributes and methods,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r>
              <a:rPr lang="en-GB" dirty="0"/>
              <a:t>Too many of them for me to cover, so </a:t>
            </a:r>
            <a:r>
              <a:rPr lang="en-GB" b="1" dirty="0"/>
              <a:t>RTFM</a:t>
            </a:r>
            <a:r>
              <a:rPr lang="en-GB" dirty="0"/>
              <a:t>!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A4B957-7E20-0025-8F44-1A1D4A3195B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3768"/>
          <a:stretch/>
        </p:blipFill>
        <p:spPr>
          <a:xfrm>
            <a:off x="337334" y="3429000"/>
            <a:ext cx="11517332" cy="333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929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>
                <a:solidFill>
                  <a:schemeClr val="bg1"/>
                </a:solidFill>
              </a:rPr>
              <a:t>slice a tensor</a:t>
            </a:r>
            <a:r>
              <a:rPr lang="en-GB" dirty="0">
                <a:solidFill>
                  <a:schemeClr val="bg1"/>
                </a:solidFill>
              </a:rPr>
              <a:t> using the square bracket notation and colon symbol;</a:t>
            </a:r>
          </a:p>
          <a:p>
            <a:r>
              <a:rPr lang="en-GB" b="1" dirty="0">
                <a:solidFill>
                  <a:schemeClr val="bg1"/>
                </a:solidFill>
              </a:rPr>
              <a:t>update elements </a:t>
            </a:r>
            <a:r>
              <a:rPr lang="en-GB" dirty="0">
                <a:solidFill>
                  <a:schemeClr val="bg1"/>
                </a:solidFill>
              </a:rPr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F9878A-DE25-3093-AE99-5BACE4EEE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870" y="1509713"/>
            <a:ext cx="5810598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969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slice a tensor</a:t>
            </a:r>
            <a:r>
              <a:rPr lang="en-GB" dirty="0"/>
              <a:t> using the square bracket notation and colon symbol;</a:t>
            </a:r>
          </a:p>
          <a:p>
            <a:r>
              <a:rPr lang="en-GB" b="1" dirty="0">
                <a:solidFill>
                  <a:schemeClr val="bg1"/>
                </a:solidFill>
              </a:rPr>
              <a:t>update elements </a:t>
            </a:r>
            <a:r>
              <a:rPr lang="en-GB" dirty="0">
                <a:solidFill>
                  <a:schemeClr val="bg1"/>
                </a:solidFill>
              </a:rPr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2D5729-698A-A7DC-C629-2FC57EFE1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375" y="-1"/>
            <a:ext cx="55153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166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slice a tensor</a:t>
            </a:r>
            <a:r>
              <a:rPr lang="en-GB" dirty="0"/>
              <a:t> using the square bracket notation and colon symbol;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F2A61E-8AF7-2870-14E3-5A5BC11E7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1058" y="1258276"/>
            <a:ext cx="6110942" cy="468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702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slice a tensor</a:t>
            </a:r>
            <a:r>
              <a:rPr lang="en-GB" dirty="0"/>
              <a:t> using the square bracket notation and colon symbol;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/>
              <a:t>browse through elements of a tensor </a:t>
            </a:r>
            <a:r>
              <a:rPr lang="en-GB" dirty="0"/>
              <a:t>using a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4189C2-2B91-CB7B-E738-0ED6B5D21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6038053" cy="5172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457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F683A9-058D-AF33-0AA8-27120C94D3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827"/>
          <a:stretch/>
        </p:blipFill>
        <p:spPr>
          <a:xfrm>
            <a:off x="6886501" y="1381268"/>
            <a:ext cx="4805314" cy="51116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7DD82EB-95E2-C9DB-F4EA-EEAA4EF903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00436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9F3982-AD07-F3C7-01A6-EB93F8940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758" y="1298705"/>
            <a:ext cx="4057165" cy="5381462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95E6B02B-00D1-4B97-B7BC-916C0CB69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</p:txBody>
      </p:sp>
    </p:spTree>
    <p:extLst>
      <p:ext uri="{BB962C8B-B14F-4D97-AF65-F5344CB8AC3E}">
        <p14:creationId xmlns:p14="http://schemas.microsoft.com/office/powerpoint/2010/main" val="33101535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DC9D72-D860-714E-4315-84A729841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204" y="1761807"/>
            <a:ext cx="4696480" cy="4553585"/>
          </a:xfrm>
          <a:prstGeom prst="rect">
            <a:avLst/>
          </a:prstGeo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BFBA435-DBD0-76FC-67E1-9A809C6F4D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638919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8287B-68F9-6307-9899-F1C2672A4F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r>
              <a:rPr lang="en-GB" dirty="0"/>
              <a:t>Matrix multiplication and dot product,</a:t>
            </a:r>
          </a:p>
          <a:p>
            <a:r>
              <a:rPr lang="en-GB" dirty="0"/>
              <a:t>Along </a:t>
            </a:r>
            <a:r>
              <a:rPr lang="en-GB"/>
              <a:t>with more </a:t>
            </a:r>
            <a:r>
              <a:rPr lang="en-GB" dirty="0"/>
              <a:t>L</a:t>
            </a:r>
            <a:r>
              <a:rPr lang="en-GB"/>
              <a:t>inear </a:t>
            </a:r>
            <a:r>
              <a:rPr lang="en-GB" dirty="0"/>
              <a:t>Algebra stuff (now is the time to revise!).</a:t>
            </a:r>
          </a:p>
          <a:p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3A71BB-E43D-61AE-122C-4A8C0D315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160" y="2394079"/>
            <a:ext cx="4146269" cy="44692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383FA4-4E5E-B38F-E7AB-7A2F11CE2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699" y="1161971"/>
            <a:ext cx="5181600" cy="1327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2830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2C212-E261-A521-5A07-4F79BEE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broadcasting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75A09-F649-0453-782D-77AD085032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Tensors, just like NumPy arrays, support </a:t>
            </a:r>
            <a:r>
              <a:rPr lang="en-GB" b="1" dirty="0"/>
              <a:t>broadcasting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Two tensors are </a:t>
            </a:r>
            <a:r>
              <a:rPr lang="en-GB" b="1" dirty="0"/>
              <a:t>“</a:t>
            </a:r>
            <a:r>
              <a:rPr lang="en-GB" b="1" dirty="0" err="1"/>
              <a:t>broadcastable</a:t>
            </a:r>
            <a:r>
              <a:rPr lang="en-GB" b="1" dirty="0"/>
              <a:t>” </a:t>
            </a:r>
            <a:r>
              <a:rPr lang="en-GB" dirty="0"/>
              <a:t>if the following rules hold:</a:t>
            </a:r>
          </a:p>
          <a:p>
            <a:r>
              <a:rPr lang="en-GB" dirty="0"/>
              <a:t>Each tensor has at least one dimension.</a:t>
            </a:r>
          </a:p>
          <a:p>
            <a:r>
              <a:rPr lang="en-GB" dirty="0"/>
              <a:t>When iterating over the dimension sizes, </a:t>
            </a:r>
            <a:r>
              <a:rPr lang="en-GB" u="sng" dirty="0"/>
              <a:t>starting at the trailing dimension</a:t>
            </a:r>
            <a:r>
              <a:rPr lang="en-GB" dirty="0"/>
              <a:t>, the dimension sizes must either be equal, one of them is 1, or one of them does not exist.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3DB814-D545-5828-A2A0-FEEF73BDC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If two tensors x, y are </a:t>
            </a:r>
            <a:r>
              <a:rPr lang="en-GB" b="1" dirty="0"/>
              <a:t>“</a:t>
            </a:r>
            <a:r>
              <a:rPr lang="en-GB" b="1" dirty="0" err="1"/>
              <a:t>broadcastable</a:t>
            </a:r>
            <a:r>
              <a:rPr lang="en-GB" b="1" dirty="0"/>
              <a:t>”</a:t>
            </a:r>
            <a:r>
              <a:rPr lang="en-GB" dirty="0"/>
              <a:t>,</a:t>
            </a:r>
            <a:r>
              <a:rPr lang="en-GB" b="1" dirty="0"/>
              <a:t> </a:t>
            </a:r>
            <a:r>
              <a:rPr lang="en-GB" dirty="0"/>
              <a:t>the resulting tensor size is calculated as follows:</a:t>
            </a:r>
          </a:p>
          <a:p>
            <a:r>
              <a:rPr lang="en-GB" dirty="0"/>
              <a:t>If the number of dimensions of x and y are not equal, prepend 1 to the dimensions of the tensor with fewer dimensions to make them equal length.</a:t>
            </a:r>
          </a:p>
          <a:p>
            <a:r>
              <a:rPr lang="en-GB" dirty="0"/>
              <a:t>Then, for each dimension size, the resulting dimension size is the max of the sizes of x and y along that dimension.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514024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2C212-E261-A521-5A07-4F79BEE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broadcasting</a:t>
            </a: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491ECF-EDBF-3CF4-5952-E94FBAFD0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19" y="1526701"/>
            <a:ext cx="9211961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497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2C212-E261-A521-5A07-4F79BEE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broadcasting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2C1911-B846-8662-232B-3361BF75D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508" y="1433579"/>
            <a:ext cx="8632984" cy="542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530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u="sng" dirty="0"/>
              <a:t>Recall:</a:t>
            </a:r>
            <a:r>
              <a:rPr lang="en-GB" b="1" dirty="0"/>
              <a:t> </a:t>
            </a: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SG" dirty="0"/>
          </a:p>
        </p:txBody>
      </p:sp>
      <p:pic>
        <p:nvPicPr>
          <p:cNvPr id="7" name="Picture 6" descr="Logo, company name&#10;&#10;Description automatically generated">
            <a:extLst>
              <a:ext uri="{FF2B5EF4-FFF2-40B4-BE49-F238E27FC236}">
                <a16:creationId xmlns:a16="http://schemas.microsoft.com/office/drawing/2014/main" id="{6AF5739C-A62C-69DB-A2FB-542D29AC8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523" y="2571984"/>
            <a:ext cx="5293115" cy="2281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635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Using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cpu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cuda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will force transfer to the </a:t>
            </a:r>
            <a:r>
              <a:rPr lang="en-GB" dirty="0" err="1">
                <a:solidFill>
                  <a:schemeClr val="bg1"/>
                </a:solidFill>
              </a:rPr>
              <a:t>cpu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dirty="0" err="1">
                <a:solidFill>
                  <a:schemeClr val="bg1"/>
                </a:solidFill>
              </a:rPr>
              <a:t>cuda</a:t>
            </a:r>
            <a:r>
              <a:rPr lang="en-GB" dirty="0">
                <a:solidFill>
                  <a:schemeClr val="bg1"/>
                </a:solidFill>
              </a:rPr>
              <a:t> respectively. Note that it might fail if you machine is not CUDA compatible.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4CA45-334A-7101-22BC-2B329A4C4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9" y="1626580"/>
            <a:ext cx="6148339" cy="389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549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8FD1AB-C7BC-2282-E03B-0783B899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352" y="1690688"/>
            <a:ext cx="4855817" cy="469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772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791F5-A404-78DF-C026-D4C294EB6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In doubt, you can check the </a:t>
            </a:r>
            <a:r>
              <a:rPr lang="en-GB" b="1" dirty="0"/>
              <a:t>device</a:t>
            </a:r>
            <a:r>
              <a:rPr lang="en-GB" dirty="0"/>
              <a:t> attribute of your tensors to find where their computations will occur.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211D6B-6ABB-A3D9-3EA0-559457E53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69" y="4770077"/>
            <a:ext cx="5497546" cy="1722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7788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Very important: two tensors with different devices cannot be used in the same operation! (same logic as with the </a:t>
            </a:r>
            <a:r>
              <a:rPr lang="en-GB" b="1" dirty="0" err="1"/>
              <a:t>dtypes</a:t>
            </a:r>
            <a:r>
              <a:rPr lang="en-GB" b="1" dirty="0"/>
              <a:t>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FF5A8-41F2-D417-514A-60422BEB1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728" y="2732741"/>
            <a:ext cx="7652544" cy="41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336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DB95A-6F54-1C8E-C7BF-34F5ECB6A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dataset as before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00DD9-21D0-0350-AF57-AAB151299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398" y="1548881"/>
            <a:ext cx="7200177" cy="486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600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36228-8F7A-1389-12CE-514215337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shallow neural network class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EB5A2-1EBE-6555-85E5-4CA6DEF38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783529" cy="503237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dirty="0"/>
              <a:t>We will reuse our previous </a:t>
            </a:r>
            <a:r>
              <a:rPr lang="en-GB" b="1" dirty="0" err="1"/>
              <a:t>ShallowNeuralNet</a:t>
            </a:r>
            <a:r>
              <a:rPr lang="en-GB" dirty="0"/>
              <a:t> class from Week2 Notebook 7, which:</a:t>
            </a:r>
          </a:p>
          <a:p>
            <a:r>
              <a:rPr lang="en-GB" dirty="0"/>
              <a:t>implements a Shallow neural network using </a:t>
            </a:r>
            <a:r>
              <a:rPr lang="en-GB" b="1" dirty="0"/>
              <a:t>two fully connected layers </a:t>
            </a:r>
            <a:r>
              <a:rPr lang="en-GB" dirty="0"/>
              <a:t>and </a:t>
            </a:r>
            <a:r>
              <a:rPr lang="en-GB" b="1" dirty="0"/>
              <a:t>sigmoid</a:t>
            </a:r>
            <a:r>
              <a:rPr lang="en-GB" dirty="0"/>
              <a:t> </a:t>
            </a:r>
            <a:r>
              <a:rPr lang="en-GB" b="1" dirty="0"/>
              <a:t>activation</a:t>
            </a:r>
            <a:r>
              <a:rPr lang="en-GB" dirty="0"/>
              <a:t> </a:t>
            </a:r>
            <a:r>
              <a:rPr lang="en-GB" b="1" dirty="0"/>
              <a:t>functions</a:t>
            </a:r>
            <a:r>
              <a:rPr lang="en-GB" dirty="0"/>
              <a:t>,</a:t>
            </a:r>
          </a:p>
          <a:p>
            <a:r>
              <a:rPr lang="en-GB" dirty="0"/>
              <a:t>uses a </a:t>
            </a:r>
            <a:r>
              <a:rPr lang="en-GB" b="1" dirty="0"/>
              <a:t>Stochastic Mini-Batch gradient descent</a:t>
            </a:r>
            <a:r>
              <a:rPr lang="en-GB" dirty="0"/>
              <a:t>, with </a:t>
            </a:r>
            <a:r>
              <a:rPr lang="en-GB" b="1" dirty="0"/>
              <a:t>Adam</a:t>
            </a:r>
            <a:r>
              <a:rPr lang="en-GB" dirty="0"/>
              <a:t> as its optimizer,</a:t>
            </a:r>
          </a:p>
          <a:p>
            <a:r>
              <a:rPr lang="en-GB" dirty="0"/>
              <a:t>uses a </a:t>
            </a:r>
            <a:r>
              <a:rPr lang="en-GB" b="1" dirty="0"/>
              <a:t>random normal initialization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forward() method </a:t>
            </a:r>
            <a:r>
              <a:rPr lang="en-GB" dirty="0"/>
              <a:t>for predictions,</a:t>
            </a:r>
          </a:p>
          <a:p>
            <a:r>
              <a:rPr lang="en-GB" dirty="0"/>
              <a:t>comes with </a:t>
            </a:r>
            <a:r>
              <a:rPr lang="en-GB" b="1" dirty="0"/>
              <a:t>a backward() </a:t>
            </a:r>
            <a:r>
              <a:rPr lang="en-GB" dirty="0"/>
              <a:t>and </a:t>
            </a:r>
            <a:r>
              <a:rPr lang="en-GB" b="1" dirty="0"/>
              <a:t>train() method </a:t>
            </a:r>
            <a:r>
              <a:rPr lang="en-GB" dirty="0"/>
              <a:t>for backpropagation training,</a:t>
            </a:r>
          </a:p>
          <a:p>
            <a:r>
              <a:rPr lang="en-GB" dirty="0"/>
              <a:t>comes with a </a:t>
            </a:r>
            <a:r>
              <a:rPr lang="en-GB" b="1" dirty="0"/>
              <a:t>cross-entropy loss function </a:t>
            </a:r>
            <a:r>
              <a:rPr lang="en-GB" dirty="0"/>
              <a:t>and an </a:t>
            </a:r>
            <a:r>
              <a:rPr lang="en-GB" b="1" dirty="0"/>
              <a:t>accuracy metric function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display</a:t>
            </a:r>
            <a:r>
              <a:rPr lang="en-GB" dirty="0"/>
              <a:t> function, to show </a:t>
            </a:r>
            <a:r>
              <a:rPr lang="en-GB" b="1" dirty="0"/>
              <a:t>training curves </a:t>
            </a:r>
            <a:r>
              <a:rPr lang="en-GB" dirty="0"/>
              <a:t>on both the loss and the accuracy,</a:t>
            </a:r>
          </a:p>
          <a:p>
            <a:r>
              <a:rPr lang="en-GB" dirty="0"/>
              <a:t>comes with </a:t>
            </a:r>
            <a:r>
              <a:rPr lang="en-GB" b="1" dirty="0"/>
              <a:t>save</a:t>
            </a:r>
            <a:r>
              <a:rPr lang="en-GB" dirty="0"/>
              <a:t> and </a:t>
            </a:r>
            <a:r>
              <a:rPr lang="en-GB" b="1" dirty="0"/>
              <a:t>load</a:t>
            </a:r>
            <a:r>
              <a:rPr lang="en-GB" dirty="0"/>
              <a:t> </a:t>
            </a:r>
            <a:r>
              <a:rPr lang="en-GB" b="1" dirty="0"/>
              <a:t>functions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Let us start by replicating the </a:t>
            </a:r>
            <a:r>
              <a:rPr lang="en-GB" dirty="0" err="1"/>
              <a:t>init</a:t>
            </a:r>
            <a:r>
              <a:rPr lang="en-GB" dirty="0"/>
              <a:t>, forward, loss and accuracy methods in </a:t>
            </a:r>
            <a:r>
              <a:rPr lang="en-GB" dirty="0" err="1"/>
              <a:t>PyTorch</a:t>
            </a:r>
            <a:r>
              <a:rPr lang="en-GB" dirty="0"/>
              <a:t>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21397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main differences between the original class and the </a:t>
            </a:r>
            <a:r>
              <a:rPr lang="en-GB" dirty="0" err="1"/>
              <a:t>PyTorch</a:t>
            </a:r>
            <a:r>
              <a:rPr lang="en-GB" dirty="0"/>
              <a:t> version are:</a:t>
            </a:r>
          </a:p>
          <a:p>
            <a:r>
              <a:rPr lang="en-GB" dirty="0"/>
              <a:t>The </a:t>
            </a:r>
            <a:r>
              <a:rPr lang="en-GB" dirty="0" err="1"/>
              <a:t>PyTorch</a:t>
            </a:r>
            <a:r>
              <a:rPr lang="en-GB" dirty="0"/>
              <a:t> version of the class </a:t>
            </a:r>
            <a:r>
              <a:rPr lang="en-GB" b="1" dirty="0"/>
              <a:t>should</a:t>
            </a:r>
            <a:r>
              <a:rPr lang="en-GB" dirty="0"/>
              <a:t> </a:t>
            </a:r>
            <a:r>
              <a:rPr lang="en-GB" b="1" dirty="0"/>
              <a:t>inherit</a:t>
            </a:r>
            <a:r>
              <a:rPr lang="en-GB" dirty="0"/>
              <a:t> </a:t>
            </a:r>
            <a:r>
              <a:rPr lang="en-GB" b="1" dirty="0"/>
              <a:t>from</a:t>
            </a:r>
            <a:r>
              <a:rPr lang="en-GB" dirty="0"/>
              <a:t> </a:t>
            </a:r>
            <a:r>
              <a:rPr lang="en-GB" b="1" dirty="0" err="1"/>
              <a:t>torch.nn.Module</a:t>
            </a:r>
            <a:r>
              <a:rPr lang="en-GB" b="1" dirty="0"/>
              <a:t> </a:t>
            </a:r>
            <a:r>
              <a:rPr lang="en-GB" dirty="0"/>
              <a:t>and call its parent's </a:t>
            </a:r>
            <a:r>
              <a:rPr lang="en-GB" dirty="0" err="1"/>
              <a:t>init</a:t>
            </a:r>
            <a:r>
              <a:rPr lang="en-GB" dirty="0"/>
              <a:t> method using super().</a:t>
            </a:r>
          </a:p>
          <a:p>
            <a:r>
              <a:rPr lang="en-GB" dirty="0"/>
              <a:t>This is necessary because </a:t>
            </a:r>
            <a:r>
              <a:rPr lang="en-GB" dirty="0" err="1"/>
              <a:t>PyTorch</a:t>
            </a:r>
            <a:r>
              <a:rPr lang="en-GB" dirty="0"/>
              <a:t> uses classes inherited from </a:t>
            </a:r>
            <a:r>
              <a:rPr lang="en-GB" dirty="0" err="1"/>
              <a:t>torch.nn.Module</a:t>
            </a:r>
            <a:r>
              <a:rPr lang="en-GB" dirty="0"/>
              <a:t> to keep track of the layers and their </a:t>
            </a:r>
            <a:r>
              <a:rPr lang="en-GB" b="1" dirty="0"/>
              <a:t>parameters</a:t>
            </a:r>
            <a:r>
              <a:rPr lang="en-GB" dirty="0"/>
              <a:t> in a neural network.</a:t>
            </a:r>
          </a:p>
          <a:p>
            <a:r>
              <a:rPr lang="en-GB" dirty="0"/>
              <a:t>Instead of using NumPy arrays for the weights and biases, the </a:t>
            </a:r>
            <a:r>
              <a:rPr lang="en-GB" dirty="0" err="1"/>
              <a:t>PyTorch</a:t>
            </a:r>
            <a:r>
              <a:rPr lang="en-GB" dirty="0"/>
              <a:t> version uses </a:t>
            </a:r>
            <a:r>
              <a:rPr lang="en-GB" b="1" dirty="0" err="1">
                <a:solidFill>
                  <a:srgbClr val="00B050"/>
                </a:solidFill>
              </a:rPr>
              <a:t>torch.nn.Parameter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dirty="0"/>
              <a:t>objects, which is a </a:t>
            </a:r>
            <a:r>
              <a:rPr lang="en-GB" b="1" dirty="0"/>
              <a:t>subclass of tensors, whose values can be trained and modified later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19045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C0564-4705-2D37-8595-2DA1E59BE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5" y="170995"/>
            <a:ext cx="9345329" cy="651600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F958211-6E53-C1D5-D2C3-2AA446FBEE3E}"/>
              </a:ext>
            </a:extLst>
          </p:cNvPr>
          <p:cNvSpPr/>
          <p:nvPr/>
        </p:nvSpPr>
        <p:spPr>
          <a:xfrm>
            <a:off x="2516553" y="3344985"/>
            <a:ext cx="8174893" cy="334201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47B96-2DBF-902D-F1DB-5A5C00D7DCF1}"/>
              </a:ext>
            </a:extLst>
          </p:cNvPr>
          <p:cNvSpPr txBox="1"/>
          <p:nvPr/>
        </p:nvSpPr>
        <p:spPr>
          <a:xfrm>
            <a:off x="6079932" y="1284051"/>
            <a:ext cx="46887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Explicitly indicate that the </a:t>
            </a:r>
            <a:r>
              <a:rPr lang="en-GB" sz="2400" b="1" dirty="0" err="1">
                <a:solidFill>
                  <a:schemeClr val="accent2"/>
                </a:solidFill>
              </a:rPr>
              <a:t>Wx</a:t>
            </a:r>
            <a:r>
              <a:rPr lang="en-GB" sz="2400" b="1" dirty="0">
                <a:solidFill>
                  <a:schemeClr val="accent2"/>
                </a:solidFill>
              </a:rPr>
              <a:t> and </a:t>
            </a:r>
            <a:r>
              <a:rPr lang="en-GB" sz="2400" b="1" dirty="0" err="1">
                <a:solidFill>
                  <a:schemeClr val="accent2"/>
                </a:solidFill>
              </a:rPr>
              <a:t>bx</a:t>
            </a:r>
            <a:r>
              <a:rPr lang="en-GB" sz="2400" b="1" dirty="0">
                <a:solidFill>
                  <a:schemeClr val="accent2"/>
                </a:solidFill>
              </a:rPr>
              <a:t> matrices are now tensors, playing the roles of parameters in a Neural Network of some sort.</a:t>
            </a:r>
          </a:p>
        </p:txBody>
      </p:sp>
    </p:spTree>
    <p:extLst>
      <p:ext uri="{BB962C8B-B14F-4D97-AF65-F5344CB8AC3E}">
        <p14:creationId xmlns:p14="http://schemas.microsoft.com/office/powerpoint/2010/main" val="1172112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</a:t>
            </a:r>
            <a:r>
              <a:rPr lang="en-GB" dirty="0" err="1"/>
              <a:t>PyTorch</a:t>
            </a:r>
            <a:r>
              <a:rPr lang="en-GB" dirty="0"/>
              <a:t>, </a:t>
            </a:r>
            <a:r>
              <a:rPr lang="en-GB" b="1" dirty="0" err="1"/>
              <a:t>requires_grad</a:t>
            </a:r>
            <a:r>
              <a:rPr lang="en-GB" b="1" dirty="0"/>
              <a:t> </a:t>
            </a:r>
            <a:r>
              <a:rPr lang="en-GB" dirty="0"/>
              <a:t>is an attribute of tensors that </a:t>
            </a:r>
            <a:r>
              <a:rPr lang="en-GB" b="1" dirty="0"/>
              <a:t>allows the gradients to be calculated for a particular tensor</a:t>
            </a:r>
            <a:r>
              <a:rPr lang="en-GB" dirty="0"/>
              <a:t>,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forward operations and</a:t>
            </a:r>
            <a:r>
              <a:rPr lang="en-GB" dirty="0"/>
              <a:t> </a:t>
            </a:r>
            <a:r>
              <a:rPr lang="en-GB" b="1" dirty="0"/>
              <a:t>backpropagation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Setting </a:t>
            </a:r>
            <a:r>
              <a:rPr lang="en-GB" b="1" dirty="0" err="1"/>
              <a:t>retain_grad</a:t>
            </a:r>
            <a:r>
              <a:rPr lang="en-GB" b="1" dirty="0"/>
              <a:t>()</a:t>
            </a:r>
            <a:r>
              <a:rPr lang="en-GB" dirty="0"/>
              <a:t> to </a:t>
            </a:r>
            <a:r>
              <a:rPr lang="en-GB" b="1" dirty="0"/>
              <a:t>True</a:t>
            </a:r>
            <a:r>
              <a:rPr lang="en-GB" dirty="0"/>
              <a:t> for a tensor will tell </a:t>
            </a:r>
            <a:r>
              <a:rPr lang="en-GB" dirty="0" err="1"/>
              <a:t>PyTorch</a:t>
            </a:r>
            <a:r>
              <a:rPr lang="en-GB" dirty="0"/>
              <a:t> to keep track of operations happening during the forward pass, later allowing to compute the gradients of these intermediate tensors.</a:t>
            </a:r>
          </a:p>
          <a:p>
            <a:pPr marL="0" indent="0">
              <a:buNone/>
            </a:pPr>
            <a:r>
              <a:rPr lang="en-GB" dirty="0"/>
              <a:t>This will eventually serve to perform parameters updates via backpropagation.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FF0000"/>
                </a:solidFill>
              </a:rPr>
              <a:t>To keep it simple: Trainable parameters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should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allow for gradients to be retained for backpropagation.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8816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595458-81E2-940F-A3E9-22F09182B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forward pass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DF5152-8165-F342-BDF9-7CF1D911D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forward pass can be rewritten. You can replace most NumPy operations with their </a:t>
            </a:r>
            <a:r>
              <a:rPr lang="en-GB" dirty="0" err="1"/>
              <a:t>PyTorch</a:t>
            </a:r>
            <a:r>
              <a:rPr lang="en-GB" dirty="0"/>
              <a:t> equivalents. Similarly, our activation function sigmoid is replaced with </a:t>
            </a:r>
            <a:r>
              <a:rPr lang="en-GB" dirty="0" err="1"/>
              <a:t>PyTorch's</a:t>
            </a:r>
            <a:r>
              <a:rPr lang="en-GB" dirty="0"/>
              <a:t> </a:t>
            </a:r>
            <a:r>
              <a:rPr lang="en-GB" b="1" dirty="0" err="1"/>
              <a:t>torch.sigmoid</a:t>
            </a:r>
            <a:r>
              <a:rPr lang="en-GB" b="1" dirty="0"/>
              <a:t>() </a:t>
            </a:r>
            <a:r>
              <a:rPr lang="en-GB" dirty="0"/>
              <a:t>function. 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7C372F-E912-DE4A-4DF1-EE8281CE0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966" y="3349186"/>
            <a:ext cx="8134068" cy="350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2981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97535-1088-B797-5883-502EDFA1C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loss and accuracy functions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45D00-1AA4-E710-F652-A7E165C17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Similarly, we can rewrite the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functions using torch functions in place of the </a:t>
            </a:r>
            <a:r>
              <a:rPr lang="en-GB" dirty="0" err="1"/>
              <a:t>Numpy</a:t>
            </a:r>
            <a:r>
              <a:rPr lang="en-GB" dirty="0"/>
              <a:t> ones, also vectorizing operations as much as possible.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6F7538-0929-9C7F-4437-2EFA2BF34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92" y="3542153"/>
            <a:ext cx="11695651" cy="306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5110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60D675C-F808-15BD-95C2-87052D57C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651" y="304364"/>
            <a:ext cx="8754697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758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F2AAA-4A37-008C-E7D6-37C0D48B6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out our new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6E96C-A3A7-C270-6E1D-F90C9FE6B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67717"/>
            <a:ext cx="10730219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Before using this Neural Network on our dataset, we need to convert our samples to </a:t>
            </a:r>
            <a:r>
              <a:rPr lang="en-GB" dirty="0" err="1"/>
              <a:t>PyTorch</a:t>
            </a:r>
            <a:r>
              <a:rPr lang="en-GB" dirty="0"/>
              <a:t> Tensor objects and send them to GPU (if available).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FDCF4F-119C-C0DE-4989-887667465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2561625"/>
            <a:ext cx="9793067" cy="42963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3978380-2A86-3DD8-97EC-1CCEAE7AE11C}"/>
              </a:ext>
            </a:extLst>
          </p:cNvPr>
          <p:cNvSpPr/>
          <p:nvPr/>
        </p:nvSpPr>
        <p:spPr>
          <a:xfrm flipV="1">
            <a:off x="1199466" y="2561624"/>
            <a:ext cx="5873457" cy="61142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0721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08F03-1D5E-5E62-5A70-1B8EB17DF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run both models (the NumPy one and the </a:t>
            </a:r>
            <a:r>
              <a:rPr lang="en-GB" dirty="0" err="1"/>
              <a:t>PyTorch</a:t>
            </a:r>
            <a:r>
              <a:rPr lang="en-GB" dirty="0"/>
              <a:t> one) and ask them to perform 1000 times the accuracy computation.</a:t>
            </a:r>
          </a:p>
          <a:p>
            <a:r>
              <a:rPr lang="en-GB" dirty="0"/>
              <a:t>On my machine (CUDA, Nvidia GTX 4070), the </a:t>
            </a:r>
            <a:r>
              <a:rPr lang="en-GB" dirty="0" err="1"/>
              <a:t>PyTorch</a:t>
            </a:r>
            <a:r>
              <a:rPr lang="en-GB" dirty="0"/>
              <a:t> model is </a:t>
            </a:r>
            <a:r>
              <a:rPr lang="en-GB" b="1" dirty="0"/>
              <a:t>roughly 30 times faster</a:t>
            </a:r>
            <a:r>
              <a:rPr lang="en-GB" dirty="0"/>
              <a:t>!</a:t>
            </a:r>
          </a:p>
          <a:p>
            <a:r>
              <a:rPr lang="en-GB" i="1" dirty="0"/>
              <a:t>(Obviously depends on your machine, could be even more on some specific DL GPUs).</a:t>
            </a:r>
            <a:endParaRPr lang="en-SG" i="1" dirty="0"/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ECC234CE-D676-ECD3-D2E7-52357BDE96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939" y="4493560"/>
            <a:ext cx="7716121" cy="236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709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46E1A0-EF8B-8076-F40B-06546F4B9B9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72"/>
          <a:stretch/>
        </p:blipFill>
        <p:spPr>
          <a:xfrm>
            <a:off x="1277516" y="1374925"/>
            <a:ext cx="9636967" cy="548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5384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3C55E-8D40-892D-CA0E-25C9EA18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0156-A29B-F996-8AA8-5C78B66D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note for those of you running on MacOS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BFAB2-CE03-4B19-15B7-5D788C13B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Use Google </a:t>
            </a:r>
            <a:r>
              <a:rPr lang="en-GB" dirty="0" err="1"/>
              <a:t>Colab</a:t>
            </a:r>
            <a:r>
              <a:rPr lang="en-GB" dirty="0"/>
              <a:t> but remember to select GPUs are runtime hardware (by default CPU).</a:t>
            </a:r>
            <a:endParaRPr lang="en-GB" i="1" dirty="0"/>
          </a:p>
          <a:p>
            <a:pPr marL="0" indent="0">
              <a:buNone/>
            </a:pPr>
            <a:r>
              <a:rPr lang="en-GB" b="1" i="1" dirty="0"/>
              <a:t>Also the option of using </a:t>
            </a:r>
            <a:r>
              <a:rPr lang="en-GB" b="1" i="1" u="sng" dirty="0"/>
              <a:t>MPS</a:t>
            </a:r>
            <a:br>
              <a:rPr lang="en-GB" b="1" i="1" u="sng" dirty="0"/>
            </a:br>
            <a:r>
              <a:rPr lang="en-GB" b="1" i="1" dirty="0"/>
              <a:t>(but you have to figure it out!)</a:t>
            </a:r>
          </a:p>
          <a:p>
            <a:pPr marL="0" indent="0">
              <a:buNone/>
            </a:pPr>
            <a:r>
              <a:rPr lang="en-GB" b="1" i="1" dirty="0"/>
              <a:t>Careful, as of Feb 2025, float64 is not a valid datatype in MPS, might need to use float32 in notebooks instead.</a:t>
            </a:r>
          </a:p>
          <a:p>
            <a:pPr marL="0" indent="0">
              <a:buNone/>
            </a:pPr>
            <a:r>
              <a:rPr lang="en-GB" b="1" i="1" dirty="0"/>
              <a:t>Possibly more adjustments needed…</a:t>
            </a:r>
            <a:endParaRPr lang="en-SG" b="1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FB43C8-3C29-BA06-BBF8-541C3A943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73380"/>
            <a:ext cx="5856514" cy="4356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4241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B7E6E-252F-1AB6-6445-27D0020E0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practice for you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657BF-BB53-D488-1F2B-77F25EDE3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866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order to practice your </a:t>
            </a:r>
            <a:r>
              <a:rPr lang="en-GB" dirty="0" err="1"/>
              <a:t>PyTorch</a:t>
            </a:r>
            <a:r>
              <a:rPr lang="en-GB" dirty="0"/>
              <a:t> Tensor skills,</a:t>
            </a:r>
          </a:p>
          <a:p>
            <a:r>
              <a:rPr lang="en-GB" dirty="0"/>
              <a:t>Have a look at Notebook #3,</a:t>
            </a:r>
          </a:p>
          <a:p>
            <a:r>
              <a:rPr lang="en-GB" dirty="0"/>
              <a:t>It contains three functions (computing the mean of a 2D tensor column-wise, finding indices where the values a 2D tensor are greater than 5, concatenating two 2D tensors, etc.)</a:t>
            </a:r>
          </a:p>
          <a:p>
            <a:r>
              <a:rPr lang="en-GB" dirty="0"/>
              <a:t>Solutions are given in the Notebook 3 solution folder.</a:t>
            </a:r>
          </a:p>
          <a:p>
            <a:pPr marL="0" indent="0">
              <a:buNone/>
            </a:pPr>
            <a:r>
              <a:rPr lang="en-GB" dirty="0"/>
              <a:t>Let us use the remaining time to practice.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40288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B7E6E-252F-1AB6-6445-27D0020E0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practice </a:t>
            </a:r>
            <a:r>
              <a:rPr lang="en-GB"/>
              <a:t>for you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657BF-BB53-D488-1F2B-77F25EDE3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8665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In order to continue your practice your </a:t>
            </a:r>
            <a:r>
              <a:rPr lang="en-GB" dirty="0" err="1"/>
              <a:t>PyTorch</a:t>
            </a:r>
            <a:r>
              <a:rPr lang="en-GB" dirty="0"/>
              <a:t> Tensor skills, you may try to manually implement some typical algorithms using the basic operations on </a:t>
            </a:r>
            <a:r>
              <a:rPr lang="en-GB" dirty="0" err="1"/>
              <a:t>PyTorch</a:t>
            </a:r>
            <a:r>
              <a:rPr lang="en-GB" dirty="0"/>
              <a:t> tensors:</a:t>
            </a:r>
          </a:p>
          <a:p>
            <a:r>
              <a:rPr lang="en-GB" dirty="0"/>
              <a:t>Finding the maximum, minimum, average, median values of a given 1D tensor,</a:t>
            </a:r>
          </a:p>
          <a:p>
            <a:r>
              <a:rPr lang="en-GB" dirty="0"/>
              <a:t>Transposing a given 2D tensor, computing its determinant, eigenvalues/eigenvectors,</a:t>
            </a:r>
          </a:p>
          <a:p>
            <a:r>
              <a:rPr lang="en-GB" dirty="0"/>
              <a:t>Sorting a given 1D tensor (bubble sort, insertion sort, selection sort, quick sort, merge sort),</a:t>
            </a:r>
          </a:p>
          <a:p>
            <a:r>
              <a:rPr lang="en-GB" dirty="0"/>
              <a:t>Generating a 1D array containing the first K Fibonacci numbers with K given,</a:t>
            </a:r>
          </a:p>
          <a:p>
            <a:r>
              <a:rPr lang="en-GB" dirty="0"/>
              <a:t>Etc.</a:t>
            </a:r>
          </a:p>
          <a:p>
            <a:pPr marL="0" indent="0">
              <a:buNone/>
            </a:pPr>
            <a:r>
              <a:rPr lang="en-GB" dirty="0"/>
              <a:t>Later, you can check their performance times compared to their </a:t>
            </a:r>
            <a:r>
              <a:rPr lang="en-GB" dirty="0" err="1"/>
              <a:t>Numpy</a:t>
            </a:r>
            <a:r>
              <a:rPr lang="en-GB" dirty="0"/>
              <a:t>/</a:t>
            </a:r>
            <a:r>
              <a:rPr lang="en-GB" dirty="0" err="1"/>
              <a:t>PyTorch</a:t>
            </a:r>
            <a:r>
              <a:rPr lang="en-GB" dirty="0"/>
              <a:t> implementations when running them on CPU </a:t>
            </a:r>
            <a:r>
              <a:rPr lang="en-GB"/>
              <a:t>and CUDA. </a:t>
            </a:r>
            <a:r>
              <a:rPr lang="en-GB" dirty="0"/>
              <a:t>In which scenarios is it slower to implement said functions and run them on GPU?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09505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2089</TotalTime>
  <Words>3057</Words>
  <Application>Microsoft Office PowerPoint</Application>
  <PresentationFormat>Widescreen</PresentationFormat>
  <Paragraphs>230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Office Theme</vt:lpstr>
      <vt:lpstr>50.039 Theory and Practice of Deep Learning W3-S1 Introduction to Deep Learning using the PyTorch framework</vt:lpstr>
      <vt:lpstr>Introduction (Week 3)</vt:lpstr>
      <vt:lpstr>Introduction (Week 3)</vt:lpstr>
      <vt:lpstr>Introduction (Week 3)</vt:lpstr>
      <vt:lpstr>Technical pre-requisites</vt:lpstr>
      <vt:lpstr>On the benefits of using PyTorch</vt:lpstr>
      <vt:lpstr>On the benefits of using PyTorch</vt:lpstr>
      <vt:lpstr>At this point, you should have installed PyTorch, and if possible, CUDA</vt:lpstr>
      <vt:lpstr>The Tensor object</vt:lpstr>
      <vt:lpstr>Creating a Tensor</vt:lpstr>
      <vt:lpstr>Tensor datatypes (dtypes)</vt:lpstr>
      <vt:lpstr>Tensor datatypes (dtypes)</vt:lpstr>
      <vt:lpstr>Tensor random initializers</vt:lpstr>
      <vt:lpstr>Tensor random initializers</vt:lpstr>
      <vt:lpstr>Additional attributes of Tensors</vt:lpstr>
      <vt:lpstr>Additional attributes of Tensors</vt:lpstr>
      <vt:lpstr>Basic operations on Tensors</vt:lpstr>
      <vt:lpstr>Basic operations on Tensors</vt:lpstr>
      <vt:lpstr>Basic operations on Tensors</vt:lpstr>
      <vt:lpstr>Basic operations on Tensors</vt:lpstr>
      <vt:lpstr>Arithmetic operations on Tensors</vt:lpstr>
      <vt:lpstr>Arithmetic operations on Tensors</vt:lpstr>
      <vt:lpstr>Arithmetic operations on Tensors</vt:lpstr>
      <vt:lpstr>Arithmetic operations on Tensors</vt:lpstr>
      <vt:lpstr>A quick note on broadcasting</vt:lpstr>
      <vt:lpstr>A quick note on broadcasting</vt:lpstr>
      <vt:lpstr>A quick note on broadcasting</vt:lpstr>
      <vt:lpstr>Tensor locations</vt:lpstr>
      <vt:lpstr>Tensor locations</vt:lpstr>
      <vt:lpstr>Tensor locations</vt:lpstr>
      <vt:lpstr>Tensor locations</vt:lpstr>
      <vt:lpstr>Tensor locations</vt:lpstr>
      <vt:lpstr>Same dataset as before</vt:lpstr>
      <vt:lpstr>Our shallow neural network class</vt:lpstr>
      <vt:lpstr>Writing a PyTorch neural network</vt:lpstr>
      <vt:lpstr>PowerPoint Presentation</vt:lpstr>
      <vt:lpstr>Writing a PyTorch neural network</vt:lpstr>
      <vt:lpstr>Rewriting the forward pass</vt:lpstr>
      <vt:lpstr>Rewriting the loss and accuracy functions</vt:lpstr>
      <vt:lpstr>PowerPoint Presentation</vt:lpstr>
      <vt:lpstr>Trying out our new neural network</vt:lpstr>
      <vt:lpstr>Computation times comparison</vt:lpstr>
      <vt:lpstr>Computation times comparison</vt:lpstr>
      <vt:lpstr>A note for those of you running on MacOS</vt:lpstr>
      <vt:lpstr>A bit of practice for you</vt:lpstr>
      <vt:lpstr>A bit of practice for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2026-01-12T06:14:04Z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