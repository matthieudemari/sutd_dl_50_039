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7"/>
  </p:notesMasterIdLst>
  <p:sldIdLst>
    <p:sldId id="377" r:id="rId2"/>
    <p:sldId id="257" r:id="rId3"/>
    <p:sldId id="586" r:id="rId4"/>
    <p:sldId id="587" r:id="rId5"/>
    <p:sldId id="718" r:id="rId6"/>
    <p:sldId id="719" r:id="rId7"/>
    <p:sldId id="720" r:id="rId8"/>
    <p:sldId id="721" r:id="rId9"/>
    <p:sldId id="722" r:id="rId10"/>
    <p:sldId id="723" r:id="rId11"/>
    <p:sldId id="724" r:id="rId12"/>
    <p:sldId id="725" r:id="rId13"/>
    <p:sldId id="726" r:id="rId14"/>
    <p:sldId id="728" r:id="rId15"/>
    <p:sldId id="605" r:id="rId16"/>
    <p:sldId id="729" r:id="rId17"/>
    <p:sldId id="730" r:id="rId18"/>
    <p:sldId id="731" r:id="rId19"/>
    <p:sldId id="732" r:id="rId20"/>
    <p:sldId id="733" r:id="rId21"/>
    <p:sldId id="734" r:id="rId22"/>
    <p:sldId id="735" r:id="rId23"/>
    <p:sldId id="736" r:id="rId24"/>
    <p:sldId id="737" r:id="rId25"/>
    <p:sldId id="738" r:id="rId26"/>
    <p:sldId id="739" r:id="rId27"/>
    <p:sldId id="740" r:id="rId28"/>
    <p:sldId id="741" r:id="rId29"/>
    <p:sldId id="743" r:id="rId30"/>
    <p:sldId id="742" r:id="rId31"/>
    <p:sldId id="744" r:id="rId32"/>
    <p:sldId id="745" r:id="rId33"/>
    <p:sldId id="746" r:id="rId34"/>
    <p:sldId id="747" r:id="rId35"/>
    <p:sldId id="606" r:id="rId36"/>
    <p:sldId id="748" r:id="rId37"/>
    <p:sldId id="607" r:id="rId38"/>
    <p:sldId id="749" r:id="rId39"/>
    <p:sldId id="750" r:id="rId40"/>
    <p:sldId id="751" r:id="rId41"/>
    <p:sldId id="752" r:id="rId42"/>
    <p:sldId id="753" r:id="rId43"/>
    <p:sldId id="754" r:id="rId44"/>
    <p:sldId id="756" r:id="rId45"/>
    <p:sldId id="674" r:id="rId46"/>
    <p:sldId id="762" r:id="rId47"/>
    <p:sldId id="765" r:id="rId48"/>
    <p:sldId id="767" r:id="rId49"/>
    <p:sldId id="768" r:id="rId50"/>
    <p:sldId id="764" r:id="rId51"/>
    <p:sldId id="760" r:id="rId52"/>
    <p:sldId id="761" r:id="rId53"/>
    <p:sldId id="769" r:id="rId54"/>
    <p:sldId id="771" r:id="rId55"/>
    <p:sldId id="776" r:id="rId56"/>
    <p:sldId id="770" r:id="rId57"/>
    <p:sldId id="772" r:id="rId58"/>
    <p:sldId id="773" r:id="rId59"/>
    <p:sldId id="346" r:id="rId60"/>
    <p:sldId id="608" r:id="rId61"/>
    <p:sldId id="757" r:id="rId62"/>
    <p:sldId id="758" r:id="rId63"/>
    <p:sldId id="759" r:id="rId64"/>
    <p:sldId id="775" r:id="rId65"/>
    <p:sldId id="266" r:id="rId6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6D3CB8D-C5FE-4F85-97E1-008DE64A5D47}">
          <p14:sldIdLst>
            <p14:sldId id="377"/>
          </p14:sldIdLst>
        </p14:section>
        <p14:section name="I.1. Introduction" id="{2FD0FF71-F5FC-4EB7-B2CB-B31E4CBECD79}">
          <p14:sldIdLst>
            <p14:sldId id="257"/>
            <p14:sldId id="586"/>
            <p14:sldId id="587"/>
          </p14:sldIdLst>
        </p14:section>
        <p14:section name="VII.1. GP1: Using additional performance metrics beyond loss" id="{4D6161DC-301B-4E30-8495-B37D0CB5A812}">
          <p14:sldIdLst>
            <p14:sldId id="718"/>
            <p14:sldId id="719"/>
            <p14:sldId id="720"/>
            <p14:sldId id="721"/>
            <p14:sldId id="722"/>
            <p14:sldId id="723"/>
            <p14:sldId id="724"/>
            <p14:sldId id="725"/>
            <p14:sldId id="726"/>
          </p14:sldIdLst>
        </p14:section>
        <p14:section name="VII.2. GP2: Train-test-validation split" id="{3220CC68-F665-4E66-9217-9602DC36D835}">
          <p14:sldIdLst>
            <p14:sldId id="728"/>
            <p14:sldId id="605"/>
            <p14:sldId id="729"/>
            <p14:sldId id="730"/>
            <p14:sldId id="731"/>
            <p14:sldId id="732"/>
            <p14:sldId id="733"/>
            <p14:sldId id="734"/>
            <p14:sldId id="735"/>
            <p14:sldId id="736"/>
            <p14:sldId id="737"/>
            <p14:sldId id="738"/>
            <p14:sldId id="739"/>
            <p14:sldId id="740"/>
            <p14:sldId id="741"/>
            <p14:sldId id="743"/>
            <p14:sldId id="742"/>
            <p14:sldId id="744"/>
            <p14:sldId id="745"/>
            <p14:sldId id="746"/>
          </p14:sldIdLst>
        </p14:section>
        <p14:section name="VII.3. GP3: Early stopping for trainers" id="{2775C146-CC13-4E6F-A885-534CE1C67D76}">
          <p14:sldIdLst>
            <p14:sldId id="747"/>
            <p14:sldId id="606"/>
            <p14:sldId id="748"/>
          </p14:sldIdLst>
        </p14:section>
        <p14:section name="VII.4. GP4: Saver and loader functions" id="{C695EFD3-5A29-4D0A-AB2D-DC41C7A2FB1A}">
          <p14:sldIdLst>
            <p14:sldId id="607"/>
            <p14:sldId id="749"/>
            <p14:sldId id="750"/>
            <p14:sldId id="751"/>
            <p14:sldId id="752"/>
            <p14:sldId id="753"/>
            <p14:sldId id="754"/>
            <p14:sldId id="756"/>
          </p14:sldIdLst>
        </p14:section>
        <p14:section name="VII.4. What is best? More layers or more neurons?" id="{1A92015B-DA55-4FF7-AFBF-2B6C205FA1DA}">
          <p14:sldIdLst>
            <p14:sldId id="674"/>
            <p14:sldId id="762"/>
            <p14:sldId id="765"/>
            <p14:sldId id="767"/>
            <p14:sldId id="768"/>
            <p14:sldId id="764"/>
          </p14:sldIdLst>
        </p14:section>
        <p14:section name="Bonus - Notebook 8 Answers &amp; Discussion" id="{403B76AB-862D-4E93-BAED-89E1AA8752B9}">
          <p14:sldIdLst>
            <p14:sldId id="760"/>
            <p14:sldId id="761"/>
            <p14:sldId id="769"/>
            <p14:sldId id="771"/>
            <p14:sldId id="776"/>
            <p14:sldId id="770"/>
            <p14:sldId id="772"/>
            <p14:sldId id="773"/>
          </p14:sldIdLst>
        </p14:section>
        <p14:section name="Conclusion" id="{09807B6E-2B76-45C8-B103-96D5021B68A6}">
          <p14:sldIdLst>
            <p14:sldId id="346"/>
          </p14:sldIdLst>
        </p14:section>
        <p14:section name="Bonus - Hyperparameter searching" id="{9DF854B9-B1FF-4998-A2D8-9E9AEA42D2D4}">
          <p14:sldIdLst>
            <p14:sldId id="608"/>
            <p14:sldId id="757"/>
            <p14:sldId id="758"/>
            <p14:sldId id="759"/>
            <p14:sldId id="775"/>
          </p14:sldIdLst>
        </p14:section>
        <p14:section name="References and watchlist" id="{217B8593-1CA5-408D-B198-A5E6ACAB5948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A446D52-C317-103A-D209-A6D1D99CFF7D}" name="Matthieu De Mari" initials="MDM" userId="Matthieu De Mari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292" autoAdjust="0"/>
  </p:normalViewPr>
  <p:slideViewPr>
    <p:cSldViewPr snapToGrid="0">
      <p:cViewPr varScale="1">
        <p:scale>
          <a:sx n="70" d="100"/>
          <a:sy n="70" d="100"/>
        </p:scale>
        <p:origin x="1138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hieu De Mari" userId="dfb708c9-d8dc-439f-9a3b-c772bf4a311c" providerId="ADAL" clId="{81E9B007-0C2C-493E-9B93-55A62C9C1F12}"/>
    <pc:docChg chg="custSel addSld modSld">
      <pc:chgData name="Matthieu De Mari" userId="dfb708c9-d8dc-439f-9a3b-c772bf4a311c" providerId="ADAL" clId="{81E9B007-0C2C-493E-9B93-55A62C9C1F12}" dt="2026-01-29T05:25:36.931" v="1014" actId="20577"/>
      <pc:docMkLst>
        <pc:docMk/>
      </pc:docMkLst>
      <pc:sldChg chg="modSp mod">
        <pc:chgData name="Matthieu De Mari" userId="dfb708c9-d8dc-439f-9a3b-c772bf4a311c" providerId="ADAL" clId="{81E9B007-0C2C-493E-9B93-55A62C9C1F12}" dt="2026-01-29T05:24:54.662" v="1004" actId="115"/>
        <pc:sldMkLst>
          <pc:docMk/>
          <pc:sldMk cId="931835860" sldId="607"/>
        </pc:sldMkLst>
        <pc:spChg chg="mod">
          <ac:chgData name="Matthieu De Mari" userId="dfb708c9-d8dc-439f-9a3b-c772bf4a311c" providerId="ADAL" clId="{81E9B007-0C2C-493E-9B93-55A62C9C1F12}" dt="2026-01-29T05:24:54.662" v="1004" actId="115"/>
          <ac:spMkLst>
            <pc:docMk/>
            <pc:sldMk cId="931835860" sldId="607"/>
            <ac:spMk id="3" creationId="{CE89A62E-0A02-E5E6-C125-17199041EEA2}"/>
          </ac:spMkLst>
        </pc:spChg>
      </pc:sldChg>
      <pc:sldChg chg="modSp mod">
        <pc:chgData name="Matthieu De Mari" userId="dfb708c9-d8dc-439f-9a3b-c772bf4a311c" providerId="ADAL" clId="{81E9B007-0C2C-493E-9B93-55A62C9C1F12}" dt="2026-01-29T05:20:46.601" v="952" actId="20577"/>
        <pc:sldMkLst>
          <pc:docMk/>
          <pc:sldMk cId="1519552416" sldId="728"/>
        </pc:sldMkLst>
        <pc:spChg chg="mod">
          <ac:chgData name="Matthieu De Mari" userId="dfb708c9-d8dc-439f-9a3b-c772bf4a311c" providerId="ADAL" clId="{81E9B007-0C2C-493E-9B93-55A62C9C1F12}" dt="2026-01-29T05:20:46.601" v="952" actId="20577"/>
          <ac:spMkLst>
            <pc:docMk/>
            <pc:sldMk cId="1519552416" sldId="728"/>
            <ac:spMk id="3" creationId="{0F53CA20-FD68-BCFD-A748-1DE206D1241E}"/>
          </ac:spMkLst>
        </pc:spChg>
      </pc:sldChg>
      <pc:sldChg chg="addSp modSp mod">
        <pc:chgData name="Matthieu De Mari" userId="dfb708c9-d8dc-439f-9a3b-c772bf4a311c" providerId="ADAL" clId="{81E9B007-0C2C-493E-9B93-55A62C9C1F12}" dt="2026-01-29T05:22:30.294" v="997" actId="20577"/>
        <pc:sldMkLst>
          <pc:docMk/>
          <pc:sldMk cId="3224935516" sldId="732"/>
        </pc:sldMkLst>
        <pc:spChg chg="mod">
          <ac:chgData name="Matthieu De Mari" userId="dfb708c9-d8dc-439f-9a3b-c772bf4a311c" providerId="ADAL" clId="{81E9B007-0C2C-493E-9B93-55A62C9C1F12}" dt="2026-01-16T05:30:53.344" v="96" actId="14100"/>
          <ac:spMkLst>
            <pc:docMk/>
            <pc:sldMk cId="3224935516" sldId="732"/>
            <ac:spMk id="3" creationId="{0F53CA20-FD68-BCFD-A748-1DE206D1241E}"/>
          </ac:spMkLst>
        </pc:spChg>
        <pc:graphicFrameChg chg="add mod modGraphic">
          <ac:chgData name="Matthieu De Mari" userId="dfb708c9-d8dc-439f-9a3b-c772bf4a311c" providerId="ADAL" clId="{81E9B007-0C2C-493E-9B93-55A62C9C1F12}" dt="2026-01-29T05:22:30.294" v="997" actId="20577"/>
          <ac:graphicFrameMkLst>
            <pc:docMk/>
            <pc:sldMk cId="3224935516" sldId="732"/>
            <ac:graphicFrameMk id="4" creationId="{56947B2B-4CB9-C15C-1A97-6A95864662B3}"/>
          </ac:graphicFrameMkLst>
        </pc:graphicFrameChg>
      </pc:sldChg>
      <pc:sldChg chg="modSp mod">
        <pc:chgData name="Matthieu De Mari" userId="dfb708c9-d8dc-439f-9a3b-c772bf4a311c" providerId="ADAL" clId="{81E9B007-0C2C-493E-9B93-55A62C9C1F12}" dt="2026-01-16T05:37:43.748" v="844" actId="113"/>
        <pc:sldMkLst>
          <pc:docMk/>
          <pc:sldMk cId="902592151" sldId="734"/>
        </pc:sldMkLst>
        <pc:spChg chg="mod">
          <ac:chgData name="Matthieu De Mari" userId="dfb708c9-d8dc-439f-9a3b-c772bf4a311c" providerId="ADAL" clId="{81E9B007-0C2C-493E-9B93-55A62C9C1F12}" dt="2026-01-16T05:37:43.748" v="844" actId="113"/>
          <ac:spMkLst>
            <pc:docMk/>
            <pc:sldMk cId="902592151" sldId="734"/>
            <ac:spMk id="3" creationId="{0F53CA20-FD68-BCFD-A748-1DE206D1241E}"/>
          </ac:spMkLst>
        </pc:spChg>
      </pc:sldChg>
      <pc:sldChg chg="modSp mod">
        <pc:chgData name="Matthieu De Mari" userId="dfb708c9-d8dc-439f-9a3b-c772bf4a311c" providerId="ADAL" clId="{81E9B007-0C2C-493E-9B93-55A62C9C1F12}" dt="2026-01-16T05:39:02.396" v="877" actId="5793"/>
        <pc:sldMkLst>
          <pc:docMk/>
          <pc:sldMk cId="3978526987" sldId="748"/>
        </pc:sldMkLst>
        <pc:spChg chg="mod">
          <ac:chgData name="Matthieu De Mari" userId="dfb708c9-d8dc-439f-9a3b-c772bf4a311c" providerId="ADAL" clId="{81E9B007-0C2C-493E-9B93-55A62C9C1F12}" dt="2026-01-16T05:39:02.396" v="877" actId="5793"/>
          <ac:spMkLst>
            <pc:docMk/>
            <pc:sldMk cId="3978526987" sldId="748"/>
            <ac:spMk id="5" creationId="{4DE7EC8E-262A-539E-A4A9-D3B1A09420A4}"/>
          </ac:spMkLst>
        </pc:spChg>
      </pc:sldChg>
      <pc:sldChg chg="modSp">
        <pc:chgData name="Matthieu De Mari" userId="dfb708c9-d8dc-439f-9a3b-c772bf4a311c" providerId="ADAL" clId="{81E9B007-0C2C-493E-9B93-55A62C9C1F12}" dt="2026-01-16T05:39:49.017" v="924"/>
        <pc:sldMkLst>
          <pc:docMk/>
          <pc:sldMk cId="2316732268" sldId="749"/>
        </pc:sldMkLst>
        <pc:spChg chg="mod">
          <ac:chgData name="Matthieu De Mari" userId="dfb708c9-d8dc-439f-9a3b-c772bf4a311c" providerId="ADAL" clId="{81E9B007-0C2C-493E-9B93-55A62C9C1F12}" dt="2026-01-16T05:39:49.017" v="924"/>
          <ac:spMkLst>
            <pc:docMk/>
            <pc:sldMk cId="2316732268" sldId="749"/>
            <ac:spMk id="3" creationId="{CE89A62E-0A02-E5E6-C125-17199041EEA2}"/>
          </ac:spMkLst>
        </pc:spChg>
      </pc:sldChg>
      <pc:sldChg chg="modSp">
        <pc:chgData name="Matthieu De Mari" userId="dfb708c9-d8dc-439f-9a3b-c772bf4a311c" providerId="ADAL" clId="{81E9B007-0C2C-493E-9B93-55A62C9C1F12}" dt="2026-01-16T05:39:52.490" v="925"/>
        <pc:sldMkLst>
          <pc:docMk/>
          <pc:sldMk cId="3379194796" sldId="750"/>
        </pc:sldMkLst>
        <pc:spChg chg="mod">
          <ac:chgData name="Matthieu De Mari" userId="dfb708c9-d8dc-439f-9a3b-c772bf4a311c" providerId="ADAL" clId="{81E9B007-0C2C-493E-9B93-55A62C9C1F12}" dt="2026-01-16T05:39:52.490" v="925"/>
          <ac:spMkLst>
            <pc:docMk/>
            <pc:sldMk cId="3379194796" sldId="750"/>
            <ac:spMk id="3" creationId="{CE89A62E-0A02-E5E6-C125-17199041EEA2}"/>
          </ac:spMkLst>
        </pc:spChg>
      </pc:sldChg>
      <pc:sldChg chg="modSp">
        <pc:chgData name="Matthieu De Mari" userId="dfb708c9-d8dc-439f-9a3b-c772bf4a311c" providerId="ADAL" clId="{81E9B007-0C2C-493E-9B93-55A62C9C1F12}" dt="2026-01-16T05:39:55.755" v="926"/>
        <pc:sldMkLst>
          <pc:docMk/>
          <pc:sldMk cId="2249021927" sldId="751"/>
        </pc:sldMkLst>
        <pc:spChg chg="mod">
          <ac:chgData name="Matthieu De Mari" userId="dfb708c9-d8dc-439f-9a3b-c772bf4a311c" providerId="ADAL" clId="{81E9B007-0C2C-493E-9B93-55A62C9C1F12}" dt="2026-01-16T05:39:55.755" v="926"/>
          <ac:spMkLst>
            <pc:docMk/>
            <pc:sldMk cId="2249021927" sldId="751"/>
            <ac:spMk id="3" creationId="{CE89A62E-0A02-E5E6-C125-17199041EEA2}"/>
          </ac:spMkLst>
        </pc:spChg>
      </pc:sldChg>
      <pc:sldChg chg="modSp mod">
        <pc:chgData name="Matthieu De Mari" userId="dfb708c9-d8dc-439f-9a3b-c772bf4a311c" providerId="ADAL" clId="{81E9B007-0C2C-493E-9B93-55A62C9C1F12}" dt="2026-01-16T05:40:11.901" v="928" actId="20577"/>
        <pc:sldMkLst>
          <pc:docMk/>
          <pc:sldMk cId="97298847" sldId="753"/>
        </pc:sldMkLst>
        <pc:spChg chg="mod">
          <ac:chgData name="Matthieu De Mari" userId="dfb708c9-d8dc-439f-9a3b-c772bf4a311c" providerId="ADAL" clId="{81E9B007-0C2C-493E-9B93-55A62C9C1F12}" dt="2026-01-16T05:40:11.901" v="928" actId="20577"/>
          <ac:spMkLst>
            <pc:docMk/>
            <pc:sldMk cId="97298847" sldId="753"/>
            <ac:spMk id="2" creationId="{D97C42B4-E207-C9EA-4CC3-5FE526AF0594}"/>
          </ac:spMkLst>
        </pc:spChg>
      </pc:sldChg>
      <pc:sldChg chg="modSp mod">
        <pc:chgData name="Matthieu De Mari" userId="dfb708c9-d8dc-439f-9a3b-c772bf4a311c" providerId="ADAL" clId="{81E9B007-0C2C-493E-9B93-55A62C9C1F12}" dt="2026-01-29T05:25:36.931" v="1014" actId="20577"/>
        <pc:sldMkLst>
          <pc:docMk/>
          <pc:sldMk cId="1700831633" sldId="754"/>
        </pc:sldMkLst>
        <pc:spChg chg="mod">
          <ac:chgData name="Matthieu De Mari" userId="dfb708c9-d8dc-439f-9a3b-c772bf4a311c" providerId="ADAL" clId="{81E9B007-0C2C-493E-9B93-55A62C9C1F12}" dt="2026-01-29T05:25:36.931" v="1014" actId="20577"/>
          <ac:spMkLst>
            <pc:docMk/>
            <pc:sldMk cId="1700831633" sldId="754"/>
            <ac:spMk id="3" creationId="{CE89A62E-0A02-E5E6-C125-17199041EEA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478373-EB31-4867-8CF0-FA31364748A5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4DF365-F842-4E76-AC24-5BC5382A08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8126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4DF365-F842-4E76-AC24-5BC5382A0823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8171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E4AD2-5DFB-40B9-9046-538F457C2D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89AB4D-C9BD-4804-BAD4-30ABC21BBF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16BA0-299B-403D-BF6F-22CAD5861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92CE3F-0F08-4DF3-A557-685AC26F7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DB7FD2-E7A4-40C9-9DA4-170335047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6607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9B31A-FA50-4DA2-9315-474283DEB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F3FCD2-8B77-4AF4-8080-624AD9E7F8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11587F-CECC-48E1-9033-F49992081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DBEDBB-8F3E-4349-BF02-8BA4BFA4A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49832-CE42-4D03-89CE-BF86C2288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7041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741B7-69A0-4F98-A4F1-934086E8E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C4F2BF-824A-433E-A1B8-AA04DCB3EA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003A02-257B-42F0-BF28-1777F5C487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1A73EA-09DC-41D8-B62F-461F7383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0A76A-6E9C-414F-B980-FF95D8BC4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18408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D12A8-E7BA-4E8E-9357-A40BF427B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B368D-1AC8-401B-8D15-AB5F2DF52B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B54FE0-C058-43CC-8FAE-A8FF7FC43F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6EDAEE-3329-419E-908B-25F1A6C11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BF37E1-EFD9-4926-903C-A8F3F36F6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1BFE49-D09A-40E3-8D45-D54CF140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781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06ACB-47EB-4233-8485-0DBCD4792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51BCCC-D7D1-44A6-85A4-5F35671D80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24D018-9C08-4325-8DE0-27765125B3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054B92-6EF5-4DC3-8819-3BB914D088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9DEE04-4503-4C98-A54E-5B4414DE44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E682F25-2B9E-401E-842E-299065232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C4412F-03BB-4180-96FC-5FFE79C5F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D4B694-771E-4D77-A094-AE6844AC4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7763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4B0B5-CEFD-42FE-80F6-946D18792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338384-0D5D-4181-9005-8843908CF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F3C4F2-521E-43BA-978F-A744CDEB1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E24618-CDB0-4673-AF57-77A81FE6F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9381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9B6684-ECAC-47C6-9E72-EC9A0F420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837DBC-C277-472E-BF47-6769C2B20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39D80B-7718-49DE-9803-FDF6ECAD1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184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E5B7-A7F2-453D-9210-C132F794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81A54-3B44-49FD-9DFE-5C031AC3B0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CEDAA9-F86E-42B0-BCB5-FFBD8F9BD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8E5CCE-232A-418F-BF54-FECCCBE5B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10C79A-014C-4B02-9279-7EE20A5128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3E7691-D5FC-4182-9AE9-20D2EFC76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4019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35217-D17F-45E7-B7CA-F5D4DAFB3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8B94D55-9243-49C9-96F4-70D4569015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476A3C-7074-4031-BCF5-275CD92ED7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130CC7-09EA-4C92-80AE-F253D048A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7CD087-50BE-480B-BD3C-2CCB17C0E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96C921-787D-431A-BDD7-DA404775A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68465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B0483-1596-4673-8A29-254D3DC88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8DE429-CA08-4265-9A4D-51FDC7FA54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E484A7-7EB0-4711-BB58-4DD3DBAC7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541F78-0B35-41BE-A0A9-4586BE477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D6E482-F592-48F9-83BC-62EB3DB57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5946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361B4E-3627-4AD6-AD20-F32FAFBDA4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48BF35-5935-4E82-A1F8-08337A4DA3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FBD791-DE7C-49E1-A341-84D81473B5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FD9CCE-A99B-4CBA-91FF-4D46A3F5C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3CAD09-2925-4932-B93A-FF27DE64C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05979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1DB992C-5696-43C0-B140-56751731D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058581-4C84-49FD-8B3C-95F4C8571A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8350B-1B49-41B8-8A7A-F1A1B98F8C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5DF616-B21E-4EF6-A6A5-95E2FB3EB1A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0BE49B-AA7F-417D-B067-42C40475CC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972CFA-2157-4F98-8693-550F0B104B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504F79-603A-6F7A-93E7-C9CABA0FF30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781675" y="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872183-7F29-FB0F-D3D7-53204406A33F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81675" y="667512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</p:spTree>
    <p:extLst>
      <p:ext uri="{BB962C8B-B14F-4D97-AF65-F5344CB8AC3E}">
        <p14:creationId xmlns:p14="http://schemas.microsoft.com/office/powerpoint/2010/main" val="21687082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gif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machinelearningmastery.com/hyperparameter-optimization-with-random-search-and-grid-search/" TargetMode="External"/><Relationship Id="rId2" Type="http://schemas.openxmlformats.org/officeDocument/2006/relationships/hyperlink" Target="https://towardsdatascience.com/7-hyperparameter-optimization-techniques-every-data-scientist-should-know-12cdebe713da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tats.stackexchange.com/questions/181/how-to-choose-the-number-of-hidden-layers-and-nodes-in-a-feedforward-neural-netw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CEB46-CC16-4D19-8C2C-AEE9471D81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5139" y="942610"/>
            <a:ext cx="11441722" cy="2387600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50.039 Theory and Practice of</a:t>
            </a:r>
            <a:br>
              <a:rPr lang="en-US" b="1" dirty="0"/>
            </a:br>
            <a:r>
              <a:rPr lang="en-US" b="1" dirty="0"/>
              <a:t>Deep Learning</a:t>
            </a:r>
            <a:br>
              <a:rPr lang="en-US" dirty="0"/>
            </a:br>
            <a:r>
              <a:rPr lang="en-US" dirty="0"/>
              <a:t>W2-S3 Neural Networks, Initializers, Optimizers and other Good Practices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6ABDE1-A047-4B53-92F2-67282914DD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Matthieu </a:t>
            </a:r>
            <a:r>
              <a:rPr lang="en-US"/>
              <a:t>De Mari</a:t>
            </a:r>
            <a:endParaRPr lang="en-US" dirty="0"/>
          </a:p>
        </p:txBody>
      </p:sp>
      <p:pic>
        <p:nvPicPr>
          <p:cNvPr id="4" name="Picture 3" descr="A picture containing drawing&#10;&#10;Description automatically generated">
            <a:extLst>
              <a:ext uri="{FF2B5EF4-FFF2-40B4-BE49-F238E27FC236}">
                <a16:creationId xmlns:a16="http://schemas.microsoft.com/office/drawing/2014/main" id="{EEFD138E-FF3C-4975-898F-3137195236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4008" y="4484243"/>
            <a:ext cx="4443984" cy="1731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156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40417-A4D3-4CE8-96E7-708E2439A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this week (Week 2)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95840-A9D9-479A-A34F-EA7DC229D3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27102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are the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typical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initializers for trainable parameters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in Neural Networks?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  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is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symmetry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in a Neural Network and why is it essential to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break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it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with proper initializers?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is the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exploding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gradient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problem?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How to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spot and fix an exploding gradient 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problem?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is the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vanishing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gradient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problem?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How to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spot and fix a vanishing gradient 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problem?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Why are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activation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functions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needed in Neural Networks?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is the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universal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approximation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theorem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?</a:t>
            </a:r>
          </a:p>
          <a:p>
            <a:pPr marL="514350" indent="-514350">
              <a:buFont typeface="+mj-lt"/>
              <a:buAutoNum type="arabicPeriod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425019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40417-A4D3-4CE8-96E7-708E2439A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this week (Week 2)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95840-A9D9-479A-A34F-EA7DC229D3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27102"/>
          </a:xfrm>
        </p:spPr>
        <p:txBody>
          <a:bodyPr/>
          <a:lstStyle/>
          <a:p>
            <a:pPr marL="514350" indent="-514350">
              <a:buFont typeface="+mj-lt"/>
              <a:buAutoNum type="arabicPeriod" startAt="9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are typical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examples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of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activation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functions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? Which activations should I be using?</a:t>
            </a:r>
          </a:p>
          <a:p>
            <a:pPr marL="514350" indent="-514350">
              <a:buFont typeface="+mj-lt"/>
              <a:buAutoNum type="arabicPeriod" startAt="9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are typical examples of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advanced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optimizers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? (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</a:rPr>
              <a:t>Adagrad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, 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</a:rPr>
              <a:t>RMSProp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, Adam, etc.).</a:t>
            </a:r>
          </a:p>
          <a:p>
            <a:pPr marL="514350" indent="-514350">
              <a:buFont typeface="+mj-lt"/>
              <a:buAutoNum type="arabicPeriod" startAt="9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How to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implement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said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optimizers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manually?</a:t>
            </a:r>
          </a:p>
          <a:p>
            <a:pPr marL="514350" indent="-514350">
              <a:buFont typeface="+mj-lt"/>
              <a:buAutoNum type="arabicPeriod" startAt="9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is a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stochastic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gradient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descent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and what are its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benefits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?</a:t>
            </a:r>
          </a:p>
          <a:p>
            <a:pPr marL="514350" indent="-514350">
              <a:buFont typeface="+mj-lt"/>
              <a:buAutoNum type="arabicPeriod" startAt="9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How to implement the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stochastic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gradient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descent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manually?</a:t>
            </a:r>
          </a:p>
          <a:p>
            <a:pPr marL="514350" indent="-514350">
              <a:buFont typeface="+mj-lt"/>
              <a:buAutoNum type="arabicPeriod" startAt="9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is a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mini-batch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gradient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descent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and what are its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benefits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?</a:t>
            </a:r>
          </a:p>
          <a:p>
            <a:pPr marL="514350" indent="-514350">
              <a:buFont typeface="+mj-lt"/>
              <a:buAutoNum type="arabicPeriod" startAt="9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How to implement the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mini-batch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gradient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descent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manually?</a:t>
            </a:r>
          </a:p>
          <a:p>
            <a:pPr marL="514350" indent="-514350">
              <a:buFont typeface="+mj-lt"/>
              <a:buAutoNum type="arabicPeriod" startAt="9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How to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combine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all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optimizers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concepts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into a great optimizer?</a:t>
            </a:r>
          </a:p>
          <a:p>
            <a:pPr marL="514350" indent="-514350">
              <a:buFont typeface="+mj-lt"/>
              <a:buAutoNum type="arabicPeriod" startAt="9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0403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40417-A4D3-4CE8-96E7-708E2439A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this week (Week 2)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95840-A9D9-479A-A34F-EA7DC229D3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27102"/>
          </a:xfrm>
        </p:spPr>
        <p:txBody>
          <a:bodyPr/>
          <a:lstStyle/>
          <a:p>
            <a:pPr marL="514350" indent="-514350">
              <a:buFont typeface="+mj-lt"/>
              <a:buAutoNum type="arabicPeriod" startAt="17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is the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no free lunch theorem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?</a:t>
            </a:r>
          </a:p>
          <a:p>
            <a:pPr marL="514350" indent="-514350">
              <a:buFont typeface="+mj-lt"/>
              <a:buAutoNum type="arabicPeriod" startAt="17"/>
            </a:pPr>
            <a:r>
              <a:rPr lang="en-US" dirty="0"/>
              <a:t>What is the </a:t>
            </a:r>
            <a:r>
              <a:rPr lang="en-US" b="1" dirty="0"/>
              <a:t>train-test-validation split</a:t>
            </a:r>
            <a:r>
              <a:rPr lang="en-US" dirty="0"/>
              <a:t>?</a:t>
            </a:r>
            <a:br>
              <a:rPr lang="en-US" dirty="0"/>
            </a:br>
            <a:r>
              <a:rPr lang="en-US" dirty="0"/>
              <a:t>Why is it </a:t>
            </a:r>
            <a:r>
              <a:rPr lang="en-US" b="1" dirty="0"/>
              <a:t>good</a:t>
            </a:r>
            <a:r>
              <a:rPr lang="en-US" dirty="0"/>
              <a:t> </a:t>
            </a:r>
            <a:r>
              <a:rPr lang="en-US" b="1" dirty="0"/>
              <a:t>practice</a:t>
            </a:r>
            <a:r>
              <a:rPr lang="en-US" dirty="0"/>
              <a:t> to use an extra validation set?</a:t>
            </a:r>
          </a:p>
          <a:p>
            <a:pPr marL="514350" indent="-514350">
              <a:buFont typeface="+mj-lt"/>
              <a:buAutoNum type="arabicPeriod" startAt="17"/>
            </a:pPr>
            <a:r>
              <a:rPr lang="en-US" dirty="0"/>
              <a:t>What is the </a:t>
            </a:r>
            <a:r>
              <a:rPr lang="en-US" b="1" dirty="0"/>
              <a:t>early</a:t>
            </a:r>
            <a:r>
              <a:rPr lang="en-US" dirty="0"/>
              <a:t> </a:t>
            </a:r>
            <a:r>
              <a:rPr lang="en-US" b="1" dirty="0"/>
              <a:t>stopping</a:t>
            </a:r>
            <a:r>
              <a:rPr lang="en-US" dirty="0"/>
              <a:t> of optimizer concept?</a:t>
            </a:r>
            <a:br>
              <a:rPr lang="en-US" dirty="0"/>
            </a:br>
            <a:r>
              <a:rPr lang="en-US" dirty="0"/>
              <a:t>Why is it </a:t>
            </a:r>
            <a:r>
              <a:rPr lang="en-US" b="1" dirty="0"/>
              <a:t>good</a:t>
            </a:r>
            <a:r>
              <a:rPr lang="en-US" dirty="0"/>
              <a:t> </a:t>
            </a:r>
            <a:r>
              <a:rPr lang="en-US" b="1" dirty="0"/>
              <a:t>practice</a:t>
            </a:r>
            <a:r>
              <a:rPr lang="en-US" dirty="0"/>
              <a:t> to use it?</a:t>
            </a:r>
          </a:p>
          <a:p>
            <a:pPr marL="514350" indent="-514350">
              <a:buFont typeface="+mj-lt"/>
              <a:buAutoNum type="arabicPeriod" startAt="17"/>
            </a:pPr>
            <a:r>
              <a:rPr lang="en-US" dirty="0"/>
              <a:t>What are </a:t>
            </a:r>
            <a:r>
              <a:rPr lang="en-US" b="1" dirty="0"/>
              <a:t>saver</a:t>
            </a:r>
            <a:r>
              <a:rPr lang="en-US" dirty="0"/>
              <a:t> and </a:t>
            </a:r>
            <a:r>
              <a:rPr lang="en-US" b="1" dirty="0"/>
              <a:t>loader</a:t>
            </a:r>
            <a:r>
              <a:rPr lang="en-US" dirty="0"/>
              <a:t> functions?</a:t>
            </a:r>
            <a:br>
              <a:rPr lang="en-US" dirty="0"/>
            </a:br>
            <a:r>
              <a:rPr lang="en-US" dirty="0"/>
              <a:t>Why is it </a:t>
            </a:r>
            <a:r>
              <a:rPr lang="en-US" b="1" dirty="0"/>
              <a:t>good</a:t>
            </a:r>
            <a:r>
              <a:rPr lang="en-US" dirty="0"/>
              <a:t> </a:t>
            </a:r>
            <a:r>
              <a:rPr lang="en-US" b="1" dirty="0"/>
              <a:t>practice</a:t>
            </a:r>
            <a:r>
              <a:rPr lang="en-US" dirty="0"/>
              <a:t> to use them?</a:t>
            </a:r>
          </a:p>
          <a:p>
            <a:pPr marL="514350" indent="-514350">
              <a:buFont typeface="+mj-lt"/>
              <a:buAutoNum type="arabicPeriod" startAt="17"/>
            </a:pPr>
            <a:r>
              <a:rPr lang="en-US" dirty="0"/>
              <a:t>What are </a:t>
            </a:r>
            <a:r>
              <a:rPr lang="en-US" b="1" dirty="0"/>
              <a:t>other common good practices </a:t>
            </a:r>
            <a:r>
              <a:rPr lang="en-US" dirty="0"/>
              <a:t>when it comes to Neural Networks?</a:t>
            </a:r>
          </a:p>
          <a:p>
            <a:pPr marL="514350" indent="-514350">
              <a:buFont typeface="+mj-lt"/>
              <a:buAutoNum type="arabicPeriod" startAt="17"/>
            </a:pPr>
            <a:r>
              <a:rPr lang="en-US" dirty="0"/>
              <a:t>How to decide on </a:t>
            </a:r>
            <a:r>
              <a:rPr lang="en-US" b="1" dirty="0"/>
              <a:t>an appropriate number of layers and neurons</a:t>
            </a:r>
            <a:r>
              <a:rPr lang="en-US" dirty="0"/>
              <a:t>?</a:t>
            </a:r>
          </a:p>
          <a:p>
            <a:pPr marL="514350" indent="-514350">
              <a:buFont typeface="+mj-lt"/>
              <a:buAutoNum type="arabicPeriod" startAt="17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967173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E33E8-2C3B-E5C7-E73C-86BCBC9D4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Good Practice #1: Using additional performance metrics beyond loss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3CA20-FD68-BCFD-A748-1DE206D124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Good practice #1: Using additional </a:t>
            </a:r>
            <a:r>
              <a:rPr lang="en-GB" b="1" dirty="0">
                <a:solidFill>
                  <a:srgbClr val="00B050"/>
                </a:solidFill>
              </a:rPr>
              <a:t>performance</a:t>
            </a:r>
            <a:r>
              <a:rPr lang="en-GB" b="1" dirty="0"/>
              <a:t> </a:t>
            </a:r>
            <a:r>
              <a:rPr lang="en-GB" b="1" dirty="0">
                <a:solidFill>
                  <a:srgbClr val="00B050"/>
                </a:solidFill>
              </a:rPr>
              <a:t>metrics</a:t>
            </a:r>
            <a:r>
              <a:rPr lang="en-GB" b="1" dirty="0"/>
              <a:t> beyond the loss function used for training</a:t>
            </a:r>
            <a:r>
              <a:rPr lang="en-GB" dirty="0"/>
              <a:t>.</a:t>
            </a:r>
          </a:p>
          <a:p>
            <a:r>
              <a:rPr lang="en-GB" dirty="0"/>
              <a:t>Loss functions are great functions to minimize during training (for instance MSE is convex, which is a nice property to have).</a:t>
            </a:r>
          </a:p>
          <a:p>
            <a:r>
              <a:rPr lang="en-GB" dirty="0"/>
              <a:t>But these loss functions do not always carry a meaning that is easily interpretable for humans. </a:t>
            </a:r>
            <a:r>
              <a:rPr lang="en-GB" b="1" dirty="0">
                <a:solidFill>
                  <a:srgbClr val="C00000"/>
                </a:solidFill>
              </a:rPr>
              <a:t>A low loss does not mean that a model has successfully trained and learnt to perform the task!</a:t>
            </a:r>
          </a:p>
          <a:p>
            <a:r>
              <a:rPr lang="en-GB" b="1" dirty="0"/>
              <a:t>For instance, the cross-entropy loss function we have used in binary classification does not tell us much about the actual performance of the model. Is it accurate? Or not?</a:t>
            </a:r>
          </a:p>
          <a:p>
            <a:r>
              <a:rPr lang="en-GB" dirty="0"/>
              <a:t>Recall notebook 4, when we had no activation functions.</a:t>
            </a:r>
          </a:p>
        </p:txBody>
      </p:sp>
    </p:spTree>
    <p:extLst>
      <p:ext uri="{BB962C8B-B14F-4D97-AF65-F5344CB8AC3E}">
        <p14:creationId xmlns:p14="http://schemas.microsoft.com/office/powerpoint/2010/main" val="16358884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E33E8-2C3B-E5C7-E73C-86BCBC9D4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Good Practice #1: Using additional performance metrics beyond loss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3CA20-FD68-BCFD-A748-1DE206D124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Counter-example from Notebook 4:</a:t>
            </a:r>
          </a:p>
          <a:p>
            <a:pPr marL="0" indent="0">
              <a:buNone/>
            </a:pPr>
            <a:r>
              <a:rPr lang="en-GB" dirty="0"/>
              <a:t>We were able to train, if we consider the loss evolution curves…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996842-F32B-0B52-0823-ABDB4C05DA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82" y="3063631"/>
            <a:ext cx="10416950" cy="3794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25284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E33E8-2C3B-E5C7-E73C-86BCBC9D4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Good Practice #1: Using additional performance metrics beyond loss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3CA20-FD68-BCFD-A748-1DE206D1241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70877" y="2006694"/>
            <a:ext cx="3991708" cy="4351338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Counter-example from Notebook 4:</a:t>
            </a:r>
          </a:p>
          <a:p>
            <a:pPr marL="0" indent="0">
              <a:buNone/>
            </a:pPr>
            <a:r>
              <a:rPr lang="en-GB" dirty="0"/>
              <a:t>If we consider the </a:t>
            </a:r>
            <a:r>
              <a:rPr lang="en-GB" b="1" dirty="0">
                <a:solidFill>
                  <a:srgbClr val="C00000"/>
                </a:solidFill>
              </a:rPr>
              <a:t>accuracy</a:t>
            </a:r>
            <a:r>
              <a:rPr lang="en-GB" dirty="0"/>
              <a:t> of the model, however…</a:t>
            </a:r>
          </a:p>
          <a:p>
            <a:pPr marL="0" indent="0">
              <a:buNone/>
            </a:pPr>
            <a:r>
              <a:rPr lang="en-GB" dirty="0"/>
              <a:t>Then it is fairly obvious that the model failed to produce the correct classification.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481B786-0694-7C1A-F3EC-F92A6D7821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5678" y="1711432"/>
            <a:ext cx="7320489" cy="4941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00323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E33E8-2C3B-E5C7-E73C-86BCBC9D4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Good Practice #1: Using additional performance metrics beyond loss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3CA20-FD68-BCFD-A748-1DE206D124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As such, it would be a good idea to have </a:t>
            </a:r>
            <a:r>
              <a:rPr lang="en-GB" b="1" dirty="0"/>
              <a:t>some</a:t>
            </a:r>
            <a:r>
              <a:rPr lang="en-GB" dirty="0"/>
              <a:t> </a:t>
            </a:r>
            <a:r>
              <a:rPr lang="en-GB" b="1" dirty="0"/>
              <a:t>more interpretable performance metrics on the side</a:t>
            </a:r>
            <a:r>
              <a:rPr lang="en-GB" dirty="0"/>
              <a:t>, such as the accuracy for instance, to display along with the loss function during training.</a:t>
            </a:r>
          </a:p>
          <a:p>
            <a:pPr marL="0" indent="0">
              <a:buNone/>
            </a:pPr>
            <a:r>
              <a:rPr lang="en-GB" dirty="0"/>
              <a:t>This could confirm that the model succeeds at the task (or not).</a:t>
            </a:r>
          </a:p>
          <a:p>
            <a:pPr marL="0" indent="0">
              <a:buNone/>
            </a:pPr>
            <a:r>
              <a:rPr lang="en-GB" b="1" dirty="0"/>
              <a:t>1. Let us start by adding an accuracy method to our model.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D53ED5B-324E-7476-090D-FCAA6AF60E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698" y="5182426"/>
            <a:ext cx="11693507" cy="1390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1026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E33E8-2C3B-E5C7-E73C-86BCBC9D4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Good Practice #1: Using additional performance metrics beyond loss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3CA20-FD68-BCFD-A748-1DE206D124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As such, it would be a good idea to have </a:t>
            </a:r>
            <a:r>
              <a:rPr lang="en-GB" b="1" dirty="0"/>
              <a:t>some</a:t>
            </a:r>
            <a:r>
              <a:rPr lang="en-GB" dirty="0"/>
              <a:t> </a:t>
            </a:r>
            <a:r>
              <a:rPr lang="en-GB" b="1" dirty="0"/>
              <a:t>more interpretable performance metrics on the side</a:t>
            </a:r>
            <a:r>
              <a:rPr lang="en-GB" dirty="0"/>
              <a:t>, such as the accuracy for instance, to display along with the loss function during training.</a:t>
            </a:r>
          </a:p>
          <a:p>
            <a:pPr marL="0" indent="0">
              <a:buNone/>
            </a:pPr>
            <a:r>
              <a:rPr lang="en-GB" dirty="0"/>
              <a:t>This could confirm that the model succeeds at the task (or not).</a:t>
            </a:r>
          </a:p>
          <a:p>
            <a:pPr marL="0" indent="0">
              <a:buNone/>
            </a:pPr>
            <a:r>
              <a:rPr lang="en-GB" b="1" dirty="0"/>
              <a:t>2. We can then add another list for tracking accuracies, along with losses during training.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ED82A01-D195-2C28-A71D-87A59FBB8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123" y="4779437"/>
            <a:ext cx="9763754" cy="1744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47565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E33E8-2C3B-E5C7-E73C-86BCBC9D4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Good Practice #1: Using additional performance metrics beyond loss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3CA20-FD68-BCFD-A748-1DE206D124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As such, it would be a good idea to have </a:t>
            </a:r>
            <a:r>
              <a:rPr lang="en-GB" b="1" dirty="0"/>
              <a:t>some</a:t>
            </a:r>
            <a:r>
              <a:rPr lang="en-GB" dirty="0"/>
              <a:t> </a:t>
            </a:r>
            <a:r>
              <a:rPr lang="en-GB" b="1" dirty="0"/>
              <a:t>more interpretable performance metrics on the side</a:t>
            </a:r>
            <a:r>
              <a:rPr lang="en-GB" dirty="0"/>
              <a:t>, such as the accuracy for instance, to display along with the loss function during training.</a:t>
            </a:r>
          </a:p>
          <a:p>
            <a:pPr marL="0" indent="0">
              <a:buNone/>
            </a:pPr>
            <a:r>
              <a:rPr lang="en-GB" dirty="0"/>
              <a:t>This could confirm that the model succeeds at the task (or not).</a:t>
            </a:r>
          </a:p>
          <a:p>
            <a:pPr marL="0" indent="0">
              <a:buNone/>
            </a:pPr>
            <a:r>
              <a:rPr lang="en-GB" b="1" dirty="0"/>
              <a:t>3. During training we will update the accuracy of the model, appending to list, and displaying them during training along with loss.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079C9D-8EF8-2D5B-7382-55FCE3171E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160" y="4854362"/>
            <a:ext cx="10615087" cy="1551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01913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E33E8-2C3B-E5C7-E73C-86BCBC9D4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Good Practice #1: Using additional performance metrics beyond loss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3CA20-FD68-BCFD-A748-1DE206D124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As such, it would be a good idea to have </a:t>
            </a:r>
            <a:r>
              <a:rPr lang="en-GB" b="1" dirty="0"/>
              <a:t>some</a:t>
            </a:r>
            <a:r>
              <a:rPr lang="en-GB" dirty="0"/>
              <a:t> </a:t>
            </a:r>
            <a:r>
              <a:rPr lang="en-GB" b="1" dirty="0"/>
              <a:t>more interpretable performance metrics on the side</a:t>
            </a:r>
            <a:r>
              <a:rPr lang="en-GB" dirty="0"/>
              <a:t>, such as the accuracy for instance, to display along with the loss function during training.</a:t>
            </a:r>
          </a:p>
          <a:p>
            <a:pPr marL="0" indent="0">
              <a:buNone/>
            </a:pPr>
            <a:r>
              <a:rPr lang="en-GB" dirty="0"/>
              <a:t>This could confirm that the model succeeds at the task (or not).</a:t>
            </a:r>
          </a:p>
          <a:p>
            <a:pPr marL="0" indent="0">
              <a:buNone/>
            </a:pPr>
            <a:r>
              <a:rPr lang="en-GB" b="1" dirty="0"/>
              <a:t>4. Finally, amend our performance curves to show evolution of accuracy over the training iterations.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FF7029-43C4-21B4-3400-283B786D84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8571" y="5097509"/>
            <a:ext cx="10141517" cy="1475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06203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E33E8-2C3B-E5C7-E73C-86BCBC9D4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Good Practice #1: Using additional performance metrics beyond loss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3CA20-FD68-BCFD-A748-1DE206D124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493737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When the model is trained, we can see the evolution of the accuracy performance metric.</a:t>
            </a:r>
            <a:br>
              <a:rPr lang="en-GB" dirty="0"/>
            </a:br>
            <a:endParaRPr lang="en-GB" dirty="0"/>
          </a:p>
          <a:p>
            <a:pPr marL="0" indent="0">
              <a:buNone/>
            </a:pPr>
            <a:r>
              <a:rPr lang="en-GB" dirty="0"/>
              <a:t>This accuracy score is a more interpretable metric for humans.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Here, it shows that the model accuracy increases and approaches 100%, which is a (very) good sign.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27AF9B-A891-01FC-551F-C9477D8865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5569" y="1770093"/>
            <a:ext cx="6228491" cy="5087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16856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E33E8-2C3B-E5C7-E73C-86BCBC9D4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Good Practice #1: Using additional performance metrics beyond loss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3CA20-FD68-BCFD-A748-1DE206D124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And of course, additional metrics means additional training curves.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40EFBF-8578-A5F3-4010-B316A15A45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0146" y="2470675"/>
            <a:ext cx="9071708" cy="4387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46724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E33E8-2C3B-E5C7-E73C-86BCBC9D4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Good Practice #2: Using a train-test-valid split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3CA20-FD68-BCFD-A748-1DE206D124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Good practice #2: Using a </a:t>
            </a:r>
            <a:r>
              <a:rPr lang="en-GB" b="1" dirty="0">
                <a:solidFill>
                  <a:srgbClr val="00B050"/>
                </a:solidFill>
              </a:rPr>
              <a:t>train-test-validation split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If you allow the model to train, you will most likely realize that the accuracy reaches 100% (or close to 100% after a few iterations).</a:t>
            </a:r>
          </a:p>
          <a:p>
            <a:pPr marL="0" indent="0">
              <a:buNone/>
            </a:pPr>
            <a:r>
              <a:rPr lang="en-GB" dirty="0"/>
              <a:t>The loss could, however, be minimized even further. 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This raises a few questions:</a:t>
            </a:r>
          </a:p>
          <a:p>
            <a:pPr marL="0" indent="0">
              <a:buNone/>
            </a:pPr>
            <a:r>
              <a:rPr lang="en-GB" b="1" dirty="0"/>
              <a:t>- Should we have stopped when the accuracy was already 100%?</a:t>
            </a:r>
          </a:p>
          <a:p>
            <a:pPr marL="0" indent="0">
              <a:buNone/>
            </a:pPr>
            <a:r>
              <a:rPr lang="en-GB" b="1" dirty="0"/>
              <a:t>- Are we at risk of overfitting by pursuing the training to minimize the loss even more, even though it will not improve the accuracy further?</a:t>
            </a:r>
            <a:endParaRPr lang="en-SG" b="1" dirty="0"/>
          </a:p>
        </p:txBody>
      </p:sp>
    </p:spTree>
    <p:extLst>
      <p:ext uri="{BB962C8B-B14F-4D97-AF65-F5344CB8AC3E}">
        <p14:creationId xmlns:p14="http://schemas.microsoft.com/office/powerpoint/2010/main" val="15195524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E33E8-2C3B-E5C7-E73C-86BCBC9D4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Good Practice #2: Using a train-test-valid split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3CA20-FD68-BCFD-A748-1DE206D124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pPr marL="0" indent="0">
              <a:buNone/>
            </a:pPr>
            <a:r>
              <a:rPr lang="en-SG" dirty="0"/>
              <a:t>While it is true that we are using the minimization of the loss function to train our model and decide on its parameters...</a:t>
            </a:r>
          </a:p>
          <a:p>
            <a:pPr marL="0" indent="0">
              <a:buNone/>
            </a:pPr>
            <a:r>
              <a:rPr lang="en-SG" b="1" dirty="0">
                <a:solidFill>
                  <a:srgbClr val="FF0000"/>
                </a:solidFill>
              </a:rPr>
              <a:t>Our ultimate objective was </a:t>
            </a:r>
            <a:r>
              <a:rPr lang="en-SG" b="1" u="sng" dirty="0">
                <a:solidFill>
                  <a:srgbClr val="FF0000"/>
                </a:solidFill>
              </a:rPr>
              <a:t>NEVER</a:t>
            </a:r>
            <a:r>
              <a:rPr lang="en-SG" b="1" dirty="0">
                <a:solidFill>
                  <a:srgbClr val="FF0000"/>
                </a:solidFill>
              </a:rPr>
              <a:t> to minimize the </a:t>
            </a:r>
            <a:r>
              <a:rPr lang="en-SG" b="1" u="sng" dirty="0">
                <a:solidFill>
                  <a:srgbClr val="FF0000"/>
                </a:solidFill>
              </a:rPr>
              <a:t>training</a:t>
            </a:r>
            <a:r>
              <a:rPr lang="en-SG" b="1" dirty="0">
                <a:solidFill>
                  <a:srgbClr val="FF0000"/>
                </a:solidFill>
              </a:rPr>
              <a:t> loss function (or maximize the accuracy we obtain on </a:t>
            </a:r>
            <a:r>
              <a:rPr lang="en-SG" b="1" u="sng" dirty="0">
                <a:solidFill>
                  <a:srgbClr val="FF0000"/>
                </a:solidFill>
              </a:rPr>
              <a:t>training</a:t>
            </a:r>
            <a:r>
              <a:rPr lang="en-SG" b="1" dirty="0">
                <a:solidFill>
                  <a:srgbClr val="FF0000"/>
                </a:solidFill>
              </a:rPr>
              <a:t> samples).</a:t>
            </a:r>
            <a:endParaRPr lang="en-SG" dirty="0"/>
          </a:p>
          <a:p>
            <a:pPr marL="0" indent="0">
              <a:buNone/>
            </a:pPr>
            <a:endParaRPr lang="en-SG" dirty="0"/>
          </a:p>
          <a:p>
            <a:pPr marL="0" indent="0">
              <a:buNone/>
            </a:pPr>
            <a:r>
              <a:rPr lang="en-SG" dirty="0"/>
              <a:t>Our objective is and always has been </a:t>
            </a:r>
            <a:r>
              <a:rPr lang="en-SG" b="1" u="sng" dirty="0">
                <a:solidFill>
                  <a:srgbClr val="7030A0"/>
                </a:solidFill>
              </a:rPr>
              <a:t>generalization</a:t>
            </a:r>
            <a:r>
              <a:rPr lang="en-SG" dirty="0"/>
              <a:t>, that is training a model that will </a:t>
            </a:r>
            <a:r>
              <a:rPr lang="en-SG" b="1" dirty="0"/>
              <a:t>generalize well to </a:t>
            </a:r>
            <a:r>
              <a:rPr lang="en-SG" b="1" u="sng" dirty="0"/>
              <a:t>unseen</a:t>
            </a:r>
            <a:r>
              <a:rPr lang="en-SG" b="1" dirty="0"/>
              <a:t> data</a:t>
            </a:r>
            <a:r>
              <a:rPr lang="en-SG" dirty="0"/>
              <a:t>. </a:t>
            </a:r>
          </a:p>
          <a:p>
            <a:pPr marL="0" indent="0">
              <a:buNone/>
            </a:pPr>
            <a:endParaRPr lang="en-SG" dirty="0"/>
          </a:p>
          <a:p>
            <a:pPr marL="0" indent="0">
              <a:buNone/>
            </a:pPr>
            <a:r>
              <a:rPr lang="en-SG" dirty="0"/>
              <a:t>This was the rationale for using a </a:t>
            </a:r>
            <a:r>
              <a:rPr lang="en-SG" b="1" dirty="0"/>
              <a:t>train-test split </a:t>
            </a:r>
            <a:r>
              <a:rPr lang="en-SG" dirty="0"/>
              <a:t>earlier.</a:t>
            </a:r>
          </a:p>
        </p:txBody>
      </p:sp>
    </p:spTree>
    <p:extLst>
      <p:ext uri="{BB962C8B-B14F-4D97-AF65-F5344CB8AC3E}">
        <p14:creationId xmlns:p14="http://schemas.microsoft.com/office/powerpoint/2010/main" val="41603376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E33E8-2C3B-E5C7-E73C-86BCBC9D4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Good Practice #2: Using a train-test-valid split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3CA20-FD68-BCFD-A748-1DE206D124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Week 1, we introduced the concept of </a:t>
            </a:r>
            <a:r>
              <a:rPr lang="en-GB" b="1" dirty="0">
                <a:solidFill>
                  <a:srgbClr val="7030A0"/>
                </a:solidFill>
              </a:rPr>
              <a:t>generalization</a:t>
            </a:r>
            <a:r>
              <a:rPr lang="en-GB" dirty="0"/>
              <a:t> and discussed how it is common practice </a:t>
            </a:r>
            <a:r>
              <a:rPr lang="en-GB" b="1" dirty="0"/>
              <a:t>not to evaluate the performance of the model on the same samples that have been used for training</a:t>
            </a:r>
            <a:r>
              <a:rPr lang="en-GB" dirty="0"/>
              <a:t>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This led us to define two sets, called </a:t>
            </a:r>
            <a:r>
              <a:rPr lang="en-GB" b="1" dirty="0"/>
              <a:t>train</a:t>
            </a:r>
            <a:r>
              <a:rPr lang="en-GB" dirty="0"/>
              <a:t> and </a:t>
            </a:r>
            <a:r>
              <a:rPr lang="en-GB" b="1" dirty="0"/>
              <a:t>test</a:t>
            </a:r>
            <a:r>
              <a:rPr lang="en-GB" dirty="0"/>
              <a:t> sets, and we would: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Use the </a:t>
            </a:r>
            <a:r>
              <a:rPr lang="en-GB" b="1" dirty="0"/>
              <a:t>train</a:t>
            </a:r>
            <a:r>
              <a:rPr lang="en-GB" dirty="0"/>
              <a:t> samples in the </a:t>
            </a:r>
            <a:r>
              <a:rPr lang="en-GB" b="1" dirty="0"/>
              <a:t>backpropagation/training</a:t>
            </a:r>
            <a:r>
              <a:rPr lang="en-GB" dirty="0"/>
              <a:t> procedure,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And use the </a:t>
            </a:r>
            <a:r>
              <a:rPr lang="en-GB" b="1" dirty="0"/>
              <a:t>test</a:t>
            </a:r>
            <a:r>
              <a:rPr lang="en-GB" dirty="0"/>
              <a:t> samples to </a:t>
            </a:r>
            <a:r>
              <a:rPr lang="en-GB" b="1" dirty="0"/>
              <a:t>objectively</a:t>
            </a:r>
            <a:r>
              <a:rPr lang="en-GB" dirty="0"/>
              <a:t> </a:t>
            </a:r>
            <a:r>
              <a:rPr lang="en-GB" b="1" dirty="0"/>
              <a:t>evaluate</a:t>
            </a:r>
            <a:r>
              <a:rPr lang="en-GB" dirty="0"/>
              <a:t> </a:t>
            </a:r>
            <a:r>
              <a:rPr lang="en-GB" b="1" dirty="0"/>
              <a:t>the</a:t>
            </a:r>
            <a:r>
              <a:rPr lang="en-GB" dirty="0"/>
              <a:t> </a:t>
            </a:r>
            <a:r>
              <a:rPr lang="en-GB" b="1" dirty="0"/>
              <a:t>model</a:t>
            </a:r>
            <a:r>
              <a:rPr lang="en-GB" dirty="0"/>
              <a:t> and assess if it is able to </a:t>
            </a:r>
            <a:r>
              <a:rPr lang="en-GB" b="1" dirty="0"/>
              <a:t>generalize</a:t>
            </a:r>
            <a:r>
              <a:rPr lang="en-GB" dirty="0"/>
              <a:t> well or not.</a:t>
            </a:r>
          </a:p>
          <a:p>
            <a:pPr marL="0" indent="0">
              <a:buNone/>
            </a:pPr>
            <a:r>
              <a:rPr lang="en-GB" dirty="0"/>
              <a:t>We will push it one step further, by introducing the concept of </a:t>
            </a:r>
            <a:r>
              <a:rPr lang="en-GB" b="1" dirty="0"/>
              <a:t>train, test and </a:t>
            </a:r>
            <a:r>
              <a:rPr lang="en-GB" b="1" dirty="0">
                <a:solidFill>
                  <a:srgbClr val="00B050"/>
                </a:solidFill>
              </a:rPr>
              <a:t>validation</a:t>
            </a:r>
            <a:r>
              <a:rPr lang="en-GB" b="1" dirty="0"/>
              <a:t> samples</a:t>
            </a:r>
            <a:r>
              <a:rPr lang="en-GB" dirty="0"/>
              <a:t>.</a:t>
            </a:r>
          </a:p>
          <a:p>
            <a:pPr marL="0" indent="0">
              <a:buNone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5762196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E33E8-2C3B-E5C7-E73C-86BCBC9D4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Good Practice #2: Using a train-test-valid split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3CA20-FD68-BCFD-A748-1DE206D1241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Good practice #2: Using a </a:t>
            </a:r>
            <a:r>
              <a:rPr lang="en-GB" b="1" dirty="0">
                <a:solidFill>
                  <a:srgbClr val="00B050"/>
                </a:solidFill>
              </a:rPr>
              <a:t>train-test-validation split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SG" dirty="0"/>
              <a:t>During the data preparation procedure, we will now split the data in three sets:</a:t>
            </a:r>
          </a:p>
          <a:p>
            <a:r>
              <a:rPr lang="en-SG" b="1" dirty="0">
                <a:solidFill>
                  <a:schemeClr val="accent2"/>
                </a:solidFill>
              </a:rPr>
              <a:t>Training</a:t>
            </a:r>
            <a:r>
              <a:rPr lang="en-SG" dirty="0"/>
              <a:t> samples</a:t>
            </a:r>
          </a:p>
          <a:p>
            <a:r>
              <a:rPr lang="en-SG" b="1" dirty="0">
                <a:solidFill>
                  <a:srgbClr val="0070C0"/>
                </a:solidFill>
              </a:rPr>
              <a:t>Validation</a:t>
            </a:r>
            <a:r>
              <a:rPr lang="en-SG" dirty="0"/>
              <a:t> samples</a:t>
            </a:r>
          </a:p>
          <a:p>
            <a:r>
              <a:rPr lang="en-SG" b="1" dirty="0">
                <a:solidFill>
                  <a:srgbClr val="7030A0"/>
                </a:solidFill>
              </a:rPr>
              <a:t>Test</a:t>
            </a:r>
            <a:r>
              <a:rPr lang="en-SG" dirty="0"/>
              <a:t> samples.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6A1EF0B-B237-224B-4939-A0F69A767A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The </a:t>
            </a:r>
            <a:r>
              <a:rPr lang="en-GB" b="1" dirty="0">
                <a:solidFill>
                  <a:schemeClr val="accent2"/>
                </a:solidFill>
              </a:rPr>
              <a:t>training</a:t>
            </a:r>
            <a:r>
              <a:rPr lang="en-GB" dirty="0"/>
              <a:t> </a:t>
            </a:r>
            <a:r>
              <a:rPr lang="en-GB" b="1" dirty="0">
                <a:solidFill>
                  <a:schemeClr val="accent2"/>
                </a:solidFill>
              </a:rPr>
              <a:t>set</a:t>
            </a:r>
            <a:r>
              <a:rPr lang="en-GB" dirty="0"/>
              <a:t> is used to train the machine learning model.</a:t>
            </a:r>
          </a:p>
          <a:p>
            <a:r>
              <a:rPr lang="en-GB" dirty="0"/>
              <a:t>The model is presented with many examples from the training set, and the model "learns" to make good predictions based on those examples.</a:t>
            </a:r>
          </a:p>
          <a:p>
            <a:r>
              <a:rPr lang="en-GB" dirty="0"/>
              <a:t>For the training procedure to be efficient, </a:t>
            </a:r>
            <a:r>
              <a:rPr lang="en-GB" b="1" dirty="0"/>
              <a:t>most samples from the dataset should go into the </a:t>
            </a:r>
            <a:r>
              <a:rPr lang="en-GB" b="1" dirty="0">
                <a:solidFill>
                  <a:schemeClr val="accent2"/>
                </a:solidFill>
              </a:rPr>
              <a:t>training</a:t>
            </a:r>
            <a:r>
              <a:rPr lang="en-GB" b="1" dirty="0"/>
              <a:t> </a:t>
            </a:r>
            <a:r>
              <a:rPr lang="en-GB" b="1" dirty="0">
                <a:solidFill>
                  <a:schemeClr val="accent2"/>
                </a:solidFill>
              </a:rPr>
              <a:t>set</a:t>
            </a:r>
            <a:r>
              <a:rPr lang="en-GB" dirty="0"/>
              <a:t>.</a:t>
            </a:r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5724920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E33E8-2C3B-E5C7-E73C-86BCBC9D4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Good Practice #2: Using a train-test-valid split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3CA20-FD68-BCFD-A748-1DE206D124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092925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u="sng" dirty="0"/>
              <a:t>After each iteration of training</a:t>
            </a:r>
            <a:r>
              <a:rPr lang="en-GB" dirty="0"/>
              <a:t>, the model is tested on the </a:t>
            </a:r>
            <a:r>
              <a:rPr lang="en-GB" b="1" dirty="0">
                <a:solidFill>
                  <a:srgbClr val="0070C0"/>
                </a:solidFill>
              </a:rPr>
              <a:t>validation</a:t>
            </a:r>
            <a:r>
              <a:rPr lang="en-GB" dirty="0"/>
              <a:t> </a:t>
            </a:r>
            <a:r>
              <a:rPr lang="en-GB" b="1" dirty="0">
                <a:solidFill>
                  <a:srgbClr val="0070C0"/>
                </a:solidFill>
              </a:rPr>
              <a:t>set</a:t>
            </a:r>
            <a:r>
              <a:rPr lang="en-GB" dirty="0"/>
              <a:t> to </a:t>
            </a:r>
            <a:r>
              <a:rPr lang="en-GB" b="1" dirty="0"/>
              <a:t>assess the performance of the model </a:t>
            </a:r>
            <a:r>
              <a:rPr lang="en-GB" dirty="0"/>
              <a:t>and see </a:t>
            </a:r>
            <a:r>
              <a:rPr lang="en-GB" b="1" dirty="0"/>
              <a:t>how well it would generalize to unseen data</a:t>
            </a:r>
            <a:r>
              <a:rPr lang="en-GB" dirty="0"/>
              <a:t>.</a:t>
            </a:r>
          </a:p>
          <a:p>
            <a:r>
              <a:rPr lang="en-GB" dirty="0"/>
              <a:t>We will use it to </a:t>
            </a:r>
            <a:r>
              <a:rPr lang="en-GB" b="1" dirty="0"/>
              <a:t>spot underfitting and overfitting</a:t>
            </a:r>
            <a:r>
              <a:rPr lang="en-GB" dirty="0"/>
              <a:t> in training.</a:t>
            </a:r>
          </a:p>
          <a:p>
            <a:r>
              <a:rPr lang="en-GB" dirty="0"/>
              <a:t>The </a:t>
            </a:r>
            <a:r>
              <a:rPr lang="en-GB" b="1" dirty="0">
                <a:solidFill>
                  <a:srgbClr val="0070C0"/>
                </a:solidFill>
              </a:rPr>
              <a:t>validation</a:t>
            </a:r>
            <a:r>
              <a:rPr lang="en-GB" dirty="0"/>
              <a:t> </a:t>
            </a:r>
            <a:r>
              <a:rPr lang="en-GB" b="1" dirty="0">
                <a:solidFill>
                  <a:srgbClr val="0070C0"/>
                </a:solidFill>
              </a:rPr>
              <a:t>set</a:t>
            </a:r>
            <a:r>
              <a:rPr lang="en-GB" dirty="0"/>
              <a:t> requires less samples than the </a:t>
            </a:r>
            <a:r>
              <a:rPr lang="en-GB" b="1" dirty="0">
                <a:solidFill>
                  <a:schemeClr val="accent2"/>
                </a:solidFill>
              </a:rPr>
              <a:t>training</a:t>
            </a:r>
            <a:r>
              <a:rPr lang="en-GB" dirty="0"/>
              <a:t> </a:t>
            </a:r>
            <a:r>
              <a:rPr lang="en-GB" b="1" dirty="0">
                <a:solidFill>
                  <a:schemeClr val="accent2"/>
                </a:solidFill>
              </a:rPr>
              <a:t>set</a:t>
            </a:r>
            <a:r>
              <a:rPr lang="en-GB" dirty="0"/>
              <a:t>. </a:t>
            </a:r>
          </a:p>
          <a:p>
            <a:r>
              <a:rPr lang="en-GB" dirty="0"/>
              <a:t>The </a:t>
            </a:r>
            <a:r>
              <a:rPr lang="en-GB" b="1" dirty="0">
                <a:solidFill>
                  <a:srgbClr val="0070C0"/>
                </a:solidFill>
              </a:rPr>
              <a:t>validation</a:t>
            </a:r>
            <a:r>
              <a:rPr lang="en-GB" dirty="0"/>
              <a:t> </a:t>
            </a:r>
            <a:r>
              <a:rPr lang="en-GB" b="1" dirty="0">
                <a:solidFill>
                  <a:srgbClr val="0070C0"/>
                </a:solidFill>
              </a:rPr>
              <a:t>set</a:t>
            </a:r>
            <a:r>
              <a:rPr lang="en-GB" dirty="0"/>
              <a:t> will also be used to </a:t>
            </a:r>
            <a:r>
              <a:rPr lang="en-GB" b="1" dirty="0"/>
              <a:t>choose the best hyperparameters </a:t>
            </a:r>
            <a:r>
              <a:rPr lang="en-GB" dirty="0"/>
              <a:t>for training the model (Good Practice #3-4).</a:t>
            </a:r>
          </a:p>
          <a:p>
            <a:r>
              <a:rPr lang="en-GB" dirty="0"/>
              <a:t>The </a:t>
            </a:r>
            <a:r>
              <a:rPr lang="en-GB" b="1" dirty="0">
                <a:solidFill>
                  <a:srgbClr val="0070C0"/>
                </a:solidFill>
              </a:rPr>
              <a:t>validation set </a:t>
            </a:r>
            <a:r>
              <a:rPr lang="en-GB" dirty="0"/>
              <a:t>will also be used to decide on the best model parameters to use after several training rounds (Good Practice #3-4).</a:t>
            </a:r>
          </a:p>
          <a:p>
            <a:pPr marL="0" indent="0">
              <a:buNone/>
            </a:pPr>
            <a:r>
              <a:rPr lang="en-GB" dirty="0"/>
              <a:t>For this reason, it </a:t>
            </a:r>
            <a:r>
              <a:rPr lang="en-GB" b="1" dirty="0"/>
              <a:t>can NOT be used to compute an objective performance metric </a:t>
            </a:r>
            <a:r>
              <a:rPr lang="en-GB" dirty="0"/>
              <a:t>to measure the generalization capabilities of our model.</a:t>
            </a:r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7215828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E33E8-2C3B-E5C7-E73C-86BCBC9D4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Good Practice #2: Using a train-test-valid split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3CA20-FD68-BCFD-A748-1DE206D124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24971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As before, the </a:t>
            </a:r>
            <a:r>
              <a:rPr lang="en-GB" b="1" dirty="0">
                <a:solidFill>
                  <a:srgbClr val="7030A0"/>
                </a:solidFill>
              </a:rPr>
              <a:t>test</a:t>
            </a:r>
            <a:r>
              <a:rPr lang="en-GB" dirty="0"/>
              <a:t> </a:t>
            </a:r>
            <a:r>
              <a:rPr lang="en-GB" b="1" dirty="0">
                <a:solidFill>
                  <a:srgbClr val="7030A0"/>
                </a:solidFill>
              </a:rPr>
              <a:t>set</a:t>
            </a:r>
            <a:r>
              <a:rPr lang="en-GB" dirty="0"/>
              <a:t> is a set of data that </a:t>
            </a:r>
            <a:r>
              <a:rPr lang="en-GB" b="1" dirty="0"/>
              <a:t>the model has NOT SEEN during the training or validation </a:t>
            </a:r>
            <a:r>
              <a:rPr lang="en-GB" dirty="0"/>
              <a:t>process.</a:t>
            </a:r>
          </a:p>
          <a:p>
            <a:r>
              <a:rPr lang="en-GB" dirty="0"/>
              <a:t>It is used to </a:t>
            </a:r>
            <a:r>
              <a:rPr lang="en-GB" b="1" dirty="0"/>
              <a:t>evaluate the final performance </a:t>
            </a:r>
            <a:r>
              <a:rPr lang="en-GB" dirty="0"/>
              <a:t>of the model </a:t>
            </a:r>
            <a:r>
              <a:rPr lang="en-GB" u="sng" dirty="0"/>
              <a:t>after training is complete</a:t>
            </a:r>
            <a:r>
              <a:rPr lang="en-GB" dirty="0"/>
              <a:t>, hence providing an estimate of </a:t>
            </a:r>
            <a:r>
              <a:rPr lang="en-GB" b="1" dirty="0"/>
              <a:t>how well the model will perform on </a:t>
            </a:r>
            <a:r>
              <a:rPr lang="en-GB" b="1" u="sng" dirty="0"/>
              <a:t>truly unseen data</a:t>
            </a:r>
            <a:r>
              <a:rPr lang="en-GB" b="1" dirty="0"/>
              <a:t> (generalization!)</a:t>
            </a:r>
            <a:r>
              <a:rPr lang="en-GB" dirty="0"/>
              <a:t>.</a:t>
            </a:r>
          </a:p>
          <a:p>
            <a:r>
              <a:rPr lang="en-GB" dirty="0"/>
              <a:t>The </a:t>
            </a:r>
            <a:r>
              <a:rPr lang="en-GB" b="1" dirty="0">
                <a:solidFill>
                  <a:srgbClr val="7030A0"/>
                </a:solidFill>
              </a:rPr>
              <a:t>testing</a:t>
            </a:r>
            <a:r>
              <a:rPr lang="en-GB" dirty="0"/>
              <a:t> </a:t>
            </a:r>
            <a:r>
              <a:rPr lang="en-GB" b="1" dirty="0">
                <a:solidFill>
                  <a:srgbClr val="7030A0"/>
                </a:solidFill>
              </a:rPr>
              <a:t>set</a:t>
            </a:r>
            <a:r>
              <a:rPr lang="en-GB" dirty="0"/>
              <a:t> is usually set to have as many samples as the </a:t>
            </a:r>
            <a:r>
              <a:rPr lang="en-GB" b="1" dirty="0">
                <a:solidFill>
                  <a:srgbClr val="0070C0"/>
                </a:solidFill>
              </a:rPr>
              <a:t>validation</a:t>
            </a:r>
            <a:r>
              <a:rPr lang="en-GB" dirty="0"/>
              <a:t> </a:t>
            </a:r>
            <a:r>
              <a:rPr lang="en-GB" b="1" dirty="0">
                <a:solidFill>
                  <a:srgbClr val="0070C0"/>
                </a:solidFill>
              </a:rPr>
              <a:t>set</a:t>
            </a:r>
            <a:r>
              <a:rPr lang="en-GB" dirty="0"/>
              <a:t>.</a:t>
            </a:r>
          </a:p>
          <a:p>
            <a:endParaRPr lang="en-SG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6947B2B-4CB9-C15C-1A97-6A95864662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7053211"/>
              </p:ext>
            </p:extLst>
          </p:nvPr>
        </p:nvGraphicFramePr>
        <p:xfrm>
          <a:off x="438557" y="4932726"/>
          <a:ext cx="11247307" cy="1559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9748">
                  <a:extLst>
                    <a:ext uri="{9D8B030D-6E8A-4147-A177-3AD203B41FA5}">
                      <a16:colId xmlns:a16="http://schemas.microsoft.com/office/drawing/2014/main" val="664726313"/>
                    </a:ext>
                  </a:extLst>
                </a:gridCol>
                <a:gridCol w="2943039">
                  <a:extLst>
                    <a:ext uri="{9D8B030D-6E8A-4147-A177-3AD203B41FA5}">
                      <a16:colId xmlns:a16="http://schemas.microsoft.com/office/drawing/2014/main" val="748570670"/>
                    </a:ext>
                  </a:extLst>
                </a:gridCol>
                <a:gridCol w="5694520">
                  <a:extLst>
                    <a:ext uri="{9D8B030D-6E8A-4147-A177-3AD203B41FA5}">
                      <a16:colId xmlns:a16="http://schemas.microsoft.com/office/drawing/2014/main" val="34309371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Training Set (50.039)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Validation Set (50.039)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Test Set (after 50.039)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16472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Supporting examples in notebooks shown for illustration and discussed in class.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Ungraded practice, guided </a:t>
                      </a:r>
                      <a:r>
                        <a:rPr lang="en-GB" dirty="0" err="1"/>
                        <a:t>homeworks</a:t>
                      </a:r>
                      <a:r>
                        <a:rPr lang="en-GB" dirty="0"/>
                        <a:t>, and exams allowing you to practice with concepts and self-assess.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Your future professional projects (after you graduate) on which you will have to use concepts taught in class, but these problems you have not seen yet.</a:t>
                      </a:r>
                      <a:br>
                        <a:rPr lang="en-GB" dirty="0"/>
                      </a:br>
                      <a:r>
                        <a:rPr lang="en-GB" dirty="0"/>
                        <a:t>Objective of 50.039 = generalization capability of students?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97621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249355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E33E8-2C3B-E5C7-E73C-86BCBC9D4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Good Practice #2: Using a train-test-valid split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3CA20-FD68-BCFD-A748-1DE206D124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u="sng" dirty="0"/>
              <a:t>Question:</a:t>
            </a:r>
            <a:r>
              <a:rPr lang="en-GB" b="1" dirty="0"/>
              <a:t> </a:t>
            </a:r>
            <a:r>
              <a:rPr lang="en-GB" dirty="0"/>
              <a:t>What is considered a good repartition for the </a:t>
            </a:r>
            <a:r>
              <a:rPr lang="en-GB" b="1" dirty="0"/>
              <a:t>train-test-validation</a:t>
            </a:r>
            <a:r>
              <a:rPr lang="en-GB" dirty="0"/>
              <a:t> split?</a:t>
            </a:r>
          </a:p>
          <a:p>
            <a:pPr marL="0" indent="0">
              <a:buNone/>
            </a:pPr>
            <a:r>
              <a:rPr lang="en-GB" dirty="0"/>
              <a:t>The core idea is that:</a:t>
            </a:r>
          </a:p>
          <a:p>
            <a:pPr marL="514350" indent="-514350">
              <a:buAutoNum type="arabicPeriod"/>
            </a:pPr>
            <a:r>
              <a:rPr lang="en-GB" b="1" dirty="0"/>
              <a:t>We want as many samples as possible in the </a:t>
            </a:r>
            <a:r>
              <a:rPr lang="en-GB" b="1" dirty="0">
                <a:solidFill>
                  <a:schemeClr val="accent2"/>
                </a:solidFill>
              </a:rPr>
              <a:t>training</a:t>
            </a:r>
            <a:r>
              <a:rPr lang="en-GB" b="1" dirty="0"/>
              <a:t> </a:t>
            </a:r>
            <a:r>
              <a:rPr lang="en-GB" b="1" dirty="0">
                <a:solidFill>
                  <a:schemeClr val="accent2"/>
                </a:solidFill>
              </a:rPr>
              <a:t>set</a:t>
            </a:r>
            <a:r>
              <a:rPr lang="en-GB" b="1" dirty="0"/>
              <a:t>, </a:t>
            </a:r>
            <a:r>
              <a:rPr lang="en-GB" dirty="0"/>
              <a:t>as this helps training of the model.</a:t>
            </a:r>
          </a:p>
          <a:p>
            <a:pPr marL="514350" indent="-514350">
              <a:buAutoNum type="arabicPeriod"/>
            </a:pPr>
            <a:r>
              <a:rPr lang="en-GB" b="1" dirty="0"/>
              <a:t>We want enough samples in </a:t>
            </a:r>
            <a:r>
              <a:rPr lang="en-GB" b="1" dirty="0">
                <a:solidFill>
                  <a:srgbClr val="0070C0"/>
                </a:solidFill>
              </a:rPr>
              <a:t>validation</a:t>
            </a:r>
            <a:r>
              <a:rPr lang="en-GB" b="1" dirty="0"/>
              <a:t>/</a:t>
            </a:r>
            <a:r>
              <a:rPr lang="en-GB" b="1" dirty="0">
                <a:solidFill>
                  <a:srgbClr val="7030A0"/>
                </a:solidFill>
              </a:rPr>
              <a:t>test </a:t>
            </a:r>
            <a:r>
              <a:rPr lang="en-GB" b="1" dirty="0"/>
              <a:t>sets, </a:t>
            </a:r>
            <a:r>
              <a:rPr lang="en-GB" dirty="0"/>
              <a:t>to ensure diversity and that the </a:t>
            </a:r>
            <a:r>
              <a:rPr lang="en-GB" b="1" dirty="0">
                <a:solidFill>
                  <a:srgbClr val="00B050"/>
                </a:solidFill>
              </a:rPr>
              <a:t>law of large numbers </a:t>
            </a:r>
            <a:r>
              <a:rPr lang="en-GB" dirty="0"/>
              <a:t>applies</a:t>
            </a:r>
            <a:r>
              <a:rPr lang="en-GB" b="1" dirty="0"/>
              <a:t>.</a:t>
            </a:r>
          </a:p>
          <a:p>
            <a:pPr marL="0" indent="0">
              <a:buNone/>
            </a:pPr>
            <a:endParaRPr lang="en-SG" dirty="0"/>
          </a:p>
          <a:p>
            <a:pPr marL="0" indent="0">
              <a:buNone/>
            </a:pPr>
            <a:r>
              <a:rPr lang="en-SG" b="1" dirty="0"/>
              <a:t>Reminder from the past (</a:t>
            </a:r>
            <a:r>
              <a:rPr lang="en-SG" b="1" dirty="0">
                <a:solidFill>
                  <a:srgbClr val="00B050"/>
                </a:solidFill>
              </a:rPr>
              <a:t>Law</a:t>
            </a:r>
            <a:r>
              <a:rPr lang="en-SG" b="1" dirty="0"/>
              <a:t> </a:t>
            </a:r>
            <a:r>
              <a:rPr lang="en-SG" b="1" dirty="0">
                <a:solidFill>
                  <a:srgbClr val="00B050"/>
                </a:solidFill>
              </a:rPr>
              <a:t>of</a:t>
            </a:r>
            <a:r>
              <a:rPr lang="en-SG" b="1" dirty="0"/>
              <a:t> </a:t>
            </a:r>
            <a:r>
              <a:rPr lang="en-SG" b="1" dirty="0">
                <a:solidFill>
                  <a:srgbClr val="00B050"/>
                </a:solidFill>
              </a:rPr>
              <a:t>large</a:t>
            </a:r>
            <a:r>
              <a:rPr lang="en-SG" b="1" dirty="0"/>
              <a:t> </a:t>
            </a:r>
            <a:r>
              <a:rPr lang="en-SG" b="1" dirty="0">
                <a:solidFill>
                  <a:srgbClr val="00B050"/>
                </a:solidFill>
              </a:rPr>
              <a:t>numbers</a:t>
            </a:r>
            <a:r>
              <a:rPr lang="en-SG" b="1" dirty="0"/>
              <a:t>): </a:t>
            </a:r>
            <a:r>
              <a:rPr lang="en-SG" dirty="0"/>
              <a:t>When calculating a mean/average metric, like MSE, we need enough samples so that the empirical approximation matches closely the theoretical value.</a:t>
            </a:r>
          </a:p>
        </p:txBody>
      </p:sp>
    </p:spTree>
    <p:extLst>
      <p:ext uri="{BB962C8B-B14F-4D97-AF65-F5344CB8AC3E}">
        <p14:creationId xmlns:p14="http://schemas.microsoft.com/office/powerpoint/2010/main" val="39578963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E33E8-2C3B-E5C7-E73C-86BCBC9D4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Good Practice #2: Using a train-test-valid split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53CA20-FD68-BCFD-A748-1DE206D1241E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u="sng" dirty="0"/>
                  <a:t>Question:</a:t>
                </a:r>
                <a:r>
                  <a:rPr lang="en-GB" b="1" dirty="0"/>
                  <a:t> </a:t>
                </a:r>
                <a:r>
                  <a:rPr lang="en-GB" dirty="0"/>
                  <a:t>What is considered a good repartition for the </a:t>
                </a:r>
                <a:r>
                  <a:rPr lang="en-GB" b="1" dirty="0"/>
                  <a:t>train-test-validation</a:t>
                </a:r>
                <a:r>
                  <a:rPr lang="en-GB" dirty="0"/>
                  <a:t> split?</a:t>
                </a:r>
              </a:p>
              <a:p>
                <a:pPr marL="0" indent="0">
                  <a:buNone/>
                </a:pPr>
                <a:r>
                  <a:rPr lang="en-GB" dirty="0"/>
                  <a:t>Following the two ideas from earlier.</a:t>
                </a:r>
              </a:p>
              <a:p>
                <a:pPr marL="0" indent="0">
                  <a:buNone/>
                </a:pPr>
                <a:r>
                  <a:rPr lang="en-GB" b="1" dirty="0"/>
                  <a:t>Scenario 1: you have more than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~</m:t>
                    </m:r>
                  </m:oMath>
                </a14:m>
                <a:r>
                  <a:rPr lang="en-GB" b="1" dirty="0"/>
                  <a:t>10000 samples (large dataset).</a:t>
                </a:r>
              </a:p>
              <a:p>
                <a:pPr marL="0" indent="0">
                  <a:buNone/>
                </a:pPr>
                <a:r>
                  <a:rPr lang="en-GB" b="1" dirty="0"/>
                  <a:t>Scenario 2: you have less than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~</m:t>
                    </m:r>
                  </m:oMath>
                </a14:m>
                <a:r>
                  <a:rPr lang="en-GB" b="1" dirty="0"/>
                  <a:t>10000 samples (small dataset).</a:t>
                </a:r>
                <a:endParaRPr lang="en-SG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53CA20-FD68-BCFD-A748-1DE206D124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2471" t="-2241" r="-152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D06B9D64-CDDF-1120-2C4A-F0A846476B95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b="1" dirty="0"/>
                  <a:t>Scenario 1: you have more than </a:t>
                </a:r>
                <a14:m>
                  <m:oMath xmlns:m="http://schemas.openxmlformats.org/officeDocument/2006/math">
                    <m:r>
                      <a:rPr lang="en-GB" b="1" i="1" dirty="0">
                        <a:latin typeface="Cambria Math" panose="02040503050406030204" pitchFamily="18" charset="0"/>
                      </a:rPr>
                      <m:t>~</m:t>
                    </m:r>
                  </m:oMath>
                </a14:m>
                <a:r>
                  <a:rPr lang="en-GB" b="1" dirty="0"/>
                  <a:t>10000 samples (large dataset).</a:t>
                </a:r>
              </a:p>
              <a:p>
                <a:r>
                  <a:rPr lang="en-GB" dirty="0"/>
                  <a:t>Put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~</m:t>
                    </m:r>
                  </m:oMath>
                </a14:m>
                <a:r>
                  <a:rPr lang="en-GB" b="1" dirty="0"/>
                  <a:t>1000</a:t>
                </a:r>
                <a:r>
                  <a:rPr lang="en-GB" dirty="0"/>
                  <a:t> </a:t>
                </a:r>
                <a:r>
                  <a:rPr lang="en-GB" b="1" dirty="0"/>
                  <a:t>samples</a:t>
                </a:r>
                <a:r>
                  <a:rPr lang="en-GB" dirty="0"/>
                  <a:t> in the </a:t>
                </a:r>
                <a:r>
                  <a:rPr lang="en-GB" b="1" dirty="0">
                    <a:solidFill>
                      <a:srgbClr val="0070C0"/>
                    </a:solidFill>
                  </a:rPr>
                  <a:t>validation</a:t>
                </a:r>
                <a:r>
                  <a:rPr lang="en-GB" dirty="0"/>
                  <a:t> </a:t>
                </a:r>
                <a:r>
                  <a:rPr lang="en-GB" b="1" dirty="0">
                    <a:solidFill>
                      <a:srgbClr val="0070C0"/>
                    </a:solidFill>
                  </a:rPr>
                  <a:t>set</a:t>
                </a:r>
                <a:r>
                  <a:rPr lang="en-GB" dirty="0"/>
                  <a:t>. And put another </a:t>
                </a:r>
                <a14:m>
                  <m:oMath xmlns:m="http://schemas.openxmlformats.org/officeDocument/2006/math">
                    <m:r>
                      <a:rPr lang="en-GB" b="1" i="1" dirty="0">
                        <a:latin typeface="Cambria Math" panose="02040503050406030204" pitchFamily="18" charset="0"/>
                      </a:rPr>
                      <m:t>~</m:t>
                    </m:r>
                  </m:oMath>
                </a14:m>
                <a:r>
                  <a:rPr lang="en-GB" b="1" dirty="0"/>
                  <a:t>1000</a:t>
                </a:r>
                <a:r>
                  <a:rPr lang="en-GB" dirty="0"/>
                  <a:t> </a:t>
                </a:r>
                <a:r>
                  <a:rPr lang="en-GB" b="1" dirty="0"/>
                  <a:t>samples</a:t>
                </a:r>
                <a:r>
                  <a:rPr lang="en-GB" dirty="0"/>
                  <a:t> in the </a:t>
                </a:r>
                <a:r>
                  <a:rPr lang="en-GB" b="1" dirty="0">
                    <a:solidFill>
                      <a:srgbClr val="7030A0"/>
                    </a:solidFill>
                  </a:rPr>
                  <a:t>test</a:t>
                </a:r>
                <a:r>
                  <a:rPr lang="en-GB" dirty="0"/>
                  <a:t> </a:t>
                </a:r>
                <a:r>
                  <a:rPr lang="en-GB" b="1" dirty="0">
                    <a:solidFill>
                      <a:srgbClr val="7030A0"/>
                    </a:solidFill>
                  </a:rPr>
                  <a:t>set</a:t>
                </a:r>
                <a:r>
                  <a:rPr lang="en-GB" dirty="0"/>
                  <a:t>.</a:t>
                </a:r>
              </a:p>
              <a:p>
                <a:r>
                  <a:rPr lang="en-GB" dirty="0"/>
                  <a:t>(Having 1000 samples should be enough for law of large numbers to apply).</a:t>
                </a:r>
              </a:p>
              <a:p>
                <a:r>
                  <a:rPr lang="en-GB" dirty="0"/>
                  <a:t>Put </a:t>
                </a:r>
                <a:r>
                  <a:rPr lang="en-GB" b="1" dirty="0"/>
                  <a:t>the</a:t>
                </a:r>
                <a:r>
                  <a:rPr lang="en-GB" dirty="0"/>
                  <a:t> </a:t>
                </a:r>
                <a:r>
                  <a:rPr lang="en-GB" b="1" dirty="0"/>
                  <a:t>rest</a:t>
                </a:r>
                <a:r>
                  <a:rPr lang="en-GB" dirty="0"/>
                  <a:t> in </a:t>
                </a:r>
                <a:r>
                  <a:rPr lang="en-GB" b="1" dirty="0">
                    <a:solidFill>
                      <a:schemeClr val="accent2"/>
                    </a:solidFill>
                  </a:rPr>
                  <a:t>training</a:t>
                </a:r>
                <a:r>
                  <a:rPr lang="en-GB" dirty="0"/>
                  <a:t> </a:t>
                </a:r>
                <a:r>
                  <a:rPr lang="en-GB" b="1" dirty="0">
                    <a:solidFill>
                      <a:schemeClr val="accent2"/>
                    </a:solidFill>
                  </a:rPr>
                  <a:t>set</a:t>
                </a:r>
                <a:r>
                  <a:rPr lang="en-GB" dirty="0"/>
                  <a:t>.</a:t>
                </a:r>
                <a:endParaRPr lang="en-SG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D06B9D64-CDDF-1120-2C4A-F0A846476B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2471" t="-2241" r="-2588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25921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E33E8-2C3B-E5C7-E73C-86BCBC9D4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Good Practice #2: Using a train-test-valid split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53CA20-FD68-BCFD-A748-1DE206D1241E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u="sng" dirty="0"/>
                  <a:t>Question:</a:t>
                </a:r>
                <a:r>
                  <a:rPr lang="en-GB" b="1" dirty="0"/>
                  <a:t> </a:t>
                </a:r>
                <a:r>
                  <a:rPr lang="en-GB" dirty="0"/>
                  <a:t>What is considered a good repartition for the </a:t>
                </a:r>
                <a:r>
                  <a:rPr lang="en-GB" b="1" dirty="0"/>
                  <a:t>train-test-validation</a:t>
                </a:r>
                <a:r>
                  <a:rPr lang="en-GB" dirty="0"/>
                  <a:t> split?</a:t>
                </a:r>
              </a:p>
              <a:p>
                <a:pPr marL="0" indent="0">
                  <a:buNone/>
                </a:pPr>
                <a:r>
                  <a:rPr lang="en-GB" dirty="0"/>
                  <a:t>Following the two ideas from earlier.</a:t>
                </a:r>
              </a:p>
              <a:p>
                <a:pPr marL="0" indent="0">
                  <a:buNone/>
                </a:pPr>
                <a:r>
                  <a:rPr lang="en-GB" b="1" dirty="0"/>
                  <a:t>Scenario 1: you have more than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~</m:t>
                    </m:r>
                  </m:oMath>
                </a14:m>
                <a:r>
                  <a:rPr lang="en-GB" b="1" dirty="0"/>
                  <a:t>10000 samples (large dataset).</a:t>
                </a:r>
              </a:p>
              <a:p>
                <a:pPr marL="0" indent="0">
                  <a:buNone/>
                </a:pPr>
                <a:r>
                  <a:rPr lang="en-GB" b="1" dirty="0"/>
                  <a:t>Scenario 2: you have less than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~</m:t>
                    </m:r>
                  </m:oMath>
                </a14:m>
                <a:r>
                  <a:rPr lang="en-GB" b="1" dirty="0"/>
                  <a:t>10000 samples (small dataset).</a:t>
                </a:r>
                <a:endParaRPr lang="en-SG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53CA20-FD68-BCFD-A748-1DE206D124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2471" t="-2241" r="-152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D06B9D64-CDDF-1120-2C4A-F0A846476B95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Scenario 2: you have less than </a:t>
                </a:r>
                <a14:m>
                  <m:oMath xmlns:m="http://schemas.openxmlformats.org/officeDocument/2006/math">
                    <m:r>
                      <a:rPr lang="en-GB" b="1" i="1" dirty="0">
                        <a:latin typeface="Cambria Math" panose="02040503050406030204" pitchFamily="18" charset="0"/>
                      </a:rPr>
                      <m:t>~</m:t>
                    </m:r>
                  </m:oMath>
                </a14:m>
                <a:r>
                  <a:rPr lang="en-GB" b="1" dirty="0"/>
                  <a:t>10000 samples (small dataset).</a:t>
                </a:r>
                <a:endParaRPr lang="en-SG" b="1" dirty="0"/>
              </a:p>
              <a:p>
                <a:r>
                  <a:rPr lang="en-GB" dirty="0"/>
                  <a:t>Put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~</m:t>
                    </m:r>
                  </m:oMath>
                </a14:m>
                <a:r>
                  <a:rPr lang="en-GB" b="1" dirty="0"/>
                  <a:t>10% of</a:t>
                </a:r>
                <a:r>
                  <a:rPr lang="en-GB" dirty="0"/>
                  <a:t> </a:t>
                </a:r>
                <a:r>
                  <a:rPr lang="en-GB" b="1" dirty="0"/>
                  <a:t>samples</a:t>
                </a:r>
                <a:r>
                  <a:rPr lang="en-GB" dirty="0"/>
                  <a:t> in the </a:t>
                </a:r>
                <a:r>
                  <a:rPr lang="en-GB" b="1" dirty="0">
                    <a:solidFill>
                      <a:srgbClr val="0070C0"/>
                    </a:solidFill>
                  </a:rPr>
                  <a:t>validation</a:t>
                </a:r>
                <a:r>
                  <a:rPr lang="en-GB" dirty="0"/>
                  <a:t> </a:t>
                </a:r>
                <a:r>
                  <a:rPr lang="en-GB" b="1" dirty="0">
                    <a:solidFill>
                      <a:srgbClr val="0070C0"/>
                    </a:solidFill>
                  </a:rPr>
                  <a:t>set</a:t>
                </a:r>
                <a:r>
                  <a:rPr lang="en-GB" dirty="0"/>
                  <a:t>. And put another </a:t>
                </a:r>
                <a14:m>
                  <m:oMath xmlns:m="http://schemas.openxmlformats.org/officeDocument/2006/math">
                    <m:r>
                      <a:rPr lang="en-GB" b="1" i="1" dirty="0">
                        <a:latin typeface="Cambria Math" panose="02040503050406030204" pitchFamily="18" charset="0"/>
                      </a:rPr>
                      <m:t>~</m:t>
                    </m:r>
                  </m:oMath>
                </a14:m>
                <a:r>
                  <a:rPr lang="en-GB" b="1" dirty="0"/>
                  <a:t>10%</a:t>
                </a:r>
                <a:r>
                  <a:rPr lang="en-GB" dirty="0"/>
                  <a:t> in the </a:t>
                </a:r>
                <a:r>
                  <a:rPr lang="en-GB" b="1" dirty="0">
                    <a:solidFill>
                      <a:srgbClr val="7030A0"/>
                    </a:solidFill>
                  </a:rPr>
                  <a:t>test</a:t>
                </a:r>
                <a:r>
                  <a:rPr lang="en-GB" dirty="0"/>
                  <a:t> </a:t>
                </a:r>
                <a:r>
                  <a:rPr lang="en-GB" b="1" dirty="0">
                    <a:solidFill>
                      <a:srgbClr val="7030A0"/>
                    </a:solidFill>
                  </a:rPr>
                  <a:t>set</a:t>
                </a:r>
                <a:r>
                  <a:rPr lang="en-GB" dirty="0"/>
                  <a:t>.</a:t>
                </a:r>
              </a:p>
              <a:p>
                <a:r>
                  <a:rPr lang="en-GB" dirty="0"/>
                  <a:t>(We might not have enough samples to ensure the law of large numbers applies, but we try our best).</a:t>
                </a:r>
              </a:p>
              <a:p>
                <a:r>
                  <a:rPr lang="en-GB" dirty="0"/>
                  <a:t>Put </a:t>
                </a:r>
                <a:r>
                  <a:rPr lang="en-GB" b="1" dirty="0"/>
                  <a:t>the</a:t>
                </a:r>
                <a:r>
                  <a:rPr lang="en-GB" dirty="0"/>
                  <a:t> </a:t>
                </a:r>
                <a:r>
                  <a:rPr lang="en-GB" b="1" dirty="0"/>
                  <a:t>remaining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~</m:t>
                    </m:r>
                  </m:oMath>
                </a14:m>
                <a:r>
                  <a:rPr lang="en-GB" b="1" dirty="0"/>
                  <a:t>80%</a:t>
                </a:r>
                <a:r>
                  <a:rPr lang="en-GB" dirty="0"/>
                  <a:t> in </a:t>
                </a:r>
                <a:r>
                  <a:rPr lang="en-GB" b="1" dirty="0">
                    <a:solidFill>
                      <a:schemeClr val="accent2"/>
                    </a:solidFill>
                  </a:rPr>
                  <a:t>training</a:t>
                </a:r>
                <a:r>
                  <a:rPr lang="en-GB" dirty="0"/>
                  <a:t> </a:t>
                </a:r>
                <a:r>
                  <a:rPr lang="en-GB" b="1" dirty="0">
                    <a:solidFill>
                      <a:schemeClr val="accent2"/>
                    </a:solidFill>
                  </a:rPr>
                  <a:t>set</a:t>
                </a:r>
                <a:r>
                  <a:rPr lang="en-GB" dirty="0"/>
                  <a:t>.</a:t>
                </a:r>
                <a:endParaRPr lang="en-SG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D06B9D64-CDDF-1120-2C4A-F0A846476B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4"/>
                <a:ext cx="5181600" cy="5032375"/>
              </a:xfrm>
              <a:blipFill>
                <a:blip r:embed="rId3"/>
                <a:stretch>
                  <a:fillRect l="-2471" t="-193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532921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E33E8-2C3B-E5C7-E73C-86BCBC9D4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Good Practice #2: Using a train-test-valid split</a:t>
            </a:r>
            <a:endParaRPr lang="en-SG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7E1F6A2-82F6-1462-613B-C8396C4B76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5049" y="1531815"/>
            <a:ext cx="8615343" cy="4961060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9D486792-A1B6-C3D7-C246-48881289AB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8539" y="1825625"/>
            <a:ext cx="303651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Here, we will “mimic” a splitting by using our dataset generator three times, with different seeds and number of samples each time.</a:t>
            </a:r>
          </a:p>
        </p:txBody>
      </p:sp>
    </p:spTree>
    <p:extLst>
      <p:ext uri="{BB962C8B-B14F-4D97-AF65-F5344CB8AC3E}">
        <p14:creationId xmlns:p14="http://schemas.microsoft.com/office/powerpoint/2010/main" val="40378559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E33E8-2C3B-E5C7-E73C-86BCBC9D4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Good Practice #2: Using a train-test-valid split</a:t>
            </a: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58E7E9-51E0-DF3A-4BFA-542A67867F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444" y="1511600"/>
            <a:ext cx="4411080" cy="313464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87A7802-386D-63D1-001D-6C45BCF971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4342" y="1414556"/>
            <a:ext cx="4534214" cy="323169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313EACC-41E3-2009-5183-E05832F8AA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1445" y="3658843"/>
            <a:ext cx="4534214" cy="3178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46679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E33E8-2C3B-E5C7-E73C-86BCBC9D4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Good Practice #2: Using a train-test-valid split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C4100-ACF1-21D8-E2F0-B59E569FE1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During training pass all three datasets as parameters</a:t>
            </a:r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ED91441-B3D7-F06B-3810-62FA292898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316" y="5804549"/>
            <a:ext cx="11893367" cy="68832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250D7B3-1820-F1DF-393B-1662F8B62F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741" y="2689533"/>
            <a:ext cx="3554985" cy="25262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7C856E9-E807-28B8-FDE3-D4EC3A7B48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7934" y="2655348"/>
            <a:ext cx="3654220" cy="260448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68A300D-C044-62DB-171D-948C380894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0362" y="2654274"/>
            <a:ext cx="3654221" cy="2561538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50F9737-7435-82D9-5B71-3D2DF5BBC1E4}"/>
              </a:ext>
            </a:extLst>
          </p:cNvPr>
          <p:cNvCxnSpPr>
            <a:cxnSpLocks/>
          </p:cNvCxnSpPr>
          <p:nvPr/>
        </p:nvCxnSpPr>
        <p:spPr>
          <a:xfrm>
            <a:off x="2805723" y="5181046"/>
            <a:ext cx="1438031" cy="623503"/>
          </a:xfrm>
          <a:prstGeom prst="straightConnector1">
            <a:avLst/>
          </a:prstGeom>
          <a:ln w="38100"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F85D11C-1A4B-FAF1-ACA1-93E3CCD45CCB}"/>
              </a:ext>
            </a:extLst>
          </p:cNvPr>
          <p:cNvCxnSpPr>
            <a:cxnSpLocks/>
          </p:cNvCxnSpPr>
          <p:nvPr/>
        </p:nvCxnSpPr>
        <p:spPr>
          <a:xfrm>
            <a:off x="9957472" y="5324498"/>
            <a:ext cx="108743" cy="480051"/>
          </a:xfrm>
          <a:prstGeom prst="straightConnector1">
            <a:avLst/>
          </a:prstGeom>
          <a:ln w="38100"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D0B6097-CC25-BD00-9BC5-1FF1F204A53C}"/>
              </a:ext>
            </a:extLst>
          </p:cNvPr>
          <p:cNvCxnSpPr>
            <a:cxnSpLocks/>
          </p:cNvCxnSpPr>
          <p:nvPr/>
        </p:nvCxnSpPr>
        <p:spPr>
          <a:xfrm>
            <a:off x="6015044" y="5350749"/>
            <a:ext cx="1276710" cy="453800"/>
          </a:xfrm>
          <a:prstGeom prst="straightConnector1">
            <a:avLst/>
          </a:prstGeom>
          <a:ln w="38100"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44329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E33E8-2C3B-E5C7-E73C-86BCBC9D4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Good Practice #2: Using a train-test-valid split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C4100-ACF1-21D8-E2F0-B59E569FE1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 few more changes…</a:t>
            </a:r>
          </a:p>
          <a:p>
            <a:pPr marL="0" indent="0">
              <a:buNone/>
            </a:pPr>
            <a:r>
              <a:rPr lang="en-SG" b="1" dirty="0"/>
              <a:t>1. Track losses and accuracies during training on both training and validation sets.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B8D671B-2EC8-C530-E5AC-812756BEBC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307" y="3401007"/>
            <a:ext cx="8856260" cy="11371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F82EE0B-5F4C-3F21-BC18-C3EC7B40AA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7622" y="4696089"/>
            <a:ext cx="6782747" cy="2172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12375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E33E8-2C3B-E5C7-E73C-86BCBC9D4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Good Practice #2: Using a train-test-valid split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C4100-ACF1-21D8-E2F0-B59E569FE1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 few more changes…</a:t>
            </a:r>
          </a:p>
          <a:p>
            <a:pPr marL="0" indent="0">
              <a:buNone/>
            </a:pPr>
            <a:r>
              <a:rPr lang="en-SG" b="1" dirty="0"/>
              <a:t>2. On each iteration, display losses and accuracies on both the training and validation sets.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D21CF24-4FC6-B609-5999-572CF5F79F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480" y="4263256"/>
            <a:ext cx="11564823" cy="1786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52408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E33E8-2C3B-E5C7-E73C-86BCBC9D4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Good Practice #2: Using a train-test-valid split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C4100-ACF1-21D8-E2F0-B59E569FE1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 few more changes…</a:t>
            </a:r>
          </a:p>
          <a:p>
            <a:pPr marL="0" indent="0">
              <a:buNone/>
            </a:pPr>
            <a:r>
              <a:rPr lang="en-SG" b="1" dirty="0"/>
              <a:t>3. After training has completed, check accuracy values (and, optionally, loss values) on the test set for a final confirmation, on the model’s </a:t>
            </a:r>
            <a:r>
              <a:rPr lang="en-SG" b="1" dirty="0">
                <a:solidFill>
                  <a:srgbClr val="7030A0"/>
                </a:solidFill>
              </a:rPr>
              <a:t>generalization </a:t>
            </a:r>
            <a:r>
              <a:rPr lang="en-SG" b="1" dirty="0"/>
              <a:t>capabilities.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512B008-17CC-5E52-C408-51415650341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4830"/>
          <a:stretch/>
        </p:blipFill>
        <p:spPr>
          <a:xfrm>
            <a:off x="557961" y="4351453"/>
            <a:ext cx="10795839" cy="677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0454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E33E8-2C3B-E5C7-E73C-86BCBC9D4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Good Practice #2: Using a train-test-valid split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C4100-ACF1-21D8-E2F0-B59E569FE1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57908" y="1825624"/>
            <a:ext cx="5761892" cy="5032375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Training the model now gives the following full display.</a:t>
            </a:r>
            <a:endParaRPr lang="en-GB" b="1" dirty="0"/>
          </a:p>
          <a:p>
            <a:pPr marL="0" indent="0">
              <a:buNone/>
            </a:pPr>
            <a:r>
              <a:rPr lang="en-GB" dirty="0"/>
              <a:t>In general, three possibilities:</a:t>
            </a:r>
          </a:p>
          <a:p>
            <a:r>
              <a:rPr lang="en-GB" b="1" dirty="0">
                <a:solidFill>
                  <a:srgbClr val="FF0000"/>
                </a:solidFill>
              </a:rPr>
              <a:t>Poor</a:t>
            </a:r>
            <a:r>
              <a:rPr lang="en-GB" dirty="0"/>
              <a:t> values on both </a:t>
            </a:r>
            <a:r>
              <a:rPr lang="en-GB" b="1" dirty="0">
                <a:solidFill>
                  <a:schemeClr val="accent2"/>
                </a:solidFill>
              </a:rPr>
              <a:t>train</a:t>
            </a:r>
            <a:r>
              <a:rPr lang="en-GB" dirty="0"/>
              <a:t> metrics and </a:t>
            </a:r>
            <a:r>
              <a:rPr lang="en-GB" b="1" dirty="0">
                <a:solidFill>
                  <a:srgbClr val="0070C0"/>
                </a:solidFill>
              </a:rPr>
              <a:t>validation</a:t>
            </a:r>
            <a:r>
              <a:rPr lang="en-GB" dirty="0"/>
              <a:t> metrics </a:t>
            </a:r>
            <a:br>
              <a:rPr lang="en-GB" dirty="0"/>
            </a:br>
            <a:r>
              <a:rPr lang="en-GB" dirty="0">
                <a:sym typeface="Wingdings" panose="05000000000000000000" pitchFamily="2" charset="2"/>
              </a:rPr>
              <a:t></a:t>
            </a:r>
            <a:r>
              <a:rPr lang="en-GB" dirty="0"/>
              <a:t> </a:t>
            </a:r>
            <a:r>
              <a:rPr lang="en-GB" b="1" u="sng" dirty="0"/>
              <a:t>Underfitting</a:t>
            </a:r>
            <a:r>
              <a:rPr lang="en-GB" dirty="0"/>
              <a:t>.</a:t>
            </a:r>
          </a:p>
          <a:p>
            <a:r>
              <a:rPr lang="en-GB" b="1" dirty="0">
                <a:solidFill>
                  <a:srgbClr val="00B050"/>
                </a:solidFill>
              </a:rPr>
              <a:t>Good</a:t>
            </a:r>
            <a:r>
              <a:rPr lang="en-GB" dirty="0"/>
              <a:t> values on </a:t>
            </a:r>
            <a:r>
              <a:rPr lang="en-GB" b="1" dirty="0">
                <a:solidFill>
                  <a:schemeClr val="accent2"/>
                </a:solidFill>
              </a:rPr>
              <a:t>train</a:t>
            </a:r>
            <a:r>
              <a:rPr lang="en-GB" dirty="0"/>
              <a:t> metrics, </a:t>
            </a:r>
            <a:r>
              <a:rPr lang="en-GB" b="1" dirty="0">
                <a:solidFill>
                  <a:srgbClr val="FF0000"/>
                </a:solidFill>
              </a:rPr>
              <a:t>poor</a:t>
            </a:r>
            <a:r>
              <a:rPr lang="en-GB" dirty="0"/>
              <a:t> values on </a:t>
            </a:r>
            <a:r>
              <a:rPr lang="en-GB" b="1" dirty="0">
                <a:solidFill>
                  <a:srgbClr val="0070C0"/>
                </a:solidFill>
              </a:rPr>
              <a:t>validation</a:t>
            </a:r>
            <a:r>
              <a:rPr lang="en-GB" dirty="0"/>
              <a:t> metrics</a:t>
            </a:r>
            <a:br>
              <a:rPr lang="en-GB" dirty="0"/>
            </a:br>
            <a:r>
              <a:rPr lang="en-GB" dirty="0">
                <a:sym typeface="Wingdings" panose="05000000000000000000" pitchFamily="2" charset="2"/>
              </a:rPr>
              <a:t></a:t>
            </a:r>
            <a:r>
              <a:rPr lang="en-GB" dirty="0"/>
              <a:t> </a:t>
            </a:r>
            <a:r>
              <a:rPr lang="en-GB" b="1" u="sng" dirty="0"/>
              <a:t>Overfitting</a:t>
            </a:r>
            <a:r>
              <a:rPr lang="en-GB" dirty="0"/>
              <a:t>.</a:t>
            </a:r>
          </a:p>
          <a:p>
            <a:r>
              <a:rPr lang="en-GB" b="1" dirty="0">
                <a:solidFill>
                  <a:srgbClr val="00B050"/>
                </a:solidFill>
              </a:rPr>
              <a:t>Good</a:t>
            </a:r>
            <a:r>
              <a:rPr lang="en-GB" dirty="0"/>
              <a:t> values on both </a:t>
            </a:r>
            <a:r>
              <a:rPr lang="en-GB" b="1" dirty="0">
                <a:solidFill>
                  <a:schemeClr val="accent2"/>
                </a:solidFill>
              </a:rPr>
              <a:t>train</a:t>
            </a:r>
            <a:r>
              <a:rPr lang="en-GB" dirty="0"/>
              <a:t> and </a:t>
            </a:r>
            <a:r>
              <a:rPr lang="en-GB" b="1" dirty="0">
                <a:solidFill>
                  <a:srgbClr val="0070C0"/>
                </a:solidFill>
              </a:rPr>
              <a:t>validation</a:t>
            </a:r>
            <a:r>
              <a:rPr lang="en-GB" dirty="0"/>
              <a:t> metrics </a:t>
            </a:r>
            <a:r>
              <a:rPr lang="en-GB" dirty="0">
                <a:sym typeface="Wingdings" panose="05000000000000000000" pitchFamily="2" charset="2"/>
              </a:rPr>
              <a:t> </a:t>
            </a:r>
            <a:r>
              <a:rPr lang="en-GB" b="1" u="sng" dirty="0">
                <a:sym typeface="Wingdings" panose="05000000000000000000" pitchFamily="2" charset="2"/>
              </a:rPr>
              <a:t>Great!</a:t>
            </a:r>
            <a:endParaRPr lang="en-GB" b="1" u="sng" dirty="0"/>
          </a:p>
          <a:p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7360E81-8BD6-CEDB-E749-977884841B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9502" y="1489540"/>
            <a:ext cx="5074298" cy="5368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4734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E33E8-2C3B-E5C7-E73C-86BCBC9D4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Good Practice #2: Using a train-test-valid split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C4100-ACF1-21D8-E2F0-B59E569FE1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 few more changes…</a:t>
            </a:r>
          </a:p>
          <a:p>
            <a:pPr marL="0" indent="0">
              <a:buNone/>
            </a:pPr>
            <a:r>
              <a:rPr lang="en-SG" b="1" dirty="0"/>
              <a:t>4. Training curves will now include training and validation values.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C4376E5-6B49-2682-197B-810E79E08D2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49495"/>
          <a:stretch/>
        </p:blipFill>
        <p:spPr>
          <a:xfrm>
            <a:off x="0" y="3242546"/>
            <a:ext cx="6201165" cy="302662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7255D86-183F-ADC4-3EF2-9CC572FD172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0736"/>
          <a:stretch/>
        </p:blipFill>
        <p:spPr>
          <a:xfrm>
            <a:off x="5990835" y="3359683"/>
            <a:ext cx="6201165" cy="2952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93077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E33E8-2C3B-E5C7-E73C-86BCBC9D4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Good Practice #2: Using a train-test-valid split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C4100-ACF1-21D8-E2F0-B59E569FE1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Training our model gives following training curves (Good training).</a:t>
            </a:r>
            <a:endParaRPr lang="en-SG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680AFA-88A5-8EBE-BF95-33B0343725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8447" y="2520530"/>
            <a:ext cx="8995105" cy="4337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32220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E33E8-2C3B-E5C7-E73C-86BCBC9D4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Good Practice #2: Using a train-test-valid split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C4100-ACF1-21D8-E2F0-B59E569FE1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586523"/>
            <a:ext cx="11111523" cy="4590440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Note: </a:t>
            </a:r>
            <a:r>
              <a:rPr lang="en-GB" dirty="0"/>
              <a:t>A model that can generalize well will often have close curves on both training and validation sets. And a good final test accuracy value.</a:t>
            </a:r>
            <a:endParaRPr lang="en-SG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680AFA-88A5-8EBE-BF95-33B0343725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8447" y="2520530"/>
            <a:ext cx="8995105" cy="4337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464584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E33E8-2C3B-E5C7-E73C-86BCBC9D4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Good Practice #2: Using a train-test-valid split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C4100-ACF1-21D8-E2F0-B59E569FE1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general,</a:t>
            </a:r>
          </a:p>
          <a:p>
            <a:r>
              <a:rPr lang="en-GB" dirty="0"/>
              <a:t>Model will start by </a:t>
            </a:r>
            <a:r>
              <a:rPr lang="en-GB" b="1" dirty="0"/>
              <a:t>underfitting</a:t>
            </a:r>
            <a:r>
              <a:rPr lang="en-GB" dirty="0"/>
              <a:t> the data, which is normal.</a:t>
            </a:r>
          </a:p>
          <a:p>
            <a:r>
              <a:rPr lang="en-GB" dirty="0"/>
              <a:t>After a few rounds of training models will train and (hopefully) achieve </a:t>
            </a:r>
            <a:r>
              <a:rPr lang="en-GB" b="1" dirty="0"/>
              <a:t>good</a:t>
            </a:r>
            <a:r>
              <a:rPr lang="en-GB" dirty="0"/>
              <a:t> </a:t>
            </a:r>
            <a:r>
              <a:rPr lang="en-GB" b="1" dirty="0">
                <a:solidFill>
                  <a:srgbClr val="7030A0"/>
                </a:solidFill>
              </a:rPr>
              <a:t>generalization</a:t>
            </a:r>
            <a:r>
              <a:rPr lang="en-GB" dirty="0"/>
              <a:t>.</a:t>
            </a:r>
          </a:p>
          <a:p>
            <a:r>
              <a:rPr lang="en-GB" dirty="0"/>
              <a:t>Then, if training is pursued, the model will often attempt to </a:t>
            </a:r>
            <a:r>
              <a:rPr lang="en-GB" b="1" dirty="0"/>
              <a:t>minimize loss at all costs</a:t>
            </a:r>
            <a:r>
              <a:rPr lang="en-GB" dirty="0"/>
              <a:t>, </a:t>
            </a:r>
            <a:r>
              <a:rPr lang="en-GB" b="1" dirty="0"/>
              <a:t>often</a:t>
            </a:r>
            <a:r>
              <a:rPr lang="en-GB" dirty="0"/>
              <a:t> </a:t>
            </a:r>
            <a:r>
              <a:rPr lang="en-GB" b="1" dirty="0"/>
              <a:t>sacrificing generalization (!)</a:t>
            </a:r>
            <a:r>
              <a:rPr lang="en-GB" dirty="0"/>
              <a:t> in the process, and </a:t>
            </a:r>
            <a:r>
              <a:rPr lang="en-GB" b="1" dirty="0"/>
              <a:t>overfitting.</a:t>
            </a:r>
            <a:endParaRPr lang="en-SG" b="1" dirty="0"/>
          </a:p>
        </p:txBody>
      </p:sp>
      <p:pic>
        <p:nvPicPr>
          <p:cNvPr id="9" name="Picture 8" descr="Chart&#10;&#10;Description automatically generated">
            <a:extLst>
              <a:ext uri="{FF2B5EF4-FFF2-40B4-BE49-F238E27FC236}">
                <a16:creationId xmlns:a16="http://schemas.microsoft.com/office/drawing/2014/main" id="{F16C78F6-3F6B-F008-240F-E828817190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4003" y="1690688"/>
            <a:ext cx="5731461" cy="489084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E359F8D-D234-8215-AA8D-08AC63B851F6}"/>
              </a:ext>
            </a:extLst>
          </p:cNvPr>
          <p:cNvSpPr txBox="1"/>
          <p:nvPr/>
        </p:nvSpPr>
        <p:spPr>
          <a:xfrm>
            <a:off x="8010769" y="1690688"/>
            <a:ext cx="33430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FF0000"/>
                </a:solidFill>
              </a:rPr>
              <a:t>Training should probably have stopped at this point (in red).</a:t>
            </a:r>
            <a:endParaRPr lang="en-SG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813508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E33E8-2C3B-E5C7-E73C-86BCBC9D4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Good Practice #3: Implementing an early stop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C4100-ACF1-21D8-E2F0-B59E569FE1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b="1" dirty="0"/>
              <a:t>Good Practice #3: Implementing an </a:t>
            </a:r>
            <a:r>
              <a:rPr lang="en-GB" b="1" dirty="0">
                <a:solidFill>
                  <a:srgbClr val="00B050"/>
                </a:solidFill>
              </a:rPr>
              <a:t>early</a:t>
            </a:r>
            <a:r>
              <a:rPr lang="en-GB" b="1" dirty="0"/>
              <a:t> </a:t>
            </a:r>
            <a:r>
              <a:rPr lang="en-GB" b="1" dirty="0">
                <a:solidFill>
                  <a:srgbClr val="00B050"/>
                </a:solidFill>
              </a:rPr>
              <a:t>stop</a:t>
            </a:r>
            <a:r>
              <a:rPr lang="en-GB" b="1" dirty="0"/>
              <a:t>.</a:t>
            </a:r>
          </a:p>
          <a:p>
            <a:pPr marL="0" indent="0">
              <a:buNone/>
            </a:pPr>
            <a:r>
              <a:rPr lang="en-SG" dirty="0"/>
              <a:t>It is often a good idea to try and </a:t>
            </a:r>
            <a:r>
              <a:rPr lang="en-SG" b="1" dirty="0"/>
              <a:t>stop the training when the model starts losing its generalization capabilities and starts overfitting</a:t>
            </a:r>
            <a:r>
              <a:rPr lang="en-SG" dirty="0"/>
              <a:t>.</a:t>
            </a:r>
          </a:p>
          <a:p>
            <a:pPr marL="0" indent="0">
              <a:buNone/>
            </a:pPr>
            <a:r>
              <a:rPr lang="en-SG" dirty="0"/>
              <a:t>We often want to stop when:</a:t>
            </a:r>
          </a:p>
          <a:p>
            <a:r>
              <a:rPr lang="en-SG" dirty="0"/>
              <a:t>Validation metrics achieve the best results (lowest loss or highest accuracy).</a:t>
            </a:r>
          </a:p>
          <a:p>
            <a:r>
              <a:rPr lang="en-SG" dirty="0"/>
              <a:t>Validation and training curves start going in opposite ways.</a:t>
            </a:r>
          </a:p>
        </p:txBody>
      </p:sp>
      <p:pic>
        <p:nvPicPr>
          <p:cNvPr id="9" name="Picture 8" descr="Chart&#10;&#10;Description automatically generated">
            <a:extLst>
              <a:ext uri="{FF2B5EF4-FFF2-40B4-BE49-F238E27FC236}">
                <a16:creationId xmlns:a16="http://schemas.microsoft.com/office/drawing/2014/main" id="{F16C78F6-3F6B-F008-240F-E828817190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4003" y="1690688"/>
            <a:ext cx="5731461" cy="489084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E359F8D-D234-8215-AA8D-08AC63B851F6}"/>
              </a:ext>
            </a:extLst>
          </p:cNvPr>
          <p:cNvSpPr txBox="1"/>
          <p:nvPr/>
        </p:nvSpPr>
        <p:spPr>
          <a:xfrm>
            <a:off x="8010769" y="1690688"/>
            <a:ext cx="33430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FF0000"/>
                </a:solidFill>
              </a:rPr>
              <a:t>Training should probably have stopped at this point (in red).</a:t>
            </a:r>
            <a:endParaRPr lang="en-SG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107182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CCFC115-D90A-89D3-E778-7BD3A558A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Good Practice #3: Implementing an early stop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DE7EC8E-262A-539E-A4A9-D3B1A09420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Some approaches suggest to simply track a validation metric (e.g. accuracy) and define an </a:t>
            </a:r>
            <a:r>
              <a:rPr lang="en-GB" b="1" dirty="0"/>
              <a:t>early stopping</a:t>
            </a:r>
            <a:r>
              <a:rPr lang="en-GB" dirty="0"/>
              <a:t>, which interrupts training when:</a:t>
            </a:r>
          </a:p>
          <a:p>
            <a:r>
              <a:rPr lang="en-GB" dirty="0"/>
              <a:t>A high level of accuracy has been obtained (say, at least 98%),</a:t>
            </a:r>
          </a:p>
          <a:p>
            <a:r>
              <a:rPr lang="en-GB" dirty="0"/>
              <a:t>And the accuracy is no longer increasing (i.e. the change between two consecutive values of the accuracy is falling below a threshold).</a:t>
            </a:r>
            <a:endParaRPr lang="en-SG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F513E39-7B7F-4BB2-5D21-35BCCD809D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5769" y="4435213"/>
            <a:ext cx="9580462" cy="2422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286107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CCFC115-D90A-89D3-E778-7BD3A558A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Good Practice #3: Implementing an early stop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DE7EC8E-262A-539E-A4A9-D3B1A09420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9275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Some approaches suggest to simply track a validation metric (e.g. accuracy) and define an </a:t>
            </a:r>
            <a:r>
              <a:rPr lang="en-GB" b="1" dirty="0"/>
              <a:t>early stopping</a:t>
            </a:r>
            <a:r>
              <a:rPr lang="en-GB" dirty="0"/>
              <a:t>, which interrupts training when:</a:t>
            </a:r>
          </a:p>
          <a:p>
            <a:r>
              <a:rPr lang="en-GB" dirty="0"/>
              <a:t>A high level of accuracy has been obtained (say, at least 98%),</a:t>
            </a:r>
          </a:p>
          <a:p>
            <a:r>
              <a:rPr lang="en-GB" dirty="0"/>
              <a:t>And the accuracy is no longer increasing (i.e. the change between two consecutive values of the accuracy is falling below a threshold).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Nice, but…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97852698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C42B4-E207-C9EA-4CC3-5FE526AF0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Good Practice #4: Saver and loader functions</a:t>
            </a:r>
            <a:endParaRPr lang="en-S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89A62E-0A02-E5E6-C125-17199041EE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b="1" dirty="0"/>
                  <a:t>Counter-argument/Problem: </a:t>
                </a:r>
                <a:r>
                  <a:rPr lang="en-GB" dirty="0"/>
                  <a:t>Even with this </a:t>
                </a:r>
                <a:r>
                  <a:rPr lang="en-GB" b="1" dirty="0"/>
                  <a:t>early stopping</a:t>
                </a:r>
                <a:r>
                  <a:rPr lang="en-GB" dirty="0"/>
                  <a:t>, we will often stop </a:t>
                </a:r>
                <a:r>
                  <a:rPr lang="en-GB" b="1" u="sng" dirty="0"/>
                  <a:t>AFTER</a:t>
                </a:r>
                <a:r>
                  <a:rPr lang="en-GB" dirty="0"/>
                  <a:t> it is too late, as we need to see that the model starts overfitting and starts losing generalization capabilities to recognize that we should have stopped earlier!</a:t>
                </a:r>
                <a:endParaRPr lang="en-SG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b="1" dirty="0"/>
                  <a:t>Idea: </a:t>
                </a:r>
                <a:r>
                  <a:rPr lang="en-GB" dirty="0"/>
                  <a:t>How about we </a:t>
                </a:r>
                <a:r>
                  <a:rPr lang="en-GB" b="1" dirty="0">
                    <a:solidFill>
                      <a:srgbClr val="00B050"/>
                    </a:solidFill>
                  </a:rPr>
                  <a:t>save</a:t>
                </a:r>
                <a:r>
                  <a:rPr lang="en-GB" dirty="0"/>
                  <a:t> the model trainable parameters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) to a file (along with the iteration number and calculated losses on iterations) every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GB" dirty="0"/>
                  <a:t> iterations?</a:t>
                </a:r>
              </a:p>
              <a:p>
                <a:pPr marL="0" indent="0">
                  <a:buNone/>
                </a:pPr>
                <a:r>
                  <a:rPr lang="en-GB" b="1" dirty="0">
                    <a:sym typeface="Wingdings" panose="05000000000000000000" pitchFamily="2" charset="2"/>
                  </a:rPr>
                  <a:t> </a:t>
                </a:r>
                <a:r>
                  <a:rPr lang="en-GB" b="1" dirty="0"/>
                  <a:t>Good Practice #4: Use </a:t>
                </a:r>
                <a:r>
                  <a:rPr lang="en-GB" b="1" dirty="0">
                    <a:solidFill>
                      <a:srgbClr val="00B050"/>
                    </a:solidFill>
                  </a:rPr>
                  <a:t>saver</a:t>
                </a:r>
                <a:r>
                  <a:rPr lang="en-GB" b="1" dirty="0"/>
                  <a:t> and </a:t>
                </a:r>
                <a:r>
                  <a:rPr lang="en-GB" b="1" dirty="0">
                    <a:solidFill>
                      <a:srgbClr val="00B050"/>
                    </a:solidFill>
                  </a:rPr>
                  <a:t>loader</a:t>
                </a:r>
                <a:r>
                  <a:rPr lang="en-GB" b="1" dirty="0"/>
                  <a:t> functions.</a:t>
                </a:r>
              </a:p>
              <a:p>
                <a:pPr marL="0" indent="0">
                  <a:buNone/>
                </a:pPr>
                <a:endParaRPr lang="en-SG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89A62E-0A02-E5E6-C125-17199041EE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 r="-115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183586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C42B4-E207-C9EA-4CC3-5FE526AF0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Good Practice #4: Saver and loader functions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89A62E-0A02-E5E6-C125-17199041EEA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Idea: </a:t>
                </a:r>
                <a:r>
                  <a:rPr lang="en-GB" dirty="0"/>
                  <a:t>How about we </a:t>
                </a:r>
                <a:r>
                  <a:rPr lang="en-GB" b="1" dirty="0">
                    <a:solidFill>
                      <a:srgbClr val="00B050"/>
                    </a:solidFill>
                  </a:rPr>
                  <a:t>save</a:t>
                </a:r>
                <a:r>
                  <a:rPr lang="en-GB" dirty="0"/>
                  <a:t> the model trainable parameters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) to a file (along with the iteration number and calculated losses on iterations) every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GB" dirty="0"/>
                  <a:t> iterations?</a:t>
                </a:r>
              </a:p>
              <a:p>
                <a:r>
                  <a:rPr lang="en-SG" dirty="0"/>
                  <a:t>For simplicity, can use pickle.</a:t>
                </a:r>
              </a:p>
              <a:p>
                <a:r>
                  <a:rPr lang="en-SG" dirty="0"/>
                  <a:t>And dump our trainable parameters into some files.</a:t>
                </a: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89A62E-0A02-E5E6-C125-17199041EE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160FC422-9A5C-1D41-1A94-1D7A085A4D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8418" y="1292889"/>
            <a:ext cx="4593909" cy="450612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570A0B3-8D71-A98D-2AA5-B798834E260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7625"/>
          <a:stretch/>
        </p:blipFill>
        <p:spPr>
          <a:xfrm>
            <a:off x="6304251" y="6049931"/>
            <a:ext cx="5842241" cy="530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673226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C42B4-E207-C9EA-4CC3-5FE526AF0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Good Practice #4: Saver and loader functions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89A62E-0A02-E5E6-C125-17199041EEA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Idea: </a:t>
                </a:r>
                <a:r>
                  <a:rPr lang="en-GB" dirty="0"/>
                  <a:t>How about we </a:t>
                </a:r>
                <a:r>
                  <a:rPr lang="en-GB" b="1" dirty="0">
                    <a:solidFill>
                      <a:srgbClr val="00B050"/>
                    </a:solidFill>
                  </a:rPr>
                  <a:t>save</a:t>
                </a:r>
                <a:r>
                  <a:rPr lang="en-GB" dirty="0"/>
                  <a:t> the model trainable parameters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) to a file (along with the iteration number and calculated losses on iterations) every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GB" dirty="0"/>
                  <a:t> iterations?</a:t>
                </a:r>
              </a:p>
              <a:p>
                <a:r>
                  <a:rPr lang="en-SG" dirty="0"/>
                  <a:t>For simplicity, can use pickle.</a:t>
                </a:r>
              </a:p>
              <a:p>
                <a:r>
                  <a:rPr lang="en-SG" dirty="0"/>
                  <a:t>And dump our trainable parameters into some files.</a:t>
                </a: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89A62E-0A02-E5E6-C125-17199041EE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871D9B60-FC90-8D01-A979-82FB20A294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3090" y="1825624"/>
            <a:ext cx="5239481" cy="429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919479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C42B4-E207-C9EA-4CC3-5FE526AF0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Good Practice #4: Saver and loader functions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89A62E-0A02-E5E6-C125-17199041EEA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Idea: </a:t>
                </a:r>
                <a:r>
                  <a:rPr lang="en-GB" dirty="0"/>
                  <a:t>How about we </a:t>
                </a:r>
                <a:r>
                  <a:rPr lang="en-GB" b="1" dirty="0">
                    <a:solidFill>
                      <a:srgbClr val="00B050"/>
                    </a:solidFill>
                  </a:rPr>
                  <a:t>save</a:t>
                </a:r>
                <a:r>
                  <a:rPr lang="en-GB" dirty="0"/>
                  <a:t> the model trainable parameters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) to a file (along with the iteration number and calculated losses on iterations) every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GB" dirty="0"/>
                  <a:t> iterations?</a:t>
                </a:r>
              </a:p>
              <a:p>
                <a:r>
                  <a:rPr lang="en-SG" dirty="0"/>
                  <a:t>For simplicity, can use pickle.</a:t>
                </a:r>
              </a:p>
              <a:p>
                <a:r>
                  <a:rPr lang="en-SG" dirty="0"/>
                  <a:t>And dump our trainable parameters into some files.</a:t>
                </a:r>
              </a:p>
              <a:p>
                <a:r>
                  <a:rPr lang="en-SG" dirty="0"/>
                  <a:t>Can then load the best parameters after training!</a:t>
                </a: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89A62E-0A02-E5E6-C125-17199041EE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Chart&#10;&#10;Description automatically generated">
            <a:extLst>
              <a:ext uri="{FF2B5EF4-FFF2-40B4-BE49-F238E27FC236}">
                <a16:creationId xmlns:a16="http://schemas.microsoft.com/office/drawing/2014/main" id="{B5A4BC48-8492-120E-0AF2-9EB61B25E7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8372" y="1448411"/>
            <a:ext cx="5731461" cy="489084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806AEA3-66E3-EC7D-F037-5FAA998984DD}"/>
              </a:ext>
            </a:extLst>
          </p:cNvPr>
          <p:cNvSpPr txBox="1"/>
          <p:nvPr/>
        </p:nvSpPr>
        <p:spPr>
          <a:xfrm>
            <a:off x="7995138" y="1448411"/>
            <a:ext cx="33430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FF0000"/>
                </a:solidFill>
              </a:rPr>
              <a:t>Training should probably have stopped at this point (in red).</a:t>
            </a:r>
            <a:endParaRPr lang="en-SG" b="1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79EAA7-A818-71A0-3F36-B8279DBB10FA}"/>
              </a:ext>
            </a:extLst>
          </p:cNvPr>
          <p:cNvSpPr txBox="1"/>
          <p:nvPr/>
        </p:nvSpPr>
        <p:spPr>
          <a:xfrm>
            <a:off x="5001370" y="5923759"/>
            <a:ext cx="722703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rgbClr val="FF0000"/>
                </a:solidFill>
              </a:rPr>
              <a:t>Trained for too long? No big deal, backtrack and load the weights corresponding to the best iteration!</a:t>
            </a:r>
            <a:endParaRPr lang="en-SG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902192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C42B4-E207-C9EA-4CC3-5FE526AF0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Good Practice #4: Saver and loader functions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89A62E-0A02-E5E6-C125-17199041EEA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Good Practice #4: use </a:t>
                </a:r>
                <a:r>
                  <a:rPr lang="en-GB" b="1" dirty="0">
                    <a:solidFill>
                      <a:srgbClr val="00B050"/>
                    </a:solidFill>
                  </a:rPr>
                  <a:t>saver</a:t>
                </a:r>
                <a:r>
                  <a:rPr lang="en-GB" b="1" dirty="0"/>
                  <a:t> and </a:t>
                </a:r>
                <a:r>
                  <a:rPr lang="en-GB" b="1" dirty="0">
                    <a:solidFill>
                      <a:srgbClr val="00B050"/>
                    </a:solidFill>
                  </a:rPr>
                  <a:t>loader</a:t>
                </a:r>
                <a:r>
                  <a:rPr lang="en-GB" b="1" dirty="0"/>
                  <a:t> functions.</a:t>
                </a:r>
              </a:p>
              <a:p>
                <a:pPr marL="0" indent="0">
                  <a:buNone/>
                </a:pPr>
                <a:r>
                  <a:rPr lang="en-GB" dirty="0"/>
                  <a:t>After training, look at your training curves and </a:t>
                </a:r>
                <a:r>
                  <a:rPr lang="en-GB" b="1" dirty="0">
                    <a:solidFill>
                      <a:srgbClr val="00B050"/>
                    </a:solidFill>
                  </a:rPr>
                  <a:t>load</a:t>
                </a:r>
                <a:r>
                  <a:rPr lang="en-GB" dirty="0"/>
                  <a:t> the model parameters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) using the files from the iteration corresponding to the best one for the model in terms of </a:t>
                </a:r>
                <a:r>
                  <a:rPr lang="en-GB" b="1" dirty="0">
                    <a:solidFill>
                      <a:srgbClr val="7030A0"/>
                    </a:solidFill>
                  </a:rPr>
                  <a:t>generalization</a:t>
                </a:r>
                <a:r>
                  <a:rPr lang="en-GB" dirty="0"/>
                  <a:t>!</a:t>
                </a:r>
              </a:p>
              <a:p>
                <a:pPr marL="0" indent="0">
                  <a:buNone/>
                </a:pPr>
                <a:r>
                  <a:rPr lang="en-GB" dirty="0"/>
                  <a:t>(Iteration number to be decided manually.)</a:t>
                </a:r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89A62E-0A02-E5E6-C125-17199041EE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1937" r="-258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Chart&#10;&#10;Description automatically generated">
            <a:extLst>
              <a:ext uri="{FF2B5EF4-FFF2-40B4-BE49-F238E27FC236}">
                <a16:creationId xmlns:a16="http://schemas.microsoft.com/office/drawing/2014/main" id="{B5A4BC48-8492-120E-0AF2-9EB61B25E7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8372" y="1448411"/>
            <a:ext cx="5731461" cy="489084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806AEA3-66E3-EC7D-F037-5FAA998984DD}"/>
              </a:ext>
            </a:extLst>
          </p:cNvPr>
          <p:cNvSpPr txBox="1"/>
          <p:nvPr/>
        </p:nvSpPr>
        <p:spPr>
          <a:xfrm>
            <a:off x="7995138" y="1448411"/>
            <a:ext cx="33430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FF0000"/>
                </a:solidFill>
              </a:rPr>
              <a:t>Training should probably have stopped at this point (in red).</a:t>
            </a:r>
            <a:endParaRPr lang="en-SG" b="1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524D99-2B28-029F-09E4-32FB45D52147}"/>
              </a:ext>
            </a:extLst>
          </p:cNvPr>
          <p:cNvSpPr txBox="1"/>
          <p:nvPr/>
        </p:nvSpPr>
        <p:spPr>
          <a:xfrm>
            <a:off x="5001370" y="5923759"/>
            <a:ext cx="722703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rgbClr val="FF0000"/>
                </a:solidFill>
              </a:rPr>
              <a:t>Trained for too long? No big deal, backtrack and load the weights corresponding to the best iteration!</a:t>
            </a:r>
            <a:endParaRPr lang="en-SG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9302352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C42B4-E207-C9EA-4CC3-5FE526AF0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Good Practice #4: Saver and loader functions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89A62E-0A02-E5E6-C125-17199041EEA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Good Practice #4: use </a:t>
                </a:r>
                <a:r>
                  <a:rPr lang="en-GB" b="1" dirty="0">
                    <a:solidFill>
                      <a:srgbClr val="00B050"/>
                    </a:solidFill>
                  </a:rPr>
                  <a:t>saver</a:t>
                </a:r>
                <a:r>
                  <a:rPr lang="en-GB" b="1" dirty="0"/>
                  <a:t> and </a:t>
                </a:r>
                <a:r>
                  <a:rPr lang="en-GB" b="1" dirty="0">
                    <a:solidFill>
                      <a:srgbClr val="00B050"/>
                    </a:solidFill>
                  </a:rPr>
                  <a:t>loader</a:t>
                </a:r>
                <a:r>
                  <a:rPr lang="en-GB" b="1" dirty="0"/>
                  <a:t> functions.</a:t>
                </a:r>
              </a:p>
              <a:p>
                <a:pPr marL="0" indent="0">
                  <a:buNone/>
                </a:pPr>
                <a:r>
                  <a:rPr lang="en-GB" dirty="0"/>
                  <a:t>After training, look at your training curves and </a:t>
                </a:r>
                <a:r>
                  <a:rPr lang="en-GB" b="1" dirty="0">
                    <a:solidFill>
                      <a:srgbClr val="00B050"/>
                    </a:solidFill>
                  </a:rPr>
                  <a:t>load</a:t>
                </a:r>
                <a:r>
                  <a:rPr lang="en-GB" dirty="0"/>
                  <a:t> the model parameters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) using the files from the iteration corresponding to the best one for the model in terms of </a:t>
                </a:r>
                <a:r>
                  <a:rPr lang="en-GB" b="1" dirty="0">
                    <a:solidFill>
                      <a:srgbClr val="7030A0"/>
                    </a:solidFill>
                  </a:rPr>
                  <a:t>generalization</a:t>
                </a:r>
                <a:r>
                  <a:rPr lang="en-GB" dirty="0"/>
                  <a:t>!</a:t>
                </a:r>
              </a:p>
              <a:p>
                <a:pPr marL="0" indent="0">
                  <a:buNone/>
                </a:pPr>
                <a:r>
                  <a:rPr lang="en-GB" dirty="0"/>
                  <a:t>(Iteration number to be decided manually.)</a:t>
                </a:r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89A62E-0A02-E5E6-C125-17199041EE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1937" r="-258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BDBF56C6-F871-9322-C44E-478F2EA08FA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5923"/>
          <a:stretch/>
        </p:blipFill>
        <p:spPr>
          <a:xfrm>
            <a:off x="6674338" y="1926014"/>
            <a:ext cx="5432411" cy="4052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29884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C42B4-E207-C9EA-4CC3-5FE526AF0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Saver/loader functions are critical in AI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89A62E-0A02-E5E6-C125-17199041EE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421923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Reproducibility: </a:t>
            </a:r>
            <a:r>
              <a:rPr lang="en-GB" dirty="0"/>
              <a:t>After training, it is important that you give your client a simple way to load your trained model. You would not want the client to re-run the training (especially if it takes a VERY long time to train!)</a:t>
            </a:r>
          </a:p>
          <a:p>
            <a:pPr marL="0" indent="0">
              <a:buNone/>
            </a:pPr>
            <a:r>
              <a:rPr lang="en-GB" b="1" dirty="0"/>
              <a:t>It is also important if you do AI research, as your research will have little </a:t>
            </a:r>
            <a:r>
              <a:rPr lang="en-GB" b="1"/>
              <a:t>to no credibility </a:t>
            </a:r>
            <a:r>
              <a:rPr lang="en-GB" b="1" dirty="0"/>
              <a:t>if </a:t>
            </a:r>
            <a:r>
              <a:rPr lang="en-GB" b="1"/>
              <a:t>you are not </a:t>
            </a:r>
            <a:r>
              <a:rPr lang="en-GB" b="1" dirty="0"/>
              <a:t>able to let other people see</a:t>
            </a:r>
            <a:br>
              <a:rPr lang="en-GB" b="1" dirty="0"/>
            </a:br>
            <a:r>
              <a:rPr lang="en-GB" b="1" dirty="0"/>
              <a:t>the final model at work.</a:t>
            </a:r>
          </a:p>
          <a:p>
            <a:pPr marL="0" indent="0">
              <a:buNone/>
            </a:pP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3A75D9A-88EE-60D1-BF12-69315B99E0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0841" y="1825624"/>
            <a:ext cx="5931159" cy="4586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083163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C42B4-E207-C9EA-4CC3-5FE526AF0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Saver/loader functions are critical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89A62E-0A02-E5E6-C125-17199041EE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421923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Preventing data loss: </a:t>
            </a:r>
            <a:r>
              <a:rPr lang="en-GB" dirty="0"/>
              <a:t>Training a heavy model can take a long time, sometimes even days or weeks, if the model architecture is massive.</a:t>
            </a:r>
          </a:p>
          <a:p>
            <a:pPr marL="0" indent="0">
              <a:buNone/>
            </a:pPr>
            <a:r>
              <a:rPr lang="en-GB" b="1" dirty="0"/>
              <a:t>If the training process is interrupted, all the progress made so far will be lost, unless the model has been saved.</a:t>
            </a:r>
          </a:p>
          <a:p>
            <a:pPr marL="0" indent="0">
              <a:buNone/>
            </a:pPr>
            <a:r>
              <a:rPr lang="en-GB" dirty="0"/>
              <a:t>In case of an interruption, we can simply load the latest save of the model, and resume the training, instead of restarting from scratch.</a:t>
            </a:r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E33F2A5-D1B1-1C68-D3AA-3E101817EC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2425" y="1736422"/>
            <a:ext cx="5332006" cy="4756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696937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218DB6-D354-E336-2986-E32EFFEB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Typical questions about model architecture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A6D8B5-001B-FE1E-61F3-468A2097AD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Typical questions asked by students regarding the size of a neural network model.</a:t>
            </a:r>
          </a:p>
          <a:p>
            <a:r>
              <a:rPr lang="en-SG" b="1" dirty="0"/>
              <a:t>How many layers does my model need?</a:t>
            </a:r>
          </a:p>
          <a:p>
            <a:r>
              <a:rPr lang="en-SG" b="1" dirty="0"/>
              <a:t>How many neurons should I put in each layer?</a:t>
            </a:r>
          </a:p>
          <a:p>
            <a:r>
              <a:rPr lang="en-SG" b="1" dirty="0"/>
              <a:t>Is it better to have more layers or more neurons per layer?</a:t>
            </a:r>
          </a:p>
          <a:p>
            <a:pPr marL="0" indent="0">
              <a:buNone/>
            </a:pPr>
            <a:r>
              <a:rPr lang="en-SG" dirty="0"/>
              <a:t>The answer to these questions will surprise you.</a:t>
            </a:r>
          </a:p>
        </p:txBody>
      </p:sp>
    </p:spTree>
    <p:extLst>
      <p:ext uri="{BB962C8B-B14F-4D97-AF65-F5344CB8AC3E}">
        <p14:creationId xmlns:p14="http://schemas.microsoft.com/office/powerpoint/2010/main" val="329713148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218DB6-D354-E336-2986-E32EFFEB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Typical questions about model architecture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A6D8B5-001B-FE1E-61F3-468A2097AD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Typical questions asked by students regarding the size of a neural network model.</a:t>
            </a:r>
          </a:p>
          <a:p>
            <a:r>
              <a:rPr lang="en-SG" b="1" dirty="0"/>
              <a:t>How many layers does my model need?</a:t>
            </a:r>
          </a:p>
          <a:p>
            <a:r>
              <a:rPr lang="en-SG" b="1" dirty="0"/>
              <a:t>How many neurons should I put in each layer?</a:t>
            </a:r>
          </a:p>
          <a:p>
            <a:r>
              <a:rPr lang="en-SG" b="1" dirty="0"/>
              <a:t>Is it better to have more layers or more neurons per layer?</a:t>
            </a:r>
          </a:p>
          <a:p>
            <a:pPr marL="0" indent="0">
              <a:buNone/>
            </a:pPr>
            <a:r>
              <a:rPr lang="en-SG" dirty="0"/>
              <a:t>The answer to these questions will surprise you.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CAA24B0-842E-AC7D-0C47-BE3473ABC0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319" y="1500216"/>
            <a:ext cx="5252889" cy="5045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11172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187D063-CE27-C6D0-534F-36C2400D2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Problem statement</a:t>
            </a:r>
            <a:endParaRPr lang="en-SG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1854C4E-61CC-7C7C-9F6B-17D4E7339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7380" y="2068342"/>
            <a:ext cx="6194620" cy="4243558"/>
          </a:xfrm>
          <a:prstGeom prst="rect">
            <a:avLst/>
          </a:prstGeom>
        </p:spPr>
      </p:pic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F6C903BF-D843-A3A3-6EF2-419D8EB316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Consider the following binary classification dataset.</a:t>
            </a:r>
          </a:p>
          <a:p>
            <a:pPr marL="0" indent="0">
              <a:buNone/>
            </a:pPr>
            <a:r>
              <a:rPr lang="en-GB" dirty="0"/>
              <a:t>It follows the same logic as our previous dataset, but the boundary seems to have a different shape, and its equation is not given this time.</a:t>
            </a:r>
            <a:endParaRPr lang="en-SG" dirty="0"/>
          </a:p>
          <a:p>
            <a:pPr marL="0" indent="0">
              <a:buNone/>
            </a:pPr>
            <a:r>
              <a:rPr lang="en-SG" dirty="0"/>
              <a:t>It looks nicely separable, so we should be able to train a classifier model with near-perfect accuracy.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0453749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187D063-CE27-C6D0-534F-36C2400D2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Problem statement</a:t>
            </a:r>
            <a:endParaRPr lang="en-SG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D1D227D-401B-5C44-3537-464FEC40DB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640754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SG" dirty="0"/>
              <a:t>In Notebook 8 we will first try train two models:</a:t>
            </a:r>
          </a:p>
          <a:p>
            <a:r>
              <a:rPr lang="en-SG" b="1" dirty="0"/>
              <a:t>Model 1: </a:t>
            </a:r>
            <a:r>
              <a:rPr lang="en-SG" dirty="0"/>
              <a:t>1-layer neural network, 62% accuracy (on top)</a:t>
            </a:r>
          </a:p>
          <a:p>
            <a:r>
              <a:rPr lang="en-SG" b="1" dirty="0"/>
              <a:t>Model 2:</a:t>
            </a:r>
            <a:r>
              <a:rPr lang="en-SG" dirty="0"/>
              <a:t> 2-layers neural network, 81% accuracy (bottom).</a:t>
            </a:r>
          </a:p>
          <a:p>
            <a:pPr marL="0" indent="0">
              <a:buNone/>
            </a:pPr>
            <a:endParaRPr lang="en-SG" dirty="0"/>
          </a:p>
          <a:p>
            <a:pPr marL="0" indent="0">
              <a:buNone/>
            </a:pPr>
            <a:r>
              <a:rPr lang="en-SG" dirty="0"/>
              <a:t>Unfortunately, it seems both models are struggling to learn…</a:t>
            </a:r>
          </a:p>
          <a:p>
            <a:pPr marL="0" indent="0">
              <a:buNone/>
            </a:pPr>
            <a:r>
              <a:rPr lang="en-SG" b="1" dirty="0"/>
              <a:t>Question: What could we do then?</a:t>
            </a:r>
          </a:p>
          <a:p>
            <a:pPr marL="0" indent="0">
              <a:buNone/>
            </a:pPr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E424CC-461D-729F-7261-84D0F5BD5F9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4683"/>
          <a:stretch/>
        </p:blipFill>
        <p:spPr>
          <a:xfrm>
            <a:off x="6756838" y="3499894"/>
            <a:ext cx="4725468" cy="320777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C7B78B9-7DEE-AF02-8EF1-5A4621D39F9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4310"/>
          <a:stretch/>
        </p:blipFill>
        <p:spPr>
          <a:xfrm>
            <a:off x="6766169" y="243899"/>
            <a:ext cx="4725468" cy="3185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300779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187D063-CE27-C6D0-534F-36C2400D2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Problem statement</a:t>
            </a:r>
            <a:endParaRPr lang="en-SG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D1D227D-401B-5C44-3537-464FEC40D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752016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Three suggested approaches/tasks for you to try in this Notebook 8: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Adding a second layer helped, let us try </a:t>
            </a:r>
            <a:r>
              <a:rPr lang="en-GB" b="1" dirty="0"/>
              <a:t>adding a third layer</a:t>
            </a:r>
            <a:r>
              <a:rPr lang="en-GB" dirty="0"/>
              <a:t>?</a:t>
            </a:r>
            <a:br>
              <a:rPr lang="en-GB" dirty="0"/>
            </a:br>
            <a:r>
              <a:rPr lang="en-GB" dirty="0"/>
              <a:t>(We will need to rework most methods in our Neural Network class, as it only includes two layers at the moment).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How about we stick to two layers only and </a:t>
            </a:r>
            <a:r>
              <a:rPr lang="en-GB" b="1" dirty="0"/>
              <a:t>use more neurons in the first layer</a:t>
            </a:r>
            <a:r>
              <a:rPr lang="en-GB" dirty="0"/>
              <a:t> of the neural network?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How about a bit of </a:t>
            </a:r>
            <a:r>
              <a:rPr lang="en-GB" b="1" dirty="0"/>
              <a:t>feature engineering</a:t>
            </a:r>
            <a:r>
              <a:rPr lang="en-GB" dirty="0"/>
              <a:t>?</a:t>
            </a:r>
            <a:br>
              <a:rPr lang="en-GB" dirty="0"/>
            </a:br>
            <a:r>
              <a:rPr lang="en-GB" dirty="0"/>
              <a:t>(That is reworking our dataset a bit to produce more useful features that could help our neural networks)</a:t>
            </a:r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0" indent="0">
              <a:buNone/>
            </a:pPr>
            <a:r>
              <a:rPr lang="en-GB" dirty="0"/>
              <a:t>Guided Practice, solutions are provided (but no cheating!)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9615993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8CF67A5-1F0C-EAEC-7995-E3780C13C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Well, let us experiment then?</a:t>
            </a:r>
            <a:endParaRPr lang="en-SG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683C81D-902D-613B-21D2-7E9DA46F50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2076808"/>
          </a:xfrm>
        </p:spPr>
        <p:txBody>
          <a:bodyPr>
            <a:normAutofit/>
          </a:bodyPr>
          <a:lstStyle/>
          <a:p>
            <a:r>
              <a:rPr lang="en-GB" dirty="0"/>
              <a:t>Have a look at Notebook 8, it comes with three practice tasks.</a:t>
            </a:r>
            <a:br>
              <a:rPr lang="en-GB" dirty="0"/>
            </a:br>
            <a:r>
              <a:rPr lang="en-GB" dirty="0"/>
              <a:t>(Solutions are also available in the solutions folder).</a:t>
            </a:r>
          </a:p>
          <a:p>
            <a:r>
              <a:rPr lang="en-GB" dirty="0"/>
              <a:t>No homework again this week, so playing with this notebook is your homework!</a:t>
            </a:r>
          </a:p>
        </p:txBody>
      </p:sp>
    </p:spTree>
    <p:extLst>
      <p:ext uri="{BB962C8B-B14F-4D97-AF65-F5344CB8AC3E}">
        <p14:creationId xmlns:p14="http://schemas.microsoft.com/office/powerpoint/2010/main" val="18262022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6389E-18C5-A49B-CAB4-DD1350364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Lesson #1: Features engineering is king!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FA3726-DCDE-94BD-7BC4-92D971C098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general</a:t>
            </a:r>
            <a:r>
              <a:rPr lang="en-GB" b="1" dirty="0"/>
              <a:t>, feature engineering </a:t>
            </a:r>
            <a:r>
              <a:rPr lang="en-GB" dirty="0"/>
              <a:t>is the direction which offers the largest improvement potential for our models.</a:t>
            </a:r>
          </a:p>
          <a:p>
            <a:pPr marL="0" indent="0">
              <a:buNone/>
            </a:pPr>
            <a:r>
              <a:rPr lang="en-GB" dirty="0"/>
              <a:t>If you have a hunch about which features could help the network classify better, you should attempt some </a:t>
            </a:r>
            <a:r>
              <a:rPr lang="en-GB" b="1" dirty="0"/>
              <a:t>feature engineering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b="1" dirty="0"/>
              <a:t>Problem: </a:t>
            </a:r>
            <a:r>
              <a:rPr lang="en-GB" dirty="0"/>
              <a:t>it requires a strong mathematical intuition/domain expertise about the dataset!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BAB6766-52DB-8BF6-A95D-575DF203FDFB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4"/>
                <a:ext cx="5816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In Notebook 8, what helped was recognizing that the squared values of the inputs could help. This followed from seeing that the boundary looked like a </a:t>
                </a:r>
                <a:r>
                  <a:rPr lang="en-GB" b="1" dirty="0"/>
                  <a:t>circle</a:t>
                </a:r>
                <a:r>
                  <a:rPr lang="en-GB" dirty="0"/>
                  <a:t> and that </a:t>
                </a:r>
                <a:r>
                  <a:rPr lang="en-GB" b="1" dirty="0"/>
                  <a:t>circles equations </a:t>
                </a:r>
                <a:r>
                  <a:rPr lang="en-GB" dirty="0"/>
                  <a:t>are usually relying on </a:t>
                </a:r>
                <a:r>
                  <a:rPr lang="en-GB" b="1" dirty="0"/>
                  <a:t>squared values of the inputs</a:t>
                </a:r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br>
                  <a:rPr lang="en-GB" dirty="0"/>
                </a:br>
                <a:r>
                  <a:rPr lang="en-SG" dirty="0"/>
                  <a:t>Our boundary equation for the dataset was in fact an </a:t>
                </a:r>
                <a:r>
                  <a:rPr lang="en-SG" b="1" dirty="0"/>
                  <a:t>ellipse</a:t>
                </a:r>
                <a:r>
                  <a:rPr lang="en-SG" dirty="0"/>
                  <a:t> equation: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n-NO" i="1" dirty="0" smtClean="0">
                          <a:latin typeface="Cambria Math" panose="02040503050406030204" pitchFamily="18" charset="0"/>
                        </a:rPr>
                        <m:t>2</m:t>
                      </m:r>
                      <m:sSubSup>
                        <m:sSubSup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nn-NO" i="1" dirty="0" smtClean="0">
                          <a:latin typeface="Cambria Math" panose="02040503050406030204" pitchFamily="18" charset="0"/>
                        </a:rPr>
                        <m:t> + 3</m:t>
                      </m:r>
                      <m:sSubSup>
                        <m:sSubSup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nn-NO" i="1" dirty="0" smtClean="0">
                          <a:latin typeface="Cambria Math" panose="02040503050406030204" pitchFamily="18" charset="0"/>
                        </a:rPr>
                        <m:t> + 0.75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nn-NO" i="1" dirty="0" smtClean="0">
                          <a:latin typeface="Cambria Math" panose="02040503050406030204" pitchFamily="18" charset="0"/>
                        </a:rPr>
                        <m:t> + 0.25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SG" dirty="0"/>
              </a:p>
              <a:p>
                <a:pPr marL="0" indent="0">
                  <a:buNone/>
                </a:pPr>
                <a:endParaRPr lang="en-SG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BAB6766-52DB-8BF6-A95D-575DF203FD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4"/>
                <a:ext cx="5816600" cy="5032375"/>
              </a:xfrm>
              <a:blipFill>
                <a:blip r:embed="rId2"/>
                <a:stretch>
                  <a:fillRect l="-2201" t="-1937" r="-293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5198694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552EF-9E6D-0F6B-DB33-9ACDE4E59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Lesson #2: Larger layers vs. More layers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E11F79-FF9C-E1A0-6116-34642E5A15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The number of layers to use in a neural network can vary depending on the complexity of the task and the size of the data. It is a hyperparameter that can be tuned through experimentation.</a:t>
            </a:r>
          </a:p>
          <a:p>
            <a:r>
              <a:rPr lang="en-GB" b="1" dirty="0"/>
              <a:t>In general, deeper networks (more layers) can learn more complex representations, but they are also more computationally expensive and prone to overfitting.</a:t>
            </a:r>
          </a:p>
          <a:p>
            <a:r>
              <a:rPr lang="en-GB" b="1" dirty="0"/>
              <a:t>On the other hand, shallower networks are less expensive and less prone to overfitting, but they may not have enough capacity to learn the task.</a:t>
            </a:r>
          </a:p>
          <a:p>
            <a:pPr marL="0" indent="0">
              <a:buNone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43293040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552EF-9E6D-0F6B-DB33-9ACDE4E59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Lesson #2: Larger layers vs. More layers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E11F79-FF9C-E1A0-6116-34642E5A15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As far as I know, there is no rule of thumb formula for determining the number of layers to use based on the shape of a dataset.</a:t>
            </a:r>
          </a:p>
          <a:p>
            <a:pPr marL="0" indent="0">
              <a:buNone/>
            </a:pPr>
            <a:r>
              <a:rPr lang="en-GB" dirty="0"/>
              <a:t>The number of layers in a neural network model is determined by a variety of factors, including the complexity of the problem, the size of the input data, and the available computational resources.</a:t>
            </a:r>
          </a:p>
          <a:p>
            <a:pPr>
              <a:buFont typeface="+mj-lt"/>
              <a:buAutoNum type="arabicPeriod"/>
            </a:pPr>
            <a:r>
              <a:rPr lang="en-GB" dirty="0"/>
              <a:t> If the data is linearly separable then you do not need any hidden layers or activation functions, just use a linear regression! </a:t>
            </a:r>
          </a:p>
          <a:p>
            <a:pPr>
              <a:buFont typeface="+mj-lt"/>
              <a:buAutoNum type="arabicPeriod"/>
            </a:pPr>
            <a:r>
              <a:rPr lang="en-GB" dirty="0"/>
              <a:t> If data is low-complexity and has few dimensions/features, then 2 layers would often work, or are a good starting point.</a:t>
            </a:r>
          </a:p>
          <a:p>
            <a:pPr>
              <a:buFont typeface="+mj-lt"/>
              <a:buAutoNum type="arabicPeriod"/>
            </a:pPr>
            <a:r>
              <a:rPr lang="en-GB" dirty="0"/>
              <a:t> If data is high-complexity or has many dimensions/features, then using more hidden layers is required (ideal number to be tested). 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5009857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552EF-9E6D-0F6B-DB33-9ACDE4E59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Lesson #2: Larger layers vs. More layers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E11F79-FF9C-E1A0-6116-34642E5A15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However, “adding an extra layer to a model that is failing and already has many layers in the hopes that it will suddenly fix it” is often foolish and will have limited results.</a:t>
            </a:r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r>
              <a:rPr lang="en-GB" dirty="0"/>
              <a:t>You need enough layers to match the complexity of the task, anything beyond that is most likely overkill and will not help.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More often than not, you are NOT using the right </a:t>
            </a:r>
            <a:r>
              <a:rPr lang="en-GB" b="1" dirty="0"/>
              <a:t>TYPE</a:t>
            </a:r>
            <a:r>
              <a:rPr lang="en-GB" dirty="0"/>
              <a:t> of layers that fits the </a:t>
            </a:r>
            <a:r>
              <a:rPr lang="en-GB" b="1" dirty="0"/>
              <a:t>TYPE</a:t>
            </a:r>
            <a:r>
              <a:rPr lang="en-GB" dirty="0"/>
              <a:t> of data you are playing with (more on this later).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84885360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D2C4B-4A32-B0D1-BFCA-F538330CC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4882A-16AB-4C26-BC21-2F1C14987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Lesson #2: Larger layers vs. More layers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88B60D-E1FF-25F5-13D1-2B1117843C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However, “adding an extra layer to a model that is failing and already has many layers in the hopes that it will suddenly fix it” is often foolish and will have limited results.</a:t>
            </a:r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r>
              <a:rPr lang="en-GB" dirty="0"/>
              <a:t>You need enough layers to match the complexity of the task, anything beyond that is most likely overkill and will not help.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More often than not, you are NOT using the right </a:t>
            </a:r>
            <a:r>
              <a:rPr lang="en-GB" b="1" dirty="0"/>
              <a:t>TYPE</a:t>
            </a:r>
            <a:r>
              <a:rPr lang="en-GB" dirty="0"/>
              <a:t> of layers that fits the </a:t>
            </a:r>
            <a:r>
              <a:rPr lang="en-GB" b="1" dirty="0"/>
              <a:t>TYPE</a:t>
            </a:r>
            <a:r>
              <a:rPr lang="en-GB" dirty="0"/>
              <a:t> of data you are playing with (more on this later).</a:t>
            </a:r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0A3E21-3984-8C5A-965B-E30ADC13C2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08" t="51631" r="16253" b="18298"/>
          <a:stretch>
            <a:fillRect/>
          </a:stretch>
        </p:blipFill>
        <p:spPr>
          <a:xfrm>
            <a:off x="1334310" y="580434"/>
            <a:ext cx="9348282" cy="5444604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0A54348-A3B1-CD42-972B-BB53850DBD95}"/>
              </a:ext>
            </a:extLst>
          </p:cNvPr>
          <p:cNvSpPr txBox="1"/>
          <p:nvPr/>
        </p:nvSpPr>
        <p:spPr>
          <a:xfrm>
            <a:off x="1001949" y="6235430"/>
            <a:ext cx="102334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chemeClr val="accent2"/>
                </a:solidFill>
              </a:rPr>
              <a:t>In fact, adding more layers will likely lead to more overfitting!</a:t>
            </a:r>
          </a:p>
        </p:txBody>
      </p:sp>
    </p:spTree>
    <p:extLst>
      <p:ext uri="{BB962C8B-B14F-4D97-AF65-F5344CB8AC3E}">
        <p14:creationId xmlns:p14="http://schemas.microsoft.com/office/powerpoint/2010/main" val="353900173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552EF-9E6D-0F6B-DB33-9ACDE4E59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Lesson #2: Larger layers vs. More layers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E11F79-FF9C-E1A0-6116-34642E5A157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In fact, it is often </a:t>
                </a:r>
                <a:r>
                  <a:rPr lang="en-GB" b="1" dirty="0"/>
                  <a:t>more beneficial to add more neurons to a layer</a:t>
                </a:r>
                <a:r>
                  <a:rPr lang="en-GB" dirty="0"/>
                  <a:t> (as you might have seen in task #3). As far as I know, there is no “ideal” mathematical formula for the number of neurons to use in a layer.</a:t>
                </a:r>
              </a:p>
              <a:p>
                <a:pPr marL="0" indent="0">
                  <a:buNone/>
                </a:pPr>
                <a:r>
                  <a:rPr lang="en-GB" dirty="0"/>
                  <a:t>But some people ([</a:t>
                </a:r>
                <a:r>
                  <a:rPr lang="en-GB" dirty="0" err="1"/>
                  <a:t>StackNN</a:t>
                </a:r>
                <a:r>
                  <a:rPr lang="en-GB" dirty="0"/>
                  <a:t>]) have been experimenting.</a:t>
                </a:r>
              </a:p>
              <a:p>
                <a:pPr marL="0" indent="0">
                  <a:buNone/>
                </a:pPr>
                <a:r>
                  <a:rPr lang="en-GB" dirty="0"/>
                  <a:t>A good rule of thumb could be to have a number of neurons in the first layer,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GB" dirty="0"/>
                  <a:t>, such that:</a:t>
                </a:r>
                <a:br>
                  <a:rPr lang="en-GB" dirty="0"/>
                </a:b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d>
                            <m:d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</m:e>
                          </m:d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den>
                      </m:f>
                    </m:oMath>
                  </m:oMathPara>
                </a14:m>
                <a:br>
                  <a:rPr lang="en-GB" b="0" dirty="0"/>
                </a:br>
                <a:endParaRPr lang="en-GB" b="0" dirty="0"/>
              </a:p>
              <a:p>
                <a:pPr marL="0" indent="0">
                  <a:buNone/>
                </a:pPr>
                <a:br>
                  <a:rPr lang="en-GB" dirty="0"/>
                </a:br>
                <a:r>
                  <a:rPr lang="en-GB" dirty="0"/>
                  <a:t>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GB" dirty="0"/>
                  <a:t> the number of samples in dataset,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the number of inputs</a:t>
                </a:r>
                <a:br>
                  <a:rPr lang="en-GB" dirty="0"/>
                </a:br>
                <a:r>
                  <a:rPr lang="en-GB" dirty="0"/>
                  <a:t>(or inputs dimensionality),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GB" dirty="0"/>
                  <a:t> the outputs dimensionality and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GB" dirty="0"/>
                  <a:t> a value between 2 and 20.</a:t>
                </a:r>
              </a:p>
              <a:p>
                <a:endParaRPr lang="en-GB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E11F79-FF9C-E1A0-6116-34642E5A15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2663" r="-1275" b="-314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238072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552EF-9E6D-0F6B-DB33-9ACDE4E59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Lesson #2: Larger layers vs. More layers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E11F79-FF9C-E1A0-6116-34642E5A157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After the number of neurons for the first layer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GB" dirty="0"/>
                  <a:t> has been decided, it is often commonly accepted to have the number of neurons:</a:t>
                </a:r>
              </a:p>
              <a:p>
                <a:r>
                  <a:rPr lang="en-GB" b="1" dirty="0"/>
                  <a:t>Be a power of two (for binary reasons, except for inputs and outputs, where you should have what the dataset requires)</a:t>
                </a:r>
              </a:p>
              <a:p>
                <a:r>
                  <a:rPr lang="en-GB" b="1" dirty="0"/>
                  <a:t>And progressively decrease, for instance dividing by two (or more) the number of neurons after each layer.</a:t>
                </a:r>
              </a:p>
              <a:p>
                <a:pPr marL="0" indent="0">
                  <a:buNone/>
                </a:pPr>
                <a:endParaRPr lang="en-GB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GB" b="1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0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16</m:t>
                      </m:r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br>
                  <a:rPr lang="en-GB" dirty="0"/>
                </a:br>
                <a:endParaRPr lang="en-GB" dirty="0"/>
              </a:p>
              <a:p>
                <a:pPr marL="0" indent="0" algn="ctr">
                  <a:buNone/>
                </a:pPr>
                <a:br>
                  <a:rPr lang="en-GB" b="1" dirty="0">
                    <a:solidFill>
                      <a:srgbClr val="FF0000"/>
                    </a:solidFill>
                  </a:rPr>
                </a:br>
                <a:r>
                  <a:rPr lang="en-GB" b="1" dirty="0">
                    <a:solidFill>
                      <a:srgbClr val="FF0000"/>
                    </a:solidFill>
                  </a:rPr>
                  <a:t>These are not absolute rules (ever heard of NFL?), however, so go ahead and experiment!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E11F79-FF9C-E1A0-6116-34642E5A15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695" r="-1101" b="-60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314173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218DB6-D354-E336-2986-E32EFFEB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A friendly reminder, though,</a:t>
            </a:r>
            <a:br>
              <a:rPr lang="en-GB" dirty="0"/>
            </a:br>
            <a:r>
              <a:rPr lang="en-GB" dirty="0"/>
              <a:t>in case you still do not get it</a:t>
            </a: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CAA24B0-842E-AC7D-0C47-BE3473ABC0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1760" y="1877960"/>
            <a:ext cx="4988479" cy="4791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495857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08BA8-9DEC-4471-8590-434E8D8BB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 (Week 2)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E3549C-D723-41E6-8478-270ACE0436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257800" cy="5032375"/>
          </a:xfrm>
        </p:spPr>
        <p:txBody>
          <a:bodyPr>
            <a:normAutofit/>
          </a:bodyPr>
          <a:lstStyle/>
          <a:p>
            <a:r>
              <a:rPr lang="en-GB" dirty="0"/>
              <a:t>The no free lunch theorem, again</a:t>
            </a:r>
          </a:p>
          <a:p>
            <a:r>
              <a:rPr lang="en-GB" dirty="0"/>
              <a:t>Train-test-validation split</a:t>
            </a:r>
          </a:p>
          <a:p>
            <a:r>
              <a:rPr lang="en-GB" dirty="0"/>
              <a:t>Early stopping</a:t>
            </a:r>
          </a:p>
          <a:p>
            <a:r>
              <a:rPr lang="en-GB" dirty="0"/>
              <a:t>Saver and loader functions</a:t>
            </a:r>
          </a:p>
          <a:p>
            <a:r>
              <a:rPr lang="en-GB" dirty="0"/>
              <a:t>A few more commonly accepted good practices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420A50-DCDA-4FEF-986F-775F53063E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Next week?</a:t>
            </a:r>
            <a:endParaRPr lang="en-GB" dirty="0"/>
          </a:p>
          <a:p>
            <a:r>
              <a:rPr lang="en-GB" dirty="0"/>
              <a:t>Introduction to </a:t>
            </a:r>
            <a:r>
              <a:rPr lang="en-GB" dirty="0" err="1"/>
              <a:t>PyTorch</a:t>
            </a:r>
            <a:r>
              <a:rPr lang="en-GB" dirty="0"/>
              <a:t> framework and tensors</a:t>
            </a:r>
          </a:p>
          <a:p>
            <a:r>
              <a:rPr lang="en-GB" dirty="0"/>
              <a:t>Implementing shallow Neural Networks in </a:t>
            </a:r>
            <a:r>
              <a:rPr lang="en-GB" dirty="0" err="1"/>
              <a:t>PyTorch</a:t>
            </a:r>
            <a:endParaRPr lang="en-GB" dirty="0"/>
          </a:p>
          <a:p>
            <a:r>
              <a:rPr lang="en-GB" dirty="0"/>
              <a:t>The power of </a:t>
            </a:r>
            <a:r>
              <a:rPr lang="en-GB" dirty="0" err="1"/>
              <a:t>AutoGrad</a:t>
            </a:r>
            <a:r>
              <a:rPr lang="en-GB" dirty="0"/>
              <a:t> and CUDA processing</a:t>
            </a:r>
          </a:p>
          <a:p>
            <a:r>
              <a:rPr lang="en-GB" dirty="0"/>
              <a:t>Optimizers, initializers in </a:t>
            </a:r>
            <a:r>
              <a:rPr lang="en-GB" dirty="0" err="1"/>
              <a:t>PyTorch</a:t>
            </a:r>
            <a:endParaRPr lang="en-GB" dirty="0"/>
          </a:p>
          <a:p>
            <a:r>
              <a:rPr lang="en-GB" dirty="0"/>
              <a:t>Datasets and </a:t>
            </a:r>
            <a:r>
              <a:rPr lang="en-GB" dirty="0" err="1"/>
              <a:t>dataloaders</a:t>
            </a:r>
            <a:endParaRPr lang="en-GB" dirty="0"/>
          </a:p>
          <a:p>
            <a:r>
              <a:rPr lang="en-GB" dirty="0"/>
              <a:t>From shallow to deep NNs</a:t>
            </a:r>
          </a:p>
        </p:txBody>
      </p:sp>
    </p:spTree>
    <p:extLst>
      <p:ext uri="{BB962C8B-B14F-4D97-AF65-F5344CB8AC3E}">
        <p14:creationId xmlns:p14="http://schemas.microsoft.com/office/powerpoint/2010/main" val="103608141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7F0E842-4644-CF1E-50C0-F47AEFAA9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Hyperparameters tuning and searching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FE9C94-E2A2-3EF4-0E00-C6BD6C7A59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hyperparameters tuning and searching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dirty="0"/>
              <a:t>Earlier, we have identified that several parameters in our neural networks had to be manually decided by the user and called those </a:t>
            </a:r>
            <a:r>
              <a:rPr lang="en-GB" b="1" dirty="0">
                <a:solidFill>
                  <a:srgbClr val="00B050"/>
                </a:solidFill>
              </a:rPr>
              <a:t>hyperparameters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Unfortunately, the </a:t>
            </a:r>
            <a:r>
              <a:rPr lang="en-GB" b="1" dirty="0"/>
              <a:t>NFL theorem </a:t>
            </a:r>
            <a:r>
              <a:rPr lang="en-GB" dirty="0"/>
              <a:t>tells us there is often </a:t>
            </a:r>
            <a:r>
              <a:rPr lang="en-GB" b="1" dirty="0"/>
              <a:t>no closed-form formula</a:t>
            </a:r>
            <a:r>
              <a:rPr lang="en-GB" dirty="0"/>
              <a:t> to tell you what is the </a:t>
            </a:r>
            <a:r>
              <a:rPr lang="en-GB" b="1" dirty="0"/>
              <a:t>best value to use for those </a:t>
            </a:r>
            <a:r>
              <a:rPr lang="en-GB" b="1" dirty="0">
                <a:solidFill>
                  <a:srgbClr val="00B050"/>
                </a:solidFill>
              </a:rPr>
              <a:t>hyperparameters</a:t>
            </a:r>
            <a:r>
              <a:rPr lang="en-GB" dirty="0"/>
              <a:t>.</a:t>
            </a:r>
            <a:endParaRPr lang="en-SG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9136D8F-B9EF-6EE4-1C7D-9B7FF44C5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825624"/>
            <a:ext cx="5879123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Typical </a:t>
            </a:r>
            <a:r>
              <a:rPr lang="en-GB" b="1" dirty="0">
                <a:solidFill>
                  <a:srgbClr val="00B050"/>
                </a:solidFill>
              </a:rPr>
              <a:t>hyperparameters</a:t>
            </a:r>
            <a:r>
              <a:rPr lang="en-GB" dirty="0"/>
              <a:t> include:</a:t>
            </a:r>
          </a:p>
          <a:p>
            <a:r>
              <a:rPr lang="en-GB" dirty="0"/>
              <a:t>Number of layers and their sizes,</a:t>
            </a:r>
          </a:p>
          <a:p>
            <a:r>
              <a:rPr lang="en-GB" dirty="0"/>
              <a:t>Initializers to use for parameters,</a:t>
            </a:r>
          </a:p>
          <a:p>
            <a:r>
              <a:rPr lang="en-GB" dirty="0"/>
              <a:t>Activation functions to use,</a:t>
            </a:r>
          </a:p>
          <a:p>
            <a:r>
              <a:rPr lang="en-GB" dirty="0"/>
              <a:t>Learning rate, momentum and other parameters related to optimizers,</a:t>
            </a:r>
          </a:p>
          <a:p>
            <a:r>
              <a:rPr lang="en-GB" dirty="0"/>
              <a:t>Etc.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b="1" dirty="0"/>
              <a:t>No choice: </a:t>
            </a:r>
            <a:r>
              <a:rPr lang="en-GB" dirty="0"/>
              <a:t>try different values and possibilities. </a:t>
            </a:r>
            <a:r>
              <a:rPr lang="en-GB" b="1" dirty="0">
                <a:solidFill>
                  <a:srgbClr val="C00000"/>
                </a:solidFill>
              </a:rPr>
              <a:t>How to search?</a:t>
            </a:r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56795415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7F0E842-4644-CF1E-50C0-F47AEFAA9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Hyperparameters tuning and searching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FE9C94-E2A2-3EF4-0E00-C6BD6C7A59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hyperparameter grid searching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SG" b="1" dirty="0">
                <a:solidFill>
                  <a:srgbClr val="00B050"/>
                </a:solidFill>
              </a:rPr>
              <a:t>Grid</a:t>
            </a:r>
            <a:r>
              <a:rPr lang="en-SG" dirty="0"/>
              <a:t> </a:t>
            </a:r>
            <a:r>
              <a:rPr lang="en-SG" b="1" dirty="0">
                <a:solidFill>
                  <a:srgbClr val="00B050"/>
                </a:solidFill>
              </a:rPr>
              <a:t>search</a:t>
            </a:r>
            <a:r>
              <a:rPr lang="en-SG" dirty="0"/>
              <a:t> is </a:t>
            </a:r>
            <a:r>
              <a:rPr lang="en-SG" b="1" dirty="0"/>
              <a:t>the simplest algorithm for hyperparameter tuning</a:t>
            </a:r>
            <a:r>
              <a:rPr lang="en-SG" dirty="0"/>
              <a:t>.</a:t>
            </a:r>
          </a:p>
          <a:p>
            <a:pPr marL="0" indent="0">
              <a:buNone/>
            </a:pPr>
            <a:r>
              <a:rPr lang="en-SG" dirty="0"/>
              <a:t>Basically, we divide the domain of possible values for each of the hyperparameters into a discrete grid. Then, we will try every combination of values of this grid, calculating some performance metrics.</a:t>
            </a:r>
          </a:p>
        </p:txBody>
      </p:sp>
      <p:pic>
        <p:nvPicPr>
          <p:cNvPr id="5" name="Picture 4" descr="Chart, diagram&#10;&#10;Description automatically generated">
            <a:extLst>
              <a:ext uri="{FF2B5EF4-FFF2-40B4-BE49-F238E27FC236}">
                <a16:creationId xmlns:a16="http://schemas.microsoft.com/office/drawing/2014/main" id="{45E73179-634A-C030-DA64-295791FD5E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9561" y="2704123"/>
            <a:ext cx="5888715" cy="3360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546996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7F0E842-4644-CF1E-50C0-F47AEFAA9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Hyperparameters tuning and searching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FE9C94-E2A2-3EF4-0E00-C6BD6C7A59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hyperparameter random searching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SG" b="1" dirty="0">
                <a:solidFill>
                  <a:srgbClr val="00B050"/>
                </a:solidFill>
              </a:rPr>
              <a:t>Random</a:t>
            </a:r>
            <a:r>
              <a:rPr lang="en-SG" dirty="0"/>
              <a:t> </a:t>
            </a:r>
            <a:r>
              <a:rPr lang="en-SG" b="1" dirty="0">
                <a:solidFill>
                  <a:srgbClr val="00B050"/>
                </a:solidFill>
              </a:rPr>
              <a:t>search</a:t>
            </a:r>
            <a:r>
              <a:rPr lang="en-SG" dirty="0"/>
              <a:t> is </a:t>
            </a:r>
            <a:r>
              <a:rPr lang="en-SG" b="1" dirty="0"/>
              <a:t>another algorithm for hyperparameter tuning</a:t>
            </a:r>
            <a:r>
              <a:rPr lang="en-SG" dirty="0"/>
              <a:t>.</a:t>
            </a:r>
          </a:p>
          <a:p>
            <a:pPr marL="0" indent="0">
              <a:buNone/>
            </a:pPr>
            <a:r>
              <a:rPr lang="en-SG" b="1" dirty="0">
                <a:solidFill>
                  <a:srgbClr val="00B050"/>
                </a:solidFill>
              </a:rPr>
              <a:t>Random</a:t>
            </a:r>
            <a:r>
              <a:rPr lang="en-SG" dirty="0"/>
              <a:t> </a:t>
            </a:r>
            <a:r>
              <a:rPr lang="en-SG" b="1" dirty="0">
                <a:solidFill>
                  <a:srgbClr val="00B050"/>
                </a:solidFill>
              </a:rPr>
              <a:t>search</a:t>
            </a:r>
            <a:r>
              <a:rPr lang="en-SG" dirty="0"/>
              <a:t> defines a search space as a bounded domain of hyperparameter values and randomly sample points in that domain. After trying enough values, keep the best hyperparameters configuration.</a:t>
            </a:r>
          </a:p>
        </p:txBody>
      </p:sp>
      <p:pic>
        <p:nvPicPr>
          <p:cNvPr id="5" name="Picture 4" descr="Chart, diagram&#10;&#10;Description automatically generated">
            <a:extLst>
              <a:ext uri="{FF2B5EF4-FFF2-40B4-BE49-F238E27FC236}">
                <a16:creationId xmlns:a16="http://schemas.microsoft.com/office/drawing/2014/main" id="{45E73179-634A-C030-DA64-295791FD5E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9561" y="2704123"/>
            <a:ext cx="5888715" cy="3360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24227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7F0E842-4644-CF1E-50C0-F47AEFAA9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Hyperparameters tuning and searching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FE9C94-E2A2-3EF4-0E00-C6BD6C7A59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321361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general (see [</a:t>
            </a:r>
            <a:r>
              <a:rPr lang="en-GB" dirty="0" err="1"/>
              <a:t>HypSearch</a:t>
            </a:r>
            <a:r>
              <a:rPr lang="en-GB" dirty="0"/>
              <a:t>]),</a:t>
            </a:r>
          </a:p>
          <a:p>
            <a:r>
              <a:rPr lang="en-GB" dirty="0"/>
              <a:t>Grid search is often better on small spaces,</a:t>
            </a:r>
          </a:p>
          <a:p>
            <a:r>
              <a:rPr lang="en-GB" dirty="0"/>
              <a:t>Whereas random search is better on large domains but has no guarantee of returning a good configuration.</a:t>
            </a:r>
          </a:p>
          <a:p>
            <a:pPr marL="0" indent="0">
              <a:buNone/>
            </a:pPr>
            <a:r>
              <a:rPr lang="en-GB" dirty="0"/>
              <a:t>More advanced techniques beyond these two exist, such as Bayesian Optimization, Evolutionary Optimization, etc.</a:t>
            </a:r>
            <a:endParaRPr lang="en-SG" dirty="0"/>
          </a:p>
        </p:txBody>
      </p:sp>
      <p:pic>
        <p:nvPicPr>
          <p:cNvPr id="8" name="Picture 7" descr="Chart, diagram&#10;&#10;Description automatically generated">
            <a:extLst>
              <a:ext uri="{FF2B5EF4-FFF2-40B4-BE49-F238E27FC236}">
                <a16:creationId xmlns:a16="http://schemas.microsoft.com/office/drawing/2014/main" id="{B7A8B60F-E868-C711-153B-E2B86AEA1E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9561" y="2704123"/>
            <a:ext cx="5888715" cy="3360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813187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7F0E842-4644-CF1E-50C0-F47AEFAA9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Hyperparameters tuning and searching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2FE9C94-E2A2-3EF4-0E00-C6BD6C7A59F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Your objective should be to find </a:t>
                </a:r>
                <a:r>
                  <a:rPr lang="en-GB" b="1" dirty="0"/>
                  <a:t>the best values for all the hyperparameters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b="1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1" i="1" dirty="0" smtClean="0">
                            <a:latin typeface="Cambria Math" panose="02040503050406030204" pitchFamily="18" charset="0"/>
                          </a:rPr>
                          <m:t>𝑷</m:t>
                        </m:r>
                      </m:e>
                      <m:sup>
                        <m:r>
                          <a:rPr lang="en-GB" b="1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GB" b="1" dirty="0"/>
                  <a:t> </a:t>
                </a:r>
                <a:r>
                  <a:rPr lang="en-GB" dirty="0"/>
                  <a:t>to</a:t>
                </a:r>
                <a:r>
                  <a:rPr lang="en-GB" b="1" dirty="0"/>
                  <a:t> </a:t>
                </a:r>
                <a:r>
                  <a:rPr lang="en-GB" dirty="0"/>
                  <a:t>use</a:t>
                </a:r>
                <a:r>
                  <a:rPr lang="en-GB" b="1" dirty="0"/>
                  <a:t> </a:t>
                </a:r>
                <a:r>
                  <a:rPr lang="en-GB" dirty="0"/>
                  <a:t>in the model (learning rate, number of layers, number of neurons, regularization, etc.).</a:t>
                </a:r>
              </a:p>
              <a:p>
                <a:pPr marL="0" indent="0">
                  <a:buNone/>
                </a:pPr>
                <a:r>
                  <a:rPr lang="en-GB" dirty="0"/>
                  <a:t>Your objective should then be to obtain the best possible value for the </a:t>
                </a:r>
                <a:r>
                  <a:rPr lang="en-GB" b="1" dirty="0">
                    <a:solidFill>
                      <a:srgbClr val="0070C0"/>
                    </a:solidFill>
                  </a:rPr>
                  <a:t>validation</a:t>
                </a:r>
                <a:r>
                  <a:rPr lang="en-GB" dirty="0"/>
                  <a:t> loss/accuracy value for the model, after you have loaded the best values for the trainable parameters (as in Good Practice #4).</a:t>
                </a:r>
              </a:p>
              <a:p>
                <a:pPr marL="0" indent="0">
                  <a:buNone/>
                </a:pPr>
                <a:r>
                  <a:rPr lang="en-GB" dirty="0"/>
                  <a:t>The </a:t>
                </a:r>
                <a:r>
                  <a:rPr lang="en-GB" b="1" dirty="0">
                    <a:solidFill>
                      <a:srgbClr val="7030A0"/>
                    </a:solidFill>
                  </a:rPr>
                  <a:t>test</a:t>
                </a:r>
                <a:r>
                  <a:rPr lang="en-GB" dirty="0"/>
                  <a:t> loss/accuracy value is the one you can safely advertise to show </a:t>
                </a:r>
                <a:r>
                  <a:rPr lang="en-GB" b="1" dirty="0">
                    <a:solidFill>
                      <a:srgbClr val="C00000"/>
                    </a:solidFill>
                  </a:rPr>
                  <a:t>generalization</a:t>
                </a:r>
                <a:r>
                  <a:rPr lang="en-GB" dirty="0"/>
                  <a:t>, as the validation metrics have technically been used to adjust hyperparameters (which is considered part of training).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b="1" dirty="0">
                    <a:solidFill>
                      <a:srgbClr val="FF0000"/>
                    </a:solidFill>
                    <a:sym typeface="Wingdings" panose="05000000000000000000" pitchFamily="2" charset="2"/>
                  </a:rPr>
                  <a:t> A</a:t>
                </a:r>
                <a:r>
                  <a:rPr lang="en-GB" b="1" dirty="0">
                    <a:solidFill>
                      <a:srgbClr val="FF0000"/>
                    </a:solidFill>
                  </a:rPr>
                  <a:t>nother optimization problem on our hands to experiment with!</a:t>
                </a:r>
              </a:p>
              <a:p>
                <a:pPr marL="0" indent="0">
                  <a:buNone/>
                </a:pPr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2FE9C94-E2A2-3EF4-0E00-C6BD6C7A59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 r="-150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9310067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B9715-ECD1-470D-B523-53C9DD5C7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 more about these topics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D0CB248-82F3-414A-84E4-14EF63C7FB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Some extra (easy) reading and videos for those of you who are curious.</a:t>
            </a:r>
          </a:p>
          <a:p>
            <a:r>
              <a:rPr lang="en-US" dirty="0"/>
              <a:t>[</a:t>
            </a:r>
            <a:r>
              <a:rPr lang="en-US" dirty="0" err="1"/>
              <a:t>HypSearch</a:t>
            </a:r>
            <a:r>
              <a:rPr lang="en-US" dirty="0"/>
              <a:t>] </a:t>
            </a:r>
            <a:r>
              <a:rPr lang="en-GB" dirty="0"/>
              <a:t>How to run hyperparameters searching in Python, implementations using Scikit learn and more advanced methods.</a:t>
            </a:r>
            <a:br>
              <a:rPr lang="en-GB" dirty="0"/>
            </a:br>
            <a:r>
              <a:rPr lang="en-GB" dirty="0">
                <a:hlinkClick r:id="rId2"/>
              </a:rPr>
              <a:t>https://towardsdatascience.com/7-hyperparameter-optimization-techniques-every-data-scientist-should-know-12cdebe713da</a:t>
            </a:r>
            <a:br>
              <a:rPr lang="en-GB" dirty="0"/>
            </a:br>
            <a:r>
              <a:rPr lang="en-GB" dirty="0"/>
              <a:t>And</a:t>
            </a:r>
            <a:br>
              <a:rPr lang="en-GB" dirty="0"/>
            </a:br>
            <a:r>
              <a:rPr lang="en-US" dirty="0">
                <a:hlinkClick r:id="rId3"/>
              </a:rPr>
              <a:t>https://machinelearningmastery.com/hyperparameter-optimization-with-random-search-and-grid-search/</a:t>
            </a:r>
            <a:endParaRPr lang="en-US" dirty="0"/>
          </a:p>
          <a:p>
            <a:r>
              <a:rPr lang="en-GB" dirty="0"/>
              <a:t>[</a:t>
            </a:r>
            <a:r>
              <a:rPr lang="en-GB" dirty="0" err="1"/>
              <a:t>StackNN</a:t>
            </a:r>
            <a:r>
              <a:rPr lang="en-GB" dirty="0"/>
              <a:t>]</a:t>
            </a:r>
            <a:r>
              <a:rPr lang="en-US" dirty="0"/>
              <a:t> How to decide on a number of neurons and layers in Neural Networks?</a:t>
            </a:r>
            <a:br>
              <a:rPr lang="en-US" dirty="0"/>
            </a:br>
            <a:r>
              <a:rPr lang="en-US">
                <a:hlinkClick r:id="rId4"/>
              </a:rPr>
              <a:t>https://stats.stackexchange.com/questions/181/how-to-choose-the-number-of-hidden-layers-and-nodes-in-a-feedforward-neural-netw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93873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4070</TotalTime>
  <Words>5129</Words>
  <Application>Microsoft Office PowerPoint</Application>
  <PresentationFormat>Widescreen</PresentationFormat>
  <Paragraphs>351</Paragraphs>
  <Slides>65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71" baseType="lpstr">
      <vt:lpstr>Arial</vt:lpstr>
      <vt:lpstr>Calibri</vt:lpstr>
      <vt:lpstr>Calibri Light</vt:lpstr>
      <vt:lpstr>Cambria Math</vt:lpstr>
      <vt:lpstr>Wingdings</vt:lpstr>
      <vt:lpstr>Office Theme</vt:lpstr>
      <vt:lpstr>50.039 Theory and Practice of Deep Learning W2-S3 Neural Networks, Initializers, Optimizers and other Good Practices</vt:lpstr>
      <vt:lpstr>About this week (Week 2)</vt:lpstr>
      <vt:lpstr>About this week (Week 2)</vt:lpstr>
      <vt:lpstr>About this week (Week 2)</vt:lpstr>
      <vt:lpstr>Good Practice #1: Using additional performance metrics beyond loss</vt:lpstr>
      <vt:lpstr>Good Practice #1: Using additional performance metrics beyond loss</vt:lpstr>
      <vt:lpstr>Good Practice #1: Using additional performance metrics beyond loss</vt:lpstr>
      <vt:lpstr>Good Practice #1: Using additional performance metrics beyond loss</vt:lpstr>
      <vt:lpstr>Good Practice #1: Using additional performance metrics beyond loss</vt:lpstr>
      <vt:lpstr>Good Practice #1: Using additional performance metrics beyond loss</vt:lpstr>
      <vt:lpstr>Good Practice #1: Using additional performance metrics beyond loss</vt:lpstr>
      <vt:lpstr>Good Practice #1: Using additional performance metrics beyond loss</vt:lpstr>
      <vt:lpstr>Good Practice #1: Using additional performance metrics beyond loss</vt:lpstr>
      <vt:lpstr>Good Practice #2: Using a train-test-valid split</vt:lpstr>
      <vt:lpstr>Good Practice #2: Using a train-test-valid split</vt:lpstr>
      <vt:lpstr>Good Practice #2: Using a train-test-valid split</vt:lpstr>
      <vt:lpstr>Good Practice #2: Using a train-test-valid split</vt:lpstr>
      <vt:lpstr>Good Practice #2: Using a train-test-valid split</vt:lpstr>
      <vt:lpstr>Good Practice #2: Using a train-test-valid split</vt:lpstr>
      <vt:lpstr>Good Practice #2: Using a train-test-valid split</vt:lpstr>
      <vt:lpstr>Good Practice #2: Using a train-test-valid split</vt:lpstr>
      <vt:lpstr>Good Practice #2: Using a train-test-valid split</vt:lpstr>
      <vt:lpstr>Good Practice #2: Using a train-test-valid split</vt:lpstr>
      <vt:lpstr>Good Practice #2: Using a train-test-valid split</vt:lpstr>
      <vt:lpstr>Good Practice #2: Using a train-test-valid split</vt:lpstr>
      <vt:lpstr>Good Practice #2: Using a train-test-valid split</vt:lpstr>
      <vt:lpstr>Good Practice #2: Using a train-test-valid split</vt:lpstr>
      <vt:lpstr>Good Practice #2: Using a train-test-valid split</vt:lpstr>
      <vt:lpstr>Good Practice #2: Using a train-test-valid split</vt:lpstr>
      <vt:lpstr>Good Practice #2: Using a train-test-valid split</vt:lpstr>
      <vt:lpstr>Good Practice #2: Using a train-test-valid split</vt:lpstr>
      <vt:lpstr>Good Practice #2: Using a train-test-valid split</vt:lpstr>
      <vt:lpstr>Good Practice #2: Using a train-test-valid split</vt:lpstr>
      <vt:lpstr>Good Practice #3: Implementing an early stop</vt:lpstr>
      <vt:lpstr>Good Practice #3: Implementing an early stop</vt:lpstr>
      <vt:lpstr>Good Practice #3: Implementing an early stop</vt:lpstr>
      <vt:lpstr>Good Practice #4: Saver and loader functions</vt:lpstr>
      <vt:lpstr>Good Practice #4: Saver and loader functions</vt:lpstr>
      <vt:lpstr>Good Practice #4: Saver and loader functions</vt:lpstr>
      <vt:lpstr>Good Practice #4: Saver and loader functions</vt:lpstr>
      <vt:lpstr>Good Practice #4: Saver and loader functions</vt:lpstr>
      <vt:lpstr>Good Practice #4: Saver and loader functions</vt:lpstr>
      <vt:lpstr>Saver/loader functions are critical in AI</vt:lpstr>
      <vt:lpstr>Saver/loader functions are critical</vt:lpstr>
      <vt:lpstr>Typical questions about model architecture</vt:lpstr>
      <vt:lpstr>Typical questions about model architecture</vt:lpstr>
      <vt:lpstr>Problem statement</vt:lpstr>
      <vt:lpstr>Problem statement</vt:lpstr>
      <vt:lpstr>Problem statement</vt:lpstr>
      <vt:lpstr>Well, let us experiment then?</vt:lpstr>
      <vt:lpstr>Lesson #1: Features engineering is king!</vt:lpstr>
      <vt:lpstr>Lesson #2: Larger layers vs. More layers</vt:lpstr>
      <vt:lpstr>Lesson #2: Larger layers vs. More layers</vt:lpstr>
      <vt:lpstr>Lesson #2: Larger layers vs. More layers</vt:lpstr>
      <vt:lpstr>Lesson #2: Larger layers vs. More layers</vt:lpstr>
      <vt:lpstr>Lesson #2: Larger layers vs. More layers</vt:lpstr>
      <vt:lpstr>Lesson #2: Larger layers vs. More layers</vt:lpstr>
      <vt:lpstr>A friendly reminder, though, in case you still do not get it</vt:lpstr>
      <vt:lpstr>Conclusion (Week 2)</vt:lpstr>
      <vt:lpstr>Hyperparameters tuning and searching</vt:lpstr>
      <vt:lpstr>Hyperparameters tuning and searching</vt:lpstr>
      <vt:lpstr>Hyperparameters tuning and searching</vt:lpstr>
      <vt:lpstr>Hyperparameters tuning and searching</vt:lpstr>
      <vt:lpstr>Hyperparameters tuning and searching</vt:lpstr>
      <vt:lpstr>Learn more about these topics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50.039 Theory and Practice of Deep Learning W8 S1-2-3</dc:title>
  <dc:creator>Matthieu DE MARI</dc:creator>
  <cp:lastModifiedBy>Matthieu De Mari</cp:lastModifiedBy>
  <cp:revision>108</cp:revision>
  <dcterms:created xsi:type="dcterms:W3CDTF">2021-03-10T09:35:15Z</dcterms:created>
  <dcterms:modified xsi:type="dcterms:W3CDTF">2026-01-29T05:25:38Z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fde23a9-9a05-4714-826f-57380a17bd9d_Enabled">
    <vt:lpwstr>true</vt:lpwstr>
  </property>
  <property fmtid="{D5CDD505-2E9C-101B-9397-08002B2CF9AE}" pid="3" name="MSIP_Label_7fde23a9-9a05-4714-826f-57380a17bd9d_SetDate">
    <vt:lpwstr>2022-10-19T06:30:58Z</vt:lpwstr>
  </property>
  <property fmtid="{D5CDD505-2E9C-101B-9397-08002B2CF9AE}" pid="4" name="MSIP_Label_7fde23a9-9a05-4714-826f-57380a17bd9d_Method">
    <vt:lpwstr>Privileged</vt:lpwstr>
  </property>
  <property fmtid="{D5CDD505-2E9C-101B-9397-08002B2CF9AE}" pid="5" name="MSIP_Label_7fde23a9-9a05-4714-826f-57380a17bd9d_Name">
    <vt:lpwstr>Restricted</vt:lpwstr>
  </property>
  <property fmtid="{D5CDD505-2E9C-101B-9397-08002B2CF9AE}" pid="6" name="MSIP_Label_7fde23a9-9a05-4714-826f-57380a17bd9d_SiteId">
    <vt:lpwstr>3476b776-e990-4f72-b950-62489831623d</vt:lpwstr>
  </property>
  <property fmtid="{D5CDD505-2E9C-101B-9397-08002B2CF9AE}" pid="7" name="MSIP_Label_7fde23a9-9a05-4714-826f-57380a17bd9d_ActionId">
    <vt:lpwstr>0e56de01-4734-4bb5-8abe-0837a2dfdfb0</vt:lpwstr>
  </property>
  <property fmtid="{D5CDD505-2E9C-101B-9397-08002B2CF9AE}" pid="8" name="MSIP_Label_7fde23a9-9a05-4714-826f-57380a17bd9d_ContentBits">
    <vt:lpwstr>3</vt:lpwstr>
  </property>
  <property fmtid="{D5CDD505-2E9C-101B-9397-08002B2CF9AE}" pid="9" name="ClassificationContentMarkingFooterLocations">
    <vt:lpwstr>Office Theme:10</vt:lpwstr>
  </property>
  <property fmtid="{D5CDD505-2E9C-101B-9397-08002B2CF9AE}" pid="10" name="ClassificationContentMarkingFooterText">
    <vt:lpwstr>Restricted</vt:lpwstr>
  </property>
  <property fmtid="{D5CDD505-2E9C-101B-9397-08002B2CF9AE}" pid="11" name="ClassificationContentMarkingHeaderLocations">
    <vt:lpwstr>Office Theme:9</vt:lpwstr>
  </property>
  <property fmtid="{D5CDD505-2E9C-101B-9397-08002B2CF9AE}" pid="12" name="ClassificationContentMarkingHeaderText">
    <vt:lpwstr>Restricted</vt:lpwstr>
  </property>
</Properties>
</file>