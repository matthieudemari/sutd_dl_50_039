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7"/>
  </p:notesMasterIdLst>
  <p:sldIdLst>
    <p:sldId id="377" r:id="rId2"/>
    <p:sldId id="257" r:id="rId3"/>
    <p:sldId id="586" r:id="rId4"/>
    <p:sldId id="587" r:id="rId5"/>
    <p:sldId id="718" r:id="rId6"/>
    <p:sldId id="719" r:id="rId7"/>
    <p:sldId id="720" r:id="rId8"/>
    <p:sldId id="721" r:id="rId9"/>
    <p:sldId id="722" r:id="rId10"/>
    <p:sldId id="723" r:id="rId11"/>
    <p:sldId id="724" r:id="rId12"/>
    <p:sldId id="725" r:id="rId13"/>
    <p:sldId id="726" r:id="rId14"/>
    <p:sldId id="728" r:id="rId15"/>
    <p:sldId id="605" r:id="rId16"/>
    <p:sldId id="729" r:id="rId17"/>
    <p:sldId id="730" r:id="rId18"/>
    <p:sldId id="731" r:id="rId19"/>
    <p:sldId id="732" r:id="rId20"/>
    <p:sldId id="733" r:id="rId21"/>
    <p:sldId id="734" r:id="rId22"/>
    <p:sldId id="735" r:id="rId23"/>
    <p:sldId id="736" r:id="rId24"/>
    <p:sldId id="737" r:id="rId25"/>
    <p:sldId id="738" r:id="rId26"/>
    <p:sldId id="739" r:id="rId27"/>
    <p:sldId id="740" r:id="rId28"/>
    <p:sldId id="741" r:id="rId29"/>
    <p:sldId id="743" r:id="rId30"/>
    <p:sldId id="742" r:id="rId31"/>
    <p:sldId id="744" r:id="rId32"/>
    <p:sldId id="745" r:id="rId33"/>
    <p:sldId id="746" r:id="rId34"/>
    <p:sldId id="747" r:id="rId35"/>
    <p:sldId id="606" r:id="rId36"/>
    <p:sldId id="748" r:id="rId37"/>
    <p:sldId id="607" r:id="rId38"/>
    <p:sldId id="749" r:id="rId39"/>
    <p:sldId id="750" r:id="rId40"/>
    <p:sldId id="751" r:id="rId41"/>
    <p:sldId id="752" r:id="rId42"/>
    <p:sldId id="753" r:id="rId43"/>
    <p:sldId id="754" r:id="rId44"/>
    <p:sldId id="756" r:id="rId45"/>
    <p:sldId id="674" r:id="rId46"/>
    <p:sldId id="762" r:id="rId47"/>
    <p:sldId id="765" r:id="rId48"/>
    <p:sldId id="767" r:id="rId49"/>
    <p:sldId id="768" r:id="rId50"/>
    <p:sldId id="764" r:id="rId51"/>
    <p:sldId id="760" r:id="rId52"/>
    <p:sldId id="761" r:id="rId53"/>
    <p:sldId id="769" r:id="rId54"/>
    <p:sldId id="771" r:id="rId55"/>
    <p:sldId id="776" r:id="rId56"/>
    <p:sldId id="770" r:id="rId57"/>
    <p:sldId id="772" r:id="rId58"/>
    <p:sldId id="773" r:id="rId59"/>
    <p:sldId id="346" r:id="rId60"/>
    <p:sldId id="608" r:id="rId61"/>
    <p:sldId id="757" r:id="rId62"/>
    <p:sldId id="758" r:id="rId63"/>
    <p:sldId id="759" r:id="rId64"/>
    <p:sldId id="775" r:id="rId65"/>
    <p:sldId id="266" r:id="rId6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id="{D6D3CB8D-C5FE-4F85-97E1-008DE64A5D47}">
          <p14:sldIdLst>
            <p14:sldId id="377"/>
          </p14:sldIdLst>
        </p14:section>
        <p14:section name="I.1. Introduction" id="{2FD0FF71-F5FC-4EB7-B2CB-B31E4CBECD79}">
          <p14:sldIdLst>
            <p14:sldId id="257"/>
            <p14:sldId id="586"/>
            <p14:sldId id="587"/>
          </p14:sldIdLst>
        </p14:section>
        <p14:section name="VII.1. GP1: Using additional performance metrics beyond loss" id="{4D6161DC-301B-4E30-8495-B37D0CB5A812}">
          <p14:sldIdLst>
            <p14:sldId id="718"/>
            <p14:sldId id="719"/>
            <p14:sldId id="720"/>
            <p14:sldId id="721"/>
            <p14:sldId id="722"/>
            <p14:sldId id="723"/>
            <p14:sldId id="724"/>
            <p14:sldId id="725"/>
            <p14:sldId id="726"/>
          </p14:sldIdLst>
        </p14:section>
        <p14:section name="VII.2. GP2: Train-test-validation split" id="{3220CC68-F665-4E66-9217-9602DC36D835}">
          <p14:sldIdLst>
            <p14:sldId id="728"/>
            <p14:sldId id="605"/>
            <p14:sldId id="729"/>
            <p14:sldId id="730"/>
            <p14:sldId id="731"/>
            <p14:sldId id="732"/>
            <p14:sldId id="733"/>
            <p14:sldId id="734"/>
            <p14:sldId id="735"/>
            <p14:sldId id="736"/>
            <p14:sldId id="737"/>
            <p14:sldId id="738"/>
            <p14:sldId id="739"/>
            <p14:sldId id="740"/>
            <p14:sldId id="741"/>
            <p14:sldId id="743"/>
            <p14:sldId id="742"/>
            <p14:sldId id="744"/>
            <p14:sldId id="745"/>
            <p14:sldId id="746"/>
          </p14:sldIdLst>
        </p14:section>
        <p14:section name="VII.3. GP3: Early stopping for trainers" id="{2775C146-CC13-4E6F-A885-534CE1C67D76}">
          <p14:sldIdLst>
            <p14:sldId id="747"/>
            <p14:sldId id="606"/>
            <p14:sldId id="748"/>
          </p14:sldIdLst>
        </p14:section>
        <p14:section name="VII.4. GP4: Saver and loader functions" id="{C695EFD3-5A29-4D0A-AB2D-DC41C7A2FB1A}">
          <p14:sldIdLst>
            <p14:sldId id="607"/>
            <p14:sldId id="749"/>
            <p14:sldId id="750"/>
            <p14:sldId id="751"/>
            <p14:sldId id="752"/>
            <p14:sldId id="753"/>
            <p14:sldId id="754"/>
            <p14:sldId id="756"/>
          </p14:sldIdLst>
        </p14:section>
        <p14:section name="VII.4. What is best? More layers or more neurons?" id="{1A92015B-DA55-4FF7-AFBF-2B6C205FA1DA}">
          <p14:sldIdLst>
            <p14:sldId id="674"/>
            <p14:sldId id="762"/>
            <p14:sldId id="765"/>
            <p14:sldId id="767"/>
            <p14:sldId id="768"/>
            <p14:sldId id="764"/>
          </p14:sldIdLst>
        </p14:section>
        <p14:section name="Bonus - Notebook 8 Answers &amp; Discussion" id="{403B76AB-862D-4E93-BAED-89E1AA8752B9}">
          <p14:sldIdLst>
            <p14:sldId id="760"/>
            <p14:sldId id="761"/>
            <p14:sldId id="769"/>
            <p14:sldId id="771"/>
            <p14:sldId id="776"/>
            <p14:sldId id="770"/>
            <p14:sldId id="772"/>
            <p14:sldId id="773"/>
          </p14:sldIdLst>
        </p14:section>
        <p14:section name="Conclusion" id="{09807B6E-2B76-45C8-B103-96D5021B68A6}">
          <p14:sldIdLst>
            <p14:sldId id="346"/>
          </p14:sldIdLst>
        </p14:section>
        <p14:section name="Bonus - Hyperparameter searching" id="{9DF854B9-B1FF-4998-A2D8-9E9AEA42D2D4}">
          <p14:sldIdLst>
            <p14:sldId id="608"/>
            <p14:sldId id="757"/>
            <p14:sldId id="758"/>
            <p14:sldId id="759"/>
            <p14:sldId id="775"/>
          </p14:sldIdLst>
        </p14:section>
        <p14:section name="References and watchlist" id="{217B8593-1CA5-408D-B198-A5E6ACAB5948}">
          <p14:sldIdLst>
            <p14:sldId id="266"/>
          </p14:sldIdLst>
        </p14:section>
      </p14:sectionLst>
    </p:ex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6A446D52-C317-103A-D209-A6D1D99CFF7D}" name="Matthieu De Mari" initials="MDM" userId="Matthieu De Mari" providerId="None"/>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A3F50A2-5D2C-466A-A7D7-3F7D6D5BF773}" v="51" dt="2026-01-16T05:39:55.75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6292" autoAdjust="0"/>
  </p:normalViewPr>
  <p:slideViewPr>
    <p:cSldViewPr snapToGrid="0">
      <p:cViewPr varScale="1">
        <p:scale>
          <a:sx n="114" d="100"/>
          <a:sy n="114" d="100"/>
        </p:scale>
        <p:origin x="438" y="31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microsoft.com/office/2018/10/relationships/authors" Target="author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72" Type="http://schemas.microsoft.com/office/2016/11/relationships/changesInfo" Target="changesInfos/changesInfo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71"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atthieu De Mari" userId="dfb708c9-d8dc-439f-9a3b-c772bf4a311c" providerId="ADAL" clId="{81E9B007-0C2C-493E-9B93-55A62C9C1F12}"/>
    <pc:docChg chg="custSel addSld modSld">
      <pc:chgData name="Matthieu De Mari" userId="dfb708c9-d8dc-439f-9a3b-c772bf4a311c" providerId="ADAL" clId="{81E9B007-0C2C-493E-9B93-55A62C9C1F12}" dt="2026-01-16T05:40:34.787" v="938" actId="20577"/>
      <pc:docMkLst>
        <pc:docMk/>
      </pc:docMkLst>
      <pc:sldChg chg="modSp mod">
        <pc:chgData name="Matthieu De Mari" userId="dfb708c9-d8dc-439f-9a3b-c772bf4a311c" providerId="ADAL" clId="{81E9B007-0C2C-493E-9B93-55A62C9C1F12}" dt="2026-01-16T05:39:35.522" v="923" actId="20577"/>
        <pc:sldMkLst>
          <pc:docMk/>
          <pc:sldMk cId="931835860" sldId="607"/>
        </pc:sldMkLst>
        <pc:spChg chg="mod">
          <ac:chgData name="Matthieu De Mari" userId="dfb708c9-d8dc-439f-9a3b-c772bf4a311c" providerId="ADAL" clId="{81E9B007-0C2C-493E-9B93-55A62C9C1F12}" dt="2026-01-16T05:39:35.522" v="923" actId="20577"/>
          <ac:spMkLst>
            <pc:docMk/>
            <pc:sldMk cId="931835860" sldId="607"/>
            <ac:spMk id="3" creationId="{CE89A62E-0A02-E5E6-C125-17199041EEA2}"/>
          </ac:spMkLst>
        </pc:spChg>
      </pc:sldChg>
      <pc:sldChg chg="addSp modSp mod">
        <pc:chgData name="Matthieu De Mari" userId="dfb708c9-d8dc-439f-9a3b-c772bf4a311c" providerId="ADAL" clId="{81E9B007-0C2C-493E-9B93-55A62C9C1F12}" dt="2026-01-16T05:37:34.088" v="843" actId="20577"/>
        <pc:sldMkLst>
          <pc:docMk/>
          <pc:sldMk cId="3224935516" sldId="732"/>
        </pc:sldMkLst>
        <pc:spChg chg="mod">
          <ac:chgData name="Matthieu De Mari" userId="dfb708c9-d8dc-439f-9a3b-c772bf4a311c" providerId="ADAL" clId="{81E9B007-0C2C-493E-9B93-55A62C9C1F12}" dt="2026-01-16T05:30:53.344" v="96" actId="14100"/>
          <ac:spMkLst>
            <pc:docMk/>
            <pc:sldMk cId="3224935516" sldId="732"/>
            <ac:spMk id="3" creationId="{0F53CA20-FD68-BCFD-A748-1DE206D1241E}"/>
          </ac:spMkLst>
        </pc:spChg>
        <pc:graphicFrameChg chg="add mod modGraphic">
          <ac:chgData name="Matthieu De Mari" userId="dfb708c9-d8dc-439f-9a3b-c772bf4a311c" providerId="ADAL" clId="{81E9B007-0C2C-493E-9B93-55A62C9C1F12}" dt="2026-01-16T05:37:34.088" v="843" actId="20577"/>
          <ac:graphicFrameMkLst>
            <pc:docMk/>
            <pc:sldMk cId="3224935516" sldId="732"/>
            <ac:graphicFrameMk id="4" creationId="{56947B2B-4CB9-C15C-1A97-6A95864662B3}"/>
          </ac:graphicFrameMkLst>
        </pc:graphicFrameChg>
      </pc:sldChg>
      <pc:sldChg chg="modSp mod">
        <pc:chgData name="Matthieu De Mari" userId="dfb708c9-d8dc-439f-9a3b-c772bf4a311c" providerId="ADAL" clId="{81E9B007-0C2C-493E-9B93-55A62C9C1F12}" dt="2026-01-16T05:37:43.748" v="844" actId="113"/>
        <pc:sldMkLst>
          <pc:docMk/>
          <pc:sldMk cId="902592151" sldId="734"/>
        </pc:sldMkLst>
        <pc:spChg chg="mod">
          <ac:chgData name="Matthieu De Mari" userId="dfb708c9-d8dc-439f-9a3b-c772bf4a311c" providerId="ADAL" clId="{81E9B007-0C2C-493E-9B93-55A62C9C1F12}" dt="2026-01-16T05:37:43.748" v="844" actId="113"/>
          <ac:spMkLst>
            <pc:docMk/>
            <pc:sldMk cId="902592151" sldId="734"/>
            <ac:spMk id="3" creationId="{0F53CA20-FD68-BCFD-A748-1DE206D1241E}"/>
          </ac:spMkLst>
        </pc:spChg>
      </pc:sldChg>
      <pc:sldChg chg="modSp mod">
        <pc:chgData name="Matthieu De Mari" userId="dfb708c9-d8dc-439f-9a3b-c772bf4a311c" providerId="ADAL" clId="{81E9B007-0C2C-493E-9B93-55A62C9C1F12}" dt="2026-01-16T05:39:02.396" v="877" actId="5793"/>
        <pc:sldMkLst>
          <pc:docMk/>
          <pc:sldMk cId="3978526987" sldId="748"/>
        </pc:sldMkLst>
        <pc:spChg chg="mod">
          <ac:chgData name="Matthieu De Mari" userId="dfb708c9-d8dc-439f-9a3b-c772bf4a311c" providerId="ADAL" clId="{81E9B007-0C2C-493E-9B93-55A62C9C1F12}" dt="2026-01-16T05:39:02.396" v="877" actId="5793"/>
          <ac:spMkLst>
            <pc:docMk/>
            <pc:sldMk cId="3978526987" sldId="748"/>
            <ac:spMk id="5" creationId="{4DE7EC8E-262A-539E-A4A9-D3B1A09420A4}"/>
          </ac:spMkLst>
        </pc:spChg>
      </pc:sldChg>
      <pc:sldChg chg="modSp">
        <pc:chgData name="Matthieu De Mari" userId="dfb708c9-d8dc-439f-9a3b-c772bf4a311c" providerId="ADAL" clId="{81E9B007-0C2C-493E-9B93-55A62C9C1F12}" dt="2026-01-16T05:39:49.017" v="924"/>
        <pc:sldMkLst>
          <pc:docMk/>
          <pc:sldMk cId="2316732268" sldId="749"/>
        </pc:sldMkLst>
        <pc:spChg chg="mod">
          <ac:chgData name="Matthieu De Mari" userId="dfb708c9-d8dc-439f-9a3b-c772bf4a311c" providerId="ADAL" clId="{81E9B007-0C2C-493E-9B93-55A62C9C1F12}" dt="2026-01-16T05:39:49.017" v="924"/>
          <ac:spMkLst>
            <pc:docMk/>
            <pc:sldMk cId="2316732268" sldId="749"/>
            <ac:spMk id="3" creationId="{CE89A62E-0A02-E5E6-C125-17199041EEA2}"/>
          </ac:spMkLst>
        </pc:spChg>
      </pc:sldChg>
      <pc:sldChg chg="modSp">
        <pc:chgData name="Matthieu De Mari" userId="dfb708c9-d8dc-439f-9a3b-c772bf4a311c" providerId="ADAL" clId="{81E9B007-0C2C-493E-9B93-55A62C9C1F12}" dt="2026-01-16T05:39:52.490" v="925"/>
        <pc:sldMkLst>
          <pc:docMk/>
          <pc:sldMk cId="3379194796" sldId="750"/>
        </pc:sldMkLst>
        <pc:spChg chg="mod">
          <ac:chgData name="Matthieu De Mari" userId="dfb708c9-d8dc-439f-9a3b-c772bf4a311c" providerId="ADAL" clId="{81E9B007-0C2C-493E-9B93-55A62C9C1F12}" dt="2026-01-16T05:39:52.490" v="925"/>
          <ac:spMkLst>
            <pc:docMk/>
            <pc:sldMk cId="3379194796" sldId="750"/>
            <ac:spMk id="3" creationId="{CE89A62E-0A02-E5E6-C125-17199041EEA2}"/>
          </ac:spMkLst>
        </pc:spChg>
      </pc:sldChg>
      <pc:sldChg chg="modSp">
        <pc:chgData name="Matthieu De Mari" userId="dfb708c9-d8dc-439f-9a3b-c772bf4a311c" providerId="ADAL" clId="{81E9B007-0C2C-493E-9B93-55A62C9C1F12}" dt="2026-01-16T05:39:55.755" v="926"/>
        <pc:sldMkLst>
          <pc:docMk/>
          <pc:sldMk cId="2249021927" sldId="751"/>
        </pc:sldMkLst>
        <pc:spChg chg="mod">
          <ac:chgData name="Matthieu De Mari" userId="dfb708c9-d8dc-439f-9a3b-c772bf4a311c" providerId="ADAL" clId="{81E9B007-0C2C-493E-9B93-55A62C9C1F12}" dt="2026-01-16T05:39:55.755" v="926"/>
          <ac:spMkLst>
            <pc:docMk/>
            <pc:sldMk cId="2249021927" sldId="751"/>
            <ac:spMk id="3" creationId="{CE89A62E-0A02-E5E6-C125-17199041EEA2}"/>
          </ac:spMkLst>
        </pc:spChg>
      </pc:sldChg>
      <pc:sldChg chg="modSp mod">
        <pc:chgData name="Matthieu De Mari" userId="dfb708c9-d8dc-439f-9a3b-c772bf4a311c" providerId="ADAL" clId="{81E9B007-0C2C-493E-9B93-55A62C9C1F12}" dt="2026-01-16T05:40:11.901" v="928" actId="20577"/>
        <pc:sldMkLst>
          <pc:docMk/>
          <pc:sldMk cId="97298847" sldId="753"/>
        </pc:sldMkLst>
        <pc:spChg chg="mod">
          <ac:chgData name="Matthieu De Mari" userId="dfb708c9-d8dc-439f-9a3b-c772bf4a311c" providerId="ADAL" clId="{81E9B007-0C2C-493E-9B93-55A62C9C1F12}" dt="2026-01-16T05:40:11.901" v="928" actId="20577"/>
          <ac:spMkLst>
            <pc:docMk/>
            <pc:sldMk cId="97298847" sldId="753"/>
            <ac:spMk id="2" creationId="{D97C42B4-E207-C9EA-4CC3-5FE526AF0594}"/>
          </ac:spMkLst>
        </pc:spChg>
      </pc:sldChg>
      <pc:sldChg chg="modSp mod">
        <pc:chgData name="Matthieu De Mari" userId="dfb708c9-d8dc-439f-9a3b-c772bf4a311c" providerId="ADAL" clId="{81E9B007-0C2C-493E-9B93-55A62C9C1F12}" dt="2026-01-16T05:40:34.787" v="938" actId="20577"/>
        <pc:sldMkLst>
          <pc:docMk/>
          <pc:sldMk cId="1700831633" sldId="754"/>
        </pc:sldMkLst>
        <pc:spChg chg="mod">
          <ac:chgData name="Matthieu De Mari" userId="dfb708c9-d8dc-439f-9a3b-c772bf4a311c" providerId="ADAL" clId="{81E9B007-0C2C-493E-9B93-55A62C9C1F12}" dt="2026-01-16T05:40:34.787" v="938" actId="20577"/>
          <ac:spMkLst>
            <pc:docMk/>
            <pc:sldMk cId="1700831633" sldId="754"/>
            <ac:spMk id="3" creationId="{CE89A62E-0A02-E5E6-C125-17199041EEA2}"/>
          </ac:spMkLst>
        </pc:spChg>
      </pc:sldChg>
      <pc:sldChg chg="modSp mod">
        <pc:chgData name="Matthieu De Mari" userId="dfb708c9-d8dc-439f-9a3b-c772bf4a311c" providerId="ADAL" clId="{81E9B007-0C2C-493E-9B93-55A62C9C1F12}" dt="2025-12-18T22:15:38.489" v="95" actId="207"/>
        <pc:sldMkLst>
          <pc:docMk/>
          <pc:sldMk cId="3293100675" sldId="775"/>
        </pc:sldMkLst>
        <pc:spChg chg="mod">
          <ac:chgData name="Matthieu De Mari" userId="dfb708c9-d8dc-439f-9a3b-c772bf4a311c" providerId="ADAL" clId="{81E9B007-0C2C-493E-9B93-55A62C9C1F12}" dt="2025-12-18T22:15:38.489" v="95" actId="207"/>
          <ac:spMkLst>
            <pc:docMk/>
            <pc:sldMk cId="3293100675" sldId="775"/>
            <ac:spMk id="3" creationId="{22FE9C94-E2A2-3EF4-0E00-C6BD6C7A59F7}"/>
          </ac:spMkLst>
        </pc:spChg>
      </pc:sldChg>
      <pc:sldChg chg="addSp modSp add mod">
        <pc:chgData name="Matthieu De Mari" userId="dfb708c9-d8dc-439f-9a3b-c772bf4a311c" providerId="ADAL" clId="{81E9B007-0C2C-493E-9B93-55A62C9C1F12}" dt="2025-12-18T22:15:13.077" v="94" actId="14100"/>
        <pc:sldMkLst>
          <pc:docMk/>
          <pc:sldMk cId="3539001733" sldId="776"/>
        </pc:sldMkLst>
        <pc:spChg chg="add mod">
          <ac:chgData name="Matthieu De Mari" userId="dfb708c9-d8dc-439f-9a3b-c772bf4a311c" providerId="ADAL" clId="{81E9B007-0C2C-493E-9B93-55A62C9C1F12}" dt="2025-12-18T22:15:13.077" v="94" actId="14100"/>
          <ac:spMkLst>
            <pc:docMk/>
            <pc:sldMk cId="3539001733" sldId="776"/>
            <ac:spMk id="6" creationId="{70A54348-A3B1-CD42-972B-BB53850DBD95}"/>
          </ac:spMkLst>
        </pc:spChg>
        <pc:picChg chg="add mod modCrop">
          <ac:chgData name="Matthieu De Mari" userId="dfb708c9-d8dc-439f-9a3b-c772bf4a311c" providerId="ADAL" clId="{81E9B007-0C2C-493E-9B93-55A62C9C1F12}" dt="2025-12-18T22:14:38.764" v="13" actId="1076"/>
          <ac:picMkLst>
            <pc:docMk/>
            <pc:sldMk cId="3539001733" sldId="776"/>
            <ac:picMk id="5" creationId="{FE0A3E21-3984-8C5A-965B-E30ADC13C25B}"/>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1478373-EB31-4867-8CF0-FA31364748A5}" type="datetimeFigureOut">
              <a:rPr lang="en-GB" smtClean="0"/>
              <a:t>16/01/2026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14DF365-F842-4E76-AC24-5BC5382A0823}" type="slidenum">
              <a:rPr lang="en-GB" smtClean="0"/>
              <a:t>‹#›</a:t>
            </a:fld>
            <a:endParaRPr lang="en-GB"/>
          </a:p>
        </p:txBody>
      </p:sp>
    </p:spTree>
    <p:extLst>
      <p:ext uri="{BB962C8B-B14F-4D97-AF65-F5344CB8AC3E}">
        <p14:creationId xmlns:p14="http://schemas.microsoft.com/office/powerpoint/2010/main" val="418281265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14DF365-F842-4E76-AC24-5BC5382A0823}" type="slidenum">
              <a:rPr lang="en-GB" smtClean="0"/>
              <a:t>20</a:t>
            </a:fld>
            <a:endParaRPr lang="en-GB"/>
          </a:p>
        </p:txBody>
      </p:sp>
    </p:spTree>
    <p:extLst>
      <p:ext uri="{BB962C8B-B14F-4D97-AF65-F5344CB8AC3E}">
        <p14:creationId xmlns:p14="http://schemas.microsoft.com/office/powerpoint/2010/main" val="254881710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3E4AD2-5DFB-40B9-9046-538F457C2D4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9189AB4D-C9BD-4804-BAD4-30ABC21BBF4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DFC16BA0-299B-403D-BF6F-22CAD5861D93}"/>
              </a:ext>
            </a:extLst>
          </p:cNvPr>
          <p:cNvSpPr>
            <a:spLocks noGrp="1"/>
          </p:cNvSpPr>
          <p:nvPr>
            <p:ph type="dt" sz="half" idx="10"/>
          </p:nvPr>
        </p:nvSpPr>
        <p:spPr/>
        <p:txBody>
          <a:bodyPr/>
          <a:lstStyle/>
          <a:p>
            <a:fld id="{E85DF616-B21E-4EF6-A6A5-95E2FB3EB1A1}" type="datetimeFigureOut">
              <a:rPr lang="en-GB" smtClean="0"/>
              <a:t>16/01/2026</a:t>
            </a:fld>
            <a:endParaRPr lang="en-GB"/>
          </a:p>
        </p:txBody>
      </p:sp>
      <p:sp>
        <p:nvSpPr>
          <p:cNvPr id="5" name="Footer Placeholder 4">
            <a:extLst>
              <a:ext uri="{FF2B5EF4-FFF2-40B4-BE49-F238E27FC236}">
                <a16:creationId xmlns:a16="http://schemas.microsoft.com/office/drawing/2014/main" id="{5492CE3F-0F08-4DF3-A557-685AC26F7187}"/>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8FDB7FD2-E7A4-40C9-9DA4-170335047761}"/>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97660711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C9B31A-FA50-4DA2-9315-474283DEB0F0}"/>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B9F3FCD2-8B77-4AF4-8080-624AD9E7F85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311587F-CECC-48E1-9033-F49992081389}"/>
              </a:ext>
            </a:extLst>
          </p:cNvPr>
          <p:cNvSpPr>
            <a:spLocks noGrp="1"/>
          </p:cNvSpPr>
          <p:nvPr>
            <p:ph type="dt" sz="half" idx="10"/>
          </p:nvPr>
        </p:nvSpPr>
        <p:spPr/>
        <p:txBody>
          <a:bodyPr/>
          <a:lstStyle/>
          <a:p>
            <a:fld id="{E85DF616-B21E-4EF6-A6A5-95E2FB3EB1A1}" type="datetimeFigureOut">
              <a:rPr lang="en-GB" smtClean="0"/>
              <a:t>16/01/2026</a:t>
            </a:fld>
            <a:endParaRPr lang="en-GB"/>
          </a:p>
        </p:txBody>
      </p:sp>
      <p:sp>
        <p:nvSpPr>
          <p:cNvPr id="5" name="Footer Placeholder 4">
            <a:extLst>
              <a:ext uri="{FF2B5EF4-FFF2-40B4-BE49-F238E27FC236}">
                <a16:creationId xmlns:a16="http://schemas.microsoft.com/office/drawing/2014/main" id="{5ADBEDBB-8F3E-4349-BF02-8BA4BFA4A1BE}"/>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E2049832-CE42-4D03-89CE-BF86C2288335}"/>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81704103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B741B7-69A0-4F98-A4F1-934086E8E6D3}"/>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76C4F2BF-824A-433E-A1B8-AA04DCB3EA9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0003A02-257B-42F0-BF28-1777F5C487A2}"/>
              </a:ext>
            </a:extLst>
          </p:cNvPr>
          <p:cNvSpPr>
            <a:spLocks noGrp="1"/>
          </p:cNvSpPr>
          <p:nvPr>
            <p:ph type="dt" sz="half" idx="10"/>
          </p:nvPr>
        </p:nvSpPr>
        <p:spPr/>
        <p:txBody>
          <a:bodyPr/>
          <a:lstStyle/>
          <a:p>
            <a:fld id="{E85DF616-B21E-4EF6-A6A5-95E2FB3EB1A1}" type="datetimeFigureOut">
              <a:rPr lang="en-GB" smtClean="0"/>
              <a:t>16/01/2026</a:t>
            </a:fld>
            <a:endParaRPr lang="en-GB"/>
          </a:p>
        </p:txBody>
      </p:sp>
      <p:sp>
        <p:nvSpPr>
          <p:cNvPr id="5" name="Footer Placeholder 4">
            <a:extLst>
              <a:ext uri="{FF2B5EF4-FFF2-40B4-BE49-F238E27FC236}">
                <a16:creationId xmlns:a16="http://schemas.microsoft.com/office/drawing/2014/main" id="{191A73EA-09DC-41D8-B62F-461F73837CD0}"/>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150A76A-6E9C-414F-B980-FF95D8BC4032}"/>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408184081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7D12A8-E7BA-4E8E-9357-A40BF427BFE1}"/>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23FB368D-1AC8-401B-8D15-AB5F2DF52BEE}"/>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22B54FE0-C058-43CC-8FAE-A8FF7FC43F8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A6EDAEE-3329-419E-908B-25F1A6C11B64}"/>
              </a:ext>
            </a:extLst>
          </p:cNvPr>
          <p:cNvSpPr>
            <a:spLocks noGrp="1"/>
          </p:cNvSpPr>
          <p:nvPr>
            <p:ph type="dt" sz="half" idx="10"/>
          </p:nvPr>
        </p:nvSpPr>
        <p:spPr/>
        <p:txBody>
          <a:bodyPr/>
          <a:lstStyle/>
          <a:p>
            <a:fld id="{E85DF616-B21E-4EF6-A6A5-95E2FB3EB1A1}" type="datetimeFigureOut">
              <a:rPr lang="en-GB" smtClean="0"/>
              <a:t>16/01/2026</a:t>
            </a:fld>
            <a:endParaRPr lang="en-GB"/>
          </a:p>
        </p:txBody>
      </p:sp>
      <p:sp>
        <p:nvSpPr>
          <p:cNvPr id="6" name="Footer Placeholder 5">
            <a:extLst>
              <a:ext uri="{FF2B5EF4-FFF2-40B4-BE49-F238E27FC236}">
                <a16:creationId xmlns:a16="http://schemas.microsoft.com/office/drawing/2014/main" id="{DFBF37E1-EFD9-4926-903C-A8F3F36F6D66}"/>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831BFE49-D09A-40E3-8D45-D54CF1403B5D}"/>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92178148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A06ACB-47EB-4233-8485-0DBCD4792BCA}"/>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4A51BCCC-D7D1-44A6-85A4-5F35671D803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F24D018-9C08-4325-8DE0-27765125B3D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1B054B92-6EF5-4DC3-8819-3BB914D088E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29DEE04-4503-4C98-A54E-5B4414DE449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8E682F25-2B9E-401E-842E-29906523234B}"/>
              </a:ext>
            </a:extLst>
          </p:cNvPr>
          <p:cNvSpPr>
            <a:spLocks noGrp="1"/>
          </p:cNvSpPr>
          <p:nvPr>
            <p:ph type="dt" sz="half" idx="10"/>
          </p:nvPr>
        </p:nvSpPr>
        <p:spPr/>
        <p:txBody>
          <a:bodyPr/>
          <a:lstStyle/>
          <a:p>
            <a:fld id="{E85DF616-B21E-4EF6-A6A5-95E2FB3EB1A1}" type="datetimeFigureOut">
              <a:rPr lang="en-GB" smtClean="0"/>
              <a:t>16/01/2026</a:t>
            </a:fld>
            <a:endParaRPr lang="en-GB"/>
          </a:p>
        </p:txBody>
      </p:sp>
      <p:sp>
        <p:nvSpPr>
          <p:cNvPr id="8" name="Footer Placeholder 7">
            <a:extLst>
              <a:ext uri="{FF2B5EF4-FFF2-40B4-BE49-F238E27FC236}">
                <a16:creationId xmlns:a16="http://schemas.microsoft.com/office/drawing/2014/main" id="{E7C4412F-03BB-4180-96FC-5FFE79C5FE4C}"/>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F3D4B694-771E-4D77-A094-AE6844AC4BE9}"/>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235776337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84B0B5-CEFD-42FE-80F6-946D187926B0}"/>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62338384-0D5D-4181-9005-8843908CF6AD}"/>
              </a:ext>
            </a:extLst>
          </p:cNvPr>
          <p:cNvSpPr>
            <a:spLocks noGrp="1"/>
          </p:cNvSpPr>
          <p:nvPr>
            <p:ph type="dt" sz="half" idx="10"/>
          </p:nvPr>
        </p:nvSpPr>
        <p:spPr/>
        <p:txBody>
          <a:bodyPr/>
          <a:lstStyle/>
          <a:p>
            <a:fld id="{E85DF616-B21E-4EF6-A6A5-95E2FB3EB1A1}" type="datetimeFigureOut">
              <a:rPr lang="en-GB" smtClean="0"/>
              <a:t>16/01/2026</a:t>
            </a:fld>
            <a:endParaRPr lang="en-GB"/>
          </a:p>
        </p:txBody>
      </p:sp>
      <p:sp>
        <p:nvSpPr>
          <p:cNvPr id="4" name="Footer Placeholder 3">
            <a:extLst>
              <a:ext uri="{FF2B5EF4-FFF2-40B4-BE49-F238E27FC236}">
                <a16:creationId xmlns:a16="http://schemas.microsoft.com/office/drawing/2014/main" id="{C9F3C4F2-521E-43BA-978F-A744CDEB1018}"/>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E6E24618-CDB0-4673-AF57-77A81FE6F53F}"/>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369938184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79B6684-ECAC-47C6-9E72-EC9A0F42056A}"/>
              </a:ext>
            </a:extLst>
          </p:cNvPr>
          <p:cNvSpPr>
            <a:spLocks noGrp="1"/>
          </p:cNvSpPr>
          <p:nvPr>
            <p:ph type="dt" sz="half" idx="10"/>
          </p:nvPr>
        </p:nvSpPr>
        <p:spPr/>
        <p:txBody>
          <a:bodyPr/>
          <a:lstStyle/>
          <a:p>
            <a:fld id="{E85DF616-B21E-4EF6-A6A5-95E2FB3EB1A1}" type="datetimeFigureOut">
              <a:rPr lang="en-GB" smtClean="0"/>
              <a:t>16/01/2026</a:t>
            </a:fld>
            <a:endParaRPr lang="en-GB"/>
          </a:p>
        </p:txBody>
      </p:sp>
      <p:sp>
        <p:nvSpPr>
          <p:cNvPr id="3" name="Footer Placeholder 2">
            <a:extLst>
              <a:ext uri="{FF2B5EF4-FFF2-40B4-BE49-F238E27FC236}">
                <a16:creationId xmlns:a16="http://schemas.microsoft.com/office/drawing/2014/main" id="{69837DBC-C277-472E-BF47-6769C2B2042D}"/>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BD39D80B-7718-49DE-9803-FDF6ECAD197C}"/>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41411844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FDE5B7-A7F2-453D-9210-C132F79425A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0F581A54-3B44-49FD-9DFE-5C031AC3B0E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38CEDAA9-F86E-42B0-BCB5-FFBD8F9BD23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E8E5CCE-232A-418F-BF54-FECCCBE5BBE8}"/>
              </a:ext>
            </a:extLst>
          </p:cNvPr>
          <p:cNvSpPr>
            <a:spLocks noGrp="1"/>
          </p:cNvSpPr>
          <p:nvPr>
            <p:ph type="dt" sz="half" idx="10"/>
          </p:nvPr>
        </p:nvSpPr>
        <p:spPr/>
        <p:txBody>
          <a:bodyPr/>
          <a:lstStyle/>
          <a:p>
            <a:fld id="{E85DF616-B21E-4EF6-A6A5-95E2FB3EB1A1}" type="datetimeFigureOut">
              <a:rPr lang="en-GB" smtClean="0"/>
              <a:t>16/01/2026</a:t>
            </a:fld>
            <a:endParaRPr lang="en-GB"/>
          </a:p>
        </p:txBody>
      </p:sp>
      <p:sp>
        <p:nvSpPr>
          <p:cNvPr id="6" name="Footer Placeholder 5">
            <a:extLst>
              <a:ext uri="{FF2B5EF4-FFF2-40B4-BE49-F238E27FC236}">
                <a16:creationId xmlns:a16="http://schemas.microsoft.com/office/drawing/2014/main" id="{F510C79A-014C-4B02-9279-7EE20A512885}"/>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DE3E7691-D5FC-4182-9AE9-20D2EFC761D4}"/>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8240196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E35217-D17F-45E7-B7CA-F5D4DAFB30D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F8B94D55-9243-49C9-96F4-70D45690150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9E476A3C-7074-4031-BCF5-275CD92ED78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6130CC7-09EA-4C92-80AE-F253D048A40D}"/>
              </a:ext>
            </a:extLst>
          </p:cNvPr>
          <p:cNvSpPr>
            <a:spLocks noGrp="1"/>
          </p:cNvSpPr>
          <p:nvPr>
            <p:ph type="dt" sz="half" idx="10"/>
          </p:nvPr>
        </p:nvSpPr>
        <p:spPr/>
        <p:txBody>
          <a:bodyPr/>
          <a:lstStyle/>
          <a:p>
            <a:fld id="{E85DF616-B21E-4EF6-A6A5-95E2FB3EB1A1}" type="datetimeFigureOut">
              <a:rPr lang="en-GB" smtClean="0"/>
              <a:t>16/01/2026</a:t>
            </a:fld>
            <a:endParaRPr lang="en-GB"/>
          </a:p>
        </p:txBody>
      </p:sp>
      <p:sp>
        <p:nvSpPr>
          <p:cNvPr id="6" name="Footer Placeholder 5">
            <a:extLst>
              <a:ext uri="{FF2B5EF4-FFF2-40B4-BE49-F238E27FC236}">
                <a16:creationId xmlns:a16="http://schemas.microsoft.com/office/drawing/2014/main" id="{9D7CD087-50BE-480B-BD3C-2CCB17C0EDC9}"/>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7F96C921-787D-431A-BDD7-DA404775A0E2}"/>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357684652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EB0483-1596-4673-8A29-254D3DC88A58}"/>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DE429-CA08-4265-9A4D-51FDC7FA54E2}"/>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EE484A7-7EB0-4711-BB58-4DD3DBAC7D8E}"/>
              </a:ext>
            </a:extLst>
          </p:cNvPr>
          <p:cNvSpPr>
            <a:spLocks noGrp="1"/>
          </p:cNvSpPr>
          <p:nvPr>
            <p:ph type="dt" sz="half" idx="10"/>
          </p:nvPr>
        </p:nvSpPr>
        <p:spPr/>
        <p:txBody>
          <a:bodyPr/>
          <a:lstStyle/>
          <a:p>
            <a:fld id="{E85DF616-B21E-4EF6-A6A5-95E2FB3EB1A1}" type="datetimeFigureOut">
              <a:rPr lang="en-GB" smtClean="0"/>
              <a:t>16/01/2026</a:t>
            </a:fld>
            <a:endParaRPr lang="en-GB"/>
          </a:p>
        </p:txBody>
      </p:sp>
      <p:sp>
        <p:nvSpPr>
          <p:cNvPr id="5" name="Footer Placeholder 4">
            <a:extLst>
              <a:ext uri="{FF2B5EF4-FFF2-40B4-BE49-F238E27FC236}">
                <a16:creationId xmlns:a16="http://schemas.microsoft.com/office/drawing/2014/main" id="{E2541F78-0B35-41BE-A0A9-4586BE477DAC}"/>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85D6E482-F592-48F9-83BC-62EB3DB573C7}"/>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36159465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5361B4E-3627-4AD6-AD20-F32FAFBDA413}"/>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0048BF35-5935-4E82-A1F8-08337A4DA33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8FFBD791-DE7C-49E1-A341-84D81473B5FD}"/>
              </a:ext>
            </a:extLst>
          </p:cNvPr>
          <p:cNvSpPr>
            <a:spLocks noGrp="1"/>
          </p:cNvSpPr>
          <p:nvPr>
            <p:ph type="dt" sz="half" idx="10"/>
          </p:nvPr>
        </p:nvSpPr>
        <p:spPr/>
        <p:txBody>
          <a:bodyPr/>
          <a:lstStyle/>
          <a:p>
            <a:fld id="{E85DF616-B21E-4EF6-A6A5-95E2FB3EB1A1}" type="datetimeFigureOut">
              <a:rPr lang="en-GB" smtClean="0"/>
              <a:t>16/01/2026</a:t>
            </a:fld>
            <a:endParaRPr lang="en-GB"/>
          </a:p>
        </p:txBody>
      </p:sp>
      <p:sp>
        <p:nvSpPr>
          <p:cNvPr id="5" name="Footer Placeholder 4">
            <a:extLst>
              <a:ext uri="{FF2B5EF4-FFF2-40B4-BE49-F238E27FC236}">
                <a16:creationId xmlns:a16="http://schemas.microsoft.com/office/drawing/2014/main" id="{69FD9CCE-A99B-4CBA-91FF-4D46A3F5C0E6}"/>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863CAD09-2925-4932-B93A-FF27DE64CA89}"/>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220059795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1DB992C-5696-43C0-B140-56751731D8F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8C058581-4C84-49FD-8B3C-95F4C8571A1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0948350B-1B49-41B8-8A7A-F1A1B98F8CA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85DF616-B21E-4EF6-A6A5-95E2FB3EB1A1}" type="datetimeFigureOut">
              <a:rPr lang="en-GB" smtClean="0"/>
              <a:t>16/01/2026</a:t>
            </a:fld>
            <a:endParaRPr lang="en-GB"/>
          </a:p>
        </p:txBody>
      </p:sp>
      <p:sp>
        <p:nvSpPr>
          <p:cNvPr id="5" name="Footer Placeholder 4">
            <a:extLst>
              <a:ext uri="{FF2B5EF4-FFF2-40B4-BE49-F238E27FC236}">
                <a16:creationId xmlns:a16="http://schemas.microsoft.com/office/drawing/2014/main" id="{4F0BE49B-AA7F-417D-B067-42C40475CC1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B3972CFA-2157-4F98-8693-550F0B104B6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05DED30-C8B5-4AF9-8D67-600C77DA493C}" type="slidenum">
              <a:rPr lang="en-GB" smtClean="0"/>
              <a:t>‹#›</a:t>
            </a:fld>
            <a:endParaRPr lang="en-GB"/>
          </a:p>
        </p:txBody>
      </p:sp>
      <p:sp>
        <p:nvSpPr>
          <p:cNvPr id="9" name="TextBox 8">
            <a:extLst>
              <a:ext uri="{FF2B5EF4-FFF2-40B4-BE49-F238E27FC236}">
                <a16:creationId xmlns:a16="http://schemas.microsoft.com/office/drawing/2014/main" id="{27504F79-603A-6F7A-93E7-C9CABA0FF303}"/>
              </a:ext>
            </a:extLst>
          </p:cNvPr>
          <p:cNvSpPr txBox="1"/>
          <p:nvPr userDrawn="1">
            <p:extLst>
              <p:ext uri="{1162E1C5-73C7-4A58-AE30-91384D911F3F}">
                <p184:classification xmlns:p184="http://schemas.microsoft.com/office/powerpoint/2018/4/main" val="hdr"/>
              </p:ext>
            </p:extLst>
          </p:nvPr>
        </p:nvSpPr>
        <p:spPr>
          <a:xfrm>
            <a:off x="5781675" y="0"/>
            <a:ext cx="663575" cy="182880"/>
          </a:xfrm>
          <a:prstGeom prst="rect">
            <a:avLst/>
          </a:prstGeom>
        </p:spPr>
        <p:txBody>
          <a:bodyPr horzOverflow="overflow" lIns="0" tIns="0" rIns="0" bIns="0">
            <a:spAutoFit/>
          </a:bodyPr>
          <a:lstStyle/>
          <a:p>
            <a:pPr algn="l"/>
            <a:r>
              <a:rPr lang="en-SG" sz="1200">
                <a:solidFill>
                  <a:srgbClr val="FF0000"/>
                </a:solidFill>
                <a:latin typeface="Calibri" panose="020F0502020204030204" pitchFamily="34" charset="0"/>
                <a:cs typeface="Calibri" panose="020F0502020204030204" pitchFamily="34" charset="0"/>
              </a:rPr>
              <a:t>Restricted</a:t>
            </a:r>
          </a:p>
        </p:txBody>
      </p:sp>
      <p:sp>
        <p:nvSpPr>
          <p:cNvPr id="10" name="TextBox 9">
            <a:extLst>
              <a:ext uri="{FF2B5EF4-FFF2-40B4-BE49-F238E27FC236}">
                <a16:creationId xmlns:a16="http://schemas.microsoft.com/office/drawing/2014/main" id="{99872183-7F29-FB0F-D3D7-53204406A33F}"/>
              </a:ext>
            </a:extLst>
          </p:cNvPr>
          <p:cNvSpPr txBox="1"/>
          <p:nvPr userDrawn="1">
            <p:extLst>
              <p:ext uri="{1162E1C5-73C7-4A58-AE30-91384D911F3F}">
                <p184:classification xmlns:p184="http://schemas.microsoft.com/office/powerpoint/2018/4/main" val="ftr"/>
              </p:ext>
            </p:extLst>
          </p:nvPr>
        </p:nvSpPr>
        <p:spPr>
          <a:xfrm>
            <a:off x="5781675" y="6675120"/>
            <a:ext cx="663575" cy="182880"/>
          </a:xfrm>
          <a:prstGeom prst="rect">
            <a:avLst/>
          </a:prstGeom>
        </p:spPr>
        <p:txBody>
          <a:bodyPr horzOverflow="overflow" lIns="0" tIns="0" rIns="0" bIns="0">
            <a:spAutoFit/>
          </a:bodyPr>
          <a:lstStyle/>
          <a:p>
            <a:pPr algn="l"/>
            <a:r>
              <a:rPr lang="en-SG" sz="1200">
                <a:solidFill>
                  <a:srgbClr val="FF0000"/>
                </a:solidFill>
                <a:latin typeface="Calibri" panose="020F0502020204030204" pitchFamily="34" charset="0"/>
                <a:cs typeface="Calibri" panose="020F0502020204030204" pitchFamily="34" charset="0"/>
              </a:rPr>
              <a:t>Restricted</a:t>
            </a:r>
          </a:p>
        </p:txBody>
      </p:sp>
    </p:spTree>
    <p:extLst>
      <p:ext uri="{BB962C8B-B14F-4D97-AF65-F5344CB8AC3E}">
        <p14:creationId xmlns:p14="http://schemas.microsoft.com/office/powerpoint/2010/main" val="216870828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3" Type="http://schemas.openxmlformats.org/officeDocument/2006/relationships/image" Target="../media/image120.png"/><Relationship Id="rId2" Type="http://schemas.openxmlformats.org/officeDocument/2006/relationships/image" Target="../media/image12.png"/><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4.xml"/><Relationship Id="rId4" Type="http://schemas.openxmlformats.org/officeDocument/2006/relationships/image" Target="../media/image16.png"/></Relationships>
</file>

<file path=ppt/slides/_rels/slide2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7.png"/><Relationship Id="rId1" Type="http://schemas.openxmlformats.org/officeDocument/2006/relationships/slideLayout" Target="../slideLayouts/slideLayout2.xml"/><Relationship Id="rId5" Type="http://schemas.openxmlformats.org/officeDocument/2006/relationships/image" Target="../media/image16.png"/><Relationship Id="rId4" Type="http://schemas.openxmlformats.org/officeDocument/2006/relationships/image" Target="../media/image15.png"/></Relationships>
</file>

<file path=ppt/slides/_rels/slide2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4.xml"/><Relationship Id="rId4" Type="http://schemas.openxmlformats.org/officeDocument/2006/relationships/image" Target="../media/image30.png"/></Relationships>
</file>

<file path=ppt/slides/_rels/slide39.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28.png"/><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32.png"/><Relationship Id="rId1" Type="http://schemas.openxmlformats.org/officeDocument/2006/relationships/slideLayout" Target="../slideLayouts/slideLayout4.xml"/></Relationships>
</file>

<file path=ppt/slides/_rels/slide41.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320.png"/><Relationship Id="rId1" Type="http://schemas.openxmlformats.org/officeDocument/2006/relationships/slideLayout" Target="../slideLayouts/slideLayout4.xml"/></Relationships>
</file>

<file path=ppt/slides/_rels/slide42.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0.png"/><Relationship Id="rId1" Type="http://schemas.openxmlformats.org/officeDocument/2006/relationships/slideLayout" Target="../slideLayouts/slideLayout4.xml"/></Relationships>
</file>

<file path=ppt/slides/_rels/slide43.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4.xml"/></Relationships>
</file>

<file path=ppt/slides/_rels/slide44.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6.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4.xml"/></Relationships>
</file>

<file path=ppt/slides/_rels/slide47.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4.xml"/></Relationships>
</file>

<file path=ppt/slides/_rels/slide48.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1.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4.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40.gif"/><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4.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1.xml.rels><?xml version="1.0" encoding="UTF-8" standalone="yes"?>
<Relationships xmlns="http://schemas.openxmlformats.org/package/2006/relationships"><Relationship Id="rId2" Type="http://schemas.openxmlformats.org/officeDocument/2006/relationships/image" Target="../media/image41.jpeg"/><Relationship Id="rId1" Type="http://schemas.openxmlformats.org/officeDocument/2006/relationships/slideLayout" Target="../slideLayouts/slideLayout4.xml"/></Relationships>
</file>

<file path=ppt/slides/_rels/slide62.xml.rels><?xml version="1.0" encoding="UTF-8" standalone="yes"?>
<Relationships xmlns="http://schemas.openxmlformats.org/package/2006/relationships"><Relationship Id="rId2" Type="http://schemas.openxmlformats.org/officeDocument/2006/relationships/image" Target="../media/image41.jpeg"/><Relationship Id="rId1" Type="http://schemas.openxmlformats.org/officeDocument/2006/relationships/slideLayout" Target="../slideLayouts/slideLayout4.xml"/></Relationships>
</file>

<file path=ppt/slides/_rels/slide63.xml.rels><?xml version="1.0" encoding="UTF-8" standalone="yes"?>
<Relationships xmlns="http://schemas.openxmlformats.org/package/2006/relationships"><Relationship Id="rId2" Type="http://schemas.openxmlformats.org/officeDocument/2006/relationships/image" Target="../media/image41.jpeg"/><Relationship Id="rId1" Type="http://schemas.openxmlformats.org/officeDocument/2006/relationships/slideLayout" Target="../slideLayouts/slideLayout4.xml"/></Relationships>
</file>

<file path=ppt/slides/_rels/slide64.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hyperlink" Target="https://machinelearningmastery.com/hyperparameter-optimization-with-random-search-and-grid-search/" TargetMode="External"/><Relationship Id="rId2" Type="http://schemas.openxmlformats.org/officeDocument/2006/relationships/hyperlink" Target="https://towardsdatascience.com/7-hyperparameter-optimization-techniques-every-data-scientist-should-know-12cdebe713da" TargetMode="External"/><Relationship Id="rId1" Type="http://schemas.openxmlformats.org/officeDocument/2006/relationships/slideLayout" Target="../slideLayouts/slideLayout2.xml"/><Relationship Id="rId4" Type="http://schemas.openxmlformats.org/officeDocument/2006/relationships/hyperlink" Target="https://stats.stackexchange.com/questions/181/how-to-choose-the-number-of-hidden-layers-and-nodes-in-a-feedforward-neural-netw"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CEB46-CC16-4D19-8C2C-AEE9471D8168}"/>
              </a:ext>
            </a:extLst>
          </p:cNvPr>
          <p:cNvSpPr>
            <a:spLocks noGrp="1"/>
          </p:cNvSpPr>
          <p:nvPr>
            <p:ph type="ctrTitle"/>
          </p:nvPr>
        </p:nvSpPr>
        <p:spPr>
          <a:xfrm>
            <a:off x="375139" y="942610"/>
            <a:ext cx="11441722" cy="2387600"/>
          </a:xfrm>
        </p:spPr>
        <p:txBody>
          <a:bodyPr>
            <a:normAutofit fontScale="90000"/>
          </a:bodyPr>
          <a:lstStyle/>
          <a:p>
            <a:r>
              <a:rPr lang="en-US" b="1" dirty="0"/>
              <a:t>50.039 Theory and Practice of</a:t>
            </a:r>
            <a:br>
              <a:rPr lang="en-US" b="1" dirty="0"/>
            </a:br>
            <a:r>
              <a:rPr lang="en-US" b="1" dirty="0"/>
              <a:t>Deep Learning</a:t>
            </a:r>
            <a:br>
              <a:rPr lang="en-US" dirty="0"/>
            </a:br>
            <a:r>
              <a:rPr lang="en-US" dirty="0"/>
              <a:t>W2-S3 Neural Networks, Initializers, Optimizers and other Good Practices</a:t>
            </a:r>
            <a:endParaRPr lang="en-GB" dirty="0"/>
          </a:p>
        </p:txBody>
      </p:sp>
      <p:sp>
        <p:nvSpPr>
          <p:cNvPr id="3" name="Subtitle 2">
            <a:extLst>
              <a:ext uri="{FF2B5EF4-FFF2-40B4-BE49-F238E27FC236}">
                <a16:creationId xmlns:a16="http://schemas.microsoft.com/office/drawing/2014/main" id="{816ABDE1-A047-4B53-92F2-67282914DD77}"/>
              </a:ext>
            </a:extLst>
          </p:cNvPr>
          <p:cNvSpPr>
            <a:spLocks noGrp="1"/>
          </p:cNvSpPr>
          <p:nvPr>
            <p:ph type="subTitle" idx="1"/>
          </p:nvPr>
        </p:nvSpPr>
        <p:spPr/>
        <p:txBody>
          <a:bodyPr/>
          <a:lstStyle/>
          <a:p>
            <a:r>
              <a:rPr lang="en-US" dirty="0"/>
              <a:t>Matthieu </a:t>
            </a:r>
            <a:r>
              <a:rPr lang="en-US"/>
              <a:t>De Mari</a:t>
            </a:r>
            <a:endParaRPr lang="en-US" dirty="0"/>
          </a:p>
        </p:txBody>
      </p:sp>
      <p:pic>
        <p:nvPicPr>
          <p:cNvPr id="4" name="Picture 3" descr="A picture containing drawing&#10;&#10;Description automatically generated">
            <a:extLst>
              <a:ext uri="{FF2B5EF4-FFF2-40B4-BE49-F238E27FC236}">
                <a16:creationId xmlns:a16="http://schemas.microsoft.com/office/drawing/2014/main" id="{EEFD138E-FF3C-4975-898F-31371952367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874008" y="4484243"/>
            <a:ext cx="4443984" cy="1731264"/>
          </a:xfrm>
          <a:prstGeom prst="rect">
            <a:avLst/>
          </a:prstGeom>
        </p:spPr>
      </p:pic>
    </p:spTree>
    <p:extLst>
      <p:ext uri="{BB962C8B-B14F-4D97-AF65-F5344CB8AC3E}">
        <p14:creationId xmlns:p14="http://schemas.microsoft.com/office/powerpoint/2010/main" val="104015617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D40417-A4D3-4CE8-96E7-708E2439AE7B}"/>
              </a:ext>
            </a:extLst>
          </p:cNvPr>
          <p:cNvSpPr>
            <a:spLocks noGrp="1"/>
          </p:cNvSpPr>
          <p:nvPr>
            <p:ph type="title"/>
          </p:nvPr>
        </p:nvSpPr>
        <p:spPr/>
        <p:txBody>
          <a:bodyPr/>
          <a:lstStyle/>
          <a:p>
            <a:r>
              <a:rPr lang="en-US" dirty="0"/>
              <a:t>About this week (Week 2)</a:t>
            </a:r>
            <a:endParaRPr lang="en-GB" dirty="0"/>
          </a:p>
        </p:txBody>
      </p:sp>
      <p:sp>
        <p:nvSpPr>
          <p:cNvPr id="3" name="Content Placeholder 2">
            <a:extLst>
              <a:ext uri="{FF2B5EF4-FFF2-40B4-BE49-F238E27FC236}">
                <a16:creationId xmlns:a16="http://schemas.microsoft.com/office/drawing/2014/main" id="{35995840-A9D9-479A-A34F-EA7DC229D38E}"/>
              </a:ext>
            </a:extLst>
          </p:cNvPr>
          <p:cNvSpPr>
            <a:spLocks noGrp="1"/>
          </p:cNvSpPr>
          <p:nvPr>
            <p:ph idx="1"/>
          </p:nvPr>
        </p:nvSpPr>
        <p:spPr>
          <a:xfrm>
            <a:off x="838200" y="1825625"/>
            <a:ext cx="10515600" cy="4827102"/>
          </a:xfrm>
        </p:spPr>
        <p:txBody>
          <a:bodyPr/>
          <a:lstStyle/>
          <a:p>
            <a:pPr marL="514350" indent="-514350">
              <a:buFont typeface="+mj-lt"/>
              <a:buAutoNum type="arabicPeriod"/>
            </a:pPr>
            <a:r>
              <a:rPr lang="en-US" dirty="0">
                <a:solidFill>
                  <a:schemeClr val="bg1">
                    <a:lumMod val="65000"/>
                  </a:schemeClr>
                </a:solidFill>
              </a:rPr>
              <a:t>What are the </a:t>
            </a:r>
            <a:r>
              <a:rPr lang="en-US" b="1" dirty="0">
                <a:solidFill>
                  <a:schemeClr val="bg1">
                    <a:lumMod val="65000"/>
                  </a:schemeClr>
                </a:solidFill>
              </a:rPr>
              <a:t>typical</a:t>
            </a:r>
            <a:r>
              <a:rPr lang="en-US" dirty="0">
                <a:solidFill>
                  <a:schemeClr val="bg1">
                    <a:lumMod val="65000"/>
                  </a:schemeClr>
                </a:solidFill>
              </a:rPr>
              <a:t> </a:t>
            </a:r>
            <a:r>
              <a:rPr lang="en-US" b="1" dirty="0">
                <a:solidFill>
                  <a:schemeClr val="bg1">
                    <a:lumMod val="65000"/>
                  </a:schemeClr>
                </a:solidFill>
              </a:rPr>
              <a:t>initializers for trainable parameters </a:t>
            </a:r>
            <a:r>
              <a:rPr lang="en-US" dirty="0">
                <a:solidFill>
                  <a:schemeClr val="bg1">
                    <a:lumMod val="65000"/>
                  </a:schemeClr>
                </a:solidFill>
              </a:rPr>
              <a:t>in Neural Networks?</a:t>
            </a:r>
            <a:r>
              <a:rPr lang="en-US" b="1" dirty="0">
                <a:solidFill>
                  <a:schemeClr val="bg1">
                    <a:lumMod val="65000"/>
                  </a:schemeClr>
                </a:solidFill>
              </a:rPr>
              <a:t>  </a:t>
            </a:r>
            <a:endParaRPr lang="en-US" dirty="0">
              <a:solidFill>
                <a:schemeClr val="bg1">
                  <a:lumMod val="65000"/>
                </a:schemeClr>
              </a:solidFill>
            </a:endParaRPr>
          </a:p>
          <a:p>
            <a:pPr marL="514350" indent="-514350">
              <a:buFont typeface="+mj-lt"/>
              <a:buAutoNum type="arabicPeriod"/>
            </a:pPr>
            <a:r>
              <a:rPr lang="en-GB" dirty="0">
                <a:solidFill>
                  <a:schemeClr val="bg1">
                    <a:lumMod val="65000"/>
                  </a:schemeClr>
                </a:solidFill>
              </a:rPr>
              <a:t>What is </a:t>
            </a:r>
            <a:r>
              <a:rPr lang="en-GB" b="1" dirty="0">
                <a:solidFill>
                  <a:schemeClr val="bg1">
                    <a:lumMod val="65000"/>
                  </a:schemeClr>
                </a:solidFill>
              </a:rPr>
              <a:t>symmetry</a:t>
            </a:r>
            <a:r>
              <a:rPr lang="en-GB" dirty="0">
                <a:solidFill>
                  <a:schemeClr val="bg1">
                    <a:lumMod val="65000"/>
                  </a:schemeClr>
                </a:solidFill>
              </a:rPr>
              <a:t> in a Neural Network and why is it essential to </a:t>
            </a:r>
            <a:r>
              <a:rPr lang="en-GB" b="1" dirty="0">
                <a:solidFill>
                  <a:schemeClr val="bg1">
                    <a:lumMod val="65000"/>
                  </a:schemeClr>
                </a:solidFill>
              </a:rPr>
              <a:t>break</a:t>
            </a:r>
            <a:r>
              <a:rPr lang="en-GB" dirty="0">
                <a:solidFill>
                  <a:schemeClr val="bg1">
                    <a:lumMod val="65000"/>
                  </a:schemeClr>
                </a:solidFill>
              </a:rPr>
              <a:t> </a:t>
            </a:r>
            <a:r>
              <a:rPr lang="en-GB" b="1" dirty="0">
                <a:solidFill>
                  <a:schemeClr val="bg1">
                    <a:lumMod val="65000"/>
                  </a:schemeClr>
                </a:solidFill>
              </a:rPr>
              <a:t>it</a:t>
            </a:r>
            <a:r>
              <a:rPr lang="en-GB" dirty="0">
                <a:solidFill>
                  <a:schemeClr val="bg1">
                    <a:lumMod val="65000"/>
                  </a:schemeClr>
                </a:solidFill>
              </a:rPr>
              <a:t> with proper initializers?</a:t>
            </a:r>
          </a:p>
          <a:p>
            <a:pPr marL="514350" indent="-514350">
              <a:buFont typeface="+mj-lt"/>
              <a:buAutoNum type="arabicPeriod"/>
            </a:pPr>
            <a:r>
              <a:rPr lang="en-GB" dirty="0">
                <a:solidFill>
                  <a:schemeClr val="bg1">
                    <a:lumMod val="65000"/>
                  </a:schemeClr>
                </a:solidFill>
              </a:rPr>
              <a:t>What is the </a:t>
            </a:r>
            <a:r>
              <a:rPr lang="en-GB" b="1" dirty="0">
                <a:solidFill>
                  <a:schemeClr val="bg1">
                    <a:lumMod val="65000"/>
                  </a:schemeClr>
                </a:solidFill>
              </a:rPr>
              <a:t>exploding</a:t>
            </a:r>
            <a:r>
              <a:rPr lang="en-GB" dirty="0">
                <a:solidFill>
                  <a:schemeClr val="bg1">
                    <a:lumMod val="65000"/>
                  </a:schemeClr>
                </a:solidFill>
              </a:rPr>
              <a:t> </a:t>
            </a:r>
            <a:r>
              <a:rPr lang="en-GB" b="1" dirty="0">
                <a:solidFill>
                  <a:schemeClr val="bg1">
                    <a:lumMod val="65000"/>
                  </a:schemeClr>
                </a:solidFill>
              </a:rPr>
              <a:t>gradient</a:t>
            </a:r>
            <a:r>
              <a:rPr lang="en-GB" dirty="0">
                <a:solidFill>
                  <a:schemeClr val="bg1">
                    <a:lumMod val="65000"/>
                  </a:schemeClr>
                </a:solidFill>
              </a:rPr>
              <a:t> problem?</a:t>
            </a:r>
          </a:p>
          <a:p>
            <a:pPr marL="514350" indent="-514350">
              <a:buFont typeface="+mj-lt"/>
              <a:buAutoNum type="arabicPeriod"/>
            </a:pPr>
            <a:r>
              <a:rPr lang="en-GB" dirty="0">
                <a:solidFill>
                  <a:schemeClr val="bg1">
                    <a:lumMod val="65000"/>
                  </a:schemeClr>
                </a:solidFill>
              </a:rPr>
              <a:t>How to </a:t>
            </a:r>
            <a:r>
              <a:rPr lang="en-GB" b="1" dirty="0">
                <a:solidFill>
                  <a:schemeClr val="bg1">
                    <a:lumMod val="65000"/>
                  </a:schemeClr>
                </a:solidFill>
              </a:rPr>
              <a:t>spot and fix an exploding gradient </a:t>
            </a:r>
            <a:r>
              <a:rPr lang="en-GB" dirty="0">
                <a:solidFill>
                  <a:schemeClr val="bg1">
                    <a:lumMod val="65000"/>
                  </a:schemeClr>
                </a:solidFill>
              </a:rPr>
              <a:t>problem?</a:t>
            </a:r>
          </a:p>
          <a:p>
            <a:pPr marL="514350" indent="-514350">
              <a:buFont typeface="+mj-lt"/>
              <a:buAutoNum type="arabicPeriod"/>
            </a:pPr>
            <a:r>
              <a:rPr lang="en-GB" dirty="0">
                <a:solidFill>
                  <a:schemeClr val="bg1">
                    <a:lumMod val="65000"/>
                  </a:schemeClr>
                </a:solidFill>
              </a:rPr>
              <a:t>What is the </a:t>
            </a:r>
            <a:r>
              <a:rPr lang="en-GB" b="1" dirty="0">
                <a:solidFill>
                  <a:schemeClr val="bg1">
                    <a:lumMod val="65000"/>
                  </a:schemeClr>
                </a:solidFill>
              </a:rPr>
              <a:t>vanishing</a:t>
            </a:r>
            <a:r>
              <a:rPr lang="en-GB" dirty="0">
                <a:solidFill>
                  <a:schemeClr val="bg1">
                    <a:lumMod val="65000"/>
                  </a:schemeClr>
                </a:solidFill>
              </a:rPr>
              <a:t> </a:t>
            </a:r>
            <a:r>
              <a:rPr lang="en-GB" b="1" dirty="0">
                <a:solidFill>
                  <a:schemeClr val="bg1">
                    <a:lumMod val="65000"/>
                  </a:schemeClr>
                </a:solidFill>
              </a:rPr>
              <a:t>gradient</a:t>
            </a:r>
            <a:r>
              <a:rPr lang="en-GB" dirty="0">
                <a:solidFill>
                  <a:schemeClr val="bg1">
                    <a:lumMod val="65000"/>
                  </a:schemeClr>
                </a:solidFill>
              </a:rPr>
              <a:t> problem?</a:t>
            </a:r>
          </a:p>
          <a:p>
            <a:pPr marL="514350" indent="-514350">
              <a:buFont typeface="+mj-lt"/>
              <a:buAutoNum type="arabicPeriod"/>
            </a:pPr>
            <a:r>
              <a:rPr lang="en-GB" dirty="0">
                <a:solidFill>
                  <a:schemeClr val="bg1">
                    <a:lumMod val="65000"/>
                  </a:schemeClr>
                </a:solidFill>
              </a:rPr>
              <a:t>How to </a:t>
            </a:r>
            <a:r>
              <a:rPr lang="en-GB" b="1" dirty="0">
                <a:solidFill>
                  <a:schemeClr val="bg1">
                    <a:lumMod val="65000"/>
                  </a:schemeClr>
                </a:solidFill>
              </a:rPr>
              <a:t>spot and fix a vanishing gradient </a:t>
            </a:r>
            <a:r>
              <a:rPr lang="en-GB" dirty="0">
                <a:solidFill>
                  <a:schemeClr val="bg1">
                    <a:lumMod val="65000"/>
                  </a:schemeClr>
                </a:solidFill>
              </a:rPr>
              <a:t>problem?</a:t>
            </a:r>
          </a:p>
          <a:p>
            <a:pPr marL="514350" indent="-514350">
              <a:buFont typeface="+mj-lt"/>
              <a:buAutoNum type="arabicPeriod"/>
            </a:pPr>
            <a:r>
              <a:rPr lang="en-GB" dirty="0">
                <a:solidFill>
                  <a:schemeClr val="bg1">
                    <a:lumMod val="65000"/>
                  </a:schemeClr>
                </a:solidFill>
              </a:rPr>
              <a:t>Why are </a:t>
            </a:r>
            <a:r>
              <a:rPr lang="en-GB" b="1" dirty="0">
                <a:solidFill>
                  <a:schemeClr val="bg1">
                    <a:lumMod val="65000"/>
                  </a:schemeClr>
                </a:solidFill>
              </a:rPr>
              <a:t>activation</a:t>
            </a:r>
            <a:r>
              <a:rPr lang="en-GB" dirty="0">
                <a:solidFill>
                  <a:schemeClr val="bg1">
                    <a:lumMod val="65000"/>
                  </a:schemeClr>
                </a:solidFill>
              </a:rPr>
              <a:t> </a:t>
            </a:r>
            <a:r>
              <a:rPr lang="en-GB" b="1" dirty="0">
                <a:solidFill>
                  <a:schemeClr val="bg1">
                    <a:lumMod val="65000"/>
                  </a:schemeClr>
                </a:solidFill>
              </a:rPr>
              <a:t>functions</a:t>
            </a:r>
            <a:r>
              <a:rPr lang="en-GB" dirty="0">
                <a:solidFill>
                  <a:schemeClr val="bg1">
                    <a:lumMod val="65000"/>
                  </a:schemeClr>
                </a:solidFill>
              </a:rPr>
              <a:t> needed in Neural Networks?</a:t>
            </a:r>
          </a:p>
          <a:p>
            <a:pPr marL="514350" indent="-514350">
              <a:buFont typeface="+mj-lt"/>
              <a:buAutoNum type="arabicPeriod"/>
            </a:pPr>
            <a:r>
              <a:rPr lang="en-GB" dirty="0">
                <a:solidFill>
                  <a:schemeClr val="bg1">
                    <a:lumMod val="65000"/>
                  </a:schemeClr>
                </a:solidFill>
              </a:rPr>
              <a:t>What is the </a:t>
            </a:r>
            <a:r>
              <a:rPr lang="en-GB" b="1" dirty="0">
                <a:solidFill>
                  <a:schemeClr val="bg1">
                    <a:lumMod val="65000"/>
                  </a:schemeClr>
                </a:solidFill>
              </a:rPr>
              <a:t>universal</a:t>
            </a:r>
            <a:r>
              <a:rPr lang="en-GB" dirty="0">
                <a:solidFill>
                  <a:schemeClr val="bg1">
                    <a:lumMod val="65000"/>
                  </a:schemeClr>
                </a:solidFill>
              </a:rPr>
              <a:t> </a:t>
            </a:r>
            <a:r>
              <a:rPr lang="en-GB" b="1" dirty="0">
                <a:solidFill>
                  <a:schemeClr val="bg1">
                    <a:lumMod val="65000"/>
                  </a:schemeClr>
                </a:solidFill>
              </a:rPr>
              <a:t>approximation</a:t>
            </a:r>
            <a:r>
              <a:rPr lang="en-GB" dirty="0">
                <a:solidFill>
                  <a:schemeClr val="bg1">
                    <a:lumMod val="65000"/>
                  </a:schemeClr>
                </a:solidFill>
              </a:rPr>
              <a:t> </a:t>
            </a:r>
            <a:r>
              <a:rPr lang="en-GB" b="1" dirty="0">
                <a:solidFill>
                  <a:schemeClr val="bg1">
                    <a:lumMod val="65000"/>
                  </a:schemeClr>
                </a:solidFill>
              </a:rPr>
              <a:t>theorem</a:t>
            </a:r>
            <a:r>
              <a:rPr lang="en-GB" dirty="0">
                <a:solidFill>
                  <a:schemeClr val="bg1">
                    <a:lumMod val="65000"/>
                  </a:schemeClr>
                </a:solidFill>
              </a:rPr>
              <a:t>?</a:t>
            </a:r>
          </a:p>
          <a:p>
            <a:pPr marL="514350" indent="-514350">
              <a:buFont typeface="+mj-lt"/>
              <a:buAutoNum type="arabicPeriod"/>
            </a:pPr>
            <a:endParaRPr lang="en-GB" dirty="0"/>
          </a:p>
        </p:txBody>
      </p:sp>
    </p:spTree>
    <p:extLst>
      <p:ext uri="{BB962C8B-B14F-4D97-AF65-F5344CB8AC3E}">
        <p14:creationId xmlns:p14="http://schemas.microsoft.com/office/powerpoint/2010/main" val="344250196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D40417-A4D3-4CE8-96E7-708E2439AE7B}"/>
              </a:ext>
            </a:extLst>
          </p:cNvPr>
          <p:cNvSpPr>
            <a:spLocks noGrp="1"/>
          </p:cNvSpPr>
          <p:nvPr>
            <p:ph type="title"/>
          </p:nvPr>
        </p:nvSpPr>
        <p:spPr/>
        <p:txBody>
          <a:bodyPr/>
          <a:lstStyle/>
          <a:p>
            <a:r>
              <a:rPr lang="en-US" dirty="0"/>
              <a:t>About this week (Week 2)</a:t>
            </a:r>
            <a:endParaRPr lang="en-GB" dirty="0"/>
          </a:p>
        </p:txBody>
      </p:sp>
      <p:sp>
        <p:nvSpPr>
          <p:cNvPr id="3" name="Content Placeholder 2">
            <a:extLst>
              <a:ext uri="{FF2B5EF4-FFF2-40B4-BE49-F238E27FC236}">
                <a16:creationId xmlns:a16="http://schemas.microsoft.com/office/drawing/2014/main" id="{35995840-A9D9-479A-A34F-EA7DC229D38E}"/>
              </a:ext>
            </a:extLst>
          </p:cNvPr>
          <p:cNvSpPr>
            <a:spLocks noGrp="1"/>
          </p:cNvSpPr>
          <p:nvPr>
            <p:ph idx="1"/>
          </p:nvPr>
        </p:nvSpPr>
        <p:spPr>
          <a:xfrm>
            <a:off x="838200" y="1825625"/>
            <a:ext cx="10515600" cy="4827102"/>
          </a:xfrm>
        </p:spPr>
        <p:txBody>
          <a:bodyPr/>
          <a:lstStyle/>
          <a:p>
            <a:pPr marL="514350" indent="-514350">
              <a:buFont typeface="+mj-lt"/>
              <a:buAutoNum type="arabicPeriod" startAt="9"/>
            </a:pPr>
            <a:r>
              <a:rPr lang="en-US" dirty="0">
                <a:solidFill>
                  <a:schemeClr val="bg1">
                    <a:lumMod val="65000"/>
                  </a:schemeClr>
                </a:solidFill>
              </a:rPr>
              <a:t>What are typical </a:t>
            </a:r>
            <a:r>
              <a:rPr lang="en-US" b="1" dirty="0">
                <a:solidFill>
                  <a:schemeClr val="bg1">
                    <a:lumMod val="65000"/>
                  </a:schemeClr>
                </a:solidFill>
              </a:rPr>
              <a:t>examples</a:t>
            </a:r>
            <a:r>
              <a:rPr lang="en-US" dirty="0">
                <a:solidFill>
                  <a:schemeClr val="bg1">
                    <a:lumMod val="65000"/>
                  </a:schemeClr>
                </a:solidFill>
              </a:rPr>
              <a:t> of </a:t>
            </a:r>
            <a:r>
              <a:rPr lang="en-US" b="1" dirty="0">
                <a:solidFill>
                  <a:schemeClr val="bg1">
                    <a:lumMod val="65000"/>
                  </a:schemeClr>
                </a:solidFill>
              </a:rPr>
              <a:t>activation</a:t>
            </a:r>
            <a:r>
              <a:rPr lang="en-US" dirty="0">
                <a:solidFill>
                  <a:schemeClr val="bg1">
                    <a:lumMod val="65000"/>
                  </a:schemeClr>
                </a:solidFill>
              </a:rPr>
              <a:t> </a:t>
            </a:r>
            <a:r>
              <a:rPr lang="en-US" b="1" dirty="0">
                <a:solidFill>
                  <a:schemeClr val="bg1">
                    <a:lumMod val="65000"/>
                  </a:schemeClr>
                </a:solidFill>
              </a:rPr>
              <a:t>functions</a:t>
            </a:r>
            <a:r>
              <a:rPr lang="en-US" dirty="0">
                <a:solidFill>
                  <a:schemeClr val="bg1">
                    <a:lumMod val="65000"/>
                  </a:schemeClr>
                </a:solidFill>
              </a:rPr>
              <a:t>? Which activations should I be using?</a:t>
            </a:r>
          </a:p>
          <a:p>
            <a:pPr marL="514350" indent="-514350">
              <a:buFont typeface="+mj-lt"/>
              <a:buAutoNum type="arabicPeriod" startAt="9"/>
            </a:pPr>
            <a:r>
              <a:rPr lang="en-US" dirty="0">
                <a:solidFill>
                  <a:schemeClr val="bg1">
                    <a:lumMod val="65000"/>
                  </a:schemeClr>
                </a:solidFill>
              </a:rPr>
              <a:t>What are typical examples of </a:t>
            </a:r>
            <a:r>
              <a:rPr lang="en-US" b="1" dirty="0">
                <a:solidFill>
                  <a:schemeClr val="bg1">
                    <a:lumMod val="65000"/>
                  </a:schemeClr>
                </a:solidFill>
              </a:rPr>
              <a:t>advanced</a:t>
            </a:r>
            <a:r>
              <a:rPr lang="en-US" dirty="0">
                <a:solidFill>
                  <a:schemeClr val="bg1">
                    <a:lumMod val="65000"/>
                  </a:schemeClr>
                </a:solidFill>
              </a:rPr>
              <a:t> </a:t>
            </a:r>
            <a:r>
              <a:rPr lang="en-US" b="1" dirty="0">
                <a:solidFill>
                  <a:schemeClr val="bg1">
                    <a:lumMod val="65000"/>
                  </a:schemeClr>
                </a:solidFill>
              </a:rPr>
              <a:t>optimizers</a:t>
            </a:r>
            <a:r>
              <a:rPr lang="en-US" dirty="0">
                <a:solidFill>
                  <a:schemeClr val="bg1">
                    <a:lumMod val="65000"/>
                  </a:schemeClr>
                </a:solidFill>
              </a:rPr>
              <a:t>? (</a:t>
            </a:r>
            <a:r>
              <a:rPr lang="en-US" dirty="0" err="1">
                <a:solidFill>
                  <a:schemeClr val="bg1">
                    <a:lumMod val="65000"/>
                  </a:schemeClr>
                </a:solidFill>
              </a:rPr>
              <a:t>Adagrad</a:t>
            </a:r>
            <a:r>
              <a:rPr lang="en-US" dirty="0">
                <a:solidFill>
                  <a:schemeClr val="bg1">
                    <a:lumMod val="65000"/>
                  </a:schemeClr>
                </a:solidFill>
              </a:rPr>
              <a:t>, </a:t>
            </a:r>
            <a:r>
              <a:rPr lang="en-US" dirty="0" err="1">
                <a:solidFill>
                  <a:schemeClr val="bg1">
                    <a:lumMod val="65000"/>
                  </a:schemeClr>
                </a:solidFill>
              </a:rPr>
              <a:t>RMSProp</a:t>
            </a:r>
            <a:r>
              <a:rPr lang="en-US" dirty="0">
                <a:solidFill>
                  <a:schemeClr val="bg1">
                    <a:lumMod val="65000"/>
                  </a:schemeClr>
                </a:solidFill>
              </a:rPr>
              <a:t>, Adam, etc.).</a:t>
            </a:r>
          </a:p>
          <a:p>
            <a:pPr marL="514350" indent="-514350">
              <a:buFont typeface="+mj-lt"/>
              <a:buAutoNum type="arabicPeriod" startAt="9"/>
            </a:pPr>
            <a:r>
              <a:rPr lang="en-US" dirty="0">
                <a:solidFill>
                  <a:schemeClr val="bg1">
                    <a:lumMod val="65000"/>
                  </a:schemeClr>
                </a:solidFill>
              </a:rPr>
              <a:t>How to </a:t>
            </a:r>
            <a:r>
              <a:rPr lang="en-US" b="1" dirty="0">
                <a:solidFill>
                  <a:schemeClr val="bg1">
                    <a:lumMod val="65000"/>
                  </a:schemeClr>
                </a:solidFill>
              </a:rPr>
              <a:t>implement</a:t>
            </a:r>
            <a:r>
              <a:rPr lang="en-US" dirty="0">
                <a:solidFill>
                  <a:schemeClr val="bg1">
                    <a:lumMod val="65000"/>
                  </a:schemeClr>
                </a:solidFill>
              </a:rPr>
              <a:t> said </a:t>
            </a:r>
            <a:r>
              <a:rPr lang="en-US" b="1" dirty="0">
                <a:solidFill>
                  <a:schemeClr val="bg1">
                    <a:lumMod val="65000"/>
                  </a:schemeClr>
                </a:solidFill>
              </a:rPr>
              <a:t>optimizers</a:t>
            </a:r>
            <a:r>
              <a:rPr lang="en-US" dirty="0">
                <a:solidFill>
                  <a:schemeClr val="bg1">
                    <a:lumMod val="65000"/>
                  </a:schemeClr>
                </a:solidFill>
              </a:rPr>
              <a:t> manually?</a:t>
            </a:r>
          </a:p>
          <a:p>
            <a:pPr marL="514350" indent="-514350">
              <a:buFont typeface="+mj-lt"/>
              <a:buAutoNum type="arabicPeriod" startAt="9"/>
            </a:pPr>
            <a:r>
              <a:rPr lang="en-US" dirty="0">
                <a:solidFill>
                  <a:schemeClr val="bg1">
                    <a:lumMod val="65000"/>
                  </a:schemeClr>
                </a:solidFill>
              </a:rPr>
              <a:t>What is a </a:t>
            </a:r>
            <a:r>
              <a:rPr lang="en-US" b="1" dirty="0">
                <a:solidFill>
                  <a:schemeClr val="bg1">
                    <a:lumMod val="65000"/>
                  </a:schemeClr>
                </a:solidFill>
              </a:rPr>
              <a:t>stochastic</a:t>
            </a:r>
            <a:r>
              <a:rPr lang="en-US" dirty="0">
                <a:solidFill>
                  <a:schemeClr val="bg1">
                    <a:lumMod val="65000"/>
                  </a:schemeClr>
                </a:solidFill>
              </a:rPr>
              <a:t> </a:t>
            </a:r>
            <a:r>
              <a:rPr lang="en-US" b="1" dirty="0">
                <a:solidFill>
                  <a:schemeClr val="bg1">
                    <a:lumMod val="65000"/>
                  </a:schemeClr>
                </a:solidFill>
              </a:rPr>
              <a:t>gradient</a:t>
            </a:r>
            <a:r>
              <a:rPr lang="en-US" dirty="0">
                <a:solidFill>
                  <a:schemeClr val="bg1">
                    <a:lumMod val="65000"/>
                  </a:schemeClr>
                </a:solidFill>
              </a:rPr>
              <a:t> </a:t>
            </a:r>
            <a:r>
              <a:rPr lang="en-US" b="1" dirty="0">
                <a:solidFill>
                  <a:schemeClr val="bg1">
                    <a:lumMod val="65000"/>
                  </a:schemeClr>
                </a:solidFill>
              </a:rPr>
              <a:t>descent</a:t>
            </a:r>
            <a:r>
              <a:rPr lang="en-US" dirty="0">
                <a:solidFill>
                  <a:schemeClr val="bg1">
                    <a:lumMod val="65000"/>
                  </a:schemeClr>
                </a:solidFill>
              </a:rPr>
              <a:t> and what are its </a:t>
            </a:r>
            <a:r>
              <a:rPr lang="en-US" b="1" dirty="0">
                <a:solidFill>
                  <a:schemeClr val="bg1">
                    <a:lumMod val="65000"/>
                  </a:schemeClr>
                </a:solidFill>
              </a:rPr>
              <a:t>benefits</a:t>
            </a:r>
            <a:r>
              <a:rPr lang="en-US" dirty="0">
                <a:solidFill>
                  <a:schemeClr val="bg1">
                    <a:lumMod val="65000"/>
                  </a:schemeClr>
                </a:solidFill>
              </a:rPr>
              <a:t>?</a:t>
            </a:r>
          </a:p>
          <a:p>
            <a:pPr marL="514350" indent="-514350">
              <a:buFont typeface="+mj-lt"/>
              <a:buAutoNum type="arabicPeriod" startAt="9"/>
            </a:pPr>
            <a:r>
              <a:rPr lang="en-US" dirty="0">
                <a:solidFill>
                  <a:schemeClr val="bg1">
                    <a:lumMod val="65000"/>
                  </a:schemeClr>
                </a:solidFill>
              </a:rPr>
              <a:t>How to implement the </a:t>
            </a:r>
            <a:r>
              <a:rPr lang="en-US" b="1" dirty="0">
                <a:solidFill>
                  <a:schemeClr val="bg1">
                    <a:lumMod val="65000"/>
                  </a:schemeClr>
                </a:solidFill>
              </a:rPr>
              <a:t>stochastic</a:t>
            </a:r>
            <a:r>
              <a:rPr lang="en-US" dirty="0">
                <a:solidFill>
                  <a:schemeClr val="bg1">
                    <a:lumMod val="65000"/>
                  </a:schemeClr>
                </a:solidFill>
              </a:rPr>
              <a:t> </a:t>
            </a:r>
            <a:r>
              <a:rPr lang="en-US" b="1" dirty="0">
                <a:solidFill>
                  <a:schemeClr val="bg1">
                    <a:lumMod val="65000"/>
                  </a:schemeClr>
                </a:solidFill>
              </a:rPr>
              <a:t>gradient</a:t>
            </a:r>
            <a:r>
              <a:rPr lang="en-US" dirty="0">
                <a:solidFill>
                  <a:schemeClr val="bg1">
                    <a:lumMod val="65000"/>
                  </a:schemeClr>
                </a:solidFill>
              </a:rPr>
              <a:t> </a:t>
            </a:r>
            <a:r>
              <a:rPr lang="en-US" b="1" dirty="0">
                <a:solidFill>
                  <a:schemeClr val="bg1">
                    <a:lumMod val="65000"/>
                  </a:schemeClr>
                </a:solidFill>
              </a:rPr>
              <a:t>descent</a:t>
            </a:r>
            <a:r>
              <a:rPr lang="en-US" dirty="0">
                <a:solidFill>
                  <a:schemeClr val="bg1">
                    <a:lumMod val="65000"/>
                  </a:schemeClr>
                </a:solidFill>
              </a:rPr>
              <a:t> manually?</a:t>
            </a:r>
          </a:p>
          <a:p>
            <a:pPr marL="514350" indent="-514350">
              <a:buFont typeface="+mj-lt"/>
              <a:buAutoNum type="arabicPeriod" startAt="9"/>
            </a:pPr>
            <a:r>
              <a:rPr lang="en-US" dirty="0">
                <a:solidFill>
                  <a:schemeClr val="bg1">
                    <a:lumMod val="65000"/>
                  </a:schemeClr>
                </a:solidFill>
              </a:rPr>
              <a:t>What is a </a:t>
            </a:r>
            <a:r>
              <a:rPr lang="en-US" b="1" dirty="0">
                <a:solidFill>
                  <a:schemeClr val="bg1">
                    <a:lumMod val="65000"/>
                  </a:schemeClr>
                </a:solidFill>
              </a:rPr>
              <a:t>mini-batch</a:t>
            </a:r>
            <a:r>
              <a:rPr lang="en-US" dirty="0">
                <a:solidFill>
                  <a:schemeClr val="bg1">
                    <a:lumMod val="65000"/>
                  </a:schemeClr>
                </a:solidFill>
              </a:rPr>
              <a:t> </a:t>
            </a:r>
            <a:r>
              <a:rPr lang="en-US" b="1" dirty="0">
                <a:solidFill>
                  <a:schemeClr val="bg1">
                    <a:lumMod val="65000"/>
                  </a:schemeClr>
                </a:solidFill>
              </a:rPr>
              <a:t>gradient</a:t>
            </a:r>
            <a:r>
              <a:rPr lang="en-US" dirty="0">
                <a:solidFill>
                  <a:schemeClr val="bg1">
                    <a:lumMod val="65000"/>
                  </a:schemeClr>
                </a:solidFill>
              </a:rPr>
              <a:t> </a:t>
            </a:r>
            <a:r>
              <a:rPr lang="en-US" b="1" dirty="0">
                <a:solidFill>
                  <a:schemeClr val="bg1">
                    <a:lumMod val="65000"/>
                  </a:schemeClr>
                </a:solidFill>
              </a:rPr>
              <a:t>descent</a:t>
            </a:r>
            <a:r>
              <a:rPr lang="en-US" dirty="0">
                <a:solidFill>
                  <a:schemeClr val="bg1">
                    <a:lumMod val="65000"/>
                  </a:schemeClr>
                </a:solidFill>
              </a:rPr>
              <a:t> and what are its </a:t>
            </a:r>
            <a:r>
              <a:rPr lang="en-US" b="1" dirty="0">
                <a:solidFill>
                  <a:schemeClr val="bg1">
                    <a:lumMod val="65000"/>
                  </a:schemeClr>
                </a:solidFill>
              </a:rPr>
              <a:t>benefits</a:t>
            </a:r>
            <a:r>
              <a:rPr lang="en-US" dirty="0">
                <a:solidFill>
                  <a:schemeClr val="bg1">
                    <a:lumMod val="65000"/>
                  </a:schemeClr>
                </a:solidFill>
              </a:rPr>
              <a:t>?</a:t>
            </a:r>
          </a:p>
          <a:p>
            <a:pPr marL="514350" indent="-514350">
              <a:buFont typeface="+mj-lt"/>
              <a:buAutoNum type="arabicPeriod" startAt="9"/>
            </a:pPr>
            <a:r>
              <a:rPr lang="en-US" dirty="0">
                <a:solidFill>
                  <a:schemeClr val="bg1">
                    <a:lumMod val="65000"/>
                  </a:schemeClr>
                </a:solidFill>
              </a:rPr>
              <a:t>How to implement the </a:t>
            </a:r>
            <a:r>
              <a:rPr lang="en-US" b="1" dirty="0">
                <a:solidFill>
                  <a:schemeClr val="bg1">
                    <a:lumMod val="65000"/>
                  </a:schemeClr>
                </a:solidFill>
              </a:rPr>
              <a:t>mini-batch</a:t>
            </a:r>
            <a:r>
              <a:rPr lang="en-US" dirty="0">
                <a:solidFill>
                  <a:schemeClr val="bg1">
                    <a:lumMod val="65000"/>
                  </a:schemeClr>
                </a:solidFill>
              </a:rPr>
              <a:t> </a:t>
            </a:r>
            <a:r>
              <a:rPr lang="en-US" b="1" dirty="0">
                <a:solidFill>
                  <a:schemeClr val="bg1">
                    <a:lumMod val="65000"/>
                  </a:schemeClr>
                </a:solidFill>
              </a:rPr>
              <a:t>gradient</a:t>
            </a:r>
            <a:r>
              <a:rPr lang="en-US" dirty="0">
                <a:solidFill>
                  <a:schemeClr val="bg1">
                    <a:lumMod val="65000"/>
                  </a:schemeClr>
                </a:solidFill>
              </a:rPr>
              <a:t> </a:t>
            </a:r>
            <a:r>
              <a:rPr lang="en-US" b="1" dirty="0">
                <a:solidFill>
                  <a:schemeClr val="bg1">
                    <a:lumMod val="65000"/>
                  </a:schemeClr>
                </a:solidFill>
              </a:rPr>
              <a:t>descent</a:t>
            </a:r>
            <a:r>
              <a:rPr lang="en-US" dirty="0">
                <a:solidFill>
                  <a:schemeClr val="bg1">
                    <a:lumMod val="65000"/>
                  </a:schemeClr>
                </a:solidFill>
              </a:rPr>
              <a:t> manually?</a:t>
            </a:r>
          </a:p>
          <a:p>
            <a:pPr marL="514350" indent="-514350">
              <a:buFont typeface="+mj-lt"/>
              <a:buAutoNum type="arabicPeriod" startAt="9"/>
            </a:pPr>
            <a:r>
              <a:rPr lang="en-US" dirty="0">
                <a:solidFill>
                  <a:schemeClr val="bg1">
                    <a:lumMod val="65000"/>
                  </a:schemeClr>
                </a:solidFill>
              </a:rPr>
              <a:t>How to </a:t>
            </a:r>
            <a:r>
              <a:rPr lang="en-US" b="1" dirty="0">
                <a:solidFill>
                  <a:schemeClr val="bg1">
                    <a:lumMod val="65000"/>
                  </a:schemeClr>
                </a:solidFill>
              </a:rPr>
              <a:t>combine</a:t>
            </a:r>
            <a:r>
              <a:rPr lang="en-US" dirty="0">
                <a:solidFill>
                  <a:schemeClr val="bg1">
                    <a:lumMod val="65000"/>
                  </a:schemeClr>
                </a:solidFill>
              </a:rPr>
              <a:t> </a:t>
            </a:r>
            <a:r>
              <a:rPr lang="en-US" b="1" dirty="0">
                <a:solidFill>
                  <a:schemeClr val="bg1">
                    <a:lumMod val="65000"/>
                  </a:schemeClr>
                </a:solidFill>
              </a:rPr>
              <a:t>all</a:t>
            </a:r>
            <a:r>
              <a:rPr lang="en-US" dirty="0">
                <a:solidFill>
                  <a:schemeClr val="bg1">
                    <a:lumMod val="65000"/>
                  </a:schemeClr>
                </a:solidFill>
              </a:rPr>
              <a:t> </a:t>
            </a:r>
            <a:r>
              <a:rPr lang="en-US" b="1" dirty="0">
                <a:solidFill>
                  <a:schemeClr val="bg1">
                    <a:lumMod val="65000"/>
                  </a:schemeClr>
                </a:solidFill>
              </a:rPr>
              <a:t>optimizers</a:t>
            </a:r>
            <a:r>
              <a:rPr lang="en-US" dirty="0">
                <a:solidFill>
                  <a:schemeClr val="bg1">
                    <a:lumMod val="65000"/>
                  </a:schemeClr>
                </a:solidFill>
              </a:rPr>
              <a:t> </a:t>
            </a:r>
            <a:r>
              <a:rPr lang="en-US" b="1" dirty="0">
                <a:solidFill>
                  <a:schemeClr val="bg1">
                    <a:lumMod val="65000"/>
                  </a:schemeClr>
                </a:solidFill>
              </a:rPr>
              <a:t>concepts</a:t>
            </a:r>
            <a:r>
              <a:rPr lang="en-US" dirty="0">
                <a:solidFill>
                  <a:schemeClr val="bg1">
                    <a:lumMod val="65000"/>
                  </a:schemeClr>
                </a:solidFill>
              </a:rPr>
              <a:t> into a great optimizer?</a:t>
            </a:r>
          </a:p>
          <a:p>
            <a:pPr marL="514350" indent="-514350">
              <a:buFont typeface="+mj-lt"/>
              <a:buAutoNum type="arabicPeriod" startAt="9"/>
            </a:pPr>
            <a:endParaRPr lang="en-GB" dirty="0"/>
          </a:p>
        </p:txBody>
      </p:sp>
    </p:spTree>
    <p:extLst>
      <p:ext uri="{BB962C8B-B14F-4D97-AF65-F5344CB8AC3E}">
        <p14:creationId xmlns:p14="http://schemas.microsoft.com/office/powerpoint/2010/main" val="2904036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D40417-A4D3-4CE8-96E7-708E2439AE7B}"/>
              </a:ext>
            </a:extLst>
          </p:cNvPr>
          <p:cNvSpPr>
            <a:spLocks noGrp="1"/>
          </p:cNvSpPr>
          <p:nvPr>
            <p:ph type="title"/>
          </p:nvPr>
        </p:nvSpPr>
        <p:spPr/>
        <p:txBody>
          <a:bodyPr/>
          <a:lstStyle/>
          <a:p>
            <a:r>
              <a:rPr lang="en-US" dirty="0"/>
              <a:t>About this week (Week 2)</a:t>
            </a:r>
            <a:endParaRPr lang="en-GB" dirty="0"/>
          </a:p>
        </p:txBody>
      </p:sp>
      <p:sp>
        <p:nvSpPr>
          <p:cNvPr id="3" name="Content Placeholder 2">
            <a:extLst>
              <a:ext uri="{FF2B5EF4-FFF2-40B4-BE49-F238E27FC236}">
                <a16:creationId xmlns:a16="http://schemas.microsoft.com/office/drawing/2014/main" id="{35995840-A9D9-479A-A34F-EA7DC229D38E}"/>
              </a:ext>
            </a:extLst>
          </p:cNvPr>
          <p:cNvSpPr>
            <a:spLocks noGrp="1"/>
          </p:cNvSpPr>
          <p:nvPr>
            <p:ph idx="1"/>
          </p:nvPr>
        </p:nvSpPr>
        <p:spPr>
          <a:xfrm>
            <a:off x="838200" y="1825625"/>
            <a:ext cx="10515600" cy="4827102"/>
          </a:xfrm>
        </p:spPr>
        <p:txBody>
          <a:bodyPr/>
          <a:lstStyle/>
          <a:p>
            <a:pPr marL="514350" indent="-514350">
              <a:buFont typeface="+mj-lt"/>
              <a:buAutoNum type="arabicPeriod" startAt="17"/>
            </a:pPr>
            <a:r>
              <a:rPr lang="en-US" dirty="0">
                <a:solidFill>
                  <a:schemeClr val="bg1">
                    <a:lumMod val="65000"/>
                  </a:schemeClr>
                </a:solidFill>
              </a:rPr>
              <a:t>What is the </a:t>
            </a:r>
            <a:r>
              <a:rPr lang="en-US" b="1" dirty="0">
                <a:solidFill>
                  <a:schemeClr val="bg1">
                    <a:lumMod val="65000"/>
                  </a:schemeClr>
                </a:solidFill>
              </a:rPr>
              <a:t>no free lunch theorem</a:t>
            </a:r>
            <a:r>
              <a:rPr lang="en-US" dirty="0">
                <a:solidFill>
                  <a:schemeClr val="bg1">
                    <a:lumMod val="65000"/>
                  </a:schemeClr>
                </a:solidFill>
              </a:rPr>
              <a:t>?</a:t>
            </a:r>
          </a:p>
          <a:p>
            <a:pPr marL="514350" indent="-514350">
              <a:buFont typeface="+mj-lt"/>
              <a:buAutoNum type="arabicPeriod" startAt="17"/>
            </a:pPr>
            <a:r>
              <a:rPr lang="en-US" dirty="0"/>
              <a:t>What is the </a:t>
            </a:r>
            <a:r>
              <a:rPr lang="en-US" b="1" dirty="0"/>
              <a:t>train-test-validation split</a:t>
            </a:r>
            <a:r>
              <a:rPr lang="en-US" dirty="0"/>
              <a:t>?</a:t>
            </a:r>
            <a:br>
              <a:rPr lang="en-US" dirty="0"/>
            </a:br>
            <a:r>
              <a:rPr lang="en-US" dirty="0"/>
              <a:t>Why is it </a:t>
            </a:r>
            <a:r>
              <a:rPr lang="en-US" b="1" dirty="0"/>
              <a:t>good</a:t>
            </a:r>
            <a:r>
              <a:rPr lang="en-US" dirty="0"/>
              <a:t> </a:t>
            </a:r>
            <a:r>
              <a:rPr lang="en-US" b="1" dirty="0"/>
              <a:t>practice</a:t>
            </a:r>
            <a:r>
              <a:rPr lang="en-US" dirty="0"/>
              <a:t> to use an extra validation set?</a:t>
            </a:r>
          </a:p>
          <a:p>
            <a:pPr marL="514350" indent="-514350">
              <a:buFont typeface="+mj-lt"/>
              <a:buAutoNum type="arabicPeriod" startAt="17"/>
            </a:pPr>
            <a:r>
              <a:rPr lang="en-US" dirty="0"/>
              <a:t>What is the </a:t>
            </a:r>
            <a:r>
              <a:rPr lang="en-US" b="1" dirty="0"/>
              <a:t>early</a:t>
            </a:r>
            <a:r>
              <a:rPr lang="en-US" dirty="0"/>
              <a:t> </a:t>
            </a:r>
            <a:r>
              <a:rPr lang="en-US" b="1" dirty="0"/>
              <a:t>stopping</a:t>
            </a:r>
            <a:r>
              <a:rPr lang="en-US" dirty="0"/>
              <a:t> of optimizer concept?</a:t>
            </a:r>
            <a:br>
              <a:rPr lang="en-US" dirty="0"/>
            </a:br>
            <a:r>
              <a:rPr lang="en-US" dirty="0"/>
              <a:t>Why is it </a:t>
            </a:r>
            <a:r>
              <a:rPr lang="en-US" b="1" dirty="0"/>
              <a:t>good</a:t>
            </a:r>
            <a:r>
              <a:rPr lang="en-US" dirty="0"/>
              <a:t> </a:t>
            </a:r>
            <a:r>
              <a:rPr lang="en-US" b="1" dirty="0"/>
              <a:t>practice</a:t>
            </a:r>
            <a:r>
              <a:rPr lang="en-US" dirty="0"/>
              <a:t> to use it?</a:t>
            </a:r>
          </a:p>
          <a:p>
            <a:pPr marL="514350" indent="-514350">
              <a:buFont typeface="+mj-lt"/>
              <a:buAutoNum type="arabicPeriod" startAt="17"/>
            </a:pPr>
            <a:r>
              <a:rPr lang="en-US" dirty="0"/>
              <a:t>What are </a:t>
            </a:r>
            <a:r>
              <a:rPr lang="en-US" b="1" dirty="0"/>
              <a:t>saver</a:t>
            </a:r>
            <a:r>
              <a:rPr lang="en-US" dirty="0"/>
              <a:t> and </a:t>
            </a:r>
            <a:r>
              <a:rPr lang="en-US" b="1" dirty="0"/>
              <a:t>loader</a:t>
            </a:r>
            <a:r>
              <a:rPr lang="en-US" dirty="0"/>
              <a:t> functions?</a:t>
            </a:r>
            <a:br>
              <a:rPr lang="en-US" dirty="0"/>
            </a:br>
            <a:r>
              <a:rPr lang="en-US" dirty="0"/>
              <a:t>Why is it </a:t>
            </a:r>
            <a:r>
              <a:rPr lang="en-US" b="1" dirty="0"/>
              <a:t>good</a:t>
            </a:r>
            <a:r>
              <a:rPr lang="en-US" dirty="0"/>
              <a:t> </a:t>
            </a:r>
            <a:r>
              <a:rPr lang="en-US" b="1" dirty="0"/>
              <a:t>practice</a:t>
            </a:r>
            <a:r>
              <a:rPr lang="en-US" dirty="0"/>
              <a:t> to use them?</a:t>
            </a:r>
          </a:p>
          <a:p>
            <a:pPr marL="514350" indent="-514350">
              <a:buFont typeface="+mj-lt"/>
              <a:buAutoNum type="arabicPeriod" startAt="17"/>
            </a:pPr>
            <a:r>
              <a:rPr lang="en-US" dirty="0"/>
              <a:t>What are </a:t>
            </a:r>
            <a:r>
              <a:rPr lang="en-US" b="1" dirty="0"/>
              <a:t>other common good practices </a:t>
            </a:r>
            <a:r>
              <a:rPr lang="en-US" dirty="0"/>
              <a:t>when it comes to Neural Networks?</a:t>
            </a:r>
          </a:p>
          <a:p>
            <a:pPr marL="514350" indent="-514350">
              <a:buFont typeface="+mj-lt"/>
              <a:buAutoNum type="arabicPeriod" startAt="17"/>
            </a:pPr>
            <a:r>
              <a:rPr lang="en-US" dirty="0"/>
              <a:t>How to decide on </a:t>
            </a:r>
            <a:r>
              <a:rPr lang="en-US" b="1" dirty="0"/>
              <a:t>an appropriate number of layers and neurons</a:t>
            </a:r>
            <a:r>
              <a:rPr lang="en-US" dirty="0"/>
              <a:t>?</a:t>
            </a:r>
          </a:p>
          <a:p>
            <a:pPr marL="514350" indent="-514350">
              <a:buFont typeface="+mj-lt"/>
              <a:buAutoNum type="arabicPeriod" startAt="17"/>
            </a:pPr>
            <a:endParaRPr lang="en-GB" dirty="0"/>
          </a:p>
        </p:txBody>
      </p:sp>
    </p:spTree>
    <p:extLst>
      <p:ext uri="{BB962C8B-B14F-4D97-AF65-F5344CB8AC3E}">
        <p14:creationId xmlns:p14="http://schemas.microsoft.com/office/powerpoint/2010/main" val="409671738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3E33E8-2C3B-E5C7-E73C-86BCBC9D4811}"/>
              </a:ext>
            </a:extLst>
          </p:cNvPr>
          <p:cNvSpPr>
            <a:spLocks noGrp="1"/>
          </p:cNvSpPr>
          <p:nvPr>
            <p:ph type="title"/>
          </p:nvPr>
        </p:nvSpPr>
        <p:spPr/>
        <p:txBody>
          <a:bodyPr/>
          <a:lstStyle/>
          <a:p>
            <a:r>
              <a:rPr lang="en-GB" dirty="0"/>
              <a:t>Good Practice #1: Using additional performance metrics beyond loss</a:t>
            </a:r>
            <a:endParaRPr lang="en-SG" dirty="0"/>
          </a:p>
        </p:txBody>
      </p:sp>
      <p:sp>
        <p:nvSpPr>
          <p:cNvPr id="3" name="Content Placeholder 2">
            <a:extLst>
              <a:ext uri="{FF2B5EF4-FFF2-40B4-BE49-F238E27FC236}">
                <a16:creationId xmlns:a16="http://schemas.microsoft.com/office/drawing/2014/main" id="{0F53CA20-FD68-BCFD-A748-1DE206D1241E}"/>
              </a:ext>
            </a:extLst>
          </p:cNvPr>
          <p:cNvSpPr>
            <a:spLocks noGrp="1"/>
          </p:cNvSpPr>
          <p:nvPr>
            <p:ph idx="1"/>
          </p:nvPr>
        </p:nvSpPr>
        <p:spPr>
          <a:xfrm>
            <a:off x="838200" y="1825624"/>
            <a:ext cx="10515600" cy="5032375"/>
          </a:xfrm>
        </p:spPr>
        <p:txBody>
          <a:bodyPr>
            <a:normAutofit/>
          </a:bodyPr>
          <a:lstStyle/>
          <a:p>
            <a:pPr marL="0" indent="0">
              <a:buNone/>
            </a:pPr>
            <a:r>
              <a:rPr lang="en-GB" b="1" dirty="0"/>
              <a:t>Good practice #1: Using additional </a:t>
            </a:r>
            <a:r>
              <a:rPr lang="en-GB" b="1" dirty="0">
                <a:solidFill>
                  <a:srgbClr val="00B050"/>
                </a:solidFill>
              </a:rPr>
              <a:t>performance</a:t>
            </a:r>
            <a:r>
              <a:rPr lang="en-GB" b="1" dirty="0"/>
              <a:t> </a:t>
            </a:r>
            <a:r>
              <a:rPr lang="en-GB" b="1" dirty="0">
                <a:solidFill>
                  <a:srgbClr val="00B050"/>
                </a:solidFill>
              </a:rPr>
              <a:t>metrics</a:t>
            </a:r>
            <a:r>
              <a:rPr lang="en-GB" b="1" dirty="0"/>
              <a:t> beyond the loss function used for training</a:t>
            </a:r>
            <a:r>
              <a:rPr lang="en-GB" dirty="0"/>
              <a:t>.</a:t>
            </a:r>
          </a:p>
          <a:p>
            <a:r>
              <a:rPr lang="en-GB" dirty="0"/>
              <a:t>Loss functions are great functions to minimize during training (for instance MSE is convex, which is a nice property to have).</a:t>
            </a:r>
          </a:p>
          <a:p>
            <a:r>
              <a:rPr lang="en-GB" dirty="0"/>
              <a:t>But these loss functions do not always carry a meaning that is easily interpretable for humans. </a:t>
            </a:r>
            <a:r>
              <a:rPr lang="en-GB" b="1" dirty="0">
                <a:solidFill>
                  <a:srgbClr val="C00000"/>
                </a:solidFill>
              </a:rPr>
              <a:t>A low loss does not mean that a model has successfully trained and learnt to perform the task!</a:t>
            </a:r>
          </a:p>
          <a:p>
            <a:r>
              <a:rPr lang="en-GB" b="1" dirty="0"/>
              <a:t>For instance, the cross-entropy loss function we have used in binary classification does not tell us much about the actual performance of the model. Is it accurate? Or not?</a:t>
            </a:r>
          </a:p>
          <a:p>
            <a:r>
              <a:rPr lang="en-GB" dirty="0"/>
              <a:t>Recall notebook 4, when we had no activation functions.</a:t>
            </a:r>
          </a:p>
        </p:txBody>
      </p:sp>
    </p:spTree>
    <p:extLst>
      <p:ext uri="{BB962C8B-B14F-4D97-AF65-F5344CB8AC3E}">
        <p14:creationId xmlns:p14="http://schemas.microsoft.com/office/powerpoint/2010/main" val="163588846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3E33E8-2C3B-E5C7-E73C-86BCBC9D4811}"/>
              </a:ext>
            </a:extLst>
          </p:cNvPr>
          <p:cNvSpPr>
            <a:spLocks noGrp="1"/>
          </p:cNvSpPr>
          <p:nvPr>
            <p:ph type="title"/>
          </p:nvPr>
        </p:nvSpPr>
        <p:spPr/>
        <p:txBody>
          <a:bodyPr/>
          <a:lstStyle/>
          <a:p>
            <a:r>
              <a:rPr lang="en-GB" dirty="0"/>
              <a:t>Good Practice #1: Using additional performance metrics beyond loss</a:t>
            </a:r>
            <a:endParaRPr lang="en-SG" dirty="0"/>
          </a:p>
        </p:txBody>
      </p:sp>
      <p:sp>
        <p:nvSpPr>
          <p:cNvPr id="3" name="Content Placeholder 2">
            <a:extLst>
              <a:ext uri="{FF2B5EF4-FFF2-40B4-BE49-F238E27FC236}">
                <a16:creationId xmlns:a16="http://schemas.microsoft.com/office/drawing/2014/main" id="{0F53CA20-FD68-BCFD-A748-1DE206D1241E}"/>
              </a:ext>
            </a:extLst>
          </p:cNvPr>
          <p:cNvSpPr>
            <a:spLocks noGrp="1"/>
          </p:cNvSpPr>
          <p:nvPr>
            <p:ph idx="1"/>
          </p:nvPr>
        </p:nvSpPr>
        <p:spPr/>
        <p:txBody>
          <a:bodyPr/>
          <a:lstStyle/>
          <a:p>
            <a:pPr marL="0" indent="0">
              <a:buNone/>
            </a:pPr>
            <a:r>
              <a:rPr lang="en-GB" b="1" dirty="0"/>
              <a:t>Counter-example from Notebook 4:</a:t>
            </a:r>
          </a:p>
          <a:p>
            <a:pPr marL="0" indent="0">
              <a:buNone/>
            </a:pPr>
            <a:r>
              <a:rPr lang="en-GB" dirty="0"/>
              <a:t>We were able to train, if we consider the loss evolution curves…</a:t>
            </a:r>
          </a:p>
        </p:txBody>
      </p:sp>
      <p:pic>
        <p:nvPicPr>
          <p:cNvPr id="5" name="Picture 4">
            <a:extLst>
              <a:ext uri="{FF2B5EF4-FFF2-40B4-BE49-F238E27FC236}">
                <a16:creationId xmlns:a16="http://schemas.microsoft.com/office/drawing/2014/main" id="{F8996842-F32B-0B52-0823-ABDB4C05DA34}"/>
              </a:ext>
            </a:extLst>
          </p:cNvPr>
          <p:cNvPicPr>
            <a:picLocks noChangeAspect="1"/>
          </p:cNvPicPr>
          <p:nvPr/>
        </p:nvPicPr>
        <p:blipFill>
          <a:blip r:embed="rId2"/>
          <a:stretch>
            <a:fillRect/>
          </a:stretch>
        </p:blipFill>
        <p:spPr>
          <a:xfrm>
            <a:off x="469882" y="3063631"/>
            <a:ext cx="10416950" cy="3794369"/>
          </a:xfrm>
          <a:prstGeom prst="rect">
            <a:avLst/>
          </a:prstGeom>
        </p:spPr>
      </p:pic>
    </p:spTree>
    <p:extLst>
      <p:ext uri="{BB962C8B-B14F-4D97-AF65-F5344CB8AC3E}">
        <p14:creationId xmlns:p14="http://schemas.microsoft.com/office/powerpoint/2010/main" val="231252843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3E33E8-2C3B-E5C7-E73C-86BCBC9D4811}"/>
              </a:ext>
            </a:extLst>
          </p:cNvPr>
          <p:cNvSpPr>
            <a:spLocks noGrp="1"/>
          </p:cNvSpPr>
          <p:nvPr>
            <p:ph type="title"/>
          </p:nvPr>
        </p:nvSpPr>
        <p:spPr/>
        <p:txBody>
          <a:bodyPr/>
          <a:lstStyle/>
          <a:p>
            <a:r>
              <a:rPr lang="en-GB" dirty="0"/>
              <a:t>Good Practice #1: Using additional performance metrics beyond loss</a:t>
            </a:r>
            <a:endParaRPr lang="en-SG" dirty="0"/>
          </a:p>
        </p:txBody>
      </p:sp>
      <p:sp>
        <p:nvSpPr>
          <p:cNvPr id="3" name="Content Placeholder 2">
            <a:extLst>
              <a:ext uri="{FF2B5EF4-FFF2-40B4-BE49-F238E27FC236}">
                <a16:creationId xmlns:a16="http://schemas.microsoft.com/office/drawing/2014/main" id="{0F53CA20-FD68-BCFD-A748-1DE206D1241E}"/>
              </a:ext>
            </a:extLst>
          </p:cNvPr>
          <p:cNvSpPr>
            <a:spLocks noGrp="1"/>
          </p:cNvSpPr>
          <p:nvPr>
            <p:ph sz="half" idx="1"/>
          </p:nvPr>
        </p:nvSpPr>
        <p:spPr>
          <a:xfrm>
            <a:off x="470877" y="2006694"/>
            <a:ext cx="3991708" cy="4351338"/>
          </a:xfrm>
        </p:spPr>
        <p:txBody>
          <a:bodyPr/>
          <a:lstStyle/>
          <a:p>
            <a:pPr marL="0" indent="0">
              <a:buNone/>
            </a:pPr>
            <a:r>
              <a:rPr lang="en-GB" b="1" dirty="0"/>
              <a:t>Counter-example from Notebook 4:</a:t>
            </a:r>
          </a:p>
          <a:p>
            <a:pPr marL="0" indent="0">
              <a:buNone/>
            </a:pPr>
            <a:r>
              <a:rPr lang="en-GB" dirty="0"/>
              <a:t>If we consider the </a:t>
            </a:r>
            <a:r>
              <a:rPr lang="en-GB" b="1" dirty="0">
                <a:solidFill>
                  <a:srgbClr val="C00000"/>
                </a:solidFill>
              </a:rPr>
              <a:t>accuracy</a:t>
            </a:r>
            <a:r>
              <a:rPr lang="en-GB" dirty="0"/>
              <a:t> of the model, however…</a:t>
            </a:r>
          </a:p>
          <a:p>
            <a:pPr marL="0" indent="0">
              <a:buNone/>
            </a:pPr>
            <a:r>
              <a:rPr lang="en-GB" dirty="0"/>
              <a:t>Then it is fairly obvious that the model failed to produce the correct classification.</a:t>
            </a:r>
          </a:p>
        </p:txBody>
      </p:sp>
      <p:pic>
        <p:nvPicPr>
          <p:cNvPr id="6" name="Picture 5">
            <a:extLst>
              <a:ext uri="{FF2B5EF4-FFF2-40B4-BE49-F238E27FC236}">
                <a16:creationId xmlns:a16="http://schemas.microsoft.com/office/drawing/2014/main" id="{2481B786-0694-7C1A-F3EC-F92A6D7821FA}"/>
              </a:ext>
            </a:extLst>
          </p:cNvPr>
          <p:cNvPicPr>
            <a:picLocks noChangeAspect="1"/>
          </p:cNvPicPr>
          <p:nvPr/>
        </p:nvPicPr>
        <p:blipFill>
          <a:blip r:embed="rId2"/>
          <a:stretch>
            <a:fillRect/>
          </a:stretch>
        </p:blipFill>
        <p:spPr>
          <a:xfrm>
            <a:off x="4555678" y="1711432"/>
            <a:ext cx="7320489" cy="4941862"/>
          </a:xfrm>
          <a:prstGeom prst="rect">
            <a:avLst/>
          </a:prstGeom>
        </p:spPr>
      </p:pic>
    </p:spTree>
    <p:extLst>
      <p:ext uri="{BB962C8B-B14F-4D97-AF65-F5344CB8AC3E}">
        <p14:creationId xmlns:p14="http://schemas.microsoft.com/office/powerpoint/2010/main" val="277003236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3E33E8-2C3B-E5C7-E73C-86BCBC9D4811}"/>
              </a:ext>
            </a:extLst>
          </p:cNvPr>
          <p:cNvSpPr>
            <a:spLocks noGrp="1"/>
          </p:cNvSpPr>
          <p:nvPr>
            <p:ph type="title"/>
          </p:nvPr>
        </p:nvSpPr>
        <p:spPr/>
        <p:txBody>
          <a:bodyPr/>
          <a:lstStyle/>
          <a:p>
            <a:r>
              <a:rPr lang="en-GB" dirty="0"/>
              <a:t>Good Practice #1: Using additional performance metrics beyond loss</a:t>
            </a:r>
            <a:endParaRPr lang="en-SG" dirty="0"/>
          </a:p>
        </p:txBody>
      </p:sp>
      <p:sp>
        <p:nvSpPr>
          <p:cNvPr id="3" name="Content Placeholder 2">
            <a:extLst>
              <a:ext uri="{FF2B5EF4-FFF2-40B4-BE49-F238E27FC236}">
                <a16:creationId xmlns:a16="http://schemas.microsoft.com/office/drawing/2014/main" id="{0F53CA20-FD68-BCFD-A748-1DE206D1241E}"/>
              </a:ext>
            </a:extLst>
          </p:cNvPr>
          <p:cNvSpPr>
            <a:spLocks noGrp="1"/>
          </p:cNvSpPr>
          <p:nvPr>
            <p:ph idx="1"/>
          </p:nvPr>
        </p:nvSpPr>
        <p:spPr/>
        <p:txBody>
          <a:bodyPr/>
          <a:lstStyle/>
          <a:p>
            <a:pPr marL="0" indent="0">
              <a:buNone/>
            </a:pPr>
            <a:r>
              <a:rPr lang="en-GB" dirty="0"/>
              <a:t>As such, it would be a good idea to have </a:t>
            </a:r>
            <a:r>
              <a:rPr lang="en-GB" b="1" dirty="0"/>
              <a:t>some</a:t>
            </a:r>
            <a:r>
              <a:rPr lang="en-GB" dirty="0"/>
              <a:t> </a:t>
            </a:r>
            <a:r>
              <a:rPr lang="en-GB" b="1" dirty="0"/>
              <a:t>more interpretable performance metrics on the side</a:t>
            </a:r>
            <a:r>
              <a:rPr lang="en-GB" dirty="0"/>
              <a:t>, such as the accuracy for instance, to display along with the loss function during training.</a:t>
            </a:r>
          </a:p>
          <a:p>
            <a:pPr marL="0" indent="0">
              <a:buNone/>
            </a:pPr>
            <a:r>
              <a:rPr lang="en-GB" dirty="0"/>
              <a:t>This could confirm that the model succeeds at the task (or not).</a:t>
            </a:r>
          </a:p>
          <a:p>
            <a:pPr marL="0" indent="0">
              <a:buNone/>
            </a:pPr>
            <a:r>
              <a:rPr lang="en-GB" b="1" dirty="0"/>
              <a:t>1. Let us start by adding an accuracy method to our model.</a:t>
            </a:r>
          </a:p>
        </p:txBody>
      </p:sp>
      <p:pic>
        <p:nvPicPr>
          <p:cNvPr id="5" name="Picture 4">
            <a:extLst>
              <a:ext uri="{FF2B5EF4-FFF2-40B4-BE49-F238E27FC236}">
                <a16:creationId xmlns:a16="http://schemas.microsoft.com/office/drawing/2014/main" id="{7D53ED5B-324E-7476-090D-FCAA6AF60E4C}"/>
              </a:ext>
            </a:extLst>
          </p:cNvPr>
          <p:cNvPicPr>
            <a:picLocks noChangeAspect="1"/>
          </p:cNvPicPr>
          <p:nvPr/>
        </p:nvPicPr>
        <p:blipFill>
          <a:blip r:embed="rId2"/>
          <a:stretch>
            <a:fillRect/>
          </a:stretch>
        </p:blipFill>
        <p:spPr>
          <a:xfrm>
            <a:off x="186698" y="5182426"/>
            <a:ext cx="11693507" cy="1390311"/>
          </a:xfrm>
          <a:prstGeom prst="rect">
            <a:avLst/>
          </a:prstGeom>
        </p:spPr>
      </p:pic>
    </p:spTree>
    <p:extLst>
      <p:ext uri="{BB962C8B-B14F-4D97-AF65-F5344CB8AC3E}">
        <p14:creationId xmlns:p14="http://schemas.microsoft.com/office/powerpoint/2010/main" val="210610266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3E33E8-2C3B-E5C7-E73C-86BCBC9D4811}"/>
              </a:ext>
            </a:extLst>
          </p:cNvPr>
          <p:cNvSpPr>
            <a:spLocks noGrp="1"/>
          </p:cNvSpPr>
          <p:nvPr>
            <p:ph type="title"/>
          </p:nvPr>
        </p:nvSpPr>
        <p:spPr/>
        <p:txBody>
          <a:bodyPr/>
          <a:lstStyle/>
          <a:p>
            <a:r>
              <a:rPr lang="en-GB" dirty="0"/>
              <a:t>Good Practice #1: Using additional performance metrics beyond loss</a:t>
            </a:r>
            <a:endParaRPr lang="en-SG" dirty="0"/>
          </a:p>
        </p:txBody>
      </p:sp>
      <p:sp>
        <p:nvSpPr>
          <p:cNvPr id="3" name="Content Placeholder 2">
            <a:extLst>
              <a:ext uri="{FF2B5EF4-FFF2-40B4-BE49-F238E27FC236}">
                <a16:creationId xmlns:a16="http://schemas.microsoft.com/office/drawing/2014/main" id="{0F53CA20-FD68-BCFD-A748-1DE206D1241E}"/>
              </a:ext>
            </a:extLst>
          </p:cNvPr>
          <p:cNvSpPr>
            <a:spLocks noGrp="1"/>
          </p:cNvSpPr>
          <p:nvPr>
            <p:ph idx="1"/>
          </p:nvPr>
        </p:nvSpPr>
        <p:spPr/>
        <p:txBody>
          <a:bodyPr/>
          <a:lstStyle/>
          <a:p>
            <a:pPr marL="0" indent="0">
              <a:buNone/>
            </a:pPr>
            <a:r>
              <a:rPr lang="en-GB" dirty="0"/>
              <a:t>As such, it would be a good idea to have </a:t>
            </a:r>
            <a:r>
              <a:rPr lang="en-GB" b="1" dirty="0"/>
              <a:t>some</a:t>
            </a:r>
            <a:r>
              <a:rPr lang="en-GB" dirty="0"/>
              <a:t> </a:t>
            </a:r>
            <a:r>
              <a:rPr lang="en-GB" b="1" dirty="0"/>
              <a:t>more interpretable performance metrics on the side</a:t>
            </a:r>
            <a:r>
              <a:rPr lang="en-GB" dirty="0"/>
              <a:t>, such as the accuracy for instance, to display along with the loss function during training.</a:t>
            </a:r>
          </a:p>
          <a:p>
            <a:pPr marL="0" indent="0">
              <a:buNone/>
            </a:pPr>
            <a:r>
              <a:rPr lang="en-GB" dirty="0"/>
              <a:t>This could confirm that the model succeeds at the task (or not).</a:t>
            </a:r>
          </a:p>
          <a:p>
            <a:pPr marL="0" indent="0">
              <a:buNone/>
            </a:pPr>
            <a:r>
              <a:rPr lang="en-GB" b="1" dirty="0"/>
              <a:t>2. We can then add another list for tracking accuracies, along with losses during training.</a:t>
            </a:r>
          </a:p>
        </p:txBody>
      </p:sp>
      <p:pic>
        <p:nvPicPr>
          <p:cNvPr id="6" name="Picture 5">
            <a:extLst>
              <a:ext uri="{FF2B5EF4-FFF2-40B4-BE49-F238E27FC236}">
                <a16:creationId xmlns:a16="http://schemas.microsoft.com/office/drawing/2014/main" id="{CED82A01-D195-2C28-A71D-87A59FBB806F}"/>
              </a:ext>
            </a:extLst>
          </p:cNvPr>
          <p:cNvPicPr>
            <a:picLocks noChangeAspect="1"/>
          </p:cNvPicPr>
          <p:nvPr/>
        </p:nvPicPr>
        <p:blipFill>
          <a:blip r:embed="rId2"/>
          <a:stretch>
            <a:fillRect/>
          </a:stretch>
        </p:blipFill>
        <p:spPr>
          <a:xfrm>
            <a:off x="1214123" y="4779437"/>
            <a:ext cx="9763754" cy="1744265"/>
          </a:xfrm>
          <a:prstGeom prst="rect">
            <a:avLst/>
          </a:prstGeom>
        </p:spPr>
      </p:pic>
    </p:spTree>
    <p:extLst>
      <p:ext uri="{BB962C8B-B14F-4D97-AF65-F5344CB8AC3E}">
        <p14:creationId xmlns:p14="http://schemas.microsoft.com/office/powerpoint/2010/main" val="313475654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3E33E8-2C3B-E5C7-E73C-86BCBC9D4811}"/>
              </a:ext>
            </a:extLst>
          </p:cNvPr>
          <p:cNvSpPr>
            <a:spLocks noGrp="1"/>
          </p:cNvSpPr>
          <p:nvPr>
            <p:ph type="title"/>
          </p:nvPr>
        </p:nvSpPr>
        <p:spPr/>
        <p:txBody>
          <a:bodyPr/>
          <a:lstStyle/>
          <a:p>
            <a:r>
              <a:rPr lang="en-GB" dirty="0"/>
              <a:t>Good Practice #1: Using additional performance metrics beyond loss</a:t>
            </a:r>
            <a:endParaRPr lang="en-SG" dirty="0"/>
          </a:p>
        </p:txBody>
      </p:sp>
      <p:sp>
        <p:nvSpPr>
          <p:cNvPr id="3" name="Content Placeholder 2">
            <a:extLst>
              <a:ext uri="{FF2B5EF4-FFF2-40B4-BE49-F238E27FC236}">
                <a16:creationId xmlns:a16="http://schemas.microsoft.com/office/drawing/2014/main" id="{0F53CA20-FD68-BCFD-A748-1DE206D1241E}"/>
              </a:ext>
            </a:extLst>
          </p:cNvPr>
          <p:cNvSpPr>
            <a:spLocks noGrp="1"/>
          </p:cNvSpPr>
          <p:nvPr>
            <p:ph idx="1"/>
          </p:nvPr>
        </p:nvSpPr>
        <p:spPr/>
        <p:txBody>
          <a:bodyPr/>
          <a:lstStyle/>
          <a:p>
            <a:pPr marL="0" indent="0">
              <a:buNone/>
            </a:pPr>
            <a:r>
              <a:rPr lang="en-GB" dirty="0"/>
              <a:t>As such, it would be a good idea to have </a:t>
            </a:r>
            <a:r>
              <a:rPr lang="en-GB" b="1" dirty="0"/>
              <a:t>some</a:t>
            </a:r>
            <a:r>
              <a:rPr lang="en-GB" dirty="0"/>
              <a:t> </a:t>
            </a:r>
            <a:r>
              <a:rPr lang="en-GB" b="1" dirty="0"/>
              <a:t>more interpretable performance metrics on the side</a:t>
            </a:r>
            <a:r>
              <a:rPr lang="en-GB" dirty="0"/>
              <a:t>, such as the accuracy for instance, to display along with the loss function during training.</a:t>
            </a:r>
          </a:p>
          <a:p>
            <a:pPr marL="0" indent="0">
              <a:buNone/>
            </a:pPr>
            <a:r>
              <a:rPr lang="en-GB" dirty="0"/>
              <a:t>This could confirm that the model succeeds at the task (or not).</a:t>
            </a:r>
          </a:p>
          <a:p>
            <a:pPr marL="0" indent="0">
              <a:buNone/>
            </a:pPr>
            <a:r>
              <a:rPr lang="en-GB" b="1" dirty="0"/>
              <a:t>3. During training we will update the accuracy of the model, appending to list, and displaying them during training along with loss.</a:t>
            </a:r>
          </a:p>
        </p:txBody>
      </p:sp>
      <p:pic>
        <p:nvPicPr>
          <p:cNvPr id="5" name="Picture 4">
            <a:extLst>
              <a:ext uri="{FF2B5EF4-FFF2-40B4-BE49-F238E27FC236}">
                <a16:creationId xmlns:a16="http://schemas.microsoft.com/office/drawing/2014/main" id="{C4079C9D-8EF8-2D5B-7382-55FCE3171E8E}"/>
              </a:ext>
            </a:extLst>
          </p:cNvPr>
          <p:cNvPicPr>
            <a:picLocks noChangeAspect="1"/>
          </p:cNvPicPr>
          <p:nvPr/>
        </p:nvPicPr>
        <p:blipFill>
          <a:blip r:embed="rId2"/>
          <a:stretch>
            <a:fillRect/>
          </a:stretch>
        </p:blipFill>
        <p:spPr>
          <a:xfrm>
            <a:off x="669160" y="4854362"/>
            <a:ext cx="10615087" cy="1551354"/>
          </a:xfrm>
          <a:prstGeom prst="rect">
            <a:avLst/>
          </a:prstGeom>
        </p:spPr>
      </p:pic>
    </p:spTree>
    <p:extLst>
      <p:ext uri="{BB962C8B-B14F-4D97-AF65-F5344CB8AC3E}">
        <p14:creationId xmlns:p14="http://schemas.microsoft.com/office/powerpoint/2010/main" val="192019135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3E33E8-2C3B-E5C7-E73C-86BCBC9D4811}"/>
              </a:ext>
            </a:extLst>
          </p:cNvPr>
          <p:cNvSpPr>
            <a:spLocks noGrp="1"/>
          </p:cNvSpPr>
          <p:nvPr>
            <p:ph type="title"/>
          </p:nvPr>
        </p:nvSpPr>
        <p:spPr/>
        <p:txBody>
          <a:bodyPr/>
          <a:lstStyle/>
          <a:p>
            <a:r>
              <a:rPr lang="en-GB" dirty="0"/>
              <a:t>Good Practice #1: Using additional performance metrics beyond loss</a:t>
            </a:r>
            <a:endParaRPr lang="en-SG" dirty="0"/>
          </a:p>
        </p:txBody>
      </p:sp>
      <p:sp>
        <p:nvSpPr>
          <p:cNvPr id="3" name="Content Placeholder 2">
            <a:extLst>
              <a:ext uri="{FF2B5EF4-FFF2-40B4-BE49-F238E27FC236}">
                <a16:creationId xmlns:a16="http://schemas.microsoft.com/office/drawing/2014/main" id="{0F53CA20-FD68-BCFD-A748-1DE206D1241E}"/>
              </a:ext>
            </a:extLst>
          </p:cNvPr>
          <p:cNvSpPr>
            <a:spLocks noGrp="1"/>
          </p:cNvSpPr>
          <p:nvPr>
            <p:ph idx="1"/>
          </p:nvPr>
        </p:nvSpPr>
        <p:spPr/>
        <p:txBody>
          <a:bodyPr/>
          <a:lstStyle/>
          <a:p>
            <a:pPr marL="0" indent="0">
              <a:buNone/>
            </a:pPr>
            <a:r>
              <a:rPr lang="en-GB" dirty="0"/>
              <a:t>As such, it would be a good idea to have </a:t>
            </a:r>
            <a:r>
              <a:rPr lang="en-GB" b="1" dirty="0"/>
              <a:t>some</a:t>
            </a:r>
            <a:r>
              <a:rPr lang="en-GB" dirty="0"/>
              <a:t> </a:t>
            </a:r>
            <a:r>
              <a:rPr lang="en-GB" b="1" dirty="0"/>
              <a:t>more interpretable performance metrics on the side</a:t>
            </a:r>
            <a:r>
              <a:rPr lang="en-GB" dirty="0"/>
              <a:t>, such as the accuracy for instance, to display along with the loss function during training.</a:t>
            </a:r>
          </a:p>
          <a:p>
            <a:pPr marL="0" indent="0">
              <a:buNone/>
            </a:pPr>
            <a:r>
              <a:rPr lang="en-GB" dirty="0"/>
              <a:t>This could confirm that the model succeeds at the task (or not).</a:t>
            </a:r>
          </a:p>
          <a:p>
            <a:pPr marL="0" indent="0">
              <a:buNone/>
            </a:pPr>
            <a:r>
              <a:rPr lang="en-GB" b="1" dirty="0"/>
              <a:t>4. Finally, amend our performance curves to show evolution of accuracy over the training iterations.</a:t>
            </a:r>
          </a:p>
        </p:txBody>
      </p:sp>
      <p:pic>
        <p:nvPicPr>
          <p:cNvPr id="6" name="Picture 5">
            <a:extLst>
              <a:ext uri="{FF2B5EF4-FFF2-40B4-BE49-F238E27FC236}">
                <a16:creationId xmlns:a16="http://schemas.microsoft.com/office/drawing/2014/main" id="{4EFF7029-43C4-21B4-3400-283B786D84E9}"/>
              </a:ext>
            </a:extLst>
          </p:cNvPr>
          <p:cNvPicPr>
            <a:picLocks noChangeAspect="1"/>
          </p:cNvPicPr>
          <p:nvPr/>
        </p:nvPicPr>
        <p:blipFill>
          <a:blip r:embed="rId2"/>
          <a:stretch>
            <a:fillRect/>
          </a:stretch>
        </p:blipFill>
        <p:spPr>
          <a:xfrm>
            <a:off x="1278571" y="5097509"/>
            <a:ext cx="10141517" cy="1475355"/>
          </a:xfrm>
          <a:prstGeom prst="rect">
            <a:avLst/>
          </a:prstGeom>
        </p:spPr>
      </p:pic>
    </p:spTree>
    <p:extLst>
      <p:ext uri="{BB962C8B-B14F-4D97-AF65-F5344CB8AC3E}">
        <p14:creationId xmlns:p14="http://schemas.microsoft.com/office/powerpoint/2010/main" val="292062033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3E33E8-2C3B-E5C7-E73C-86BCBC9D4811}"/>
              </a:ext>
            </a:extLst>
          </p:cNvPr>
          <p:cNvSpPr>
            <a:spLocks noGrp="1"/>
          </p:cNvSpPr>
          <p:nvPr>
            <p:ph type="title"/>
          </p:nvPr>
        </p:nvSpPr>
        <p:spPr/>
        <p:txBody>
          <a:bodyPr/>
          <a:lstStyle/>
          <a:p>
            <a:r>
              <a:rPr lang="en-GB" dirty="0"/>
              <a:t>Good Practice #1: Using additional performance metrics beyond loss</a:t>
            </a:r>
            <a:endParaRPr lang="en-SG" dirty="0"/>
          </a:p>
        </p:txBody>
      </p:sp>
      <p:sp>
        <p:nvSpPr>
          <p:cNvPr id="3" name="Content Placeholder 2">
            <a:extLst>
              <a:ext uri="{FF2B5EF4-FFF2-40B4-BE49-F238E27FC236}">
                <a16:creationId xmlns:a16="http://schemas.microsoft.com/office/drawing/2014/main" id="{0F53CA20-FD68-BCFD-A748-1DE206D1241E}"/>
              </a:ext>
            </a:extLst>
          </p:cNvPr>
          <p:cNvSpPr>
            <a:spLocks noGrp="1"/>
          </p:cNvSpPr>
          <p:nvPr>
            <p:ph idx="1"/>
          </p:nvPr>
        </p:nvSpPr>
        <p:spPr>
          <a:xfrm>
            <a:off x="838199" y="1825624"/>
            <a:ext cx="4937370" cy="5032375"/>
          </a:xfrm>
        </p:spPr>
        <p:txBody>
          <a:bodyPr>
            <a:normAutofit/>
          </a:bodyPr>
          <a:lstStyle/>
          <a:p>
            <a:pPr marL="0" indent="0">
              <a:buNone/>
            </a:pPr>
            <a:r>
              <a:rPr lang="en-GB" dirty="0"/>
              <a:t>When the model is trained, we can see the evolution of the accuracy performance metric.</a:t>
            </a:r>
            <a:br>
              <a:rPr lang="en-GB" dirty="0"/>
            </a:br>
            <a:endParaRPr lang="en-GB" dirty="0"/>
          </a:p>
          <a:p>
            <a:pPr marL="0" indent="0">
              <a:buNone/>
            </a:pPr>
            <a:r>
              <a:rPr lang="en-GB" dirty="0"/>
              <a:t>This accuracy score is a more interpretable metric for humans.</a:t>
            </a:r>
          </a:p>
          <a:p>
            <a:pPr marL="0" indent="0">
              <a:buNone/>
            </a:pPr>
            <a:endParaRPr lang="en-GB" dirty="0"/>
          </a:p>
          <a:p>
            <a:pPr marL="0" indent="0">
              <a:buNone/>
            </a:pPr>
            <a:r>
              <a:rPr lang="en-GB" dirty="0"/>
              <a:t>Here, it shows that the model accuracy increases and approaches 100%, which is a (very) good sign.</a:t>
            </a:r>
          </a:p>
        </p:txBody>
      </p:sp>
      <p:pic>
        <p:nvPicPr>
          <p:cNvPr id="5" name="Picture 4">
            <a:extLst>
              <a:ext uri="{FF2B5EF4-FFF2-40B4-BE49-F238E27FC236}">
                <a16:creationId xmlns:a16="http://schemas.microsoft.com/office/drawing/2014/main" id="{2C27AF9B-A891-01FC-551F-C9477D886563}"/>
              </a:ext>
            </a:extLst>
          </p:cNvPr>
          <p:cNvPicPr>
            <a:picLocks noChangeAspect="1"/>
          </p:cNvPicPr>
          <p:nvPr/>
        </p:nvPicPr>
        <p:blipFill>
          <a:blip r:embed="rId2"/>
          <a:stretch>
            <a:fillRect/>
          </a:stretch>
        </p:blipFill>
        <p:spPr>
          <a:xfrm>
            <a:off x="5775569" y="1770093"/>
            <a:ext cx="6228491" cy="5087907"/>
          </a:xfrm>
          <a:prstGeom prst="rect">
            <a:avLst/>
          </a:prstGeom>
        </p:spPr>
      </p:pic>
    </p:spTree>
    <p:extLst>
      <p:ext uri="{BB962C8B-B14F-4D97-AF65-F5344CB8AC3E}">
        <p14:creationId xmlns:p14="http://schemas.microsoft.com/office/powerpoint/2010/main" val="282168564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3E33E8-2C3B-E5C7-E73C-86BCBC9D4811}"/>
              </a:ext>
            </a:extLst>
          </p:cNvPr>
          <p:cNvSpPr>
            <a:spLocks noGrp="1"/>
          </p:cNvSpPr>
          <p:nvPr>
            <p:ph type="title"/>
          </p:nvPr>
        </p:nvSpPr>
        <p:spPr/>
        <p:txBody>
          <a:bodyPr/>
          <a:lstStyle/>
          <a:p>
            <a:r>
              <a:rPr lang="en-GB" dirty="0"/>
              <a:t>Good Practice #1: Using additional performance metrics beyond loss</a:t>
            </a:r>
            <a:endParaRPr lang="en-SG" dirty="0"/>
          </a:p>
        </p:txBody>
      </p:sp>
      <p:sp>
        <p:nvSpPr>
          <p:cNvPr id="3" name="Content Placeholder 2">
            <a:extLst>
              <a:ext uri="{FF2B5EF4-FFF2-40B4-BE49-F238E27FC236}">
                <a16:creationId xmlns:a16="http://schemas.microsoft.com/office/drawing/2014/main" id="{0F53CA20-FD68-BCFD-A748-1DE206D1241E}"/>
              </a:ext>
            </a:extLst>
          </p:cNvPr>
          <p:cNvSpPr>
            <a:spLocks noGrp="1"/>
          </p:cNvSpPr>
          <p:nvPr>
            <p:ph idx="1"/>
          </p:nvPr>
        </p:nvSpPr>
        <p:spPr/>
        <p:txBody>
          <a:bodyPr/>
          <a:lstStyle/>
          <a:p>
            <a:pPr marL="0" indent="0">
              <a:buNone/>
            </a:pPr>
            <a:r>
              <a:rPr lang="en-GB" dirty="0"/>
              <a:t>And of course, additional metrics means additional training curves.</a:t>
            </a:r>
          </a:p>
        </p:txBody>
      </p:sp>
      <p:pic>
        <p:nvPicPr>
          <p:cNvPr id="6" name="Picture 5">
            <a:extLst>
              <a:ext uri="{FF2B5EF4-FFF2-40B4-BE49-F238E27FC236}">
                <a16:creationId xmlns:a16="http://schemas.microsoft.com/office/drawing/2014/main" id="{4540EFBF-8578-A5F3-4010-B316A15A456E}"/>
              </a:ext>
            </a:extLst>
          </p:cNvPr>
          <p:cNvPicPr>
            <a:picLocks noChangeAspect="1"/>
          </p:cNvPicPr>
          <p:nvPr/>
        </p:nvPicPr>
        <p:blipFill>
          <a:blip r:embed="rId2"/>
          <a:stretch>
            <a:fillRect/>
          </a:stretch>
        </p:blipFill>
        <p:spPr>
          <a:xfrm>
            <a:off x="1560146" y="2470675"/>
            <a:ext cx="9071708" cy="4387325"/>
          </a:xfrm>
          <a:prstGeom prst="rect">
            <a:avLst/>
          </a:prstGeom>
        </p:spPr>
      </p:pic>
    </p:spTree>
    <p:extLst>
      <p:ext uri="{BB962C8B-B14F-4D97-AF65-F5344CB8AC3E}">
        <p14:creationId xmlns:p14="http://schemas.microsoft.com/office/powerpoint/2010/main" val="184467241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3E33E8-2C3B-E5C7-E73C-86BCBC9D4811}"/>
              </a:ext>
            </a:extLst>
          </p:cNvPr>
          <p:cNvSpPr>
            <a:spLocks noGrp="1"/>
          </p:cNvSpPr>
          <p:nvPr>
            <p:ph type="title"/>
          </p:nvPr>
        </p:nvSpPr>
        <p:spPr/>
        <p:txBody>
          <a:bodyPr/>
          <a:lstStyle/>
          <a:p>
            <a:r>
              <a:rPr lang="en-GB" dirty="0"/>
              <a:t>Good Practice #2: Using a train-test-valid split</a:t>
            </a:r>
            <a:endParaRPr lang="en-SG" dirty="0"/>
          </a:p>
        </p:txBody>
      </p:sp>
      <p:sp>
        <p:nvSpPr>
          <p:cNvPr id="3" name="Content Placeholder 2">
            <a:extLst>
              <a:ext uri="{FF2B5EF4-FFF2-40B4-BE49-F238E27FC236}">
                <a16:creationId xmlns:a16="http://schemas.microsoft.com/office/drawing/2014/main" id="{0F53CA20-FD68-BCFD-A748-1DE206D1241E}"/>
              </a:ext>
            </a:extLst>
          </p:cNvPr>
          <p:cNvSpPr>
            <a:spLocks noGrp="1"/>
          </p:cNvSpPr>
          <p:nvPr>
            <p:ph idx="1"/>
          </p:nvPr>
        </p:nvSpPr>
        <p:spPr>
          <a:xfrm>
            <a:off x="838200" y="1825624"/>
            <a:ext cx="10515600" cy="5032375"/>
          </a:xfrm>
        </p:spPr>
        <p:txBody>
          <a:bodyPr/>
          <a:lstStyle/>
          <a:p>
            <a:pPr marL="0" indent="0">
              <a:buNone/>
            </a:pPr>
            <a:r>
              <a:rPr lang="en-GB" b="1" dirty="0"/>
              <a:t>Good practice #2: Using a </a:t>
            </a:r>
            <a:r>
              <a:rPr lang="en-GB" b="1" dirty="0">
                <a:solidFill>
                  <a:srgbClr val="00B050"/>
                </a:solidFill>
              </a:rPr>
              <a:t>train-test-validation split</a:t>
            </a:r>
            <a:r>
              <a:rPr lang="en-GB" dirty="0"/>
              <a:t>.</a:t>
            </a:r>
          </a:p>
          <a:p>
            <a:pPr marL="0" indent="0">
              <a:buNone/>
            </a:pPr>
            <a:r>
              <a:rPr lang="en-GB" dirty="0"/>
              <a:t>If you allow the model to train, you will most likely realize that the accuracy reaches 100% (or close to 100% after a few iterations).</a:t>
            </a:r>
          </a:p>
          <a:p>
            <a:pPr marL="0" indent="0">
              <a:buNone/>
            </a:pPr>
            <a:r>
              <a:rPr lang="en-GB" dirty="0"/>
              <a:t>The loss could, however, be minimized even further. </a:t>
            </a:r>
          </a:p>
          <a:p>
            <a:pPr marL="0" indent="0">
              <a:buNone/>
            </a:pPr>
            <a:endParaRPr lang="en-GB" dirty="0"/>
          </a:p>
          <a:p>
            <a:pPr marL="0" indent="0">
              <a:buNone/>
            </a:pPr>
            <a:r>
              <a:rPr lang="en-GB" dirty="0"/>
              <a:t>This raises a few questions:</a:t>
            </a:r>
          </a:p>
          <a:p>
            <a:pPr marL="0" indent="0">
              <a:buNone/>
            </a:pPr>
            <a:r>
              <a:rPr lang="en-GB" b="1" dirty="0"/>
              <a:t>- Should we have stopped when the accuracy was already 100%?</a:t>
            </a:r>
          </a:p>
          <a:p>
            <a:pPr marL="0" indent="0">
              <a:buNone/>
            </a:pPr>
            <a:r>
              <a:rPr lang="en-GB" b="1" dirty="0"/>
              <a:t>- Are we at risk of overfitting by pursuing the training in an attempt to minimize the loss even more, even though it will not improve the accuracy further?</a:t>
            </a:r>
            <a:endParaRPr lang="en-SG" b="1" dirty="0"/>
          </a:p>
        </p:txBody>
      </p:sp>
    </p:spTree>
    <p:extLst>
      <p:ext uri="{BB962C8B-B14F-4D97-AF65-F5344CB8AC3E}">
        <p14:creationId xmlns:p14="http://schemas.microsoft.com/office/powerpoint/2010/main" val="151955241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3E33E8-2C3B-E5C7-E73C-86BCBC9D4811}"/>
              </a:ext>
            </a:extLst>
          </p:cNvPr>
          <p:cNvSpPr>
            <a:spLocks noGrp="1"/>
          </p:cNvSpPr>
          <p:nvPr>
            <p:ph type="title"/>
          </p:nvPr>
        </p:nvSpPr>
        <p:spPr/>
        <p:txBody>
          <a:bodyPr/>
          <a:lstStyle/>
          <a:p>
            <a:r>
              <a:rPr lang="en-GB" dirty="0"/>
              <a:t>Good Practice #2: Using a train-test-valid split</a:t>
            </a:r>
            <a:endParaRPr lang="en-SG" dirty="0"/>
          </a:p>
        </p:txBody>
      </p:sp>
      <p:sp>
        <p:nvSpPr>
          <p:cNvPr id="3" name="Content Placeholder 2">
            <a:extLst>
              <a:ext uri="{FF2B5EF4-FFF2-40B4-BE49-F238E27FC236}">
                <a16:creationId xmlns:a16="http://schemas.microsoft.com/office/drawing/2014/main" id="{0F53CA20-FD68-BCFD-A748-1DE206D1241E}"/>
              </a:ext>
            </a:extLst>
          </p:cNvPr>
          <p:cNvSpPr>
            <a:spLocks noGrp="1"/>
          </p:cNvSpPr>
          <p:nvPr>
            <p:ph idx="1"/>
          </p:nvPr>
        </p:nvSpPr>
        <p:spPr>
          <a:xfrm>
            <a:off x="838200" y="1825624"/>
            <a:ext cx="10515600" cy="5032375"/>
          </a:xfrm>
        </p:spPr>
        <p:txBody>
          <a:bodyPr/>
          <a:lstStyle/>
          <a:p>
            <a:pPr marL="0" indent="0">
              <a:buNone/>
            </a:pPr>
            <a:r>
              <a:rPr lang="en-SG" dirty="0"/>
              <a:t>While it is true that we are using the minimization of the loss function to train our model and decide on its parameters...</a:t>
            </a:r>
          </a:p>
          <a:p>
            <a:pPr marL="0" indent="0">
              <a:buNone/>
            </a:pPr>
            <a:r>
              <a:rPr lang="en-SG" b="1" dirty="0">
                <a:solidFill>
                  <a:srgbClr val="FF0000"/>
                </a:solidFill>
              </a:rPr>
              <a:t>Our ultimate objective was </a:t>
            </a:r>
            <a:r>
              <a:rPr lang="en-SG" b="1" u="sng" dirty="0">
                <a:solidFill>
                  <a:srgbClr val="FF0000"/>
                </a:solidFill>
              </a:rPr>
              <a:t>NEVER</a:t>
            </a:r>
            <a:r>
              <a:rPr lang="en-SG" b="1" dirty="0">
                <a:solidFill>
                  <a:srgbClr val="FF0000"/>
                </a:solidFill>
              </a:rPr>
              <a:t> to minimize the </a:t>
            </a:r>
            <a:r>
              <a:rPr lang="en-SG" b="1" u="sng" dirty="0">
                <a:solidFill>
                  <a:srgbClr val="FF0000"/>
                </a:solidFill>
              </a:rPr>
              <a:t>training</a:t>
            </a:r>
            <a:r>
              <a:rPr lang="en-SG" b="1" dirty="0">
                <a:solidFill>
                  <a:srgbClr val="FF0000"/>
                </a:solidFill>
              </a:rPr>
              <a:t> loss function (or maximize the accuracy we obtain on </a:t>
            </a:r>
            <a:r>
              <a:rPr lang="en-SG" b="1" u="sng" dirty="0">
                <a:solidFill>
                  <a:srgbClr val="FF0000"/>
                </a:solidFill>
              </a:rPr>
              <a:t>training</a:t>
            </a:r>
            <a:r>
              <a:rPr lang="en-SG" b="1" dirty="0">
                <a:solidFill>
                  <a:srgbClr val="FF0000"/>
                </a:solidFill>
              </a:rPr>
              <a:t> samples).</a:t>
            </a:r>
            <a:endParaRPr lang="en-SG" dirty="0"/>
          </a:p>
          <a:p>
            <a:pPr marL="0" indent="0">
              <a:buNone/>
            </a:pPr>
            <a:endParaRPr lang="en-SG" dirty="0"/>
          </a:p>
          <a:p>
            <a:pPr marL="0" indent="0">
              <a:buNone/>
            </a:pPr>
            <a:r>
              <a:rPr lang="en-SG" dirty="0"/>
              <a:t>Our objective is and always has been </a:t>
            </a:r>
            <a:r>
              <a:rPr lang="en-SG" b="1" u="sng" dirty="0">
                <a:solidFill>
                  <a:srgbClr val="7030A0"/>
                </a:solidFill>
              </a:rPr>
              <a:t>generalization</a:t>
            </a:r>
            <a:r>
              <a:rPr lang="en-SG" dirty="0"/>
              <a:t>, that is training a model that will </a:t>
            </a:r>
            <a:r>
              <a:rPr lang="en-SG" b="1" dirty="0"/>
              <a:t>generalize well to </a:t>
            </a:r>
            <a:r>
              <a:rPr lang="en-SG" b="1" u="sng" dirty="0"/>
              <a:t>unseen</a:t>
            </a:r>
            <a:r>
              <a:rPr lang="en-SG" b="1" dirty="0"/>
              <a:t> data</a:t>
            </a:r>
            <a:r>
              <a:rPr lang="en-SG" dirty="0"/>
              <a:t>. </a:t>
            </a:r>
          </a:p>
          <a:p>
            <a:pPr marL="0" indent="0">
              <a:buNone/>
            </a:pPr>
            <a:endParaRPr lang="en-SG" dirty="0"/>
          </a:p>
          <a:p>
            <a:pPr marL="0" indent="0">
              <a:buNone/>
            </a:pPr>
            <a:r>
              <a:rPr lang="en-SG" dirty="0"/>
              <a:t>This was the rationale for using a </a:t>
            </a:r>
            <a:r>
              <a:rPr lang="en-SG" b="1" dirty="0"/>
              <a:t>train-test split </a:t>
            </a:r>
            <a:r>
              <a:rPr lang="en-SG" dirty="0"/>
              <a:t>earlier.</a:t>
            </a:r>
          </a:p>
        </p:txBody>
      </p:sp>
    </p:spTree>
    <p:extLst>
      <p:ext uri="{BB962C8B-B14F-4D97-AF65-F5344CB8AC3E}">
        <p14:creationId xmlns:p14="http://schemas.microsoft.com/office/powerpoint/2010/main" val="416033762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3E33E8-2C3B-E5C7-E73C-86BCBC9D4811}"/>
              </a:ext>
            </a:extLst>
          </p:cNvPr>
          <p:cNvSpPr>
            <a:spLocks noGrp="1"/>
          </p:cNvSpPr>
          <p:nvPr>
            <p:ph type="title"/>
          </p:nvPr>
        </p:nvSpPr>
        <p:spPr/>
        <p:txBody>
          <a:bodyPr/>
          <a:lstStyle/>
          <a:p>
            <a:r>
              <a:rPr lang="en-GB" dirty="0"/>
              <a:t>Good Practice #2: Using a train-test-valid split</a:t>
            </a:r>
            <a:endParaRPr lang="en-SG" dirty="0"/>
          </a:p>
        </p:txBody>
      </p:sp>
      <p:sp>
        <p:nvSpPr>
          <p:cNvPr id="3" name="Content Placeholder 2">
            <a:extLst>
              <a:ext uri="{FF2B5EF4-FFF2-40B4-BE49-F238E27FC236}">
                <a16:creationId xmlns:a16="http://schemas.microsoft.com/office/drawing/2014/main" id="{0F53CA20-FD68-BCFD-A748-1DE206D1241E}"/>
              </a:ext>
            </a:extLst>
          </p:cNvPr>
          <p:cNvSpPr>
            <a:spLocks noGrp="1"/>
          </p:cNvSpPr>
          <p:nvPr>
            <p:ph idx="1"/>
          </p:nvPr>
        </p:nvSpPr>
        <p:spPr>
          <a:xfrm>
            <a:off x="838200" y="1825624"/>
            <a:ext cx="10515600" cy="5032375"/>
          </a:xfrm>
        </p:spPr>
        <p:txBody>
          <a:bodyPr>
            <a:normAutofit/>
          </a:bodyPr>
          <a:lstStyle/>
          <a:p>
            <a:pPr marL="0" indent="0">
              <a:buNone/>
            </a:pPr>
            <a:r>
              <a:rPr lang="en-GB" dirty="0"/>
              <a:t>In Week 1, we introduced the concept of </a:t>
            </a:r>
            <a:r>
              <a:rPr lang="en-GB" b="1" dirty="0">
                <a:solidFill>
                  <a:srgbClr val="7030A0"/>
                </a:solidFill>
              </a:rPr>
              <a:t>generalization</a:t>
            </a:r>
            <a:r>
              <a:rPr lang="en-GB" dirty="0"/>
              <a:t> and discussed how it is common practice </a:t>
            </a:r>
            <a:r>
              <a:rPr lang="en-GB" b="1" dirty="0"/>
              <a:t>not to evaluate the performance of the model on the same samples that have been used for training</a:t>
            </a:r>
            <a:r>
              <a:rPr lang="en-GB" dirty="0"/>
              <a:t>.</a:t>
            </a:r>
          </a:p>
          <a:p>
            <a:pPr marL="0" indent="0">
              <a:buNone/>
            </a:pPr>
            <a:endParaRPr lang="en-GB" dirty="0"/>
          </a:p>
          <a:p>
            <a:pPr marL="0" indent="0">
              <a:buNone/>
            </a:pPr>
            <a:r>
              <a:rPr lang="en-GB" dirty="0"/>
              <a:t>This led us to define two sets, called </a:t>
            </a:r>
            <a:r>
              <a:rPr lang="en-GB" b="1" dirty="0"/>
              <a:t>train</a:t>
            </a:r>
            <a:r>
              <a:rPr lang="en-GB" dirty="0"/>
              <a:t> and </a:t>
            </a:r>
            <a:r>
              <a:rPr lang="en-GB" b="1" dirty="0"/>
              <a:t>test</a:t>
            </a:r>
            <a:r>
              <a:rPr lang="en-GB" dirty="0"/>
              <a:t> sets, and we would:</a:t>
            </a:r>
          </a:p>
          <a:p>
            <a:pPr>
              <a:buFont typeface="Arial" panose="020B0604020202020204" pitchFamily="34" charset="0"/>
              <a:buChar char="•"/>
            </a:pPr>
            <a:r>
              <a:rPr lang="en-GB" dirty="0"/>
              <a:t>Use the </a:t>
            </a:r>
            <a:r>
              <a:rPr lang="en-GB" b="1" dirty="0"/>
              <a:t>train</a:t>
            </a:r>
            <a:r>
              <a:rPr lang="en-GB" dirty="0"/>
              <a:t> samples in the </a:t>
            </a:r>
            <a:r>
              <a:rPr lang="en-GB" b="1" dirty="0"/>
              <a:t>backpropagation/training</a:t>
            </a:r>
            <a:r>
              <a:rPr lang="en-GB" dirty="0"/>
              <a:t> procedure,</a:t>
            </a:r>
          </a:p>
          <a:p>
            <a:pPr>
              <a:buFont typeface="Arial" panose="020B0604020202020204" pitchFamily="34" charset="0"/>
              <a:buChar char="•"/>
            </a:pPr>
            <a:r>
              <a:rPr lang="en-GB" dirty="0"/>
              <a:t>And use the </a:t>
            </a:r>
            <a:r>
              <a:rPr lang="en-GB" b="1" dirty="0"/>
              <a:t>test</a:t>
            </a:r>
            <a:r>
              <a:rPr lang="en-GB" dirty="0"/>
              <a:t> samples to </a:t>
            </a:r>
            <a:r>
              <a:rPr lang="en-GB" b="1" dirty="0"/>
              <a:t>objectively</a:t>
            </a:r>
            <a:r>
              <a:rPr lang="en-GB" dirty="0"/>
              <a:t> </a:t>
            </a:r>
            <a:r>
              <a:rPr lang="en-GB" b="1" dirty="0"/>
              <a:t>evaluate</a:t>
            </a:r>
            <a:r>
              <a:rPr lang="en-GB" dirty="0"/>
              <a:t> </a:t>
            </a:r>
            <a:r>
              <a:rPr lang="en-GB" b="1" dirty="0"/>
              <a:t>the</a:t>
            </a:r>
            <a:r>
              <a:rPr lang="en-GB" dirty="0"/>
              <a:t> </a:t>
            </a:r>
            <a:r>
              <a:rPr lang="en-GB" b="1" dirty="0"/>
              <a:t>model</a:t>
            </a:r>
            <a:r>
              <a:rPr lang="en-GB" dirty="0"/>
              <a:t> and assess if it is able to </a:t>
            </a:r>
            <a:r>
              <a:rPr lang="en-GB" b="1" dirty="0"/>
              <a:t>generalize</a:t>
            </a:r>
            <a:r>
              <a:rPr lang="en-GB" dirty="0"/>
              <a:t> well or not.</a:t>
            </a:r>
          </a:p>
          <a:p>
            <a:pPr marL="0" indent="0">
              <a:buNone/>
            </a:pPr>
            <a:r>
              <a:rPr lang="en-GB" dirty="0"/>
              <a:t>We will push it one step further, by introducing the concept of </a:t>
            </a:r>
            <a:r>
              <a:rPr lang="en-GB" b="1" dirty="0"/>
              <a:t>train, test and </a:t>
            </a:r>
            <a:r>
              <a:rPr lang="en-GB" b="1" dirty="0">
                <a:solidFill>
                  <a:srgbClr val="00B050"/>
                </a:solidFill>
              </a:rPr>
              <a:t>validation</a:t>
            </a:r>
            <a:r>
              <a:rPr lang="en-GB" b="1" dirty="0"/>
              <a:t> samples</a:t>
            </a:r>
            <a:r>
              <a:rPr lang="en-GB" dirty="0"/>
              <a:t>.</a:t>
            </a:r>
          </a:p>
          <a:p>
            <a:pPr marL="0" indent="0">
              <a:buNone/>
            </a:pPr>
            <a:endParaRPr lang="en-SG" dirty="0"/>
          </a:p>
        </p:txBody>
      </p:sp>
    </p:spTree>
    <p:extLst>
      <p:ext uri="{BB962C8B-B14F-4D97-AF65-F5344CB8AC3E}">
        <p14:creationId xmlns:p14="http://schemas.microsoft.com/office/powerpoint/2010/main" val="157621969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3E33E8-2C3B-E5C7-E73C-86BCBC9D4811}"/>
              </a:ext>
            </a:extLst>
          </p:cNvPr>
          <p:cNvSpPr>
            <a:spLocks noGrp="1"/>
          </p:cNvSpPr>
          <p:nvPr>
            <p:ph type="title"/>
          </p:nvPr>
        </p:nvSpPr>
        <p:spPr/>
        <p:txBody>
          <a:bodyPr/>
          <a:lstStyle/>
          <a:p>
            <a:r>
              <a:rPr lang="en-GB" dirty="0"/>
              <a:t>Good Practice #2: Using a train-test-valid split</a:t>
            </a:r>
            <a:endParaRPr lang="en-SG" dirty="0"/>
          </a:p>
        </p:txBody>
      </p:sp>
      <p:sp>
        <p:nvSpPr>
          <p:cNvPr id="3" name="Content Placeholder 2">
            <a:extLst>
              <a:ext uri="{FF2B5EF4-FFF2-40B4-BE49-F238E27FC236}">
                <a16:creationId xmlns:a16="http://schemas.microsoft.com/office/drawing/2014/main" id="{0F53CA20-FD68-BCFD-A748-1DE206D1241E}"/>
              </a:ext>
            </a:extLst>
          </p:cNvPr>
          <p:cNvSpPr>
            <a:spLocks noGrp="1"/>
          </p:cNvSpPr>
          <p:nvPr>
            <p:ph sz="half" idx="1"/>
          </p:nvPr>
        </p:nvSpPr>
        <p:spPr/>
        <p:txBody>
          <a:bodyPr>
            <a:normAutofit/>
          </a:bodyPr>
          <a:lstStyle/>
          <a:p>
            <a:pPr marL="0" indent="0">
              <a:buNone/>
            </a:pPr>
            <a:r>
              <a:rPr lang="en-GB" b="1" dirty="0"/>
              <a:t>Good practice #2: Using a </a:t>
            </a:r>
            <a:r>
              <a:rPr lang="en-GB" b="1" dirty="0">
                <a:solidFill>
                  <a:srgbClr val="00B050"/>
                </a:solidFill>
              </a:rPr>
              <a:t>train-test-validation split</a:t>
            </a:r>
            <a:r>
              <a:rPr lang="en-GB" dirty="0"/>
              <a:t>.</a:t>
            </a:r>
          </a:p>
          <a:p>
            <a:pPr marL="0" indent="0">
              <a:buNone/>
            </a:pPr>
            <a:r>
              <a:rPr lang="en-SG" dirty="0"/>
              <a:t>During the data preparation procedure, we will now split the data in three sets:</a:t>
            </a:r>
          </a:p>
          <a:p>
            <a:r>
              <a:rPr lang="en-SG" b="1" dirty="0">
                <a:solidFill>
                  <a:schemeClr val="accent2"/>
                </a:solidFill>
              </a:rPr>
              <a:t>Training</a:t>
            </a:r>
            <a:r>
              <a:rPr lang="en-SG" dirty="0"/>
              <a:t> samples</a:t>
            </a:r>
          </a:p>
          <a:p>
            <a:r>
              <a:rPr lang="en-SG" b="1" dirty="0">
                <a:solidFill>
                  <a:srgbClr val="0070C0"/>
                </a:solidFill>
              </a:rPr>
              <a:t>Validation</a:t>
            </a:r>
            <a:r>
              <a:rPr lang="en-SG" dirty="0"/>
              <a:t> samples</a:t>
            </a:r>
          </a:p>
          <a:p>
            <a:r>
              <a:rPr lang="en-SG" b="1" dirty="0">
                <a:solidFill>
                  <a:srgbClr val="7030A0"/>
                </a:solidFill>
              </a:rPr>
              <a:t>Test</a:t>
            </a:r>
            <a:r>
              <a:rPr lang="en-SG" dirty="0"/>
              <a:t> samples.</a:t>
            </a:r>
          </a:p>
        </p:txBody>
      </p:sp>
      <p:sp>
        <p:nvSpPr>
          <p:cNvPr id="5" name="Content Placeholder 4">
            <a:extLst>
              <a:ext uri="{FF2B5EF4-FFF2-40B4-BE49-F238E27FC236}">
                <a16:creationId xmlns:a16="http://schemas.microsoft.com/office/drawing/2014/main" id="{66A1EF0B-B237-224B-4939-A0F69A767AFA}"/>
              </a:ext>
            </a:extLst>
          </p:cNvPr>
          <p:cNvSpPr>
            <a:spLocks noGrp="1"/>
          </p:cNvSpPr>
          <p:nvPr>
            <p:ph sz="half" idx="2"/>
          </p:nvPr>
        </p:nvSpPr>
        <p:spPr>
          <a:xfrm>
            <a:off x="6172200" y="1825624"/>
            <a:ext cx="5181600" cy="5032375"/>
          </a:xfrm>
        </p:spPr>
        <p:txBody>
          <a:bodyPr>
            <a:normAutofit/>
          </a:bodyPr>
          <a:lstStyle/>
          <a:p>
            <a:pPr marL="0" indent="0">
              <a:buNone/>
            </a:pPr>
            <a:r>
              <a:rPr lang="en-GB" dirty="0"/>
              <a:t>The </a:t>
            </a:r>
            <a:r>
              <a:rPr lang="en-GB" b="1" dirty="0">
                <a:solidFill>
                  <a:schemeClr val="accent2"/>
                </a:solidFill>
              </a:rPr>
              <a:t>training</a:t>
            </a:r>
            <a:r>
              <a:rPr lang="en-GB" dirty="0"/>
              <a:t> </a:t>
            </a:r>
            <a:r>
              <a:rPr lang="en-GB" b="1" dirty="0">
                <a:solidFill>
                  <a:schemeClr val="accent2"/>
                </a:solidFill>
              </a:rPr>
              <a:t>set</a:t>
            </a:r>
            <a:r>
              <a:rPr lang="en-GB" dirty="0"/>
              <a:t> is used to train the machine learning model.</a:t>
            </a:r>
          </a:p>
          <a:p>
            <a:r>
              <a:rPr lang="en-GB" dirty="0"/>
              <a:t>The model is presented with many examples from the training set, and the model "learns" to make good predictions based on those examples.</a:t>
            </a:r>
          </a:p>
          <a:p>
            <a:r>
              <a:rPr lang="en-GB" dirty="0"/>
              <a:t>For the training procedure to be efficient, </a:t>
            </a:r>
            <a:r>
              <a:rPr lang="en-GB" b="1" dirty="0"/>
              <a:t>most samples from the dataset should go into the </a:t>
            </a:r>
            <a:r>
              <a:rPr lang="en-GB" b="1" dirty="0">
                <a:solidFill>
                  <a:schemeClr val="accent2"/>
                </a:solidFill>
              </a:rPr>
              <a:t>training</a:t>
            </a:r>
            <a:r>
              <a:rPr lang="en-GB" b="1" dirty="0"/>
              <a:t> </a:t>
            </a:r>
            <a:r>
              <a:rPr lang="en-GB" b="1" dirty="0">
                <a:solidFill>
                  <a:schemeClr val="accent2"/>
                </a:solidFill>
              </a:rPr>
              <a:t>set</a:t>
            </a:r>
            <a:r>
              <a:rPr lang="en-GB" dirty="0"/>
              <a:t>.</a:t>
            </a:r>
          </a:p>
          <a:p>
            <a:endParaRPr lang="en-SG" dirty="0"/>
          </a:p>
        </p:txBody>
      </p:sp>
    </p:spTree>
    <p:extLst>
      <p:ext uri="{BB962C8B-B14F-4D97-AF65-F5344CB8AC3E}">
        <p14:creationId xmlns:p14="http://schemas.microsoft.com/office/powerpoint/2010/main" val="57249200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3E33E8-2C3B-E5C7-E73C-86BCBC9D4811}"/>
              </a:ext>
            </a:extLst>
          </p:cNvPr>
          <p:cNvSpPr>
            <a:spLocks noGrp="1"/>
          </p:cNvSpPr>
          <p:nvPr>
            <p:ph type="title"/>
          </p:nvPr>
        </p:nvSpPr>
        <p:spPr/>
        <p:txBody>
          <a:bodyPr/>
          <a:lstStyle/>
          <a:p>
            <a:r>
              <a:rPr lang="en-GB" dirty="0"/>
              <a:t>Good Practice #2: Using a train-test-valid split</a:t>
            </a:r>
            <a:endParaRPr lang="en-SG" dirty="0"/>
          </a:p>
        </p:txBody>
      </p:sp>
      <p:sp>
        <p:nvSpPr>
          <p:cNvPr id="3" name="Content Placeholder 2">
            <a:extLst>
              <a:ext uri="{FF2B5EF4-FFF2-40B4-BE49-F238E27FC236}">
                <a16:creationId xmlns:a16="http://schemas.microsoft.com/office/drawing/2014/main" id="{0F53CA20-FD68-BCFD-A748-1DE206D1241E}"/>
              </a:ext>
            </a:extLst>
          </p:cNvPr>
          <p:cNvSpPr>
            <a:spLocks noGrp="1"/>
          </p:cNvSpPr>
          <p:nvPr>
            <p:ph idx="1"/>
          </p:nvPr>
        </p:nvSpPr>
        <p:spPr>
          <a:xfrm>
            <a:off x="838199" y="1825624"/>
            <a:ext cx="10929257" cy="5032375"/>
          </a:xfrm>
        </p:spPr>
        <p:txBody>
          <a:bodyPr>
            <a:normAutofit/>
          </a:bodyPr>
          <a:lstStyle/>
          <a:p>
            <a:pPr marL="0" indent="0">
              <a:buNone/>
            </a:pPr>
            <a:r>
              <a:rPr lang="en-GB" u="sng" dirty="0"/>
              <a:t>After each iteration of training</a:t>
            </a:r>
            <a:r>
              <a:rPr lang="en-GB" dirty="0"/>
              <a:t>, the model is tested on the </a:t>
            </a:r>
            <a:r>
              <a:rPr lang="en-GB" b="1" dirty="0">
                <a:solidFill>
                  <a:srgbClr val="0070C0"/>
                </a:solidFill>
              </a:rPr>
              <a:t>validation</a:t>
            </a:r>
            <a:r>
              <a:rPr lang="en-GB" dirty="0"/>
              <a:t> </a:t>
            </a:r>
            <a:r>
              <a:rPr lang="en-GB" b="1" dirty="0">
                <a:solidFill>
                  <a:srgbClr val="0070C0"/>
                </a:solidFill>
              </a:rPr>
              <a:t>set</a:t>
            </a:r>
            <a:r>
              <a:rPr lang="en-GB" dirty="0"/>
              <a:t> to </a:t>
            </a:r>
            <a:r>
              <a:rPr lang="en-GB" b="1" dirty="0"/>
              <a:t>assess the performance of the model </a:t>
            </a:r>
            <a:r>
              <a:rPr lang="en-GB" dirty="0"/>
              <a:t>and see </a:t>
            </a:r>
            <a:r>
              <a:rPr lang="en-GB" b="1" dirty="0"/>
              <a:t>how well it would generalize to unseen data</a:t>
            </a:r>
            <a:r>
              <a:rPr lang="en-GB" dirty="0"/>
              <a:t>.</a:t>
            </a:r>
          </a:p>
          <a:p>
            <a:r>
              <a:rPr lang="en-GB" dirty="0"/>
              <a:t>We will use it to </a:t>
            </a:r>
            <a:r>
              <a:rPr lang="en-GB" b="1" dirty="0"/>
              <a:t>spot underfitting and overfitting</a:t>
            </a:r>
            <a:r>
              <a:rPr lang="en-GB" dirty="0"/>
              <a:t> in training.</a:t>
            </a:r>
          </a:p>
          <a:p>
            <a:r>
              <a:rPr lang="en-GB" dirty="0"/>
              <a:t>The </a:t>
            </a:r>
            <a:r>
              <a:rPr lang="en-GB" b="1" dirty="0">
                <a:solidFill>
                  <a:srgbClr val="0070C0"/>
                </a:solidFill>
              </a:rPr>
              <a:t>validation</a:t>
            </a:r>
            <a:r>
              <a:rPr lang="en-GB" dirty="0"/>
              <a:t> </a:t>
            </a:r>
            <a:r>
              <a:rPr lang="en-GB" b="1" dirty="0">
                <a:solidFill>
                  <a:srgbClr val="0070C0"/>
                </a:solidFill>
              </a:rPr>
              <a:t>set</a:t>
            </a:r>
            <a:r>
              <a:rPr lang="en-GB" dirty="0"/>
              <a:t> requires less samples than the </a:t>
            </a:r>
            <a:r>
              <a:rPr lang="en-GB" b="1" dirty="0">
                <a:solidFill>
                  <a:schemeClr val="accent2"/>
                </a:solidFill>
              </a:rPr>
              <a:t>training</a:t>
            </a:r>
            <a:r>
              <a:rPr lang="en-GB" dirty="0"/>
              <a:t> </a:t>
            </a:r>
            <a:r>
              <a:rPr lang="en-GB" b="1" dirty="0">
                <a:solidFill>
                  <a:schemeClr val="accent2"/>
                </a:solidFill>
              </a:rPr>
              <a:t>set</a:t>
            </a:r>
            <a:r>
              <a:rPr lang="en-GB" dirty="0"/>
              <a:t>. </a:t>
            </a:r>
          </a:p>
          <a:p>
            <a:r>
              <a:rPr lang="en-GB" dirty="0"/>
              <a:t>The </a:t>
            </a:r>
            <a:r>
              <a:rPr lang="en-GB" b="1" dirty="0">
                <a:solidFill>
                  <a:srgbClr val="0070C0"/>
                </a:solidFill>
              </a:rPr>
              <a:t>validation</a:t>
            </a:r>
            <a:r>
              <a:rPr lang="en-GB" dirty="0"/>
              <a:t> </a:t>
            </a:r>
            <a:r>
              <a:rPr lang="en-GB" b="1" dirty="0">
                <a:solidFill>
                  <a:srgbClr val="0070C0"/>
                </a:solidFill>
              </a:rPr>
              <a:t>set</a:t>
            </a:r>
            <a:r>
              <a:rPr lang="en-GB" dirty="0"/>
              <a:t> will also be used to </a:t>
            </a:r>
            <a:r>
              <a:rPr lang="en-GB" b="1" dirty="0"/>
              <a:t>choose the best hyperparameters </a:t>
            </a:r>
            <a:r>
              <a:rPr lang="en-GB" dirty="0"/>
              <a:t>for training the model (Good Practice #3-4).</a:t>
            </a:r>
          </a:p>
          <a:p>
            <a:r>
              <a:rPr lang="en-GB" dirty="0"/>
              <a:t>The </a:t>
            </a:r>
            <a:r>
              <a:rPr lang="en-GB" b="1" dirty="0">
                <a:solidFill>
                  <a:srgbClr val="0070C0"/>
                </a:solidFill>
              </a:rPr>
              <a:t>validation set </a:t>
            </a:r>
            <a:r>
              <a:rPr lang="en-GB" dirty="0"/>
              <a:t>will also be used to decide on the best model parameters to use after several training rounds (Good Practice #3-4).</a:t>
            </a:r>
          </a:p>
          <a:p>
            <a:pPr marL="0" indent="0">
              <a:buNone/>
            </a:pPr>
            <a:r>
              <a:rPr lang="en-GB" dirty="0"/>
              <a:t>For this reason, it </a:t>
            </a:r>
            <a:r>
              <a:rPr lang="en-GB" b="1" dirty="0"/>
              <a:t>can NOT be used to compute an objective performance metric </a:t>
            </a:r>
            <a:r>
              <a:rPr lang="en-GB" dirty="0"/>
              <a:t>to measure the generalization capabilities of our model.</a:t>
            </a:r>
          </a:p>
          <a:p>
            <a:endParaRPr lang="en-SG" dirty="0"/>
          </a:p>
        </p:txBody>
      </p:sp>
    </p:spTree>
    <p:extLst>
      <p:ext uri="{BB962C8B-B14F-4D97-AF65-F5344CB8AC3E}">
        <p14:creationId xmlns:p14="http://schemas.microsoft.com/office/powerpoint/2010/main" val="272158287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3E33E8-2C3B-E5C7-E73C-86BCBC9D4811}"/>
              </a:ext>
            </a:extLst>
          </p:cNvPr>
          <p:cNvSpPr>
            <a:spLocks noGrp="1"/>
          </p:cNvSpPr>
          <p:nvPr>
            <p:ph type="title"/>
          </p:nvPr>
        </p:nvSpPr>
        <p:spPr/>
        <p:txBody>
          <a:bodyPr/>
          <a:lstStyle/>
          <a:p>
            <a:r>
              <a:rPr lang="en-GB" dirty="0"/>
              <a:t>Good Practice #2: Using a train-test-valid split</a:t>
            </a:r>
            <a:endParaRPr lang="en-SG" dirty="0"/>
          </a:p>
        </p:txBody>
      </p:sp>
      <p:sp>
        <p:nvSpPr>
          <p:cNvPr id="3" name="Content Placeholder 2">
            <a:extLst>
              <a:ext uri="{FF2B5EF4-FFF2-40B4-BE49-F238E27FC236}">
                <a16:creationId xmlns:a16="http://schemas.microsoft.com/office/drawing/2014/main" id="{0F53CA20-FD68-BCFD-A748-1DE206D1241E}"/>
              </a:ext>
            </a:extLst>
          </p:cNvPr>
          <p:cNvSpPr>
            <a:spLocks noGrp="1"/>
          </p:cNvSpPr>
          <p:nvPr>
            <p:ph idx="1"/>
          </p:nvPr>
        </p:nvSpPr>
        <p:spPr>
          <a:xfrm>
            <a:off x="838200" y="1825625"/>
            <a:ext cx="10515600" cy="3249714"/>
          </a:xfrm>
        </p:spPr>
        <p:txBody>
          <a:bodyPr>
            <a:normAutofit/>
          </a:bodyPr>
          <a:lstStyle/>
          <a:p>
            <a:pPr marL="0" indent="0">
              <a:buNone/>
            </a:pPr>
            <a:r>
              <a:rPr lang="en-GB" dirty="0"/>
              <a:t>As before, the </a:t>
            </a:r>
            <a:r>
              <a:rPr lang="en-GB" b="1" dirty="0">
                <a:solidFill>
                  <a:srgbClr val="7030A0"/>
                </a:solidFill>
              </a:rPr>
              <a:t>test</a:t>
            </a:r>
            <a:r>
              <a:rPr lang="en-GB" dirty="0"/>
              <a:t> </a:t>
            </a:r>
            <a:r>
              <a:rPr lang="en-GB" b="1" dirty="0">
                <a:solidFill>
                  <a:srgbClr val="7030A0"/>
                </a:solidFill>
              </a:rPr>
              <a:t>set</a:t>
            </a:r>
            <a:r>
              <a:rPr lang="en-GB" dirty="0"/>
              <a:t> is a set of data that </a:t>
            </a:r>
            <a:r>
              <a:rPr lang="en-GB" b="1" dirty="0"/>
              <a:t>the model has NOT SEEN during the training or validation </a:t>
            </a:r>
            <a:r>
              <a:rPr lang="en-GB" dirty="0"/>
              <a:t>process.</a:t>
            </a:r>
          </a:p>
          <a:p>
            <a:r>
              <a:rPr lang="en-GB" dirty="0"/>
              <a:t>It is used to </a:t>
            </a:r>
            <a:r>
              <a:rPr lang="en-GB" b="1" dirty="0"/>
              <a:t>evaluate the final performance </a:t>
            </a:r>
            <a:r>
              <a:rPr lang="en-GB" dirty="0"/>
              <a:t>of the model </a:t>
            </a:r>
            <a:r>
              <a:rPr lang="en-GB" u="sng" dirty="0"/>
              <a:t>after training is complete</a:t>
            </a:r>
            <a:r>
              <a:rPr lang="en-GB" dirty="0"/>
              <a:t>, hence providing an estimate of </a:t>
            </a:r>
            <a:r>
              <a:rPr lang="en-GB" b="1" dirty="0"/>
              <a:t>how well the model will perform on </a:t>
            </a:r>
            <a:r>
              <a:rPr lang="en-GB" b="1" u="sng" dirty="0"/>
              <a:t>truly unseen data</a:t>
            </a:r>
            <a:r>
              <a:rPr lang="en-GB" b="1" dirty="0"/>
              <a:t> (generalization!)</a:t>
            </a:r>
            <a:r>
              <a:rPr lang="en-GB" dirty="0"/>
              <a:t>.</a:t>
            </a:r>
          </a:p>
          <a:p>
            <a:r>
              <a:rPr lang="en-GB" dirty="0"/>
              <a:t>The </a:t>
            </a:r>
            <a:r>
              <a:rPr lang="en-GB" b="1" dirty="0">
                <a:solidFill>
                  <a:srgbClr val="7030A0"/>
                </a:solidFill>
              </a:rPr>
              <a:t>testing</a:t>
            </a:r>
            <a:r>
              <a:rPr lang="en-GB" dirty="0"/>
              <a:t> </a:t>
            </a:r>
            <a:r>
              <a:rPr lang="en-GB" b="1" dirty="0">
                <a:solidFill>
                  <a:srgbClr val="7030A0"/>
                </a:solidFill>
              </a:rPr>
              <a:t>set</a:t>
            </a:r>
            <a:r>
              <a:rPr lang="en-GB" dirty="0"/>
              <a:t> is usually set to have as many samples as the </a:t>
            </a:r>
            <a:r>
              <a:rPr lang="en-GB" b="1" dirty="0">
                <a:solidFill>
                  <a:srgbClr val="0070C0"/>
                </a:solidFill>
              </a:rPr>
              <a:t>validation</a:t>
            </a:r>
            <a:r>
              <a:rPr lang="en-GB" dirty="0"/>
              <a:t> </a:t>
            </a:r>
            <a:r>
              <a:rPr lang="en-GB" b="1" dirty="0">
                <a:solidFill>
                  <a:srgbClr val="0070C0"/>
                </a:solidFill>
              </a:rPr>
              <a:t>set</a:t>
            </a:r>
            <a:r>
              <a:rPr lang="en-GB" dirty="0"/>
              <a:t>.</a:t>
            </a:r>
          </a:p>
          <a:p>
            <a:endParaRPr lang="en-SG" dirty="0"/>
          </a:p>
        </p:txBody>
      </p:sp>
      <p:graphicFrame>
        <p:nvGraphicFramePr>
          <p:cNvPr id="4" name="Table 3">
            <a:extLst>
              <a:ext uri="{FF2B5EF4-FFF2-40B4-BE49-F238E27FC236}">
                <a16:creationId xmlns:a16="http://schemas.microsoft.com/office/drawing/2014/main" id="{56947B2B-4CB9-C15C-1A97-6A95864662B3}"/>
              </a:ext>
            </a:extLst>
          </p:cNvPr>
          <p:cNvGraphicFramePr>
            <a:graphicFrameLocks noGrp="1"/>
          </p:cNvGraphicFramePr>
          <p:nvPr>
            <p:extLst>
              <p:ext uri="{D42A27DB-BD31-4B8C-83A1-F6EECF244321}">
                <p14:modId xmlns:p14="http://schemas.microsoft.com/office/powerpoint/2010/main" val="1100776584"/>
              </p:ext>
            </p:extLst>
          </p:nvPr>
        </p:nvGraphicFramePr>
        <p:xfrm>
          <a:off x="438557" y="4932726"/>
          <a:ext cx="11247307" cy="1559560"/>
        </p:xfrm>
        <a:graphic>
          <a:graphicData uri="http://schemas.openxmlformats.org/drawingml/2006/table">
            <a:tbl>
              <a:tblPr firstRow="1" bandRow="1">
                <a:tableStyleId>{5C22544A-7EE6-4342-B048-85BDC9FD1C3A}</a:tableStyleId>
              </a:tblPr>
              <a:tblGrid>
                <a:gridCol w="2609748">
                  <a:extLst>
                    <a:ext uri="{9D8B030D-6E8A-4147-A177-3AD203B41FA5}">
                      <a16:colId xmlns:a16="http://schemas.microsoft.com/office/drawing/2014/main" val="664726313"/>
                    </a:ext>
                  </a:extLst>
                </a:gridCol>
                <a:gridCol w="2943039">
                  <a:extLst>
                    <a:ext uri="{9D8B030D-6E8A-4147-A177-3AD203B41FA5}">
                      <a16:colId xmlns:a16="http://schemas.microsoft.com/office/drawing/2014/main" val="748570670"/>
                    </a:ext>
                  </a:extLst>
                </a:gridCol>
                <a:gridCol w="5694520">
                  <a:extLst>
                    <a:ext uri="{9D8B030D-6E8A-4147-A177-3AD203B41FA5}">
                      <a16:colId xmlns:a16="http://schemas.microsoft.com/office/drawing/2014/main" val="3430937106"/>
                    </a:ext>
                  </a:extLst>
                </a:gridCol>
              </a:tblGrid>
              <a:tr h="370840">
                <a:tc>
                  <a:txBody>
                    <a:bodyPr/>
                    <a:lstStyle/>
                    <a:p>
                      <a:r>
                        <a:rPr lang="en-GB" dirty="0"/>
                        <a:t>Training Set (50.039)</a:t>
                      </a:r>
                    </a:p>
                  </a:txBody>
                  <a:tcPr/>
                </a:tc>
                <a:tc>
                  <a:txBody>
                    <a:bodyPr/>
                    <a:lstStyle/>
                    <a:p>
                      <a:r>
                        <a:rPr lang="en-GB" dirty="0"/>
                        <a:t>Validation Set (50.039)</a:t>
                      </a:r>
                    </a:p>
                  </a:txBody>
                  <a:tcPr/>
                </a:tc>
                <a:tc>
                  <a:txBody>
                    <a:bodyPr/>
                    <a:lstStyle/>
                    <a:p>
                      <a:r>
                        <a:rPr lang="en-GB" dirty="0"/>
                        <a:t>Test Set (after 50.039)</a:t>
                      </a:r>
                    </a:p>
                  </a:txBody>
                  <a:tcPr/>
                </a:tc>
                <a:extLst>
                  <a:ext uri="{0D108BD9-81ED-4DB2-BD59-A6C34878D82A}">
                    <a16:rowId xmlns:a16="http://schemas.microsoft.com/office/drawing/2014/main" val="2341647205"/>
                  </a:ext>
                </a:extLst>
              </a:tr>
              <a:tr h="370840">
                <a:tc>
                  <a:txBody>
                    <a:bodyPr/>
                    <a:lstStyle/>
                    <a:p>
                      <a:r>
                        <a:rPr lang="en-GB" dirty="0"/>
                        <a:t>Supporting examples in notebooks shown for illustration and discussed in class.</a:t>
                      </a:r>
                    </a:p>
                  </a:txBody>
                  <a:tcPr/>
                </a:tc>
                <a:tc>
                  <a:txBody>
                    <a:bodyPr/>
                    <a:lstStyle/>
                    <a:p>
                      <a:r>
                        <a:rPr lang="en-GB" dirty="0"/>
                        <a:t>Ungraded practice, guided </a:t>
                      </a:r>
                      <a:r>
                        <a:rPr lang="en-GB" dirty="0" err="1"/>
                        <a:t>homeworks</a:t>
                      </a:r>
                      <a:r>
                        <a:rPr lang="en-GB" dirty="0"/>
                        <a:t>, projects and exams allowing you to play with concepts.</a:t>
                      </a:r>
                    </a:p>
                  </a:txBody>
                  <a:tcPr/>
                </a:tc>
                <a:tc>
                  <a:txBody>
                    <a:bodyPr/>
                    <a:lstStyle/>
                    <a:p>
                      <a:r>
                        <a:rPr lang="en-GB" dirty="0"/>
                        <a:t>Your future professional projects (after you graduate) on which you will have to use concepts taught in class, but that you have not seen yet.</a:t>
                      </a:r>
                      <a:br>
                        <a:rPr lang="en-GB" dirty="0"/>
                      </a:br>
                      <a:r>
                        <a:rPr lang="en-GB" dirty="0"/>
                        <a:t>Objective of 50.039 = generalization capability of students?</a:t>
                      </a:r>
                    </a:p>
                  </a:txBody>
                  <a:tcPr/>
                </a:tc>
                <a:extLst>
                  <a:ext uri="{0D108BD9-81ED-4DB2-BD59-A6C34878D82A}">
                    <a16:rowId xmlns:a16="http://schemas.microsoft.com/office/drawing/2014/main" val="2229762147"/>
                  </a:ext>
                </a:extLst>
              </a:tr>
            </a:tbl>
          </a:graphicData>
        </a:graphic>
      </p:graphicFrame>
    </p:spTree>
    <p:extLst>
      <p:ext uri="{BB962C8B-B14F-4D97-AF65-F5344CB8AC3E}">
        <p14:creationId xmlns:p14="http://schemas.microsoft.com/office/powerpoint/2010/main" val="322493551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3E33E8-2C3B-E5C7-E73C-86BCBC9D4811}"/>
              </a:ext>
            </a:extLst>
          </p:cNvPr>
          <p:cNvSpPr>
            <a:spLocks noGrp="1"/>
          </p:cNvSpPr>
          <p:nvPr>
            <p:ph type="title"/>
          </p:nvPr>
        </p:nvSpPr>
        <p:spPr/>
        <p:txBody>
          <a:bodyPr/>
          <a:lstStyle/>
          <a:p>
            <a:r>
              <a:rPr lang="en-GB" dirty="0"/>
              <a:t>Good Practice #2: Using a train-test-valid split</a:t>
            </a:r>
            <a:endParaRPr lang="en-SG" dirty="0"/>
          </a:p>
        </p:txBody>
      </p:sp>
      <p:sp>
        <p:nvSpPr>
          <p:cNvPr id="3" name="Content Placeholder 2">
            <a:extLst>
              <a:ext uri="{FF2B5EF4-FFF2-40B4-BE49-F238E27FC236}">
                <a16:creationId xmlns:a16="http://schemas.microsoft.com/office/drawing/2014/main" id="{0F53CA20-FD68-BCFD-A748-1DE206D1241E}"/>
              </a:ext>
            </a:extLst>
          </p:cNvPr>
          <p:cNvSpPr>
            <a:spLocks noGrp="1"/>
          </p:cNvSpPr>
          <p:nvPr>
            <p:ph idx="1"/>
          </p:nvPr>
        </p:nvSpPr>
        <p:spPr>
          <a:xfrm>
            <a:off x="838200" y="1825624"/>
            <a:ext cx="10515600" cy="5032375"/>
          </a:xfrm>
        </p:spPr>
        <p:txBody>
          <a:bodyPr>
            <a:normAutofit/>
          </a:bodyPr>
          <a:lstStyle/>
          <a:p>
            <a:pPr marL="0" indent="0">
              <a:buNone/>
            </a:pPr>
            <a:r>
              <a:rPr lang="en-GB" b="1" u="sng" dirty="0"/>
              <a:t>Question:</a:t>
            </a:r>
            <a:r>
              <a:rPr lang="en-GB" b="1" dirty="0"/>
              <a:t> </a:t>
            </a:r>
            <a:r>
              <a:rPr lang="en-GB" dirty="0"/>
              <a:t>What is considered a good repartition for the </a:t>
            </a:r>
            <a:r>
              <a:rPr lang="en-GB" b="1" dirty="0"/>
              <a:t>train-test-validation</a:t>
            </a:r>
            <a:r>
              <a:rPr lang="en-GB" dirty="0"/>
              <a:t> split?</a:t>
            </a:r>
          </a:p>
          <a:p>
            <a:pPr marL="0" indent="0">
              <a:buNone/>
            </a:pPr>
            <a:r>
              <a:rPr lang="en-GB" dirty="0"/>
              <a:t>The core idea is that:</a:t>
            </a:r>
          </a:p>
          <a:p>
            <a:pPr marL="514350" indent="-514350">
              <a:buAutoNum type="arabicPeriod"/>
            </a:pPr>
            <a:r>
              <a:rPr lang="en-GB" b="1" dirty="0"/>
              <a:t>We want as many samples as possible in the </a:t>
            </a:r>
            <a:r>
              <a:rPr lang="en-GB" b="1" dirty="0">
                <a:solidFill>
                  <a:schemeClr val="accent2"/>
                </a:solidFill>
              </a:rPr>
              <a:t>training</a:t>
            </a:r>
            <a:r>
              <a:rPr lang="en-GB" b="1" dirty="0"/>
              <a:t> </a:t>
            </a:r>
            <a:r>
              <a:rPr lang="en-GB" b="1" dirty="0">
                <a:solidFill>
                  <a:schemeClr val="accent2"/>
                </a:solidFill>
              </a:rPr>
              <a:t>set</a:t>
            </a:r>
            <a:r>
              <a:rPr lang="en-GB" b="1" dirty="0"/>
              <a:t>, </a:t>
            </a:r>
            <a:r>
              <a:rPr lang="en-GB" dirty="0"/>
              <a:t>as this helps training of the model.</a:t>
            </a:r>
          </a:p>
          <a:p>
            <a:pPr marL="514350" indent="-514350">
              <a:buAutoNum type="arabicPeriod"/>
            </a:pPr>
            <a:r>
              <a:rPr lang="en-GB" b="1" dirty="0"/>
              <a:t>We want enough samples in </a:t>
            </a:r>
            <a:r>
              <a:rPr lang="en-GB" b="1" dirty="0">
                <a:solidFill>
                  <a:srgbClr val="0070C0"/>
                </a:solidFill>
              </a:rPr>
              <a:t>validation</a:t>
            </a:r>
            <a:r>
              <a:rPr lang="en-GB" b="1" dirty="0"/>
              <a:t>/</a:t>
            </a:r>
            <a:r>
              <a:rPr lang="en-GB" b="1" dirty="0">
                <a:solidFill>
                  <a:srgbClr val="7030A0"/>
                </a:solidFill>
              </a:rPr>
              <a:t>test </a:t>
            </a:r>
            <a:r>
              <a:rPr lang="en-GB" b="1" dirty="0"/>
              <a:t>sets, </a:t>
            </a:r>
            <a:r>
              <a:rPr lang="en-GB" dirty="0"/>
              <a:t>to ensure diversity and that the </a:t>
            </a:r>
            <a:r>
              <a:rPr lang="en-GB" b="1" dirty="0">
                <a:solidFill>
                  <a:srgbClr val="00B050"/>
                </a:solidFill>
              </a:rPr>
              <a:t>law of large numbers </a:t>
            </a:r>
            <a:r>
              <a:rPr lang="en-GB" dirty="0"/>
              <a:t>applies</a:t>
            </a:r>
            <a:r>
              <a:rPr lang="en-GB" b="1" dirty="0"/>
              <a:t>.</a:t>
            </a:r>
          </a:p>
          <a:p>
            <a:pPr marL="0" indent="0">
              <a:buNone/>
            </a:pPr>
            <a:endParaRPr lang="en-SG" dirty="0"/>
          </a:p>
          <a:p>
            <a:pPr marL="0" indent="0">
              <a:buNone/>
            </a:pPr>
            <a:r>
              <a:rPr lang="en-SG" b="1" dirty="0"/>
              <a:t>Reminder from the past (</a:t>
            </a:r>
            <a:r>
              <a:rPr lang="en-SG" b="1" dirty="0">
                <a:solidFill>
                  <a:srgbClr val="00B050"/>
                </a:solidFill>
              </a:rPr>
              <a:t>Law</a:t>
            </a:r>
            <a:r>
              <a:rPr lang="en-SG" b="1" dirty="0"/>
              <a:t> </a:t>
            </a:r>
            <a:r>
              <a:rPr lang="en-SG" b="1" dirty="0">
                <a:solidFill>
                  <a:srgbClr val="00B050"/>
                </a:solidFill>
              </a:rPr>
              <a:t>of</a:t>
            </a:r>
            <a:r>
              <a:rPr lang="en-SG" b="1" dirty="0"/>
              <a:t> </a:t>
            </a:r>
            <a:r>
              <a:rPr lang="en-SG" b="1" dirty="0">
                <a:solidFill>
                  <a:srgbClr val="00B050"/>
                </a:solidFill>
              </a:rPr>
              <a:t>large</a:t>
            </a:r>
            <a:r>
              <a:rPr lang="en-SG" b="1" dirty="0"/>
              <a:t> </a:t>
            </a:r>
            <a:r>
              <a:rPr lang="en-SG" b="1" dirty="0">
                <a:solidFill>
                  <a:srgbClr val="00B050"/>
                </a:solidFill>
              </a:rPr>
              <a:t>numbers</a:t>
            </a:r>
            <a:r>
              <a:rPr lang="en-SG" b="1" dirty="0"/>
              <a:t>): </a:t>
            </a:r>
            <a:r>
              <a:rPr lang="en-SG" dirty="0"/>
              <a:t>When calculating a mean/average metric, like MSE, we need enough samples so that the empirical approximation matches closely the theoretical value.</a:t>
            </a:r>
          </a:p>
        </p:txBody>
      </p:sp>
    </p:spTree>
    <p:extLst>
      <p:ext uri="{BB962C8B-B14F-4D97-AF65-F5344CB8AC3E}">
        <p14:creationId xmlns:p14="http://schemas.microsoft.com/office/powerpoint/2010/main" val="395789633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3E33E8-2C3B-E5C7-E73C-86BCBC9D4811}"/>
              </a:ext>
            </a:extLst>
          </p:cNvPr>
          <p:cNvSpPr>
            <a:spLocks noGrp="1"/>
          </p:cNvSpPr>
          <p:nvPr>
            <p:ph type="title"/>
          </p:nvPr>
        </p:nvSpPr>
        <p:spPr/>
        <p:txBody>
          <a:bodyPr/>
          <a:lstStyle/>
          <a:p>
            <a:r>
              <a:rPr lang="en-GB" dirty="0"/>
              <a:t>Good Practice #2: Using a train-test-valid split</a:t>
            </a:r>
            <a:endParaRPr lang="en-SG"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0F53CA20-FD68-BCFD-A748-1DE206D1241E}"/>
                  </a:ext>
                </a:extLst>
              </p:cNvPr>
              <p:cNvSpPr>
                <a:spLocks noGrp="1"/>
              </p:cNvSpPr>
              <p:nvPr>
                <p:ph sz="half" idx="1"/>
              </p:nvPr>
            </p:nvSpPr>
            <p:spPr/>
            <p:txBody>
              <a:bodyPr>
                <a:normAutofit/>
              </a:bodyPr>
              <a:lstStyle/>
              <a:p>
                <a:pPr marL="0" indent="0">
                  <a:buNone/>
                </a:pPr>
                <a:r>
                  <a:rPr lang="en-GB" b="1" u="sng" dirty="0"/>
                  <a:t>Question:</a:t>
                </a:r>
                <a:r>
                  <a:rPr lang="en-GB" b="1" dirty="0"/>
                  <a:t> </a:t>
                </a:r>
                <a:r>
                  <a:rPr lang="en-GB" dirty="0"/>
                  <a:t>What is considered a good repartition for the </a:t>
                </a:r>
                <a:r>
                  <a:rPr lang="en-GB" b="1" dirty="0"/>
                  <a:t>train-test-validation</a:t>
                </a:r>
                <a:r>
                  <a:rPr lang="en-GB" dirty="0"/>
                  <a:t> split?</a:t>
                </a:r>
              </a:p>
              <a:p>
                <a:pPr marL="0" indent="0">
                  <a:buNone/>
                </a:pPr>
                <a:r>
                  <a:rPr lang="en-GB" dirty="0"/>
                  <a:t>Following the two ideas from earlier.</a:t>
                </a:r>
              </a:p>
              <a:p>
                <a:pPr marL="0" indent="0">
                  <a:buNone/>
                </a:pPr>
                <a:r>
                  <a:rPr lang="en-GB" b="1" dirty="0"/>
                  <a:t>Scenario 1: you have more than </a:t>
                </a:r>
                <a14:m>
                  <m:oMath xmlns:m="http://schemas.openxmlformats.org/officeDocument/2006/math">
                    <m:r>
                      <a:rPr lang="en-GB" b="1" i="1" dirty="0" smtClean="0">
                        <a:latin typeface="Cambria Math" panose="02040503050406030204" pitchFamily="18" charset="0"/>
                      </a:rPr>
                      <m:t>~</m:t>
                    </m:r>
                  </m:oMath>
                </a14:m>
                <a:r>
                  <a:rPr lang="en-GB" b="1" dirty="0"/>
                  <a:t>10000 samples (large dataset).</a:t>
                </a:r>
              </a:p>
              <a:p>
                <a:pPr marL="0" indent="0">
                  <a:buNone/>
                </a:pPr>
                <a:r>
                  <a:rPr lang="en-GB" b="1" dirty="0"/>
                  <a:t>Scenario 2: you have less than </a:t>
                </a:r>
                <a14:m>
                  <m:oMath xmlns:m="http://schemas.openxmlformats.org/officeDocument/2006/math">
                    <m:r>
                      <a:rPr lang="en-GB" b="1" i="1" dirty="0" smtClean="0">
                        <a:latin typeface="Cambria Math" panose="02040503050406030204" pitchFamily="18" charset="0"/>
                      </a:rPr>
                      <m:t>~</m:t>
                    </m:r>
                  </m:oMath>
                </a14:m>
                <a:r>
                  <a:rPr lang="en-GB" b="1" dirty="0"/>
                  <a:t>10000 samples (small dataset).</a:t>
                </a:r>
                <a:endParaRPr lang="en-SG" b="1" dirty="0"/>
              </a:p>
            </p:txBody>
          </p:sp>
        </mc:Choice>
        <mc:Fallback>
          <p:sp>
            <p:nvSpPr>
              <p:cNvPr id="3" name="Content Placeholder 2">
                <a:extLst>
                  <a:ext uri="{FF2B5EF4-FFF2-40B4-BE49-F238E27FC236}">
                    <a16:creationId xmlns:a16="http://schemas.microsoft.com/office/drawing/2014/main" id="{0F53CA20-FD68-BCFD-A748-1DE206D1241E}"/>
                  </a:ext>
                </a:extLst>
              </p:cNvPr>
              <p:cNvSpPr>
                <a:spLocks noGrp="1" noRot="1" noChangeAspect="1" noMove="1" noResize="1" noEditPoints="1" noAdjustHandles="1" noChangeArrowheads="1" noChangeShapeType="1" noTextEdit="1"/>
              </p:cNvSpPr>
              <p:nvPr>
                <p:ph sz="half" idx="1"/>
              </p:nvPr>
            </p:nvSpPr>
            <p:spPr>
              <a:blipFill>
                <a:blip r:embed="rId2"/>
                <a:stretch>
                  <a:fillRect l="-2471" t="-2241" r="-1529"/>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D06B9D64-CDDF-1120-2C4A-F0A846476B95}"/>
                  </a:ext>
                </a:extLst>
              </p:cNvPr>
              <p:cNvSpPr>
                <a:spLocks noGrp="1"/>
              </p:cNvSpPr>
              <p:nvPr>
                <p:ph sz="half" idx="2"/>
              </p:nvPr>
            </p:nvSpPr>
            <p:spPr/>
            <p:txBody>
              <a:bodyPr/>
              <a:lstStyle/>
              <a:p>
                <a:pPr marL="0" indent="0">
                  <a:buNone/>
                </a:pPr>
                <a:r>
                  <a:rPr lang="en-GB" b="1" dirty="0"/>
                  <a:t>Scenario 1: you have more than </a:t>
                </a:r>
                <a14:m>
                  <m:oMath xmlns:m="http://schemas.openxmlformats.org/officeDocument/2006/math">
                    <m:r>
                      <a:rPr lang="en-GB" b="1" i="1" dirty="0">
                        <a:latin typeface="Cambria Math" panose="02040503050406030204" pitchFamily="18" charset="0"/>
                      </a:rPr>
                      <m:t>~</m:t>
                    </m:r>
                  </m:oMath>
                </a14:m>
                <a:r>
                  <a:rPr lang="en-GB" b="1" dirty="0"/>
                  <a:t>10000 samples (large dataset).</a:t>
                </a:r>
              </a:p>
              <a:p>
                <a:r>
                  <a:rPr lang="en-GB" dirty="0"/>
                  <a:t>Put </a:t>
                </a:r>
                <a14:m>
                  <m:oMath xmlns:m="http://schemas.openxmlformats.org/officeDocument/2006/math">
                    <m:r>
                      <a:rPr lang="en-GB" b="1" i="1" dirty="0" smtClean="0">
                        <a:latin typeface="Cambria Math" panose="02040503050406030204" pitchFamily="18" charset="0"/>
                      </a:rPr>
                      <m:t>~</m:t>
                    </m:r>
                  </m:oMath>
                </a14:m>
                <a:r>
                  <a:rPr lang="en-GB" b="1" dirty="0"/>
                  <a:t>1000</a:t>
                </a:r>
                <a:r>
                  <a:rPr lang="en-GB" dirty="0"/>
                  <a:t> </a:t>
                </a:r>
                <a:r>
                  <a:rPr lang="en-GB" b="1" dirty="0"/>
                  <a:t>samples</a:t>
                </a:r>
                <a:r>
                  <a:rPr lang="en-GB" dirty="0"/>
                  <a:t> in the </a:t>
                </a:r>
                <a:r>
                  <a:rPr lang="en-GB" b="1" dirty="0">
                    <a:solidFill>
                      <a:srgbClr val="0070C0"/>
                    </a:solidFill>
                  </a:rPr>
                  <a:t>validation</a:t>
                </a:r>
                <a:r>
                  <a:rPr lang="en-GB" dirty="0"/>
                  <a:t> </a:t>
                </a:r>
                <a:r>
                  <a:rPr lang="en-GB" b="1" dirty="0">
                    <a:solidFill>
                      <a:srgbClr val="0070C0"/>
                    </a:solidFill>
                  </a:rPr>
                  <a:t>set</a:t>
                </a:r>
                <a:r>
                  <a:rPr lang="en-GB" dirty="0"/>
                  <a:t>. And put another </a:t>
                </a:r>
                <a14:m>
                  <m:oMath xmlns:m="http://schemas.openxmlformats.org/officeDocument/2006/math">
                    <m:r>
                      <a:rPr lang="en-GB" b="1" i="1" dirty="0">
                        <a:latin typeface="Cambria Math" panose="02040503050406030204" pitchFamily="18" charset="0"/>
                      </a:rPr>
                      <m:t>~</m:t>
                    </m:r>
                  </m:oMath>
                </a14:m>
                <a:r>
                  <a:rPr lang="en-GB" b="1" dirty="0"/>
                  <a:t>1000</a:t>
                </a:r>
                <a:r>
                  <a:rPr lang="en-GB" dirty="0"/>
                  <a:t> </a:t>
                </a:r>
                <a:r>
                  <a:rPr lang="en-GB" b="1" dirty="0"/>
                  <a:t>samples</a:t>
                </a:r>
                <a:r>
                  <a:rPr lang="en-GB" dirty="0"/>
                  <a:t> in the </a:t>
                </a:r>
                <a:r>
                  <a:rPr lang="en-GB" b="1" dirty="0">
                    <a:solidFill>
                      <a:srgbClr val="7030A0"/>
                    </a:solidFill>
                  </a:rPr>
                  <a:t>test</a:t>
                </a:r>
                <a:r>
                  <a:rPr lang="en-GB" dirty="0"/>
                  <a:t> </a:t>
                </a:r>
                <a:r>
                  <a:rPr lang="en-GB" b="1" dirty="0">
                    <a:solidFill>
                      <a:srgbClr val="7030A0"/>
                    </a:solidFill>
                  </a:rPr>
                  <a:t>set</a:t>
                </a:r>
                <a:r>
                  <a:rPr lang="en-GB" dirty="0"/>
                  <a:t>.</a:t>
                </a:r>
              </a:p>
              <a:p>
                <a:r>
                  <a:rPr lang="en-GB" dirty="0"/>
                  <a:t>(Having 1000 samples should be enough for law of large numbers to apply).</a:t>
                </a:r>
              </a:p>
              <a:p>
                <a:r>
                  <a:rPr lang="en-GB" dirty="0"/>
                  <a:t>Put </a:t>
                </a:r>
                <a:r>
                  <a:rPr lang="en-GB" b="1" dirty="0"/>
                  <a:t>the</a:t>
                </a:r>
                <a:r>
                  <a:rPr lang="en-GB" dirty="0"/>
                  <a:t> </a:t>
                </a:r>
                <a:r>
                  <a:rPr lang="en-GB" b="1" dirty="0"/>
                  <a:t>rest</a:t>
                </a:r>
                <a:r>
                  <a:rPr lang="en-GB" dirty="0"/>
                  <a:t> in </a:t>
                </a:r>
                <a:r>
                  <a:rPr lang="en-GB" b="1" dirty="0">
                    <a:solidFill>
                      <a:schemeClr val="accent2"/>
                    </a:solidFill>
                  </a:rPr>
                  <a:t>training</a:t>
                </a:r>
                <a:r>
                  <a:rPr lang="en-GB" dirty="0"/>
                  <a:t> </a:t>
                </a:r>
                <a:r>
                  <a:rPr lang="en-GB" b="1" dirty="0">
                    <a:solidFill>
                      <a:schemeClr val="accent2"/>
                    </a:solidFill>
                  </a:rPr>
                  <a:t>set</a:t>
                </a:r>
                <a:r>
                  <a:rPr lang="en-GB" dirty="0"/>
                  <a:t>.</a:t>
                </a:r>
                <a:endParaRPr lang="en-SG" dirty="0"/>
              </a:p>
            </p:txBody>
          </p:sp>
        </mc:Choice>
        <mc:Fallback xmlns="">
          <p:sp>
            <p:nvSpPr>
              <p:cNvPr id="5" name="Content Placeholder 4">
                <a:extLst>
                  <a:ext uri="{FF2B5EF4-FFF2-40B4-BE49-F238E27FC236}">
                    <a16:creationId xmlns:a16="http://schemas.microsoft.com/office/drawing/2014/main" id="{D06B9D64-CDDF-1120-2C4A-F0A846476B95}"/>
                  </a:ext>
                </a:extLst>
              </p:cNvPr>
              <p:cNvSpPr>
                <a:spLocks noGrp="1" noRot="1" noChangeAspect="1" noMove="1" noResize="1" noEditPoints="1" noAdjustHandles="1" noChangeArrowheads="1" noChangeShapeType="1" noTextEdit="1"/>
              </p:cNvSpPr>
              <p:nvPr>
                <p:ph sz="half" idx="2"/>
              </p:nvPr>
            </p:nvSpPr>
            <p:spPr>
              <a:blipFill>
                <a:blip r:embed="rId3"/>
                <a:stretch>
                  <a:fillRect l="-2471" t="-2241" r="-2588"/>
                </a:stretch>
              </a:blipFill>
            </p:spPr>
            <p:txBody>
              <a:bodyPr/>
              <a:lstStyle/>
              <a:p>
                <a:r>
                  <a:rPr lang="en-SG">
                    <a:noFill/>
                  </a:rPr>
                  <a:t> </a:t>
                </a:r>
              </a:p>
            </p:txBody>
          </p:sp>
        </mc:Fallback>
      </mc:AlternateContent>
    </p:spTree>
    <p:extLst>
      <p:ext uri="{BB962C8B-B14F-4D97-AF65-F5344CB8AC3E}">
        <p14:creationId xmlns:p14="http://schemas.microsoft.com/office/powerpoint/2010/main" val="90259215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3E33E8-2C3B-E5C7-E73C-86BCBC9D4811}"/>
              </a:ext>
            </a:extLst>
          </p:cNvPr>
          <p:cNvSpPr>
            <a:spLocks noGrp="1"/>
          </p:cNvSpPr>
          <p:nvPr>
            <p:ph type="title"/>
          </p:nvPr>
        </p:nvSpPr>
        <p:spPr/>
        <p:txBody>
          <a:bodyPr/>
          <a:lstStyle/>
          <a:p>
            <a:r>
              <a:rPr lang="en-GB" dirty="0"/>
              <a:t>Good Practice #2: Using a train-test-valid split</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F53CA20-FD68-BCFD-A748-1DE206D1241E}"/>
                  </a:ext>
                </a:extLst>
              </p:cNvPr>
              <p:cNvSpPr>
                <a:spLocks noGrp="1"/>
              </p:cNvSpPr>
              <p:nvPr>
                <p:ph sz="half" idx="1"/>
              </p:nvPr>
            </p:nvSpPr>
            <p:spPr/>
            <p:txBody>
              <a:bodyPr>
                <a:normAutofit/>
              </a:bodyPr>
              <a:lstStyle/>
              <a:p>
                <a:pPr marL="0" indent="0">
                  <a:buNone/>
                </a:pPr>
                <a:r>
                  <a:rPr lang="en-GB" b="1" u="sng" dirty="0"/>
                  <a:t>Question:</a:t>
                </a:r>
                <a:r>
                  <a:rPr lang="en-GB" b="1" dirty="0"/>
                  <a:t> </a:t>
                </a:r>
                <a:r>
                  <a:rPr lang="en-GB" dirty="0"/>
                  <a:t>What is considered a good repartition for the </a:t>
                </a:r>
                <a:r>
                  <a:rPr lang="en-GB" b="1" dirty="0"/>
                  <a:t>train-test-validation</a:t>
                </a:r>
                <a:r>
                  <a:rPr lang="en-GB" dirty="0"/>
                  <a:t> split?</a:t>
                </a:r>
              </a:p>
              <a:p>
                <a:pPr marL="0" indent="0">
                  <a:buNone/>
                </a:pPr>
                <a:r>
                  <a:rPr lang="en-GB" dirty="0"/>
                  <a:t>Following the two ideas from earlier.</a:t>
                </a:r>
              </a:p>
              <a:p>
                <a:pPr marL="0" indent="0">
                  <a:buNone/>
                </a:pPr>
                <a:r>
                  <a:rPr lang="en-GB" b="1" dirty="0"/>
                  <a:t>Scenario 1: you have more than </a:t>
                </a:r>
                <a14:m>
                  <m:oMath xmlns:m="http://schemas.openxmlformats.org/officeDocument/2006/math">
                    <m:r>
                      <a:rPr lang="en-GB" b="1" i="1" dirty="0" smtClean="0">
                        <a:latin typeface="Cambria Math" panose="02040503050406030204" pitchFamily="18" charset="0"/>
                      </a:rPr>
                      <m:t>~</m:t>
                    </m:r>
                  </m:oMath>
                </a14:m>
                <a:r>
                  <a:rPr lang="en-GB" b="1" dirty="0"/>
                  <a:t>10000 samples (large dataset).</a:t>
                </a:r>
              </a:p>
              <a:p>
                <a:pPr marL="0" indent="0">
                  <a:buNone/>
                </a:pPr>
                <a:r>
                  <a:rPr lang="en-GB" b="1" dirty="0"/>
                  <a:t>Scenario 2: you have less than </a:t>
                </a:r>
                <a14:m>
                  <m:oMath xmlns:m="http://schemas.openxmlformats.org/officeDocument/2006/math">
                    <m:r>
                      <a:rPr lang="en-GB" b="1" i="1" dirty="0" smtClean="0">
                        <a:latin typeface="Cambria Math" panose="02040503050406030204" pitchFamily="18" charset="0"/>
                      </a:rPr>
                      <m:t>~</m:t>
                    </m:r>
                  </m:oMath>
                </a14:m>
                <a:r>
                  <a:rPr lang="en-GB" b="1" dirty="0"/>
                  <a:t>10000 samples (small dataset).</a:t>
                </a:r>
                <a:endParaRPr lang="en-SG" b="1" dirty="0"/>
              </a:p>
            </p:txBody>
          </p:sp>
        </mc:Choice>
        <mc:Fallback xmlns="">
          <p:sp>
            <p:nvSpPr>
              <p:cNvPr id="3" name="Content Placeholder 2">
                <a:extLst>
                  <a:ext uri="{FF2B5EF4-FFF2-40B4-BE49-F238E27FC236}">
                    <a16:creationId xmlns:a16="http://schemas.microsoft.com/office/drawing/2014/main" id="{0F53CA20-FD68-BCFD-A748-1DE206D1241E}"/>
                  </a:ext>
                </a:extLst>
              </p:cNvPr>
              <p:cNvSpPr>
                <a:spLocks noGrp="1" noRot="1" noChangeAspect="1" noMove="1" noResize="1" noEditPoints="1" noAdjustHandles="1" noChangeArrowheads="1" noChangeShapeType="1" noTextEdit="1"/>
              </p:cNvSpPr>
              <p:nvPr>
                <p:ph sz="half" idx="1"/>
              </p:nvPr>
            </p:nvSpPr>
            <p:spPr>
              <a:blipFill>
                <a:blip r:embed="rId2"/>
                <a:stretch>
                  <a:fillRect l="-2471" t="-2241" r="-1529"/>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D06B9D64-CDDF-1120-2C4A-F0A846476B95}"/>
                  </a:ext>
                </a:extLst>
              </p:cNvPr>
              <p:cNvSpPr>
                <a:spLocks noGrp="1"/>
              </p:cNvSpPr>
              <p:nvPr>
                <p:ph sz="half" idx="2"/>
              </p:nvPr>
            </p:nvSpPr>
            <p:spPr>
              <a:xfrm>
                <a:off x="6172200" y="1825624"/>
                <a:ext cx="5181600" cy="5032375"/>
              </a:xfrm>
            </p:spPr>
            <p:txBody>
              <a:bodyPr>
                <a:normAutofit/>
              </a:bodyPr>
              <a:lstStyle/>
              <a:p>
                <a:pPr marL="0" indent="0">
                  <a:buNone/>
                </a:pPr>
                <a:r>
                  <a:rPr lang="en-GB" b="1" dirty="0"/>
                  <a:t>Scenario 2: you have less than </a:t>
                </a:r>
                <a14:m>
                  <m:oMath xmlns:m="http://schemas.openxmlformats.org/officeDocument/2006/math">
                    <m:r>
                      <a:rPr lang="en-GB" b="1" i="1" dirty="0">
                        <a:latin typeface="Cambria Math" panose="02040503050406030204" pitchFamily="18" charset="0"/>
                      </a:rPr>
                      <m:t>~</m:t>
                    </m:r>
                  </m:oMath>
                </a14:m>
                <a:r>
                  <a:rPr lang="en-GB" b="1" dirty="0"/>
                  <a:t>10000 samples (small dataset).</a:t>
                </a:r>
                <a:endParaRPr lang="en-SG" b="1" dirty="0"/>
              </a:p>
              <a:p>
                <a:r>
                  <a:rPr lang="en-GB" dirty="0"/>
                  <a:t>Put </a:t>
                </a:r>
                <a14:m>
                  <m:oMath xmlns:m="http://schemas.openxmlformats.org/officeDocument/2006/math">
                    <m:r>
                      <a:rPr lang="en-GB" b="1" i="1" dirty="0" smtClean="0">
                        <a:latin typeface="Cambria Math" panose="02040503050406030204" pitchFamily="18" charset="0"/>
                      </a:rPr>
                      <m:t>~</m:t>
                    </m:r>
                  </m:oMath>
                </a14:m>
                <a:r>
                  <a:rPr lang="en-GB" b="1" dirty="0"/>
                  <a:t>10% of</a:t>
                </a:r>
                <a:r>
                  <a:rPr lang="en-GB" dirty="0"/>
                  <a:t> </a:t>
                </a:r>
                <a:r>
                  <a:rPr lang="en-GB" b="1" dirty="0"/>
                  <a:t>samples</a:t>
                </a:r>
                <a:r>
                  <a:rPr lang="en-GB" dirty="0"/>
                  <a:t> in the </a:t>
                </a:r>
                <a:r>
                  <a:rPr lang="en-GB" b="1" dirty="0">
                    <a:solidFill>
                      <a:srgbClr val="0070C0"/>
                    </a:solidFill>
                  </a:rPr>
                  <a:t>validation</a:t>
                </a:r>
                <a:r>
                  <a:rPr lang="en-GB" dirty="0"/>
                  <a:t> </a:t>
                </a:r>
                <a:r>
                  <a:rPr lang="en-GB" b="1" dirty="0">
                    <a:solidFill>
                      <a:srgbClr val="0070C0"/>
                    </a:solidFill>
                  </a:rPr>
                  <a:t>set</a:t>
                </a:r>
                <a:r>
                  <a:rPr lang="en-GB" dirty="0"/>
                  <a:t>. And put another </a:t>
                </a:r>
                <a14:m>
                  <m:oMath xmlns:m="http://schemas.openxmlformats.org/officeDocument/2006/math">
                    <m:r>
                      <a:rPr lang="en-GB" b="1" i="1" dirty="0">
                        <a:latin typeface="Cambria Math" panose="02040503050406030204" pitchFamily="18" charset="0"/>
                      </a:rPr>
                      <m:t>~</m:t>
                    </m:r>
                  </m:oMath>
                </a14:m>
                <a:r>
                  <a:rPr lang="en-GB" b="1" dirty="0"/>
                  <a:t>10%</a:t>
                </a:r>
                <a:r>
                  <a:rPr lang="en-GB" dirty="0"/>
                  <a:t> in the </a:t>
                </a:r>
                <a:r>
                  <a:rPr lang="en-GB" b="1" dirty="0">
                    <a:solidFill>
                      <a:srgbClr val="7030A0"/>
                    </a:solidFill>
                  </a:rPr>
                  <a:t>test</a:t>
                </a:r>
                <a:r>
                  <a:rPr lang="en-GB" dirty="0"/>
                  <a:t> </a:t>
                </a:r>
                <a:r>
                  <a:rPr lang="en-GB" b="1" dirty="0">
                    <a:solidFill>
                      <a:srgbClr val="7030A0"/>
                    </a:solidFill>
                  </a:rPr>
                  <a:t>set</a:t>
                </a:r>
                <a:r>
                  <a:rPr lang="en-GB" dirty="0"/>
                  <a:t>.</a:t>
                </a:r>
              </a:p>
              <a:p>
                <a:r>
                  <a:rPr lang="en-GB" dirty="0"/>
                  <a:t>(We might not have enough samples to ensure the law of large numbers applies, but we try our best).</a:t>
                </a:r>
              </a:p>
              <a:p>
                <a:r>
                  <a:rPr lang="en-GB" dirty="0"/>
                  <a:t>Put </a:t>
                </a:r>
                <a:r>
                  <a:rPr lang="en-GB" b="1" dirty="0"/>
                  <a:t>the</a:t>
                </a:r>
                <a:r>
                  <a:rPr lang="en-GB" dirty="0"/>
                  <a:t> </a:t>
                </a:r>
                <a:r>
                  <a:rPr lang="en-GB" b="1" dirty="0"/>
                  <a:t>remaining </a:t>
                </a:r>
                <a14:m>
                  <m:oMath xmlns:m="http://schemas.openxmlformats.org/officeDocument/2006/math">
                    <m:r>
                      <a:rPr lang="en-GB" b="1" i="1" dirty="0" smtClean="0">
                        <a:latin typeface="Cambria Math" panose="02040503050406030204" pitchFamily="18" charset="0"/>
                      </a:rPr>
                      <m:t>~</m:t>
                    </m:r>
                  </m:oMath>
                </a14:m>
                <a:r>
                  <a:rPr lang="en-GB" b="1" dirty="0"/>
                  <a:t>80%</a:t>
                </a:r>
                <a:r>
                  <a:rPr lang="en-GB" dirty="0"/>
                  <a:t> in </a:t>
                </a:r>
                <a:r>
                  <a:rPr lang="en-GB" b="1" dirty="0">
                    <a:solidFill>
                      <a:schemeClr val="accent2"/>
                    </a:solidFill>
                  </a:rPr>
                  <a:t>training</a:t>
                </a:r>
                <a:r>
                  <a:rPr lang="en-GB" dirty="0"/>
                  <a:t> </a:t>
                </a:r>
                <a:r>
                  <a:rPr lang="en-GB" b="1" dirty="0">
                    <a:solidFill>
                      <a:schemeClr val="accent2"/>
                    </a:solidFill>
                  </a:rPr>
                  <a:t>set</a:t>
                </a:r>
                <a:r>
                  <a:rPr lang="en-GB" dirty="0"/>
                  <a:t>.</a:t>
                </a:r>
                <a:endParaRPr lang="en-SG" dirty="0"/>
              </a:p>
            </p:txBody>
          </p:sp>
        </mc:Choice>
        <mc:Fallback xmlns="">
          <p:sp>
            <p:nvSpPr>
              <p:cNvPr id="5" name="Content Placeholder 4">
                <a:extLst>
                  <a:ext uri="{FF2B5EF4-FFF2-40B4-BE49-F238E27FC236}">
                    <a16:creationId xmlns:a16="http://schemas.microsoft.com/office/drawing/2014/main" id="{D06B9D64-CDDF-1120-2C4A-F0A846476B95}"/>
                  </a:ext>
                </a:extLst>
              </p:cNvPr>
              <p:cNvSpPr>
                <a:spLocks noGrp="1" noRot="1" noChangeAspect="1" noMove="1" noResize="1" noEditPoints="1" noAdjustHandles="1" noChangeArrowheads="1" noChangeShapeType="1" noTextEdit="1"/>
              </p:cNvSpPr>
              <p:nvPr>
                <p:ph sz="half" idx="2"/>
              </p:nvPr>
            </p:nvSpPr>
            <p:spPr>
              <a:xfrm>
                <a:off x="6172200" y="1825624"/>
                <a:ext cx="5181600" cy="5032375"/>
              </a:xfrm>
              <a:blipFill>
                <a:blip r:embed="rId3"/>
                <a:stretch>
                  <a:fillRect l="-2471" t="-1937"/>
                </a:stretch>
              </a:blipFill>
            </p:spPr>
            <p:txBody>
              <a:bodyPr/>
              <a:lstStyle/>
              <a:p>
                <a:r>
                  <a:rPr lang="en-SG">
                    <a:noFill/>
                  </a:rPr>
                  <a:t> </a:t>
                </a:r>
              </a:p>
            </p:txBody>
          </p:sp>
        </mc:Fallback>
      </mc:AlternateContent>
    </p:spTree>
    <p:extLst>
      <p:ext uri="{BB962C8B-B14F-4D97-AF65-F5344CB8AC3E}">
        <p14:creationId xmlns:p14="http://schemas.microsoft.com/office/powerpoint/2010/main" val="155329212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3E33E8-2C3B-E5C7-E73C-86BCBC9D4811}"/>
              </a:ext>
            </a:extLst>
          </p:cNvPr>
          <p:cNvSpPr>
            <a:spLocks noGrp="1"/>
          </p:cNvSpPr>
          <p:nvPr>
            <p:ph type="title"/>
          </p:nvPr>
        </p:nvSpPr>
        <p:spPr/>
        <p:txBody>
          <a:bodyPr/>
          <a:lstStyle/>
          <a:p>
            <a:r>
              <a:rPr lang="en-GB" dirty="0"/>
              <a:t>Good Practice #2: Using a train-test-valid split</a:t>
            </a:r>
            <a:endParaRPr lang="en-SG" dirty="0"/>
          </a:p>
        </p:txBody>
      </p:sp>
      <p:pic>
        <p:nvPicPr>
          <p:cNvPr id="10" name="Picture 9">
            <a:extLst>
              <a:ext uri="{FF2B5EF4-FFF2-40B4-BE49-F238E27FC236}">
                <a16:creationId xmlns:a16="http://schemas.microsoft.com/office/drawing/2014/main" id="{57E1F6A2-82F6-1462-613B-C8396C4B76D3}"/>
              </a:ext>
            </a:extLst>
          </p:cNvPr>
          <p:cNvPicPr>
            <a:picLocks noChangeAspect="1"/>
          </p:cNvPicPr>
          <p:nvPr/>
        </p:nvPicPr>
        <p:blipFill>
          <a:blip r:embed="rId2"/>
          <a:stretch>
            <a:fillRect/>
          </a:stretch>
        </p:blipFill>
        <p:spPr>
          <a:xfrm>
            <a:off x="3475049" y="1531815"/>
            <a:ext cx="8615343" cy="4961060"/>
          </a:xfrm>
          <a:prstGeom prst="rect">
            <a:avLst/>
          </a:prstGeom>
        </p:spPr>
      </p:pic>
      <p:sp>
        <p:nvSpPr>
          <p:cNvPr id="11" name="Content Placeholder 2">
            <a:extLst>
              <a:ext uri="{FF2B5EF4-FFF2-40B4-BE49-F238E27FC236}">
                <a16:creationId xmlns:a16="http://schemas.microsoft.com/office/drawing/2014/main" id="{9D486792-A1B6-C3D7-C246-48881289AB7E}"/>
              </a:ext>
            </a:extLst>
          </p:cNvPr>
          <p:cNvSpPr>
            <a:spLocks noGrp="1"/>
          </p:cNvSpPr>
          <p:nvPr>
            <p:ph sz="half" idx="1"/>
          </p:nvPr>
        </p:nvSpPr>
        <p:spPr>
          <a:xfrm>
            <a:off x="438539" y="1825625"/>
            <a:ext cx="3036510" cy="4351338"/>
          </a:xfrm>
        </p:spPr>
        <p:txBody>
          <a:bodyPr>
            <a:normAutofit/>
          </a:bodyPr>
          <a:lstStyle/>
          <a:p>
            <a:pPr marL="0" indent="0">
              <a:buNone/>
            </a:pPr>
            <a:endParaRPr lang="en-GB" dirty="0"/>
          </a:p>
          <a:p>
            <a:pPr marL="0" indent="0">
              <a:buNone/>
            </a:pPr>
            <a:r>
              <a:rPr lang="en-GB" dirty="0"/>
              <a:t>Here, we will “mimic” a splitting by using our dataset generator three times, with different seeds and number of samples each time.</a:t>
            </a:r>
          </a:p>
        </p:txBody>
      </p:sp>
    </p:spTree>
    <p:extLst>
      <p:ext uri="{BB962C8B-B14F-4D97-AF65-F5344CB8AC3E}">
        <p14:creationId xmlns:p14="http://schemas.microsoft.com/office/powerpoint/2010/main" val="403785595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3E33E8-2C3B-E5C7-E73C-86BCBC9D4811}"/>
              </a:ext>
            </a:extLst>
          </p:cNvPr>
          <p:cNvSpPr>
            <a:spLocks noGrp="1"/>
          </p:cNvSpPr>
          <p:nvPr>
            <p:ph type="title"/>
          </p:nvPr>
        </p:nvSpPr>
        <p:spPr/>
        <p:txBody>
          <a:bodyPr/>
          <a:lstStyle/>
          <a:p>
            <a:r>
              <a:rPr lang="en-GB" dirty="0"/>
              <a:t>Good Practice #2: Using a train-test-valid split</a:t>
            </a:r>
            <a:endParaRPr lang="en-SG" dirty="0"/>
          </a:p>
        </p:txBody>
      </p:sp>
      <p:pic>
        <p:nvPicPr>
          <p:cNvPr id="6" name="Picture 5">
            <a:extLst>
              <a:ext uri="{FF2B5EF4-FFF2-40B4-BE49-F238E27FC236}">
                <a16:creationId xmlns:a16="http://schemas.microsoft.com/office/drawing/2014/main" id="{9058E7E9-51E0-DF3A-4BFA-542A67867FF8}"/>
              </a:ext>
            </a:extLst>
          </p:cNvPr>
          <p:cNvPicPr>
            <a:picLocks noChangeAspect="1"/>
          </p:cNvPicPr>
          <p:nvPr/>
        </p:nvPicPr>
        <p:blipFill>
          <a:blip r:embed="rId2"/>
          <a:stretch>
            <a:fillRect/>
          </a:stretch>
        </p:blipFill>
        <p:spPr>
          <a:xfrm>
            <a:off x="223444" y="1511600"/>
            <a:ext cx="4411080" cy="3134646"/>
          </a:xfrm>
          <a:prstGeom prst="rect">
            <a:avLst/>
          </a:prstGeom>
        </p:spPr>
      </p:pic>
      <p:pic>
        <p:nvPicPr>
          <p:cNvPr id="8" name="Picture 7">
            <a:extLst>
              <a:ext uri="{FF2B5EF4-FFF2-40B4-BE49-F238E27FC236}">
                <a16:creationId xmlns:a16="http://schemas.microsoft.com/office/drawing/2014/main" id="{487A7802-386D-63D1-001D-6C45BCF971E3}"/>
              </a:ext>
            </a:extLst>
          </p:cNvPr>
          <p:cNvPicPr>
            <a:picLocks noChangeAspect="1"/>
          </p:cNvPicPr>
          <p:nvPr/>
        </p:nvPicPr>
        <p:blipFill>
          <a:blip r:embed="rId3"/>
          <a:stretch>
            <a:fillRect/>
          </a:stretch>
        </p:blipFill>
        <p:spPr>
          <a:xfrm>
            <a:off x="7434342" y="1414556"/>
            <a:ext cx="4534214" cy="3231690"/>
          </a:xfrm>
          <a:prstGeom prst="rect">
            <a:avLst/>
          </a:prstGeom>
        </p:spPr>
      </p:pic>
      <p:pic>
        <p:nvPicPr>
          <p:cNvPr id="12" name="Picture 11">
            <a:extLst>
              <a:ext uri="{FF2B5EF4-FFF2-40B4-BE49-F238E27FC236}">
                <a16:creationId xmlns:a16="http://schemas.microsoft.com/office/drawing/2014/main" id="{5313EACC-41E3-2009-5183-E05832F8AA88}"/>
              </a:ext>
            </a:extLst>
          </p:cNvPr>
          <p:cNvPicPr>
            <a:picLocks noChangeAspect="1"/>
          </p:cNvPicPr>
          <p:nvPr/>
        </p:nvPicPr>
        <p:blipFill>
          <a:blip r:embed="rId4"/>
          <a:stretch>
            <a:fillRect/>
          </a:stretch>
        </p:blipFill>
        <p:spPr>
          <a:xfrm>
            <a:off x="3821445" y="3658843"/>
            <a:ext cx="4534214" cy="3178396"/>
          </a:xfrm>
          <a:prstGeom prst="rect">
            <a:avLst/>
          </a:prstGeom>
        </p:spPr>
      </p:pic>
    </p:spTree>
    <p:extLst>
      <p:ext uri="{BB962C8B-B14F-4D97-AF65-F5344CB8AC3E}">
        <p14:creationId xmlns:p14="http://schemas.microsoft.com/office/powerpoint/2010/main" val="88466799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3E33E8-2C3B-E5C7-E73C-86BCBC9D4811}"/>
              </a:ext>
            </a:extLst>
          </p:cNvPr>
          <p:cNvSpPr>
            <a:spLocks noGrp="1"/>
          </p:cNvSpPr>
          <p:nvPr>
            <p:ph type="title"/>
          </p:nvPr>
        </p:nvSpPr>
        <p:spPr/>
        <p:txBody>
          <a:bodyPr/>
          <a:lstStyle/>
          <a:p>
            <a:r>
              <a:rPr lang="en-GB" dirty="0"/>
              <a:t>Good Practice #2: Using a train-test-valid split</a:t>
            </a:r>
            <a:endParaRPr lang="en-SG" dirty="0"/>
          </a:p>
        </p:txBody>
      </p:sp>
      <p:sp>
        <p:nvSpPr>
          <p:cNvPr id="3" name="Content Placeholder 2">
            <a:extLst>
              <a:ext uri="{FF2B5EF4-FFF2-40B4-BE49-F238E27FC236}">
                <a16:creationId xmlns:a16="http://schemas.microsoft.com/office/drawing/2014/main" id="{9CCC4100-ACF1-21D8-E2F0-B59E569FE124}"/>
              </a:ext>
            </a:extLst>
          </p:cNvPr>
          <p:cNvSpPr>
            <a:spLocks noGrp="1"/>
          </p:cNvSpPr>
          <p:nvPr>
            <p:ph idx="1"/>
          </p:nvPr>
        </p:nvSpPr>
        <p:spPr/>
        <p:txBody>
          <a:bodyPr/>
          <a:lstStyle/>
          <a:p>
            <a:pPr marL="0" indent="0">
              <a:buNone/>
            </a:pPr>
            <a:r>
              <a:rPr lang="en-GB" dirty="0"/>
              <a:t>During training pass all three datasets as parameters</a:t>
            </a:r>
            <a:endParaRPr lang="en-SG" dirty="0"/>
          </a:p>
        </p:txBody>
      </p:sp>
      <p:pic>
        <p:nvPicPr>
          <p:cNvPr id="5" name="Picture 4">
            <a:extLst>
              <a:ext uri="{FF2B5EF4-FFF2-40B4-BE49-F238E27FC236}">
                <a16:creationId xmlns:a16="http://schemas.microsoft.com/office/drawing/2014/main" id="{1ED91441-B3D7-F06B-3810-62FA29289834}"/>
              </a:ext>
            </a:extLst>
          </p:cNvPr>
          <p:cNvPicPr>
            <a:picLocks noChangeAspect="1"/>
          </p:cNvPicPr>
          <p:nvPr/>
        </p:nvPicPr>
        <p:blipFill>
          <a:blip r:embed="rId2"/>
          <a:stretch>
            <a:fillRect/>
          </a:stretch>
        </p:blipFill>
        <p:spPr>
          <a:xfrm>
            <a:off x="149316" y="5804549"/>
            <a:ext cx="11893367" cy="688326"/>
          </a:xfrm>
          <a:prstGeom prst="rect">
            <a:avLst/>
          </a:prstGeom>
        </p:spPr>
      </p:pic>
      <p:pic>
        <p:nvPicPr>
          <p:cNvPr id="4" name="Picture 3">
            <a:extLst>
              <a:ext uri="{FF2B5EF4-FFF2-40B4-BE49-F238E27FC236}">
                <a16:creationId xmlns:a16="http://schemas.microsoft.com/office/drawing/2014/main" id="{B250D7B3-1820-F1DF-393B-1662F8B62F8E}"/>
              </a:ext>
            </a:extLst>
          </p:cNvPr>
          <p:cNvPicPr>
            <a:picLocks noChangeAspect="1"/>
          </p:cNvPicPr>
          <p:nvPr/>
        </p:nvPicPr>
        <p:blipFill>
          <a:blip r:embed="rId3"/>
          <a:stretch>
            <a:fillRect/>
          </a:stretch>
        </p:blipFill>
        <p:spPr>
          <a:xfrm>
            <a:off x="344741" y="2689533"/>
            <a:ext cx="3554985" cy="2526279"/>
          </a:xfrm>
          <a:prstGeom prst="rect">
            <a:avLst/>
          </a:prstGeom>
        </p:spPr>
      </p:pic>
      <p:pic>
        <p:nvPicPr>
          <p:cNvPr id="6" name="Picture 5">
            <a:extLst>
              <a:ext uri="{FF2B5EF4-FFF2-40B4-BE49-F238E27FC236}">
                <a16:creationId xmlns:a16="http://schemas.microsoft.com/office/drawing/2014/main" id="{17C856E9-E807-28B8-FDE3-D4EC3A7B4882}"/>
              </a:ext>
            </a:extLst>
          </p:cNvPr>
          <p:cNvPicPr>
            <a:picLocks noChangeAspect="1"/>
          </p:cNvPicPr>
          <p:nvPr/>
        </p:nvPicPr>
        <p:blipFill>
          <a:blip r:embed="rId4"/>
          <a:stretch>
            <a:fillRect/>
          </a:stretch>
        </p:blipFill>
        <p:spPr>
          <a:xfrm>
            <a:off x="4187934" y="2655348"/>
            <a:ext cx="3654220" cy="2604488"/>
          </a:xfrm>
          <a:prstGeom prst="rect">
            <a:avLst/>
          </a:prstGeom>
        </p:spPr>
      </p:pic>
      <p:pic>
        <p:nvPicPr>
          <p:cNvPr id="7" name="Picture 6">
            <a:extLst>
              <a:ext uri="{FF2B5EF4-FFF2-40B4-BE49-F238E27FC236}">
                <a16:creationId xmlns:a16="http://schemas.microsoft.com/office/drawing/2014/main" id="{668A300D-C044-62DB-171D-948C380894E4}"/>
              </a:ext>
            </a:extLst>
          </p:cNvPr>
          <p:cNvPicPr>
            <a:picLocks noChangeAspect="1"/>
          </p:cNvPicPr>
          <p:nvPr/>
        </p:nvPicPr>
        <p:blipFill>
          <a:blip r:embed="rId5"/>
          <a:stretch>
            <a:fillRect/>
          </a:stretch>
        </p:blipFill>
        <p:spPr>
          <a:xfrm>
            <a:off x="8130362" y="2654274"/>
            <a:ext cx="3654221" cy="2561538"/>
          </a:xfrm>
          <a:prstGeom prst="rect">
            <a:avLst/>
          </a:prstGeom>
        </p:spPr>
      </p:pic>
      <p:cxnSp>
        <p:nvCxnSpPr>
          <p:cNvPr id="9" name="Straight Arrow Connector 8">
            <a:extLst>
              <a:ext uri="{FF2B5EF4-FFF2-40B4-BE49-F238E27FC236}">
                <a16:creationId xmlns:a16="http://schemas.microsoft.com/office/drawing/2014/main" id="{D50F9737-7435-82D9-5B71-3D2DF5BBC1E4}"/>
              </a:ext>
            </a:extLst>
          </p:cNvPr>
          <p:cNvCxnSpPr>
            <a:cxnSpLocks/>
          </p:cNvCxnSpPr>
          <p:nvPr/>
        </p:nvCxnSpPr>
        <p:spPr>
          <a:xfrm>
            <a:off x="2805723" y="5181046"/>
            <a:ext cx="1438031" cy="623503"/>
          </a:xfrm>
          <a:prstGeom prst="straightConnector1">
            <a:avLst/>
          </a:prstGeom>
          <a:ln w="38100">
            <a:headEnd type="none" w="med" len="med"/>
            <a:tailEnd type="arrow" w="med" len="med"/>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9F85D11C-1A4B-FAF1-ACA1-93E3CCD45CCB}"/>
              </a:ext>
            </a:extLst>
          </p:cNvPr>
          <p:cNvCxnSpPr>
            <a:cxnSpLocks/>
          </p:cNvCxnSpPr>
          <p:nvPr/>
        </p:nvCxnSpPr>
        <p:spPr>
          <a:xfrm>
            <a:off x="9957472" y="5324498"/>
            <a:ext cx="108743" cy="480051"/>
          </a:xfrm>
          <a:prstGeom prst="straightConnector1">
            <a:avLst/>
          </a:prstGeom>
          <a:ln w="38100">
            <a:headEnd type="none" w="med" len="med"/>
            <a:tailEnd type="arrow" w="med" len="med"/>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7D0B6097-CC25-BD00-9BC5-1FF1F204A53C}"/>
              </a:ext>
            </a:extLst>
          </p:cNvPr>
          <p:cNvCxnSpPr>
            <a:cxnSpLocks/>
          </p:cNvCxnSpPr>
          <p:nvPr/>
        </p:nvCxnSpPr>
        <p:spPr>
          <a:xfrm>
            <a:off x="6015044" y="5350749"/>
            <a:ext cx="1276710" cy="453800"/>
          </a:xfrm>
          <a:prstGeom prst="straightConnector1">
            <a:avLst/>
          </a:prstGeom>
          <a:ln w="38100">
            <a:headEnd type="none" w="med" len="med"/>
            <a:tailEnd type="arrow"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5443292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3E33E8-2C3B-E5C7-E73C-86BCBC9D4811}"/>
              </a:ext>
            </a:extLst>
          </p:cNvPr>
          <p:cNvSpPr>
            <a:spLocks noGrp="1"/>
          </p:cNvSpPr>
          <p:nvPr>
            <p:ph type="title"/>
          </p:nvPr>
        </p:nvSpPr>
        <p:spPr/>
        <p:txBody>
          <a:bodyPr/>
          <a:lstStyle/>
          <a:p>
            <a:r>
              <a:rPr lang="en-GB" dirty="0"/>
              <a:t>Good Practice #2: Using a train-test-valid split</a:t>
            </a:r>
            <a:endParaRPr lang="en-SG" dirty="0"/>
          </a:p>
        </p:txBody>
      </p:sp>
      <p:sp>
        <p:nvSpPr>
          <p:cNvPr id="3" name="Content Placeholder 2">
            <a:extLst>
              <a:ext uri="{FF2B5EF4-FFF2-40B4-BE49-F238E27FC236}">
                <a16:creationId xmlns:a16="http://schemas.microsoft.com/office/drawing/2014/main" id="{9CCC4100-ACF1-21D8-E2F0-B59E569FE124}"/>
              </a:ext>
            </a:extLst>
          </p:cNvPr>
          <p:cNvSpPr>
            <a:spLocks noGrp="1"/>
          </p:cNvSpPr>
          <p:nvPr>
            <p:ph idx="1"/>
          </p:nvPr>
        </p:nvSpPr>
        <p:spPr/>
        <p:txBody>
          <a:bodyPr/>
          <a:lstStyle/>
          <a:p>
            <a:pPr marL="0" indent="0">
              <a:buNone/>
            </a:pPr>
            <a:r>
              <a:rPr lang="en-GB" dirty="0"/>
              <a:t>A few more changes…</a:t>
            </a:r>
          </a:p>
          <a:p>
            <a:pPr marL="0" indent="0">
              <a:buNone/>
            </a:pPr>
            <a:r>
              <a:rPr lang="en-SG" b="1" dirty="0"/>
              <a:t>1. Track losses and accuracies during training on both training and validation sets.</a:t>
            </a:r>
          </a:p>
        </p:txBody>
      </p:sp>
      <p:pic>
        <p:nvPicPr>
          <p:cNvPr id="6" name="Picture 5">
            <a:extLst>
              <a:ext uri="{FF2B5EF4-FFF2-40B4-BE49-F238E27FC236}">
                <a16:creationId xmlns:a16="http://schemas.microsoft.com/office/drawing/2014/main" id="{8B8D671B-2EC8-C530-E5AC-812756BEBC74}"/>
              </a:ext>
            </a:extLst>
          </p:cNvPr>
          <p:cNvPicPr>
            <a:picLocks noChangeAspect="1"/>
          </p:cNvPicPr>
          <p:nvPr/>
        </p:nvPicPr>
        <p:blipFill>
          <a:blip r:embed="rId2"/>
          <a:stretch>
            <a:fillRect/>
          </a:stretch>
        </p:blipFill>
        <p:spPr>
          <a:xfrm>
            <a:off x="1771307" y="3401007"/>
            <a:ext cx="8856260" cy="1137100"/>
          </a:xfrm>
          <a:prstGeom prst="rect">
            <a:avLst/>
          </a:prstGeom>
        </p:spPr>
      </p:pic>
      <p:pic>
        <p:nvPicPr>
          <p:cNvPr id="8" name="Picture 7">
            <a:extLst>
              <a:ext uri="{FF2B5EF4-FFF2-40B4-BE49-F238E27FC236}">
                <a16:creationId xmlns:a16="http://schemas.microsoft.com/office/drawing/2014/main" id="{CF82EE0B-5F4C-3F21-BC18-C3EC7B40AA9B}"/>
              </a:ext>
            </a:extLst>
          </p:cNvPr>
          <p:cNvPicPr>
            <a:picLocks noChangeAspect="1"/>
          </p:cNvPicPr>
          <p:nvPr/>
        </p:nvPicPr>
        <p:blipFill>
          <a:blip r:embed="rId3"/>
          <a:stretch>
            <a:fillRect/>
          </a:stretch>
        </p:blipFill>
        <p:spPr>
          <a:xfrm>
            <a:off x="2487622" y="4696089"/>
            <a:ext cx="6782747" cy="2172003"/>
          </a:xfrm>
          <a:prstGeom prst="rect">
            <a:avLst/>
          </a:prstGeom>
        </p:spPr>
      </p:pic>
    </p:spTree>
    <p:extLst>
      <p:ext uri="{BB962C8B-B14F-4D97-AF65-F5344CB8AC3E}">
        <p14:creationId xmlns:p14="http://schemas.microsoft.com/office/powerpoint/2010/main" val="218123755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3E33E8-2C3B-E5C7-E73C-86BCBC9D4811}"/>
              </a:ext>
            </a:extLst>
          </p:cNvPr>
          <p:cNvSpPr>
            <a:spLocks noGrp="1"/>
          </p:cNvSpPr>
          <p:nvPr>
            <p:ph type="title"/>
          </p:nvPr>
        </p:nvSpPr>
        <p:spPr/>
        <p:txBody>
          <a:bodyPr/>
          <a:lstStyle/>
          <a:p>
            <a:r>
              <a:rPr lang="en-GB" dirty="0"/>
              <a:t>Good Practice #2: Using a train-test-valid split</a:t>
            </a:r>
            <a:endParaRPr lang="en-SG" dirty="0"/>
          </a:p>
        </p:txBody>
      </p:sp>
      <p:sp>
        <p:nvSpPr>
          <p:cNvPr id="3" name="Content Placeholder 2">
            <a:extLst>
              <a:ext uri="{FF2B5EF4-FFF2-40B4-BE49-F238E27FC236}">
                <a16:creationId xmlns:a16="http://schemas.microsoft.com/office/drawing/2014/main" id="{9CCC4100-ACF1-21D8-E2F0-B59E569FE124}"/>
              </a:ext>
            </a:extLst>
          </p:cNvPr>
          <p:cNvSpPr>
            <a:spLocks noGrp="1"/>
          </p:cNvSpPr>
          <p:nvPr>
            <p:ph idx="1"/>
          </p:nvPr>
        </p:nvSpPr>
        <p:spPr/>
        <p:txBody>
          <a:bodyPr/>
          <a:lstStyle/>
          <a:p>
            <a:pPr marL="0" indent="0">
              <a:buNone/>
            </a:pPr>
            <a:r>
              <a:rPr lang="en-GB" dirty="0"/>
              <a:t>A few more changes…</a:t>
            </a:r>
          </a:p>
          <a:p>
            <a:pPr marL="0" indent="0">
              <a:buNone/>
            </a:pPr>
            <a:r>
              <a:rPr lang="en-SG" b="1" dirty="0"/>
              <a:t>2. On each iteration, display losses and accuracies on both the training and validation sets.</a:t>
            </a:r>
          </a:p>
        </p:txBody>
      </p:sp>
      <p:pic>
        <p:nvPicPr>
          <p:cNvPr id="5" name="Picture 4">
            <a:extLst>
              <a:ext uri="{FF2B5EF4-FFF2-40B4-BE49-F238E27FC236}">
                <a16:creationId xmlns:a16="http://schemas.microsoft.com/office/drawing/2014/main" id="{FD21CF24-4FC6-B609-5999-572CF5F79F04}"/>
              </a:ext>
            </a:extLst>
          </p:cNvPr>
          <p:cNvPicPr>
            <a:picLocks noChangeAspect="1"/>
          </p:cNvPicPr>
          <p:nvPr/>
        </p:nvPicPr>
        <p:blipFill>
          <a:blip r:embed="rId2"/>
          <a:stretch>
            <a:fillRect/>
          </a:stretch>
        </p:blipFill>
        <p:spPr>
          <a:xfrm>
            <a:off x="471480" y="4263256"/>
            <a:ext cx="11564823" cy="1786224"/>
          </a:xfrm>
          <a:prstGeom prst="rect">
            <a:avLst/>
          </a:prstGeom>
        </p:spPr>
      </p:pic>
    </p:spTree>
    <p:extLst>
      <p:ext uri="{BB962C8B-B14F-4D97-AF65-F5344CB8AC3E}">
        <p14:creationId xmlns:p14="http://schemas.microsoft.com/office/powerpoint/2010/main" val="377524085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3E33E8-2C3B-E5C7-E73C-86BCBC9D4811}"/>
              </a:ext>
            </a:extLst>
          </p:cNvPr>
          <p:cNvSpPr>
            <a:spLocks noGrp="1"/>
          </p:cNvSpPr>
          <p:nvPr>
            <p:ph type="title"/>
          </p:nvPr>
        </p:nvSpPr>
        <p:spPr/>
        <p:txBody>
          <a:bodyPr/>
          <a:lstStyle/>
          <a:p>
            <a:r>
              <a:rPr lang="en-GB" dirty="0"/>
              <a:t>Good Practice #2: Using a train-test-valid split</a:t>
            </a:r>
            <a:endParaRPr lang="en-SG" dirty="0"/>
          </a:p>
        </p:txBody>
      </p:sp>
      <p:sp>
        <p:nvSpPr>
          <p:cNvPr id="3" name="Content Placeholder 2">
            <a:extLst>
              <a:ext uri="{FF2B5EF4-FFF2-40B4-BE49-F238E27FC236}">
                <a16:creationId xmlns:a16="http://schemas.microsoft.com/office/drawing/2014/main" id="{9CCC4100-ACF1-21D8-E2F0-B59E569FE124}"/>
              </a:ext>
            </a:extLst>
          </p:cNvPr>
          <p:cNvSpPr>
            <a:spLocks noGrp="1"/>
          </p:cNvSpPr>
          <p:nvPr>
            <p:ph idx="1"/>
          </p:nvPr>
        </p:nvSpPr>
        <p:spPr/>
        <p:txBody>
          <a:bodyPr/>
          <a:lstStyle/>
          <a:p>
            <a:pPr marL="0" indent="0">
              <a:buNone/>
            </a:pPr>
            <a:r>
              <a:rPr lang="en-GB" dirty="0"/>
              <a:t>A few more changes…</a:t>
            </a:r>
          </a:p>
          <a:p>
            <a:pPr marL="0" indent="0">
              <a:buNone/>
            </a:pPr>
            <a:r>
              <a:rPr lang="en-SG" b="1" dirty="0"/>
              <a:t>3. After training has completed, check accuracy values (and, optionally, loss values) on the test set for a final confirmation, on the model’s </a:t>
            </a:r>
            <a:r>
              <a:rPr lang="en-SG" b="1" dirty="0">
                <a:solidFill>
                  <a:srgbClr val="7030A0"/>
                </a:solidFill>
              </a:rPr>
              <a:t>generalization </a:t>
            </a:r>
            <a:r>
              <a:rPr lang="en-SG" b="1" dirty="0"/>
              <a:t>capabilities.</a:t>
            </a:r>
          </a:p>
        </p:txBody>
      </p:sp>
      <p:pic>
        <p:nvPicPr>
          <p:cNvPr id="6" name="Picture 5">
            <a:extLst>
              <a:ext uri="{FF2B5EF4-FFF2-40B4-BE49-F238E27FC236}">
                <a16:creationId xmlns:a16="http://schemas.microsoft.com/office/drawing/2014/main" id="{1512B008-17CC-5E52-C408-514156503416}"/>
              </a:ext>
            </a:extLst>
          </p:cNvPr>
          <p:cNvPicPr>
            <a:picLocks noChangeAspect="1"/>
          </p:cNvPicPr>
          <p:nvPr/>
        </p:nvPicPr>
        <p:blipFill rotWithShape="1">
          <a:blip r:embed="rId2"/>
          <a:srcRect l="14830"/>
          <a:stretch/>
        </p:blipFill>
        <p:spPr>
          <a:xfrm>
            <a:off x="557961" y="4351453"/>
            <a:ext cx="10795839" cy="677438"/>
          </a:xfrm>
          <a:prstGeom prst="rect">
            <a:avLst/>
          </a:prstGeom>
        </p:spPr>
      </p:pic>
    </p:spTree>
    <p:extLst>
      <p:ext uri="{BB962C8B-B14F-4D97-AF65-F5344CB8AC3E}">
        <p14:creationId xmlns:p14="http://schemas.microsoft.com/office/powerpoint/2010/main" val="137004546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3E33E8-2C3B-E5C7-E73C-86BCBC9D4811}"/>
              </a:ext>
            </a:extLst>
          </p:cNvPr>
          <p:cNvSpPr>
            <a:spLocks noGrp="1"/>
          </p:cNvSpPr>
          <p:nvPr>
            <p:ph type="title"/>
          </p:nvPr>
        </p:nvSpPr>
        <p:spPr/>
        <p:txBody>
          <a:bodyPr/>
          <a:lstStyle/>
          <a:p>
            <a:r>
              <a:rPr lang="en-GB" dirty="0"/>
              <a:t>Good Practice #2: Using a train-test-valid split</a:t>
            </a:r>
            <a:endParaRPr lang="en-SG" dirty="0"/>
          </a:p>
        </p:txBody>
      </p:sp>
      <p:sp>
        <p:nvSpPr>
          <p:cNvPr id="3" name="Content Placeholder 2">
            <a:extLst>
              <a:ext uri="{FF2B5EF4-FFF2-40B4-BE49-F238E27FC236}">
                <a16:creationId xmlns:a16="http://schemas.microsoft.com/office/drawing/2014/main" id="{9CCC4100-ACF1-21D8-E2F0-B59E569FE124}"/>
              </a:ext>
            </a:extLst>
          </p:cNvPr>
          <p:cNvSpPr>
            <a:spLocks noGrp="1"/>
          </p:cNvSpPr>
          <p:nvPr>
            <p:ph sz="half" idx="1"/>
          </p:nvPr>
        </p:nvSpPr>
        <p:spPr>
          <a:xfrm>
            <a:off x="257908" y="1825624"/>
            <a:ext cx="5761892" cy="5032375"/>
          </a:xfrm>
        </p:spPr>
        <p:txBody>
          <a:bodyPr/>
          <a:lstStyle/>
          <a:p>
            <a:pPr marL="0" indent="0">
              <a:buNone/>
            </a:pPr>
            <a:r>
              <a:rPr lang="en-GB" dirty="0"/>
              <a:t>Training the model now gives the following full display.</a:t>
            </a:r>
            <a:endParaRPr lang="en-GB" b="1" dirty="0"/>
          </a:p>
          <a:p>
            <a:pPr marL="0" indent="0">
              <a:buNone/>
            </a:pPr>
            <a:r>
              <a:rPr lang="en-GB" dirty="0"/>
              <a:t>In general, three possibilities:</a:t>
            </a:r>
          </a:p>
          <a:p>
            <a:r>
              <a:rPr lang="en-GB" b="1" dirty="0">
                <a:solidFill>
                  <a:srgbClr val="FF0000"/>
                </a:solidFill>
              </a:rPr>
              <a:t>Poor</a:t>
            </a:r>
            <a:r>
              <a:rPr lang="en-GB" dirty="0"/>
              <a:t> values on both </a:t>
            </a:r>
            <a:r>
              <a:rPr lang="en-GB" b="1" dirty="0">
                <a:solidFill>
                  <a:schemeClr val="accent2"/>
                </a:solidFill>
              </a:rPr>
              <a:t>train</a:t>
            </a:r>
            <a:r>
              <a:rPr lang="en-GB" dirty="0"/>
              <a:t> metrics and </a:t>
            </a:r>
            <a:r>
              <a:rPr lang="en-GB" b="1" dirty="0">
                <a:solidFill>
                  <a:srgbClr val="0070C0"/>
                </a:solidFill>
              </a:rPr>
              <a:t>validation</a:t>
            </a:r>
            <a:r>
              <a:rPr lang="en-GB" dirty="0"/>
              <a:t> metrics </a:t>
            </a:r>
            <a:br>
              <a:rPr lang="en-GB" dirty="0"/>
            </a:br>
            <a:r>
              <a:rPr lang="en-GB" dirty="0">
                <a:sym typeface="Wingdings" panose="05000000000000000000" pitchFamily="2" charset="2"/>
              </a:rPr>
              <a:t></a:t>
            </a:r>
            <a:r>
              <a:rPr lang="en-GB" dirty="0"/>
              <a:t> </a:t>
            </a:r>
            <a:r>
              <a:rPr lang="en-GB" b="1" u="sng" dirty="0"/>
              <a:t>Underfitting</a:t>
            </a:r>
            <a:r>
              <a:rPr lang="en-GB" dirty="0"/>
              <a:t>.</a:t>
            </a:r>
          </a:p>
          <a:p>
            <a:r>
              <a:rPr lang="en-GB" b="1" dirty="0">
                <a:solidFill>
                  <a:srgbClr val="00B050"/>
                </a:solidFill>
              </a:rPr>
              <a:t>Good</a:t>
            </a:r>
            <a:r>
              <a:rPr lang="en-GB" dirty="0"/>
              <a:t> values on </a:t>
            </a:r>
            <a:r>
              <a:rPr lang="en-GB" b="1" dirty="0">
                <a:solidFill>
                  <a:schemeClr val="accent2"/>
                </a:solidFill>
              </a:rPr>
              <a:t>train</a:t>
            </a:r>
            <a:r>
              <a:rPr lang="en-GB" dirty="0"/>
              <a:t> metrics, </a:t>
            </a:r>
            <a:r>
              <a:rPr lang="en-GB" b="1" dirty="0">
                <a:solidFill>
                  <a:srgbClr val="FF0000"/>
                </a:solidFill>
              </a:rPr>
              <a:t>poor</a:t>
            </a:r>
            <a:r>
              <a:rPr lang="en-GB" dirty="0"/>
              <a:t> values on </a:t>
            </a:r>
            <a:r>
              <a:rPr lang="en-GB" b="1" dirty="0">
                <a:solidFill>
                  <a:srgbClr val="0070C0"/>
                </a:solidFill>
              </a:rPr>
              <a:t>validation</a:t>
            </a:r>
            <a:r>
              <a:rPr lang="en-GB" dirty="0"/>
              <a:t> metrics</a:t>
            </a:r>
            <a:br>
              <a:rPr lang="en-GB" dirty="0"/>
            </a:br>
            <a:r>
              <a:rPr lang="en-GB" dirty="0">
                <a:sym typeface="Wingdings" panose="05000000000000000000" pitchFamily="2" charset="2"/>
              </a:rPr>
              <a:t></a:t>
            </a:r>
            <a:r>
              <a:rPr lang="en-GB" dirty="0"/>
              <a:t> </a:t>
            </a:r>
            <a:r>
              <a:rPr lang="en-GB" b="1" u="sng" dirty="0"/>
              <a:t>Overfitting</a:t>
            </a:r>
            <a:r>
              <a:rPr lang="en-GB" dirty="0"/>
              <a:t>.</a:t>
            </a:r>
          </a:p>
          <a:p>
            <a:r>
              <a:rPr lang="en-GB" b="1" dirty="0">
                <a:solidFill>
                  <a:srgbClr val="00B050"/>
                </a:solidFill>
              </a:rPr>
              <a:t>Good</a:t>
            </a:r>
            <a:r>
              <a:rPr lang="en-GB" dirty="0"/>
              <a:t> values on both </a:t>
            </a:r>
            <a:r>
              <a:rPr lang="en-GB" b="1" dirty="0">
                <a:solidFill>
                  <a:schemeClr val="accent2"/>
                </a:solidFill>
              </a:rPr>
              <a:t>train</a:t>
            </a:r>
            <a:r>
              <a:rPr lang="en-GB" dirty="0"/>
              <a:t> and </a:t>
            </a:r>
            <a:r>
              <a:rPr lang="en-GB" b="1" dirty="0">
                <a:solidFill>
                  <a:srgbClr val="0070C0"/>
                </a:solidFill>
              </a:rPr>
              <a:t>validation</a:t>
            </a:r>
            <a:r>
              <a:rPr lang="en-GB" dirty="0"/>
              <a:t> metrics </a:t>
            </a:r>
            <a:r>
              <a:rPr lang="en-GB" dirty="0">
                <a:sym typeface="Wingdings" panose="05000000000000000000" pitchFamily="2" charset="2"/>
              </a:rPr>
              <a:t> </a:t>
            </a:r>
            <a:r>
              <a:rPr lang="en-GB" b="1" u="sng" dirty="0">
                <a:sym typeface="Wingdings" panose="05000000000000000000" pitchFamily="2" charset="2"/>
              </a:rPr>
              <a:t>Great!</a:t>
            </a:r>
            <a:endParaRPr lang="en-GB" b="1" u="sng" dirty="0"/>
          </a:p>
          <a:p>
            <a:endParaRPr lang="en-SG" dirty="0"/>
          </a:p>
        </p:txBody>
      </p:sp>
      <p:pic>
        <p:nvPicPr>
          <p:cNvPr id="6" name="Picture 5">
            <a:extLst>
              <a:ext uri="{FF2B5EF4-FFF2-40B4-BE49-F238E27FC236}">
                <a16:creationId xmlns:a16="http://schemas.microsoft.com/office/drawing/2014/main" id="{37360E81-8BD6-CEDB-E749-977884841BB1}"/>
              </a:ext>
            </a:extLst>
          </p:cNvPr>
          <p:cNvPicPr>
            <a:picLocks noChangeAspect="1"/>
          </p:cNvPicPr>
          <p:nvPr/>
        </p:nvPicPr>
        <p:blipFill>
          <a:blip r:embed="rId2"/>
          <a:stretch>
            <a:fillRect/>
          </a:stretch>
        </p:blipFill>
        <p:spPr>
          <a:xfrm>
            <a:off x="6279502" y="1489540"/>
            <a:ext cx="5074298" cy="5368460"/>
          </a:xfrm>
          <a:prstGeom prst="rect">
            <a:avLst/>
          </a:prstGeom>
        </p:spPr>
      </p:pic>
    </p:spTree>
    <p:extLst>
      <p:ext uri="{BB962C8B-B14F-4D97-AF65-F5344CB8AC3E}">
        <p14:creationId xmlns:p14="http://schemas.microsoft.com/office/powerpoint/2010/main" val="163447345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3E33E8-2C3B-E5C7-E73C-86BCBC9D4811}"/>
              </a:ext>
            </a:extLst>
          </p:cNvPr>
          <p:cNvSpPr>
            <a:spLocks noGrp="1"/>
          </p:cNvSpPr>
          <p:nvPr>
            <p:ph type="title"/>
          </p:nvPr>
        </p:nvSpPr>
        <p:spPr/>
        <p:txBody>
          <a:bodyPr/>
          <a:lstStyle/>
          <a:p>
            <a:r>
              <a:rPr lang="en-GB" dirty="0"/>
              <a:t>Good Practice #2: Using a train-test-valid split</a:t>
            </a:r>
            <a:endParaRPr lang="en-SG" dirty="0"/>
          </a:p>
        </p:txBody>
      </p:sp>
      <p:sp>
        <p:nvSpPr>
          <p:cNvPr id="3" name="Content Placeholder 2">
            <a:extLst>
              <a:ext uri="{FF2B5EF4-FFF2-40B4-BE49-F238E27FC236}">
                <a16:creationId xmlns:a16="http://schemas.microsoft.com/office/drawing/2014/main" id="{9CCC4100-ACF1-21D8-E2F0-B59E569FE124}"/>
              </a:ext>
            </a:extLst>
          </p:cNvPr>
          <p:cNvSpPr>
            <a:spLocks noGrp="1"/>
          </p:cNvSpPr>
          <p:nvPr>
            <p:ph idx="1"/>
          </p:nvPr>
        </p:nvSpPr>
        <p:spPr/>
        <p:txBody>
          <a:bodyPr/>
          <a:lstStyle/>
          <a:p>
            <a:pPr marL="0" indent="0">
              <a:buNone/>
            </a:pPr>
            <a:r>
              <a:rPr lang="en-GB" dirty="0"/>
              <a:t>A few more changes…</a:t>
            </a:r>
          </a:p>
          <a:p>
            <a:pPr marL="0" indent="0">
              <a:buNone/>
            </a:pPr>
            <a:r>
              <a:rPr lang="en-SG" b="1" dirty="0"/>
              <a:t>4. Training curves will now include training and validation values. </a:t>
            </a:r>
          </a:p>
        </p:txBody>
      </p:sp>
      <p:pic>
        <p:nvPicPr>
          <p:cNvPr id="8" name="Picture 7">
            <a:extLst>
              <a:ext uri="{FF2B5EF4-FFF2-40B4-BE49-F238E27FC236}">
                <a16:creationId xmlns:a16="http://schemas.microsoft.com/office/drawing/2014/main" id="{7C4376E5-6B49-2682-197B-810E79E08D21}"/>
              </a:ext>
            </a:extLst>
          </p:cNvPr>
          <p:cNvPicPr>
            <a:picLocks noChangeAspect="1"/>
          </p:cNvPicPr>
          <p:nvPr/>
        </p:nvPicPr>
        <p:blipFill rotWithShape="1">
          <a:blip r:embed="rId2"/>
          <a:srcRect b="49495"/>
          <a:stretch/>
        </p:blipFill>
        <p:spPr>
          <a:xfrm>
            <a:off x="0" y="3242546"/>
            <a:ext cx="6201165" cy="3026627"/>
          </a:xfrm>
          <a:prstGeom prst="rect">
            <a:avLst/>
          </a:prstGeom>
        </p:spPr>
      </p:pic>
      <p:pic>
        <p:nvPicPr>
          <p:cNvPr id="5" name="Picture 4">
            <a:extLst>
              <a:ext uri="{FF2B5EF4-FFF2-40B4-BE49-F238E27FC236}">
                <a16:creationId xmlns:a16="http://schemas.microsoft.com/office/drawing/2014/main" id="{97255D86-183F-ADC4-3EF2-9CC572FD1727}"/>
              </a:ext>
            </a:extLst>
          </p:cNvPr>
          <p:cNvPicPr>
            <a:picLocks noChangeAspect="1"/>
          </p:cNvPicPr>
          <p:nvPr/>
        </p:nvPicPr>
        <p:blipFill rotWithShape="1">
          <a:blip r:embed="rId2"/>
          <a:srcRect t="50736"/>
          <a:stretch/>
        </p:blipFill>
        <p:spPr>
          <a:xfrm>
            <a:off x="5990835" y="3359683"/>
            <a:ext cx="6201165" cy="2952217"/>
          </a:xfrm>
          <a:prstGeom prst="rect">
            <a:avLst/>
          </a:prstGeom>
        </p:spPr>
      </p:pic>
    </p:spTree>
    <p:extLst>
      <p:ext uri="{BB962C8B-B14F-4D97-AF65-F5344CB8AC3E}">
        <p14:creationId xmlns:p14="http://schemas.microsoft.com/office/powerpoint/2010/main" val="262930770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3E33E8-2C3B-E5C7-E73C-86BCBC9D4811}"/>
              </a:ext>
            </a:extLst>
          </p:cNvPr>
          <p:cNvSpPr>
            <a:spLocks noGrp="1"/>
          </p:cNvSpPr>
          <p:nvPr>
            <p:ph type="title"/>
          </p:nvPr>
        </p:nvSpPr>
        <p:spPr/>
        <p:txBody>
          <a:bodyPr/>
          <a:lstStyle/>
          <a:p>
            <a:r>
              <a:rPr lang="en-GB" dirty="0"/>
              <a:t>Good Practice #2: Using a train-test-valid split</a:t>
            </a:r>
            <a:endParaRPr lang="en-SG" dirty="0"/>
          </a:p>
        </p:txBody>
      </p:sp>
      <p:sp>
        <p:nvSpPr>
          <p:cNvPr id="3" name="Content Placeholder 2">
            <a:extLst>
              <a:ext uri="{FF2B5EF4-FFF2-40B4-BE49-F238E27FC236}">
                <a16:creationId xmlns:a16="http://schemas.microsoft.com/office/drawing/2014/main" id="{9CCC4100-ACF1-21D8-E2F0-B59E569FE124}"/>
              </a:ext>
            </a:extLst>
          </p:cNvPr>
          <p:cNvSpPr>
            <a:spLocks noGrp="1"/>
          </p:cNvSpPr>
          <p:nvPr>
            <p:ph idx="1"/>
          </p:nvPr>
        </p:nvSpPr>
        <p:spPr/>
        <p:txBody>
          <a:bodyPr/>
          <a:lstStyle/>
          <a:p>
            <a:pPr marL="0" indent="0">
              <a:buNone/>
            </a:pPr>
            <a:r>
              <a:rPr lang="en-GB" dirty="0"/>
              <a:t>Training our model gives following training curves (Good training).</a:t>
            </a:r>
            <a:endParaRPr lang="en-SG" b="1" dirty="0"/>
          </a:p>
        </p:txBody>
      </p:sp>
      <p:pic>
        <p:nvPicPr>
          <p:cNvPr id="5" name="Picture 4">
            <a:extLst>
              <a:ext uri="{FF2B5EF4-FFF2-40B4-BE49-F238E27FC236}">
                <a16:creationId xmlns:a16="http://schemas.microsoft.com/office/drawing/2014/main" id="{77680AFA-88A5-8EBE-BF95-33B03437252D}"/>
              </a:ext>
            </a:extLst>
          </p:cNvPr>
          <p:cNvPicPr>
            <a:picLocks noChangeAspect="1"/>
          </p:cNvPicPr>
          <p:nvPr/>
        </p:nvPicPr>
        <p:blipFill>
          <a:blip r:embed="rId2"/>
          <a:stretch>
            <a:fillRect/>
          </a:stretch>
        </p:blipFill>
        <p:spPr>
          <a:xfrm>
            <a:off x="1598447" y="2520530"/>
            <a:ext cx="8995105" cy="4337470"/>
          </a:xfrm>
          <a:prstGeom prst="rect">
            <a:avLst/>
          </a:prstGeom>
        </p:spPr>
      </p:pic>
    </p:spTree>
    <p:extLst>
      <p:ext uri="{BB962C8B-B14F-4D97-AF65-F5344CB8AC3E}">
        <p14:creationId xmlns:p14="http://schemas.microsoft.com/office/powerpoint/2010/main" val="406532220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3E33E8-2C3B-E5C7-E73C-86BCBC9D4811}"/>
              </a:ext>
            </a:extLst>
          </p:cNvPr>
          <p:cNvSpPr>
            <a:spLocks noGrp="1"/>
          </p:cNvSpPr>
          <p:nvPr>
            <p:ph type="title"/>
          </p:nvPr>
        </p:nvSpPr>
        <p:spPr/>
        <p:txBody>
          <a:bodyPr/>
          <a:lstStyle/>
          <a:p>
            <a:r>
              <a:rPr lang="en-GB" dirty="0"/>
              <a:t>Good Practice #2: Using a train-test-valid split</a:t>
            </a:r>
            <a:endParaRPr lang="en-SG" dirty="0"/>
          </a:p>
        </p:txBody>
      </p:sp>
      <p:sp>
        <p:nvSpPr>
          <p:cNvPr id="3" name="Content Placeholder 2">
            <a:extLst>
              <a:ext uri="{FF2B5EF4-FFF2-40B4-BE49-F238E27FC236}">
                <a16:creationId xmlns:a16="http://schemas.microsoft.com/office/drawing/2014/main" id="{9CCC4100-ACF1-21D8-E2F0-B59E569FE124}"/>
              </a:ext>
            </a:extLst>
          </p:cNvPr>
          <p:cNvSpPr>
            <a:spLocks noGrp="1"/>
          </p:cNvSpPr>
          <p:nvPr>
            <p:ph idx="1"/>
          </p:nvPr>
        </p:nvSpPr>
        <p:spPr>
          <a:xfrm>
            <a:off x="838199" y="1586523"/>
            <a:ext cx="11111523" cy="4590440"/>
          </a:xfrm>
        </p:spPr>
        <p:txBody>
          <a:bodyPr/>
          <a:lstStyle/>
          <a:p>
            <a:pPr marL="0" indent="0">
              <a:buNone/>
            </a:pPr>
            <a:r>
              <a:rPr lang="en-GB" b="1" dirty="0"/>
              <a:t>Note: </a:t>
            </a:r>
            <a:r>
              <a:rPr lang="en-GB" dirty="0"/>
              <a:t>A model that can generalize well will often have close curves on both training and validation sets. And a good final test accuracy value.</a:t>
            </a:r>
            <a:endParaRPr lang="en-SG" b="1" dirty="0"/>
          </a:p>
        </p:txBody>
      </p:sp>
      <p:pic>
        <p:nvPicPr>
          <p:cNvPr id="5" name="Picture 4">
            <a:extLst>
              <a:ext uri="{FF2B5EF4-FFF2-40B4-BE49-F238E27FC236}">
                <a16:creationId xmlns:a16="http://schemas.microsoft.com/office/drawing/2014/main" id="{77680AFA-88A5-8EBE-BF95-33B03437252D}"/>
              </a:ext>
            </a:extLst>
          </p:cNvPr>
          <p:cNvPicPr>
            <a:picLocks noChangeAspect="1"/>
          </p:cNvPicPr>
          <p:nvPr/>
        </p:nvPicPr>
        <p:blipFill>
          <a:blip r:embed="rId2"/>
          <a:stretch>
            <a:fillRect/>
          </a:stretch>
        </p:blipFill>
        <p:spPr>
          <a:xfrm>
            <a:off x="1598447" y="2520530"/>
            <a:ext cx="8995105" cy="4337470"/>
          </a:xfrm>
          <a:prstGeom prst="rect">
            <a:avLst/>
          </a:prstGeom>
        </p:spPr>
      </p:pic>
    </p:spTree>
    <p:extLst>
      <p:ext uri="{BB962C8B-B14F-4D97-AF65-F5344CB8AC3E}">
        <p14:creationId xmlns:p14="http://schemas.microsoft.com/office/powerpoint/2010/main" val="320464584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3E33E8-2C3B-E5C7-E73C-86BCBC9D4811}"/>
              </a:ext>
            </a:extLst>
          </p:cNvPr>
          <p:cNvSpPr>
            <a:spLocks noGrp="1"/>
          </p:cNvSpPr>
          <p:nvPr>
            <p:ph type="title"/>
          </p:nvPr>
        </p:nvSpPr>
        <p:spPr/>
        <p:txBody>
          <a:bodyPr/>
          <a:lstStyle/>
          <a:p>
            <a:r>
              <a:rPr lang="en-GB" dirty="0"/>
              <a:t>Good Practice #2: Using a train-test-valid split</a:t>
            </a:r>
            <a:endParaRPr lang="en-SG" dirty="0"/>
          </a:p>
        </p:txBody>
      </p:sp>
      <p:sp>
        <p:nvSpPr>
          <p:cNvPr id="3" name="Content Placeholder 2">
            <a:extLst>
              <a:ext uri="{FF2B5EF4-FFF2-40B4-BE49-F238E27FC236}">
                <a16:creationId xmlns:a16="http://schemas.microsoft.com/office/drawing/2014/main" id="{9CCC4100-ACF1-21D8-E2F0-B59E569FE124}"/>
              </a:ext>
            </a:extLst>
          </p:cNvPr>
          <p:cNvSpPr>
            <a:spLocks noGrp="1"/>
          </p:cNvSpPr>
          <p:nvPr>
            <p:ph sz="half" idx="1"/>
          </p:nvPr>
        </p:nvSpPr>
        <p:spPr>
          <a:xfrm>
            <a:off x="838200" y="1825624"/>
            <a:ext cx="5181600" cy="5032375"/>
          </a:xfrm>
        </p:spPr>
        <p:txBody>
          <a:bodyPr>
            <a:normAutofit/>
          </a:bodyPr>
          <a:lstStyle/>
          <a:p>
            <a:pPr marL="0" indent="0">
              <a:buNone/>
            </a:pPr>
            <a:r>
              <a:rPr lang="en-GB" dirty="0"/>
              <a:t>In general,</a:t>
            </a:r>
          </a:p>
          <a:p>
            <a:r>
              <a:rPr lang="en-GB" dirty="0"/>
              <a:t>Model will start by </a:t>
            </a:r>
            <a:r>
              <a:rPr lang="en-GB" b="1" dirty="0"/>
              <a:t>underfitting</a:t>
            </a:r>
            <a:r>
              <a:rPr lang="en-GB" dirty="0"/>
              <a:t> the data, which is normal.</a:t>
            </a:r>
          </a:p>
          <a:p>
            <a:r>
              <a:rPr lang="en-GB" dirty="0"/>
              <a:t>After a few rounds of training models will train and (hopefully) achieve </a:t>
            </a:r>
            <a:r>
              <a:rPr lang="en-GB" b="1" dirty="0"/>
              <a:t>good</a:t>
            </a:r>
            <a:r>
              <a:rPr lang="en-GB" dirty="0"/>
              <a:t> </a:t>
            </a:r>
            <a:r>
              <a:rPr lang="en-GB" b="1" dirty="0">
                <a:solidFill>
                  <a:srgbClr val="7030A0"/>
                </a:solidFill>
              </a:rPr>
              <a:t>generalization</a:t>
            </a:r>
            <a:r>
              <a:rPr lang="en-GB" dirty="0"/>
              <a:t>.</a:t>
            </a:r>
          </a:p>
          <a:p>
            <a:r>
              <a:rPr lang="en-GB" dirty="0"/>
              <a:t>Then, if training is pursued, the model will often attempt to </a:t>
            </a:r>
            <a:r>
              <a:rPr lang="en-GB" b="1" dirty="0"/>
              <a:t>minimize loss at all costs</a:t>
            </a:r>
            <a:r>
              <a:rPr lang="en-GB" dirty="0"/>
              <a:t>, </a:t>
            </a:r>
            <a:r>
              <a:rPr lang="en-GB" b="1" dirty="0"/>
              <a:t>often</a:t>
            </a:r>
            <a:r>
              <a:rPr lang="en-GB" dirty="0"/>
              <a:t> </a:t>
            </a:r>
            <a:r>
              <a:rPr lang="en-GB" b="1" dirty="0"/>
              <a:t>sacrificing generalization (!)</a:t>
            </a:r>
            <a:r>
              <a:rPr lang="en-GB" dirty="0"/>
              <a:t> in the process, and </a:t>
            </a:r>
            <a:r>
              <a:rPr lang="en-GB" b="1" dirty="0"/>
              <a:t>overfitting.</a:t>
            </a:r>
            <a:endParaRPr lang="en-SG" b="1" dirty="0"/>
          </a:p>
        </p:txBody>
      </p:sp>
      <p:pic>
        <p:nvPicPr>
          <p:cNvPr id="9" name="Picture 8" descr="Chart&#10;&#10;Description automatically generated">
            <a:extLst>
              <a:ext uri="{FF2B5EF4-FFF2-40B4-BE49-F238E27FC236}">
                <a16:creationId xmlns:a16="http://schemas.microsoft.com/office/drawing/2014/main" id="{F16C78F6-3F6B-F008-240F-E8288171902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274003" y="1690688"/>
            <a:ext cx="5731461" cy="4890847"/>
          </a:xfrm>
          <a:prstGeom prst="rect">
            <a:avLst/>
          </a:prstGeom>
        </p:spPr>
      </p:pic>
      <p:sp>
        <p:nvSpPr>
          <p:cNvPr id="11" name="TextBox 10">
            <a:extLst>
              <a:ext uri="{FF2B5EF4-FFF2-40B4-BE49-F238E27FC236}">
                <a16:creationId xmlns:a16="http://schemas.microsoft.com/office/drawing/2014/main" id="{7E359F8D-D234-8215-AA8D-08AC63B851F6}"/>
              </a:ext>
            </a:extLst>
          </p:cNvPr>
          <p:cNvSpPr txBox="1"/>
          <p:nvPr/>
        </p:nvSpPr>
        <p:spPr>
          <a:xfrm>
            <a:off x="8010769" y="1690688"/>
            <a:ext cx="3343031" cy="646331"/>
          </a:xfrm>
          <a:prstGeom prst="rect">
            <a:avLst/>
          </a:prstGeom>
          <a:noFill/>
        </p:spPr>
        <p:txBody>
          <a:bodyPr wrap="square" rtlCol="0">
            <a:spAutoFit/>
          </a:bodyPr>
          <a:lstStyle/>
          <a:p>
            <a:pPr algn="ctr"/>
            <a:r>
              <a:rPr lang="en-GB" b="1" dirty="0">
                <a:solidFill>
                  <a:srgbClr val="FF0000"/>
                </a:solidFill>
              </a:rPr>
              <a:t>Training should probably have stopped at this point (in red).</a:t>
            </a:r>
            <a:endParaRPr lang="en-SG" b="1" dirty="0">
              <a:solidFill>
                <a:srgbClr val="FF0000"/>
              </a:solidFill>
            </a:endParaRPr>
          </a:p>
        </p:txBody>
      </p:sp>
    </p:spTree>
    <p:extLst>
      <p:ext uri="{BB962C8B-B14F-4D97-AF65-F5344CB8AC3E}">
        <p14:creationId xmlns:p14="http://schemas.microsoft.com/office/powerpoint/2010/main" val="91813508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3E33E8-2C3B-E5C7-E73C-86BCBC9D4811}"/>
              </a:ext>
            </a:extLst>
          </p:cNvPr>
          <p:cNvSpPr>
            <a:spLocks noGrp="1"/>
          </p:cNvSpPr>
          <p:nvPr>
            <p:ph type="title"/>
          </p:nvPr>
        </p:nvSpPr>
        <p:spPr/>
        <p:txBody>
          <a:bodyPr/>
          <a:lstStyle/>
          <a:p>
            <a:r>
              <a:rPr lang="en-GB" dirty="0"/>
              <a:t>Good Practice #3: Implementing an early stop</a:t>
            </a:r>
            <a:endParaRPr lang="en-SG" dirty="0"/>
          </a:p>
        </p:txBody>
      </p:sp>
      <p:sp>
        <p:nvSpPr>
          <p:cNvPr id="3" name="Content Placeholder 2">
            <a:extLst>
              <a:ext uri="{FF2B5EF4-FFF2-40B4-BE49-F238E27FC236}">
                <a16:creationId xmlns:a16="http://schemas.microsoft.com/office/drawing/2014/main" id="{9CCC4100-ACF1-21D8-E2F0-B59E569FE124}"/>
              </a:ext>
            </a:extLst>
          </p:cNvPr>
          <p:cNvSpPr>
            <a:spLocks noGrp="1"/>
          </p:cNvSpPr>
          <p:nvPr>
            <p:ph sz="half" idx="1"/>
          </p:nvPr>
        </p:nvSpPr>
        <p:spPr>
          <a:xfrm>
            <a:off x="838200" y="1825624"/>
            <a:ext cx="5181600" cy="5032375"/>
          </a:xfrm>
        </p:spPr>
        <p:txBody>
          <a:bodyPr>
            <a:normAutofit lnSpcReduction="10000"/>
          </a:bodyPr>
          <a:lstStyle/>
          <a:p>
            <a:pPr marL="0" indent="0">
              <a:buNone/>
            </a:pPr>
            <a:r>
              <a:rPr lang="en-GB" b="1" dirty="0"/>
              <a:t>Good Practice #3: Implementing an </a:t>
            </a:r>
            <a:r>
              <a:rPr lang="en-GB" b="1" dirty="0">
                <a:solidFill>
                  <a:srgbClr val="00B050"/>
                </a:solidFill>
              </a:rPr>
              <a:t>early</a:t>
            </a:r>
            <a:r>
              <a:rPr lang="en-GB" b="1" dirty="0"/>
              <a:t> </a:t>
            </a:r>
            <a:r>
              <a:rPr lang="en-GB" b="1" dirty="0">
                <a:solidFill>
                  <a:srgbClr val="00B050"/>
                </a:solidFill>
              </a:rPr>
              <a:t>stop</a:t>
            </a:r>
            <a:r>
              <a:rPr lang="en-GB" b="1" dirty="0"/>
              <a:t>.</a:t>
            </a:r>
          </a:p>
          <a:p>
            <a:pPr marL="0" indent="0">
              <a:buNone/>
            </a:pPr>
            <a:r>
              <a:rPr lang="en-SG" dirty="0"/>
              <a:t>It is often a good idea to try and </a:t>
            </a:r>
            <a:r>
              <a:rPr lang="en-SG" b="1" dirty="0"/>
              <a:t>stop the training when the model starts losing its generalization capabilities and starts overfitting</a:t>
            </a:r>
            <a:r>
              <a:rPr lang="en-SG" dirty="0"/>
              <a:t>.</a:t>
            </a:r>
          </a:p>
          <a:p>
            <a:pPr marL="0" indent="0">
              <a:buNone/>
            </a:pPr>
            <a:r>
              <a:rPr lang="en-SG" dirty="0"/>
              <a:t>We often want to stop when:</a:t>
            </a:r>
          </a:p>
          <a:p>
            <a:r>
              <a:rPr lang="en-SG" dirty="0"/>
              <a:t>Validation metrics achieve the best results (lowest loss or highest accuracy).</a:t>
            </a:r>
          </a:p>
          <a:p>
            <a:r>
              <a:rPr lang="en-SG" dirty="0"/>
              <a:t>Validation and training curves start going in opposite ways.</a:t>
            </a:r>
          </a:p>
        </p:txBody>
      </p:sp>
      <p:pic>
        <p:nvPicPr>
          <p:cNvPr id="9" name="Picture 8" descr="Chart&#10;&#10;Description automatically generated">
            <a:extLst>
              <a:ext uri="{FF2B5EF4-FFF2-40B4-BE49-F238E27FC236}">
                <a16:creationId xmlns:a16="http://schemas.microsoft.com/office/drawing/2014/main" id="{F16C78F6-3F6B-F008-240F-E8288171902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274003" y="1690688"/>
            <a:ext cx="5731461" cy="4890847"/>
          </a:xfrm>
          <a:prstGeom prst="rect">
            <a:avLst/>
          </a:prstGeom>
        </p:spPr>
      </p:pic>
      <p:sp>
        <p:nvSpPr>
          <p:cNvPr id="11" name="TextBox 10">
            <a:extLst>
              <a:ext uri="{FF2B5EF4-FFF2-40B4-BE49-F238E27FC236}">
                <a16:creationId xmlns:a16="http://schemas.microsoft.com/office/drawing/2014/main" id="{7E359F8D-D234-8215-AA8D-08AC63B851F6}"/>
              </a:ext>
            </a:extLst>
          </p:cNvPr>
          <p:cNvSpPr txBox="1"/>
          <p:nvPr/>
        </p:nvSpPr>
        <p:spPr>
          <a:xfrm>
            <a:off x="8010769" y="1690688"/>
            <a:ext cx="3343031" cy="646331"/>
          </a:xfrm>
          <a:prstGeom prst="rect">
            <a:avLst/>
          </a:prstGeom>
          <a:noFill/>
        </p:spPr>
        <p:txBody>
          <a:bodyPr wrap="square" rtlCol="0">
            <a:spAutoFit/>
          </a:bodyPr>
          <a:lstStyle/>
          <a:p>
            <a:pPr algn="ctr"/>
            <a:r>
              <a:rPr lang="en-GB" b="1" dirty="0">
                <a:solidFill>
                  <a:srgbClr val="FF0000"/>
                </a:solidFill>
              </a:rPr>
              <a:t>Training should probably have stopped at this point (in red).</a:t>
            </a:r>
            <a:endParaRPr lang="en-SG" b="1" dirty="0">
              <a:solidFill>
                <a:srgbClr val="FF0000"/>
              </a:solidFill>
            </a:endParaRPr>
          </a:p>
        </p:txBody>
      </p:sp>
    </p:spTree>
    <p:extLst>
      <p:ext uri="{BB962C8B-B14F-4D97-AF65-F5344CB8AC3E}">
        <p14:creationId xmlns:p14="http://schemas.microsoft.com/office/powerpoint/2010/main" val="293107182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ACCFC115-D90A-89D3-E778-7BD3A558AEB6}"/>
              </a:ext>
            </a:extLst>
          </p:cNvPr>
          <p:cNvSpPr>
            <a:spLocks noGrp="1"/>
          </p:cNvSpPr>
          <p:nvPr>
            <p:ph type="title"/>
          </p:nvPr>
        </p:nvSpPr>
        <p:spPr/>
        <p:txBody>
          <a:bodyPr/>
          <a:lstStyle/>
          <a:p>
            <a:r>
              <a:rPr lang="en-GB" dirty="0"/>
              <a:t>Good Practice #3: Implementing an early stop</a:t>
            </a:r>
            <a:endParaRPr lang="en-SG" dirty="0"/>
          </a:p>
        </p:txBody>
      </p:sp>
      <p:sp>
        <p:nvSpPr>
          <p:cNvPr id="5" name="Content Placeholder 4">
            <a:extLst>
              <a:ext uri="{FF2B5EF4-FFF2-40B4-BE49-F238E27FC236}">
                <a16:creationId xmlns:a16="http://schemas.microsoft.com/office/drawing/2014/main" id="{4DE7EC8E-262A-539E-A4A9-D3B1A09420A4}"/>
              </a:ext>
            </a:extLst>
          </p:cNvPr>
          <p:cNvSpPr>
            <a:spLocks noGrp="1"/>
          </p:cNvSpPr>
          <p:nvPr>
            <p:ph idx="1"/>
          </p:nvPr>
        </p:nvSpPr>
        <p:spPr/>
        <p:txBody>
          <a:bodyPr/>
          <a:lstStyle/>
          <a:p>
            <a:pPr marL="0" indent="0">
              <a:buNone/>
            </a:pPr>
            <a:r>
              <a:rPr lang="en-GB" dirty="0"/>
              <a:t>Some approaches suggest to simply track a validation metric (e.g. accuracy) and define an </a:t>
            </a:r>
            <a:r>
              <a:rPr lang="en-GB" b="1" dirty="0"/>
              <a:t>early stopping</a:t>
            </a:r>
            <a:r>
              <a:rPr lang="en-GB" dirty="0"/>
              <a:t>, which interrupts training when:</a:t>
            </a:r>
          </a:p>
          <a:p>
            <a:r>
              <a:rPr lang="en-GB" dirty="0"/>
              <a:t>A high level of accuracy has been obtained (say, at least 98%),</a:t>
            </a:r>
          </a:p>
          <a:p>
            <a:r>
              <a:rPr lang="en-GB" dirty="0"/>
              <a:t>And the accuracy is no longer increasing (i.e. the change between two consecutive values of the accuracy is falling below a threshold).</a:t>
            </a:r>
            <a:endParaRPr lang="en-SG" dirty="0"/>
          </a:p>
        </p:txBody>
      </p:sp>
      <p:pic>
        <p:nvPicPr>
          <p:cNvPr id="11" name="Picture 10">
            <a:extLst>
              <a:ext uri="{FF2B5EF4-FFF2-40B4-BE49-F238E27FC236}">
                <a16:creationId xmlns:a16="http://schemas.microsoft.com/office/drawing/2014/main" id="{EF513E39-7B7F-4BB2-5D21-35BCCD809D6F}"/>
              </a:ext>
            </a:extLst>
          </p:cNvPr>
          <p:cNvPicPr>
            <a:picLocks noChangeAspect="1"/>
          </p:cNvPicPr>
          <p:nvPr/>
        </p:nvPicPr>
        <p:blipFill>
          <a:blip r:embed="rId2"/>
          <a:stretch>
            <a:fillRect/>
          </a:stretch>
        </p:blipFill>
        <p:spPr>
          <a:xfrm>
            <a:off x="1305769" y="4435213"/>
            <a:ext cx="9580462" cy="2422787"/>
          </a:xfrm>
          <a:prstGeom prst="rect">
            <a:avLst/>
          </a:prstGeom>
        </p:spPr>
      </p:pic>
    </p:spTree>
    <p:extLst>
      <p:ext uri="{BB962C8B-B14F-4D97-AF65-F5344CB8AC3E}">
        <p14:creationId xmlns:p14="http://schemas.microsoft.com/office/powerpoint/2010/main" val="260286107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ACCFC115-D90A-89D3-E778-7BD3A558AEB6}"/>
              </a:ext>
            </a:extLst>
          </p:cNvPr>
          <p:cNvSpPr>
            <a:spLocks noGrp="1"/>
          </p:cNvSpPr>
          <p:nvPr>
            <p:ph type="title"/>
          </p:nvPr>
        </p:nvSpPr>
        <p:spPr/>
        <p:txBody>
          <a:bodyPr/>
          <a:lstStyle/>
          <a:p>
            <a:r>
              <a:rPr lang="en-GB" dirty="0"/>
              <a:t>Good Practice #3: Implementing an early stop</a:t>
            </a:r>
            <a:endParaRPr lang="en-SG" dirty="0"/>
          </a:p>
        </p:txBody>
      </p:sp>
      <p:sp>
        <p:nvSpPr>
          <p:cNvPr id="5" name="Content Placeholder 4">
            <a:extLst>
              <a:ext uri="{FF2B5EF4-FFF2-40B4-BE49-F238E27FC236}">
                <a16:creationId xmlns:a16="http://schemas.microsoft.com/office/drawing/2014/main" id="{4DE7EC8E-262A-539E-A4A9-D3B1A09420A4}"/>
              </a:ext>
            </a:extLst>
          </p:cNvPr>
          <p:cNvSpPr>
            <a:spLocks noGrp="1"/>
          </p:cNvSpPr>
          <p:nvPr>
            <p:ph idx="1"/>
          </p:nvPr>
        </p:nvSpPr>
        <p:spPr>
          <a:xfrm>
            <a:off x="838200" y="1825624"/>
            <a:ext cx="10515600" cy="4927513"/>
          </a:xfrm>
        </p:spPr>
        <p:txBody>
          <a:bodyPr>
            <a:normAutofit/>
          </a:bodyPr>
          <a:lstStyle/>
          <a:p>
            <a:pPr marL="0" indent="0">
              <a:buNone/>
            </a:pPr>
            <a:r>
              <a:rPr lang="en-GB" dirty="0"/>
              <a:t>Some approaches suggest to simply track a validation metric (e.g. accuracy) and define an </a:t>
            </a:r>
            <a:r>
              <a:rPr lang="en-GB" b="1" dirty="0"/>
              <a:t>early stopping</a:t>
            </a:r>
            <a:r>
              <a:rPr lang="en-GB" dirty="0"/>
              <a:t>, which interrupts training when:</a:t>
            </a:r>
          </a:p>
          <a:p>
            <a:r>
              <a:rPr lang="en-GB" dirty="0"/>
              <a:t>A high level of accuracy has been obtained (say, at least 98%),</a:t>
            </a:r>
          </a:p>
          <a:p>
            <a:r>
              <a:rPr lang="en-GB" dirty="0"/>
              <a:t>And the accuracy is no longer increasing (i.e. the change between two consecutive values of the accuracy is falling below a threshold).</a:t>
            </a:r>
          </a:p>
          <a:p>
            <a:endParaRPr lang="en-GB" dirty="0"/>
          </a:p>
          <a:p>
            <a:pPr marL="0" indent="0">
              <a:buNone/>
            </a:pPr>
            <a:r>
              <a:rPr lang="en-GB" dirty="0"/>
              <a:t>Nice, but…</a:t>
            </a:r>
            <a:endParaRPr lang="en-SG" dirty="0"/>
          </a:p>
        </p:txBody>
      </p:sp>
    </p:spTree>
    <p:extLst>
      <p:ext uri="{BB962C8B-B14F-4D97-AF65-F5344CB8AC3E}">
        <p14:creationId xmlns:p14="http://schemas.microsoft.com/office/powerpoint/2010/main" val="397852698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7C42B4-E207-C9EA-4CC3-5FE526AF0594}"/>
              </a:ext>
            </a:extLst>
          </p:cNvPr>
          <p:cNvSpPr>
            <a:spLocks noGrp="1"/>
          </p:cNvSpPr>
          <p:nvPr>
            <p:ph type="title"/>
          </p:nvPr>
        </p:nvSpPr>
        <p:spPr/>
        <p:txBody>
          <a:bodyPr/>
          <a:lstStyle/>
          <a:p>
            <a:r>
              <a:rPr lang="en-GB" dirty="0"/>
              <a:t>Good Practice #4: Saver and loader functions</a:t>
            </a:r>
            <a:endParaRPr lang="en-SG"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CE89A62E-0A02-E5E6-C125-17199041EEA2}"/>
                  </a:ext>
                </a:extLst>
              </p:cNvPr>
              <p:cNvSpPr>
                <a:spLocks noGrp="1"/>
              </p:cNvSpPr>
              <p:nvPr>
                <p:ph idx="1"/>
              </p:nvPr>
            </p:nvSpPr>
            <p:spPr/>
            <p:txBody>
              <a:bodyPr/>
              <a:lstStyle/>
              <a:p>
                <a:pPr marL="0" indent="0">
                  <a:buNone/>
                </a:pPr>
                <a:r>
                  <a:rPr lang="en-GB" b="1" dirty="0"/>
                  <a:t>Counter-argument/Problem: </a:t>
                </a:r>
                <a:r>
                  <a:rPr lang="en-GB" dirty="0"/>
                  <a:t>Even with </a:t>
                </a:r>
                <a:r>
                  <a:rPr lang="en-GB" b="1" dirty="0"/>
                  <a:t>early stopping</a:t>
                </a:r>
                <a:r>
                  <a:rPr lang="en-GB" dirty="0"/>
                  <a:t>, we will often stop AFTER it is too late, as we need to see that the model starts overfitting and starts losing generalization capabilities to recognize that we should have stopped earlier!</a:t>
                </a:r>
                <a:endParaRPr lang="en-SG" dirty="0"/>
              </a:p>
              <a:p>
                <a:pPr marL="0" indent="0">
                  <a:buNone/>
                </a:pPr>
                <a:endParaRPr lang="en-GB" dirty="0"/>
              </a:p>
              <a:p>
                <a:pPr marL="0" indent="0">
                  <a:buNone/>
                </a:pPr>
                <a:r>
                  <a:rPr lang="en-GB" b="1" dirty="0"/>
                  <a:t>Idea: </a:t>
                </a:r>
                <a:r>
                  <a:rPr lang="en-GB" dirty="0"/>
                  <a:t>How about we </a:t>
                </a:r>
                <a:r>
                  <a:rPr lang="en-GB" b="1" dirty="0">
                    <a:solidFill>
                      <a:srgbClr val="00B050"/>
                    </a:solidFill>
                  </a:rPr>
                  <a:t>save</a:t>
                </a:r>
                <a:r>
                  <a:rPr lang="en-GB" dirty="0"/>
                  <a:t> the model trainable parameters (</a:t>
                </a:r>
                <a14:m>
                  <m:oMath xmlns:m="http://schemas.openxmlformats.org/officeDocument/2006/math">
                    <m:sSub>
                      <m:sSubPr>
                        <m:ctrlPr>
                          <a:rPr lang="en-GB" b="0" i="1" dirty="0" smtClean="0">
                            <a:latin typeface="Cambria Math" panose="02040503050406030204" pitchFamily="18" charset="0"/>
                          </a:rPr>
                        </m:ctrlPr>
                      </m:sSubPr>
                      <m:e>
                        <m:r>
                          <a:rPr lang="en-GB" i="1" dirty="0" smtClean="0">
                            <a:latin typeface="Cambria Math" panose="02040503050406030204" pitchFamily="18" charset="0"/>
                          </a:rPr>
                          <m:t>𝑊</m:t>
                        </m:r>
                      </m:e>
                      <m:sub>
                        <m:r>
                          <a:rPr lang="en-GB" i="1" dirty="0" smtClean="0">
                            <a:latin typeface="Cambria Math" panose="02040503050406030204" pitchFamily="18" charset="0"/>
                          </a:rPr>
                          <m:t>1</m:t>
                        </m:r>
                      </m:sub>
                    </m:sSub>
                    <m:r>
                      <a:rPr lang="en-GB" i="1" dirty="0" smtClean="0">
                        <a:latin typeface="Cambria Math" panose="02040503050406030204" pitchFamily="18" charset="0"/>
                      </a:rPr>
                      <m:t>, </m:t>
                    </m:r>
                    <m:sSub>
                      <m:sSubPr>
                        <m:ctrlPr>
                          <a:rPr lang="en-GB" b="0" i="1" dirty="0" smtClean="0">
                            <a:latin typeface="Cambria Math" panose="02040503050406030204" pitchFamily="18" charset="0"/>
                          </a:rPr>
                        </m:ctrlPr>
                      </m:sSubPr>
                      <m:e>
                        <m:r>
                          <a:rPr lang="en-GB" i="1" dirty="0" smtClean="0">
                            <a:latin typeface="Cambria Math" panose="02040503050406030204" pitchFamily="18" charset="0"/>
                          </a:rPr>
                          <m:t>𝑊</m:t>
                        </m:r>
                      </m:e>
                      <m:sub>
                        <m:r>
                          <a:rPr lang="en-GB" i="1" dirty="0" smtClean="0">
                            <a:latin typeface="Cambria Math" panose="02040503050406030204" pitchFamily="18" charset="0"/>
                          </a:rPr>
                          <m:t>2</m:t>
                        </m:r>
                      </m:sub>
                    </m:sSub>
                    <m:r>
                      <a:rPr lang="en-GB" i="1" dirty="0" smtClean="0">
                        <a:latin typeface="Cambria Math" panose="02040503050406030204" pitchFamily="18" charset="0"/>
                      </a:rPr>
                      <m:t>, </m:t>
                    </m:r>
                    <m:sSub>
                      <m:sSubPr>
                        <m:ctrlPr>
                          <a:rPr lang="en-GB" b="0" i="1" dirty="0" smtClean="0">
                            <a:latin typeface="Cambria Math" panose="02040503050406030204" pitchFamily="18" charset="0"/>
                          </a:rPr>
                        </m:ctrlPr>
                      </m:sSubPr>
                      <m:e>
                        <m:r>
                          <a:rPr lang="en-GB" i="1" dirty="0" smtClean="0">
                            <a:latin typeface="Cambria Math" panose="02040503050406030204" pitchFamily="18" charset="0"/>
                          </a:rPr>
                          <m:t>𝑏</m:t>
                        </m:r>
                      </m:e>
                      <m:sub>
                        <m:r>
                          <a:rPr lang="en-GB" i="1" dirty="0" smtClean="0">
                            <a:latin typeface="Cambria Math" panose="02040503050406030204" pitchFamily="18" charset="0"/>
                          </a:rPr>
                          <m:t>1</m:t>
                        </m:r>
                      </m:sub>
                    </m:sSub>
                    <m:r>
                      <a:rPr lang="en-GB" i="1" dirty="0" smtClean="0">
                        <a:latin typeface="Cambria Math" panose="02040503050406030204" pitchFamily="18" charset="0"/>
                      </a:rPr>
                      <m:t>, </m:t>
                    </m:r>
                    <m:sSub>
                      <m:sSubPr>
                        <m:ctrlPr>
                          <a:rPr lang="en-GB" b="0" i="1" dirty="0" smtClean="0">
                            <a:latin typeface="Cambria Math" panose="02040503050406030204" pitchFamily="18" charset="0"/>
                          </a:rPr>
                        </m:ctrlPr>
                      </m:sSubPr>
                      <m:e>
                        <m:r>
                          <a:rPr lang="en-GB" i="1" dirty="0" smtClean="0">
                            <a:latin typeface="Cambria Math" panose="02040503050406030204" pitchFamily="18" charset="0"/>
                          </a:rPr>
                          <m:t>𝑏</m:t>
                        </m:r>
                      </m:e>
                      <m:sub>
                        <m:r>
                          <a:rPr lang="en-GB" i="1" dirty="0" smtClean="0">
                            <a:latin typeface="Cambria Math" panose="02040503050406030204" pitchFamily="18" charset="0"/>
                          </a:rPr>
                          <m:t>2</m:t>
                        </m:r>
                      </m:sub>
                    </m:sSub>
                  </m:oMath>
                </a14:m>
                <a:r>
                  <a:rPr lang="en-GB" dirty="0"/>
                  <a:t>) to a file (along with the iteration number and calculated losses on iterations) every </a:t>
                </a:r>
                <a14:m>
                  <m:oMath xmlns:m="http://schemas.openxmlformats.org/officeDocument/2006/math">
                    <m:r>
                      <a:rPr lang="en-GB" i="1" dirty="0" smtClean="0">
                        <a:latin typeface="Cambria Math" panose="02040503050406030204" pitchFamily="18" charset="0"/>
                      </a:rPr>
                      <m:t>𝐾</m:t>
                    </m:r>
                  </m:oMath>
                </a14:m>
                <a:r>
                  <a:rPr lang="en-GB" dirty="0"/>
                  <a:t> iterations?</a:t>
                </a:r>
              </a:p>
              <a:p>
                <a:pPr marL="0" indent="0">
                  <a:buNone/>
                </a:pPr>
                <a:r>
                  <a:rPr lang="en-GB" b="1" dirty="0">
                    <a:sym typeface="Wingdings" panose="05000000000000000000" pitchFamily="2" charset="2"/>
                  </a:rPr>
                  <a:t> </a:t>
                </a:r>
                <a:r>
                  <a:rPr lang="en-GB" b="1" dirty="0"/>
                  <a:t>Good Practice #4: Use </a:t>
                </a:r>
                <a:r>
                  <a:rPr lang="en-GB" b="1" dirty="0">
                    <a:solidFill>
                      <a:srgbClr val="00B050"/>
                    </a:solidFill>
                  </a:rPr>
                  <a:t>saver</a:t>
                </a:r>
                <a:r>
                  <a:rPr lang="en-GB" b="1" dirty="0"/>
                  <a:t> and </a:t>
                </a:r>
                <a:r>
                  <a:rPr lang="en-GB" b="1" dirty="0">
                    <a:solidFill>
                      <a:srgbClr val="00B050"/>
                    </a:solidFill>
                  </a:rPr>
                  <a:t>loader</a:t>
                </a:r>
                <a:r>
                  <a:rPr lang="en-GB" b="1" dirty="0"/>
                  <a:t> functions.</a:t>
                </a:r>
              </a:p>
              <a:p>
                <a:pPr marL="0" indent="0">
                  <a:buNone/>
                </a:pPr>
                <a:endParaRPr lang="en-SG" dirty="0"/>
              </a:p>
            </p:txBody>
          </p:sp>
        </mc:Choice>
        <mc:Fallback>
          <p:sp>
            <p:nvSpPr>
              <p:cNvPr id="3" name="Content Placeholder 2">
                <a:extLst>
                  <a:ext uri="{FF2B5EF4-FFF2-40B4-BE49-F238E27FC236}">
                    <a16:creationId xmlns:a16="http://schemas.microsoft.com/office/drawing/2014/main" id="{CE89A62E-0A02-E5E6-C125-17199041EEA2}"/>
                  </a:ext>
                </a:extLst>
              </p:cNvPr>
              <p:cNvSpPr>
                <a:spLocks noGrp="1" noRot="1" noChangeAspect="1" noMove="1" noResize="1" noEditPoints="1" noAdjustHandles="1" noChangeArrowheads="1" noChangeShapeType="1" noTextEdit="1"/>
              </p:cNvSpPr>
              <p:nvPr>
                <p:ph idx="1"/>
              </p:nvPr>
            </p:nvSpPr>
            <p:spPr>
              <a:blipFill>
                <a:blip r:embed="rId2"/>
                <a:stretch>
                  <a:fillRect l="-1217" t="-2241" r="-1159"/>
                </a:stretch>
              </a:blipFill>
            </p:spPr>
            <p:txBody>
              <a:bodyPr/>
              <a:lstStyle/>
              <a:p>
                <a:r>
                  <a:rPr lang="en-GB">
                    <a:noFill/>
                  </a:rPr>
                  <a:t> </a:t>
                </a:r>
              </a:p>
            </p:txBody>
          </p:sp>
        </mc:Fallback>
      </mc:AlternateContent>
    </p:spTree>
    <p:extLst>
      <p:ext uri="{BB962C8B-B14F-4D97-AF65-F5344CB8AC3E}">
        <p14:creationId xmlns:p14="http://schemas.microsoft.com/office/powerpoint/2010/main" val="93183586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7C42B4-E207-C9EA-4CC3-5FE526AF0594}"/>
              </a:ext>
            </a:extLst>
          </p:cNvPr>
          <p:cNvSpPr>
            <a:spLocks noGrp="1"/>
          </p:cNvSpPr>
          <p:nvPr>
            <p:ph type="title"/>
          </p:nvPr>
        </p:nvSpPr>
        <p:spPr/>
        <p:txBody>
          <a:bodyPr/>
          <a:lstStyle/>
          <a:p>
            <a:r>
              <a:rPr lang="en-GB" dirty="0"/>
              <a:t>Good Practice #4: Saver and loader functions</a:t>
            </a:r>
            <a:endParaRPr lang="en-SG"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CE89A62E-0A02-E5E6-C125-17199041EEA2}"/>
                  </a:ext>
                </a:extLst>
              </p:cNvPr>
              <p:cNvSpPr>
                <a:spLocks noGrp="1"/>
              </p:cNvSpPr>
              <p:nvPr>
                <p:ph sz="half" idx="1"/>
              </p:nvPr>
            </p:nvSpPr>
            <p:spPr>
              <a:xfrm>
                <a:off x="838200" y="1825624"/>
                <a:ext cx="5181600" cy="5032375"/>
              </a:xfrm>
            </p:spPr>
            <p:txBody>
              <a:bodyPr>
                <a:normAutofit/>
              </a:bodyPr>
              <a:lstStyle/>
              <a:p>
                <a:pPr marL="0" indent="0">
                  <a:buNone/>
                </a:pPr>
                <a:r>
                  <a:rPr lang="en-GB" b="1" dirty="0"/>
                  <a:t>Idea: </a:t>
                </a:r>
                <a:r>
                  <a:rPr lang="en-GB" dirty="0"/>
                  <a:t>How about we </a:t>
                </a:r>
                <a:r>
                  <a:rPr lang="en-GB" b="1" dirty="0">
                    <a:solidFill>
                      <a:srgbClr val="00B050"/>
                    </a:solidFill>
                  </a:rPr>
                  <a:t>save</a:t>
                </a:r>
                <a:r>
                  <a:rPr lang="en-GB" dirty="0"/>
                  <a:t> the model trainable parameters (</a:t>
                </a:r>
                <a14:m>
                  <m:oMath xmlns:m="http://schemas.openxmlformats.org/officeDocument/2006/math">
                    <m:sSub>
                      <m:sSubPr>
                        <m:ctrlPr>
                          <a:rPr lang="en-GB" i="1" dirty="0">
                            <a:latin typeface="Cambria Math" panose="02040503050406030204" pitchFamily="18" charset="0"/>
                          </a:rPr>
                        </m:ctrlPr>
                      </m:sSubPr>
                      <m:e>
                        <m:r>
                          <a:rPr lang="en-GB" i="1" dirty="0">
                            <a:latin typeface="Cambria Math" panose="02040503050406030204" pitchFamily="18" charset="0"/>
                          </a:rPr>
                          <m:t>𝑊</m:t>
                        </m:r>
                      </m:e>
                      <m:sub>
                        <m:r>
                          <a:rPr lang="en-GB" i="1" dirty="0">
                            <a:latin typeface="Cambria Math" panose="02040503050406030204" pitchFamily="18" charset="0"/>
                          </a:rPr>
                          <m:t>1</m:t>
                        </m:r>
                      </m:sub>
                    </m:sSub>
                    <m:r>
                      <a:rPr lang="en-GB" i="1" dirty="0">
                        <a:latin typeface="Cambria Math" panose="02040503050406030204" pitchFamily="18" charset="0"/>
                      </a:rPr>
                      <m:t>, </m:t>
                    </m:r>
                    <m:sSub>
                      <m:sSubPr>
                        <m:ctrlPr>
                          <a:rPr lang="en-GB" i="1" dirty="0">
                            <a:latin typeface="Cambria Math" panose="02040503050406030204" pitchFamily="18" charset="0"/>
                          </a:rPr>
                        </m:ctrlPr>
                      </m:sSubPr>
                      <m:e>
                        <m:r>
                          <a:rPr lang="en-GB" i="1" dirty="0">
                            <a:latin typeface="Cambria Math" panose="02040503050406030204" pitchFamily="18" charset="0"/>
                          </a:rPr>
                          <m:t>𝑊</m:t>
                        </m:r>
                      </m:e>
                      <m:sub>
                        <m:r>
                          <a:rPr lang="en-GB" i="1" dirty="0">
                            <a:latin typeface="Cambria Math" panose="02040503050406030204" pitchFamily="18" charset="0"/>
                          </a:rPr>
                          <m:t>2</m:t>
                        </m:r>
                      </m:sub>
                    </m:sSub>
                    <m:r>
                      <a:rPr lang="en-GB" i="1" dirty="0">
                        <a:latin typeface="Cambria Math" panose="02040503050406030204" pitchFamily="18" charset="0"/>
                      </a:rPr>
                      <m:t>, </m:t>
                    </m:r>
                    <m:sSub>
                      <m:sSubPr>
                        <m:ctrlPr>
                          <a:rPr lang="en-GB" i="1" dirty="0">
                            <a:latin typeface="Cambria Math" panose="02040503050406030204" pitchFamily="18" charset="0"/>
                          </a:rPr>
                        </m:ctrlPr>
                      </m:sSubPr>
                      <m:e>
                        <m:r>
                          <a:rPr lang="en-GB" i="1" dirty="0">
                            <a:latin typeface="Cambria Math" panose="02040503050406030204" pitchFamily="18" charset="0"/>
                          </a:rPr>
                          <m:t>𝑏</m:t>
                        </m:r>
                      </m:e>
                      <m:sub>
                        <m:r>
                          <a:rPr lang="en-GB" i="1" dirty="0">
                            <a:latin typeface="Cambria Math" panose="02040503050406030204" pitchFamily="18" charset="0"/>
                          </a:rPr>
                          <m:t>1</m:t>
                        </m:r>
                      </m:sub>
                    </m:sSub>
                    <m:r>
                      <a:rPr lang="en-GB" i="1" dirty="0">
                        <a:latin typeface="Cambria Math" panose="02040503050406030204" pitchFamily="18" charset="0"/>
                      </a:rPr>
                      <m:t>, </m:t>
                    </m:r>
                    <m:sSub>
                      <m:sSubPr>
                        <m:ctrlPr>
                          <a:rPr lang="en-GB" i="1" dirty="0">
                            <a:latin typeface="Cambria Math" panose="02040503050406030204" pitchFamily="18" charset="0"/>
                          </a:rPr>
                        </m:ctrlPr>
                      </m:sSubPr>
                      <m:e>
                        <m:r>
                          <a:rPr lang="en-GB" i="1" dirty="0">
                            <a:latin typeface="Cambria Math" panose="02040503050406030204" pitchFamily="18" charset="0"/>
                          </a:rPr>
                          <m:t>𝑏</m:t>
                        </m:r>
                      </m:e>
                      <m:sub>
                        <m:r>
                          <a:rPr lang="en-GB" i="1" dirty="0">
                            <a:latin typeface="Cambria Math" panose="02040503050406030204" pitchFamily="18" charset="0"/>
                          </a:rPr>
                          <m:t>2</m:t>
                        </m:r>
                      </m:sub>
                    </m:sSub>
                  </m:oMath>
                </a14:m>
                <a:r>
                  <a:rPr lang="en-GB" dirty="0"/>
                  <a:t>) to a file (along with the iteration number and calculated losses on iterations) every </a:t>
                </a:r>
                <a14:m>
                  <m:oMath xmlns:m="http://schemas.openxmlformats.org/officeDocument/2006/math">
                    <m:r>
                      <a:rPr lang="en-GB" i="1" dirty="0">
                        <a:latin typeface="Cambria Math" panose="02040503050406030204" pitchFamily="18" charset="0"/>
                      </a:rPr>
                      <m:t>𝐾</m:t>
                    </m:r>
                  </m:oMath>
                </a14:m>
                <a:r>
                  <a:rPr lang="en-GB" dirty="0"/>
                  <a:t> iterations?</a:t>
                </a:r>
              </a:p>
              <a:p>
                <a:r>
                  <a:rPr lang="en-SG" dirty="0"/>
                  <a:t>For simplicity, can use pickle.</a:t>
                </a:r>
              </a:p>
              <a:p>
                <a:r>
                  <a:rPr lang="en-SG" dirty="0"/>
                  <a:t>And dump our trainable parameters into some files.</a:t>
                </a:r>
                <a:endParaRPr lang="en-GB" dirty="0"/>
              </a:p>
            </p:txBody>
          </p:sp>
        </mc:Choice>
        <mc:Fallback>
          <p:sp>
            <p:nvSpPr>
              <p:cNvPr id="3" name="Content Placeholder 2">
                <a:extLst>
                  <a:ext uri="{FF2B5EF4-FFF2-40B4-BE49-F238E27FC236}">
                    <a16:creationId xmlns:a16="http://schemas.microsoft.com/office/drawing/2014/main" id="{CE89A62E-0A02-E5E6-C125-17199041EEA2}"/>
                  </a:ext>
                </a:extLst>
              </p:cNvPr>
              <p:cNvSpPr>
                <a:spLocks noGrp="1" noRot="1" noChangeAspect="1" noMove="1" noResize="1" noEditPoints="1" noAdjustHandles="1" noChangeArrowheads="1" noChangeShapeType="1" noTextEdit="1"/>
              </p:cNvSpPr>
              <p:nvPr>
                <p:ph sz="half" idx="1"/>
              </p:nvPr>
            </p:nvSpPr>
            <p:spPr>
              <a:xfrm>
                <a:off x="838200" y="1825624"/>
                <a:ext cx="5181600" cy="5032375"/>
              </a:xfrm>
              <a:blipFill>
                <a:blip r:embed="rId2"/>
                <a:stretch>
                  <a:fillRect l="-2471" t="-1937"/>
                </a:stretch>
              </a:blipFill>
            </p:spPr>
            <p:txBody>
              <a:bodyPr/>
              <a:lstStyle/>
              <a:p>
                <a:r>
                  <a:rPr lang="en-GB">
                    <a:noFill/>
                  </a:rPr>
                  <a:t> </a:t>
                </a:r>
              </a:p>
            </p:txBody>
          </p:sp>
        </mc:Fallback>
      </mc:AlternateContent>
      <p:pic>
        <p:nvPicPr>
          <p:cNvPr id="6" name="Picture 5">
            <a:extLst>
              <a:ext uri="{FF2B5EF4-FFF2-40B4-BE49-F238E27FC236}">
                <a16:creationId xmlns:a16="http://schemas.microsoft.com/office/drawing/2014/main" id="{160FC422-9A5C-1D41-1A94-1D7A085A4DD5}"/>
              </a:ext>
            </a:extLst>
          </p:cNvPr>
          <p:cNvPicPr>
            <a:picLocks noChangeAspect="1"/>
          </p:cNvPicPr>
          <p:nvPr/>
        </p:nvPicPr>
        <p:blipFill>
          <a:blip r:embed="rId3"/>
          <a:stretch>
            <a:fillRect/>
          </a:stretch>
        </p:blipFill>
        <p:spPr>
          <a:xfrm>
            <a:off x="6928418" y="1292889"/>
            <a:ext cx="4593909" cy="4506127"/>
          </a:xfrm>
          <a:prstGeom prst="rect">
            <a:avLst/>
          </a:prstGeom>
        </p:spPr>
      </p:pic>
      <p:pic>
        <p:nvPicPr>
          <p:cNvPr id="7" name="Picture 6">
            <a:extLst>
              <a:ext uri="{FF2B5EF4-FFF2-40B4-BE49-F238E27FC236}">
                <a16:creationId xmlns:a16="http://schemas.microsoft.com/office/drawing/2014/main" id="{A570A0B3-8D71-A98D-2AA5-B798834E2608}"/>
              </a:ext>
            </a:extLst>
          </p:cNvPr>
          <p:cNvPicPr>
            <a:picLocks noChangeAspect="1"/>
          </p:cNvPicPr>
          <p:nvPr/>
        </p:nvPicPr>
        <p:blipFill rotWithShape="1">
          <a:blip r:embed="rId4"/>
          <a:srcRect l="27625"/>
          <a:stretch/>
        </p:blipFill>
        <p:spPr>
          <a:xfrm>
            <a:off x="6304251" y="6049931"/>
            <a:ext cx="5842241" cy="530622"/>
          </a:xfrm>
          <a:prstGeom prst="rect">
            <a:avLst/>
          </a:prstGeom>
        </p:spPr>
      </p:pic>
    </p:spTree>
    <p:extLst>
      <p:ext uri="{BB962C8B-B14F-4D97-AF65-F5344CB8AC3E}">
        <p14:creationId xmlns:p14="http://schemas.microsoft.com/office/powerpoint/2010/main" val="231673226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7C42B4-E207-C9EA-4CC3-5FE526AF0594}"/>
              </a:ext>
            </a:extLst>
          </p:cNvPr>
          <p:cNvSpPr>
            <a:spLocks noGrp="1"/>
          </p:cNvSpPr>
          <p:nvPr>
            <p:ph type="title"/>
          </p:nvPr>
        </p:nvSpPr>
        <p:spPr/>
        <p:txBody>
          <a:bodyPr/>
          <a:lstStyle/>
          <a:p>
            <a:r>
              <a:rPr lang="en-GB" dirty="0"/>
              <a:t>Good Practice #4: Saver and loader functions</a:t>
            </a:r>
            <a:endParaRPr lang="en-SG"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CE89A62E-0A02-E5E6-C125-17199041EEA2}"/>
                  </a:ext>
                </a:extLst>
              </p:cNvPr>
              <p:cNvSpPr>
                <a:spLocks noGrp="1"/>
              </p:cNvSpPr>
              <p:nvPr>
                <p:ph sz="half" idx="1"/>
              </p:nvPr>
            </p:nvSpPr>
            <p:spPr>
              <a:xfrm>
                <a:off x="838200" y="1825624"/>
                <a:ext cx="5181600" cy="5032375"/>
              </a:xfrm>
            </p:spPr>
            <p:txBody>
              <a:bodyPr>
                <a:normAutofit/>
              </a:bodyPr>
              <a:lstStyle/>
              <a:p>
                <a:pPr marL="0" indent="0">
                  <a:buNone/>
                </a:pPr>
                <a:r>
                  <a:rPr lang="en-GB" b="1" dirty="0"/>
                  <a:t>Idea: </a:t>
                </a:r>
                <a:r>
                  <a:rPr lang="en-GB" dirty="0"/>
                  <a:t>How about we </a:t>
                </a:r>
                <a:r>
                  <a:rPr lang="en-GB" b="1" dirty="0">
                    <a:solidFill>
                      <a:srgbClr val="00B050"/>
                    </a:solidFill>
                  </a:rPr>
                  <a:t>save</a:t>
                </a:r>
                <a:r>
                  <a:rPr lang="en-GB" dirty="0"/>
                  <a:t> the model trainable parameters (</a:t>
                </a:r>
                <a14:m>
                  <m:oMath xmlns:m="http://schemas.openxmlformats.org/officeDocument/2006/math">
                    <m:sSub>
                      <m:sSubPr>
                        <m:ctrlPr>
                          <a:rPr lang="en-GB" i="1" dirty="0">
                            <a:latin typeface="Cambria Math" panose="02040503050406030204" pitchFamily="18" charset="0"/>
                          </a:rPr>
                        </m:ctrlPr>
                      </m:sSubPr>
                      <m:e>
                        <m:r>
                          <a:rPr lang="en-GB" i="1" dirty="0">
                            <a:latin typeface="Cambria Math" panose="02040503050406030204" pitchFamily="18" charset="0"/>
                          </a:rPr>
                          <m:t>𝑊</m:t>
                        </m:r>
                      </m:e>
                      <m:sub>
                        <m:r>
                          <a:rPr lang="en-GB" i="1" dirty="0">
                            <a:latin typeface="Cambria Math" panose="02040503050406030204" pitchFamily="18" charset="0"/>
                          </a:rPr>
                          <m:t>1</m:t>
                        </m:r>
                      </m:sub>
                    </m:sSub>
                    <m:r>
                      <a:rPr lang="en-GB" i="1" dirty="0">
                        <a:latin typeface="Cambria Math" panose="02040503050406030204" pitchFamily="18" charset="0"/>
                      </a:rPr>
                      <m:t>, </m:t>
                    </m:r>
                    <m:sSub>
                      <m:sSubPr>
                        <m:ctrlPr>
                          <a:rPr lang="en-GB" i="1" dirty="0">
                            <a:latin typeface="Cambria Math" panose="02040503050406030204" pitchFamily="18" charset="0"/>
                          </a:rPr>
                        </m:ctrlPr>
                      </m:sSubPr>
                      <m:e>
                        <m:r>
                          <a:rPr lang="en-GB" i="1" dirty="0">
                            <a:latin typeface="Cambria Math" panose="02040503050406030204" pitchFamily="18" charset="0"/>
                          </a:rPr>
                          <m:t>𝑊</m:t>
                        </m:r>
                      </m:e>
                      <m:sub>
                        <m:r>
                          <a:rPr lang="en-GB" i="1" dirty="0">
                            <a:latin typeface="Cambria Math" panose="02040503050406030204" pitchFamily="18" charset="0"/>
                          </a:rPr>
                          <m:t>2</m:t>
                        </m:r>
                      </m:sub>
                    </m:sSub>
                    <m:r>
                      <a:rPr lang="en-GB" i="1" dirty="0">
                        <a:latin typeface="Cambria Math" panose="02040503050406030204" pitchFamily="18" charset="0"/>
                      </a:rPr>
                      <m:t>, </m:t>
                    </m:r>
                    <m:sSub>
                      <m:sSubPr>
                        <m:ctrlPr>
                          <a:rPr lang="en-GB" i="1" dirty="0">
                            <a:latin typeface="Cambria Math" panose="02040503050406030204" pitchFamily="18" charset="0"/>
                          </a:rPr>
                        </m:ctrlPr>
                      </m:sSubPr>
                      <m:e>
                        <m:r>
                          <a:rPr lang="en-GB" i="1" dirty="0">
                            <a:latin typeface="Cambria Math" panose="02040503050406030204" pitchFamily="18" charset="0"/>
                          </a:rPr>
                          <m:t>𝑏</m:t>
                        </m:r>
                      </m:e>
                      <m:sub>
                        <m:r>
                          <a:rPr lang="en-GB" i="1" dirty="0">
                            <a:latin typeface="Cambria Math" panose="02040503050406030204" pitchFamily="18" charset="0"/>
                          </a:rPr>
                          <m:t>1</m:t>
                        </m:r>
                      </m:sub>
                    </m:sSub>
                    <m:r>
                      <a:rPr lang="en-GB" i="1" dirty="0">
                        <a:latin typeface="Cambria Math" panose="02040503050406030204" pitchFamily="18" charset="0"/>
                      </a:rPr>
                      <m:t>, </m:t>
                    </m:r>
                    <m:sSub>
                      <m:sSubPr>
                        <m:ctrlPr>
                          <a:rPr lang="en-GB" i="1" dirty="0">
                            <a:latin typeface="Cambria Math" panose="02040503050406030204" pitchFamily="18" charset="0"/>
                          </a:rPr>
                        </m:ctrlPr>
                      </m:sSubPr>
                      <m:e>
                        <m:r>
                          <a:rPr lang="en-GB" i="1" dirty="0">
                            <a:latin typeface="Cambria Math" panose="02040503050406030204" pitchFamily="18" charset="0"/>
                          </a:rPr>
                          <m:t>𝑏</m:t>
                        </m:r>
                      </m:e>
                      <m:sub>
                        <m:r>
                          <a:rPr lang="en-GB" i="1" dirty="0">
                            <a:latin typeface="Cambria Math" panose="02040503050406030204" pitchFamily="18" charset="0"/>
                          </a:rPr>
                          <m:t>2</m:t>
                        </m:r>
                      </m:sub>
                    </m:sSub>
                  </m:oMath>
                </a14:m>
                <a:r>
                  <a:rPr lang="en-GB" dirty="0"/>
                  <a:t>) to a file (along with the iteration number and calculated losses on iterations) every </a:t>
                </a:r>
                <a14:m>
                  <m:oMath xmlns:m="http://schemas.openxmlformats.org/officeDocument/2006/math">
                    <m:r>
                      <a:rPr lang="en-GB" i="1" dirty="0">
                        <a:latin typeface="Cambria Math" panose="02040503050406030204" pitchFamily="18" charset="0"/>
                      </a:rPr>
                      <m:t>𝐾</m:t>
                    </m:r>
                  </m:oMath>
                </a14:m>
                <a:r>
                  <a:rPr lang="en-GB" dirty="0"/>
                  <a:t> iterations?</a:t>
                </a:r>
              </a:p>
              <a:p>
                <a:r>
                  <a:rPr lang="en-SG" dirty="0"/>
                  <a:t>For simplicity, can use pickle.</a:t>
                </a:r>
              </a:p>
              <a:p>
                <a:r>
                  <a:rPr lang="en-SG" dirty="0"/>
                  <a:t>And dump our trainable parameters into some files.</a:t>
                </a:r>
                <a:endParaRPr lang="en-GB" dirty="0"/>
              </a:p>
            </p:txBody>
          </p:sp>
        </mc:Choice>
        <mc:Fallback>
          <p:sp>
            <p:nvSpPr>
              <p:cNvPr id="3" name="Content Placeholder 2">
                <a:extLst>
                  <a:ext uri="{FF2B5EF4-FFF2-40B4-BE49-F238E27FC236}">
                    <a16:creationId xmlns:a16="http://schemas.microsoft.com/office/drawing/2014/main" id="{CE89A62E-0A02-E5E6-C125-17199041EEA2}"/>
                  </a:ext>
                </a:extLst>
              </p:cNvPr>
              <p:cNvSpPr>
                <a:spLocks noGrp="1" noRot="1" noChangeAspect="1" noMove="1" noResize="1" noEditPoints="1" noAdjustHandles="1" noChangeArrowheads="1" noChangeShapeType="1" noTextEdit="1"/>
              </p:cNvSpPr>
              <p:nvPr>
                <p:ph sz="half" idx="1"/>
              </p:nvPr>
            </p:nvSpPr>
            <p:spPr>
              <a:xfrm>
                <a:off x="838200" y="1825624"/>
                <a:ext cx="5181600" cy="5032375"/>
              </a:xfrm>
              <a:blipFill>
                <a:blip r:embed="rId2"/>
                <a:stretch>
                  <a:fillRect l="-2471" t="-1937"/>
                </a:stretch>
              </a:blipFill>
            </p:spPr>
            <p:txBody>
              <a:bodyPr/>
              <a:lstStyle/>
              <a:p>
                <a:r>
                  <a:rPr lang="en-GB">
                    <a:noFill/>
                  </a:rPr>
                  <a:t> </a:t>
                </a:r>
              </a:p>
            </p:txBody>
          </p:sp>
        </mc:Fallback>
      </mc:AlternateContent>
      <p:pic>
        <p:nvPicPr>
          <p:cNvPr id="5" name="Picture 4">
            <a:extLst>
              <a:ext uri="{FF2B5EF4-FFF2-40B4-BE49-F238E27FC236}">
                <a16:creationId xmlns:a16="http://schemas.microsoft.com/office/drawing/2014/main" id="{871D9B60-FC90-8D01-A979-82FB20A2942A}"/>
              </a:ext>
            </a:extLst>
          </p:cNvPr>
          <p:cNvPicPr>
            <a:picLocks noChangeAspect="1"/>
          </p:cNvPicPr>
          <p:nvPr/>
        </p:nvPicPr>
        <p:blipFill>
          <a:blip r:embed="rId3"/>
          <a:stretch>
            <a:fillRect/>
          </a:stretch>
        </p:blipFill>
        <p:spPr>
          <a:xfrm>
            <a:off x="6743090" y="1825624"/>
            <a:ext cx="5239481" cy="4296375"/>
          </a:xfrm>
          <a:prstGeom prst="rect">
            <a:avLst/>
          </a:prstGeom>
        </p:spPr>
      </p:pic>
    </p:spTree>
    <p:extLst>
      <p:ext uri="{BB962C8B-B14F-4D97-AF65-F5344CB8AC3E}">
        <p14:creationId xmlns:p14="http://schemas.microsoft.com/office/powerpoint/2010/main" val="337919479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7C42B4-E207-C9EA-4CC3-5FE526AF0594}"/>
              </a:ext>
            </a:extLst>
          </p:cNvPr>
          <p:cNvSpPr>
            <a:spLocks noGrp="1"/>
          </p:cNvSpPr>
          <p:nvPr>
            <p:ph type="title"/>
          </p:nvPr>
        </p:nvSpPr>
        <p:spPr/>
        <p:txBody>
          <a:bodyPr/>
          <a:lstStyle/>
          <a:p>
            <a:r>
              <a:rPr lang="en-GB" dirty="0"/>
              <a:t>Good Practice #4: Saver and loader functions</a:t>
            </a:r>
            <a:endParaRPr lang="en-SG"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CE89A62E-0A02-E5E6-C125-17199041EEA2}"/>
                  </a:ext>
                </a:extLst>
              </p:cNvPr>
              <p:cNvSpPr>
                <a:spLocks noGrp="1"/>
              </p:cNvSpPr>
              <p:nvPr>
                <p:ph sz="half" idx="1"/>
              </p:nvPr>
            </p:nvSpPr>
            <p:spPr>
              <a:xfrm>
                <a:off x="838200" y="1825624"/>
                <a:ext cx="5181600" cy="5032375"/>
              </a:xfrm>
            </p:spPr>
            <p:txBody>
              <a:bodyPr>
                <a:normAutofit/>
              </a:bodyPr>
              <a:lstStyle/>
              <a:p>
                <a:pPr marL="0" indent="0">
                  <a:buNone/>
                </a:pPr>
                <a:r>
                  <a:rPr lang="en-GB" b="1" dirty="0"/>
                  <a:t>Idea: </a:t>
                </a:r>
                <a:r>
                  <a:rPr lang="en-GB" dirty="0"/>
                  <a:t>How about we </a:t>
                </a:r>
                <a:r>
                  <a:rPr lang="en-GB" b="1" dirty="0">
                    <a:solidFill>
                      <a:srgbClr val="00B050"/>
                    </a:solidFill>
                  </a:rPr>
                  <a:t>save</a:t>
                </a:r>
                <a:r>
                  <a:rPr lang="en-GB" dirty="0"/>
                  <a:t> the model trainable parameters (</a:t>
                </a:r>
                <a14:m>
                  <m:oMath xmlns:m="http://schemas.openxmlformats.org/officeDocument/2006/math">
                    <m:sSub>
                      <m:sSubPr>
                        <m:ctrlPr>
                          <a:rPr lang="en-GB" i="1" dirty="0">
                            <a:latin typeface="Cambria Math" panose="02040503050406030204" pitchFamily="18" charset="0"/>
                          </a:rPr>
                        </m:ctrlPr>
                      </m:sSubPr>
                      <m:e>
                        <m:r>
                          <a:rPr lang="en-GB" i="1" dirty="0">
                            <a:latin typeface="Cambria Math" panose="02040503050406030204" pitchFamily="18" charset="0"/>
                          </a:rPr>
                          <m:t>𝑊</m:t>
                        </m:r>
                      </m:e>
                      <m:sub>
                        <m:r>
                          <a:rPr lang="en-GB" i="1" dirty="0">
                            <a:latin typeface="Cambria Math" panose="02040503050406030204" pitchFamily="18" charset="0"/>
                          </a:rPr>
                          <m:t>1</m:t>
                        </m:r>
                      </m:sub>
                    </m:sSub>
                    <m:r>
                      <a:rPr lang="en-GB" i="1" dirty="0">
                        <a:latin typeface="Cambria Math" panose="02040503050406030204" pitchFamily="18" charset="0"/>
                      </a:rPr>
                      <m:t>, </m:t>
                    </m:r>
                    <m:sSub>
                      <m:sSubPr>
                        <m:ctrlPr>
                          <a:rPr lang="en-GB" i="1" dirty="0">
                            <a:latin typeface="Cambria Math" panose="02040503050406030204" pitchFamily="18" charset="0"/>
                          </a:rPr>
                        </m:ctrlPr>
                      </m:sSubPr>
                      <m:e>
                        <m:r>
                          <a:rPr lang="en-GB" i="1" dirty="0">
                            <a:latin typeface="Cambria Math" panose="02040503050406030204" pitchFamily="18" charset="0"/>
                          </a:rPr>
                          <m:t>𝑊</m:t>
                        </m:r>
                      </m:e>
                      <m:sub>
                        <m:r>
                          <a:rPr lang="en-GB" i="1" dirty="0">
                            <a:latin typeface="Cambria Math" panose="02040503050406030204" pitchFamily="18" charset="0"/>
                          </a:rPr>
                          <m:t>2</m:t>
                        </m:r>
                      </m:sub>
                    </m:sSub>
                    <m:r>
                      <a:rPr lang="en-GB" i="1" dirty="0">
                        <a:latin typeface="Cambria Math" panose="02040503050406030204" pitchFamily="18" charset="0"/>
                      </a:rPr>
                      <m:t>, </m:t>
                    </m:r>
                    <m:sSub>
                      <m:sSubPr>
                        <m:ctrlPr>
                          <a:rPr lang="en-GB" i="1" dirty="0">
                            <a:latin typeface="Cambria Math" panose="02040503050406030204" pitchFamily="18" charset="0"/>
                          </a:rPr>
                        </m:ctrlPr>
                      </m:sSubPr>
                      <m:e>
                        <m:r>
                          <a:rPr lang="en-GB" i="1" dirty="0">
                            <a:latin typeface="Cambria Math" panose="02040503050406030204" pitchFamily="18" charset="0"/>
                          </a:rPr>
                          <m:t>𝑏</m:t>
                        </m:r>
                      </m:e>
                      <m:sub>
                        <m:r>
                          <a:rPr lang="en-GB" i="1" dirty="0">
                            <a:latin typeface="Cambria Math" panose="02040503050406030204" pitchFamily="18" charset="0"/>
                          </a:rPr>
                          <m:t>1</m:t>
                        </m:r>
                      </m:sub>
                    </m:sSub>
                    <m:r>
                      <a:rPr lang="en-GB" i="1" dirty="0">
                        <a:latin typeface="Cambria Math" panose="02040503050406030204" pitchFamily="18" charset="0"/>
                      </a:rPr>
                      <m:t>, </m:t>
                    </m:r>
                    <m:sSub>
                      <m:sSubPr>
                        <m:ctrlPr>
                          <a:rPr lang="en-GB" i="1" dirty="0">
                            <a:latin typeface="Cambria Math" panose="02040503050406030204" pitchFamily="18" charset="0"/>
                          </a:rPr>
                        </m:ctrlPr>
                      </m:sSubPr>
                      <m:e>
                        <m:r>
                          <a:rPr lang="en-GB" i="1" dirty="0">
                            <a:latin typeface="Cambria Math" panose="02040503050406030204" pitchFamily="18" charset="0"/>
                          </a:rPr>
                          <m:t>𝑏</m:t>
                        </m:r>
                      </m:e>
                      <m:sub>
                        <m:r>
                          <a:rPr lang="en-GB" i="1" dirty="0">
                            <a:latin typeface="Cambria Math" panose="02040503050406030204" pitchFamily="18" charset="0"/>
                          </a:rPr>
                          <m:t>2</m:t>
                        </m:r>
                      </m:sub>
                    </m:sSub>
                  </m:oMath>
                </a14:m>
                <a:r>
                  <a:rPr lang="en-GB" dirty="0"/>
                  <a:t>) to a file (along with the iteration number and calculated losses on iterations) every </a:t>
                </a:r>
                <a14:m>
                  <m:oMath xmlns:m="http://schemas.openxmlformats.org/officeDocument/2006/math">
                    <m:r>
                      <a:rPr lang="en-GB" i="1" dirty="0">
                        <a:latin typeface="Cambria Math" panose="02040503050406030204" pitchFamily="18" charset="0"/>
                      </a:rPr>
                      <m:t>𝐾</m:t>
                    </m:r>
                  </m:oMath>
                </a14:m>
                <a:r>
                  <a:rPr lang="en-GB" dirty="0"/>
                  <a:t> iterations?</a:t>
                </a:r>
              </a:p>
              <a:p>
                <a:r>
                  <a:rPr lang="en-SG" dirty="0"/>
                  <a:t>For simplicity, can use pickle.</a:t>
                </a:r>
              </a:p>
              <a:p>
                <a:r>
                  <a:rPr lang="en-SG" dirty="0"/>
                  <a:t>And dump our trainable parameters into some files.</a:t>
                </a:r>
              </a:p>
              <a:p>
                <a:r>
                  <a:rPr lang="en-SG" dirty="0"/>
                  <a:t>Can then load the best parameters after training!</a:t>
                </a:r>
                <a:endParaRPr lang="en-GB" dirty="0"/>
              </a:p>
            </p:txBody>
          </p:sp>
        </mc:Choice>
        <mc:Fallback>
          <p:sp>
            <p:nvSpPr>
              <p:cNvPr id="3" name="Content Placeholder 2">
                <a:extLst>
                  <a:ext uri="{FF2B5EF4-FFF2-40B4-BE49-F238E27FC236}">
                    <a16:creationId xmlns:a16="http://schemas.microsoft.com/office/drawing/2014/main" id="{CE89A62E-0A02-E5E6-C125-17199041EEA2}"/>
                  </a:ext>
                </a:extLst>
              </p:cNvPr>
              <p:cNvSpPr>
                <a:spLocks noGrp="1" noRot="1" noChangeAspect="1" noMove="1" noResize="1" noEditPoints="1" noAdjustHandles="1" noChangeArrowheads="1" noChangeShapeType="1" noTextEdit="1"/>
              </p:cNvSpPr>
              <p:nvPr>
                <p:ph sz="half" idx="1"/>
              </p:nvPr>
            </p:nvSpPr>
            <p:spPr>
              <a:xfrm>
                <a:off x="838200" y="1825624"/>
                <a:ext cx="5181600" cy="5032375"/>
              </a:xfrm>
              <a:blipFill>
                <a:blip r:embed="rId2"/>
                <a:stretch>
                  <a:fillRect l="-2471" t="-1937"/>
                </a:stretch>
              </a:blipFill>
            </p:spPr>
            <p:txBody>
              <a:bodyPr/>
              <a:lstStyle/>
              <a:p>
                <a:r>
                  <a:rPr lang="en-GB">
                    <a:noFill/>
                  </a:rPr>
                  <a:t> </a:t>
                </a:r>
              </a:p>
            </p:txBody>
          </p:sp>
        </mc:Fallback>
      </mc:AlternateContent>
      <p:pic>
        <p:nvPicPr>
          <p:cNvPr id="4" name="Picture 3" descr="Chart&#10;&#10;Description automatically generated">
            <a:extLst>
              <a:ext uri="{FF2B5EF4-FFF2-40B4-BE49-F238E27FC236}">
                <a16:creationId xmlns:a16="http://schemas.microsoft.com/office/drawing/2014/main" id="{B5A4BC48-8492-120E-0AF2-9EB61B25E7E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258372" y="1448411"/>
            <a:ext cx="5731461" cy="4890847"/>
          </a:xfrm>
          <a:prstGeom prst="rect">
            <a:avLst/>
          </a:prstGeom>
        </p:spPr>
      </p:pic>
      <p:sp>
        <p:nvSpPr>
          <p:cNvPr id="6" name="TextBox 5">
            <a:extLst>
              <a:ext uri="{FF2B5EF4-FFF2-40B4-BE49-F238E27FC236}">
                <a16:creationId xmlns:a16="http://schemas.microsoft.com/office/drawing/2014/main" id="{7806AEA3-66E3-EC7D-F037-5FAA998984DD}"/>
              </a:ext>
            </a:extLst>
          </p:cNvPr>
          <p:cNvSpPr txBox="1"/>
          <p:nvPr/>
        </p:nvSpPr>
        <p:spPr>
          <a:xfrm>
            <a:off x="7995138" y="1448411"/>
            <a:ext cx="3343031" cy="646331"/>
          </a:xfrm>
          <a:prstGeom prst="rect">
            <a:avLst/>
          </a:prstGeom>
          <a:noFill/>
        </p:spPr>
        <p:txBody>
          <a:bodyPr wrap="square" rtlCol="0">
            <a:spAutoFit/>
          </a:bodyPr>
          <a:lstStyle/>
          <a:p>
            <a:pPr algn="ctr"/>
            <a:r>
              <a:rPr lang="en-GB" b="1" dirty="0">
                <a:solidFill>
                  <a:srgbClr val="FF0000"/>
                </a:solidFill>
              </a:rPr>
              <a:t>Training should probably have stopped at this point (in red).</a:t>
            </a:r>
            <a:endParaRPr lang="en-SG" b="1" dirty="0">
              <a:solidFill>
                <a:srgbClr val="FF0000"/>
              </a:solidFill>
            </a:endParaRPr>
          </a:p>
        </p:txBody>
      </p:sp>
      <p:sp>
        <p:nvSpPr>
          <p:cNvPr id="5" name="TextBox 4">
            <a:extLst>
              <a:ext uri="{FF2B5EF4-FFF2-40B4-BE49-F238E27FC236}">
                <a16:creationId xmlns:a16="http://schemas.microsoft.com/office/drawing/2014/main" id="{6379EAA7-A818-71A0-3F36-B8279DBB10FA}"/>
              </a:ext>
            </a:extLst>
          </p:cNvPr>
          <p:cNvSpPr txBox="1"/>
          <p:nvPr/>
        </p:nvSpPr>
        <p:spPr>
          <a:xfrm>
            <a:off x="5001370" y="5923759"/>
            <a:ext cx="7227035" cy="830997"/>
          </a:xfrm>
          <a:prstGeom prst="rect">
            <a:avLst/>
          </a:prstGeom>
          <a:noFill/>
        </p:spPr>
        <p:txBody>
          <a:bodyPr wrap="square" rtlCol="0">
            <a:spAutoFit/>
          </a:bodyPr>
          <a:lstStyle/>
          <a:p>
            <a:pPr algn="ctr"/>
            <a:r>
              <a:rPr lang="en-GB" sz="2400" b="1" dirty="0">
                <a:solidFill>
                  <a:srgbClr val="FF0000"/>
                </a:solidFill>
              </a:rPr>
              <a:t>Trained for too long? No big deal, backtrack and load the weights corresponding to the best iteration!</a:t>
            </a:r>
            <a:endParaRPr lang="en-SG" sz="2400" b="1" dirty="0">
              <a:solidFill>
                <a:srgbClr val="FF0000"/>
              </a:solidFill>
            </a:endParaRPr>
          </a:p>
        </p:txBody>
      </p:sp>
    </p:spTree>
    <p:extLst>
      <p:ext uri="{BB962C8B-B14F-4D97-AF65-F5344CB8AC3E}">
        <p14:creationId xmlns:p14="http://schemas.microsoft.com/office/powerpoint/2010/main" val="224902192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7C42B4-E207-C9EA-4CC3-5FE526AF0594}"/>
              </a:ext>
            </a:extLst>
          </p:cNvPr>
          <p:cNvSpPr>
            <a:spLocks noGrp="1"/>
          </p:cNvSpPr>
          <p:nvPr>
            <p:ph type="title"/>
          </p:nvPr>
        </p:nvSpPr>
        <p:spPr/>
        <p:txBody>
          <a:bodyPr/>
          <a:lstStyle/>
          <a:p>
            <a:r>
              <a:rPr lang="en-GB" dirty="0"/>
              <a:t>Good Practice #4: Saver and loader functions</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E89A62E-0A02-E5E6-C125-17199041EEA2}"/>
                  </a:ext>
                </a:extLst>
              </p:cNvPr>
              <p:cNvSpPr>
                <a:spLocks noGrp="1"/>
              </p:cNvSpPr>
              <p:nvPr>
                <p:ph sz="half" idx="1"/>
              </p:nvPr>
            </p:nvSpPr>
            <p:spPr>
              <a:xfrm>
                <a:off x="838200" y="1825624"/>
                <a:ext cx="5181600" cy="5032375"/>
              </a:xfrm>
            </p:spPr>
            <p:txBody>
              <a:bodyPr>
                <a:normAutofit/>
              </a:bodyPr>
              <a:lstStyle/>
              <a:p>
                <a:pPr marL="0" indent="0">
                  <a:buNone/>
                </a:pPr>
                <a:r>
                  <a:rPr lang="en-GB" b="1" dirty="0"/>
                  <a:t>Good Practice #4: use </a:t>
                </a:r>
                <a:r>
                  <a:rPr lang="en-GB" b="1" dirty="0">
                    <a:solidFill>
                      <a:srgbClr val="00B050"/>
                    </a:solidFill>
                  </a:rPr>
                  <a:t>saver</a:t>
                </a:r>
                <a:r>
                  <a:rPr lang="en-GB" b="1" dirty="0"/>
                  <a:t> and </a:t>
                </a:r>
                <a:r>
                  <a:rPr lang="en-GB" b="1" dirty="0">
                    <a:solidFill>
                      <a:srgbClr val="00B050"/>
                    </a:solidFill>
                  </a:rPr>
                  <a:t>loader</a:t>
                </a:r>
                <a:r>
                  <a:rPr lang="en-GB" b="1" dirty="0"/>
                  <a:t> functions.</a:t>
                </a:r>
              </a:p>
              <a:p>
                <a:pPr marL="0" indent="0">
                  <a:buNone/>
                </a:pPr>
                <a:r>
                  <a:rPr lang="en-GB" dirty="0"/>
                  <a:t>After training, look at your training curves and </a:t>
                </a:r>
                <a:r>
                  <a:rPr lang="en-GB" b="1" dirty="0">
                    <a:solidFill>
                      <a:srgbClr val="00B050"/>
                    </a:solidFill>
                  </a:rPr>
                  <a:t>load</a:t>
                </a:r>
                <a:r>
                  <a:rPr lang="en-GB" dirty="0"/>
                  <a:t> the model parameters (</a:t>
                </a:r>
                <a14:m>
                  <m:oMath xmlns:m="http://schemas.openxmlformats.org/officeDocument/2006/math">
                    <m:sSub>
                      <m:sSubPr>
                        <m:ctrlPr>
                          <a:rPr lang="en-GB" b="0" i="1" dirty="0" smtClean="0">
                            <a:latin typeface="Cambria Math" panose="02040503050406030204" pitchFamily="18" charset="0"/>
                          </a:rPr>
                        </m:ctrlPr>
                      </m:sSubPr>
                      <m:e>
                        <m:r>
                          <a:rPr lang="en-GB" i="1" dirty="0" smtClean="0">
                            <a:latin typeface="Cambria Math" panose="02040503050406030204" pitchFamily="18" charset="0"/>
                          </a:rPr>
                          <m:t>𝑊</m:t>
                        </m:r>
                      </m:e>
                      <m:sub>
                        <m:r>
                          <a:rPr lang="en-GB" i="1" dirty="0" smtClean="0">
                            <a:latin typeface="Cambria Math" panose="02040503050406030204" pitchFamily="18" charset="0"/>
                          </a:rPr>
                          <m:t>1</m:t>
                        </m:r>
                      </m:sub>
                    </m:sSub>
                    <m:r>
                      <a:rPr lang="en-GB" i="1" dirty="0" smtClean="0">
                        <a:latin typeface="Cambria Math" panose="02040503050406030204" pitchFamily="18" charset="0"/>
                      </a:rPr>
                      <m:t>, </m:t>
                    </m:r>
                    <m:sSub>
                      <m:sSubPr>
                        <m:ctrlPr>
                          <a:rPr lang="en-GB" b="0" i="1" dirty="0" smtClean="0">
                            <a:latin typeface="Cambria Math" panose="02040503050406030204" pitchFamily="18" charset="0"/>
                          </a:rPr>
                        </m:ctrlPr>
                      </m:sSubPr>
                      <m:e>
                        <m:r>
                          <a:rPr lang="en-GB" i="1" dirty="0" smtClean="0">
                            <a:latin typeface="Cambria Math" panose="02040503050406030204" pitchFamily="18" charset="0"/>
                          </a:rPr>
                          <m:t>𝑊</m:t>
                        </m:r>
                      </m:e>
                      <m:sub>
                        <m:r>
                          <a:rPr lang="en-GB" i="1" dirty="0" smtClean="0">
                            <a:latin typeface="Cambria Math" panose="02040503050406030204" pitchFamily="18" charset="0"/>
                          </a:rPr>
                          <m:t>2</m:t>
                        </m:r>
                      </m:sub>
                    </m:sSub>
                    <m:r>
                      <a:rPr lang="en-GB" i="1" dirty="0" smtClean="0">
                        <a:latin typeface="Cambria Math" panose="02040503050406030204" pitchFamily="18" charset="0"/>
                      </a:rPr>
                      <m:t>, </m:t>
                    </m:r>
                    <m:sSub>
                      <m:sSubPr>
                        <m:ctrlPr>
                          <a:rPr lang="en-GB" b="0" i="1" dirty="0" smtClean="0">
                            <a:latin typeface="Cambria Math" panose="02040503050406030204" pitchFamily="18" charset="0"/>
                          </a:rPr>
                        </m:ctrlPr>
                      </m:sSubPr>
                      <m:e>
                        <m:r>
                          <a:rPr lang="en-GB" i="1" dirty="0" smtClean="0">
                            <a:latin typeface="Cambria Math" panose="02040503050406030204" pitchFamily="18" charset="0"/>
                          </a:rPr>
                          <m:t>𝑏</m:t>
                        </m:r>
                      </m:e>
                      <m:sub>
                        <m:r>
                          <a:rPr lang="en-GB" i="1" dirty="0" smtClean="0">
                            <a:latin typeface="Cambria Math" panose="02040503050406030204" pitchFamily="18" charset="0"/>
                          </a:rPr>
                          <m:t>1</m:t>
                        </m:r>
                      </m:sub>
                    </m:sSub>
                    <m:r>
                      <a:rPr lang="en-GB" i="1" dirty="0" smtClean="0">
                        <a:latin typeface="Cambria Math" panose="02040503050406030204" pitchFamily="18" charset="0"/>
                      </a:rPr>
                      <m:t>, </m:t>
                    </m:r>
                    <m:sSub>
                      <m:sSubPr>
                        <m:ctrlPr>
                          <a:rPr lang="en-GB" b="0" i="1" dirty="0" smtClean="0">
                            <a:latin typeface="Cambria Math" panose="02040503050406030204" pitchFamily="18" charset="0"/>
                          </a:rPr>
                        </m:ctrlPr>
                      </m:sSubPr>
                      <m:e>
                        <m:r>
                          <a:rPr lang="en-GB" i="1" dirty="0" smtClean="0">
                            <a:latin typeface="Cambria Math" panose="02040503050406030204" pitchFamily="18" charset="0"/>
                          </a:rPr>
                          <m:t>𝑏</m:t>
                        </m:r>
                      </m:e>
                      <m:sub>
                        <m:r>
                          <a:rPr lang="en-GB" i="1" dirty="0" smtClean="0">
                            <a:latin typeface="Cambria Math" panose="02040503050406030204" pitchFamily="18" charset="0"/>
                          </a:rPr>
                          <m:t>2</m:t>
                        </m:r>
                      </m:sub>
                    </m:sSub>
                  </m:oMath>
                </a14:m>
                <a:r>
                  <a:rPr lang="en-GB" dirty="0"/>
                  <a:t>) using the files from the iteration corresponding to the best one for the model in terms of </a:t>
                </a:r>
                <a:r>
                  <a:rPr lang="en-GB" b="1" dirty="0">
                    <a:solidFill>
                      <a:srgbClr val="7030A0"/>
                    </a:solidFill>
                  </a:rPr>
                  <a:t>generalization</a:t>
                </a:r>
                <a:r>
                  <a:rPr lang="en-GB" dirty="0"/>
                  <a:t>!</a:t>
                </a:r>
              </a:p>
              <a:p>
                <a:pPr marL="0" indent="0">
                  <a:buNone/>
                </a:pPr>
                <a:r>
                  <a:rPr lang="en-GB" dirty="0"/>
                  <a:t>(Iteration number to be decided manually.)</a:t>
                </a:r>
                <a:endParaRPr lang="en-SG" dirty="0"/>
              </a:p>
            </p:txBody>
          </p:sp>
        </mc:Choice>
        <mc:Fallback xmlns="">
          <p:sp>
            <p:nvSpPr>
              <p:cNvPr id="3" name="Content Placeholder 2">
                <a:extLst>
                  <a:ext uri="{FF2B5EF4-FFF2-40B4-BE49-F238E27FC236}">
                    <a16:creationId xmlns:a16="http://schemas.microsoft.com/office/drawing/2014/main" id="{CE89A62E-0A02-E5E6-C125-17199041EEA2}"/>
                  </a:ext>
                </a:extLst>
              </p:cNvPr>
              <p:cNvSpPr>
                <a:spLocks noGrp="1" noRot="1" noChangeAspect="1" noMove="1" noResize="1" noEditPoints="1" noAdjustHandles="1" noChangeArrowheads="1" noChangeShapeType="1" noTextEdit="1"/>
              </p:cNvSpPr>
              <p:nvPr>
                <p:ph sz="half" idx="1"/>
              </p:nvPr>
            </p:nvSpPr>
            <p:spPr>
              <a:xfrm>
                <a:off x="838200" y="1825624"/>
                <a:ext cx="5181600" cy="5032375"/>
              </a:xfrm>
              <a:blipFill>
                <a:blip r:embed="rId2"/>
                <a:stretch>
                  <a:fillRect l="-2471" t="-1937" r="-2588"/>
                </a:stretch>
              </a:blipFill>
            </p:spPr>
            <p:txBody>
              <a:bodyPr/>
              <a:lstStyle/>
              <a:p>
                <a:r>
                  <a:rPr lang="en-GB">
                    <a:noFill/>
                  </a:rPr>
                  <a:t> </a:t>
                </a:r>
              </a:p>
            </p:txBody>
          </p:sp>
        </mc:Fallback>
      </mc:AlternateContent>
      <p:pic>
        <p:nvPicPr>
          <p:cNvPr id="4" name="Picture 3" descr="Chart&#10;&#10;Description automatically generated">
            <a:extLst>
              <a:ext uri="{FF2B5EF4-FFF2-40B4-BE49-F238E27FC236}">
                <a16:creationId xmlns:a16="http://schemas.microsoft.com/office/drawing/2014/main" id="{B5A4BC48-8492-120E-0AF2-9EB61B25E7E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258372" y="1448411"/>
            <a:ext cx="5731461" cy="4890847"/>
          </a:xfrm>
          <a:prstGeom prst="rect">
            <a:avLst/>
          </a:prstGeom>
        </p:spPr>
      </p:pic>
      <p:sp>
        <p:nvSpPr>
          <p:cNvPr id="6" name="TextBox 5">
            <a:extLst>
              <a:ext uri="{FF2B5EF4-FFF2-40B4-BE49-F238E27FC236}">
                <a16:creationId xmlns:a16="http://schemas.microsoft.com/office/drawing/2014/main" id="{7806AEA3-66E3-EC7D-F037-5FAA998984DD}"/>
              </a:ext>
            </a:extLst>
          </p:cNvPr>
          <p:cNvSpPr txBox="1"/>
          <p:nvPr/>
        </p:nvSpPr>
        <p:spPr>
          <a:xfrm>
            <a:off x="7995138" y="1448411"/>
            <a:ext cx="3343031" cy="646331"/>
          </a:xfrm>
          <a:prstGeom prst="rect">
            <a:avLst/>
          </a:prstGeom>
          <a:noFill/>
        </p:spPr>
        <p:txBody>
          <a:bodyPr wrap="square" rtlCol="0">
            <a:spAutoFit/>
          </a:bodyPr>
          <a:lstStyle/>
          <a:p>
            <a:pPr algn="ctr"/>
            <a:r>
              <a:rPr lang="en-GB" b="1" dirty="0">
                <a:solidFill>
                  <a:srgbClr val="FF0000"/>
                </a:solidFill>
              </a:rPr>
              <a:t>Training should probably have stopped at this point (in red).</a:t>
            </a:r>
            <a:endParaRPr lang="en-SG" b="1" dirty="0">
              <a:solidFill>
                <a:srgbClr val="FF0000"/>
              </a:solidFill>
            </a:endParaRPr>
          </a:p>
        </p:txBody>
      </p:sp>
      <p:sp>
        <p:nvSpPr>
          <p:cNvPr id="7" name="TextBox 6">
            <a:extLst>
              <a:ext uri="{FF2B5EF4-FFF2-40B4-BE49-F238E27FC236}">
                <a16:creationId xmlns:a16="http://schemas.microsoft.com/office/drawing/2014/main" id="{B2524D99-2B28-029F-09E4-32FB45D52147}"/>
              </a:ext>
            </a:extLst>
          </p:cNvPr>
          <p:cNvSpPr txBox="1"/>
          <p:nvPr/>
        </p:nvSpPr>
        <p:spPr>
          <a:xfrm>
            <a:off x="5001370" y="5923759"/>
            <a:ext cx="7227035" cy="830997"/>
          </a:xfrm>
          <a:prstGeom prst="rect">
            <a:avLst/>
          </a:prstGeom>
          <a:noFill/>
        </p:spPr>
        <p:txBody>
          <a:bodyPr wrap="square" rtlCol="0">
            <a:spAutoFit/>
          </a:bodyPr>
          <a:lstStyle/>
          <a:p>
            <a:pPr algn="ctr"/>
            <a:r>
              <a:rPr lang="en-GB" sz="2400" b="1" dirty="0">
                <a:solidFill>
                  <a:srgbClr val="FF0000"/>
                </a:solidFill>
              </a:rPr>
              <a:t>Trained for too long? No big deal, backtrack and load the weights corresponding to the best iteration!</a:t>
            </a:r>
            <a:endParaRPr lang="en-SG" sz="2400" b="1" dirty="0">
              <a:solidFill>
                <a:srgbClr val="FF0000"/>
              </a:solidFill>
            </a:endParaRPr>
          </a:p>
        </p:txBody>
      </p:sp>
    </p:spTree>
    <p:extLst>
      <p:ext uri="{BB962C8B-B14F-4D97-AF65-F5344CB8AC3E}">
        <p14:creationId xmlns:p14="http://schemas.microsoft.com/office/powerpoint/2010/main" val="239302352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7C42B4-E207-C9EA-4CC3-5FE526AF0594}"/>
              </a:ext>
            </a:extLst>
          </p:cNvPr>
          <p:cNvSpPr>
            <a:spLocks noGrp="1"/>
          </p:cNvSpPr>
          <p:nvPr>
            <p:ph type="title"/>
          </p:nvPr>
        </p:nvSpPr>
        <p:spPr/>
        <p:txBody>
          <a:bodyPr/>
          <a:lstStyle/>
          <a:p>
            <a:r>
              <a:rPr lang="en-GB" dirty="0"/>
              <a:t>Good Practice #4: Saver and loader functions</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E89A62E-0A02-E5E6-C125-17199041EEA2}"/>
                  </a:ext>
                </a:extLst>
              </p:cNvPr>
              <p:cNvSpPr>
                <a:spLocks noGrp="1"/>
              </p:cNvSpPr>
              <p:nvPr>
                <p:ph sz="half" idx="1"/>
              </p:nvPr>
            </p:nvSpPr>
            <p:spPr>
              <a:xfrm>
                <a:off x="838200" y="1825624"/>
                <a:ext cx="5181600" cy="5032375"/>
              </a:xfrm>
            </p:spPr>
            <p:txBody>
              <a:bodyPr>
                <a:normAutofit/>
              </a:bodyPr>
              <a:lstStyle/>
              <a:p>
                <a:pPr marL="0" indent="0">
                  <a:buNone/>
                </a:pPr>
                <a:r>
                  <a:rPr lang="en-GB" b="1" dirty="0"/>
                  <a:t>Good Practice #4: use </a:t>
                </a:r>
                <a:r>
                  <a:rPr lang="en-GB" b="1" dirty="0">
                    <a:solidFill>
                      <a:srgbClr val="00B050"/>
                    </a:solidFill>
                  </a:rPr>
                  <a:t>saver</a:t>
                </a:r>
                <a:r>
                  <a:rPr lang="en-GB" b="1" dirty="0"/>
                  <a:t> and </a:t>
                </a:r>
                <a:r>
                  <a:rPr lang="en-GB" b="1" dirty="0">
                    <a:solidFill>
                      <a:srgbClr val="00B050"/>
                    </a:solidFill>
                  </a:rPr>
                  <a:t>loader</a:t>
                </a:r>
                <a:r>
                  <a:rPr lang="en-GB" b="1" dirty="0"/>
                  <a:t> functions.</a:t>
                </a:r>
              </a:p>
              <a:p>
                <a:pPr marL="0" indent="0">
                  <a:buNone/>
                </a:pPr>
                <a:r>
                  <a:rPr lang="en-GB" dirty="0"/>
                  <a:t>After training, look at your training curves and </a:t>
                </a:r>
                <a:r>
                  <a:rPr lang="en-GB" b="1" dirty="0">
                    <a:solidFill>
                      <a:srgbClr val="00B050"/>
                    </a:solidFill>
                  </a:rPr>
                  <a:t>load</a:t>
                </a:r>
                <a:r>
                  <a:rPr lang="en-GB" dirty="0"/>
                  <a:t> the model parameters (</a:t>
                </a:r>
                <a14:m>
                  <m:oMath xmlns:m="http://schemas.openxmlformats.org/officeDocument/2006/math">
                    <m:sSub>
                      <m:sSubPr>
                        <m:ctrlPr>
                          <a:rPr lang="en-GB" b="0" i="1" dirty="0" smtClean="0">
                            <a:latin typeface="Cambria Math" panose="02040503050406030204" pitchFamily="18" charset="0"/>
                          </a:rPr>
                        </m:ctrlPr>
                      </m:sSubPr>
                      <m:e>
                        <m:r>
                          <a:rPr lang="en-GB" i="1" dirty="0" smtClean="0">
                            <a:latin typeface="Cambria Math" panose="02040503050406030204" pitchFamily="18" charset="0"/>
                          </a:rPr>
                          <m:t>𝑊</m:t>
                        </m:r>
                      </m:e>
                      <m:sub>
                        <m:r>
                          <a:rPr lang="en-GB" i="1" dirty="0" smtClean="0">
                            <a:latin typeface="Cambria Math" panose="02040503050406030204" pitchFamily="18" charset="0"/>
                          </a:rPr>
                          <m:t>1</m:t>
                        </m:r>
                      </m:sub>
                    </m:sSub>
                    <m:r>
                      <a:rPr lang="en-GB" i="1" dirty="0" smtClean="0">
                        <a:latin typeface="Cambria Math" panose="02040503050406030204" pitchFamily="18" charset="0"/>
                      </a:rPr>
                      <m:t>, </m:t>
                    </m:r>
                    <m:sSub>
                      <m:sSubPr>
                        <m:ctrlPr>
                          <a:rPr lang="en-GB" b="0" i="1" dirty="0" smtClean="0">
                            <a:latin typeface="Cambria Math" panose="02040503050406030204" pitchFamily="18" charset="0"/>
                          </a:rPr>
                        </m:ctrlPr>
                      </m:sSubPr>
                      <m:e>
                        <m:r>
                          <a:rPr lang="en-GB" i="1" dirty="0" smtClean="0">
                            <a:latin typeface="Cambria Math" panose="02040503050406030204" pitchFamily="18" charset="0"/>
                          </a:rPr>
                          <m:t>𝑊</m:t>
                        </m:r>
                      </m:e>
                      <m:sub>
                        <m:r>
                          <a:rPr lang="en-GB" i="1" dirty="0" smtClean="0">
                            <a:latin typeface="Cambria Math" panose="02040503050406030204" pitchFamily="18" charset="0"/>
                          </a:rPr>
                          <m:t>2</m:t>
                        </m:r>
                      </m:sub>
                    </m:sSub>
                    <m:r>
                      <a:rPr lang="en-GB" i="1" dirty="0" smtClean="0">
                        <a:latin typeface="Cambria Math" panose="02040503050406030204" pitchFamily="18" charset="0"/>
                      </a:rPr>
                      <m:t>, </m:t>
                    </m:r>
                    <m:sSub>
                      <m:sSubPr>
                        <m:ctrlPr>
                          <a:rPr lang="en-GB" b="0" i="1" dirty="0" smtClean="0">
                            <a:latin typeface="Cambria Math" panose="02040503050406030204" pitchFamily="18" charset="0"/>
                          </a:rPr>
                        </m:ctrlPr>
                      </m:sSubPr>
                      <m:e>
                        <m:r>
                          <a:rPr lang="en-GB" i="1" dirty="0" smtClean="0">
                            <a:latin typeface="Cambria Math" panose="02040503050406030204" pitchFamily="18" charset="0"/>
                          </a:rPr>
                          <m:t>𝑏</m:t>
                        </m:r>
                      </m:e>
                      <m:sub>
                        <m:r>
                          <a:rPr lang="en-GB" i="1" dirty="0" smtClean="0">
                            <a:latin typeface="Cambria Math" panose="02040503050406030204" pitchFamily="18" charset="0"/>
                          </a:rPr>
                          <m:t>1</m:t>
                        </m:r>
                      </m:sub>
                    </m:sSub>
                    <m:r>
                      <a:rPr lang="en-GB" i="1" dirty="0" smtClean="0">
                        <a:latin typeface="Cambria Math" panose="02040503050406030204" pitchFamily="18" charset="0"/>
                      </a:rPr>
                      <m:t>, </m:t>
                    </m:r>
                    <m:sSub>
                      <m:sSubPr>
                        <m:ctrlPr>
                          <a:rPr lang="en-GB" b="0" i="1" dirty="0" smtClean="0">
                            <a:latin typeface="Cambria Math" panose="02040503050406030204" pitchFamily="18" charset="0"/>
                          </a:rPr>
                        </m:ctrlPr>
                      </m:sSubPr>
                      <m:e>
                        <m:r>
                          <a:rPr lang="en-GB" i="1" dirty="0" smtClean="0">
                            <a:latin typeface="Cambria Math" panose="02040503050406030204" pitchFamily="18" charset="0"/>
                          </a:rPr>
                          <m:t>𝑏</m:t>
                        </m:r>
                      </m:e>
                      <m:sub>
                        <m:r>
                          <a:rPr lang="en-GB" i="1" dirty="0" smtClean="0">
                            <a:latin typeface="Cambria Math" panose="02040503050406030204" pitchFamily="18" charset="0"/>
                          </a:rPr>
                          <m:t>2</m:t>
                        </m:r>
                      </m:sub>
                    </m:sSub>
                  </m:oMath>
                </a14:m>
                <a:r>
                  <a:rPr lang="en-GB" dirty="0"/>
                  <a:t>) using the files from the iteration corresponding to the best one for the model in terms of </a:t>
                </a:r>
                <a:r>
                  <a:rPr lang="en-GB" b="1" dirty="0">
                    <a:solidFill>
                      <a:srgbClr val="7030A0"/>
                    </a:solidFill>
                  </a:rPr>
                  <a:t>generalization</a:t>
                </a:r>
                <a:r>
                  <a:rPr lang="en-GB" dirty="0"/>
                  <a:t>!</a:t>
                </a:r>
              </a:p>
              <a:p>
                <a:pPr marL="0" indent="0">
                  <a:buNone/>
                </a:pPr>
                <a:r>
                  <a:rPr lang="en-GB" dirty="0"/>
                  <a:t>(Iteration number to be decided manually.)</a:t>
                </a:r>
                <a:endParaRPr lang="en-SG" dirty="0"/>
              </a:p>
            </p:txBody>
          </p:sp>
        </mc:Choice>
        <mc:Fallback xmlns="">
          <p:sp>
            <p:nvSpPr>
              <p:cNvPr id="3" name="Content Placeholder 2">
                <a:extLst>
                  <a:ext uri="{FF2B5EF4-FFF2-40B4-BE49-F238E27FC236}">
                    <a16:creationId xmlns:a16="http://schemas.microsoft.com/office/drawing/2014/main" id="{CE89A62E-0A02-E5E6-C125-17199041EEA2}"/>
                  </a:ext>
                </a:extLst>
              </p:cNvPr>
              <p:cNvSpPr>
                <a:spLocks noGrp="1" noRot="1" noChangeAspect="1" noMove="1" noResize="1" noEditPoints="1" noAdjustHandles="1" noChangeArrowheads="1" noChangeShapeType="1" noTextEdit="1"/>
              </p:cNvSpPr>
              <p:nvPr>
                <p:ph sz="half" idx="1"/>
              </p:nvPr>
            </p:nvSpPr>
            <p:spPr>
              <a:xfrm>
                <a:off x="838200" y="1825624"/>
                <a:ext cx="5181600" cy="5032375"/>
              </a:xfrm>
              <a:blipFill>
                <a:blip r:embed="rId2"/>
                <a:stretch>
                  <a:fillRect l="-2471" t="-1937" r="-2588"/>
                </a:stretch>
              </a:blipFill>
            </p:spPr>
            <p:txBody>
              <a:bodyPr/>
              <a:lstStyle/>
              <a:p>
                <a:r>
                  <a:rPr lang="en-GB">
                    <a:noFill/>
                  </a:rPr>
                  <a:t> </a:t>
                </a:r>
              </a:p>
            </p:txBody>
          </p:sp>
        </mc:Fallback>
      </mc:AlternateContent>
      <p:pic>
        <p:nvPicPr>
          <p:cNvPr id="8" name="Picture 7">
            <a:extLst>
              <a:ext uri="{FF2B5EF4-FFF2-40B4-BE49-F238E27FC236}">
                <a16:creationId xmlns:a16="http://schemas.microsoft.com/office/drawing/2014/main" id="{BDBF56C6-F871-9322-C44E-478F2EA08FA6}"/>
              </a:ext>
            </a:extLst>
          </p:cNvPr>
          <p:cNvPicPr>
            <a:picLocks noChangeAspect="1"/>
          </p:cNvPicPr>
          <p:nvPr/>
        </p:nvPicPr>
        <p:blipFill rotWithShape="1">
          <a:blip r:embed="rId3"/>
          <a:srcRect l="15923"/>
          <a:stretch/>
        </p:blipFill>
        <p:spPr>
          <a:xfrm>
            <a:off x="6674338" y="1926014"/>
            <a:ext cx="5432411" cy="4052754"/>
          </a:xfrm>
          <a:prstGeom prst="rect">
            <a:avLst/>
          </a:prstGeom>
        </p:spPr>
      </p:pic>
    </p:spTree>
    <p:extLst>
      <p:ext uri="{BB962C8B-B14F-4D97-AF65-F5344CB8AC3E}">
        <p14:creationId xmlns:p14="http://schemas.microsoft.com/office/powerpoint/2010/main" val="9729884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7C42B4-E207-C9EA-4CC3-5FE526AF0594}"/>
              </a:ext>
            </a:extLst>
          </p:cNvPr>
          <p:cNvSpPr>
            <a:spLocks noGrp="1"/>
          </p:cNvSpPr>
          <p:nvPr>
            <p:ph type="title"/>
          </p:nvPr>
        </p:nvSpPr>
        <p:spPr/>
        <p:txBody>
          <a:bodyPr/>
          <a:lstStyle/>
          <a:p>
            <a:r>
              <a:rPr lang="en-GB" dirty="0"/>
              <a:t>Saver/loader functions are critical in AI</a:t>
            </a:r>
            <a:endParaRPr lang="en-SG" dirty="0"/>
          </a:p>
        </p:txBody>
      </p:sp>
      <p:sp>
        <p:nvSpPr>
          <p:cNvPr id="3" name="Content Placeholder 2">
            <a:extLst>
              <a:ext uri="{FF2B5EF4-FFF2-40B4-BE49-F238E27FC236}">
                <a16:creationId xmlns:a16="http://schemas.microsoft.com/office/drawing/2014/main" id="{CE89A62E-0A02-E5E6-C125-17199041EEA2}"/>
              </a:ext>
            </a:extLst>
          </p:cNvPr>
          <p:cNvSpPr>
            <a:spLocks noGrp="1"/>
          </p:cNvSpPr>
          <p:nvPr>
            <p:ph sz="half" idx="1"/>
          </p:nvPr>
        </p:nvSpPr>
        <p:spPr>
          <a:xfrm>
            <a:off x="838199" y="1825624"/>
            <a:ext cx="5421923" cy="5032375"/>
          </a:xfrm>
        </p:spPr>
        <p:txBody>
          <a:bodyPr>
            <a:normAutofit/>
          </a:bodyPr>
          <a:lstStyle/>
          <a:p>
            <a:pPr marL="0" indent="0">
              <a:buNone/>
            </a:pPr>
            <a:r>
              <a:rPr lang="en-GB" b="1" dirty="0"/>
              <a:t>Reproducibility: </a:t>
            </a:r>
            <a:r>
              <a:rPr lang="en-GB" dirty="0"/>
              <a:t>After training, it is important that you give your client a simple way to load your trained model. You would not want the client to re-run the training (especially if it takes a VERY long time to train!)</a:t>
            </a:r>
          </a:p>
          <a:p>
            <a:pPr marL="0" indent="0">
              <a:buNone/>
            </a:pPr>
            <a:r>
              <a:rPr lang="en-GB" b="1" dirty="0"/>
              <a:t>It is also important if you do AI research, as your research will have little credibility if </a:t>
            </a:r>
            <a:r>
              <a:rPr lang="en-GB" b="1"/>
              <a:t>you are</a:t>
            </a:r>
            <a:br>
              <a:rPr lang="en-GB" b="1"/>
            </a:br>
            <a:r>
              <a:rPr lang="en-GB" b="1"/>
              <a:t>not </a:t>
            </a:r>
            <a:r>
              <a:rPr lang="en-GB" b="1" dirty="0"/>
              <a:t>able to let other </a:t>
            </a:r>
            <a:r>
              <a:rPr lang="en-GB" b="1"/>
              <a:t>people see</a:t>
            </a:r>
            <a:br>
              <a:rPr lang="en-GB" b="1"/>
            </a:br>
            <a:r>
              <a:rPr lang="en-GB" b="1"/>
              <a:t>the final </a:t>
            </a:r>
            <a:r>
              <a:rPr lang="en-GB" b="1" dirty="0"/>
              <a:t>model at work.</a:t>
            </a:r>
          </a:p>
          <a:p>
            <a:pPr marL="0" indent="0">
              <a:buNone/>
            </a:pPr>
            <a:endParaRPr lang="en-SG" dirty="0"/>
          </a:p>
        </p:txBody>
      </p:sp>
      <p:pic>
        <p:nvPicPr>
          <p:cNvPr id="6" name="Picture 5">
            <a:extLst>
              <a:ext uri="{FF2B5EF4-FFF2-40B4-BE49-F238E27FC236}">
                <a16:creationId xmlns:a16="http://schemas.microsoft.com/office/drawing/2014/main" id="{43A75D9A-88EE-60D1-BF12-69315B99E08D}"/>
              </a:ext>
            </a:extLst>
          </p:cNvPr>
          <p:cNvPicPr>
            <a:picLocks noChangeAspect="1"/>
          </p:cNvPicPr>
          <p:nvPr/>
        </p:nvPicPr>
        <p:blipFill>
          <a:blip r:embed="rId2"/>
          <a:stretch>
            <a:fillRect/>
          </a:stretch>
        </p:blipFill>
        <p:spPr>
          <a:xfrm>
            <a:off x="6260841" y="1825624"/>
            <a:ext cx="5931159" cy="4586443"/>
          </a:xfrm>
          <a:prstGeom prst="rect">
            <a:avLst/>
          </a:prstGeom>
        </p:spPr>
      </p:pic>
    </p:spTree>
    <p:extLst>
      <p:ext uri="{BB962C8B-B14F-4D97-AF65-F5344CB8AC3E}">
        <p14:creationId xmlns:p14="http://schemas.microsoft.com/office/powerpoint/2010/main" val="170083163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7C42B4-E207-C9EA-4CC3-5FE526AF0594}"/>
              </a:ext>
            </a:extLst>
          </p:cNvPr>
          <p:cNvSpPr>
            <a:spLocks noGrp="1"/>
          </p:cNvSpPr>
          <p:nvPr>
            <p:ph type="title"/>
          </p:nvPr>
        </p:nvSpPr>
        <p:spPr/>
        <p:txBody>
          <a:bodyPr/>
          <a:lstStyle/>
          <a:p>
            <a:r>
              <a:rPr lang="en-GB" dirty="0"/>
              <a:t>Saver/loader functions are critical</a:t>
            </a:r>
            <a:endParaRPr lang="en-SG" dirty="0"/>
          </a:p>
        </p:txBody>
      </p:sp>
      <p:sp>
        <p:nvSpPr>
          <p:cNvPr id="3" name="Content Placeholder 2">
            <a:extLst>
              <a:ext uri="{FF2B5EF4-FFF2-40B4-BE49-F238E27FC236}">
                <a16:creationId xmlns:a16="http://schemas.microsoft.com/office/drawing/2014/main" id="{CE89A62E-0A02-E5E6-C125-17199041EEA2}"/>
              </a:ext>
            </a:extLst>
          </p:cNvPr>
          <p:cNvSpPr>
            <a:spLocks noGrp="1"/>
          </p:cNvSpPr>
          <p:nvPr>
            <p:ph sz="half" idx="1"/>
          </p:nvPr>
        </p:nvSpPr>
        <p:spPr>
          <a:xfrm>
            <a:off x="838199" y="1825624"/>
            <a:ext cx="5421923" cy="5032375"/>
          </a:xfrm>
        </p:spPr>
        <p:txBody>
          <a:bodyPr>
            <a:normAutofit/>
          </a:bodyPr>
          <a:lstStyle/>
          <a:p>
            <a:pPr marL="0" indent="0">
              <a:buNone/>
            </a:pPr>
            <a:r>
              <a:rPr lang="en-GB" b="1" dirty="0"/>
              <a:t>Preventing data loss: </a:t>
            </a:r>
            <a:r>
              <a:rPr lang="en-GB" dirty="0"/>
              <a:t>Training a heavy model can take a long time, sometimes even days or weeks, if the model architecture is massive.</a:t>
            </a:r>
          </a:p>
          <a:p>
            <a:pPr marL="0" indent="0">
              <a:buNone/>
            </a:pPr>
            <a:r>
              <a:rPr lang="en-GB" b="1" dirty="0"/>
              <a:t>If the training process is interrupted, all the progress made so far will be lost, unless the model has been saved.</a:t>
            </a:r>
          </a:p>
          <a:p>
            <a:pPr marL="0" indent="0">
              <a:buNone/>
            </a:pPr>
            <a:r>
              <a:rPr lang="en-GB" dirty="0"/>
              <a:t>In case of an interruption, we can simply load the latest save of the model, and resume the training, instead of restarting from scratch.</a:t>
            </a:r>
            <a:endParaRPr lang="en-SG" dirty="0"/>
          </a:p>
        </p:txBody>
      </p:sp>
      <p:pic>
        <p:nvPicPr>
          <p:cNvPr id="8" name="Picture 7">
            <a:extLst>
              <a:ext uri="{FF2B5EF4-FFF2-40B4-BE49-F238E27FC236}">
                <a16:creationId xmlns:a16="http://schemas.microsoft.com/office/drawing/2014/main" id="{3E33F2A5-D1B1-1C68-D3AA-3E101817ECE5}"/>
              </a:ext>
            </a:extLst>
          </p:cNvPr>
          <p:cNvPicPr>
            <a:picLocks noChangeAspect="1"/>
          </p:cNvPicPr>
          <p:nvPr/>
        </p:nvPicPr>
        <p:blipFill>
          <a:blip r:embed="rId2"/>
          <a:stretch>
            <a:fillRect/>
          </a:stretch>
        </p:blipFill>
        <p:spPr>
          <a:xfrm>
            <a:off x="6672425" y="1736422"/>
            <a:ext cx="5332006" cy="4756453"/>
          </a:xfrm>
          <a:prstGeom prst="rect">
            <a:avLst/>
          </a:prstGeom>
        </p:spPr>
      </p:pic>
    </p:spTree>
    <p:extLst>
      <p:ext uri="{BB962C8B-B14F-4D97-AF65-F5344CB8AC3E}">
        <p14:creationId xmlns:p14="http://schemas.microsoft.com/office/powerpoint/2010/main" val="86696937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218DB6-D354-E336-2986-E32EFFEBB60E}"/>
              </a:ext>
            </a:extLst>
          </p:cNvPr>
          <p:cNvSpPr>
            <a:spLocks noGrp="1"/>
          </p:cNvSpPr>
          <p:nvPr>
            <p:ph type="title"/>
          </p:nvPr>
        </p:nvSpPr>
        <p:spPr/>
        <p:txBody>
          <a:bodyPr/>
          <a:lstStyle/>
          <a:p>
            <a:r>
              <a:rPr lang="en-GB" dirty="0"/>
              <a:t>Typical questions about model architecture</a:t>
            </a:r>
            <a:endParaRPr lang="en-SG" dirty="0"/>
          </a:p>
        </p:txBody>
      </p:sp>
      <p:sp>
        <p:nvSpPr>
          <p:cNvPr id="3" name="Content Placeholder 2">
            <a:extLst>
              <a:ext uri="{FF2B5EF4-FFF2-40B4-BE49-F238E27FC236}">
                <a16:creationId xmlns:a16="http://schemas.microsoft.com/office/drawing/2014/main" id="{03A6D8B5-001B-FE1E-61F3-468A2097ADCF}"/>
              </a:ext>
            </a:extLst>
          </p:cNvPr>
          <p:cNvSpPr>
            <a:spLocks noGrp="1"/>
          </p:cNvSpPr>
          <p:nvPr>
            <p:ph sz="half" idx="1"/>
          </p:nvPr>
        </p:nvSpPr>
        <p:spPr>
          <a:xfrm>
            <a:off x="838200" y="1825624"/>
            <a:ext cx="5181600" cy="5032375"/>
          </a:xfrm>
        </p:spPr>
        <p:txBody>
          <a:bodyPr/>
          <a:lstStyle/>
          <a:p>
            <a:pPr marL="0" indent="0">
              <a:buNone/>
            </a:pPr>
            <a:r>
              <a:rPr lang="en-GB" dirty="0"/>
              <a:t>Typical questions asked by students regarding the size of a neural network model.</a:t>
            </a:r>
          </a:p>
          <a:p>
            <a:r>
              <a:rPr lang="en-SG" b="1" dirty="0"/>
              <a:t>How many layers does my model need?</a:t>
            </a:r>
          </a:p>
          <a:p>
            <a:r>
              <a:rPr lang="en-SG" b="1" dirty="0"/>
              <a:t>How many neurons should I put in each layer?</a:t>
            </a:r>
          </a:p>
          <a:p>
            <a:r>
              <a:rPr lang="en-SG" b="1" dirty="0"/>
              <a:t>Is it better to have more layers or more neurons per layer?</a:t>
            </a:r>
          </a:p>
          <a:p>
            <a:pPr marL="0" indent="0">
              <a:buNone/>
            </a:pPr>
            <a:r>
              <a:rPr lang="en-SG" dirty="0"/>
              <a:t>The answer to these questions will surprise you.</a:t>
            </a:r>
          </a:p>
        </p:txBody>
      </p:sp>
    </p:spTree>
    <p:extLst>
      <p:ext uri="{BB962C8B-B14F-4D97-AF65-F5344CB8AC3E}">
        <p14:creationId xmlns:p14="http://schemas.microsoft.com/office/powerpoint/2010/main" val="329713148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218DB6-D354-E336-2986-E32EFFEBB60E}"/>
              </a:ext>
            </a:extLst>
          </p:cNvPr>
          <p:cNvSpPr>
            <a:spLocks noGrp="1"/>
          </p:cNvSpPr>
          <p:nvPr>
            <p:ph type="title"/>
          </p:nvPr>
        </p:nvSpPr>
        <p:spPr/>
        <p:txBody>
          <a:bodyPr/>
          <a:lstStyle/>
          <a:p>
            <a:r>
              <a:rPr lang="en-GB" dirty="0"/>
              <a:t>Typical questions about model architecture</a:t>
            </a:r>
            <a:endParaRPr lang="en-SG" dirty="0"/>
          </a:p>
        </p:txBody>
      </p:sp>
      <p:sp>
        <p:nvSpPr>
          <p:cNvPr id="3" name="Content Placeholder 2">
            <a:extLst>
              <a:ext uri="{FF2B5EF4-FFF2-40B4-BE49-F238E27FC236}">
                <a16:creationId xmlns:a16="http://schemas.microsoft.com/office/drawing/2014/main" id="{03A6D8B5-001B-FE1E-61F3-468A2097ADCF}"/>
              </a:ext>
            </a:extLst>
          </p:cNvPr>
          <p:cNvSpPr>
            <a:spLocks noGrp="1"/>
          </p:cNvSpPr>
          <p:nvPr>
            <p:ph sz="half" idx="1"/>
          </p:nvPr>
        </p:nvSpPr>
        <p:spPr>
          <a:xfrm>
            <a:off x="838200" y="1825624"/>
            <a:ext cx="5181600" cy="5032375"/>
          </a:xfrm>
        </p:spPr>
        <p:txBody>
          <a:bodyPr/>
          <a:lstStyle/>
          <a:p>
            <a:pPr marL="0" indent="0">
              <a:buNone/>
            </a:pPr>
            <a:r>
              <a:rPr lang="en-GB" dirty="0"/>
              <a:t>Typical questions asked by students regarding the size of a neural network model.</a:t>
            </a:r>
          </a:p>
          <a:p>
            <a:r>
              <a:rPr lang="en-SG" b="1" dirty="0"/>
              <a:t>How many layers does my model need?</a:t>
            </a:r>
          </a:p>
          <a:p>
            <a:r>
              <a:rPr lang="en-SG" b="1" dirty="0"/>
              <a:t>How many neurons should I put in each layer?</a:t>
            </a:r>
          </a:p>
          <a:p>
            <a:r>
              <a:rPr lang="en-SG" b="1" dirty="0"/>
              <a:t>Is it better to have more layers or more neurons per layer?</a:t>
            </a:r>
          </a:p>
          <a:p>
            <a:pPr marL="0" indent="0">
              <a:buNone/>
            </a:pPr>
            <a:r>
              <a:rPr lang="en-SG" dirty="0"/>
              <a:t>The answer to these questions will surprise you.</a:t>
            </a:r>
          </a:p>
        </p:txBody>
      </p:sp>
      <p:pic>
        <p:nvPicPr>
          <p:cNvPr id="6" name="Picture 5">
            <a:extLst>
              <a:ext uri="{FF2B5EF4-FFF2-40B4-BE49-F238E27FC236}">
                <a16:creationId xmlns:a16="http://schemas.microsoft.com/office/drawing/2014/main" id="{FCAA24B0-842E-AC7D-0C47-BE3473ABC081}"/>
              </a:ext>
            </a:extLst>
          </p:cNvPr>
          <p:cNvPicPr>
            <a:picLocks noChangeAspect="1"/>
          </p:cNvPicPr>
          <p:nvPr/>
        </p:nvPicPr>
        <p:blipFill>
          <a:blip r:embed="rId2"/>
          <a:stretch>
            <a:fillRect/>
          </a:stretch>
        </p:blipFill>
        <p:spPr>
          <a:xfrm>
            <a:off x="6606319" y="1500216"/>
            <a:ext cx="5252889" cy="5045264"/>
          </a:xfrm>
          <a:prstGeom prst="rect">
            <a:avLst/>
          </a:prstGeom>
        </p:spPr>
      </p:pic>
    </p:spTree>
    <p:extLst>
      <p:ext uri="{BB962C8B-B14F-4D97-AF65-F5344CB8AC3E}">
        <p14:creationId xmlns:p14="http://schemas.microsoft.com/office/powerpoint/2010/main" val="156611172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187D063-CE27-C6D0-534F-36C2400D2C2F}"/>
              </a:ext>
            </a:extLst>
          </p:cNvPr>
          <p:cNvSpPr>
            <a:spLocks noGrp="1"/>
          </p:cNvSpPr>
          <p:nvPr>
            <p:ph type="title"/>
          </p:nvPr>
        </p:nvSpPr>
        <p:spPr/>
        <p:txBody>
          <a:bodyPr/>
          <a:lstStyle/>
          <a:p>
            <a:r>
              <a:rPr lang="en-GB" dirty="0"/>
              <a:t>Problem statement</a:t>
            </a:r>
            <a:endParaRPr lang="en-SG" dirty="0"/>
          </a:p>
        </p:txBody>
      </p:sp>
      <p:pic>
        <p:nvPicPr>
          <p:cNvPr id="9" name="Picture 8">
            <a:extLst>
              <a:ext uri="{FF2B5EF4-FFF2-40B4-BE49-F238E27FC236}">
                <a16:creationId xmlns:a16="http://schemas.microsoft.com/office/drawing/2014/main" id="{E1854C4E-61CC-7C7C-9F6B-17D4E73392DB}"/>
              </a:ext>
            </a:extLst>
          </p:cNvPr>
          <p:cNvPicPr>
            <a:picLocks noChangeAspect="1"/>
          </p:cNvPicPr>
          <p:nvPr/>
        </p:nvPicPr>
        <p:blipFill>
          <a:blip r:embed="rId2"/>
          <a:stretch>
            <a:fillRect/>
          </a:stretch>
        </p:blipFill>
        <p:spPr>
          <a:xfrm>
            <a:off x="5997380" y="2068342"/>
            <a:ext cx="6194620" cy="4243558"/>
          </a:xfrm>
          <a:prstGeom prst="rect">
            <a:avLst/>
          </a:prstGeom>
        </p:spPr>
      </p:pic>
      <p:sp>
        <p:nvSpPr>
          <p:cNvPr id="8" name="Content Placeholder 5">
            <a:extLst>
              <a:ext uri="{FF2B5EF4-FFF2-40B4-BE49-F238E27FC236}">
                <a16:creationId xmlns:a16="http://schemas.microsoft.com/office/drawing/2014/main" id="{F6C903BF-D843-A3A3-6EF2-419D8EB3164D}"/>
              </a:ext>
            </a:extLst>
          </p:cNvPr>
          <p:cNvSpPr>
            <a:spLocks noGrp="1"/>
          </p:cNvSpPr>
          <p:nvPr>
            <p:ph sz="half" idx="1"/>
          </p:nvPr>
        </p:nvSpPr>
        <p:spPr>
          <a:xfrm>
            <a:off x="838200" y="1825624"/>
            <a:ext cx="5181600" cy="5032375"/>
          </a:xfrm>
        </p:spPr>
        <p:txBody>
          <a:bodyPr>
            <a:normAutofit/>
          </a:bodyPr>
          <a:lstStyle/>
          <a:p>
            <a:pPr marL="0" indent="0">
              <a:buNone/>
            </a:pPr>
            <a:r>
              <a:rPr lang="en-GB" b="1" dirty="0"/>
              <a:t>Consider the following binary classification dataset.</a:t>
            </a:r>
          </a:p>
          <a:p>
            <a:pPr marL="0" indent="0">
              <a:buNone/>
            </a:pPr>
            <a:r>
              <a:rPr lang="en-GB" dirty="0"/>
              <a:t>It follows the same logic as our previous dataset, but the boundary seems to have a different shape, and its equation is not given this time.</a:t>
            </a:r>
            <a:endParaRPr lang="en-SG" dirty="0"/>
          </a:p>
          <a:p>
            <a:pPr marL="0" indent="0">
              <a:buNone/>
            </a:pPr>
            <a:r>
              <a:rPr lang="en-SG" dirty="0"/>
              <a:t>It looks nicely separable, so we should be able to train a classifier model with near-perfect accuracy.</a:t>
            </a:r>
            <a:endParaRPr lang="en-GB" dirty="0"/>
          </a:p>
        </p:txBody>
      </p:sp>
    </p:spTree>
    <p:extLst>
      <p:ext uri="{BB962C8B-B14F-4D97-AF65-F5344CB8AC3E}">
        <p14:creationId xmlns:p14="http://schemas.microsoft.com/office/powerpoint/2010/main" val="70453749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187D063-CE27-C6D0-534F-36C2400D2C2F}"/>
              </a:ext>
            </a:extLst>
          </p:cNvPr>
          <p:cNvSpPr>
            <a:spLocks noGrp="1"/>
          </p:cNvSpPr>
          <p:nvPr>
            <p:ph type="title"/>
          </p:nvPr>
        </p:nvSpPr>
        <p:spPr/>
        <p:txBody>
          <a:bodyPr/>
          <a:lstStyle/>
          <a:p>
            <a:r>
              <a:rPr lang="en-GB" dirty="0"/>
              <a:t>Problem statement</a:t>
            </a:r>
            <a:endParaRPr lang="en-SG" dirty="0"/>
          </a:p>
        </p:txBody>
      </p:sp>
      <p:sp>
        <p:nvSpPr>
          <p:cNvPr id="6" name="Content Placeholder 5">
            <a:extLst>
              <a:ext uri="{FF2B5EF4-FFF2-40B4-BE49-F238E27FC236}">
                <a16:creationId xmlns:a16="http://schemas.microsoft.com/office/drawing/2014/main" id="{AD1D227D-401B-5C44-3537-464FEC40DB12}"/>
              </a:ext>
            </a:extLst>
          </p:cNvPr>
          <p:cNvSpPr>
            <a:spLocks noGrp="1"/>
          </p:cNvSpPr>
          <p:nvPr>
            <p:ph sz="half" idx="1"/>
          </p:nvPr>
        </p:nvSpPr>
        <p:spPr>
          <a:xfrm>
            <a:off x="838200" y="1825624"/>
            <a:ext cx="5640754" cy="5032375"/>
          </a:xfrm>
        </p:spPr>
        <p:txBody>
          <a:bodyPr>
            <a:normAutofit/>
          </a:bodyPr>
          <a:lstStyle/>
          <a:p>
            <a:pPr marL="0" indent="0">
              <a:buNone/>
            </a:pPr>
            <a:r>
              <a:rPr lang="en-SG" dirty="0"/>
              <a:t>In Notebook 8 we will first try train two models:</a:t>
            </a:r>
          </a:p>
          <a:p>
            <a:r>
              <a:rPr lang="en-SG" b="1" dirty="0"/>
              <a:t>Model 1: </a:t>
            </a:r>
            <a:r>
              <a:rPr lang="en-SG" dirty="0"/>
              <a:t>1-layer neural network, 62% accuracy (on top)</a:t>
            </a:r>
          </a:p>
          <a:p>
            <a:r>
              <a:rPr lang="en-SG" b="1" dirty="0"/>
              <a:t>Model 2:</a:t>
            </a:r>
            <a:r>
              <a:rPr lang="en-SG" dirty="0"/>
              <a:t> 2-layers neural network, 81% accuracy (bottom).</a:t>
            </a:r>
          </a:p>
          <a:p>
            <a:pPr marL="0" indent="0">
              <a:buNone/>
            </a:pPr>
            <a:endParaRPr lang="en-SG" dirty="0"/>
          </a:p>
          <a:p>
            <a:pPr marL="0" indent="0">
              <a:buNone/>
            </a:pPr>
            <a:r>
              <a:rPr lang="en-SG" dirty="0"/>
              <a:t>Unfortunately, it seems both models are struggling to learn…</a:t>
            </a:r>
          </a:p>
          <a:p>
            <a:pPr marL="0" indent="0">
              <a:buNone/>
            </a:pPr>
            <a:r>
              <a:rPr lang="en-SG" b="1" dirty="0"/>
              <a:t>Question: What could we do then?</a:t>
            </a:r>
          </a:p>
          <a:p>
            <a:pPr marL="0" indent="0">
              <a:buNone/>
            </a:pPr>
            <a:endParaRPr lang="en-SG" dirty="0"/>
          </a:p>
        </p:txBody>
      </p:sp>
      <p:pic>
        <p:nvPicPr>
          <p:cNvPr id="5" name="Picture 4">
            <a:extLst>
              <a:ext uri="{FF2B5EF4-FFF2-40B4-BE49-F238E27FC236}">
                <a16:creationId xmlns:a16="http://schemas.microsoft.com/office/drawing/2014/main" id="{64E424CC-461D-729F-7261-84D0F5BD5F95}"/>
              </a:ext>
            </a:extLst>
          </p:cNvPr>
          <p:cNvPicPr>
            <a:picLocks noChangeAspect="1"/>
          </p:cNvPicPr>
          <p:nvPr/>
        </p:nvPicPr>
        <p:blipFill rotWithShape="1">
          <a:blip r:embed="rId2"/>
          <a:srcRect t="4683"/>
          <a:stretch/>
        </p:blipFill>
        <p:spPr>
          <a:xfrm>
            <a:off x="6756838" y="3499894"/>
            <a:ext cx="4725468" cy="3207774"/>
          </a:xfrm>
          <a:prstGeom prst="rect">
            <a:avLst/>
          </a:prstGeom>
        </p:spPr>
      </p:pic>
      <p:pic>
        <p:nvPicPr>
          <p:cNvPr id="3" name="Picture 2">
            <a:extLst>
              <a:ext uri="{FF2B5EF4-FFF2-40B4-BE49-F238E27FC236}">
                <a16:creationId xmlns:a16="http://schemas.microsoft.com/office/drawing/2014/main" id="{4C7B78B9-7DEE-AF02-8EF1-5A4621D39F9A}"/>
              </a:ext>
            </a:extLst>
          </p:cNvPr>
          <p:cNvPicPr>
            <a:picLocks noChangeAspect="1"/>
          </p:cNvPicPr>
          <p:nvPr/>
        </p:nvPicPr>
        <p:blipFill rotWithShape="1">
          <a:blip r:embed="rId3"/>
          <a:srcRect t="4310"/>
          <a:stretch/>
        </p:blipFill>
        <p:spPr>
          <a:xfrm>
            <a:off x="6766169" y="243899"/>
            <a:ext cx="4725468" cy="3185101"/>
          </a:xfrm>
          <a:prstGeom prst="rect">
            <a:avLst/>
          </a:prstGeom>
        </p:spPr>
      </p:pic>
    </p:spTree>
    <p:extLst>
      <p:ext uri="{BB962C8B-B14F-4D97-AF65-F5344CB8AC3E}">
        <p14:creationId xmlns:p14="http://schemas.microsoft.com/office/powerpoint/2010/main" val="117300779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187D063-CE27-C6D0-534F-36C2400D2C2F}"/>
              </a:ext>
            </a:extLst>
          </p:cNvPr>
          <p:cNvSpPr>
            <a:spLocks noGrp="1"/>
          </p:cNvSpPr>
          <p:nvPr>
            <p:ph type="title"/>
          </p:nvPr>
        </p:nvSpPr>
        <p:spPr/>
        <p:txBody>
          <a:bodyPr/>
          <a:lstStyle/>
          <a:p>
            <a:r>
              <a:rPr lang="en-GB" dirty="0"/>
              <a:t>Problem statement</a:t>
            </a:r>
            <a:endParaRPr lang="en-SG" dirty="0"/>
          </a:p>
        </p:txBody>
      </p:sp>
      <p:sp>
        <p:nvSpPr>
          <p:cNvPr id="6" name="Content Placeholder 5">
            <a:extLst>
              <a:ext uri="{FF2B5EF4-FFF2-40B4-BE49-F238E27FC236}">
                <a16:creationId xmlns:a16="http://schemas.microsoft.com/office/drawing/2014/main" id="{AD1D227D-401B-5C44-3537-464FEC40DB12}"/>
              </a:ext>
            </a:extLst>
          </p:cNvPr>
          <p:cNvSpPr>
            <a:spLocks noGrp="1"/>
          </p:cNvSpPr>
          <p:nvPr>
            <p:ph idx="1"/>
          </p:nvPr>
        </p:nvSpPr>
        <p:spPr>
          <a:xfrm>
            <a:off x="838200" y="1825624"/>
            <a:ext cx="10752016" cy="5032375"/>
          </a:xfrm>
        </p:spPr>
        <p:txBody>
          <a:bodyPr>
            <a:normAutofit/>
          </a:bodyPr>
          <a:lstStyle/>
          <a:p>
            <a:pPr marL="0" indent="0">
              <a:buNone/>
            </a:pPr>
            <a:r>
              <a:rPr lang="en-GB" dirty="0"/>
              <a:t>Three suggested approaches/tasks for you to try in this Notebook 8:</a:t>
            </a:r>
          </a:p>
          <a:p>
            <a:pPr marL="514350" indent="-514350">
              <a:buFont typeface="+mj-lt"/>
              <a:buAutoNum type="arabicPeriod"/>
            </a:pPr>
            <a:r>
              <a:rPr lang="en-GB" dirty="0"/>
              <a:t>Adding a second layer helped, let us try </a:t>
            </a:r>
            <a:r>
              <a:rPr lang="en-GB" b="1" dirty="0"/>
              <a:t>adding a third layer</a:t>
            </a:r>
            <a:r>
              <a:rPr lang="en-GB" dirty="0"/>
              <a:t>?</a:t>
            </a:r>
            <a:br>
              <a:rPr lang="en-GB" dirty="0"/>
            </a:br>
            <a:r>
              <a:rPr lang="en-GB" dirty="0"/>
              <a:t>(We will need to rework most methods in our Neural Network class, as it only includes two layers at the moment).</a:t>
            </a:r>
          </a:p>
          <a:p>
            <a:pPr marL="514350" indent="-514350">
              <a:buFont typeface="+mj-lt"/>
              <a:buAutoNum type="arabicPeriod"/>
            </a:pPr>
            <a:r>
              <a:rPr lang="en-GB" dirty="0"/>
              <a:t>How about we stick to two layers only and </a:t>
            </a:r>
            <a:r>
              <a:rPr lang="en-GB" b="1" dirty="0"/>
              <a:t>use more neurons in the first layer</a:t>
            </a:r>
            <a:r>
              <a:rPr lang="en-GB" dirty="0"/>
              <a:t> of the neural network?</a:t>
            </a:r>
          </a:p>
          <a:p>
            <a:pPr marL="514350" indent="-514350">
              <a:buFont typeface="+mj-lt"/>
              <a:buAutoNum type="arabicPeriod"/>
            </a:pPr>
            <a:r>
              <a:rPr lang="en-GB" dirty="0"/>
              <a:t>How about a bit of </a:t>
            </a:r>
            <a:r>
              <a:rPr lang="en-GB" b="1" dirty="0"/>
              <a:t>feature engineering</a:t>
            </a:r>
            <a:r>
              <a:rPr lang="en-GB" dirty="0"/>
              <a:t>?</a:t>
            </a:r>
            <a:br>
              <a:rPr lang="en-GB" dirty="0"/>
            </a:br>
            <a:r>
              <a:rPr lang="en-GB" dirty="0"/>
              <a:t>(That is reworking our dataset a bit to produce more useful features that could help our neural networks)</a:t>
            </a:r>
          </a:p>
          <a:p>
            <a:pPr marL="514350" indent="-514350">
              <a:buFont typeface="+mj-lt"/>
              <a:buAutoNum type="arabicPeriod"/>
            </a:pPr>
            <a:endParaRPr lang="en-GB" dirty="0"/>
          </a:p>
          <a:p>
            <a:pPr marL="0" indent="0">
              <a:buNone/>
            </a:pPr>
            <a:r>
              <a:rPr lang="en-GB" dirty="0"/>
              <a:t>Guided Practice, solutions are provided (but no cheating!)</a:t>
            </a:r>
            <a:endParaRPr lang="en-SG" dirty="0"/>
          </a:p>
        </p:txBody>
      </p:sp>
    </p:spTree>
    <p:extLst>
      <p:ext uri="{BB962C8B-B14F-4D97-AF65-F5344CB8AC3E}">
        <p14:creationId xmlns:p14="http://schemas.microsoft.com/office/powerpoint/2010/main" val="196159937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D8CF67A5-1F0C-EAEC-7995-E3780C13C67A}"/>
              </a:ext>
            </a:extLst>
          </p:cNvPr>
          <p:cNvSpPr>
            <a:spLocks noGrp="1"/>
          </p:cNvSpPr>
          <p:nvPr>
            <p:ph type="title"/>
          </p:nvPr>
        </p:nvSpPr>
        <p:spPr/>
        <p:txBody>
          <a:bodyPr/>
          <a:lstStyle/>
          <a:p>
            <a:r>
              <a:rPr lang="en-GB" dirty="0"/>
              <a:t>Well, let us experiment then?</a:t>
            </a:r>
            <a:endParaRPr lang="en-SG" dirty="0"/>
          </a:p>
        </p:txBody>
      </p:sp>
      <p:sp>
        <p:nvSpPr>
          <p:cNvPr id="6" name="Text Placeholder 5">
            <a:extLst>
              <a:ext uri="{FF2B5EF4-FFF2-40B4-BE49-F238E27FC236}">
                <a16:creationId xmlns:a16="http://schemas.microsoft.com/office/drawing/2014/main" id="{6683C81D-902D-613B-21D2-7E9DA46F50C1}"/>
              </a:ext>
            </a:extLst>
          </p:cNvPr>
          <p:cNvSpPr>
            <a:spLocks noGrp="1"/>
          </p:cNvSpPr>
          <p:nvPr>
            <p:ph type="body" idx="1"/>
          </p:nvPr>
        </p:nvSpPr>
        <p:spPr>
          <a:xfrm>
            <a:off x="831850" y="4589463"/>
            <a:ext cx="10515600" cy="2076808"/>
          </a:xfrm>
        </p:spPr>
        <p:txBody>
          <a:bodyPr>
            <a:normAutofit/>
          </a:bodyPr>
          <a:lstStyle/>
          <a:p>
            <a:r>
              <a:rPr lang="en-GB" dirty="0"/>
              <a:t>Have a look at Notebook 8, it comes with three practice tasks.</a:t>
            </a:r>
            <a:br>
              <a:rPr lang="en-GB" dirty="0"/>
            </a:br>
            <a:r>
              <a:rPr lang="en-GB" dirty="0"/>
              <a:t>(Solutions are also available in the solutions folder).</a:t>
            </a:r>
          </a:p>
          <a:p>
            <a:r>
              <a:rPr lang="en-GB" dirty="0"/>
              <a:t>No homework again this week, so playing with this notebook is your homework!</a:t>
            </a:r>
          </a:p>
        </p:txBody>
      </p:sp>
    </p:spTree>
    <p:extLst>
      <p:ext uri="{BB962C8B-B14F-4D97-AF65-F5344CB8AC3E}">
        <p14:creationId xmlns:p14="http://schemas.microsoft.com/office/powerpoint/2010/main" val="18262022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C6389E-18C5-A49B-CAB4-DD13503641AF}"/>
              </a:ext>
            </a:extLst>
          </p:cNvPr>
          <p:cNvSpPr>
            <a:spLocks noGrp="1"/>
          </p:cNvSpPr>
          <p:nvPr>
            <p:ph type="title"/>
          </p:nvPr>
        </p:nvSpPr>
        <p:spPr/>
        <p:txBody>
          <a:bodyPr/>
          <a:lstStyle/>
          <a:p>
            <a:r>
              <a:rPr lang="en-GB" dirty="0"/>
              <a:t>Lesson #1: Features engineering is king!</a:t>
            </a:r>
            <a:endParaRPr lang="en-SG" dirty="0"/>
          </a:p>
        </p:txBody>
      </p:sp>
      <p:sp>
        <p:nvSpPr>
          <p:cNvPr id="3" name="Content Placeholder 2">
            <a:extLst>
              <a:ext uri="{FF2B5EF4-FFF2-40B4-BE49-F238E27FC236}">
                <a16:creationId xmlns:a16="http://schemas.microsoft.com/office/drawing/2014/main" id="{FAFA3726-DCDE-94BD-7BC4-92D971C0985C}"/>
              </a:ext>
            </a:extLst>
          </p:cNvPr>
          <p:cNvSpPr>
            <a:spLocks noGrp="1"/>
          </p:cNvSpPr>
          <p:nvPr>
            <p:ph sz="half" idx="1"/>
          </p:nvPr>
        </p:nvSpPr>
        <p:spPr>
          <a:xfrm>
            <a:off x="838200" y="1825624"/>
            <a:ext cx="5181600" cy="5032375"/>
          </a:xfrm>
        </p:spPr>
        <p:txBody>
          <a:bodyPr>
            <a:normAutofit/>
          </a:bodyPr>
          <a:lstStyle/>
          <a:p>
            <a:pPr marL="0" indent="0">
              <a:buNone/>
            </a:pPr>
            <a:r>
              <a:rPr lang="en-GB" dirty="0"/>
              <a:t>In general</a:t>
            </a:r>
            <a:r>
              <a:rPr lang="en-GB" b="1" dirty="0"/>
              <a:t>, feature engineering </a:t>
            </a:r>
            <a:r>
              <a:rPr lang="en-GB" dirty="0"/>
              <a:t>is the direction which offers the largest improvement potential for our models.</a:t>
            </a:r>
          </a:p>
          <a:p>
            <a:pPr marL="0" indent="0">
              <a:buNone/>
            </a:pPr>
            <a:r>
              <a:rPr lang="en-GB" dirty="0"/>
              <a:t>If you have a hunch about which features could help the network classify better, you should attempt some </a:t>
            </a:r>
            <a:r>
              <a:rPr lang="en-GB" b="1" dirty="0"/>
              <a:t>feature engineering</a:t>
            </a:r>
            <a:r>
              <a:rPr lang="en-GB" dirty="0"/>
              <a:t>.</a:t>
            </a:r>
          </a:p>
          <a:p>
            <a:pPr marL="0" indent="0">
              <a:buNone/>
            </a:pPr>
            <a:r>
              <a:rPr lang="en-GB" b="1" dirty="0"/>
              <a:t>Problem: </a:t>
            </a:r>
            <a:r>
              <a:rPr lang="en-GB" dirty="0"/>
              <a:t>it requires a strong mathematical intuition/domain expertise about the dataset!</a:t>
            </a:r>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CBAB6766-52DB-8BF6-A95D-575DF203FDFB}"/>
                  </a:ext>
                </a:extLst>
              </p:cNvPr>
              <p:cNvSpPr>
                <a:spLocks noGrp="1"/>
              </p:cNvSpPr>
              <p:nvPr>
                <p:ph sz="half" idx="2"/>
              </p:nvPr>
            </p:nvSpPr>
            <p:spPr>
              <a:xfrm>
                <a:off x="6172200" y="1825624"/>
                <a:ext cx="5816600" cy="5032375"/>
              </a:xfrm>
            </p:spPr>
            <p:txBody>
              <a:bodyPr>
                <a:normAutofit/>
              </a:bodyPr>
              <a:lstStyle/>
              <a:p>
                <a:pPr marL="0" indent="0">
                  <a:buNone/>
                </a:pPr>
                <a:r>
                  <a:rPr lang="en-GB" dirty="0"/>
                  <a:t>In Notebook 8, what helped was recognizing that the squared values of the inputs could help. This followed from seeing that the boundary looked like a </a:t>
                </a:r>
                <a:r>
                  <a:rPr lang="en-GB" b="1" dirty="0"/>
                  <a:t>circle</a:t>
                </a:r>
                <a:r>
                  <a:rPr lang="en-GB" dirty="0"/>
                  <a:t> and that </a:t>
                </a:r>
                <a:r>
                  <a:rPr lang="en-GB" b="1" dirty="0"/>
                  <a:t>circles equations </a:t>
                </a:r>
                <a:r>
                  <a:rPr lang="en-GB" dirty="0"/>
                  <a:t>are usually relying on </a:t>
                </a:r>
                <a:r>
                  <a:rPr lang="en-GB" b="1" dirty="0"/>
                  <a:t>squared values of the inputs</a:t>
                </a:r>
                <a:r>
                  <a:rPr lang="en-GB" dirty="0"/>
                  <a:t>.</a:t>
                </a:r>
              </a:p>
              <a:p>
                <a:pPr marL="0" indent="0">
                  <a:buNone/>
                </a:pPr>
                <a14:m>
                  <m:oMathPara xmlns:m="http://schemas.openxmlformats.org/officeDocument/2006/math">
                    <m:oMathParaPr>
                      <m:jc m:val="centerGroup"/>
                    </m:oMathParaPr>
                    <m:oMath xmlns:m="http://schemas.openxmlformats.org/officeDocument/2006/math">
                      <m:sSubSup>
                        <m:sSubSupPr>
                          <m:ctrlPr>
                            <a:rPr lang="en-GB" b="0" i="1" smtClean="0">
                              <a:latin typeface="Cambria Math" panose="02040503050406030204" pitchFamily="18" charset="0"/>
                            </a:rPr>
                          </m:ctrlPr>
                        </m:sSubSupPr>
                        <m:e>
                          <m:r>
                            <a:rPr lang="en-GB" b="0" i="1" smtClean="0">
                              <a:latin typeface="Cambria Math" panose="02040503050406030204" pitchFamily="18" charset="0"/>
                            </a:rPr>
                            <m:t>𝑥</m:t>
                          </m:r>
                        </m:e>
                        <m:sub>
                          <m:r>
                            <a:rPr lang="en-GB" b="0" i="1" smtClean="0">
                              <a:latin typeface="Cambria Math" panose="02040503050406030204" pitchFamily="18" charset="0"/>
                            </a:rPr>
                            <m:t>1</m:t>
                          </m:r>
                        </m:sub>
                        <m:sup>
                          <m:r>
                            <a:rPr lang="en-GB" b="0" i="1" smtClean="0">
                              <a:latin typeface="Cambria Math" panose="02040503050406030204" pitchFamily="18" charset="0"/>
                            </a:rPr>
                            <m:t>2</m:t>
                          </m:r>
                        </m:sup>
                      </m:sSubSup>
                      <m:r>
                        <a:rPr lang="en-GB" b="0" i="1" smtClean="0">
                          <a:latin typeface="Cambria Math" panose="02040503050406030204" pitchFamily="18" charset="0"/>
                        </a:rPr>
                        <m:t>+</m:t>
                      </m:r>
                      <m:sSubSup>
                        <m:sSubSupPr>
                          <m:ctrlPr>
                            <a:rPr lang="en-GB" b="0" i="1" smtClean="0">
                              <a:latin typeface="Cambria Math" panose="02040503050406030204" pitchFamily="18" charset="0"/>
                            </a:rPr>
                          </m:ctrlPr>
                        </m:sSubSupPr>
                        <m:e>
                          <m:r>
                            <a:rPr lang="en-GB" b="0" i="1" smtClean="0">
                              <a:latin typeface="Cambria Math" panose="02040503050406030204" pitchFamily="18" charset="0"/>
                            </a:rPr>
                            <m:t>𝑥</m:t>
                          </m:r>
                        </m:e>
                        <m:sub>
                          <m:r>
                            <a:rPr lang="en-GB" b="0" i="1" smtClean="0">
                              <a:latin typeface="Cambria Math" panose="02040503050406030204" pitchFamily="18" charset="0"/>
                            </a:rPr>
                            <m:t>2</m:t>
                          </m:r>
                        </m:sub>
                        <m:sup>
                          <m:r>
                            <a:rPr lang="en-GB" b="0" i="1" smtClean="0">
                              <a:latin typeface="Cambria Math" panose="02040503050406030204" pitchFamily="18" charset="0"/>
                            </a:rPr>
                            <m:t>2</m:t>
                          </m:r>
                        </m:sup>
                      </m:sSubSup>
                      <m:r>
                        <a:rPr lang="en-GB" b="0" i="1" smtClean="0">
                          <a:latin typeface="Cambria Math" panose="02040503050406030204" pitchFamily="18" charset="0"/>
                        </a:rPr>
                        <m:t>=</m:t>
                      </m:r>
                      <m:r>
                        <a:rPr lang="en-GB" b="0" i="1" smtClean="0">
                          <a:latin typeface="Cambria Math" panose="02040503050406030204" pitchFamily="18" charset="0"/>
                        </a:rPr>
                        <m:t>𝐾</m:t>
                      </m:r>
                    </m:oMath>
                  </m:oMathPara>
                </a14:m>
                <a:br>
                  <a:rPr lang="en-GB" dirty="0"/>
                </a:br>
                <a:r>
                  <a:rPr lang="en-SG" dirty="0"/>
                  <a:t>Our boundary equation for the dataset was in fact an </a:t>
                </a:r>
                <a:r>
                  <a:rPr lang="en-SG" b="1" dirty="0"/>
                  <a:t>ellipse</a:t>
                </a:r>
                <a:r>
                  <a:rPr lang="en-SG" dirty="0"/>
                  <a:t> equation:</a:t>
                </a:r>
              </a:p>
              <a:p>
                <a:pPr marL="0" indent="0">
                  <a:buNone/>
                </a:pPr>
                <a14:m>
                  <m:oMathPara xmlns:m="http://schemas.openxmlformats.org/officeDocument/2006/math">
                    <m:oMathParaPr>
                      <m:jc m:val="centerGroup"/>
                    </m:oMathParaPr>
                    <m:oMath xmlns:m="http://schemas.openxmlformats.org/officeDocument/2006/math">
                      <m:r>
                        <a:rPr lang="nn-NO" i="1" dirty="0" smtClean="0">
                          <a:latin typeface="Cambria Math" panose="02040503050406030204" pitchFamily="18" charset="0"/>
                        </a:rPr>
                        <m:t>2</m:t>
                      </m:r>
                      <m:sSubSup>
                        <m:sSubSupPr>
                          <m:ctrlPr>
                            <a:rPr lang="en-GB" b="0" i="1" dirty="0" smtClean="0">
                              <a:latin typeface="Cambria Math" panose="02040503050406030204" pitchFamily="18" charset="0"/>
                            </a:rPr>
                          </m:ctrlPr>
                        </m:sSubSupPr>
                        <m:e>
                          <m:r>
                            <a:rPr lang="en-GB" b="0" i="1" dirty="0" smtClean="0">
                              <a:latin typeface="Cambria Math" panose="02040503050406030204" pitchFamily="18" charset="0"/>
                            </a:rPr>
                            <m:t>𝑥</m:t>
                          </m:r>
                        </m:e>
                        <m:sub>
                          <m:r>
                            <a:rPr lang="en-GB" b="0" i="1" dirty="0" smtClean="0">
                              <a:latin typeface="Cambria Math" panose="02040503050406030204" pitchFamily="18" charset="0"/>
                            </a:rPr>
                            <m:t>1</m:t>
                          </m:r>
                        </m:sub>
                        <m:sup>
                          <m:r>
                            <a:rPr lang="en-GB" b="0" i="1" dirty="0" smtClean="0">
                              <a:latin typeface="Cambria Math" panose="02040503050406030204" pitchFamily="18" charset="0"/>
                            </a:rPr>
                            <m:t>2</m:t>
                          </m:r>
                        </m:sup>
                      </m:sSubSup>
                      <m:r>
                        <a:rPr lang="nn-NO" i="1" dirty="0" smtClean="0">
                          <a:latin typeface="Cambria Math" panose="02040503050406030204" pitchFamily="18" charset="0"/>
                        </a:rPr>
                        <m:t> + 3</m:t>
                      </m:r>
                      <m:sSubSup>
                        <m:sSubSupPr>
                          <m:ctrlPr>
                            <a:rPr lang="en-GB" b="0" i="1" dirty="0" smtClean="0">
                              <a:latin typeface="Cambria Math" panose="02040503050406030204" pitchFamily="18" charset="0"/>
                            </a:rPr>
                          </m:ctrlPr>
                        </m:sSubSupPr>
                        <m:e>
                          <m:r>
                            <a:rPr lang="en-GB" b="0" i="1" dirty="0" smtClean="0">
                              <a:latin typeface="Cambria Math" panose="02040503050406030204" pitchFamily="18" charset="0"/>
                            </a:rPr>
                            <m:t>𝑥</m:t>
                          </m:r>
                        </m:e>
                        <m:sub>
                          <m:r>
                            <a:rPr lang="en-GB" b="0" i="1" dirty="0" smtClean="0">
                              <a:latin typeface="Cambria Math" panose="02040503050406030204" pitchFamily="18" charset="0"/>
                            </a:rPr>
                            <m:t>2</m:t>
                          </m:r>
                        </m:sub>
                        <m:sup>
                          <m:r>
                            <a:rPr lang="en-GB" b="0" i="1" dirty="0" smtClean="0">
                              <a:latin typeface="Cambria Math" panose="02040503050406030204" pitchFamily="18" charset="0"/>
                            </a:rPr>
                            <m:t>2</m:t>
                          </m:r>
                        </m:sup>
                      </m:sSubSup>
                      <m:r>
                        <a:rPr lang="nn-NO" i="1" dirty="0" smtClean="0">
                          <a:latin typeface="Cambria Math" panose="02040503050406030204" pitchFamily="18" charset="0"/>
                        </a:rPr>
                        <m:t> + 0.75</m:t>
                      </m:r>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𝑥</m:t>
                          </m:r>
                        </m:e>
                        <m:sub>
                          <m:r>
                            <a:rPr lang="en-GB" b="0" i="1" dirty="0" smtClean="0">
                              <a:latin typeface="Cambria Math" panose="02040503050406030204" pitchFamily="18" charset="0"/>
                            </a:rPr>
                            <m:t>1</m:t>
                          </m:r>
                        </m:sub>
                      </m:sSub>
                      <m:r>
                        <a:rPr lang="nn-NO" i="1" dirty="0" smtClean="0">
                          <a:latin typeface="Cambria Math" panose="02040503050406030204" pitchFamily="18" charset="0"/>
                        </a:rPr>
                        <m:t> + 0.25</m:t>
                      </m:r>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𝑥</m:t>
                          </m:r>
                        </m:e>
                        <m:sub>
                          <m:r>
                            <a:rPr lang="en-GB" b="0" i="1" dirty="0" smtClean="0">
                              <a:latin typeface="Cambria Math" panose="02040503050406030204" pitchFamily="18" charset="0"/>
                            </a:rPr>
                            <m:t>2</m:t>
                          </m:r>
                        </m:sub>
                      </m:sSub>
                      <m:r>
                        <a:rPr lang="en-GB" b="0" i="1" dirty="0" smtClean="0">
                          <a:latin typeface="Cambria Math" panose="02040503050406030204" pitchFamily="18" charset="0"/>
                        </a:rPr>
                        <m:t>=0</m:t>
                      </m:r>
                    </m:oMath>
                  </m:oMathPara>
                </a14:m>
                <a:endParaRPr lang="en-SG" dirty="0"/>
              </a:p>
              <a:p>
                <a:pPr marL="0" indent="0">
                  <a:buNone/>
                </a:pPr>
                <a:endParaRPr lang="en-SG" dirty="0"/>
              </a:p>
            </p:txBody>
          </p:sp>
        </mc:Choice>
        <mc:Fallback xmlns="">
          <p:sp>
            <p:nvSpPr>
              <p:cNvPr id="4" name="Content Placeholder 3">
                <a:extLst>
                  <a:ext uri="{FF2B5EF4-FFF2-40B4-BE49-F238E27FC236}">
                    <a16:creationId xmlns:a16="http://schemas.microsoft.com/office/drawing/2014/main" id="{CBAB6766-52DB-8BF6-A95D-575DF203FDFB}"/>
                  </a:ext>
                </a:extLst>
              </p:cNvPr>
              <p:cNvSpPr>
                <a:spLocks noGrp="1" noRot="1" noChangeAspect="1" noMove="1" noResize="1" noEditPoints="1" noAdjustHandles="1" noChangeArrowheads="1" noChangeShapeType="1" noTextEdit="1"/>
              </p:cNvSpPr>
              <p:nvPr>
                <p:ph sz="half" idx="2"/>
              </p:nvPr>
            </p:nvSpPr>
            <p:spPr>
              <a:xfrm>
                <a:off x="6172200" y="1825624"/>
                <a:ext cx="5816600" cy="5032375"/>
              </a:xfrm>
              <a:blipFill>
                <a:blip r:embed="rId2"/>
                <a:stretch>
                  <a:fillRect l="-2201" t="-1937" r="-2935"/>
                </a:stretch>
              </a:blipFill>
            </p:spPr>
            <p:txBody>
              <a:bodyPr/>
              <a:lstStyle/>
              <a:p>
                <a:r>
                  <a:rPr lang="en-GB">
                    <a:noFill/>
                  </a:rPr>
                  <a:t> </a:t>
                </a:r>
              </a:p>
            </p:txBody>
          </p:sp>
        </mc:Fallback>
      </mc:AlternateContent>
    </p:spTree>
    <p:extLst>
      <p:ext uri="{BB962C8B-B14F-4D97-AF65-F5344CB8AC3E}">
        <p14:creationId xmlns:p14="http://schemas.microsoft.com/office/powerpoint/2010/main" val="3051986941"/>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6552EF-9E6D-0F6B-DB33-9ACDE4E5915E}"/>
              </a:ext>
            </a:extLst>
          </p:cNvPr>
          <p:cNvSpPr>
            <a:spLocks noGrp="1"/>
          </p:cNvSpPr>
          <p:nvPr>
            <p:ph type="title"/>
          </p:nvPr>
        </p:nvSpPr>
        <p:spPr/>
        <p:txBody>
          <a:bodyPr/>
          <a:lstStyle/>
          <a:p>
            <a:r>
              <a:rPr lang="en-GB" dirty="0"/>
              <a:t>Lesson #2: Larger layers vs. More layers</a:t>
            </a:r>
            <a:endParaRPr lang="en-SG" dirty="0"/>
          </a:p>
        </p:txBody>
      </p:sp>
      <p:sp>
        <p:nvSpPr>
          <p:cNvPr id="3" name="Content Placeholder 2">
            <a:extLst>
              <a:ext uri="{FF2B5EF4-FFF2-40B4-BE49-F238E27FC236}">
                <a16:creationId xmlns:a16="http://schemas.microsoft.com/office/drawing/2014/main" id="{D8E11F79-FF9C-E1A0-6116-34642E5A157A}"/>
              </a:ext>
            </a:extLst>
          </p:cNvPr>
          <p:cNvSpPr>
            <a:spLocks noGrp="1"/>
          </p:cNvSpPr>
          <p:nvPr>
            <p:ph idx="1"/>
          </p:nvPr>
        </p:nvSpPr>
        <p:spPr>
          <a:xfrm>
            <a:off x="838200" y="1825624"/>
            <a:ext cx="10515600" cy="5032375"/>
          </a:xfrm>
        </p:spPr>
        <p:txBody>
          <a:bodyPr>
            <a:normAutofit/>
          </a:bodyPr>
          <a:lstStyle/>
          <a:p>
            <a:pPr marL="0" indent="0">
              <a:buNone/>
            </a:pPr>
            <a:r>
              <a:rPr lang="en-GB" dirty="0"/>
              <a:t>The number of layers to use in a neural network can vary depending on the complexity of the task and the size of the data. It is a hyperparameter that can be tuned through experimentation.</a:t>
            </a:r>
          </a:p>
          <a:p>
            <a:r>
              <a:rPr lang="en-GB" b="1" dirty="0"/>
              <a:t>In general, deeper networks (more layers) can learn more complex representations, but they are also more computationally expensive and prone to overfitting.</a:t>
            </a:r>
          </a:p>
          <a:p>
            <a:r>
              <a:rPr lang="en-GB" b="1" dirty="0"/>
              <a:t>On the other hand, shallower networks are less expensive and less prone to overfitting, but they may not have enough capacity to learn the task.</a:t>
            </a:r>
          </a:p>
          <a:p>
            <a:pPr marL="0" indent="0">
              <a:buNone/>
            </a:pPr>
            <a:endParaRPr lang="en-SG" dirty="0"/>
          </a:p>
        </p:txBody>
      </p:sp>
    </p:spTree>
    <p:extLst>
      <p:ext uri="{BB962C8B-B14F-4D97-AF65-F5344CB8AC3E}">
        <p14:creationId xmlns:p14="http://schemas.microsoft.com/office/powerpoint/2010/main" val="243293040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6552EF-9E6D-0F6B-DB33-9ACDE4E5915E}"/>
              </a:ext>
            </a:extLst>
          </p:cNvPr>
          <p:cNvSpPr>
            <a:spLocks noGrp="1"/>
          </p:cNvSpPr>
          <p:nvPr>
            <p:ph type="title"/>
          </p:nvPr>
        </p:nvSpPr>
        <p:spPr/>
        <p:txBody>
          <a:bodyPr/>
          <a:lstStyle/>
          <a:p>
            <a:r>
              <a:rPr lang="en-GB" dirty="0"/>
              <a:t>Lesson #2: Larger layers vs. More layers</a:t>
            </a:r>
            <a:endParaRPr lang="en-SG" dirty="0"/>
          </a:p>
        </p:txBody>
      </p:sp>
      <p:sp>
        <p:nvSpPr>
          <p:cNvPr id="3" name="Content Placeholder 2">
            <a:extLst>
              <a:ext uri="{FF2B5EF4-FFF2-40B4-BE49-F238E27FC236}">
                <a16:creationId xmlns:a16="http://schemas.microsoft.com/office/drawing/2014/main" id="{D8E11F79-FF9C-E1A0-6116-34642E5A157A}"/>
              </a:ext>
            </a:extLst>
          </p:cNvPr>
          <p:cNvSpPr>
            <a:spLocks noGrp="1"/>
          </p:cNvSpPr>
          <p:nvPr>
            <p:ph idx="1"/>
          </p:nvPr>
        </p:nvSpPr>
        <p:spPr>
          <a:xfrm>
            <a:off x="838200" y="1825624"/>
            <a:ext cx="10515600" cy="5032375"/>
          </a:xfrm>
        </p:spPr>
        <p:txBody>
          <a:bodyPr>
            <a:normAutofit/>
          </a:bodyPr>
          <a:lstStyle/>
          <a:p>
            <a:pPr marL="0" indent="0">
              <a:buNone/>
            </a:pPr>
            <a:r>
              <a:rPr lang="en-GB" b="1" dirty="0"/>
              <a:t>As far as I know, there is no rule of thumb formula for determining the number of layers to use based on the shape of a dataset.</a:t>
            </a:r>
          </a:p>
          <a:p>
            <a:pPr marL="0" indent="0">
              <a:buNone/>
            </a:pPr>
            <a:r>
              <a:rPr lang="en-GB" dirty="0"/>
              <a:t>The number of layers in a neural network model is determined by a variety of factors, including the complexity of the problem, the size of the input data, and the available computational resources.</a:t>
            </a:r>
          </a:p>
          <a:p>
            <a:pPr>
              <a:buFont typeface="+mj-lt"/>
              <a:buAutoNum type="arabicPeriod"/>
            </a:pPr>
            <a:r>
              <a:rPr lang="en-GB" dirty="0"/>
              <a:t> If the data is linearly separable then you do not need any hidden layers or activation functions, just use a linear regression! </a:t>
            </a:r>
          </a:p>
          <a:p>
            <a:pPr>
              <a:buFont typeface="+mj-lt"/>
              <a:buAutoNum type="arabicPeriod"/>
            </a:pPr>
            <a:r>
              <a:rPr lang="en-GB" dirty="0"/>
              <a:t> If data is low-complexity and has few dimensions/features, then 2 layers would often work, or are a good starting point.</a:t>
            </a:r>
          </a:p>
          <a:p>
            <a:pPr>
              <a:buFont typeface="+mj-lt"/>
              <a:buAutoNum type="arabicPeriod"/>
            </a:pPr>
            <a:r>
              <a:rPr lang="en-GB" dirty="0"/>
              <a:t> If data is high-complexity or has many dimensions/features, then using more hidden layers is required (ideal number to be tested). </a:t>
            </a:r>
          </a:p>
          <a:p>
            <a:endParaRPr lang="en-GB" dirty="0"/>
          </a:p>
        </p:txBody>
      </p:sp>
    </p:spTree>
    <p:extLst>
      <p:ext uri="{BB962C8B-B14F-4D97-AF65-F5344CB8AC3E}">
        <p14:creationId xmlns:p14="http://schemas.microsoft.com/office/powerpoint/2010/main" val="45009857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6552EF-9E6D-0F6B-DB33-9ACDE4E5915E}"/>
              </a:ext>
            </a:extLst>
          </p:cNvPr>
          <p:cNvSpPr>
            <a:spLocks noGrp="1"/>
          </p:cNvSpPr>
          <p:nvPr>
            <p:ph type="title"/>
          </p:nvPr>
        </p:nvSpPr>
        <p:spPr/>
        <p:txBody>
          <a:bodyPr/>
          <a:lstStyle/>
          <a:p>
            <a:r>
              <a:rPr lang="en-GB" dirty="0"/>
              <a:t>Lesson #2: Larger layers vs. More layers</a:t>
            </a:r>
            <a:endParaRPr lang="en-SG" dirty="0"/>
          </a:p>
        </p:txBody>
      </p:sp>
      <p:sp>
        <p:nvSpPr>
          <p:cNvPr id="3" name="Content Placeholder 2">
            <a:extLst>
              <a:ext uri="{FF2B5EF4-FFF2-40B4-BE49-F238E27FC236}">
                <a16:creationId xmlns:a16="http://schemas.microsoft.com/office/drawing/2014/main" id="{D8E11F79-FF9C-E1A0-6116-34642E5A157A}"/>
              </a:ext>
            </a:extLst>
          </p:cNvPr>
          <p:cNvSpPr>
            <a:spLocks noGrp="1"/>
          </p:cNvSpPr>
          <p:nvPr>
            <p:ph idx="1"/>
          </p:nvPr>
        </p:nvSpPr>
        <p:spPr>
          <a:xfrm>
            <a:off x="838200" y="1825624"/>
            <a:ext cx="10515600" cy="5032375"/>
          </a:xfrm>
        </p:spPr>
        <p:txBody>
          <a:bodyPr>
            <a:normAutofit/>
          </a:bodyPr>
          <a:lstStyle/>
          <a:p>
            <a:pPr marL="0" indent="0">
              <a:buNone/>
            </a:pPr>
            <a:r>
              <a:rPr lang="en-GB" b="1" dirty="0"/>
              <a:t>However, “adding an extra layer to a model that is failing and already has many layers in the hopes that it will suddenly fix it” is often foolish and will have limited results.</a:t>
            </a:r>
          </a:p>
          <a:p>
            <a:pPr marL="0" indent="0">
              <a:buNone/>
            </a:pPr>
            <a:endParaRPr lang="en-GB" b="1" dirty="0"/>
          </a:p>
          <a:p>
            <a:pPr marL="0" indent="0">
              <a:buNone/>
            </a:pPr>
            <a:r>
              <a:rPr lang="en-GB" dirty="0"/>
              <a:t>You need enough layers to match the complexity of the task, anything beyond that is most likely overkill and will not help.</a:t>
            </a:r>
          </a:p>
          <a:p>
            <a:pPr marL="0" indent="0">
              <a:buNone/>
            </a:pPr>
            <a:endParaRPr lang="en-GB" dirty="0"/>
          </a:p>
          <a:p>
            <a:pPr marL="0" indent="0">
              <a:buNone/>
            </a:pPr>
            <a:r>
              <a:rPr lang="en-GB" dirty="0"/>
              <a:t>More often than not, you are NOT using the right </a:t>
            </a:r>
            <a:r>
              <a:rPr lang="en-GB" b="1" dirty="0"/>
              <a:t>TYPE</a:t>
            </a:r>
            <a:r>
              <a:rPr lang="en-GB" dirty="0"/>
              <a:t> of layers that fits the </a:t>
            </a:r>
            <a:r>
              <a:rPr lang="en-GB" b="1" dirty="0"/>
              <a:t>TYPE</a:t>
            </a:r>
            <a:r>
              <a:rPr lang="en-GB" dirty="0"/>
              <a:t> of data you are playing with (more on this later).</a:t>
            </a:r>
            <a:endParaRPr lang="en-SG" dirty="0"/>
          </a:p>
        </p:txBody>
      </p:sp>
    </p:spTree>
    <p:extLst>
      <p:ext uri="{BB962C8B-B14F-4D97-AF65-F5344CB8AC3E}">
        <p14:creationId xmlns:p14="http://schemas.microsoft.com/office/powerpoint/2010/main" val="184885360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1D2C4B-4A32-B0D1-BFCA-F538330CCF6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FE4882A-16AB-4C26-BC21-2F1C14987A8F}"/>
              </a:ext>
            </a:extLst>
          </p:cNvPr>
          <p:cNvSpPr>
            <a:spLocks noGrp="1"/>
          </p:cNvSpPr>
          <p:nvPr>
            <p:ph type="title"/>
          </p:nvPr>
        </p:nvSpPr>
        <p:spPr/>
        <p:txBody>
          <a:bodyPr/>
          <a:lstStyle/>
          <a:p>
            <a:r>
              <a:rPr lang="en-GB" dirty="0"/>
              <a:t>Lesson #2: Larger layers vs. More layers</a:t>
            </a:r>
            <a:endParaRPr lang="en-SG" dirty="0"/>
          </a:p>
        </p:txBody>
      </p:sp>
      <p:sp>
        <p:nvSpPr>
          <p:cNvPr id="3" name="Content Placeholder 2">
            <a:extLst>
              <a:ext uri="{FF2B5EF4-FFF2-40B4-BE49-F238E27FC236}">
                <a16:creationId xmlns:a16="http://schemas.microsoft.com/office/drawing/2014/main" id="{B188B60D-E1FF-25F5-13D1-2B1117843C6F}"/>
              </a:ext>
            </a:extLst>
          </p:cNvPr>
          <p:cNvSpPr>
            <a:spLocks noGrp="1"/>
          </p:cNvSpPr>
          <p:nvPr>
            <p:ph idx="1"/>
          </p:nvPr>
        </p:nvSpPr>
        <p:spPr>
          <a:xfrm>
            <a:off x="838200" y="1825624"/>
            <a:ext cx="10515600" cy="5032375"/>
          </a:xfrm>
        </p:spPr>
        <p:txBody>
          <a:bodyPr>
            <a:normAutofit/>
          </a:bodyPr>
          <a:lstStyle/>
          <a:p>
            <a:pPr marL="0" indent="0">
              <a:buNone/>
            </a:pPr>
            <a:r>
              <a:rPr lang="en-GB" b="1" dirty="0"/>
              <a:t>However, “adding an extra layer to a model that is failing and already has many layers in the hopes that it will suddenly fix it” is often foolish and will have limited results.</a:t>
            </a:r>
          </a:p>
          <a:p>
            <a:pPr marL="0" indent="0">
              <a:buNone/>
            </a:pPr>
            <a:endParaRPr lang="en-GB" b="1" dirty="0"/>
          </a:p>
          <a:p>
            <a:pPr marL="0" indent="0">
              <a:buNone/>
            </a:pPr>
            <a:r>
              <a:rPr lang="en-GB" dirty="0"/>
              <a:t>You need enough layers to match the complexity of the task, anything beyond that is most likely overkill and will not help.</a:t>
            </a:r>
          </a:p>
          <a:p>
            <a:pPr marL="0" indent="0">
              <a:buNone/>
            </a:pPr>
            <a:endParaRPr lang="en-GB" dirty="0"/>
          </a:p>
          <a:p>
            <a:pPr marL="0" indent="0">
              <a:buNone/>
            </a:pPr>
            <a:r>
              <a:rPr lang="en-GB" dirty="0"/>
              <a:t>More often than not, you are NOT using the right </a:t>
            </a:r>
            <a:r>
              <a:rPr lang="en-GB" b="1" dirty="0"/>
              <a:t>TYPE</a:t>
            </a:r>
            <a:r>
              <a:rPr lang="en-GB" dirty="0"/>
              <a:t> of layers that fits the </a:t>
            </a:r>
            <a:r>
              <a:rPr lang="en-GB" b="1" dirty="0"/>
              <a:t>TYPE</a:t>
            </a:r>
            <a:r>
              <a:rPr lang="en-GB" dirty="0"/>
              <a:t> of data you are playing with (more on this later).</a:t>
            </a:r>
            <a:endParaRPr lang="en-SG" dirty="0"/>
          </a:p>
        </p:txBody>
      </p:sp>
      <p:pic>
        <p:nvPicPr>
          <p:cNvPr id="5" name="Picture 4">
            <a:extLst>
              <a:ext uri="{FF2B5EF4-FFF2-40B4-BE49-F238E27FC236}">
                <a16:creationId xmlns:a16="http://schemas.microsoft.com/office/drawing/2014/main" id="{FE0A3E21-3984-8C5A-965B-E30ADC13C25B}"/>
              </a:ext>
            </a:extLst>
          </p:cNvPr>
          <p:cNvPicPr>
            <a:picLocks noChangeAspect="1"/>
          </p:cNvPicPr>
          <p:nvPr/>
        </p:nvPicPr>
        <p:blipFill>
          <a:blip r:embed="rId2">
            <a:extLst>
              <a:ext uri="{28A0092B-C50C-407E-A947-70E740481C1C}">
                <a14:useLocalDpi xmlns:a14="http://schemas.microsoft.com/office/drawing/2010/main" val="0"/>
              </a:ext>
            </a:extLst>
          </a:blip>
          <a:srcRect l="19208" t="51631" r="16253" b="18298"/>
          <a:stretch>
            <a:fillRect/>
          </a:stretch>
        </p:blipFill>
        <p:spPr>
          <a:xfrm>
            <a:off x="1334310" y="580434"/>
            <a:ext cx="9348282" cy="5444604"/>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
        <p:nvSpPr>
          <p:cNvPr id="6" name="TextBox 5">
            <a:extLst>
              <a:ext uri="{FF2B5EF4-FFF2-40B4-BE49-F238E27FC236}">
                <a16:creationId xmlns:a16="http://schemas.microsoft.com/office/drawing/2014/main" id="{70A54348-A3B1-CD42-972B-BB53850DBD95}"/>
              </a:ext>
            </a:extLst>
          </p:cNvPr>
          <p:cNvSpPr txBox="1"/>
          <p:nvPr/>
        </p:nvSpPr>
        <p:spPr>
          <a:xfrm>
            <a:off x="1001949" y="6235430"/>
            <a:ext cx="10233498" cy="523220"/>
          </a:xfrm>
          <a:prstGeom prst="rect">
            <a:avLst/>
          </a:prstGeom>
          <a:noFill/>
        </p:spPr>
        <p:txBody>
          <a:bodyPr wrap="square" rtlCol="0">
            <a:spAutoFit/>
          </a:bodyPr>
          <a:lstStyle/>
          <a:p>
            <a:pPr algn="ctr"/>
            <a:r>
              <a:rPr lang="en-GB" sz="2800" b="1" dirty="0">
                <a:solidFill>
                  <a:schemeClr val="accent2"/>
                </a:solidFill>
              </a:rPr>
              <a:t>In fact, adding more layers will likely lead to more overfitting!</a:t>
            </a:r>
          </a:p>
        </p:txBody>
      </p:sp>
    </p:spTree>
    <p:extLst>
      <p:ext uri="{BB962C8B-B14F-4D97-AF65-F5344CB8AC3E}">
        <p14:creationId xmlns:p14="http://schemas.microsoft.com/office/powerpoint/2010/main" val="3539001733"/>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6552EF-9E6D-0F6B-DB33-9ACDE4E5915E}"/>
              </a:ext>
            </a:extLst>
          </p:cNvPr>
          <p:cNvSpPr>
            <a:spLocks noGrp="1"/>
          </p:cNvSpPr>
          <p:nvPr>
            <p:ph type="title"/>
          </p:nvPr>
        </p:nvSpPr>
        <p:spPr/>
        <p:txBody>
          <a:bodyPr/>
          <a:lstStyle/>
          <a:p>
            <a:r>
              <a:rPr lang="en-GB" dirty="0"/>
              <a:t>Lesson #2: Larger layers vs. More layers</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8E11F79-FF9C-E1A0-6116-34642E5A157A}"/>
                  </a:ext>
                </a:extLst>
              </p:cNvPr>
              <p:cNvSpPr>
                <a:spLocks noGrp="1"/>
              </p:cNvSpPr>
              <p:nvPr>
                <p:ph idx="1"/>
              </p:nvPr>
            </p:nvSpPr>
            <p:spPr>
              <a:xfrm>
                <a:off x="838200" y="1825624"/>
                <a:ext cx="10515600" cy="5032375"/>
              </a:xfrm>
            </p:spPr>
            <p:txBody>
              <a:bodyPr>
                <a:normAutofit lnSpcReduction="10000"/>
              </a:bodyPr>
              <a:lstStyle/>
              <a:p>
                <a:pPr marL="0" indent="0">
                  <a:buNone/>
                </a:pPr>
                <a:r>
                  <a:rPr lang="en-GB" dirty="0"/>
                  <a:t>In fact, it is often </a:t>
                </a:r>
                <a:r>
                  <a:rPr lang="en-GB" b="1" dirty="0"/>
                  <a:t>more beneficial to add more neurons to a layer</a:t>
                </a:r>
                <a:r>
                  <a:rPr lang="en-GB" dirty="0"/>
                  <a:t> (as you might have seen in task #3). As far as I know, there is no “ideal” mathematical formula for the number of neurons to use in a layer.</a:t>
                </a:r>
              </a:p>
              <a:p>
                <a:pPr marL="0" indent="0">
                  <a:buNone/>
                </a:pPr>
                <a:r>
                  <a:rPr lang="en-GB" dirty="0"/>
                  <a:t>But some people ([</a:t>
                </a:r>
                <a:r>
                  <a:rPr lang="en-GB" dirty="0" err="1"/>
                  <a:t>StackNN</a:t>
                </a:r>
                <a:r>
                  <a:rPr lang="en-GB" dirty="0"/>
                  <a:t>]) have been experimenting.</a:t>
                </a:r>
              </a:p>
              <a:p>
                <a:pPr marL="0" indent="0">
                  <a:buNone/>
                </a:pPr>
                <a:r>
                  <a:rPr lang="en-GB" dirty="0"/>
                  <a:t>A good rule of thumb could be to have a number of neurons in the first layer,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𝑁</m:t>
                        </m:r>
                      </m:e>
                      <m:sub>
                        <m:r>
                          <a:rPr lang="en-GB" b="0" i="1" smtClean="0">
                            <a:latin typeface="Cambria Math" panose="02040503050406030204" pitchFamily="18" charset="0"/>
                          </a:rPr>
                          <m:t>𝑛</m:t>
                        </m:r>
                      </m:sub>
                    </m:sSub>
                  </m:oMath>
                </a14:m>
                <a:r>
                  <a:rPr lang="en-GB" dirty="0"/>
                  <a:t>, such that:</a:t>
                </a:r>
                <a:br>
                  <a:rPr lang="en-GB" dirty="0"/>
                </a:br>
                <a:endParaRPr lang="en-GB" dirty="0"/>
              </a:p>
              <a:p>
                <a:pPr marL="0" indent="0">
                  <a:buNone/>
                </a:pPr>
                <a14:m>
                  <m:oMathPara xmlns:m="http://schemas.openxmlformats.org/officeDocument/2006/math">
                    <m:oMathParaPr>
                      <m:jc m:val="centerGroup"/>
                    </m:oMathParaPr>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𝑁</m:t>
                          </m:r>
                        </m:e>
                        <m:sub>
                          <m:r>
                            <a:rPr lang="en-GB" b="0" i="1" smtClean="0">
                              <a:latin typeface="Cambria Math" panose="02040503050406030204" pitchFamily="18" charset="0"/>
                            </a:rPr>
                            <m:t>𝑛</m:t>
                          </m:r>
                        </m:sub>
                      </m:sSub>
                      <m:r>
                        <a:rPr lang="en-GB" b="0" i="1" smtClean="0">
                          <a:latin typeface="Cambria Math" panose="02040503050406030204" pitchFamily="18" charset="0"/>
                        </a:rPr>
                        <m:t>=</m:t>
                      </m:r>
                      <m:f>
                        <m:fPr>
                          <m:ctrlPr>
                            <a:rPr lang="en-GB" b="0" i="1" smtClean="0">
                              <a:latin typeface="Cambria Math" panose="02040503050406030204" pitchFamily="18" charset="0"/>
                            </a:rPr>
                          </m:ctrlPr>
                        </m:fPr>
                        <m:num>
                          <m:sSub>
                            <m:sSubPr>
                              <m:ctrlPr>
                                <a:rPr lang="en-GB" b="0" i="1" smtClean="0">
                                  <a:latin typeface="Cambria Math" panose="02040503050406030204" pitchFamily="18" charset="0"/>
                                </a:rPr>
                              </m:ctrlPr>
                            </m:sSubPr>
                            <m:e>
                              <m:r>
                                <a:rPr lang="en-GB" b="0" i="1" smtClean="0">
                                  <a:latin typeface="Cambria Math" panose="02040503050406030204" pitchFamily="18" charset="0"/>
                                </a:rPr>
                                <m:t>𝑁</m:t>
                              </m:r>
                            </m:e>
                            <m:sub>
                              <m:r>
                                <a:rPr lang="en-GB" b="0" i="1" smtClean="0">
                                  <a:latin typeface="Cambria Math" panose="02040503050406030204" pitchFamily="18" charset="0"/>
                                </a:rPr>
                                <m:t>𝑠</m:t>
                              </m:r>
                            </m:sub>
                          </m:sSub>
                        </m:num>
                        <m:den>
                          <m:d>
                            <m:dPr>
                              <m:ctrlPr>
                                <a:rPr lang="en-GB" b="0" i="1" smtClean="0">
                                  <a:latin typeface="Cambria Math" panose="02040503050406030204" pitchFamily="18" charset="0"/>
                                </a:rPr>
                              </m:ctrlPr>
                            </m:dPr>
                            <m:e>
                              <m:sSub>
                                <m:sSubPr>
                                  <m:ctrlPr>
                                    <a:rPr lang="en-GB" b="0" i="1" smtClean="0">
                                      <a:latin typeface="Cambria Math" panose="02040503050406030204" pitchFamily="18" charset="0"/>
                                    </a:rPr>
                                  </m:ctrlPr>
                                </m:sSubPr>
                                <m:e>
                                  <m:r>
                                    <a:rPr lang="en-GB" b="0" i="1" smtClean="0">
                                      <a:latin typeface="Cambria Math" panose="02040503050406030204" pitchFamily="18" charset="0"/>
                                    </a:rPr>
                                    <m:t>𝑁</m:t>
                                  </m:r>
                                </m:e>
                                <m:sub>
                                  <m:r>
                                    <a:rPr lang="en-GB" b="0" i="1" smtClean="0">
                                      <a:latin typeface="Cambria Math" panose="02040503050406030204" pitchFamily="18" charset="0"/>
                                    </a:rPr>
                                    <m:t>𝑖</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𝑁</m:t>
                                  </m:r>
                                </m:e>
                                <m:sub>
                                  <m:r>
                                    <a:rPr lang="en-GB" b="0" i="1" smtClean="0">
                                      <a:latin typeface="Cambria Math" panose="02040503050406030204" pitchFamily="18" charset="0"/>
                                    </a:rPr>
                                    <m:t>𝑜</m:t>
                                  </m:r>
                                </m:sub>
                              </m:sSub>
                            </m:e>
                          </m:d>
                          <m:r>
                            <a:rPr lang="en-GB" b="0" i="1" smtClean="0">
                              <a:latin typeface="Cambria Math" panose="02040503050406030204" pitchFamily="18" charset="0"/>
                            </a:rPr>
                            <m:t>𝛾</m:t>
                          </m:r>
                        </m:den>
                      </m:f>
                    </m:oMath>
                  </m:oMathPara>
                </a14:m>
                <a:br>
                  <a:rPr lang="en-GB" b="0" dirty="0"/>
                </a:br>
                <a:endParaRPr lang="en-GB" b="0" dirty="0"/>
              </a:p>
              <a:p>
                <a:pPr marL="0" indent="0">
                  <a:buNone/>
                </a:pPr>
                <a:br>
                  <a:rPr lang="en-GB" dirty="0"/>
                </a:br>
                <a:r>
                  <a:rPr lang="en-GB" dirty="0"/>
                  <a:t>With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𝑁</m:t>
                        </m:r>
                      </m:e>
                      <m:sub>
                        <m:r>
                          <a:rPr lang="en-GB" b="0" i="1" smtClean="0">
                            <a:latin typeface="Cambria Math" panose="02040503050406030204" pitchFamily="18" charset="0"/>
                          </a:rPr>
                          <m:t>𝑠</m:t>
                        </m:r>
                      </m:sub>
                    </m:sSub>
                  </m:oMath>
                </a14:m>
                <a:r>
                  <a:rPr lang="en-GB" dirty="0"/>
                  <a:t> the number of samples in dataset, </a:t>
                </a:r>
                <a14:m>
                  <m:oMath xmlns:m="http://schemas.openxmlformats.org/officeDocument/2006/math">
                    <m:sSub>
                      <m:sSubPr>
                        <m:ctrlPr>
                          <a:rPr lang="en-GB" i="1">
                            <a:latin typeface="Cambria Math" panose="02040503050406030204" pitchFamily="18" charset="0"/>
                          </a:rPr>
                        </m:ctrlPr>
                      </m:sSubPr>
                      <m:e>
                        <m:r>
                          <a:rPr lang="en-GB" i="1">
                            <a:latin typeface="Cambria Math" panose="02040503050406030204" pitchFamily="18" charset="0"/>
                          </a:rPr>
                          <m:t>𝑁</m:t>
                        </m:r>
                      </m:e>
                      <m:sub>
                        <m:r>
                          <a:rPr lang="en-GB" b="0" i="1" smtClean="0">
                            <a:latin typeface="Cambria Math" panose="02040503050406030204" pitchFamily="18" charset="0"/>
                          </a:rPr>
                          <m:t>𝑖</m:t>
                        </m:r>
                      </m:sub>
                    </m:sSub>
                  </m:oMath>
                </a14:m>
                <a:r>
                  <a:rPr lang="en-GB" dirty="0"/>
                  <a:t> the number of inputs</a:t>
                </a:r>
                <a:br>
                  <a:rPr lang="en-GB" dirty="0"/>
                </a:br>
                <a:r>
                  <a:rPr lang="en-GB" dirty="0"/>
                  <a:t>(or inputs dimensionality),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𝑁</m:t>
                        </m:r>
                      </m:e>
                      <m:sub>
                        <m:r>
                          <a:rPr lang="en-GB" b="0" i="1" smtClean="0">
                            <a:latin typeface="Cambria Math" panose="02040503050406030204" pitchFamily="18" charset="0"/>
                          </a:rPr>
                          <m:t>𝑜</m:t>
                        </m:r>
                      </m:sub>
                    </m:sSub>
                  </m:oMath>
                </a14:m>
                <a:r>
                  <a:rPr lang="en-GB" dirty="0"/>
                  <a:t> the outputs dimensionality and </a:t>
                </a:r>
                <a14:m>
                  <m:oMath xmlns:m="http://schemas.openxmlformats.org/officeDocument/2006/math">
                    <m:r>
                      <a:rPr lang="en-GB" i="1">
                        <a:latin typeface="Cambria Math" panose="02040503050406030204" pitchFamily="18" charset="0"/>
                      </a:rPr>
                      <m:t>𝛾</m:t>
                    </m:r>
                  </m:oMath>
                </a14:m>
                <a:r>
                  <a:rPr lang="en-GB" dirty="0"/>
                  <a:t> a value between 2 and 20.</a:t>
                </a:r>
              </a:p>
              <a:p>
                <a:endParaRPr lang="en-GB" dirty="0"/>
              </a:p>
              <a:p>
                <a:endParaRPr lang="en-GB" dirty="0"/>
              </a:p>
            </p:txBody>
          </p:sp>
        </mc:Choice>
        <mc:Fallback xmlns="">
          <p:sp>
            <p:nvSpPr>
              <p:cNvPr id="3" name="Content Placeholder 2">
                <a:extLst>
                  <a:ext uri="{FF2B5EF4-FFF2-40B4-BE49-F238E27FC236}">
                    <a16:creationId xmlns:a16="http://schemas.microsoft.com/office/drawing/2014/main" id="{D8E11F79-FF9C-E1A0-6116-34642E5A157A}"/>
                  </a:ext>
                </a:extLst>
              </p:cNvPr>
              <p:cNvSpPr>
                <a:spLocks noGrp="1" noRot="1" noChangeAspect="1" noMove="1" noResize="1" noEditPoints="1" noAdjustHandles="1" noChangeArrowheads="1" noChangeShapeType="1" noTextEdit="1"/>
              </p:cNvSpPr>
              <p:nvPr>
                <p:ph idx="1"/>
              </p:nvPr>
            </p:nvSpPr>
            <p:spPr>
              <a:xfrm>
                <a:off x="838200" y="1825624"/>
                <a:ext cx="10515600" cy="5032375"/>
              </a:xfrm>
              <a:blipFill>
                <a:blip r:embed="rId2"/>
                <a:stretch>
                  <a:fillRect l="-1217" t="-2663" r="-1275" b="-3148"/>
                </a:stretch>
              </a:blipFill>
            </p:spPr>
            <p:txBody>
              <a:bodyPr/>
              <a:lstStyle/>
              <a:p>
                <a:r>
                  <a:rPr lang="en-GB">
                    <a:noFill/>
                  </a:rPr>
                  <a:t> </a:t>
                </a:r>
              </a:p>
            </p:txBody>
          </p:sp>
        </mc:Fallback>
      </mc:AlternateContent>
    </p:spTree>
    <p:extLst>
      <p:ext uri="{BB962C8B-B14F-4D97-AF65-F5344CB8AC3E}">
        <p14:creationId xmlns:p14="http://schemas.microsoft.com/office/powerpoint/2010/main" val="369238072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6552EF-9E6D-0F6B-DB33-9ACDE4E5915E}"/>
              </a:ext>
            </a:extLst>
          </p:cNvPr>
          <p:cNvSpPr>
            <a:spLocks noGrp="1"/>
          </p:cNvSpPr>
          <p:nvPr>
            <p:ph type="title"/>
          </p:nvPr>
        </p:nvSpPr>
        <p:spPr/>
        <p:txBody>
          <a:bodyPr/>
          <a:lstStyle/>
          <a:p>
            <a:r>
              <a:rPr lang="en-GB" dirty="0"/>
              <a:t>Lesson #2: Larger layers vs. More layers</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8E11F79-FF9C-E1A0-6116-34642E5A157A}"/>
                  </a:ext>
                </a:extLst>
              </p:cNvPr>
              <p:cNvSpPr>
                <a:spLocks noGrp="1"/>
              </p:cNvSpPr>
              <p:nvPr>
                <p:ph idx="1"/>
              </p:nvPr>
            </p:nvSpPr>
            <p:spPr>
              <a:xfrm>
                <a:off x="838200" y="1825624"/>
                <a:ext cx="10515600" cy="5032375"/>
              </a:xfrm>
            </p:spPr>
            <p:txBody>
              <a:bodyPr>
                <a:normAutofit/>
              </a:bodyPr>
              <a:lstStyle/>
              <a:p>
                <a:pPr marL="0" indent="0">
                  <a:buNone/>
                </a:pPr>
                <a:r>
                  <a:rPr lang="en-GB" dirty="0"/>
                  <a:t>After the number of neurons for the first layer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𝑁</m:t>
                        </m:r>
                      </m:e>
                      <m:sub>
                        <m:sSub>
                          <m:sSubPr>
                            <m:ctrlPr>
                              <a:rPr lang="en-GB" b="0" i="1" smtClean="0">
                                <a:latin typeface="Cambria Math" panose="02040503050406030204" pitchFamily="18" charset="0"/>
                              </a:rPr>
                            </m:ctrlPr>
                          </m:sSubPr>
                          <m:e>
                            <m:r>
                              <a:rPr lang="en-GB" b="0" i="1" smtClean="0">
                                <a:latin typeface="Cambria Math" panose="02040503050406030204" pitchFamily="18" charset="0"/>
                              </a:rPr>
                              <m:t>h</m:t>
                            </m:r>
                          </m:e>
                          <m:sub>
                            <m:r>
                              <a:rPr lang="en-GB" b="0" i="1" smtClean="0">
                                <a:latin typeface="Cambria Math" panose="02040503050406030204" pitchFamily="18" charset="0"/>
                              </a:rPr>
                              <m:t>1</m:t>
                            </m:r>
                          </m:sub>
                        </m:sSub>
                      </m:sub>
                    </m:sSub>
                  </m:oMath>
                </a14:m>
                <a:r>
                  <a:rPr lang="en-GB" dirty="0"/>
                  <a:t> has been decided, it is often commonly accepted to have the number of neurons:</a:t>
                </a:r>
              </a:p>
              <a:p>
                <a:r>
                  <a:rPr lang="en-GB" b="1" dirty="0"/>
                  <a:t>Be a power of two (for binary reasons, except for inputs and outputs, where you should have what the dataset requires)</a:t>
                </a:r>
              </a:p>
              <a:p>
                <a:r>
                  <a:rPr lang="en-GB" b="1" dirty="0"/>
                  <a:t>And progressively decrease, for instance dividing by two (or more) the number of neurons after each layer.</a:t>
                </a:r>
              </a:p>
              <a:p>
                <a:pPr marL="0" indent="0">
                  <a:buNone/>
                </a:pPr>
                <a:endParaRPr lang="en-GB" b="1" dirty="0"/>
              </a:p>
              <a:p>
                <a:pPr marL="0" indent="0">
                  <a:buNone/>
                </a:pPr>
                <a14:m>
                  <m:oMathPara xmlns:m="http://schemas.openxmlformats.org/officeDocument/2006/math">
                    <m:oMathParaPr>
                      <m:jc m:val="centerGroup"/>
                    </m:oMathParaPr>
                    <m:oMath xmlns:m="http://schemas.openxmlformats.org/officeDocument/2006/math">
                      <m:sSub>
                        <m:sSubPr>
                          <m:ctrlPr>
                            <a:rPr lang="en-GB" i="1" smtClean="0">
                              <a:latin typeface="Cambria Math" panose="02040503050406030204" pitchFamily="18" charset="0"/>
                            </a:rPr>
                          </m:ctrlPr>
                        </m:sSubPr>
                        <m:e>
                          <m:r>
                            <a:rPr lang="en-GB" i="1">
                              <a:latin typeface="Cambria Math" panose="02040503050406030204" pitchFamily="18" charset="0"/>
                            </a:rPr>
                            <m:t>𝑁</m:t>
                          </m:r>
                        </m:e>
                        <m:sub>
                          <m:r>
                            <a:rPr lang="en-GB" b="0" i="1" smtClean="0">
                              <a:latin typeface="Cambria Math" panose="02040503050406030204" pitchFamily="18" charset="0"/>
                            </a:rPr>
                            <m:t>𝑥</m:t>
                          </m:r>
                        </m:sub>
                      </m:sSub>
                      <m:r>
                        <a:rPr lang="en-GB" b="1" i="0" smtClean="0">
                          <a:latin typeface="Cambria Math" panose="02040503050406030204" pitchFamily="18" charset="0"/>
                        </a:rPr>
                        <m:t>=</m:t>
                      </m:r>
                      <m:r>
                        <a:rPr lang="en-GB" b="0" i="0" smtClean="0">
                          <a:latin typeface="Cambria Math" panose="02040503050406030204" pitchFamily="18" charset="0"/>
                        </a:rPr>
                        <m:t>4</m:t>
                      </m:r>
                      <m:r>
                        <a:rPr lang="en-GB" b="0" i="1" smtClean="0">
                          <a:solidFill>
                            <a:srgbClr val="FF0000"/>
                          </a:solidFill>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𝑁</m:t>
                          </m:r>
                        </m:e>
                        <m:sub>
                          <m:sSub>
                            <m:sSubPr>
                              <m:ctrlPr>
                                <a:rPr lang="en-GB" b="0" i="1" smtClean="0">
                                  <a:latin typeface="Cambria Math" panose="02040503050406030204" pitchFamily="18" charset="0"/>
                                </a:rPr>
                              </m:ctrlPr>
                            </m:sSubPr>
                            <m:e>
                              <m:r>
                                <a:rPr lang="en-GB" b="0" i="1" smtClean="0">
                                  <a:latin typeface="Cambria Math" panose="02040503050406030204" pitchFamily="18" charset="0"/>
                                </a:rPr>
                                <m:t>h</m:t>
                              </m:r>
                            </m:e>
                            <m:sub>
                              <m:r>
                                <a:rPr lang="en-GB" b="0" i="1" smtClean="0">
                                  <a:latin typeface="Cambria Math" panose="02040503050406030204" pitchFamily="18" charset="0"/>
                                </a:rPr>
                                <m:t>1</m:t>
                              </m:r>
                            </m:sub>
                          </m:sSub>
                        </m:sub>
                      </m:sSub>
                      <m:r>
                        <a:rPr lang="en-GB" i="1">
                          <a:latin typeface="Cambria Math" panose="02040503050406030204" pitchFamily="18" charset="0"/>
                        </a:rPr>
                        <m:t>=</m:t>
                      </m:r>
                      <m:r>
                        <a:rPr lang="en-GB" b="0" i="1" smtClean="0">
                          <a:latin typeface="Cambria Math" panose="02040503050406030204" pitchFamily="18" charset="0"/>
                        </a:rPr>
                        <m:t>16</m:t>
                      </m:r>
                      <m:r>
                        <a:rPr lang="en-GB" b="0" i="1" smtClean="0">
                          <a:solidFill>
                            <a:srgbClr val="FF0000"/>
                          </a:solidFill>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𝑁</m:t>
                          </m:r>
                        </m:e>
                        <m:sub>
                          <m:sSub>
                            <m:sSubPr>
                              <m:ctrlPr>
                                <a:rPr lang="en-GB" i="1">
                                  <a:latin typeface="Cambria Math" panose="02040503050406030204" pitchFamily="18" charset="0"/>
                                </a:rPr>
                              </m:ctrlPr>
                            </m:sSubPr>
                            <m:e>
                              <m:r>
                                <a:rPr lang="en-GB" i="1">
                                  <a:latin typeface="Cambria Math" panose="02040503050406030204" pitchFamily="18" charset="0"/>
                                </a:rPr>
                                <m:t>h</m:t>
                              </m:r>
                            </m:e>
                            <m:sub>
                              <m:r>
                                <a:rPr lang="en-GB" b="0" i="1" smtClean="0">
                                  <a:latin typeface="Cambria Math" panose="02040503050406030204" pitchFamily="18" charset="0"/>
                                </a:rPr>
                                <m:t>2</m:t>
                              </m:r>
                            </m:sub>
                          </m:sSub>
                        </m:sub>
                      </m:sSub>
                      <m:r>
                        <a:rPr lang="en-GB" i="1">
                          <a:latin typeface="Cambria Math" panose="02040503050406030204" pitchFamily="18" charset="0"/>
                        </a:rPr>
                        <m:t>=</m:t>
                      </m:r>
                      <m:r>
                        <a:rPr lang="en-GB" b="0" i="1" smtClean="0">
                          <a:latin typeface="Cambria Math" panose="02040503050406030204" pitchFamily="18" charset="0"/>
                        </a:rPr>
                        <m:t>8</m:t>
                      </m:r>
                      <m:r>
                        <a:rPr lang="en-GB" b="0" i="1" smtClean="0">
                          <a:solidFill>
                            <a:srgbClr val="FF0000"/>
                          </a:solidFill>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𝑁</m:t>
                          </m:r>
                        </m:e>
                        <m:sub>
                          <m:sSub>
                            <m:sSubPr>
                              <m:ctrlPr>
                                <a:rPr lang="en-GB" i="1">
                                  <a:latin typeface="Cambria Math" panose="02040503050406030204" pitchFamily="18" charset="0"/>
                                </a:rPr>
                              </m:ctrlPr>
                            </m:sSubPr>
                            <m:e>
                              <m:r>
                                <a:rPr lang="en-GB" i="1">
                                  <a:latin typeface="Cambria Math" panose="02040503050406030204" pitchFamily="18" charset="0"/>
                                </a:rPr>
                                <m:t>h</m:t>
                              </m:r>
                            </m:e>
                            <m:sub>
                              <m:r>
                                <a:rPr lang="en-GB" b="0" i="1" smtClean="0">
                                  <a:latin typeface="Cambria Math" panose="02040503050406030204" pitchFamily="18" charset="0"/>
                                </a:rPr>
                                <m:t>3</m:t>
                              </m:r>
                            </m:sub>
                          </m:sSub>
                        </m:sub>
                      </m:sSub>
                      <m:r>
                        <a:rPr lang="en-GB" i="1">
                          <a:latin typeface="Cambria Math" panose="02040503050406030204" pitchFamily="18" charset="0"/>
                        </a:rPr>
                        <m:t>=</m:t>
                      </m:r>
                      <m:r>
                        <a:rPr lang="en-GB" b="0" i="1" smtClean="0">
                          <a:latin typeface="Cambria Math" panose="02040503050406030204" pitchFamily="18" charset="0"/>
                        </a:rPr>
                        <m:t>4</m:t>
                      </m:r>
                      <m:r>
                        <a:rPr lang="en-GB" b="0" i="1" smtClean="0">
                          <a:solidFill>
                            <a:srgbClr val="FF0000"/>
                          </a:solidFill>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𝑁</m:t>
                          </m:r>
                        </m:e>
                        <m:sub>
                          <m:r>
                            <a:rPr lang="en-GB" b="0" i="1" smtClean="0">
                              <a:latin typeface="Cambria Math" panose="02040503050406030204" pitchFamily="18" charset="0"/>
                            </a:rPr>
                            <m:t>𝑦</m:t>
                          </m:r>
                        </m:sub>
                      </m:sSub>
                      <m:r>
                        <a:rPr lang="en-GB" i="1">
                          <a:latin typeface="Cambria Math" panose="02040503050406030204" pitchFamily="18" charset="0"/>
                        </a:rPr>
                        <m:t>=1</m:t>
                      </m:r>
                    </m:oMath>
                  </m:oMathPara>
                </a14:m>
                <a:br>
                  <a:rPr lang="en-GB" dirty="0"/>
                </a:br>
                <a:endParaRPr lang="en-GB" dirty="0"/>
              </a:p>
              <a:p>
                <a:pPr marL="0" indent="0" algn="ctr">
                  <a:buNone/>
                </a:pPr>
                <a:br>
                  <a:rPr lang="en-GB" b="1" dirty="0">
                    <a:solidFill>
                      <a:srgbClr val="FF0000"/>
                    </a:solidFill>
                  </a:rPr>
                </a:br>
                <a:r>
                  <a:rPr lang="en-GB" b="1" dirty="0">
                    <a:solidFill>
                      <a:srgbClr val="FF0000"/>
                    </a:solidFill>
                  </a:rPr>
                  <a:t>These are not absolute rules (ever heard of NFL?), however, so go ahead and experiment!</a:t>
                </a:r>
              </a:p>
            </p:txBody>
          </p:sp>
        </mc:Choice>
        <mc:Fallback xmlns="">
          <p:sp>
            <p:nvSpPr>
              <p:cNvPr id="3" name="Content Placeholder 2">
                <a:extLst>
                  <a:ext uri="{FF2B5EF4-FFF2-40B4-BE49-F238E27FC236}">
                    <a16:creationId xmlns:a16="http://schemas.microsoft.com/office/drawing/2014/main" id="{D8E11F79-FF9C-E1A0-6116-34642E5A157A}"/>
                  </a:ext>
                </a:extLst>
              </p:cNvPr>
              <p:cNvSpPr>
                <a:spLocks noGrp="1" noRot="1" noChangeAspect="1" noMove="1" noResize="1" noEditPoints="1" noAdjustHandles="1" noChangeArrowheads="1" noChangeShapeType="1" noTextEdit="1"/>
              </p:cNvSpPr>
              <p:nvPr>
                <p:ph idx="1"/>
              </p:nvPr>
            </p:nvSpPr>
            <p:spPr>
              <a:xfrm>
                <a:off x="838200" y="1825624"/>
                <a:ext cx="10515600" cy="5032375"/>
              </a:xfrm>
              <a:blipFill>
                <a:blip r:embed="rId2"/>
                <a:stretch>
                  <a:fillRect l="-1217" t="-1695" r="-1101" b="-605"/>
                </a:stretch>
              </a:blipFill>
            </p:spPr>
            <p:txBody>
              <a:bodyPr/>
              <a:lstStyle/>
              <a:p>
                <a:r>
                  <a:rPr lang="en-GB">
                    <a:noFill/>
                  </a:rPr>
                  <a:t> </a:t>
                </a:r>
              </a:p>
            </p:txBody>
          </p:sp>
        </mc:Fallback>
      </mc:AlternateContent>
    </p:spTree>
    <p:extLst>
      <p:ext uri="{BB962C8B-B14F-4D97-AF65-F5344CB8AC3E}">
        <p14:creationId xmlns:p14="http://schemas.microsoft.com/office/powerpoint/2010/main" val="235314173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218DB6-D354-E336-2986-E32EFFEBB60E}"/>
              </a:ext>
            </a:extLst>
          </p:cNvPr>
          <p:cNvSpPr>
            <a:spLocks noGrp="1"/>
          </p:cNvSpPr>
          <p:nvPr>
            <p:ph type="title"/>
          </p:nvPr>
        </p:nvSpPr>
        <p:spPr/>
        <p:txBody>
          <a:bodyPr/>
          <a:lstStyle/>
          <a:p>
            <a:pPr algn="ctr"/>
            <a:r>
              <a:rPr lang="en-GB" dirty="0"/>
              <a:t>A friendly reminder, though,</a:t>
            </a:r>
            <a:br>
              <a:rPr lang="en-GB" dirty="0"/>
            </a:br>
            <a:r>
              <a:rPr lang="en-GB" dirty="0"/>
              <a:t>in case you still do not get it</a:t>
            </a:r>
            <a:endParaRPr lang="en-SG" dirty="0"/>
          </a:p>
        </p:txBody>
      </p:sp>
      <p:pic>
        <p:nvPicPr>
          <p:cNvPr id="6" name="Picture 5">
            <a:extLst>
              <a:ext uri="{FF2B5EF4-FFF2-40B4-BE49-F238E27FC236}">
                <a16:creationId xmlns:a16="http://schemas.microsoft.com/office/drawing/2014/main" id="{FCAA24B0-842E-AC7D-0C47-BE3473ABC081}"/>
              </a:ext>
            </a:extLst>
          </p:cNvPr>
          <p:cNvPicPr>
            <a:picLocks noChangeAspect="1"/>
          </p:cNvPicPr>
          <p:nvPr/>
        </p:nvPicPr>
        <p:blipFill>
          <a:blip r:embed="rId2"/>
          <a:stretch>
            <a:fillRect/>
          </a:stretch>
        </p:blipFill>
        <p:spPr>
          <a:xfrm>
            <a:off x="3601760" y="1877960"/>
            <a:ext cx="4988479" cy="4791305"/>
          </a:xfrm>
          <a:prstGeom prst="rect">
            <a:avLst/>
          </a:prstGeom>
        </p:spPr>
      </p:pic>
    </p:spTree>
    <p:extLst>
      <p:ext uri="{BB962C8B-B14F-4D97-AF65-F5344CB8AC3E}">
        <p14:creationId xmlns:p14="http://schemas.microsoft.com/office/powerpoint/2010/main" val="114495857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A08BA8-9DEC-4471-8590-434E8D8BB4A0}"/>
              </a:ext>
            </a:extLst>
          </p:cNvPr>
          <p:cNvSpPr>
            <a:spLocks noGrp="1"/>
          </p:cNvSpPr>
          <p:nvPr>
            <p:ph type="title"/>
          </p:nvPr>
        </p:nvSpPr>
        <p:spPr/>
        <p:txBody>
          <a:bodyPr/>
          <a:lstStyle/>
          <a:p>
            <a:r>
              <a:rPr lang="en-US" dirty="0"/>
              <a:t>Conclusion (Week 2)</a:t>
            </a:r>
            <a:endParaRPr lang="en-GB" dirty="0"/>
          </a:p>
        </p:txBody>
      </p:sp>
      <p:sp>
        <p:nvSpPr>
          <p:cNvPr id="3" name="Content Placeholder 2">
            <a:extLst>
              <a:ext uri="{FF2B5EF4-FFF2-40B4-BE49-F238E27FC236}">
                <a16:creationId xmlns:a16="http://schemas.microsoft.com/office/drawing/2014/main" id="{47E3549C-D723-41E6-8478-270ACE043694}"/>
              </a:ext>
            </a:extLst>
          </p:cNvPr>
          <p:cNvSpPr>
            <a:spLocks noGrp="1"/>
          </p:cNvSpPr>
          <p:nvPr>
            <p:ph sz="half" idx="1"/>
          </p:nvPr>
        </p:nvSpPr>
        <p:spPr>
          <a:xfrm>
            <a:off x="838200" y="1825624"/>
            <a:ext cx="5257800" cy="5032375"/>
          </a:xfrm>
        </p:spPr>
        <p:txBody>
          <a:bodyPr>
            <a:normAutofit/>
          </a:bodyPr>
          <a:lstStyle/>
          <a:p>
            <a:r>
              <a:rPr lang="en-GB" dirty="0"/>
              <a:t>The no free lunch theorem, again</a:t>
            </a:r>
          </a:p>
          <a:p>
            <a:r>
              <a:rPr lang="en-GB" dirty="0"/>
              <a:t>Train-test-validation split</a:t>
            </a:r>
          </a:p>
          <a:p>
            <a:r>
              <a:rPr lang="en-GB" dirty="0"/>
              <a:t>Early stopping</a:t>
            </a:r>
          </a:p>
          <a:p>
            <a:r>
              <a:rPr lang="en-GB" dirty="0"/>
              <a:t>Saver and loader functions</a:t>
            </a:r>
          </a:p>
          <a:p>
            <a:r>
              <a:rPr lang="en-GB" dirty="0"/>
              <a:t>A few more commonly accepted good practices</a:t>
            </a:r>
          </a:p>
        </p:txBody>
      </p:sp>
      <p:sp>
        <p:nvSpPr>
          <p:cNvPr id="4" name="Content Placeholder 3">
            <a:extLst>
              <a:ext uri="{FF2B5EF4-FFF2-40B4-BE49-F238E27FC236}">
                <a16:creationId xmlns:a16="http://schemas.microsoft.com/office/drawing/2014/main" id="{7E420A50-DCDA-4FEF-986F-775F53063E3A}"/>
              </a:ext>
            </a:extLst>
          </p:cNvPr>
          <p:cNvSpPr>
            <a:spLocks noGrp="1"/>
          </p:cNvSpPr>
          <p:nvPr>
            <p:ph sz="half" idx="2"/>
          </p:nvPr>
        </p:nvSpPr>
        <p:spPr>
          <a:xfrm>
            <a:off x="6172200" y="1825624"/>
            <a:ext cx="5181600" cy="5032375"/>
          </a:xfrm>
        </p:spPr>
        <p:txBody>
          <a:bodyPr>
            <a:normAutofit/>
          </a:bodyPr>
          <a:lstStyle/>
          <a:p>
            <a:pPr marL="0" indent="0">
              <a:buNone/>
            </a:pPr>
            <a:r>
              <a:rPr lang="en-GB" b="1" dirty="0"/>
              <a:t>Next week?</a:t>
            </a:r>
            <a:endParaRPr lang="en-GB" dirty="0"/>
          </a:p>
          <a:p>
            <a:r>
              <a:rPr lang="en-GB" dirty="0"/>
              <a:t>Introduction to </a:t>
            </a:r>
            <a:r>
              <a:rPr lang="en-GB" dirty="0" err="1"/>
              <a:t>PyTorch</a:t>
            </a:r>
            <a:r>
              <a:rPr lang="en-GB" dirty="0"/>
              <a:t> framework and tensors</a:t>
            </a:r>
          </a:p>
          <a:p>
            <a:r>
              <a:rPr lang="en-GB" dirty="0"/>
              <a:t>Implementing shallow Neural Networks in </a:t>
            </a:r>
            <a:r>
              <a:rPr lang="en-GB" dirty="0" err="1"/>
              <a:t>PyTorch</a:t>
            </a:r>
            <a:endParaRPr lang="en-GB" dirty="0"/>
          </a:p>
          <a:p>
            <a:r>
              <a:rPr lang="en-GB" dirty="0"/>
              <a:t>The power of </a:t>
            </a:r>
            <a:r>
              <a:rPr lang="en-GB" dirty="0" err="1"/>
              <a:t>AutoGrad</a:t>
            </a:r>
            <a:r>
              <a:rPr lang="en-GB" dirty="0"/>
              <a:t> and CUDA processing</a:t>
            </a:r>
          </a:p>
          <a:p>
            <a:r>
              <a:rPr lang="en-GB" dirty="0"/>
              <a:t>Optimizers, initializers in </a:t>
            </a:r>
            <a:r>
              <a:rPr lang="en-GB" dirty="0" err="1"/>
              <a:t>PyTorch</a:t>
            </a:r>
            <a:endParaRPr lang="en-GB" dirty="0"/>
          </a:p>
          <a:p>
            <a:r>
              <a:rPr lang="en-GB" dirty="0"/>
              <a:t>Datasets and </a:t>
            </a:r>
            <a:r>
              <a:rPr lang="en-GB" dirty="0" err="1"/>
              <a:t>dataloaders</a:t>
            </a:r>
            <a:endParaRPr lang="en-GB" dirty="0"/>
          </a:p>
          <a:p>
            <a:r>
              <a:rPr lang="en-GB" dirty="0"/>
              <a:t>From shallow to deep NNs</a:t>
            </a:r>
          </a:p>
        </p:txBody>
      </p:sp>
    </p:spTree>
    <p:extLst>
      <p:ext uri="{BB962C8B-B14F-4D97-AF65-F5344CB8AC3E}">
        <p14:creationId xmlns:p14="http://schemas.microsoft.com/office/powerpoint/2010/main" val="1036081419"/>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E7F0E842-4644-CF1E-50C0-F47AEFAA97C7}"/>
              </a:ext>
            </a:extLst>
          </p:cNvPr>
          <p:cNvSpPr>
            <a:spLocks noGrp="1"/>
          </p:cNvSpPr>
          <p:nvPr>
            <p:ph type="title"/>
          </p:nvPr>
        </p:nvSpPr>
        <p:spPr/>
        <p:txBody>
          <a:bodyPr/>
          <a:lstStyle/>
          <a:p>
            <a:r>
              <a:rPr lang="en-GB" dirty="0"/>
              <a:t>Hyperparameters tuning and searching</a:t>
            </a:r>
            <a:endParaRPr lang="en-SG" dirty="0"/>
          </a:p>
        </p:txBody>
      </p:sp>
      <p:sp>
        <p:nvSpPr>
          <p:cNvPr id="3" name="Content Placeholder 2">
            <a:extLst>
              <a:ext uri="{FF2B5EF4-FFF2-40B4-BE49-F238E27FC236}">
                <a16:creationId xmlns:a16="http://schemas.microsoft.com/office/drawing/2014/main" id="{22FE9C94-E2A2-3EF4-0E00-C6BD6C7A59F7}"/>
              </a:ext>
            </a:extLst>
          </p:cNvPr>
          <p:cNvSpPr>
            <a:spLocks noGrp="1"/>
          </p:cNvSpPr>
          <p:nvPr>
            <p:ph sz="half" idx="1"/>
          </p:nvPr>
        </p:nvSpPr>
        <p:spPr>
          <a:xfrm>
            <a:off x="838200" y="1825624"/>
            <a:ext cx="5181600" cy="5032375"/>
          </a:xfrm>
        </p:spPr>
        <p:txBody>
          <a:bodyPr>
            <a:normAutofit/>
          </a:bodyPr>
          <a:lstStyle/>
          <a:p>
            <a:pPr marL="0" indent="0">
              <a:buNone/>
            </a:pPr>
            <a:r>
              <a:rPr lang="en-GB" b="1" dirty="0"/>
              <a:t>Definition (</a:t>
            </a:r>
            <a:r>
              <a:rPr lang="en-GB" b="1" dirty="0">
                <a:solidFill>
                  <a:srgbClr val="00B050"/>
                </a:solidFill>
              </a:rPr>
              <a:t>hyperparameters tuning and searching</a:t>
            </a:r>
            <a:r>
              <a:rPr lang="en-GB" b="1" dirty="0"/>
              <a:t>):</a:t>
            </a:r>
          </a:p>
          <a:p>
            <a:pPr marL="0" indent="0">
              <a:buNone/>
            </a:pPr>
            <a:r>
              <a:rPr lang="en-GB" dirty="0"/>
              <a:t>Earlier, we have identified that several parameters in our neural networks had to be manually decided by the user and called those </a:t>
            </a:r>
            <a:r>
              <a:rPr lang="en-GB" b="1" dirty="0">
                <a:solidFill>
                  <a:srgbClr val="00B050"/>
                </a:solidFill>
              </a:rPr>
              <a:t>hyperparameters</a:t>
            </a:r>
            <a:r>
              <a:rPr lang="en-GB" dirty="0"/>
              <a:t>.</a:t>
            </a:r>
          </a:p>
          <a:p>
            <a:pPr marL="0" indent="0">
              <a:buNone/>
            </a:pPr>
            <a:r>
              <a:rPr lang="en-GB" dirty="0"/>
              <a:t>Unfortunately, the </a:t>
            </a:r>
            <a:r>
              <a:rPr lang="en-GB" b="1" dirty="0"/>
              <a:t>NFL theorem </a:t>
            </a:r>
            <a:r>
              <a:rPr lang="en-GB" dirty="0"/>
              <a:t>tells us there is often </a:t>
            </a:r>
            <a:r>
              <a:rPr lang="en-GB" b="1" dirty="0"/>
              <a:t>no closed-form formula</a:t>
            </a:r>
            <a:r>
              <a:rPr lang="en-GB" dirty="0"/>
              <a:t> to tell you what is the </a:t>
            </a:r>
            <a:r>
              <a:rPr lang="en-GB" b="1" dirty="0"/>
              <a:t>best value to use for those </a:t>
            </a:r>
            <a:r>
              <a:rPr lang="en-GB" b="1" dirty="0">
                <a:solidFill>
                  <a:srgbClr val="00B050"/>
                </a:solidFill>
              </a:rPr>
              <a:t>hyperparameters</a:t>
            </a:r>
            <a:r>
              <a:rPr lang="en-GB" dirty="0"/>
              <a:t>.</a:t>
            </a:r>
            <a:endParaRPr lang="en-SG" dirty="0"/>
          </a:p>
        </p:txBody>
      </p:sp>
      <p:sp>
        <p:nvSpPr>
          <p:cNvPr id="7" name="Content Placeholder 6">
            <a:extLst>
              <a:ext uri="{FF2B5EF4-FFF2-40B4-BE49-F238E27FC236}">
                <a16:creationId xmlns:a16="http://schemas.microsoft.com/office/drawing/2014/main" id="{49136D8F-B9EF-6EE4-1C7D-9B7FF44C5281}"/>
              </a:ext>
            </a:extLst>
          </p:cNvPr>
          <p:cNvSpPr>
            <a:spLocks noGrp="1"/>
          </p:cNvSpPr>
          <p:nvPr>
            <p:ph sz="half" idx="2"/>
          </p:nvPr>
        </p:nvSpPr>
        <p:spPr>
          <a:xfrm>
            <a:off x="6172199" y="1825624"/>
            <a:ext cx="5879123" cy="5032375"/>
          </a:xfrm>
        </p:spPr>
        <p:txBody>
          <a:bodyPr>
            <a:normAutofit/>
          </a:bodyPr>
          <a:lstStyle/>
          <a:p>
            <a:pPr marL="0" indent="0">
              <a:buNone/>
            </a:pPr>
            <a:r>
              <a:rPr lang="en-GB" dirty="0"/>
              <a:t>Typical </a:t>
            </a:r>
            <a:r>
              <a:rPr lang="en-GB" b="1" dirty="0">
                <a:solidFill>
                  <a:srgbClr val="00B050"/>
                </a:solidFill>
              </a:rPr>
              <a:t>hyperparameters</a:t>
            </a:r>
            <a:r>
              <a:rPr lang="en-GB" dirty="0"/>
              <a:t> include:</a:t>
            </a:r>
          </a:p>
          <a:p>
            <a:r>
              <a:rPr lang="en-GB" dirty="0"/>
              <a:t>Number of layers and their sizes,</a:t>
            </a:r>
          </a:p>
          <a:p>
            <a:r>
              <a:rPr lang="en-GB" dirty="0"/>
              <a:t>Initializers to use for parameters,</a:t>
            </a:r>
          </a:p>
          <a:p>
            <a:r>
              <a:rPr lang="en-GB" dirty="0"/>
              <a:t>Activation functions to use,</a:t>
            </a:r>
          </a:p>
          <a:p>
            <a:r>
              <a:rPr lang="en-GB" dirty="0"/>
              <a:t>Learning rate, momentum and other parameters related to optimizers,</a:t>
            </a:r>
          </a:p>
          <a:p>
            <a:r>
              <a:rPr lang="en-GB" dirty="0"/>
              <a:t>Etc.</a:t>
            </a:r>
          </a:p>
          <a:p>
            <a:endParaRPr lang="en-GB" dirty="0"/>
          </a:p>
          <a:p>
            <a:pPr marL="0" indent="0">
              <a:buNone/>
            </a:pPr>
            <a:r>
              <a:rPr lang="en-GB" b="1" dirty="0"/>
              <a:t>No choice: </a:t>
            </a:r>
            <a:r>
              <a:rPr lang="en-GB" dirty="0"/>
              <a:t>try different values and possibilities. </a:t>
            </a:r>
            <a:r>
              <a:rPr lang="en-GB" b="1" dirty="0">
                <a:solidFill>
                  <a:srgbClr val="C00000"/>
                </a:solidFill>
              </a:rPr>
              <a:t>How to search?</a:t>
            </a:r>
          </a:p>
          <a:p>
            <a:endParaRPr lang="en-SG" dirty="0"/>
          </a:p>
        </p:txBody>
      </p:sp>
    </p:spTree>
    <p:extLst>
      <p:ext uri="{BB962C8B-B14F-4D97-AF65-F5344CB8AC3E}">
        <p14:creationId xmlns:p14="http://schemas.microsoft.com/office/powerpoint/2010/main" val="1567954153"/>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E7F0E842-4644-CF1E-50C0-F47AEFAA97C7}"/>
              </a:ext>
            </a:extLst>
          </p:cNvPr>
          <p:cNvSpPr>
            <a:spLocks noGrp="1"/>
          </p:cNvSpPr>
          <p:nvPr>
            <p:ph type="title"/>
          </p:nvPr>
        </p:nvSpPr>
        <p:spPr/>
        <p:txBody>
          <a:bodyPr/>
          <a:lstStyle/>
          <a:p>
            <a:r>
              <a:rPr lang="en-GB" dirty="0"/>
              <a:t>Hyperparameters tuning and searching</a:t>
            </a:r>
            <a:endParaRPr lang="en-SG" dirty="0"/>
          </a:p>
        </p:txBody>
      </p:sp>
      <p:sp>
        <p:nvSpPr>
          <p:cNvPr id="3" name="Content Placeholder 2">
            <a:extLst>
              <a:ext uri="{FF2B5EF4-FFF2-40B4-BE49-F238E27FC236}">
                <a16:creationId xmlns:a16="http://schemas.microsoft.com/office/drawing/2014/main" id="{22FE9C94-E2A2-3EF4-0E00-C6BD6C7A59F7}"/>
              </a:ext>
            </a:extLst>
          </p:cNvPr>
          <p:cNvSpPr>
            <a:spLocks noGrp="1"/>
          </p:cNvSpPr>
          <p:nvPr>
            <p:ph sz="half" idx="1"/>
          </p:nvPr>
        </p:nvSpPr>
        <p:spPr>
          <a:xfrm>
            <a:off x="838200" y="1825624"/>
            <a:ext cx="5181600" cy="5032375"/>
          </a:xfrm>
        </p:spPr>
        <p:txBody>
          <a:bodyPr>
            <a:normAutofit/>
          </a:bodyPr>
          <a:lstStyle/>
          <a:p>
            <a:pPr marL="0" indent="0">
              <a:buNone/>
            </a:pPr>
            <a:r>
              <a:rPr lang="en-GB" b="1" dirty="0"/>
              <a:t>Definition (</a:t>
            </a:r>
            <a:r>
              <a:rPr lang="en-GB" b="1" dirty="0">
                <a:solidFill>
                  <a:srgbClr val="00B050"/>
                </a:solidFill>
              </a:rPr>
              <a:t>hyperparameter grid searching</a:t>
            </a:r>
            <a:r>
              <a:rPr lang="en-GB" b="1" dirty="0"/>
              <a:t>):</a:t>
            </a:r>
          </a:p>
          <a:p>
            <a:pPr marL="0" indent="0">
              <a:buNone/>
            </a:pPr>
            <a:r>
              <a:rPr lang="en-SG" b="1" dirty="0">
                <a:solidFill>
                  <a:srgbClr val="00B050"/>
                </a:solidFill>
              </a:rPr>
              <a:t>Grid</a:t>
            </a:r>
            <a:r>
              <a:rPr lang="en-SG" dirty="0"/>
              <a:t> </a:t>
            </a:r>
            <a:r>
              <a:rPr lang="en-SG" b="1" dirty="0">
                <a:solidFill>
                  <a:srgbClr val="00B050"/>
                </a:solidFill>
              </a:rPr>
              <a:t>search</a:t>
            </a:r>
            <a:r>
              <a:rPr lang="en-SG" dirty="0"/>
              <a:t> is </a:t>
            </a:r>
            <a:r>
              <a:rPr lang="en-SG" b="1" dirty="0"/>
              <a:t>the simplest algorithm for hyperparameter tuning</a:t>
            </a:r>
            <a:r>
              <a:rPr lang="en-SG" dirty="0"/>
              <a:t>.</a:t>
            </a:r>
          </a:p>
          <a:p>
            <a:pPr marL="0" indent="0">
              <a:buNone/>
            </a:pPr>
            <a:r>
              <a:rPr lang="en-SG" dirty="0"/>
              <a:t>Basically, we divide the domain of possible values for each of the hyperparameters into a discrete grid. Then, we will try every combination of values of this grid, calculating some performance metrics.</a:t>
            </a:r>
          </a:p>
        </p:txBody>
      </p:sp>
      <p:pic>
        <p:nvPicPr>
          <p:cNvPr id="5" name="Picture 4" descr="Chart, diagram&#10;&#10;Description automatically generated">
            <a:extLst>
              <a:ext uri="{FF2B5EF4-FFF2-40B4-BE49-F238E27FC236}">
                <a16:creationId xmlns:a16="http://schemas.microsoft.com/office/drawing/2014/main" id="{45E73179-634A-C030-DA64-295791FD5EA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159561" y="2704123"/>
            <a:ext cx="5888715" cy="3360774"/>
          </a:xfrm>
          <a:prstGeom prst="rect">
            <a:avLst/>
          </a:prstGeom>
        </p:spPr>
      </p:pic>
    </p:spTree>
    <p:extLst>
      <p:ext uri="{BB962C8B-B14F-4D97-AF65-F5344CB8AC3E}">
        <p14:creationId xmlns:p14="http://schemas.microsoft.com/office/powerpoint/2010/main" val="252546996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E7F0E842-4644-CF1E-50C0-F47AEFAA97C7}"/>
              </a:ext>
            </a:extLst>
          </p:cNvPr>
          <p:cNvSpPr>
            <a:spLocks noGrp="1"/>
          </p:cNvSpPr>
          <p:nvPr>
            <p:ph type="title"/>
          </p:nvPr>
        </p:nvSpPr>
        <p:spPr/>
        <p:txBody>
          <a:bodyPr/>
          <a:lstStyle/>
          <a:p>
            <a:r>
              <a:rPr lang="en-GB" dirty="0"/>
              <a:t>Hyperparameters tuning and searching</a:t>
            </a:r>
            <a:endParaRPr lang="en-SG" dirty="0"/>
          </a:p>
        </p:txBody>
      </p:sp>
      <p:sp>
        <p:nvSpPr>
          <p:cNvPr id="3" name="Content Placeholder 2">
            <a:extLst>
              <a:ext uri="{FF2B5EF4-FFF2-40B4-BE49-F238E27FC236}">
                <a16:creationId xmlns:a16="http://schemas.microsoft.com/office/drawing/2014/main" id="{22FE9C94-E2A2-3EF4-0E00-C6BD6C7A59F7}"/>
              </a:ext>
            </a:extLst>
          </p:cNvPr>
          <p:cNvSpPr>
            <a:spLocks noGrp="1"/>
          </p:cNvSpPr>
          <p:nvPr>
            <p:ph sz="half" idx="1"/>
          </p:nvPr>
        </p:nvSpPr>
        <p:spPr>
          <a:xfrm>
            <a:off x="838200" y="1825624"/>
            <a:ext cx="5181600" cy="5032375"/>
          </a:xfrm>
        </p:spPr>
        <p:txBody>
          <a:bodyPr>
            <a:normAutofit/>
          </a:bodyPr>
          <a:lstStyle/>
          <a:p>
            <a:pPr marL="0" indent="0">
              <a:buNone/>
            </a:pPr>
            <a:r>
              <a:rPr lang="en-GB" b="1" dirty="0"/>
              <a:t>Definition (</a:t>
            </a:r>
            <a:r>
              <a:rPr lang="en-GB" b="1" dirty="0">
                <a:solidFill>
                  <a:srgbClr val="00B050"/>
                </a:solidFill>
              </a:rPr>
              <a:t>hyperparameter random searching</a:t>
            </a:r>
            <a:r>
              <a:rPr lang="en-GB" b="1" dirty="0"/>
              <a:t>):</a:t>
            </a:r>
          </a:p>
          <a:p>
            <a:pPr marL="0" indent="0">
              <a:buNone/>
            </a:pPr>
            <a:r>
              <a:rPr lang="en-SG" b="1" dirty="0">
                <a:solidFill>
                  <a:srgbClr val="00B050"/>
                </a:solidFill>
              </a:rPr>
              <a:t>Random</a:t>
            </a:r>
            <a:r>
              <a:rPr lang="en-SG" dirty="0"/>
              <a:t> </a:t>
            </a:r>
            <a:r>
              <a:rPr lang="en-SG" b="1" dirty="0">
                <a:solidFill>
                  <a:srgbClr val="00B050"/>
                </a:solidFill>
              </a:rPr>
              <a:t>search</a:t>
            </a:r>
            <a:r>
              <a:rPr lang="en-SG" dirty="0"/>
              <a:t> is </a:t>
            </a:r>
            <a:r>
              <a:rPr lang="en-SG" b="1" dirty="0"/>
              <a:t>another algorithm for hyperparameter tuning</a:t>
            </a:r>
            <a:r>
              <a:rPr lang="en-SG" dirty="0"/>
              <a:t>.</a:t>
            </a:r>
          </a:p>
          <a:p>
            <a:pPr marL="0" indent="0">
              <a:buNone/>
            </a:pPr>
            <a:r>
              <a:rPr lang="en-SG" b="1" dirty="0">
                <a:solidFill>
                  <a:srgbClr val="00B050"/>
                </a:solidFill>
              </a:rPr>
              <a:t>Random</a:t>
            </a:r>
            <a:r>
              <a:rPr lang="en-SG" dirty="0"/>
              <a:t> </a:t>
            </a:r>
            <a:r>
              <a:rPr lang="en-SG" b="1" dirty="0">
                <a:solidFill>
                  <a:srgbClr val="00B050"/>
                </a:solidFill>
              </a:rPr>
              <a:t>search</a:t>
            </a:r>
            <a:r>
              <a:rPr lang="en-SG" dirty="0"/>
              <a:t> defines a search space as a bounded domain of hyperparameter values and randomly sample points in that domain. After trying enough values, keep the best hyperparameters configuration.</a:t>
            </a:r>
          </a:p>
        </p:txBody>
      </p:sp>
      <p:pic>
        <p:nvPicPr>
          <p:cNvPr id="5" name="Picture 4" descr="Chart, diagram&#10;&#10;Description automatically generated">
            <a:extLst>
              <a:ext uri="{FF2B5EF4-FFF2-40B4-BE49-F238E27FC236}">
                <a16:creationId xmlns:a16="http://schemas.microsoft.com/office/drawing/2014/main" id="{45E73179-634A-C030-DA64-295791FD5EA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159561" y="2704123"/>
            <a:ext cx="5888715" cy="3360774"/>
          </a:xfrm>
          <a:prstGeom prst="rect">
            <a:avLst/>
          </a:prstGeom>
        </p:spPr>
      </p:pic>
    </p:spTree>
    <p:extLst>
      <p:ext uri="{BB962C8B-B14F-4D97-AF65-F5344CB8AC3E}">
        <p14:creationId xmlns:p14="http://schemas.microsoft.com/office/powerpoint/2010/main" val="571242276"/>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E7F0E842-4644-CF1E-50C0-F47AEFAA97C7}"/>
              </a:ext>
            </a:extLst>
          </p:cNvPr>
          <p:cNvSpPr>
            <a:spLocks noGrp="1"/>
          </p:cNvSpPr>
          <p:nvPr>
            <p:ph type="title"/>
          </p:nvPr>
        </p:nvSpPr>
        <p:spPr/>
        <p:txBody>
          <a:bodyPr/>
          <a:lstStyle/>
          <a:p>
            <a:r>
              <a:rPr lang="en-GB" dirty="0"/>
              <a:t>Hyperparameters tuning and searching</a:t>
            </a:r>
            <a:endParaRPr lang="en-SG" dirty="0"/>
          </a:p>
        </p:txBody>
      </p:sp>
      <p:sp>
        <p:nvSpPr>
          <p:cNvPr id="3" name="Content Placeholder 2">
            <a:extLst>
              <a:ext uri="{FF2B5EF4-FFF2-40B4-BE49-F238E27FC236}">
                <a16:creationId xmlns:a16="http://schemas.microsoft.com/office/drawing/2014/main" id="{22FE9C94-E2A2-3EF4-0E00-C6BD6C7A59F7}"/>
              </a:ext>
            </a:extLst>
          </p:cNvPr>
          <p:cNvSpPr>
            <a:spLocks noGrp="1"/>
          </p:cNvSpPr>
          <p:nvPr>
            <p:ph sz="half" idx="1"/>
          </p:nvPr>
        </p:nvSpPr>
        <p:spPr>
          <a:xfrm>
            <a:off x="838199" y="1825624"/>
            <a:ext cx="5321361" cy="5032375"/>
          </a:xfrm>
        </p:spPr>
        <p:txBody>
          <a:bodyPr>
            <a:normAutofit/>
          </a:bodyPr>
          <a:lstStyle/>
          <a:p>
            <a:pPr marL="0" indent="0">
              <a:buNone/>
            </a:pPr>
            <a:r>
              <a:rPr lang="en-GB" dirty="0"/>
              <a:t>In general (see [</a:t>
            </a:r>
            <a:r>
              <a:rPr lang="en-GB" dirty="0" err="1"/>
              <a:t>HypSearch</a:t>
            </a:r>
            <a:r>
              <a:rPr lang="en-GB" dirty="0"/>
              <a:t>]),</a:t>
            </a:r>
          </a:p>
          <a:p>
            <a:r>
              <a:rPr lang="en-GB" dirty="0"/>
              <a:t>Grid search is often better on small spaces,</a:t>
            </a:r>
          </a:p>
          <a:p>
            <a:r>
              <a:rPr lang="en-GB" dirty="0"/>
              <a:t>Whereas random search is better on large domains but has no guarantee of returning a good configuration.</a:t>
            </a:r>
          </a:p>
          <a:p>
            <a:pPr marL="0" indent="0">
              <a:buNone/>
            </a:pPr>
            <a:r>
              <a:rPr lang="en-GB" dirty="0"/>
              <a:t>More advanced techniques beyond these two exist, such as Bayesian Optimization, Evolutionary Optimization, etc.</a:t>
            </a:r>
            <a:endParaRPr lang="en-SG" dirty="0"/>
          </a:p>
        </p:txBody>
      </p:sp>
      <p:pic>
        <p:nvPicPr>
          <p:cNvPr id="8" name="Picture 7" descr="Chart, diagram&#10;&#10;Description automatically generated">
            <a:extLst>
              <a:ext uri="{FF2B5EF4-FFF2-40B4-BE49-F238E27FC236}">
                <a16:creationId xmlns:a16="http://schemas.microsoft.com/office/drawing/2014/main" id="{B7A8B60F-E868-C711-153B-E2B86AEA1E6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159561" y="2704123"/>
            <a:ext cx="5888715" cy="3360774"/>
          </a:xfrm>
          <a:prstGeom prst="rect">
            <a:avLst/>
          </a:prstGeom>
        </p:spPr>
      </p:pic>
    </p:spTree>
    <p:extLst>
      <p:ext uri="{BB962C8B-B14F-4D97-AF65-F5344CB8AC3E}">
        <p14:creationId xmlns:p14="http://schemas.microsoft.com/office/powerpoint/2010/main" val="1598131875"/>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E7F0E842-4644-CF1E-50C0-F47AEFAA97C7}"/>
              </a:ext>
            </a:extLst>
          </p:cNvPr>
          <p:cNvSpPr>
            <a:spLocks noGrp="1"/>
          </p:cNvSpPr>
          <p:nvPr>
            <p:ph type="title"/>
          </p:nvPr>
        </p:nvSpPr>
        <p:spPr/>
        <p:txBody>
          <a:bodyPr/>
          <a:lstStyle/>
          <a:p>
            <a:r>
              <a:rPr lang="en-GB" dirty="0"/>
              <a:t>Hyperparameters tuning and searching</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22FE9C94-E2A2-3EF4-0E00-C6BD6C7A59F7}"/>
                  </a:ext>
                </a:extLst>
              </p:cNvPr>
              <p:cNvSpPr>
                <a:spLocks noGrp="1"/>
              </p:cNvSpPr>
              <p:nvPr>
                <p:ph idx="1"/>
              </p:nvPr>
            </p:nvSpPr>
            <p:spPr>
              <a:xfrm>
                <a:off x="838200" y="1825624"/>
                <a:ext cx="10515600" cy="5032375"/>
              </a:xfrm>
            </p:spPr>
            <p:txBody>
              <a:bodyPr>
                <a:normAutofit/>
              </a:bodyPr>
              <a:lstStyle/>
              <a:p>
                <a:pPr marL="0" indent="0">
                  <a:buNone/>
                </a:pPr>
                <a:r>
                  <a:rPr lang="en-GB" dirty="0"/>
                  <a:t>Your objective should be to find </a:t>
                </a:r>
                <a:r>
                  <a:rPr lang="en-GB" b="1" dirty="0"/>
                  <a:t>the best values for all the hyperparameters </a:t>
                </a:r>
                <a14:m>
                  <m:oMath xmlns:m="http://schemas.openxmlformats.org/officeDocument/2006/math">
                    <m:sSup>
                      <m:sSupPr>
                        <m:ctrlPr>
                          <a:rPr lang="en-GB" b="1" i="1" dirty="0" smtClean="0">
                            <a:latin typeface="Cambria Math" panose="02040503050406030204" pitchFamily="18" charset="0"/>
                          </a:rPr>
                        </m:ctrlPr>
                      </m:sSupPr>
                      <m:e>
                        <m:r>
                          <a:rPr lang="en-GB" b="1" i="1" dirty="0" smtClean="0">
                            <a:latin typeface="Cambria Math" panose="02040503050406030204" pitchFamily="18" charset="0"/>
                          </a:rPr>
                          <m:t>𝑷</m:t>
                        </m:r>
                      </m:e>
                      <m:sup>
                        <m:r>
                          <a:rPr lang="en-GB" b="1" i="1" dirty="0" smtClean="0">
                            <a:latin typeface="Cambria Math" panose="02040503050406030204" pitchFamily="18" charset="0"/>
                          </a:rPr>
                          <m:t>∗</m:t>
                        </m:r>
                      </m:sup>
                    </m:sSup>
                  </m:oMath>
                </a14:m>
                <a:r>
                  <a:rPr lang="en-GB" b="1" dirty="0"/>
                  <a:t> </a:t>
                </a:r>
                <a:r>
                  <a:rPr lang="en-GB" dirty="0"/>
                  <a:t>to</a:t>
                </a:r>
                <a:r>
                  <a:rPr lang="en-GB" b="1" dirty="0"/>
                  <a:t> </a:t>
                </a:r>
                <a:r>
                  <a:rPr lang="en-GB" dirty="0"/>
                  <a:t>use</a:t>
                </a:r>
                <a:r>
                  <a:rPr lang="en-GB" b="1" dirty="0"/>
                  <a:t> </a:t>
                </a:r>
                <a:r>
                  <a:rPr lang="en-GB" dirty="0"/>
                  <a:t>in the model (learning rate, number of layers, number of neurons, regularization, etc.).</a:t>
                </a:r>
              </a:p>
              <a:p>
                <a:pPr marL="0" indent="0">
                  <a:buNone/>
                </a:pPr>
                <a:r>
                  <a:rPr lang="en-GB" dirty="0"/>
                  <a:t>Your objective should then be to obtain the best possible value for the </a:t>
                </a:r>
                <a:r>
                  <a:rPr lang="en-GB" b="1" dirty="0">
                    <a:solidFill>
                      <a:srgbClr val="0070C0"/>
                    </a:solidFill>
                  </a:rPr>
                  <a:t>validation</a:t>
                </a:r>
                <a:r>
                  <a:rPr lang="en-GB" dirty="0"/>
                  <a:t> loss/accuracy value for the model, after you have loaded the best values for the trainable parameters (as in Good Practice #4).</a:t>
                </a:r>
              </a:p>
              <a:p>
                <a:pPr marL="0" indent="0">
                  <a:buNone/>
                </a:pPr>
                <a:r>
                  <a:rPr lang="en-GB" dirty="0"/>
                  <a:t>The </a:t>
                </a:r>
                <a:r>
                  <a:rPr lang="en-GB" b="1" dirty="0">
                    <a:solidFill>
                      <a:srgbClr val="7030A0"/>
                    </a:solidFill>
                  </a:rPr>
                  <a:t>test</a:t>
                </a:r>
                <a:r>
                  <a:rPr lang="en-GB" dirty="0"/>
                  <a:t> loss/accuracy value is the one you can safely advertise to show </a:t>
                </a:r>
                <a:r>
                  <a:rPr lang="en-GB" b="1" dirty="0">
                    <a:solidFill>
                      <a:srgbClr val="C00000"/>
                    </a:solidFill>
                  </a:rPr>
                  <a:t>generalization</a:t>
                </a:r>
                <a:r>
                  <a:rPr lang="en-GB" dirty="0"/>
                  <a:t>, as the validation metrics have technically been used to adjust hyperparameters (which is considered part of training).</a:t>
                </a:r>
              </a:p>
              <a:p>
                <a:pPr marL="0" indent="0">
                  <a:buNone/>
                </a:pPr>
                <a:endParaRPr lang="en-GB" dirty="0"/>
              </a:p>
              <a:p>
                <a:pPr marL="0" indent="0">
                  <a:buNone/>
                </a:pPr>
                <a:r>
                  <a:rPr lang="en-GB" b="1" dirty="0">
                    <a:solidFill>
                      <a:srgbClr val="FF0000"/>
                    </a:solidFill>
                    <a:sym typeface="Wingdings" panose="05000000000000000000" pitchFamily="2" charset="2"/>
                  </a:rPr>
                  <a:t> A</a:t>
                </a:r>
                <a:r>
                  <a:rPr lang="en-GB" b="1" dirty="0">
                    <a:solidFill>
                      <a:srgbClr val="FF0000"/>
                    </a:solidFill>
                  </a:rPr>
                  <a:t>nother optimization problem on our hands to experiment with!</a:t>
                </a:r>
              </a:p>
              <a:p>
                <a:pPr marL="0" indent="0">
                  <a:buNone/>
                </a:pPr>
                <a:endParaRPr lang="en-SG" dirty="0"/>
              </a:p>
            </p:txBody>
          </p:sp>
        </mc:Choice>
        <mc:Fallback xmlns="">
          <p:sp>
            <p:nvSpPr>
              <p:cNvPr id="3" name="Content Placeholder 2">
                <a:extLst>
                  <a:ext uri="{FF2B5EF4-FFF2-40B4-BE49-F238E27FC236}">
                    <a16:creationId xmlns:a16="http://schemas.microsoft.com/office/drawing/2014/main" id="{22FE9C94-E2A2-3EF4-0E00-C6BD6C7A59F7}"/>
                  </a:ext>
                </a:extLst>
              </p:cNvPr>
              <p:cNvSpPr>
                <a:spLocks noGrp="1" noRot="1" noChangeAspect="1" noMove="1" noResize="1" noEditPoints="1" noAdjustHandles="1" noChangeArrowheads="1" noChangeShapeType="1" noTextEdit="1"/>
              </p:cNvSpPr>
              <p:nvPr>
                <p:ph idx="1"/>
              </p:nvPr>
            </p:nvSpPr>
            <p:spPr>
              <a:xfrm>
                <a:off x="838200" y="1825624"/>
                <a:ext cx="10515600" cy="5032375"/>
              </a:xfrm>
              <a:blipFill>
                <a:blip r:embed="rId2"/>
                <a:stretch>
                  <a:fillRect l="-1217" t="-1937" r="-1507"/>
                </a:stretch>
              </a:blipFill>
            </p:spPr>
            <p:txBody>
              <a:bodyPr/>
              <a:lstStyle/>
              <a:p>
                <a:r>
                  <a:rPr lang="en-GB">
                    <a:noFill/>
                  </a:rPr>
                  <a:t> </a:t>
                </a:r>
              </a:p>
            </p:txBody>
          </p:sp>
        </mc:Fallback>
      </mc:AlternateContent>
    </p:spTree>
    <p:extLst>
      <p:ext uri="{BB962C8B-B14F-4D97-AF65-F5344CB8AC3E}">
        <p14:creationId xmlns:p14="http://schemas.microsoft.com/office/powerpoint/2010/main" val="3293100675"/>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9B9715-ECD1-470D-B523-53C9DD5C7678}"/>
              </a:ext>
            </a:extLst>
          </p:cNvPr>
          <p:cNvSpPr>
            <a:spLocks noGrp="1"/>
          </p:cNvSpPr>
          <p:nvPr>
            <p:ph type="title"/>
          </p:nvPr>
        </p:nvSpPr>
        <p:spPr/>
        <p:txBody>
          <a:bodyPr/>
          <a:lstStyle/>
          <a:p>
            <a:r>
              <a:rPr lang="en-US" dirty="0"/>
              <a:t>Learn more about these topics</a:t>
            </a:r>
            <a:endParaRPr lang="en-GB" dirty="0"/>
          </a:p>
        </p:txBody>
      </p:sp>
      <p:sp>
        <p:nvSpPr>
          <p:cNvPr id="5" name="Content Placeholder 4">
            <a:extLst>
              <a:ext uri="{FF2B5EF4-FFF2-40B4-BE49-F238E27FC236}">
                <a16:creationId xmlns:a16="http://schemas.microsoft.com/office/drawing/2014/main" id="{7D0CB248-82F3-414A-84E4-14EF63C7FB27}"/>
              </a:ext>
            </a:extLst>
          </p:cNvPr>
          <p:cNvSpPr>
            <a:spLocks noGrp="1"/>
          </p:cNvSpPr>
          <p:nvPr>
            <p:ph idx="1"/>
          </p:nvPr>
        </p:nvSpPr>
        <p:spPr>
          <a:xfrm>
            <a:off x="838200" y="1825624"/>
            <a:ext cx="10515600" cy="5032375"/>
          </a:xfrm>
        </p:spPr>
        <p:txBody>
          <a:bodyPr>
            <a:normAutofit/>
          </a:bodyPr>
          <a:lstStyle/>
          <a:p>
            <a:pPr marL="0" indent="0">
              <a:buNone/>
            </a:pPr>
            <a:r>
              <a:rPr lang="en-GB" dirty="0"/>
              <a:t>Some extra (easy) reading and videos for those of you who are curious.</a:t>
            </a:r>
          </a:p>
          <a:p>
            <a:r>
              <a:rPr lang="en-US" dirty="0"/>
              <a:t>[</a:t>
            </a:r>
            <a:r>
              <a:rPr lang="en-US" dirty="0" err="1"/>
              <a:t>HypSearch</a:t>
            </a:r>
            <a:r>
              <a:rPr lang="en-US" dirty="0"/>
              <a:t>] </a:t>
            </a:r>
            <a:r>
              <a:rPr lang="en-GB" dirty="0"/>
              <a:t>How to run hyperparameters searching in Python, implementations using Scikit learn and more advanced methods.</a:t>
            </a:r>
            <a:br>
              <a:rPr lang="en-GB" dirty="0"/>
            </a:br>
            <a:r>
              <a:rPr lang="en-GB" dirty="0">
                <a:hlinkClick r:id="rId2"/>
              </a:rPr>
              <a:t>https://towardsdatascience.com/7-hyperparameter-optimization-techniques-every-data-scientist-should-know-12cdebe713da</a:t>
            </a:r>
            <a:br>
              <a:rPr lang="en-GB" dirty="0"/>
            </a:br>
            <a:r>
              <a:rPr lang="en-GB" dirty="0"/>
              <a:t>And</a:t>
            </a:r>
            <a:br>
              <a:rPr lang="en-GB" dirty="0"/>
            </a:br>
            <a:r>
              <a:rPr lang="en-US" dirty="0">
                <a:hlinkClick r:id="rId3"/>
              </a:rPr>
              <a:t>https://machinelearningmastery.com/hyperparameter-optimization-with-random-search-and-grid-search/</a:t>
            </a:r>
            <a:endParaRPr lang="en-US" dirty="0"/>
          </a:p>
          <a:p>
            <a:r>
              <a:rPr lang="en-GB" dirty="0"/>
              <a:t>[</a:t>
            </a:r>
            <a:r>
              <a:rPr lang="en-GB" dirty="0" err="1"/>
              <a:t>StackNN</a:t>
            </a:r>
            <a:r>
              <a:rPr lang="en-GB" dirty="0"/>
              <a:t>]</a:t>
            </a:r>
            <a:r>
              <a:rPr lang="en-US" dirty="0"/>
              <a:t> How to decide on a number of neurons and layers in Neural Networks?</a:t>
            </a:r>
            <a:br>
              <a:rPr lang="en-US" dirty="0"/>
            </a:br>
            <a:r>
              <a:rPr lang="en-US">
                <a:hlinkClick r:id="rId4"/>
              </a:rPr>
              <a:t>https://stats.stackexchange.com/questions/181/how-to-choose-the-number-of-hidden-layers-and-nodes-in-a-feedforward-neural-netw</a:t>
            </a:r>
            <a:endParaRPr lang="en-US" dirty="0"/>
          </a:p>
          <a:p>
            <a:endParaRPr lang="en-US" dirty="0"/>
          </a:p>
          <a:p>
            <a:endParaRPr lang="en-US" dirty="0"/>
          </a:p>
          <a:p>
            <a:endParaRPr lang="en-GB" dirty="0"/>
          </a:p>
        </p:txBody>
      </p:sp>
    </p:spTree>
    <p:extLst>
      <p:ext uri="{BB962C8B-B14F-4D97-AF65-F5344CB8AC3E}">
        <p14:creationId xmlns:p14="http://schemas.microsoft.com/office/powerpoint/2010/main" val="189387306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4064</TotalTime>
  <Words>5128</Words>
  <Application>Microsoft Office PowerPoint</Application>
  <PresentationFormat>Widescreen</PresentationFormat>
  <Paragraphs>351</Paragraphs>
  <Slides>65</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65</vt:i4>
      </vt:variant>
    </vt:vector>
  </HeadingPairs>
  <TitlesOfParts>
    <vt:vector size="71" baseType="lpstr">
      <vt:lpstr>Arial</vt:lpstr>
      <vt:lpstr>Calibri</vt:lpstr>
      <vt:lpstr>Calibri Light</vt:lpstr>
      <vt:lpstr>Cambria Math</vt:lpstr>
      <vt:lpstr>Wingdings</vt:lpstr>
      <vt:lpstr>Office Theme</vt:lpstr>
      <vt:lpstr>50.039 Theory and Practice of Deep Learning W2-S3 Neural Networks, Initializers, Optimizers and other Good Practices</vt:lpstr>
      <vt:lpstr>About this week (Week 2)</vt:lpstr>
      <vt:lpstr>About this week (Week 2)</vt:lpstr>
      <vt:lpstr>About this week (Week 2)</vt:lpstr>
      <vt:lpstr>Good Practice #1: Using additional performance metrics beyond loss</vt:lpstr>
      <vt:lpstr>Good Practice #1: Using additional performance metrics beyond loss</vt:lpstr>
      <vt:lpstr>Good Practice #1: Using additional performance metrics beyond loss</vt:lpstr>
      <vt:lpstr>Good Practice #1: Using additional performance metrics beyond loss</vt:lpstr>
      <vt:lpstr>Good Practice #1: Using additional performance metrics beyond loss</vt:lpstr>
      <vt:lpstr>Good Practice #1: Using additional performance metrics beyond loss</vt:lpstr>
      <vt:lpstr>Good Practice #1: Using additional performance metrics beyond loss</vt:lpstr>
      <vt:lpstr>Good Practice #1: Using additional performance metrics beyond loss</vt:lpstr>
      <vt:lpstr>Good Practice #1: Using additional performance metrics beyond loss</vt:lpstr>
      <vt:lpstr>Good Practice #2: Using a train-test-valid split</vt:lpstr>
      <vt:lpstr>Good Practice #2: Using a train-test-valid split</vt:lpstr>
      <vt:lpstr>Good Practice #2: Using a train-test-valid split</vt:lpstr>
      <vt:lpstr>Good Practice #2: Using a train-test-valid split</vt:lpstr>
      <vt:lpstr>Good Practice #2: Using a train-test-valid split</vt:lpstr>
      <vt:lpstr>Good Practice #2: Using a train-test-valid split</vt:lpstr>
      <vt:lpstr>Good Practice #2: Using a train-test-valid split</vt:lpstr>
      <vt:lpstr>Good Practice #2: Using a train-test-valid split</vt:lpstr>
      <vt:lpstr>Good Practice #2: Using a train-test-valid split</vt:lpstr>
      <vt:lpstr>Good Practice #2: Using a train-test-valid split</vt:lpstr>
      <vt:lpstr>Good Practice #2: Using a train-test-valid split</vt:lpstr>
      <vt:lpstr>Good Practice #2: Using a train-test-valid split</vt:lpstr>
      <vt:lpstr>Good Practice #2: Using a train-test-valid split</vt:lpstr>
      <vt:lpstr>Good Practice #2: Using a train-test-valid split</vt:lpstr>
      <vt:lpstr>Good Practice #2: Using a train-test-valid split</vt:lpstr>
      <vt:lpstr>Good Practice #2: Using a train-test-valid split</vt:lpstr>
      <vt:lpstr>Good Practice #2: Using a train-test-valid split</vt:lpstr>
      <vt:lpstr>Good Practice #2: Using a train-test-valid split</vt:lpstr>
      <vt:lpstr>Good Practice #2: Using a train-test-valid split</vt:lpstr>
      <vt:lpstr>Good Practice #2: Using a train-test-valid split</vt:lpstr>
      <vt:lpstr>Good Practice #3: Implementing an early stop</vt:lpstr>
      <vt:lpstr>Good Practice #3: Implementing an early stop</vt:lpstr>
      <vt:lpstr>Good Practice #3: Implementing an early stop</vt:lpstr>
      <vt:lpstr>Good Practice #4: Saver and loader functions</vt:lpstr>
      <vt:lpstr>Good Practice #4: Saver and loader functions</vt:lpstr>
      <vt:lpstr>Good Practice #4: Saver and loader functions</vt:lpstr>
      <vt:lpstr>Good Practice #4: Saver and loader functions</vt:lpstr>
      <vt:lpstr>Good Practice #4: Saver and loader functions</vt:lpstr>
      <vt:lpstr>Good Practice #4: Saver and loader functions</vt:lpstr>
      <vt:lpstr>Saver/loader functions are critical in AI</vt:lpstr>
      <vt:lpstr>Saver/loader functions are critical</vt:lpstr>
      <vt:lpstr>Typical questions about model architecture</vt:lpstr>
      <vt:lpstr>Typical questions about model architecture</vt:lpstr>
      <vt:lpstr>Problem statement</vt:lpstr>
      <vt:lpstr>Problem statement</vt:lpstr>
      <vt:lpstr>Problem statement</vt:lpstr>
      <vt:lpstr>Well, let us experiment then?</vt:lpstr>
      <vt:lpstr>Lesson #1: Features engineering is king!</vt:lpstr>
      <vt:lpstr>Lesson #2: Larger layers vs. More layers</vt:lpstr>
      <vt:lpstr>Lesson #2: Larger layers vs. More layers</vt:lpstr>
      <vt:lpstr>Lesson #2: Larger layers vs. More layers</vt:lpstr>
      <vt:lpstr>Lesson #2: Larger layers vs. More layers</vt:lpstr>
      <vt:lpstr>Lesson #2: Larger layers vs. More layers</vt:lpstr>
      <vt:lpstr>Lesson #2: Larger layers vs. More layers</vt:lpstr>
      <vt:lpstr>A friendly reminder, though, in case you still do not get it</vt:lpstr>
      <vt:lpstr>Conclusion (Week 2)</vt:lpstr>
      <vt:lpstr>Hyperparameters tuning and searching</vt:lpstr>
      <vt:lpstr>Hyperparameters tuning and searching</vt:lpstr>
      <vt:lpstr>Hyperparameters tuning and searching</vt:lpstr>
      <vt:lpstr>Hyperparameters tuning and searching</vt:lpstr>
      <vt:lpstr>Hyperparameters tuning and searching</vt:lpstr>
      <vt:lpstr>Learn more about these topics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50.039 Theory and Practice of Deep Learning W8 S1-2-3</dc:title>
  <dc:creator>Matthieu DE MARI</dc:creator>
  <cp:lastModifiedBy>Matthieu De Mari</cp:lastModifiedBy>
  <cp:revision>108</cp:revision>
  <dcterms:created xsi:type="dcterms:W3CDTF">2021-03-10T09:35:15Z</dcterms:created>
  <dcterms:modified xsi:type="dcterms:W3CDTF">2026-01-16T05:40:35Z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7fde23a9-9a05-4714-826f-57380a17bd9d_Enabled">
    <vt:lpwstr>true</vt:lpwstr>
  </property>
  <property fmtid="{D5CDD505-2E9C-101B-9397-08002B2CF9AE}" pid="3" name="MSIP_Label_7fde23a9-9a05-4714-826f-57380a17bd9d_SetDate">
    <vt:lpwstr>2022-10-19T06:30:58Z</vt:lpwstr>
  </property>
  <property fmtid="{D5CDD505-2E9C-101B-9397-08002B2CF9AE}" pid="4" name="MSIP_Label_7fde23a9-9a05-4714-826f-57380a17bd9d_Method">
    <vt:lpwstr>Privileged</vt:lpwstr>
  </property>
  <property fmtid="{D5CDD505-2E9C-101B-9397-08002B2CF9AE}" pid="5" name="MSIP_Label_7fde23a9-9a05-4714-826f-57380a17bd9d_Name">
    <vt:lpwstr>Restricted</vt:lpwstr>
  </property>
  <property fmtid="{D5CDD505-2E9C-101B-9397-08002B2CF9AE}" pid="6" name="MSIP_Label_7fde23a9-9a05-4714-826f-57380a17bd9d_SiteId">
    <vt:lpwstr>3476b776-e990-4f72-b950-62489831623d</vt:lpwstr>
  </property>
  <property fmtid="{D5CDD505-2E9C-101B-9397-08002B2CF9AE}" pid="7" name="MSIP_Label_7fde23a9-9a05-4714-826f-57380a17bd9d_ActionId">
    <vt:lpwstr>0e56de01-4734-4bb5-8abe-0837a2dfdfb0</vt:lpwstr>
  </property>
  <property fmtid="{D5CDD505-2E9C-101B-9397-08002B2CF9AE}" pid="8" name="MSIP_Label_7fde23a9-9a05-4714-826f-57380a17bd9d_ContentBits">
    <vt:lpwstr>3</vt:lpwstr>
  </property>
  <property fmtid="{D5CDD505-2E9C-101B-9397-08002B2CF9AE}" pid="9" name="ClassificationContentMarkingFooterLocations">
    <vt:lpwstr>Office Theme:10</vt:lpwstr>
  </property>
  <property fmtid="{D5CDD505-2E9C-101B-9397-08002B2CF9AE}" pid="10" name="ClassificationContentMarkingFooterText">
    <vt:lpwstr>Restricted</vt:lpwstr>
  </property>
  <property fmtid="{D5CDD505-2E9C-101B-9397-08002B2CF9AE}" pid="11" name="ClassificationContentMarkingHeaderLocations">
    <vt:lpwstr>Office Theme:9</vt:lpwstr>
  </property>
  <property fmtid="{D5CDD505-2E9C-101B-9397-08002B2CF9AE}" pid="12" name="ClassificationContentMarkingHeaderText">
    <vt:lpwstr>Restricted</vt:lpwstr>
  </property>
</Properties>
</file>