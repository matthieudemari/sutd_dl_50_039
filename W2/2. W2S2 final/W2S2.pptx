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0"/>
  </p:notesMasterIdLst>
  <p:sldIdLst>
    <p:sldId id="377" r:id="rId2"/>
    <p:sldId id="257" r:id="rId3"/>
    <p:sldId id="586" r:id="rId4"/>
    <p:sldId id="587" r:id="rId5"/>
    <p:sldId id="597" r:id="rId6"/>
    <p:sldId id="675" r:id="rId7"/>
    <p:sldId id="676" r:id="rId8"/>
    <p:sldId id="677" r:id="rId9"/>
    <p:sldId id="680" r:id="rId10"/>
    <p:sldId id="678" r:id="rId11"/>
    <p:sldId id="679" r:id="rId12"/>
    <p:sldId id="684" r:id="rId13"/>
    <p:sldId id="681" r:id="rId14"/>
    <p:sldId id="737" r:id="rId15"/>
    <p:sldId id="736" r:id="rId16"/>
    <p:sldId id="738" r:id="rId17"/>
    <p:sldId id="683" r:id="rId18"/>
    <p:sldId id="685" r:id="rId19"/>
    <p:sldId id="686" r:id="rId20"/>
    <p:sldId id="687" r:id="rId21"/>
    <p:sldId id="688" r:id="rId22"/>
    <p:sldId id="689" r:id="rId23"/>
    <p:sldId id="693" r:id="rId24"/>
    <p:sldId id="694" r:id="rId25"/>
    <p:sldId id="695" r:id="rId26"/>
    <p:sldId id="696" r:id="rId27"/>
    <p:sldId id="697" r:id="rId28"/>
    <p:sldId id="701" r:id="rId29"/>
    <p:sldId id="700" r:id="rId30"/>
    <p:sldId id="751" r:id="rId31"/>
    <p:sldId id="703" r:id="rId32"/>
    <p:sldId id="702" r:id="rId33"/>
    <p:sldId id="704" r:id="rId34"/>
    <p:sldId id="705" r:id="rId35"/>
    <p:sldId id="598" r:id="rId36"/>
    <p:sldId id="740" r:id="rId37"/>
    <p:sldId id="748" r:id="rId38"/>
    <p:sldId id="706" r:id="rId39"/>
    <p:sldId id="708" r:id="rId40"/>
    <p:sldId id="741" r:id="rId41"/>
    <p:sldId id="749" r:id="rId42"/>
    <p:sldId id="714" r:id="rId43"/>
    <p:sldId id="709" r:id="rId44"/>
    <p:sldId id="710" r:id="rId45"/>
    <p:sldId id="745" r:id="rId46"/>
    <p:sldId id="742" r:id="rId47"/>
    <p:sldId id="750" r:id="rId48"/>
    <p:sldId id="715" r:id="rId49"/>
    <p:sldId id="752" r:id="rId50"/>
    <p:sldId id="711" r:id="rId51"/>
    <p:sldId id="747" r:id="rId52"/>
    <p:sldId id="600" r:id="rId53"/>
    <p:sldId id="716" r:id="rId54"/>
    <p:sldId id="707" r:id="rId55"/>
    <p:sldId id="722" r:id="rId56"/>
    <p:sldId id="746" r:id="rId57"/>
    <p:sldId id="724" r:id="rId58"/>
    <p:sldId id="725" r:id="rId59"/>
    <p:sldId id="726" r:id="rId60"/>
    <p:sldId id="727" r:id="rId61"/>
    <p:sldId id="728" r:id="rId62"/>
    <p:sldId id="729" r:id="rId63"/>
    <p:sldId id="730" r:id="rId64"/>
    <p:sldId id="731" r:id="rId65"/>
    <p:sldId id="732" r:id="rId66"/>
    <p:sldId id="733" r:id="rId67"/>
    <p:sldId id="734" r:id="rId68"/>
    <p:sldId id="712" r:id="rId69"/>
    <p:sldId id="744" r:id="rId70"/>
    <p:sldId id="717" r:id="rId71"/>
    <p:sldId id="735" r:id="rId72"/>
    <p:sldId id="570" r:id="rId73"/>
    <p:sldId id="266" r:id="rId74"/>
    <p:sldId id="690" r:id="rId75"/>
    <p:sldId id="691" r:id="rId76"/>
    <p:sldId id="692" r:id="rId77"/>
    <p:sldId id="743" r:id="rId78"/>
    <p:sldId id="718" r:id="rId7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D6D3CB8D-C5FE-4F85-97E1-008DE64A5D47}">
          <p14:sldIdLst>
            <p14:sldId id="377"/>
          </p14:sldIdLst>
        </p14:section>
        <p14:section name="I.1. Introduction" id="{2FD0FF71-F5FC-4EB7-B2CB-B31E4CBECD79}">
          <p14:sldIdLst>
            <p14:sldId id="257"/>
            <p14:sldId id="586"/>
            <p14:sldId id="587"/>
          </p14:sldIdLst>
        </p14:section>
        <p14:section name="V.1. Advanced Optimizers ideas" id="{D1FD8DDA-3499-4B21-9A7F-2DFBD8DDF3F1}">
          <p14:sldIdLst>
            <p14:sldId id="597"/>
            <p14:sldId id="675"/>
            <p14:sldId id="676"/>
            <p14:sldId id="677"/>
            <p14:sldId id="680"/>
            <p14:sldId id="678"/>
            <p14:sldId id="679"/>
            <p14:sldId id="684"/>
            <p14:sldId id="681"/>
          </p14:sldIdLst>
        </p14:section>
        <p14:section name="V.2. Adding Momentum to GD" id="{ACF24FA6-1E0F-460D-8C11-6A160A2F3E2B}">
          <p14:sldIdLst>
            <p14:sldId id="737"/>
            <p14:sldId id="736"/>
            <p14:sldId id="738"/>
            <p14:sldId id="683"/>
            <p14:sldId id="685"/>
            <p14:sldId id="686"/>
            <p14:sldId id="687"/>
            <p14:sldId id="688"/>
            <p14:sldId id="689"/>
          </p14:sldIdLst>
        </p14:section>
        <p14:section name="V.3. Learning Rate Decay" id="{C41E6400-669E-45B0-8AF4-CCC73AEE345F}">
          <p14:sldIdLst>
            <p14:sldId id="693"/>
            <p14:sldId id="694"/>
            <p14:sldId id="695"/>
            <p14:sldId id="696"/>
          </p14:sldIdLst>
        </p14:section>
        <p14:section name="V.4. Gradient Based Learning Rate Control" id="{BECEA7C3-8F70-4DB8-819C-82AC876A90E7}">
          <p14:sldIdLst>
            <p14:sldId id="697"/>
            <p14:sldId id="701"/>
            <p14:sldId id="700"/>
            <p14:sldId id="751"/>
            <p14:sldId id="703"/>
            <p14:sldId id="702"/>
          </p14:sldIdLst>
        </p14:section>
        <p14:section name="V.6. AdaGrad" id="{A276D85E-CD2B-4EF8-9DF8-039CFF00C17F}">
          <p14:sldIdLst>
            <p14:sldId id="704"/>
            <p14:sldId id="705"/>
            <p14:sldId id="598"/>
            <p14:sldId id="740"/>
            <p14:sldId id="748"/>
            <p14:sldId id="706"/>
          </p14:sldIdLst>
        </p14:section>
        <p14:section name="V.7. RMSProp" id="{6B40AE8F-D4D3-4B75-9205-E9CFB29AD107}">
          <p14:sldIdLst>
            <p14:sldId id="708"/>
            <p14:sldId id="741"/>
            <p14:sldId id="749"/>
            <p14:sldId id="714"/>
            <p14:sldId id="709"/>
          </p14:sldIdLst>
        </p14:section>
        <p14:section name="V.8. Adam" id="{C4298EF4-7B37-4E26-8585-185F1A5C24D2}">
          <p14:sldIdLst>
            <p14:sldId id="710"/>
            <p14:sldId id="745"/>
            <p14:sldId id="742"/>
            <p14:sldId id="750"/>
            <p14:sldId id="715"/>
            <p14:sldId id="752"/>
            <p14:sldId id="711"/>
            <p14:sldId id="747"/>
          </p14:sldIdLst>
        </p14:section>
        <p14:section name="V.9 Optimizers Comparisons" id="{03DA2E64-CBAE-4259-A1BA-43B41093B3DC}">
          <p14:sldIdLst>
            <p14:sldId id="600"/>
            <p14:sldId id="716"/>
            <p14:sldId id="707"/>
          </p14:sldIdLst>
        </p14:section>
        <p14:section name="VI.1. The stochastic gradient descent" id="{A7A584A2-7E3A-46C4-95B9-5291125C5C11}">
          <p14:sldIdLst>
            <p14:sldId id="722"/>
            <p14:sldId id="746"/>
            <p14:sldId id="724"/>
            <p14:sldId id="725"/>
            <p14:sldId id="726"/>
            <p14:sldId id="727"/>
          </p14:sldIdLst>
        </p14:section>
        <p14:section name="VI.2. The mini-batch gradient decent" id="{F48D15CB-3769-460C-8E63-E7A7223594F9}">
          <p14:sldIdLst>
            <p14:sldId id="728"/>
            <p14:sldId id="729"/>
            <p14:sldId id="730"/>
            <p14:sldId id="731"/>
            <p14:sldId id="732"/>
            <p14:sldId id="733"/>
            <p14:sldId id="734"/>
          </p14:sldIdLst>
        </p14:section>
        <p14:section name="VI.3. Combining everything into a great optimizer" id="{2717C971-807E-4CA6-A699-BD23562704DD}">
          <p14:sldIdLst>
            <p14:sldId id="712"/>
            <p14:sldId id="744"/>
          </p14:sldIdLst>
        </p14:section>
        <p14:section name="References and watchlist" id="{217B8593-1CA5-408D-B198-A5E6ACAB5948}">
          <p14:sldIdLst>
            <p14:sldId id="717"/>
            <p14:sldId id="735"/>
            <p14:sldId id="570"/>
            <p14:sldId id="266"/>
          </p14:sldIdLst>
        </p14:section>
        <p14:section name="Bonus - The Nesterov Momentum" id="{89384630-3E78-4E42-9056-F6679AB2C4AC}">
          <p14:sldIdLst>
            <p14:sldId id="690"/>
            <p14:sldId id="691"/>
            <p14:sldId id="692"/>
          </p14:sldIdLst>
        </p14:section>
        <p14:section name="Bonus - Additional optimizers" id="{6E344145-E126-4187-B48A-763AE426DC42}">
          <p14:sldIdLst>
            <p14:sldId id="743"/>
            <p14:sldId id="71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5C5800D-8E6B-56C6-59C8-2DEC36A271E5}" name="Matthieu De Mari" initials="MD" userId="S::matthieu_demari@sutd.edu.sg::dfb708c9-d8dc-439f-9a3b-c772bf4a311c" providerId="AD"/>
  <p188:author id="{6A446D52-C317-103A-D209-A6D1D99CFF7D}" name="Matthieu De Mari" initials="MDM" userId="Matthieu De Mari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6292" autoAdjust="0"/>
  </p:normalViewPr>
  <p:slideViewPr>
    <p:cSldViewPr snapToGrid="0">
      <p:cViewPr varScale="1">
        <p:scale>
          <a:sx n="114" d="100"/>
          <a:sy n="114" d="100"/>
        </p:scale>
        <p:origin x="438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notesMaster" Target="notesMasters/notesMaster1.xml"/><Relationship Id="rId85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presProps" Target="presProps.xml"/><Relationship Id="rId86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thieu De Mari" userId="dfb708c9-d8dc-439f-9a3b-c772bf4a311c" providerId="ADAL" clId="{81E9B007-0C2C-493E-9B93-55A62C9C1F12}"/>
    <pc:docChg chg="custSel modSld">
      <pc:chgData name="Matthieu De Mari" userId="dfb708c9-d8dc-439f-9a3b-c772bf4a311c" providerId="ADAL" clId="{81E9B007-0C2C-493E-9B93-55A62C9C1F12}" dt="2026-01-16T05:25:53.075" v="1" actId="33524"/>
      <pc:docMkLst>
        <pc:docMk/>
      </pc:docMkLst>
      <pc:sldChg chg="modSp mod">
        <pc:chgData name="Matthieu De Mari" userId="dfb708c9-d8dc-439f-9a3b-c772bf4a311c" providerId="ADAL" clId="{81E9B007-0C2C-493E-9B93-55A62C9C1F12}" dt="2026-01-16T05:25:53.075" v="1" actId="33524"/>
        <pc:sldMkLst>
          <pc:docMk/>
          <pc:sldMk cId="68123525" sldId="747"/>
        </pc:sldMkLst>
        <pc:spChg chg="mod">
          <ac:chgData name="Matthieu De Mari" userId="dfb708c9-d8dc-439f-9a3b-c772bf4a311c" providerId="ADAL" clId="{81E9B007-0C2C-493E-9B93-55A62C9C1F12}" dt="2026-01-16T05:25:53.075" v="1" actId="33524"/>
          <ac:spMkLst>
            <pc:docMk/>
            <pc:sldMk cId="68123525" sldId="747"/>
            <ac:spMk id="3" creationId="{59FD0325-5E9A-BBD4-31E7-1049C1A2E28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478373-EB31-4867-8CF0-FA31364748A5}" type="datetimeFigureOut">
              <a:rPr lang="en-GB" smtClean="0"/>
              <a:t>16/01/2026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4DF365-F842-4E76-AC24-5BC5382A08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2812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E4AD2-5DFB-40B9-9046-538F457C2D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89AB4D-C9BD-4804-BAD4-30ABC21BBF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16BA0-299B-403D-BF6F-22CAD5861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16/01/2026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92CE3F-0F08-4DF3-A557-685AC26F7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DB7FD2-E7A4-40C9-9DA4-170335047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6607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9B31A-FA50-4DA2-9315-474283DEB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F3FCD2-8B77-4AF4-8080-624AD9E7F8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11587F-CECC-48E1-9033-F49992081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16/01/2026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DBEDBB-8F3E-4349-BF02-8BA4BFA4A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049832-CE42-4D03-89CE-BF86C2288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7041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741B7-69A0-4F98-A4F1-934086E8E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C4F2BF-824A-433E-A1B8-AA04DCB3E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003A02-257B-42F0-BF28-1777F5C48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16/01/2026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1A73EA-09DC-41D8-B62F-461F73837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50A76A-6E9C-414F-B980-FF95D8BC4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18408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D12A8-E7BA-4E8E-9357-A40BF427B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B368D-1AC8-401B-8D15-AB5F2DF52B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B54FE0-C058-43CC-8FAE-A8FF7FC43F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6EDAEE-3329-419E-908B-25F1A6C11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16/01/2026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BF37E1-EFD9-4926-903C-A8F3F36F6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1BFE49-D09A-40E3-8D45-D54CF1403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1781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06ACB-47EB-4233-8485-0DBCD4792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51BCCC-D7D1-44A6-85A4-5F35671D80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24D018-9C08-4325-8DE0-27765125B3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054B92-6EF5-4DC3-8819-3BB914D088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9DEE04-4503-4C98-A54E-5B4414DE44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682F25-2B9E-401E-842E-299065232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16/01/2026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C4412F-03BB-4180-96FC-5FFE79C5F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D4B694-771E-4D77-A094-AE6844AC4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77633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4B0B5-CEFD-42FE-80F6-946D18792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338384-0D5D-4181-9005-8843908CF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16/01/2026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F3C4F2-521E-43BA-978F-A744CDEB1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E24618-CDB0-4673-AF57-77A81FE6F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9381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9B6684-ECAC-47C6-9E72-EC9A0F420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16/01/2026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837DBC-C277-472E-BF47-6769C2B20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39D80B-7718-49DE-9803-FDF6ECAD1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1184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DE5B7-A7F2-453D-9210-C132F7942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81A54-3B44-49FD-9DFE-5C031AC3B0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CEDAA9-F86E-42B0-BCB5-FFBD8F9BD2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8E5CCE-232A-418F-BF54-FECCCBE5B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16/01/2026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10C79A-014C-4B02-9279-7EE20A512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3E7691-D5FC-4182-9AE9-20D2EFC76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4019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35217-D17F-45E7-B7CA-F5D4DAFB3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B94D55-9243-49C9-96F4-70D4569015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476A3C-7074-4031-BCF5-275CD92ED7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130CC7-09EA-4C92-80AE-F253D048A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16/01/2026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7CD087-50BE-480B-BD3C-2CCB17C0E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96C921-787D-431A-BDD7-DA404775A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6846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B0483-1596-4673-8A29-254D3DC88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8DE429-CA08-4265-9A4D-51FDC7FA54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E484A7-7EB0-4711-BB58-4DD3DBAC7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16/01/2026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541F78-0B35-41BE-A0A9-4586BE477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D6E482-F592-48F9-83BC-62EB3DB57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5946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361B4E-3627-4AD6-AD20-F32FAFBDA4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48BF35-5935-4E82-A1F8-08337A4DA3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FBD791-DE7C-49E1-A341-84D81473B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16/01/2026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FD9CCE-A99B-4CBA-91FF-4D46A3F5C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3CAD09-2925-4932-B93A-FF27DE64C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0597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DB992C-5696-43C0-B140-56751731D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058581-4C84-49FD-8B3C-95F4C8571A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8350B-1B49-41B8-8A7A-F1A1B98F8C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5DF616-B21E-4EF6-A6A5-95E2FB3EB1A1}" type="datetimeFigureOut">
              <a:rPr lang="en-GB" smtClean="0"/>
              <a:t>16/01/2026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0BE49B-AA7F-417D-B067-42C40475CC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972CFA-2157-4F98-8693-550F0B104B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504F79-603A-6F7A-93E7-C9CABA0FF30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781675" y="0"/>
            <a:ext cx="663575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SG" sz="12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Restricted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872183-7F29-FB0F-D3D7-53204406A33F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781675" y="6675120"/>
            <a:ext cx="663575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SG" sz="12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Restricted</a:t>
            </a:r>
          </a:p>
        </p:txBody>
      </p:sp>
    </p:spTree>
    <p:extLst>
      <p:ext uri="{BB962C8B-B14F-4D97-AF65-F5344CB8AC3E}">
        <p14:creationId xmlns:p14="http://schemas.microsoft.com/office/powerpoint/2010/main" val="2168708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0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hyperlink" Target="https://pytorch.org/docs/stable/optim.html#torch.optim.Optimizer" TargetMode="External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0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0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image" Target="../media/image51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2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image" Target="../media/image350.png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hyperlink" Target="https://machinelearningmastery.com/gentle-introduction-mini-batch-gradient-descent-configure-batch-size/" TargetMode="Externa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hyperlink" Target="https://scholar.google.com/citations?user=LnhCGNMAAAAJ&amp;hl=fr" TargetMode="External"/><Relationship Id="rId7" Type="http://schemas.openxmlformats.org/officeDocument/2006/relationships/hyperlink" Target="https://scholar.google.ca/citations?user=ymzxRhAAAAAJ&amp;hl=en" TargetMode="External"/><Relationship Id="rId2" Type="http://schemas.openxmlformats.org/officeDocument/2006/relationships/hyperlink" Target="https://www.ehazan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jimmylba.github.io/" TargetMode="External"/><Relationship Id="rId5" Type="http://schemas.openxmlformats.org/officeDocument/2006/relationships/hyperlink" Target="https://scholar.google.nl/citations?user=yyIoQu4AAAAJ&amp;hl=en" TargetMode="External"/><Relationship Id="rId4" Type="http://schemas.openxmlformats.org/officeDocument/2006/relationships/hyperlink" Target="http://dpkingma.com/" TargetMode="Externa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hyperlink" Target="https://machinelearningmastery.com/gentle-introduction-mini-batch-gradient-descent-configure-batch-size/" TargetMode="External"/><Relationship Id="rId2" Type="http://schemas.openxmlformats.org/officeDocument/2006/relationships/hyperlink" Target="https://www.analyticsvidhya.com/blog/2021/10/a-comprehensive-guide-on-deep-learning-optimizers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bdtechtalks.com/2022/12/19/forward-forward-algorithm-geoffrey-hinton/" TargetMode="Externa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hyperlink" Target="https://pytorch.org/docs/stable/optim.html#torch.optim.Optimizer" TargetMode="External"/><Relationship Id="rId1" Type="http://schemas.openxmlformats.org/officeDocument/2006/relationships/slideLayout" Target="../slideLayouts/slideLayout4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CEB46-CC16-4D19-8C2C-AEE9471D81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5139" y="942610"/>
            <a:ext cx="11441722" cy="23876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50.039 Theory and Practice of</a:t>
            </a:r>
            <a:br>
              <a:rPr lang="en-US" b="1" dirty="0"/>
            </a:br>
            <a:r>
              <a:rPr lang="en-US" b="1" dirty="0"/>
              <a:t>Deep Learning</a:t>
            </a:r>
            <a:br>
              <a:rPr lang="en-US" dirty="0"/>
            </a:br>
            <a:r>
              <a:rPr lang="en-US" dirty="0"/>
              <a:t>W2-S2 Neural Networks, Initializers, Optimizers and other Good Practices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6ABDE1-A047-4B53-92F2-67282914DD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Matthieu </a:t>
            </a:r>
            <a:r>
              <a:rPr lang="en-US"/>
              <a:t>De Mari</a:t>
            </a:r>
            <a:endParaRPr lang="en-US" dirty="0"/>
          </a:p>
        </p:txBody>
      </p:sp>
      <p:pic>
        <p:nvPicPr>
          <p:cNvPr id="4" name="Picture 3" descr="A picture containing drawing&#10;&#10;Description automatically generated">
            <a:extLst>
              <a:ext uri="{FF2B5EF4-FFF2-40B4-BE49-F238E27FC236}">
                <a16:creationId xmlns:a16="http://schemas.microsoft.com/office/drawing/2014/main" id="{EEFD138E-FF3C-4975-898F-3137195236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4008" y="4484243"/>
            <a:ext cx="4443984" cy="1731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156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40417-A4D3-4CE8-96E7-708E2439A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this week (Week 2)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995840-A9D9-479A-A34F-EA7DC229D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27102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What are the 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typical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initializers for trainable parameters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in Neural Networks?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  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What is </a:t>
            </a:r>
            <a:r>
              <a:rPr lang="en-GB" b="1" dirty="0">
                <a:solidFill>
                  <a:schemeClr val="bg1">
                    <a:lumMod val="65000"/>
                  </a:schemeClr>
                </a:solidFill>
              </a:rPr>
              <a:t>symmetry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 in a Neural Network and why is it essential to </a:t>
            </a:r>
            <a:r>
              <a:rPr lang="en-GB" b="1" dirty="0">
                <a:solidFill>
                  <a:schemeClr val="bg1">
                    <a:lumMod val="65000"/>
                  </a:schemeClr>
                </a:solidFill>
              </a:rPr>
              <a:t>break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GB" b="1" dirty="0">
                <a:solidFill>
                  <a:schemeClr val="bg1">
                    <a:lumMod val="65000"/>
                  </a:schemeClr>
                </a:solidFill>
              </a:rPr>
              <a:t>it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 with proper initializers?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What is the </a:t>
            </a:r>
            <a:r>
              <a:rPr lang="en-GB" b="1" dirty="0">
                <a:solidFill>
                  <a:schemeClr val="bg1">
                    <a:lumMod val="65000"/>
                  </a:schemeClr>
                </a:solidFill>
              </a:rPr>
              <a:t>exploding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GB" b="1" dirty="0">
                <a:solidFill>
                  <a:schemeClr val="bg1">
                    <a:lumMod val="65000"/>
                  </a:schemeClr>
                </a:solidFill>
              </a:rPr>
              <a:t>gradient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 problem?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How to </a:t>
            </a:r>
            <a:r>
              <a:rPr lang="en-GB" b="1" dirty="0">
                <a:solidFill>
                  <a:schemeClr val="bg1">
                    <a:lumMod val="65000"/>
                  </a:schemeClr>
                </a:solidFill>
              </a:rPr>
              <a:t>spot and fix an exploding gradient 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problem?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What is the </a:t>
            </a:r>
            <a:r>
              <a:rPr lang="en-GB" b="1" dirty="0">
                <a:solidFill>
                  <a:schemeClr val="bg1">
                    <a:lumMod val="65000"/>
                  </a:schemeClr>
                </a:solidFill>
              </a:rPr>
              <a:t>vanishing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GB" b="1" dirty="0">
                <a:solidFill>
                  <a:schemeClr val="bg1">
                    <a:lumMod val="65000"/>
                  </a:schemeClr>
                </a:solidFill>
              </a:rPr>
              <a:t>gradient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 problem?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How to </a:t>
            </a:r>
            <a:r>
              <a:rPr lang="en-GB" b="1" dirty="0">
                <a:solidFill>
                  <a:schemeClr val="bg1">
                    <a:lumMod val="65000"/>
                  </a:schemeClr>
                </a:solidFill>
              </a:rPr>
              <a:t>spot and fix a vanishing gradient 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problem?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Why are </a:t>
            </a:r>
            <a:r>
              <a:rPr lang="en-GB" b="1" dirty="0">
                <a:solidFill>
                  <a:schemeClr val="bg1">
                    <a:lumMod val="65000"/>
                  </a:schemeClr>
                </a:solidFill>
              </a:rPr>
              <a:t>activation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GB" b="1" dirty="0">
                <a:solidFill>
                  <a:schemeClr val="bg1">
                    <a:lumMod val="65000"/>
                  </a:schemeClr>
                </a:solidFill>
              </a:rPr>
              <a:t>functions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 needed in Neural Networks?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What is the </a:t>
            </a:r>
            <a:r>
              <a:rPr lang="en-GB" b="1" dirty="0">
                <a:solidFill>
                  <a:schemeClr val="bg1">
                    <a:lumMod val="65000"/>
                  </a:schemeClr>
                </a:solidFill>
              </a:rPr>
              <a:t>universal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GB" b="1" dirty="0">
                <a:solidFill>
                  <a:schemeClr val="bg1">
                    <a:lumMod val="65000"/>
                  </a:schemeClr>
                </a:solidFill>
              </a:rPr>
              <a:t>approximation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GB" b="1" dirty="0">
                <a:solidFill>
                  <a:schemeClr val="bg1">
                    <a:lumMod val="65000"/>
                  </a:schemeClr>
                </a:solidFill>
              </a:rPr>
              <a:t>theorem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?</a:t>
            </a:r>
          </a:p>
          <a:p>
            <a:pPr marL="514350" indent="-514350">
              <a:buFont typeface="+mj-lt"/>
              <a:buAutoNum type="arabicPeriod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425019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40417-A4D3-4CE8-96E7-708E2439A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this week (Week 2)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995840-A9D9-479A-A34F-EA7DC229D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27102"/>
          </a:xfrm>
        </p:spPr>
        <p:txBody>
          <a:bodyPr/>
          <a:lstStyle/>
          <a:p>
            <a:pPr marL="514350" indent="-514350">
              <a:buFont typeface="+mj-lt"/>
              <a:buAutoNum type="arabicPeriod" startAt="9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What are typical 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examples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of 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activation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functions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? Which activations should I be using?</a:t>
            </a:r>
          </a:p>
          <a:p>
            <a:pPr marL="514350" indent="-514350">
              <a:buFont typeface="+mj-lt"/>
              <a:buAutoNum type="arabicPeriod" startAt="9"/>
            </a:pPr>
            <a:r>
              <a:rPr lang="en-US" dirty="0"/>
              <a:t>What are typical examples of </a:t>
            </a:r>
            <a:r>
              <a:rPr lang="en-US" b="1" dirty="0"/>
              <a:t>advanced</a:t>
            </a:r>
            <a:r>
              <a:rPr lang="en-US" dirty="0"/>
              <a:t> </a:t>
            </a:r>
            <a:r>
              <a:rPr lang="en-US" b="1" dirty="0"/>
              <a:t>optimizers</a:t>
            </a:r>
            <a:r>
              <a:rPr lang="en-US" dirty="0"/>
              <a:t>? (</a:t>
            </a:r>
            <a:r>
              <a:rPr lang="en-US" dirty="0" err="1"/>
              <a:t>Adagrad</a:t>
            </a:r>
            <a:r>
              <a:rPr lang="en-US" dirty="0"/>
              <a:t>, </a:t>
            </a:r>
            <a:r>
              <a:rPr lang="en-US" dirty="0" err="1"/>
              <a:t>RMSProp</a:t>
            </a:r>
            <a:r>
              <a:rPr lang="en-US" dirty="0"/>
              <a:t>, Adam, etc.).</a:t>
            </a:r>
          </a:p>
          <a:p>
            <a:pPr marL="514350" indent="-514350">
              <a:buFont typeface="+mj-lt"/>
              <a:buAutoNum type="arabicPeriod" startAt="9"/>
            </a:pPr>
            <a:r>
              <a:rPr lang="en-US" dirty="0"/>
              <a:t>How to </a:t>
            </a:r>
            <a:r>
              <a:rPr lang="en-US" b="1" dirty="0"/>
              <a:t>implement</a:t>
            </a:r>
            <a:r>
              <a:rPr lang="en-US" dirty="0"/>
              <a:t> said </a:t>
            </a:r>
            <a:r>
              <a:rPr lang="en-US" b="1" dirty="0"/>
              <a:t>optimizers</a:t>
            </a:r>
            <a:r>
              <a:rPr lang="en-US" dirty="0"/>
              <a:t> manually?</a:t>
            </a:r>
          </a:p>
          <a:p>
            <a:pPr marL="514350" indent="-514350">
              <a:buFont typeface="+mj-lt"/>
              <a:buAutoNum type="arabicPeriod" startAt="9"/>
            </a:pPr>
            <a:r>
              <a:rPr lang="en-US" dirty="0"/>
              <a:t>What is a </a:t>
            </a:r>
            <a:r>
              <a:rPr lang="en-US" b="1" dirty="0"/>
              <a:t>stochastic</a:t>
            </a:r>
            <a:r>
              <a:rPr lang="en-US" dirty="0"/>
              <a:t> </a:t>
            </a:r>
            <a:r>
              <a:rPr lang="en-US" b="1" dirty="0"/>
              <a:t>gradient</a:t>
            </a:r>
            <a:r>
              <a:rPr lang="en-US" dirty="0"/>
              <a:t> </a:t>
            </a:r>
            <a:r>
              <a:rPr lang="en-US" b="1" dirty="0"/>
              <a:t>descent</a:t>
            </a:r>
            <a:r>
              <a:rPr lang="en-US" dirty="0"/>
              <a:t> and what are its </a:t>
            </a:r>
            <a:r>
              <a:rPr lang="en-US" b="1" dirty="0"/>
              <a:t>benefits</a:t>
            </a:r>
            <a:r>
              <a:rPr lang="en-US" dirty="0"/>
              <a:t>?</a:t>
            </a:r>
          </a:p>
          <a:p>
            <a:pPr marL="514350" indent="-514350">
              <a:buFont typeface="+mj-lt"/>
              <a:buAutoNum type="arabicPeriod" startAt="9"/>
            </a:pPr>
            <a:r>
              <a:rPr lang="en-US" dirty="0"/>
              <a:t>How to implement the </a:t>
            </a:r>
            <a:r>
              <a:rPr lang="en-US" b="1" dirty="0"/>
              <a:t>stochastic</a:t>
            </a:r>
            <a:r>
              <a:rPr lang="en-US" dirty="0"/>
              <a:t> </a:t>
            </a:r>
            <a:r>
              <a:rPr lang="en-US" b="1" dirty="0"/>
              <a:t>gradient</a:t>
            </a:r>
            <a:r>
              <a:rPr lang="en-US" dirty="0"/>
              <a:t> </a:t>
            </a:r>
            <a:r>
              <a:rPr lang="en-US" b="1" dirty="0"/>
              <a:t>descent</a:t>
            </a:r>
            <a:r>
              <a:rPr lang="en-US" dirty="0"/>
              <a:t> manually?</a:t>
            </a:r>
          </a:p>
          <a:p>
            <a:pPr marL="514350" indent="-514350">
              <a:buFont typeface="+mj-lt"/>
              <a:buAutoNum type="arabicPeriod" startAt="9"/>
            </a:pPr>
            <a:r>
              <a:rPr lang="en-US" dirty="0"/>
              <a:t>What is a </a:t>
            </a:r>
            <a:r>
              <a:rPr lang="en-US" b="1" dirty="0"/>
              <a:t>mini-batch</a:t>
            </a:r>
            <a:r>
              <a:rPr lang="en-US" dirty="0"/>
              <a:t> </a:t>
            </a:r>
            <a:r>
              <a:rPr lang="en-US" b="1" dirty="0"/>
              <a:t>gradient</a:t>
            </a:r>
            <a:r>
              <a:rPr lang="en-US" dirty="0"/>
              <a:t> </a:t>
            </a:r>
            <a:r>
              <a:rPr lang="en-US" b="1" dirty="0"/>
              <a:t>descent</a:t>
            </a:r>
            <a:r>
              <a:rPr lang="en-US" dirty="0"/>
              <a:t> and what are its </a:t>
            </a:r>
            <a:r>
              <a:rPr lang="en-US" b="1" dirty="0"/>
              <a:t>benefits</a:t>
            </a:r>
            <a:r>
              <a:rPr lang="en-US" dirty="0"/>
              <a:t>?</a:t>
            </a:r>
          </a:p>
          <a:p>
            <a:pPr marL="514350" indent="-514350">
              <a:buFont typeface="+mj-lt"/>
              <a:buAutoNum type="arabicPeriod" startAt="9"/>
            </a:pPr>
            <a:r>
              <a:rPr lang="en-US" dirty="0"/>
              <a:t>How to implement the </a:t>
            </a:r>
            <a:r>
              <a:rPr lang="en-US" b="1" dirty="0"/>
              <a:t>mini-batch</a:t>
            </a:r>
            <a:r>
              <a:rPr lang="en-US" dirty="0"/>
              <a:t> </a:t>
            </a:r>
            <a:r>
              <a:rPr lang="en-US" b="1" dirty="0"/>
              <a:t>gradient</a:t>
            </a:r>
            <a:r>
              <a:rPr lang="en-US" dirty="0"/>
              <a:t> </a:t>
            </a:r>
            <a:r>
              <a:rPr lang="en-US" b="1" dirty="0"/>
              <a:t>descent</a:t>
            </a:r>
            <a:r>
              <a:rPr lang="en-US" dirty="0"/>
              <a:t> manually?</a:t>
            </a:r>
          </a:p>
          <a:p>
            <a:pPr marL="514350" indent="-514350">
              <a:buFont typeface="+mj-lt"/>
              <a:buAutoNum type="arabicPeriod" startAt="9"/>
            </a:pPr>
            <a:r>
              <a:rPr lang="en-US" dirty="0"/>
              <a:t>How to </a:t>
            </a:r>
            <a:r>
              <a:rPr lang="en-US" b="1" dirty="0"/>
              <a:t>combine</a:t>
            </a:r>
            <a:r>
              <a:rPr lang="en-US" dirty="0"/>
              <a:t> </a:t>
            </a:r>
            <a:r>
              <a:rPr lang="en-US" b="1" dirty="0"/>
              <a:t>all</a:t>
            </a:r>
            <a:r>
              <a:rPr lang="en-US" dirty="0"/>
              <a:t> </a:t>
            </a:r>
            <a:r>
              <a:rPr lang="en-US" b="1" dirty="0"/>
              <a:t>optimizers</a:t>
            </a:r>
            <a:r>
              <a:rPr lang="en-US" dirty="0"/>
              <a:t> </a:t>
            </a:r>
            <a:r>
              <a:rPr lang="en-US" b="1" dirty="0"/>
              <a:t>concepts</a:t>
            </a:r>
            <a:r>
              <a:rPr lang="en-US" dirty="0"/>
              <a:t> into a great optimizer?</a:t>
            </a:r>
          </a:p>
          <a:p>
            <a:pPr marL="514350" indent="-514350">
              <a:buFont typeface="+mj-lt"/>
              <a:buAutoNum type="arabicPeriod" startAt="9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0403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40417-A4D3-4CE8-96E7-708E2439A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this week (Week 2)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995840-A9D9-479A-A34F-EA7DC229D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27102"/>
          </a:xfrm>
        </p:spPr>
        <p:txBody>
          <a:bodyPr/>
          <a:lstStyle/>
          <a:p>
            <a:pPr marL="514350" indent="-514350">
              <a:buFont typeface="+mj-lt"/>
              <a:buAutoNum type="arabicPeriod" startAt="17"/>
            </a:pPr>
            <a:r>
              <a:rPr lang="en-US" dirty="0"/>
              <a:t>What is the </a:t>
            </a:r>
            <a:r>
              <a:rPr lang="en-US" b="1" dirty="0"/>
              <a:t>no free lunch theorem</a:t>
            </a:r>
            <a:r>
              <a:rPr lang="en-US" dirty="0"/>
              <a:t>?</a:t>
            </a:r>
          </a:p>
          <a:p>
            <a:pPr marL="514350" indent="-514350">
              <a:buFont typeface="+mj-lt"/>
              <a:buAutoNum type="arabicPeriod" startAt="17"/>
            </a:pPr>
            <a:r>
              <a:rPr lang="en-US" dirty="0"/>
              <a:t>What is the </a:t>
            </a:r>
            <a:r>
              <a:rPr lang="en-US" b="1" dirty="0"/>
              <a:t>train-test-validation split</a:t>
            </a:r>
            <a:r>
              <a:rPr lang="en-US" dirty="0"/>
              <a:t>?</a:t>
            </a:r>
            <a:br>
              <a:rPr lang="en-US" dirty="0"/>
            </a:br>
            <a:r>
              <a:rPr lang="en-US" dirty="0"/>
              <a:t>Why is it </a:t>
            </a:r>
            <a:r>
              <a:rPr lang="en-US" b="1" dirty="0"/>
              <a:t>good</a:t>
            </a:r>
            <a:r>
              <a:rPr lang="en-US" dirty="0"/>
              <a:t> </a:t>
            </a:r>
            <a:r>
              <a:rPr lang="en-US" b="1" dirty="0"/>
              <a:t>practice</a:t>
            </a:r>
            <a:r>
              <a:rPr lang="en-US" dirty="0"/>
              <a:t> to use an extra validation set?</a:t>
            </a:r>
          </a:p>
          <a:p>
            <a:pPr marL="514350" indent="-514350">
              <a:buFont typeface="+mj-lt"/>
              <a:buAutoNum type="arabicPeriod" startAt="17"/>
            </a:pPr>
            <a:r>
              <a:rPr lang="en-US" dirty="0"/>
              <a:t>What is the </a:t>
            </a:r>
            <a:r>
              <a:rPr lang="en-US" b="1" dirty="0"/>
              <a:t>early</a:t>
            </a:r>
            <a:r>
              <a:rPr lang="en-US" dirty="0"/>
              <a:t> </a:t>
            </a:r>
            <a:r>
              <a:rPr lang="en-US" b="1" dirty="0"/>
              <a:t>stopping</a:t>
            </a:r>
            <a:r>
              <a:rPr lang="en-US" dirty="0"/>
              <a:t> of optimizer concept?</a:t>
            </a:r>
            <a:br>
              <a:rPr lang="en-US" dirty="0"/>
            </a:br>
            <a:r>
              <a:rPr lang="en-US" dirty="0"/>
              <a:t>Why is it </a:t>
            </a:r>
            <a:r>
              <a:rPr lang="en-US" b="1" dirty="0"/>
              <a:t>good</a:t>
            </a:r>
            <a:r>
              <a:rPr lang="en-US" dirty="0"/>
              <a:t> </a:t>
            </a:r>
            <a:r>
              <a:rPr lang="en-US" b="1" dirty="0"/>
              <a:t>practice</a:t>
            </a:r>
            <a:r>
              <a:rPr lang="en-US" dirty="0"/>
              <a:t> to use it?</a:t>
            </a:r>
          </a:p>
          <a:p>
            <a:pPr marL="514350" indent="-514350">
              <a:buFont typeface="+mj-lt"/>
              <a:buAutoNum type="arabicPeriod" startAt="17"/>
            </a:pPr>
            <a:r>
              <a:rPr lang="en-US" dirty="0"/>
              <a:t>What are </a:t>
            </a:r>
            <a:r>
              <a:rPr lang="en-US" b="1" dirty="0"/>
              <a:t>saver</a:t>
            </a:r>
            <a:r>
              <a:rPr lang="en-US" dirty="0"/>
              <a:t> and </a:t>
            </a:r>
            <a:r>
              <a:rPr lang="en-US" b="1" dirty="0"/>
              <a:t>loader</a:t>
            </a:r>
            <a:r>
              <a:rPr lang="en-US" dirty="0"/>
              <a:t> functions?</a:t>
            </a:r>
            <a:br>
              <a:rPr lang="en-US" dirty="0"/>
            </a:br>
            <a:r>
              <a:rPr lang="en-US" dirty="0"/>
              <a:t>Why is it </a:t>
            </a:r>
            <a:r>
              <a:rPr lang="en-US" b="1" dirty="0"/>
              <a:t>good</a:t>
            </a:r>
            <a:r>
              <a:rPr lang="en-US" dirty="0"/>
              <a:t> </a:t>
            </a:r>
            <a:r>
              <a:rPr lang="en-US" b="1" dirty="0"/>
              <a:t>practice</a:t>
            </a:r>
            <a:r>
              <a:rPr lang="en-US" dirty="0"/>
              <a:t> to use them?</a:t>
            </a:r>
          </a:p>
          <a:p>
            <a:pPr marL="514350" indent="-514350">
              <a:buFont typeface="+mj-lt"/>
              <a:buAutoNum type="arabicPeriod" startAt="17"/>
            </a:pPr>
            <a:r>
              <a:rPr lang="en-US" dirty="0"/>
              <a:t>What are </a:t>
            </a:r>
            <a:r>
              <a:rPr lang="en-US" b="1" dirty="0"/>
              <a:t>other common good practices </a:t>
            </a:r>
            <a:r>
              <a:rPr lang="en-US" dirty="0"/>
              <a:t>when it comes to Neural Networks?</a:t>
            </a:r>
          </a:p>
          <a:p>
            <a:pPr marL="514350" indent="-514350">
              <a:buFont typeface="+mj-lt"/>
              <a:buAutoNum type="arabicPeriod" startAt="17"/>
            </a:pPr>
            <a:r>
              <a:rPr lang="en-US"/>
              <a:t>How to decide on </a:t>
            </a:r>
            <a:r>
              <a:rPr lang="en-US" b="1"/>
              <a:t>an appropriate number of layers and neurons</a:t>
            </a:r>
            <a:r>
              <a:rPr lang="en-US"/>
              <a:t>?</a:t>
            </a:r>
          </a:p>
          <a:p>
            <a:pPr marL="514350" indent="-514350">
              <a:buFont typeface="+mj-lt"/>
              <a:buAutoNum type="arabicPeriod" startAt="17"/>
            </a:pPr>
            <a:endParaRPr lang="en-US" dirty="0"/>
          </a:p>
          <a:p>
            <a:pPr marL="514350" indent="-514350">
              <a:buFont typeface="+mj-lt"/>
              <a:buAutoNum type="arabicPeriod" startAt="17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967173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04E3A-23DD-CF64-9047-E77A146CF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problem with the GD algorithm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B8F0BB-489A-5ED4-5B94-4E425ACF1A1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Let us consider the following function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GB" dirty="0"/>
                  <a:t>: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SG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SG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SG" i="1" dirty="0" smtClean="0">
                              <a:latin typeface="Cambria Math" panose="02040503050406030204" pitchFamily="18" charset="0"/>
                            </a:rPr>
                            <m:t>319</m:t>
                          </m:r>
                        </m:num>
                        <m:den>
                          <m:r>
                            <a:rPr lang="en-SG" i="1" dirty="0" smtClean="0">
                              <a:latin typeface="Cambria Math" panose="02040503050406030204" pitchFamily="18" charset="0"/>
                            </a:rPr>
                            <m:t>8400</m:t>
                          </m:r>
                        </m:den>
                      </m:f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SG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SG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SG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 +</m:t>
                      </m:r>
                      <m:f>
                        <m:f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SG" i="1" dirty="0" smtClean="0">
                              <a:latin typeface="Cambria Math" panose="02040503050406030204" pitchFamily="18" charset="0"/>
                            </a:rPr>
                            <m:t>43</m:t>
                          </m:r>
                        </m:num>
                        <m:den>
                          <m:r>
                            <a:rPr lang="en-SG" i="1" dirty="0" smtClean="0">
                              <a:latin typeface="Cambria Math" panose="02040503050406030204" pitchFamily="18" charset="0"/>
                            </a:rPr>
                            <m:t>4200</m:t>
                          </m:r>
                        </m:den>
                      </m:f>
                      <m:sSup>
                        <m:sSupPr>
                          <m:ctrlPr>
                            <a:rPr lang="en-SG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SG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SG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 −</m:t>
                      </m:r>
                      <m:f>
                        <m:f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SG" i="1" dirty="0" smtClean="0">
                              <a:latin typeface="Cambria Math" panose="02040503050406030204" pitchFamily="18" charset="0"/>
                            </a:rPr>
                            <m:t>6799</m:t>
                          </m:r>
                        </m:num>
                        <m:den>
                          <m:r>
                            <a:rPr lang="en-SG" i="1" dirty="0" smtClean="0">
                              <a:latin typeface="Cambria Math" panose="02040503050406030204" pitchFamily="18" charset="0"/>
                            </a:rPr>
                            <m:t>8400</m:t>
                          </m:r>
                        </m:den>
                      </m:f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SG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SG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SG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 −</m:t>
                      </m:r>
                      <m:f>
                        <m:f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SG" i="1" dirty="0" smtClean="0">
                              <a:latin typeface="Cambria Math" panose="02040503050406030204" pitchFamily="18" charset="0"/>
                            </a:rPr>
                            <m:t>299</m:t>
                          </m:r>
                        </m:num>
                        <m:den>
                          <m:r>
                            <a:rPr lang="en-SG" i="1" dirty="0" smtClean="0">
                              <a:latin typeface="Cambria Math" panose="02040503050406030204" pitchFamily="18" charset="0"/>
                            </a:rPr>
                            <m:t>840</m:t>
                          </m:r>
                        </m:den>
                      </m:f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 + 6</m:t>
                      </m:r>
                    </m:oMath>
                  </m:oMathPara>
                </a14:m>
                <a:endParaRPr lang="en-SG" dirty="0"/>
              </a:p>
              <a:p>
                <a:pPr marL="0" indent="0">
                  <a:buNone/>
                </a:pPr>
                <a:endParaRPr lang="en-SG" dirty="0"/>
              </a:p>
              <a:p>
                <a:pPr marL="0" indent="0">
                  <a:buNone/>
                </a:pPr>
                <a:r>
                  <a:rPr lang="en-SG" dirty="0"/>
                  <a:t>And let us assume we are trying to solve the optimization problem:</a:t>
                </a:r>
              </a:p>
              <a:p>
                <a:pPr marL="0" indent="0">
                  <a:buNone/>
                </a:pPr>
                <a:endParaRPr lang="en-SG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b="0" i="0" smtClean="0">
                                      <a:latin typeface="Cambria Math" panose="02040503050406030204" pitchFamily="18" charset="0"/>
                                    </a:rPr>
                                    <m:t>min</m:t>
                                  </m:r>
                                </m:e>
                                <m:lim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  <a:endParaRPr lang="en-SG" dirty="0"/>
              </a:p>
              <a:p>
                <a:pPr marL="0" indent="0">
                  <a:buNone/>
                </a:pPr>
                <a:endParaRPr lang="en-SG" dirty="0"/>
              </a:p>
              <a:p>
                <a:pPr marL="0" indent="0">
                  <a:buNone/>
                </a:pPr>
                <a:endParaRPr lang="en-SG" dirty="0"/>
              </a:p>
              <a:p>
                <a:pPr marL="0" indent="0">
                  <a:buNone/>
                </a:pPr>
                <a:endParaRPr lang="en-S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B8F0BB-489A-5ED4-5B94-4E425ACF1A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217" t="-193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94180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F47DA-32AE-D8A2-4BF3-9F1F7DA67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problem with the GD algorithm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BE038E-B3F3-E503-09A3-C905DA4ED3E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SG" dirty="0"/>
                  <a:t>The derivative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SG" dirty="0"/>
                  <a:t> is:</a:t>
                </a:r>
              </a:p>
              <a:p>
                <a:pPr marL="0" indent="0">
                  <a:buNone/>
                </a:pPr>
                <a:endParaRPr lang="en-SG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SG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SG" i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SG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SG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SG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SG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SG" i="1" dirty="0" smtClean="0">
                              <a:latin typeface="Cambria Math" panose="02040503050406030204" pitchFamily="18" charset="0"/>
                            </a:rPr>
                            <m:t>1276</m:t>
                          </m:r>
                        </m:num>
                        <m:den>
                          <m:r>
                            <a:rPr lang="en-SG" i="1" dirty="0" smtClean="0">
                              <a:latin typeface="Cambria Math" panose="02040503050406030204" pitchFamily="18" charset="0"/>
                            </a:rPr>
                            <m:t>8400</m:t>
                          </m:r>
                        </m:den>
                      </m:f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SG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SG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SG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SG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SG" i="1" dirty="0" smtClean="0">
                              <a:latin typeface="Cambria Math" panose="02040503050406030204" pitchFamily="18" charset="0"/>
                            </a:rPr>
                            <m:t>129</m:t>
                          </m:r>
                        </m:num>
                        <m:den>
                          <m:r>
                            <a:rPr lang="en-SG" i="1" dirty="0" smtClean="0">
                              <a:latin typeface="Cambria Math" panose="02040503050406030204" pitchFamily="18" charset="0"/>
                            </a:rPr>
                            <m:t>4200</m:t>
                          </m:r>
                        </m:den>
                      </m:f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SG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SG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SG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 −</m:t>
                      </m:r>
                      <m:f>
                        <m:fPr>
                          <m:ctrlPr>
                            <a:rPr lang="en-SG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SG" i="1" dirty="0" smtClean="0">
                              <a:latin typeface="Cambria Math" panose="02040503050406030204" pitchFamily="18" charset="0"/>
                            </a:rPr>
                            <m:t>13598</m:t>
                          </m:r>
                        </m:num>
                        <m:den>
                          <m:r>
                            <a:rPr lang="en-SG" i="1" dirty="0" smtClean="0">
                              <a:latin typeface="Cambria Math" panose="02040503050406030204" pitchFamily="18" charset="0"/>
                            </a:rPr>
                            <m:t>8400</m:t>
                          </m:r>
                        </m:den>
                      </m:f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 −</m:t>
                      </m:r>
                      <m:f>
                        <m:fPr>
                          <m:ctrlPr>
                            <a:rPr lang="en-SG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SG" i="1" dirty="0" smtClean="0">
                              <a:latin typeface="Cambria Math" panose="02040503050406030204" pitchFamily="18" charset="0"/>
                            </a:rPr>
                            <m:t>299</m:t>
                          </m:r>
                        </m:num>
                        <m:den>
                          <m:r>
                            <a:rPr lang="en-SG" i="1" dirty="0" smtClean="0">
                              <a:latin typeface="Cambria Math" panose="02040503050406030204" pitchFamily="18" charset="0"/>
                            </a:rPr>
                            <m:t>840</m:t>
                          </m:r>
                        </m:den>
                      </m:f>
                    </m:oMath>
                  </m:oMathPara>
                </a14:m>
                <a:endParaRPr lang="en-SG" dirty="0"/>
              </a:p>
              <a:p>
                <a:pPr marL="0" indent="0">
                  <a:buNone/>
                </a:pPr>
                <a:endParaRPr lang="en-SG" dirty="0"/>
              </a:p>
              <a:p>
                <a:pPr marL="0" indent="0">
                  <a:buNone/>
                </a:pPr>
                <a:r>
                  <a:rPr lang="en-SG" dirty="0"/>
                  <a:t>Following from this result, we could use gradient descent to solve the previous optimization by using the following update rule:</a:t>
                </a:r>
              </a:p>
              <a:p>
                <a:pPr marL="0" indent="0">
                  <a:buNone/>
                </a:pPr>
                <a:endParaRPr lang="en-SG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′(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BE038E-B3F3-E503-09A3-C905DA4ED3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70585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1A3FD9E-C66E-E4EA-CCCF-F0A7D04DC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problem with the GD algorithm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B96C5E7-61E6-9340-C448-F95002A2315C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GB" dirty="0"/>
                  <a:t>Our </a:t>
                </a:r>
                <a:r>
                  <a:rPr lang="en-GB" b="1" dirty="0"/>
                  <a:t>vanilla gradient descent algorithm </a:t>
                </a:r>
                <a:r>
                  <a:rPr lang="en-GB" dirty="0"/>
                  <a:t>is implemented by manually defining the objective function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SG" dirty="0"/>
                  <a:t> and its derivative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SG" dirty="0"/>
                  <a:t>.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B96C5E7-61E6-9340-C448-F95002A231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471" t="-22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01E66A8-75AB-D7EF-35FB-458890B7FD9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We can then implement our “</a:t>
            </a:r>
            <a:r>
              <a:rPr lang="en-GB" b="1" dirty="0"/>
              <a:t>vanilla” gradient descent algorithm </a:t>
            </a:r>
            <a:r>
              <a:rPr lang="en-GB" dirty="0"/>
              <a:t>for this optimization problem as shown below.</a:t>
            </a:r>
            <a:endParaRPr lang="en-SG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0354547-8627-17C8-BCA9-E3148FD0A4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4" y="3611223"/>
            <a:ext cx="5753903" cy="310558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3985BCE-B2F7-5266-3491-18EB202F93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3646" y="3833561"/>
            <a:ext cx="5229955" cy="184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6490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1A3FD9E-C66E-E4EA-CCCF-F0A7D04DC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problem with the GD algorithm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B96C5E7-61E6-9340-C448-F95002A2315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GB" dirty="0"/>
                  <a:t>The function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SG" dirty="0"/>
                  <a:t> admits a </a:t>
                </a:r>
                <a:r>
                  <a:rPr lang="en-SG" b="1" dirty="0"/>
                  <a:t>global minimum </a:t>
                </a:r>
                <a:r>
                  <a:rPr lang="en-SG" dirty="0"/>
                  <a:t>at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≈3.27</m:t>
                    </m:r>
                  </m:oMath>
                </a14:m>
                <a:r>
                  <a:rPr lang="en-SG" dirty="0"/>
                  <a:t> and a </a:t>
                </a:r>
                <a:r>
                  <a:rPr lang="en-SG" b="1" dirty="0"/>
                  <a:t>local (non-global) minimum </a:t>
                </a:r>
                <a:r>
                  <a:rPr lang="en-SG" dirty="0"/>
                  <a:t>at </a:t>
                </a:r>
                <a14:m>
                  <m:oMath xmlns:m="http://schemas.openxmlformats.org/officeDocument/2006/math">
                    <m:r>
                      <a:rPr lang="en-SG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SG" i="1" dirty="0" smtClean="0">
                        <a:latin typeface="Cambria Math" panose="02040503050406030204" pitchFamily="18" charset="0"/>
                      </a:rPr>
                      <m:t>≈ −3.25</m:t>
                    </m:r>
                  </m:oMath>
                </a14:m>
                <a:r>
                  <a:rPr lang="en-SG" dirty="0"/>
                  <a:t>, as shown in the figure below.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B96C5E7-61E6-9340-C448-F95002A231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7D398792-6DD6-F452-B740-657EC29302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0676" y="3000666"/>
            <a:ext cx="5771241" cy="3857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5411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6035A0E-EDB9-AFA3-98B0-DA55CAD967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621" y="0"/>
            <a:ext cx="102607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9803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1A3FD9E-C66E-E4EA-CCCF-F0A7D04DC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problem with the GD algorithm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B96C5E7-61E6-9340-C448-F95002A2315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GB" dirty="0"/>
                  <a:t>When using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i="1" dirty="0" smtClean="0">
                        <a:latin typeface="Cambria Math" panose="02040503050406030204" pitchFamily="18" charset="0"/>
                      </a:rPr>
                      <m:t> = 5 </m:t>
                    </m:r>
                  </m:oMath>
                </a14:m>
                <a:r>
                  <a:rPr lang="en-GB" dirty="0"/>
                  <a:t>as a </a:t>
                </a:r>
                <a:r>
                  <a:rPr lang="en-GB" b="1" dirty="0"/>
                  <a:t>starting point </a:t>
                </a:r>
                <a:r>
                  <a:rPr lang="en-GB" dirty="0"/>
                  <a:t>for our </a:t>
                </a:r>
                <a:r>
                  <a:rPr lang="en-GB" b="1" dirty="0"/>
                  <a:t>gradient descent algorithm</a:t>
                </a:r>
                <a:r>
                  <a:rPr lang="en-GB" dirty="0"/>
                  <a:t>, we end up converging to the global minimum.</a:t>
                </a:r>
              </a:p>
              <a:p>
                <a:pPr marL="0" indent="0">
                  <a:buNone/>
                </a:pPr>
                <a:r>
                  <a:rPr lang="en-GB" dirty="0"/>
                  <a:t>(Success!)</a:t>
                </a:r>
                <a:endParaRPr lang="en-SG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B96C5E7-61E6-9340-C448-F95002A231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2922C7FA-070B-E8F2-3F02-21B7E9B9FE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701" y="4001294"/>
            <a:ext cx="6754168" cy="20386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F3C797E-9E26-E738-F9DA-D9E95F54AF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9389" y="3595077"/>
            <a:ext cx="4636343" cy="30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1009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1A3FD9E-C66E-E4EA-CCCF-F0A7D04DC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problem with the GD algorithm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B96C5E7-61E6-9340-C448-F95002A2315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GB" dirty="0"/>
                  <a:t>When using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i="1" dirty="0" smtClean="0">
                        <a:latin typeface="Cambria Math" panose="02040503050406030204" pitchFamily="18" charset="0"/>
                      </a:rPr>
                      <m:t> =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5 </m:t>
                    </m:r>
                  </m:oMath>
                </a14:m>
                <a:r>
                  <a:rPr lang="en-GB" dirty="0"/>
                  <a:t>as a </a:t>
                </a:r>
                <a:r>
                  <a:rPr lang="en-GB" b="1" dirty="0"/>
                  <a:t>starting point </a:t>
                </a:r>
                <a:r>
                  <a:rPr lang="en-GB" dirty="0"/>
                  <a:t>for our </a:t>
                </a:r>
                <a:r>
                  <a:rPr lang="en-GB" b="1" dirty="0"/>
                  <a:t>gradient descent</a:t>
                </a:r>
                <a:r>
                  <a:rPr lang="en-GB" dirty="0"/>
                  <a:t>, however, we end up converging to the local (non-global) minimum.</a:t>
                </a:r>
              </a:p>
              <a:p>
                <a:pPr marL="0" indent="0">
                  <a:buNone/>
                </a:pPr>
                <a:r>
                  <a:rPr lang="en-GB" b="1" dirty="0"/>
                  <a:t>Observation: </a:t>
                </a:r>
                <a:r>
                  <a:rPr lang="en-GB" dirty="0"/>
                  <a:t>Unfortunately, in the presence of local non-global minima, the GD algorithm might end up getting trapped and converging to the wrong minimum.</a:t>
                </a:r>
                <a:endParaRPr lang="en-SG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B96C5E7-61E6-9340-C448-F95002A231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5A0B3487-D23C-CE53-10CE-9BD14B405B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647" y="4147381"/>
            <a:ext cx="6887536" cy="20957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A82E22C-72AC-F7E1-0CF5-B580440978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9389" y="3595077"/>
            <a:ext cx="4636343" cy="30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8616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1A3FD9E-C66E-E4EA-CCCF-F0A7D04DC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problem with the GD algorithm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B96C5E7-61E6-9340-C448-F95002A2315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GB" dirty="0"/>
                  <a:t>When using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i="1" dirty="0">
                        <a:latin typeface="Cambria Math" panose="02040503050406030204" pitchFamily="18" charset="0"/>
                      </a:rPr>
                      <m:t> =−5 </m:t>
                    </m:r>
                  </m:oMath>
                </a14:m>
                <a:r>
                  <a:rPr lang="en-GB" dirty="0"/>
                  <a:t>as a </a:t>
                </a:r>
                <a:r>
                  <a:rPr lang="en-GB" b="1" dirty="0"/>
                  <a:t>starting point </a:t>
                </a:r>
                <a:r>
                  <a:rPr lang="en-GB" dirty="0"/>
                  <a:t>for our </a:t>
                </a:r>
                <a:r>
                  <a:rPr lang="en-GB" b="1" dirty="0"/>
                  <a:t>gradient descent</a:t>
                </a:r>
                <a:r>
                  <a:rPr lang="en-GB" dirty="0"/>
                  <a:t>, however, we end up converging to the local (non-global) minimum.</a:t>
                </a:r>
              </a:p>
              <a:p>
                <a:pPr marL="0" indent="0">
                  <a:buNone/>
                </a:pPr>
                <a:r>
                  <a:rPr lang="en-GB" b="1" dirty="0"/>
                  <a:t>Observation: </a:t>
                </a:r>
                <a:r>
                  <a:rPr lang="en-GB" dirty="0"/>
                  <a:t>Unfortunately, in the presence of local non-global minima, the GD algorithm might end up getting trapped and converging to the wrong minimum.</a:t>
                </a:r>
                <a:endParaRPr lang="en-SG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In the case of our Neural Networks:</a:t>
                </a:r>
              </a:p>
              <a:p>
                <a:r>
                  <a:rPr lang="en-GB" dirty="0"/>
                  <a:t>This could lead to choosing </a:t>
                </a:r>
                <a:r>
                  <a:rPr lang="en-GB" b="1" dirty="0"/>
                  <a:t>suboptimal</a:t>
                </a:r>
                <a:r>
                  <a:rPr lang="en-GB" dirty="0"/>
                  <a:t> </a:t>
                </a:r>
                <a:r>
                  <a:rPr lang="en-GB" b="1" dirty="0"/>
                  <a:t>parameters</a:t>
                </a:r>
                <a:r>
                  <a:rPr lang="en-GB" dirty="0"/>
                  <a:t> </a:t>
                </a:r>
                <a:r>
                  <a:rPr lang="en-GB" b="1" dirty="0"/>
                  <a:t>𝑊</a:t>
                </a:r>
                <a:r>
                  <a:rPr lang="en-GB" dirty="0"/>
                  <a:t> </a:t>
                </a:r>
                <a:r>
                  <a:rPr lang="en-GB" b="1" dirty="0"/>
                  <a:t>and</a:t>
                </a:r>
                <a:r>
                  <a:rPr lang="en-GB" dirty="0"/>
                  <a:t> </a:t>
                </a:r>
                <a:r>
                  <a:rPr lang="en-GB" b="1" dirty="0"/>
                  <a:t>𝑏</a:t>
                </a:r>
                <a:r>
                  <a:rPr lang="en-GB" dirty="0"/>
                  <a:t>, which are not going to minimize the loss function used for training,</a:t>
                </a:r>
              </a:p>
              <a:p>
                <a:r>
                  <a:rPr lang="en-GB" dirty="0"/>
                  <a:t>And therefore, lead to </a:t>
                </a:r>
                <a:r>
                  <a:rPr lang="en-GB" b="1" dirty="0"/>
                  <a:t>a Neural Network that has not been optimally trained for its task</a:t>
                </a:r>
                <a:r>
                  <a:rPr lang="en-GB" dirty="0"/>
                  <a:t>.</a:t>
                </a:r>
                <a:endParaRPr lang="en-SG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B96C5E7-61E6-9340-C448-F95002A231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217" t="-1937" r="-1449" b="-18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719355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1A3FD9E-C66E-E4EA-CCCF-F0A7D04DC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problem with the GD algorithm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B96C5E7-61E6-9340-C448-F95002A2315C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4"/>
                <a:ext cx="5334002" cy="5032375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GB" dirty="0"/>
                  <a:t>Remember</a:t>
                </a:r>
              </a:p>
              <a:p>
                <a:r>
                  <a:rPr lang="en-GB" b="1" dirty="0"/>
                  <a:t>When the function is convex:</a:t>
                </a:r>
                <a:br>
                  <a:rPr lang="en-GB" b="1" dirty="0"/>
                </a:br>
                <a:r>
                  <a:rPr lang="en-GB" dirty="0"/>
                  <a:t>GD is guaranteed to converge to the global minimum, no matter the starting point.</a:t>
                </a:r>
              </a:p>
              <a:p>
                <a:r>
                  <a:rPr lang="en-GB" b="1" dirty="0"/>
                  <a:t>When the function is not convex (and our function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latin typeface="Cambria Math" panose="02040503050406030204" pitchFamily="18" charset="0"/>
                      </a:rPr>
                      <m:t>𝒇</m:t>
                    </m:r>
                  </m:oMath>
                </a14:m>
                <a:r>
                  <a:rPr lang="en-GB" b="1" dirty="0"/>
                  <a:t> is often not): </a:t>
                </a:r>
                <a:r>
                  <a:rPr lang="en-GB" dirty="0"/>
                  <a:t>the starting point has an impact and might lead to a completely different outcome.</a:t>
                </a:r>
              </a:p>
              <a:p>
                <a:r>
                  <a:rPr lang="en-GB" dirty="0"/>
                  <a:t>Solutions exist but are not guaranteed to work.</a:t>
                </a:r>
                <a:endParaRPr lang="en-SG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B96C5E7-61E6-9340-C448-F95002A231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4"/>
                <a:ext cx="5334002" cy="5032375"/>
              </a:xfrm>
              <a:blipFill>
                <a:blip r:embed="rId2"/>
                <a:stretch>
                  <a:fillRect l="-2400" t="-2663" r="-217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73D6465A-9544-2064-8309-3CC636D984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2" y="1825624"/>
            <a:ext cx="5834606" cy="4043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4055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1CD40-9CEF-7D65-BA64-AB994C315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Adding momentum to gradient descent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041A3D-657F-3F7B-EC53-EEC71F3F4D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b="1" dirty="0"/>
              <a:t>Definition (Gradient Descent with Added </a:t>
            </a:r>
            <a:r>
              <a:rPr lang="en-GB" b="1" dirty="0">
                <a:solidFill>
                  <a:srgbClr val="00B050"/>
                </a:solidFill>
              </a:rPr>
              <a:t>Momentum</a:t>
            </a:r>
            <a:r>
              <a:rPr lang="en-GB" b="1" dirty="0"/>
              <a:t>):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To alleviate this phenomenon, we propose to use </a:t>
            </a:r>
            <a:r>
              <a:rPr lang="en-GB" b="1" dirty="0">
                <a:solidFill>
                  <a:srgbClr val="00B050"/>
                </a:solidFill>
              </a:rPr>
              <a:t>momentum</a:t>
            </a:r>
            <a:r>
              <a:rPr lang="en-GB" dirty="0"/>
              <a:t>.</a:t>
            </a:r>
          </a:p>
          <a:p>
            <a:pPr marL="0" indent="0">
              <a:buNone/>
            </a:pPr>
            <a:r>
              <a:rPr lang="en-GB" dirty="0"/>
              <a:t>It is a method that helps accelerate the training process by updating the weights of the model by reusing values from the past gradients.</a:t>
            </a:r>
          </a:p>
          <a:p>
            <a:pPr marL="0" indent="0">
              <a:buNone/>
            </a:pPr>
            <a:r>
              <a:rPr lang="en-GB" dirty="0"/>
              <a:t>The idea is that, if a direction in the parameters space consistently leads to good reduction in the loss function, then that direction should be reinforced.</a:t>
            </a:r>
          </a:p>
          <a:p>
            <a:pPr marL="0" indent="0">
              <a:buNone/>
            </a:pPr>
            <a:endParaRPr lang="en-SG" dirty="0"/>
          </a:p>
        </p:txBody>
      </p:sp>
      <p:pic>
        <p:nvPicPr>
          <p:cNvPr id="4" name="Picture 3" descr="A picture containing text, diagram, plot, line&#10;&#10;Description automatically generated">
            <a:extLst>
              <a:ext uri="{FF2B5EF4-FFF2-40B4-BE49-F238E27FC236}">
                <a16:creationId xmlns:a16="http://schemas.microsoft.com/office/drawing/2014/main" id="{5D0F3F65-B44C-5F5C-833B-99B3AED399D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102" b="26"/>
          <a:stretch/>
        </p:blipFill>
        <p:spPr>
          <a:xfrm>
            <a:off x="6814295" y="1460500"/>
            <a:ext cx="4822080" cy="503237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257985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1CD40-9CEF-7D65-BA64-AB994C315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Adding momentum to gradient descent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041A3D-657F-3F7B-EC53-EEC71F3F4D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b="1" dirty="0"/>
              <a:t>Definition (Gradient Descent with Added </a:t>
            </a:r>
            <a:r>
              <a:rPr lang="en-GB" b="1" dirty="0">
                <a:solidFill>
                  <a:srgbClr val="00B050"/>
                </a:solidFill>
              </a:rPr>
              <a:t>Momentum</a:t>
            </a:r>
            <a:r>
              <a:rPr lang="en-GB" b="1" dirty="0"/>
              <a:t>):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To alleviate this phenomenon, we propose to use </a:t>
            </a:r>
            <a:r>
              <a:rPr lang="en-GB" b="1" dirty="0">
                <a:solidFill>
                  <a:srgbClr val="00B050"/>
                </a:solidFill>
              </a:rPr>
              <a:t>momentum</a:t>
            </a:r>
            <a:r>
              <a:rPr lang="en-GB" dirty="0"/>
              <a:t>.</a:t>
            </a:r>
          </a:p>
          <a:p>
            <a:pPr marL="0" indent="0">
              <a:buNone/>
            </a:pPr>
            <a:r>
              <a:rPr lang="en-GB" dirty="0"/>
              <a:t>It is a method that helps accelerate the training process by updating the weights of the model by reusing values from the past gradients.</a:t>
            </a:r>
          </a:p>
          <a:p>
            <a:pPr marL="0" indent="0">
              <a:buNone/>
            </a:pPr>
            <a:r>
              <a:rPr lang="en-GB" dirty="0"/>
              <a:t>The idea is that, if a direction in the parameters space consistently leads to good reduction in the loss function, then that direction should be reinforced.</a:t>
            </a:r>
          </a:p>
          <a:p>
            <a:pPr marL="0" indent="0">
              <a:buNone/>
            </a:pPr>
            <a:endParaRPr lang="en-SG" dirty="0"/>
          </a:p>
        </p:txBody>
      </p:sp>
      <p:pic>
        <p:nvPicPr>
          <p:cNvPr id="8" name="Picture 7" descr="A picture containing text, diagram, plot, line&#10;&#10;Description automatically generated">
            <a:extLst>
              <a:ext uri="{FF2B5EF4-FFF2-40B4-BE49-F238E27FC236}">
                <a16:creationId xmlns:a16="http://schemas.microsoft.com/office/drawing/2014/main" id="{5490A222-F93E-4885-56E3-4C8A88402C7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"/>
          <a:stretch/>
        </p:blipFill>
        <p:spPr>
          <a:xfrm>
            <a:off x="273538" y="615820"/>
            <a:ext cx="11722358" cy="58596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46533DC-EDE3-59E0-19F6-EEE0168C98FF}"/>
              </a:ext>
            </a:extLst>
          </p:cNvPr>
          <p:cNvSpPr/>
          <p:nvPr/>
        </p:nvSpPr>
        <p:spPr>
          <a:xfrm>
            <a:off x="5859624" y="6176865"/>
            <a:ext cx="1054360" cy="2239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926935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1CD40-9CEF-7D65-BA64-AB994C315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Adding momentum to gradient descent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041A3D-657F-3F7B-EC53-EEC71F3F4D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Momentum can be implemented by adding a term 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GB" i="1" dirty="0" err="1" smtClean="0">
                            <a:latin typeface="Cambria Math" panose="02040503050406030204" pitchFamily="18" charset="0"/>
                          </a:rPr>
                          <m:t>𝑝𝑟𝑒𝑣</m:t>
                        </m:r>
                      </m:sub>
                      <m:sup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to the parameter update, for instance: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← 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′(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) +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GB" i="1" dirty="0" err="1" smtClean="0">
                              <a:latin typeface="Cambria Math" panose="02040503050406030204" pitchFamily="18" charset="0"/>
                            </a:rPr>
                            <m:t>𝑝𝑟𝑒𝑣</m:t>
                          </m:r>
                        </m:sub>
                        <m:sup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As before,</a:t>
                </a:r>
              </a:p>
              <a:p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GB" dirty="0"/>
                  <a:t> is a hyperparameter that controls the step size/learning rate at each iteration,</a:t>
                </a:r>
              </a:p>
              <a:p>
                <a:r>
                  <a:rPr lang="en-GB" dirty="0"/>
                  <a:t>And </a:t>
                </a:r>
                <a:r>
                  <a:rPr lang="en-GB" b="1" dirty="0"/>
                  <a:t>the coefficient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latin typeface="Cambria Math" panose="02040503050406030204" pitchFamily="18" charset="0"/>
                      </a:rPr>
                      <m:t>𝝁</m:t>
                    </m:r>
                    <m:r>
                      <a:rPr lang="en-GB" b="1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b="1" dirty="0"/>
                  <a:t>is another hyperparameter that controls the influence of the momentum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GB" i="1" dirty="0" err="1">
                            <a:latin typeface="Cambria Math" panose="02040503050406030204" pitchFamily="18" charset="0"/>
                          </a:rPr>
                          <m:t>𝑝𝑟𝑒𝑣</m:t>
                        </m:r>
                      </m:sub>
                      <m:sup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GB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, which uses the history of previous gradient values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GB" i="1" dirty="0" err="1" smtClean="0">
                            <a:latin typeface="Cambria Math" panose="02040503050406030204" pitchFamily="18" charset="0"/>
                          </a:rPr>
                          <m:t>𝑝𝑟𝑒𝑣</m:t>
                        </m:r>
                      </m:sub>
                      <m:sup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041A3D-657F-3F7B-EC53-EEC71F3F4D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1961" r="-179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67294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1CD40-9CEF-7D65-BA64-AB994C315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Adding momentum to</a:t>
            </a:r>
            <a:br>
              <a:rPr lang="en-GB" dirty="0"/>
            </a:br>
            <a:r>
              <a:rPr lang="en-GB" dirty="0"/>
              <a:t>gradient descent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041A3D-657F-3F7B-EC53-EEC71F3F4D85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4"/>
                <a:ext cx="6203462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Using momentum can help the model converge faster and </a:t>
                </a:r>
                <a:r>
                  <a:rPr lang="en-GB" b="1" dirty="0"/>
                  <a:t>escape</a:t>
                </a:r>
                <a:r>
                  <a:rPr lang="en-GB" dirty="0"/>
                  <a:t> </a:t>
                </a:r>
                <a:r>
                  <a:rPr lang="en-GB" b="1" dirty="0"/>
                  <a:t>local</a:t>
                </a:r>
                <a:r>
                  <a:rPr lang="en-GB" dirty="0"/>
                  <a:t> </a:t>
                </a:r>
                <a:r>
                  <a:rPr lang="en-GB" b="1" dirty="0"/>
                  <a:t>minima</a:t>
                </a:r>
                <a:r>
                  <a:rPr lang="en-GB" dirty="0"/>
                  <a:t> and converge to global minima instead.</a:t>
                </a:r>
              </a:p>
              <a:p>
                <a:pPr marL="0" indent="0">
                  <a:buNone/>
                </a:pPr>
                <a:r>
                  <a:rPr lang="en-GB" dirty="0"/>
                  <a:t>However, it can also cause the model to overshoot the global minimum and diverge.</a:t>
                </a:r>
              </a:p>
              <a:p>
                <a:pPr marL="0" indent="0">
                  <a:buNone/>
                </a:pPr>
                <a:r>
                  <a:rPr lang="en-GB" dirty="0"/>
                  <a:t>So, just like with the learning rate, </a:t>
                </a:r>
                <a:r>
                  <a:rPr lang="en-GB" b="1" dirty="0"/>
                  <a:t>it is important to tune the momentum hyperparameter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latin typeface="Cambria Math" panose="02040503050406030204" pitchFamily="18" charset="0"/>
                      </a:rPr>
                      <m:t>𝝁</m:t>
                    </m:r>
                  </m:oMath>
                </a14:m>
                <a:r>
                  <a:rPr lang="en-GB" b="1" dirty="0"/>
                  <a:t> carefully (ever heard of the NFL theorem?)</a:t>
                </a:r>
                <a:r>
                  <a:rPr lang="en-GB" dirty="0"/>
                  <a:t>.</a:t>
                </a:r>
                <a:endParaRPr lang="en-SG" dirty="0"/>
              </a:p>
              <a:p>
                <a:endParaRPr lang="en-S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041A3D-657F-3F7B-EC53-EEC71F3F4D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4"/>
                <a:ext cx="6203462" cy="5032375"/>
              </a:xfrm>
              <a:blipFill>
                <a:blip r:embed="rId2"/>
                <a:stretch>
                  <a:fillRect l="-2065" t="-1937" r="-39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2DF294E3-D542-A77F-D00F-B8807CEB2F1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7415"/>
          <a:stretch/>
        </p:blipFill>
        <p:spPr>
          <a:xfrm>
            <a:off x="7563845" y="56496"/>
            <a:ext cx="3556439" cy="3372504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A0BBB4B2-DCE0-BDB2-BD46-B19F3707FC91}"/>
              </a:ext>
            </a:extLst>
          </p:cNvPr>
          <p:cNvSpPr/>
          <p:nvPr/>
        </p:nvSpPr>
        <p:spPr>
          <a:xfrm>
            <a:off x="10744673" y="1314187"/>
            <a:ext cx="609127" cy="68513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15F0E1-F7F1-7B48-22B6-76F3EDF0EB7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5942"/>
          <a:stretch/>
        </p:blipFill>
        <p:spPr>
          <a:xfrm>
            <a:off x="7776482" y="3178991"/>
            <a:ext cx="3206149" cy="3628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7543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1CD40-9CEF-7D65-BA64-AB994C315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Adding momentum to gradient descent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041A3D-657F-3F7B-EC53-EEC71F3F4D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Definition (Gradient Descent with Added </a:t>
            </a:r>
            <a:r>
              <a:rPr lang="en-GB" b="1" dirty="0">
                <a:solidFill>
                  <a:srgbClr val="00B050"/>
                </a:solidFill>
              </a:rPr>
              <a:t>Momentum</a:t>
            </a:r>
            <a:r>
              <a:rPr lang="en-GB" b="1" dirty="0"/>
              <a:t>):</a:t>
            </a:r>
            <a:endParaRPr lang="en-GB" dirty="0"/>
          </a:p>
          <a:p>
            <a:pPr marL="0" indent="0">
              <a:buNone/>
            </a:pPr>
            <a:r>
              <a:rPr lang="en-GB" b="1" dirty="0">
                <a:solidFill>
                  <a:srgbClr val="00B050"/>
                </a:solidFill>
              </a:rPr>
              <a:t>Momentum</a:t>
            </a:r>
            <a:r>
              <a:rPr lang="en-GB" dirty="0"/>
              <a:t> is a method that helps accelerate the training process by updating the weights of the model by reusing values from the past gradients.</a:t>
            </a:r>
          </a:p>
          <a:p>
            <a:pPr marL="0" indent="0">
              <a:buNone/>
            </a:pPr>
            <a:r>
              <a:rPr lang="en-GB" dirty="0"/>
              <a:t>Momentum can be implemented in many ways, by incorporating the previous values of past gradients in some way. We show a possible implementation here.</a:t>
            </a:r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B479CF-C5D6-E996-6F76-C86CEAFA03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2" y="1825624"/>
            <a:ext cx="5905756" cy="346170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B79E287-041C-0E4A-C3DD-6D8BBE3DA649}"/>
              </a:ext>
            </a:extLst>
          </p:cNvPr>
          <p:cNvSpPr txBox="1"/>
          <p:nvPr/>
        </p:nvSpPr>
        <p:spPr>
          <a:xfrm>
            <a:off x="7059561" y="5461596"/>
            <a:ext cx="46309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Another possible implementation (Nesterov Momentum GD) is shown in bonus slides.</a:t>
            </a:r>
          </a:p>
        </p:txBody>
      </p:sp>
    </p:spTree>
    <p:extLst>
      <p:ext uri="{BB962C8B-B14F-4D97-AF65-F5344CB8AC3E}">
        <p14:creationId xmlns:p14="http://schemas.microsoft.com/office/powerpoint/2010/main" val="3242008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1CD40-9CEF-7D65-BA64-AB994C315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Adding momentum to gradient descent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041A3D-657F-3F7B-EC53-EEC71F3F4D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Case #1 (good scenario): </a:t>
            </a:r>
            <a:r>
              <a:rPr lang="en-GB" dirty="0"/>
              <a:t>As before, if the starting point is good and not too much momentum is used, we will converge to the correct minimum.</a:t>
            </a:r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E48D9D-F7E1-5570-35F7-A88A2F500A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629" y="3429000"/>
            <a:ext cx="9665937" cy="3195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7663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1CD40-9CEF-7D65-BA64-AB994C315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Adding momentum to gradient descent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041A3D-657F-3F7B-EC53-EEC71F3F4D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Case #2 (bad scenario): </a:t>
            </a:r>
            <a:r>
              <a:rPr lang="en-GB" dirty="0"/>
              <a:t>As before, if the starting point is bad and not too much momentum is used, we will end up converging to the incorrect minimum, like before.</a:t>
            </a:r>
            <a:endParaRPr lang="en-S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09869F-D313-81DF-1025-FEEC41AC15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396343"/>
            <a:ext cx="9649408" cy="3220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4984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1CD40-9CEF-7D65-BA64-AB994C315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Adding momentum to gradient descent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041A3D-657F-3F7B-EC53-EEC71F3F4D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Case #3 (bad scenario, momentum saves the day): </a:t>
            </a:r>
            <a:r>
              <a:rPr lang="en-GB" dirty="0"/>
              <a:t>However, if the starting point is bad and enough momentum is used, we might be able to escape the local minimum and converge to the correct minimum.</a:t>
            </a:r>
            <a:endParaRPr lang="en-S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8155D2-2324-E764-8ADE-F4BCD0DA40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739" y="3429000"/>
            <a:ext cx="9740521" cy="3160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8390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1CD40-9CEF-7D65-BA64-AB994C315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Adding momentum to gradient descent</a:t>
            </a:r>
            <a:endParaRPr lang="en-SG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FA18704-3C4F-3506-D883-6008FB71FD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7709" y="1554229"/>
            <a:ext cx="7716582" cy="5303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1988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5C016-C58E-6163-BBBB-E97C946A2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Adding a decay to hyperparameters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E6B4DA08-1C2E-00A3-E9D2-E8BC11BD6A1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GB" b="1" dirty="0"/>
                  <a:t>Definition (</a:t>
                </a:r>
                <a:r>
                  <a:rPr lang="en-GB" b="1" dirty="0">
                    <a:solidFill>
                      <a:srgbClr val="00B050"/>
                    </a:solidFill>
                  </a:rPr>
                  <a:t>Learning</a:t>
                </a:r>
                <a:r>
                  <a:rPr lang="en-GB" b="1" dirty="0"/>
                  <a:t> </a:t>
                </a:r>
                <a:r>
                  <a:rPr lang="en-GB" b="1" dirty="0">
                    <a:solidFill>
                      <a:srgbClr val="00B050"/>
                    </a:solidFill>
                  </a:rPr>
                  <a:t>rate</a:t>
                </a:r>
                <a:r>
                  <a:rPr lang="en-GB" b="1" dirty="0"/>
                  <a:t> </a:t>
                </a:r>
                <a:r>
                  <a:rPr lang="en-GB" b="1" dirty="0">
                    <a:solidFill>
                      <a:srgbClr val="00B050"/>
                    </a:solidFill>
                  </a:rPr>
                  <a:t>decay</a:t>
                </a:r>
                <a:r>
                  <a:rPr lang="en-GB" b="1" dirty="0"/>
                  <a:t>):</a:t>
                </a:r>
              </a:p>
              <a:p>
                <a:pPr marL="0" indent="0">
                  <a:buNone/>
                </a:pPr>
                <a:r>
                  <a:rPr lang="en-GB" b="1" dirty="0">
                    <a:solidFill>
                      <a:srgbClr val="00B050"/>
                    </a:solidFill>
                  </a:rPr>
                  <a:t>Learning rate decay </a:t>
                </a:r>
                <a:r>
                  <a:rPr lang="en-GB" dirty="0"/>
                  <a:t>is a technique used to </a:t>
                </a:r>
                <a:r>
                  <a:rPr lang="en-GB" b="1" dirty="0"/>
                  <a:t>gradually</a:t>
                </a:r>
                <a:r>
                  <a:rPr lang="en-GB" dirty="0"/>
                  <a:t> </a:t>
                </a:r>
                <a:r>
                  <a:rPr lang="en-GB" b="1" dirty="0"/>
                  <a:t>reduce</a:t>
                </a:r>
                <a:r>
                  <a:rPr lang="en-GB" dirty="0"/>
                  <a:t> </a:t>
                </a:r>
                <a:r>
                  <a:rPr lang="en-GB" b="1" dirty="0"/>
                  <a:t>the</a:t>
                </a:r>
                <a:r>
                  <a:rPr lang="en-GB" dirty="0"/>
                  <a:t> </a:t>
                </a:r>
                <a:r>
                  <a:rPr lang="en-GB" b="1" dirty="0"/>
                  <a:t>learning</a:t>
                </a:r>
                <a:r>
                  <a:rPr lang="en-GB" dirty="0"/>
                  <a:t> </a:t>
                </a:r>
                <a:r>
                  <a:rPr lang="en-GB" b="1" dirty="0"/>
                  <a:t>rate</a:t>
                </a:r>
                <a:r>
                  <a:rPr lang="en-GB" dirty="0"/>
                  <a:t> of gradient descent over iterations.</a:t>
                </a:r>
              </a:p>
              <a:p>
                <a:pPr marL="0" indent="0">
                  <a:buNone/>
                </a:pPr>
                <a:r>
                  <a:rPr lang="en-GB" dirty="0"/>
                  <a:t>The idea is to </a:t>
                </a:r>
                <a:r>
                  <a:rPr lang="en-GB" b="1" dirty="0"/>
                  <a:t>start with a relatively high learning rate, which can help the model to converge quickly in the early stages of training</a:t>
                </a:r>
                <a:r>
                  <a:rPr lang="en-GB" dirty="0"/>
                  <a:t>, and then </a:t>
                </a:r>
                <a:r>
                  <a:rPr lang="en-GB" b="1" dirty="0"/>
                  <a:t>gradually</a:t>
                </a:r>
                <a:r>
                  <a:rPr lang="en-GB" dirty="0"/>
                  <a:t> </a:t>
                </a:r>
                <a:r>
                  <a:rPr lang="en-GB" b="1" dirty="0"/>
                  <a:t>reduce</a:t>
                </a:r>
                <a:r>
                  <a:rPr lang="en-GB" dirty="0"/>
                  <a:t> </a:t>
                </a:r>
                <a:r>
                  <a:rPr lang="en-GB" b="1" dirty="0"/>
                  <a:t>the</a:t>
                </a:r>
                <a:r>
                  <a:rPr lang="en-GB" dirty="0"/>
                  <a:t> </a:t>
                </a:r>
                <a:r>
                  <a:rPr lang="en-GB" b="1" dirty="0"/>
                  <a:t>learning</a:t>
                </a:r>
                <a:r>
                  <a:rPr lang="en-GB" dirty="0"/>
                  <a:t> </a:t>
                </a:r>
                <a:r>
                  <a:rPr lang="en-GB" b="1" dirty="0"/>
                  <a:t>rate</a:t>
                </a:r>
                <a:r>
                  <a:rPr lang="en-GB" dirty="0"/>
                  <a:t> </a:t>
                </a:r>
                <a:r>
                  <a:rPr lang="en-GB" b="1" dirty="0"/>
                  <a:t>as</a:t>
                </a:r>
                <a:r>
                  <a:rPr lang="en-GB" dirty="0"/>
                  <a:t> </a:t>
                </a:r>
                <a:r>
                  <a:rPr lang="en-GB" b="1" dirty="0"/>
                  <a:t>training</a:t>
                </a:r>
                <a:r>
                  <a:rPr lang="en-GB" dirty="0"/>
                  <a:t> </a:t>
                </a:r>
                <a:r>
                  <a:rPr lang="en-GB" b="1" dirty="0"/>
                  <a:t>progresses</a:t>
                </a:r>
                <a:r>
                  <a:rPr lang="en-GB" dirty="0"/>
                  <a:t>.</a:t>
                </a:r>
              </a:p>
              <a:p>
                <a:pPr marL="0" indent="0">
                  <a:buNone/>
                </a:pPr>
                <a:r>
                  <a:rPr lang="en-GB" dirty="0"/>
                  <a:t>This can help the model to continue learning and improving even as it gets closer to a good solution. It can also help to address overfitting by preventing the model from making overly large updates to its parameters.</a:t>
                </a:r>
              </a:p>
              <a:p>
                <a:pPr marL="0" indent="0">
                  <a:buNone/>
                </a:pPr>
                <a:r>
                  <a:rPr lang="en-GB" dirty="0"/>
                  <a:t>There are </a:t>
                </a:r>
                <a:r>
                  <a:rPr lang="en-GB" b="1" dirty="0"/>
                  <a:t>several ways to implement learning rate decay</a:t>
                </a:r>
                <a:r>
                  <a:rPr lang="en-GB" dirty="0"/>
                  <a:t>, for instance by reducing the learning rate by a fixed amount at regular intervals, updating the learning rate as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← 0.99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SG" dirty="0"/>
                  <a:t>, every 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SG" dirty="0"/>
                  <a:t> iterations.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E6B4DA08-1C2E-00A3-E9D2-E8BC11BD6A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043" t="-1816" r="-1623" b="-12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06092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5C016-C58E-6163-BBBB-E97C946A2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Adding a decay to hyperparameters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E6B4DA08-1C2E-00A3-E9D2-E8BC11BD6A1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A possible implementation of gradient descent with learning rate decay is shown below.</a:t>
                </a:r>
              </a:p>
              <a:p>
                <a:pPr marL="0" indent="0">
                  <a:buNone/>
                </a:pPr>
                <a:r>
                  <a:rPr lang="en-GB" dirty="0"/>
                  <a:t>Notice how, on every iteration, the learning rate is updated and decayed as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SG" dirty="0"/>
                  <a:t>, with </a:t>
                </a:r>
                <a14:m>
                  <m:oMath xmlns:m="http://schemas.openxmlformats.org/officeDocument/2006/math">
                    <m:r>
                      <a:rPr lang="en-SG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SG" dirty="0"/>
                  <a:t> a decay factor between 0 and 1.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E6B4DA08-1C2E-00A3-E9D2-E8BC11BD6A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217" t="-1937" r="-139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2CDE4F6D-59B3-E609-08E4-EE107BAA2E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890561"/>
            <a:ext cx="10504984" cy="2967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5227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5C016-C58E-6163-BBBB-E97C946A2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Adding a decay to hyperparameters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E6B4DA08-1C2E-00A3-E9D2-E8BC11BD6A19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4"/>
                <a:ext cx="4992077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As before, the learning rate decay parameter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SG" dirty="0"/>
                  <a:t> is a hyperparameter that requires to be adjusted carefully:</a:t>
                </a:r>
              </a:p>
              <a:p>
                <a:r>
                  <a:rPr lang="en-SG" dirty="0"/>
                  <a:t>a high decay might help not overshoot a minimum,</a:t>
                </a:r>
              </a:p>
              <a:p>
                <a:r>
                  <a:rPr lang="en-SG" dirty="0"/>
                  <a:t>but decaying too fast might make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SG" dirty="0"/>
                  <a:t> go to small values too soon, leading to a wrong convergence point.</a:t>
                </a:r>
              </a:p>
              <a:p>
                <a:pPr marL="0" indent="0">
                  <a:buNone/>
                </a:pPr>
                <a:endParaRPr lang="en-SG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E6B4DA08-1C2E-00A3-E9D2-E8BC11BD6A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4"/>
                <a:ext cx="4992077" cy="5032375"/>
              </a:xfrm>
              <a:blipFill>
                <a:blip r:embed="rId2"/>
                <a:stretch>
                  <a:fillRect l="-2567" t="-1937" r="-134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92F992B1-A965-EEC7-C580-5FBF6AB3A4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907999"/>
            <a:ext cx="6056441" cy="4186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6629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5C016-C58E-6163-BBBB-E97C946A2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Adding a decay to hyperparameters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6B4DA08-1C2E-00A3-E9D2-E8BC11BD6A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Different decay methods </a:t>
            </a:r>
            <a:r>
              <a:rPr lang="en-GB" dirty="0"/>
              <a:t>can be implemented, with different effects on the gradient descent algorithm: as before (NFL!), worth exploring.</a:t>
            </a:r>
            <a:endParaRPr lang="en-S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AF4E4E-CF36-6FDB-21E4-445C0E8D37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3696" y="2638839"/>
            <a:ext cx="6084607" cy="421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50103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B4B41-A564-2B18-4150-A0D0E8E57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Gradient-based learning rate control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9621934-46F7-A751-6294-3A08B84E863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GB" b="1" dirty="0"/>
                  <a:t>Definition (</a:t>
                </a:r>
                <a:r>
                  <a:rPr lang="en-GB" b="1" dirty="0">
                    <a:solidFill>
                      <a:srgbClr val="00B050"/>
                    </a:solidFill>
                  </a:rPr>
                  <a:t>Gradient-based learning rate control</a:t>
                </a:r>
                <a:r>
                  <a:rPr lang="en-GB" b="1" dirty="0"/>
                  <a:t>):</a:t>
                </a:r>
              </a:p>
              <a:p>
                <a:pPr marL="0" indent="0">
                  <a:buNone/>
                </a:pPr>
                <a:r>
                  <a:rPr lang="en-GB" dirty="0"/>
                  <a:t>Other options for </a:t>
                </a:r>
                <a:r>
                  <a:rPr lang="en-GB" b="1" dirty="0"/>
                  <a:t>controlling the learning rate </a:t>
                </a:r>
                <a:r>
                  <a:rPr lang="en-GB" dirty="0"/>
                  <a:t>suggest to </a:t>
                </a:r>
                <a:r>
                  <a:rPr lang="en-GB" b="1" dirty="0"/>
                  <a:t>use the value of the gradients to adjust the learning rate </a:t>
                </a:r>
                <a:r>
                  <a:rPr lang="en-GB" dirty="0"/>
                  <a:t>accordingly.</a:t>
                </a:r>
              </a:p>
              <a:p>
                <a:pPr marL="0" indent="0">
                  <a:buNone/>
                </a:pPr>
                <a:r>
                  <a:rPr lang="en-GB" dirty="0"/>
                  <a:t>Gradients are often used in learning rate formulas because they provide a measure of how much the parameters are changing with each update.</a:t>
                </a:r>
              </a:p>
              <a:p>
                <a:pPr marL="0" indent="0">
                  <a:buNone/>
                </a:pPr>
                <a:r>
                  <a:rPr lang="en-GB" dirty="0"/>
                  <a:t>The magnitude of the gradients give us an indication of how much "learning" is done at each step. It can be used to adjust the learning rate accordingly.</a:t>
                </a:r>
              </a:p>
              <a:p>
                <a:pPr marL="0" indent="0">
                  <a:buNone/>
                </a:pPr>
                <a:r>
                  <a:rPr lang="en-GB" dirty="0"/>
                  <a:t>In Notebook 5, we implement a possible learning rate control mechanism, using the gradients and the learning rate factor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GB" i="1" dirty="0" err="1" smtClean="0">
                            <a:latin typeface="Cambria Math" panose="02040503050406030204" pitchFamily="18" charset="0"/>
                          </a:rPr>
                          <m:t>𝑐𝑓</m:t>
                        </m:r>
                      </m:sub>
                    </m:sSub>
                    <m:r>
                      <a:rPr lang="en-GB" i="1" dirty="0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GB" dirty="0"/>
                  <a:t>below.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(1 +</m:t>
                          </m:r>
                          <m:sSub>
                            <m:sSubPr>
                              <m:ctrlPr>
                                <a:rPr lang="en-GB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 dirty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GB" i="1" dirty="0" err="1">
                                  <a:latin typeface="Cambria Math" panose="02040503050406030204" pitchFamily="18" charset="0"/>
                                </a:rPr>
                                <m:t>𝑐𝑓</m:t>
                              </m:r>
                            </m:sub>
                          </m:sSub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ad>
                            <m:radPr>
                              <m:degHide m:val="on"/>
                              <m:ctrlPr>
                                <a:rPr lang="en-GB" i="1" dirty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GB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GB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GB" i="1" dirty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p>
                                      <m:r>
                                        <a:rPr lang="en-GB" i="1" dirty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en-GB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d>
                            </m:e>
                          </m:rad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9621934-46F7-A751-6294-3A08B84E86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043" t="-1816" r="-110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87341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B4B41-A564-2B18-4150-A0D0E8E57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Idea behind gradient-based LR control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1934-46F7-A751-6294-3A08B84E86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Core idea:</a:t>
            </a:r>
            <a:r>
              <a:rPr lang="en-GB" dirty="0"/>
              <a:t> Gradient-based learning rate control is typically used to make the learning rate inversely proportional to the mean gradient value (or its mean squared value).</a:t>
            </a:r>
          </a:p>
          <a:p>
            <a:pPr marL="0" indent="0">
              <a:buNone/>
            </a:pPr>
            <a:r>
              <a:rPr lang="en-GB" dirty="0"/>
              <a:t>By doing so,</a:t>
            </a:r>
          </a:p>
          <a:p>
            <a:r>
              <a:rPr lang="en-GB" b="1" dirty="0"/>
              <a:t>if the gradients are small </a:t>
            </a:r>
            <a:r>
              <a:rPr lang="en-GB" dirty="0"/>
              <a:t>(i.e. the model is making small updates to its weights), the resulting learning rate will be high to prevent vanishing gradients.</a:t>
            </a:r>
          </a:p>
          <a:p>
            <a:r>
              <a:rPr lang="en-GB" dirty="0"/>
              <a:t>and </a:t>
            </a:r>
            <a:r>
              <a:rPr lang="en-GB" b="1" dirty="0"/>
              <a:t>if the gradients are large </a:t>
            </a:r>
            <a:r>
              <a:rPr lang="en-GB" dirty="0"/>
              <a:t>(i.e. the model is making large updates to its weights), the resulting learning rate will be low to prevent exploding gradients.</a:t>
            </a:r>
          </a:p>
        </p:txBody>
      </p:sp>
    </p:spTree>
    <p:extLst>
      <p:ext uri="{BB962C8B-B14F-4D97-AF65-F5344CB8AC3E}">
        <p14:creationId xmlns:p14="http://schemas.microsoft.com/office/powerpoint/2010/main" val="29004355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B4B41-A564-2B18-4150-A0D0E8E57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Gradient-based learning rate control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9621934-46F7-A751-6294-3A08B84E863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A possible gradient-based learning control scheme: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(1 +</m:t>
                          </m:r>
                          <m:sSub>
                            <m:sSubPr>
                              <m:ctrlPr>
                                <a:rPr lang="en-GB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 dirty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GB" i="1" dirty="0" err="1">
                                  <a:latin typeface="Cambria Math" panose="02040503050406030204" pitchFamily="18" charset="0"/>
                                </a:rPr>
                                <m:t>𝑐𝑓</m:t>
                              </m:r>
                            </m:sub>
                          </m:sSub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ad>
                            <m:radPr>
                              <m:degHide m:val="on"/>
                              <m:ctrlPr>
                                <a:rPr lang="en-GB" i="1" dirty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GB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GB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GB" i="1" dirty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p>
                                      <m:r>
                                        <a:rPr lang="en-GB" i="1" dirty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en-GB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d>
                            </m:e>
                          </m:rad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9621934-46F7-A751-6294-3A08B84E86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3"/>
                <a:stretch>
                  <a:fillRect l="-1217" t="-193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89D88B4B-84D0-ECAF-AE3F-2E92E3566BC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50000"/>
          <a:stretch/>
        </p:blipFill>
        <p:spPr>
          <a:xfrm>
            <a:off x="1196467" y="3265227"/>
            <a:ext cx="9799065" cy="3612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8284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B4B41-A564-2B18-4150-A0D0E8E57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Gradient-based learning rate control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1934-46F7-A751-6294-3A08B84E86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Open question: </a:t>
            </a:r>
            <a:r>
              <a:rPr lang="en-GB" dirty="0"/>
              <a:t>What would change if I decided to replace the = sign in line 8 with a *= instead, as shown below?</a:t>
            </a:r>
            <a:endParaRPr lang="en-SG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77C6AD2-9A9E-19C6-8BEC-F79D0523A0E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0000"/>
          <a:stretch/>
        </p:blipFill>
        <p:spPr>
          <a:xfrm>
            <a:off x="1080282" y="2977282"/>
            <a:ext cx="10031436" cy="3698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4017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B4B41-A564-2B18-4150-A0D0E8E57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Gradient-based learning rate control</a:t>
            </a:r>
            <a:endParaRPr lang="en-SG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A99C8F-2D8C-D808-47C5-301DF456AA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120" y="1563077"/>
            <a:ext cx="7555759" cy="5294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1979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B4B41-A564-2B18-4150-A0D0E8E57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Gradient-based learning rate control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1934-46F7-A751-6294-3A08B84E86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This can also help to prevent the model from making overly large updates, which can – in turn – help to improve generalization by preventing overfitting.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Most advanced gradient descent algorithms will typically combine</a:t>
            </a:r>
            <a:endParaRPr lang="en-GB" b="1" dirty="0"/>
          </a:p>
          <a:p>
            <a:pPr marL="514350" indent="-514350">
              <a:buFont typeface="+mj-lt"/>
              <a:buAutoNum type="arabicPeriod"/>
            </a:pPr>
            <a:r>
              <a:rPr lang="en-GB" b="1" dirty="0"/>
              <a:t>A gradient-based learning rate (LR) control,</a:t>
            </a:r>
          </a:p>
          <a:p>
            <a:pPr marL="514350" indent="-514350">
              <a:buFont typeface="+mj-lt"/>
              <a:buAutoNum type="arabicPeriod"/>
            </a:pPr>
            <a:r>
              <a:rPr lang="en-GB" b="1" dirty="0"/>
              <a:t>A learning rate (LR) decay,</a:t>
            </a:r>
          </a:p>
          <a:p>
            <a:pPr marL="514350" indent="-514350">
              <a:buFont typeface="+mj-lt"/>
              <a:buAutoNum type="arabicPeriod"/>
            </a:pPr>
            <a:r>
              <a:rPr lang="en-GB" b="1" dirty="0"/>
              <a:t>And some momentum formula</a:t>
            </a:r>
            <a:r>
              <a:rPr lang="en-GB" dirty="0"/>
              <a:t>.</a:t>
            </a:r>
          </a:p>
          <a:p>
            <a:pPr marL="0" indent="0">
              <a:buNone/>
            </a:pPr>
            <a:r>
              <a:rPr lang="en-GB" dirty="0"/>
              <a:t>Adjustments on the hyperparameters values for each component will be left to the human behind the keyboard!</a:t>
            </a:r>
          </a:p>
        </p:txBody>
      </p:sp>
    </p:spTree>
    <p:extLst>
      <p:ext uri="{BB962C8B-B14F-4D97-AF65-F5344CB8AC3E}">
        <p14:creationId xmlns:p14="http://schemas.microsoft.com/office/powerpoint/2010/main" val="7603912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7ECF0-2A56-9939-54BE-EC1B880E3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Going back to our classification dataset</a:t>
            </a:r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86790D-0F37-EC61-CC63-DAD26003AA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1702" y="1542454"/>
            <a:ext cx="7788595" cy="5315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4459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7ECF0-2A56-9939-54BE-EC1B880E3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767646" cy="1325563"/>
          </a:xfrm>
        </p:spPr>
        <p:txBody>
          <a:bodyPr/>
          <a:lstStyle/>
          <a:p>
            <a:r>
              <a:rPr lang="en-GB" dirty="0"/>
              <a:t>So far, training using “vanilla” gradient descent</a:t>
            </a:r>
            <a:endParaRPr lang="en-S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D323F2-8A59-261F-D2E8-5163376993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5263" y="1505850"/>
            <a:ext cx="8161473" cy="535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0173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CEA2B-538F-66AB-DFA9-BC0E1EBE5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AdaGrad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14D856-CCB6-9C34-899E-47E2CC181A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b="1" dirty="0"/>
              <a:t>Definition (</a:t>
            </a:r>
            <a:r>
              <a:rPr lang="en-GB" b="1" dirty="0" err="1">
                <a:solidFill>
                  <a:srgbClr val="00B050"/>
                </a:solidFill>
              </a:rPr>
              <a:t>AdaGrad</a:t>
            </a:r>
            <a:r>
              <a:rPr lang="en-GB" b="1" dirty="0"/>
              <a:t> optimizer [AdaGrad2011]):</a:t>
            </a:r>
          </a:p>
          <a:p>
            <a:pPr marL="0" indent="0">
              <a:buNone/>
            </a:pPr>
            <a:r>
              <a:rPr lang="en-GB" b="1" dirty="0" err="1">
                <a:solidFill>
                  <a:srgbClr val="00B050"/>
                </a:solidFill>
              </a:rPr>
              <a:t>AdaGrad</a:t>
            </a:r>
            <a:r>
              <a:rPr lang="en-GB" dirty="0"/>
              <a:t> is variation of gradient descent, which </a:t>
            </a:r>
            <a:r>
              <a:rPr lang="en-GB" b="1" dirty="0"/>
              <a:t>adapts</a:t>
            </a:r>
            <a:r>
              <a:rPr lang="en-GB" dirty="0"/>
              <a:t> </a:t>
            </a:r>
            <a:r>
              <a:rPr lang="en-GB" b="1" dirty="0"/>
              <a:t>the</a:t>
            </a:r>
            <a:r>
              <a:rPr lang="en-GB" dirty="0"/>
              <a:t> </a:t>
            </a:r>
            <a:r>
              <a:rPr lang="en-GB" b="1" dirty="0"/>
              <a:t>learning</a:t>
            </a:r>
            <a:r>
              <a:rPr lang="en-GB" dirty="0"/>
              <a:t> </a:t>
            </a:r>
            <a:r>
              <a:rPr lang="en-GB" b="1" dirty="0"/>
              <a:t>rate</a:t>
            </a:r>
            <a:r>
              <a:rPr lang="en-GB" dirty="0"/>
              <a:t> </a:t>
            </a:r>
            <a:r>
              <a:rPr lang="en-GB" b="1" dirty="0"/>
              <a:t>for</a:t>
            </a:r>
            <a:r>
              <a:rPr lang="en-GB" dirty="0"/>
              <a:t> </a:t>
            </a:r>
            <a:r>
              <a:rPr lang="en-GB" b="1" dirty="0"/>
              <a:t>each</a:t>
            </a:r>
            <a:r>
              <a:rPr lang="en-GB" dirty="0"/>
              <a:t> </a:t>
            </a:r>
            <a:r>
              <a:rPr lang="en-GB" b="1" dirty="0"/>
              <a:t>parameter</a:t>
            </a:r>
            <a:r>
              <a:rPr lang="en-GB" dirty="0"/>
              <a:t> </a:t>
            </a:r>
            <a:r>
              <a:rPr lang="en-GB" b="1" dirty="0"/>
              <a:t>separately</a:t>
            </a:r>
            <a:r>
              <a:rPr lang="en-GB" dirty="0"/>
              <a:t>, based on the historical gradient information for that parameter.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A14B826-76A1-4C74-2CF3-31C48D1B320E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172200" y="1825624"/>
                <a:ext cx="5181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b="1" dirty="0">
                    <a:solidFill>
                      <a:srgbClr val="00B050"/>
                    </a:solidFill>
                  </a:rPr>
                  <a:t>AdaGrad</a:t>
                </a:r>
                <a:r>
                  <a:rPr lang="en-GB" dirty="0"/>
                  <a:t> </a:t>
                </a:r>
                <a:r>
                  <a:rPr lang="en-GB" b="1" dirty="0"/>
                  <a:t>scales down the learning rate for parameters that have received a large number of updates</a:t>
                </a:r>
                <a:r>
                  <a:rPr lang="en-GB" dirty="0"/>
                  <a:t>, which can help prevent overfitting and improve generalization.</a:t>
                </a:r>
              </a:p>
              <a:p>
                <a:pPr marL="0" indent="0">
                  <a:buNone/>
                </a:pPr>
                <a:r>
                  <a:rPr lang="en-GB" dirty="0"/>
                  <a:t>The gradient descent rule relies on variables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  <m:r>
                      <a:rPr lang="en-GB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GB" dirty="0"/>
                  <a:t>. Their values are defined as cumulated sum of the squared values of the gradients with respect to each parameter. </a:t>
                </a:r>
                <a:endParaRPr lang="en-SG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A14B826-76A1-4C74-2CF3-31C48D1B32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172200" y="1825624"/>
                <a:ext cx="5181600" cy="5032375"/>
              </a:xfrm>
              <a:blipFill>
                <a:blip r:embed="rId2"/>
                <a:stretch>
                  <a:fillRect l="-2471" t="-1937" r="-376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360869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CEA2B-538F-66AB-DFA9-BC0E1EBE5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AdaGrad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14D856-CCB6-9C34-899E-47E2CC181A1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GB" dirty="0"/>
                  <a:t>For instance,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sSub>
                          <m:sSubPr>
                            <m:ctrlPr>
                              <a:rPr lang="en-GB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GB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GB" dirty="0"/>
                  <a:t>starts at 0, and then, on each iteration: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sSub>
                            <m:sSubPr>
                              <m:ctrlPr>
                                <a:rPr lang="en-GB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 dirty="0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GB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 =</m:t>
                      </m:r>
                      <m:sSub>
                        <m:sSub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sSub>
                            <m:sSubPr>
                              <m:ctrlPr>
                                <a:rPr lang="en-GB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 dirty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GB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i="1" dirty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GB" i="1" dirty="0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num>
                                <m:den>
                                  <m:r>
                                    <a:rPr lang="en-GB" i="1" dirty="0" smtClean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GB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i="1" dirty="0" smtClean="0">
                                          <a:latin typeface="Cambria Math" panose="02040503050406030204" pitchFamily="18" charset="0"/>
                                        </a:rPr>
                                        <m:t>𝑊</m:t>
                                      </m:r>
                                    </m:e>
                                    <m:sub>
                                      <m:r>
                                        <a:rPr lang="en-GB" i="1" dirty="0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This is then used to adjust the learning rate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sSub>
                          <m:sSubPr>
                            <m:ctrlPr>
                              <a:rPr lang="en-GB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GB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GB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for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dirty="0"/>
                  <a:t> update rule: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sSub>
                            <m:sSubPr>
                              <m:ctrlPr>
                                <a:rPr lang="en-GB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 dirty="0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GB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i="1" dirty="0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en-GB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 dirty="0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GB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i="1" dirty="0">
                                          <a:latin typeface="Cambria Math" panose="02040503050406030204" pitchFamily="18" charset="0"/>
                                        </a:rPr>
                                        <m:t>𝑊</m:t>
                                      </m:r>
                                    </m:e>
                                    <m:sub>
                                      <m:r>
                                        <a:rPr lang="en-GB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GB" i="1" dirty="0">
                                  <a:latin typeface="Cambria Math" panose="02040503050406030204" pitchFamily="18" charset="0"/>
                                </a:rPr>
                                <m:t> +</m:t>
                              </m:r>
                              <m:r>
                                <a:rPr lang="en-GB" i="1" dirty="0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  <m:r>
                                <m:rPr>
                                  <m:nor/>
                                </m:rPr>
                                <a:rPr lang="en-GB" dirty="0"/>
                                <m:t> 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sz="2800" dirty="0"/>
                  <a:t>Here, the value </a:t>
                </a:r>
                <a14:m>
                  <m:oMath xmlns:m="http://schemas.openxmlformats.org/officeDocument/2006/math">
                    <m:r>
                      <a:rPr lang="en-GB" sz="2800" i="1" dirty="0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GB" sz="28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800" dirty="0"/>
                  <a:t>is set to </a:t>
                </a:r>
                <a14:m>
                  <m:oMath xmlns:m="http://schemas.openxmlformats.org/officeDocument/2006/math">
                    <m:r>
                      <a:rPr lang="en-GB" sz="2800" i="1" dirty="0" smtClean="0">
                        <a:latin typeface="Cambria Math" panose="02040503050406030204" pitchFamily="18" charset="0"/>
                      </a:rPr>
                      <m:t>1</m:t>
                    </m:r>
                    <m:sSup>
                      <m:sSupPr>
                        <m:ctrlPr>
                          <a:rPr lang="en-GB" sz="28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800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sz="2800" i="1" dirty="0" smtClean="0">
                            <a:latin typeface="Cambria Math" panose="02040503050406030204" pitchFamily="18" charset="0"/>
                          </a:rPr>
                          <m:t>−6</m:t>
                        </m:r>
                      </m:sup>
                    </m:sSup>
                  </m:oMath>
                </a14:m>
                <a:r>
                  <a:rPr lang="en-GB" sz="2800" dirty="0"/>
                  <a:t> to prevent divisions by zero.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SG" dirty="0"/>
              </a:p>
              <a:p>
                <a:pPr marL="0" indent="0">
                  <a:buNone/>
                </a:pPr>
                <a:endParaRPr lang="en-S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14D856-CCB6-9C34-899E-47E2CC181A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217" t="-1695" r="-10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354273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CEA2B-538F-66AB-DFA9-BC0E1EBE5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AdaGrad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14D856-CCB6-9C34-899E-47E2CC181A1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GB" dirty="0"/>
                  <a:t>The update rule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dirty="0"/>
                  <a:t> is then:</a:t>
                </a:r>
                <a:br>
                  <a:rPr lang="en-GB" dirty="0"/>
                </a:b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i="1" dirty="0">
                          <a:latin typeface="Cambria Math" panose="02040503050406030204" pitchFamily="18" charset="0"/>
                        </a:rPr>
                        <m:t>← </m:t>
                      </m:r>
                      <m:sSub>
                        <m:sSub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i="1" dirty="0">
                          <a:latin typeface="Cambria Math" panose="02040503050406030204" pitchFamily="18" charset="0"/>
                        </a:rPr>
                        <m:t> −</m:t>
                      </m:r>
                      <m:sSub>
                        <m:sSub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sSub>
                            <m:sSubPr>
                              <m:ctrlPr>
                                <a:rPr lang="en-GB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 dirty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GB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f>
                        <m:f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GB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 dirty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GB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SG" dirty="0"/>
              </a:p>
              <a:p>
                <a:pPr marL="0" indent="0">
                  <a:buNone/>
                </a:pPr>
                <a:endParaRPr lang="en-SG" dirty="0"/>
              </a:p>
              <a:p>
                <a:pPr marL="0" indent="0">
                  <a:buNone/>
                </a:pPr>
                <a:r>
                  <a:rPr lang="en-SG" dirty="0"/>
                  <a:t>The value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sSub>
                          <m:sSubPr>
                            <m:ctrlPr>
                              <a:rPr lang="en-GB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 dirty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GB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SG" dirty="0"/>
                  <a:t> therefore grows over time and it grows faster, if the present and the history past gradients we calculated are large.</a:t>
                </a:r>
              </a:p>
              <a:p>
                <a:pPr marL="0" indent="0">
                  <a:buNone/>
                </a:pPr>
                <a:r>
                  <a:rPr lang="en-SG" dirty="0"/>
                  <a:t>Therefore, </a:t>
                </a:r>
                <a:r>
                  <a:rPr lang="en-SG" dirty="0" err="1"/>
                  <a:t>AdaGrad</a:t>
                </a:r>
                <a:r>
                  <a:rPr lang="en-SG" dirty="0"/>
                  <a:t> can be seen as a GD, which implements </a:t>
                </a:r>
                <a:r>
                  <a:rPr lang="en-SG" b="1" dirty="0"/>
                  <a:t>both a LR decay </a:t>
                </a:r>
                <a:r>
                  <a:rPr lang="en-SG" dirty="0"/>
                  <a:t>and</a:t>
                </a:r>
                <a:r>
                  <a:rPr lang="en-SG" b="1" dirty="0"/>
                  <a:t> a LR gradient-based control</a:t>
                </a:r>
                <a:r>
                  <a:rPr lang="en-SG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14D856-CCB6-9C34-899E-47E2CC181A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142639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095F216-6682-F39D-210B-E590F54F6F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2257" y="190052"/>
            <a:ext cx="4553585" cy="642074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1CCEA2B-538F-66AB-DFA9-BC0E1EBE5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AdaGrad</a:t>
            </a:r>
            <a:br>
              <a:rPr lang="en-GB" dirty="0"/>
            </a:br>
            <a:r>
              <a:rPr lang="en-GB" dirty="0"/>
              <a:t>implementation</a:t>
            </a:r>
            <a:endParaRPr lang="en-SG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31788E-1B71-0D0B-3D4C-4C51C9D65DCA}"/>
              </a:ext>
            </a:extLst>
          </p:cNvPr>
          <p:cNvSpPr txBox="1"/>
          <p:nvPr/>
        </p:nvSpPr>
        <p:spPr>
          <a:xfrm>
            <a:off x="70338" y="2000736"/>
            <a:ext cx="54881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Keep history of gradient in a list called </a:t>
            </a:r>
            <a:r>
              <a:rPr lang="en-GB" dirty="0" err="1">
                <a:solidFill>
                  <a:srgbClr val="00B050"/>
                </a:solidFill>
              </a:rPr>
              <a:t>G_list</a:t>
            </a:r>
            <a:r>
              <a:rPr lang="en-GB" dirty="0">
                <a:solidFill>
                  <a:srgbClr val="00B050"/>
                </a:solidFill>
              </a:rPr>
              <a:t>, which will be updated on each iteration of backward</a:t>
            </a:r>
          </a:p>
          <a:p>
            <a:r>
              <a:rPr lang="en-GB" dirty="0">
                <a:solidFill>
                  <a:srgbClr val="00B050"/>
                </a:solidFill>
              </a:rPr>
              <a:t>(Note that it could have also been an attribute for class)</a:t>
            </a:r>
            <a:endParaRPr lang="en-SG" dirty="0">
              <a:solidFill>
                <a:srgbClr val="00B05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E3949C-2F0C-1588-0CA7-59CDA6C0EC02}"/>
              </a:ext>
            </a:extLst>
          </p:cNvPr>
          <p:cNvSpPr txBox="1"/>
          <p:nvPr/>
        </p:nvSpPr>
        <p:spPr>
          <a:xfrm>
            <a:off x="70337" y="3356708"/>
            <a:ext cx="54881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2"/>
                </a:solidFill>
              </a:rPr>
              <a:t>Compute gradients and G_X Coefficients for each trainable parameter X</a:t>
            </a:r>
            <a:endParaRPr lang="en-SG" dirty="0">
              <a:solidFill>
                <a:schemeClr val="accent2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A1CCDEF-05D4-3DE0-A3AE-255A2FA6F44C}"/>
              </a:ext>
            </a:extLst>
          </p:cNvPr>
          <p:cNvSpPr txBox="1"/>
          <p:nvPr/>
        </p:nvSpPr>
        <p:spPr>
          <a:xfrm>
            <a:off x="70337" y="5367769"/>
            <a:ext cx="54881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7030A0"/>
                </a:solidFill>
              </a:rPr>
              <a:t>Update rule uses adjusted learning rate for each parameter and epsilon value.</a:t>
            </a:r>
            <a:endParaRPr lang="en-SG" dirty="0">
              <a:solidFill>
                <a:srgbClr val="7030A0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0C3F7F2-6509-968D-7A2D-45EF6CB6524B}"/>
              </a:ext>
            </a:extLst>
          </p:cNvPr>
          <p:cNvSpPr/>
          <p:nvPr/>
        </p:nvSpPr>
        <p:spPr>
          <a:xfrm>
            <a:off x="5711580" y="4872892"/>
            <a:ext cx="2528278" cy="211015"/>
          </a:xfrm>
          <a:prstGeom prst="rect">
            <a:avLst/>
          </a:prstGeom>
          <a:noFill/>
          <a:ln w="38100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1F3F268-7E6F-8D73-96BE-D7EAB1F51298}"/>
              </a:ext>
            </a:extLst>
          </p:cNvPr>
          <p:cNvSpPr/>
          <p:nvPr/>
        </p:nvSpPr>
        <p:spPr>
          <a:xfrm>
            <a:off x="5591911" y="847725"/>
            <a:ext cx="4807319" cy="4271350"/>
          </a:xfrm>
          <a:prstGeom prst="rect">
            <a:avLst/>
          </a:prstGeom>
          <a:noFill/>
          <a:ln w="38100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8D257D6-0945-EB9E-532A-BC900B613456}"/>
              </a:ext>
            </a:extLst>
          </p:cNvPr>
          <p:cNvSpPr/>
          <p:nvPr/>
        </p:nvSpPr>
        <p:spPr>
          <a:xfrm flipV="1">
            <a:off x="5591911" y="5177856"/>
            <a:ext cx="4807319" cy="1113527"/>
          </a:xfrm>
          <a:prstGeom prst="rect">
            <a:avLst/>
          </a:prstGeom>
          <a:noFill/>
          <a:ln w="38100">
            <a:solidFill>
              <a:srgbClr val="7030A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AF68576-F51F-80F6-A737-F8387A746DDB}"/>
              </a:ext>
            </a:extLst>
          </p:cNvPr>
          <p:cNvSpPr/>
          <p:nvPr/>
        </p:nvSpPr>
        <p:spPr>
          <a:xfrm>
            <a:off x="5663955" y="4074563"/>
            <a:ext cx="2528278" cy="211015"/>
          </a:xfrm>
          <a:prstGeom prst="rect">
            <a:avLst/>
          </a:prstGeom>
          <a:noFill/>
          <a:ln w="38100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6436356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CEA2B-538F-66AB-DFA9-BC0E1EBE5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RMSProp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14D856-CCB6-9C34-899E-47E2CC181A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b="1" dirty="0"/>
              <a:t>Definition (</a:t>
            </a:r>
            <a:r>
              <a:rPr lang="en-GB" b="1" dirty="0" err="1">
                <a:solidFill>
                  <a:srgbClr val="00B050"/>
                </a:solidFill>
              </a:rPr>
              <a:t>RMSProp</a:t>
            </a:r>
            <a:r>
              <a:rPr lang="en-GB" b="1" dirty="0"/>
              <a:t> optimizer [RMSProp2012]):</a:t>
            </a:r>
          </a:p>
          <a:p>
            <a:pPr marL="0" indent="0">
              <a:buNone/>
            </a:pPr>
            <a:r>
              <a:rPr lang="en-GB" b="1" dirty="0" err="1">
                <a:solidFill>
                  <a:srgbClr val="00B050"/>
                </a:solidFill>
              </a:rPr>
              <a:t>RMSProp</a:t>
            </a:r>
            <a:r>
              <a:rPr lang="en-GB" dirty="0"/>
              <a:t> is a variation of </a:t>
            </a:r>
            <a:r>
              <a:rPr lang="en-GB" dirty="0" err="1"/>
              <a:t>AdaGrad</a:t>
            </a:r>
            <a:r>
              <a:rPr lang="en-GB" dirty="0"/>
              <a:t>, but it uses a </a:t>
            </a:r>
            <a:r>
              <a:rPr lang="en-GB" b="1" dirty="0"/>
              <a:t>running average of the squared gradients to scale the learning rate </a:t>
            </a:r>
            <a:r>
              <a:rPr lang="en-GB" dirty="0"/>
              <a:t>for each parameter, rather than using the sum of the squared gradients as in </a:t>
            </a:r>
            <a:r>
              <a:rPr lang="en-GB" dirty="0" err="1"/>
              <a:t>AdaGrad</a:t>
            </a:r>
            <a:r>
              <a:rPr lang="en-GB" dirty="0"/>
              <a:t>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14B826-76A1-4C74-2CF3-31C48D1B32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 err="1">
                <a:solidFill>
                  <a:srgbClr val="00B050"/>
                </a:solidFill>
              </a:rPr>
              <a:t>RMSProp</a:t>
            </a:r>
            <a:r>
              <a:rPr lang="en-GB" dirty="0"/>
              <a:t> can be less sensitive to the learning rate than </a:t>
            </a:r>
            <a:r>
              <a:rPr lang="en-GB" dirty="0" err="1"/>
              <a:t>AdaGrad</a:t>
            </a:r>
            <a:r>
              <a:rPr lang="en-GB" dirty="0"/>
              <a:t>, and it is often used in conjunction with other techniques such as momentum.</a:t>
            </a:r>
          </a:p>
          <a:p>
            <a:pPr marL="0" indent="0">
              <a:buNone/>
            </a:pPr>
            <a:r>
              <a:rPr lang="en-GB" dirty="0"/>
              <a:t>We will typically keep this idea in mind for later when designing the </a:t>
            </a:r>
            <a:r>
              <a:rPr lang="en-GB" b="1" dirty="0"/>
              <a:t>Adam</a:t>
            </a:r>
            <a:r>
              <a:rPr lang="en-GB" dirty="0"/>
              <a:t> optimizer.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88630030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CEA2B-538F-66AB-DFA9-BC0E1EBE5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RMSProp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14D856-CCB6-9C34-899E-47E2CC181A1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GB" b="1" dirty="0"/>
                  <a:t>Problem: </a:t>
                </a:r>
                <a:r>
                  <a:rPr lang="en-GB" dirty="0"/>
                  <a:t>The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sSub>
                          <m:sSubPr>
                            <m:ctrlPr>
                              <a:rPr lang="en-GB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GB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GB" dirty="0"/>
                  <a:t> is no longer defined as the sum of all the squared values of the gradients with respect to each parameter.</a:t>
                </a:r>
              </a:p>
              <a:p>
                <a:pPr marL="0" indent="0">
                  <a:buNone/>
                </a:pPr>
                <a:r>
                  <a:rPr lang="en-GB" dirty="0"/>
                  <a:t>This </a:t>
                </a:r>
                <a:r>
                  <a:rPr lang="en-GB" dirty="0" err="1"/>
                  <a:t>AdaGrad</a:t>
                </a:r>
                <a:r>
                  <a:rPr lang="en-GB" dirty="0"/>
                  <a:t> formula could prove problematic in practice as it would make the value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sSub>
                          <m:sSubPr>
                            <m:ctrlPr>
                              <a:rPr lang="en-GB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GB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GB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grow forever.</a:t>
                </a:r>
              </a:p>
              <a:p>
                <a:pPr marL="0" indent="0">
                  <a:buNone/>
                </a:pPr>
                <a:r>
                  <a:rPr lang="en-GB" dirty="0"/>
                  <a:t>It would sometimes end up exploding to infinity and would, in turn, make the LR decay too much, too fast.</a:t>
                </a:r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14D856-CCB6-9C34-899E-47E2CC181A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217" t="-169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156298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CEA2B-538F-66AB-DFA9-BC0E1EBE5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RMSProp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14D856-CCB6-9C34-899E-47E2CC181A1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GB" b="1" dirty="0"/>
                  <a:t>Solution: </a:t>
                </a:r>
                <a:r>
                  <a:rPr lang="en-GB" dirty="0" err="1"/>
                  <a:t>RMSProp</a:t>
                </a:r>
                <a:r>
                  <a:rPr lang="en-GB" dirty="0"/>
                  <a:t> suggests, instead to use a mixed formula (known as </a:t>
                </a:r>
                <a:r>
                  <a:rPr lang="en-GB" b="1" dirty="0"/>
                  <a:t>running average</a:t>
                </a:r>
                <a:r>
                  <a:rPr lang="en-GB" dirty="0"/>
                  <a:t>), reusing the previous values of these parameters, mixed with the current squared values of the gradients, shown below.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sSub>
                            <m:sSubPr>
                              <m:ctrlPr>
                                <a:rPr lang="en-GB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 dirty="0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GB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d>
                        <m:dPr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1 −</m:t>
                          </m:r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</m:d>
                      <m:sSup>
                        <m:sSupPr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i="1" dirty="0" smtClean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GB" i="1" dirty="0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num>
                                <m:den>
                                  <m:r>
                                    <a:rPr lang="en-GB" i="1" dirty="0" smtClean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GB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i="1" dirty="0" smtClean="0">
                                          <a:latin typeface="Cambria Math" panose="02040503050406030204" pitchFamily="18" charset="0"/>
                                        </a:rPr>
                                        <m:t>𝑊</m:t>
                                      </m:r>
                                    </m:e>
                                    <m:sub>
                                      <m:r>
                                        <a:rPr lang="en-GB" i="1" dirty="0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  +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sSub>
                            <m:sSubPr>
                              <m:ctrlPr>
                                <a:rPr lang="en-GB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 dirty="0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GB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The coefficient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GB" dirty="0"/>
                  <a:t> is a hyperparameter, taking values between 0 and 1 and deciding the mixture to use in the running average.</a:t>
                </a:r>
              </a:p>
              <a:p>
                <a:pPr marL="0" indent="0">
                  <a:buNone/>
                </a:pPr>
                <a:endParaRPr lang="en-SG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14D856-CCB6-9C34-899E-47E2CC181A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217" t="-1937" r="-92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535334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CEA2B-538F-66AB-DFA9-BC0E1EBE5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RMSProp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14D856-CCB6-9C34-899E-47E2CC181A1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GB" dirty="0"/>
                  <a:t>As before, this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sSub>
                          <m:sSubPr>
                            <m:ctrlPr>
                              <a:rPr lang="en-GB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 dirty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GB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GB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coefficient is then used to adjust the learning rate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sSub>
                          <m:sSubPr>
                            <m:ctrlPr>
                              <a:rPr lang="en-GB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GB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GB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for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dirty="0"/>
                  <a:t> update rule: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sSub>
                            <m:sSubPr>
                              <m:ctrlPr>
                                <a:rPr lang="en-GB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 dirty="0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GB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i="1" dirty="0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en-GB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 dirty="0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GB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i="1" dirty="0">
                                          <a:latin typeface="Cambria Math" panose="02040503050406030204" pitchFamily="18" charset="0"/>
                                        </a:rPr>
                                        <m:t>𝑊</m:t>
                                      </m:r>
                                    </m:e>
                                    <m:sub>
                                      <m:r>
                                        <a:rPr lang="en-GB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GB" i="1" dirty="0">
                                  <a:latin typeface="Cambria Math" panose="02040503050406030204" pitchFamily="18" charset="0"/>
                                </a:rPr>
                                <m:t> +</m:t>
                              </m:r>
                              <m:r>
                                <a:rPr lang="en-GB" i="1" dirty="0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  <m:r>
                                <m:rPr>
                                  <m:nor/>
                                </m:rPr>
                                <a:rPr lang="en-GB" dirty="0"/>
                                <m:t> 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The update rule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dirty="0"/>
                  <a:t> is then: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← </m:t>
                      </m:r>
                      <m:sSub>
                        <m:sSubPr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 −</m:t>
                      </m:r>
                      <m:sSub>
                        <m:sSubPr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sSub>
                            <m:sSubPr>
                              <m:ctrlPr>
                                <a:rPr lang="en-GB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 dirty="0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GB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f>
                        <m:fPr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GB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 dirty="0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GB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SG" dirty="0"/>
              </a:p>
              <a:p>
                <a:pPr marL="0" indent="0">
                  <a:buNone/>
                </a:pPr>
                <a:endParaRPr lang="en-SG" dirty="0"/>
              </a:p>
              <a:p>
                <a:pPr marL="0" indent="0">
                  <a:buNone/>
                </a:pPr>
                <a:r>
                  <a:rPr lang="en-SG" dirty="0"/>
                  <a:t>As in </a:t>
                </a:r>
                <a:r>
                  <a:rPr lang="en-SG" dirty="0" err="1"/>
                  <a:t>AdaGrad</a:t>
                </a:r>
                <a:r>
                  <a:rPr lang="en-SG" dirty="0"/>
                  <a:t>, </a:t>
                </a:r>
                <a:r>
                  <a:rPr lang="en-SG" dirty="0" err="1"/>
                  <a:t>RMSProp</a:t>
                </a:r>
                <a:r>
                  <a:rPr lang="en-SG" dirty="0"/>
                  <a:t> can be seen as GD with a mixture of </a:t>
                </a:r>
                <a:r>
                  <a:rPr lang="en-SG" b="1" dirty="0"/>
                  <a:t>LR decay </a:t>
                </a:r>
                <a:r>
                  <a:rPr lang="en-SG" dirty="0"/>
                  <a:t>and </a:t>
                </a:r>
                <a:r>
                  <a:rPr lang="en-SG" b="1" dirty="0"/>
                  <a:t>LR gradient-based control</a:t>
                </a:r>
                <a:r>
                  <a:rPr lang="en-SG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14D856-CCB6-9C34-899E-47E2CC181A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217" t="-1695" r="-406" b="-205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925065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6F0484C-39A2-0A83-881D-13BC82FF6C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3945" y="62603"/>
            <a:ext cx="4601217" cy="643027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1CCEA2B-538F-66AB-DFA9-BC0E1EBE5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RMSProp</a:t>
            </a:r>
            <a:br>
              <a:rPr lang="en-GB" dirty="0"/>
            </a:br>
            <a:r>
              <a:rPr lang="en-GB" dirty="0"/>
              <a:t>implementation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A1CCDEF-05D4-3DE0-A3AE-255A2FA6F44C}"/>
                  </a:ext>
                </a:extLst>
              </p:cNvPr>
              <p:cNvSpPr txBox="1"/>
              <p:nvPr/>
            </p:nvSpPr>
            <p:spPr>
              <a:xfrm>
                <a:off x="6338" y="4207883"/>
                <a:ext cx="548811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>
                    <a:solidFill>
                      <a:srgbClr val="7030A0"/>
                    </a:solidFill>
                  </a:rPr>
                  <a:t>The only change compared to </a:t>
                </a:r>
                <a:r>
                  <a:rPr lang="en-GB" dirty="0" err="1">
                    <a:solidFill>
                      <a:srgbClr val="7030A0"/>
                    </a:solidFill>
                  </a:rPr>
                  <a:t>AdaGrad</a:t>
                </a:r>
                <a:r>
                  <a:rPr lang="en-GB" dirty="0">
                    <a:solidFill>
                      <a:srgbClr val="7030A0"/>
                    </a:solidFill>
                  </a:rPr>
                  <a:t> is in this formula and the addition of another hyperparameter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endParaRPr lang="en-SG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A1CCDEF-05D4-3DE0-A3AE-255A2FA6F4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8" y="4207883"/>
                <a:ext cx="5488117" cy="646331"/>
              </a:xfrm>
              <a:prstGeom prst="rect">
                <a:avLst/>
              </a:prstGeom>
              <a:blipFill>
                <a:blip r:embed="rId4"/>
                <a:stretch>
                  <a:fillRect l="-889" t="-4717" r="-222" b="-1415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>
            <a:extLst>
              <a:ext uri="{FF2B5EF4-FFF2-40B4-BE49-F238E27FC236}">
                <a16:creationId xmlns:a16="http://schemas.microsoft.com/office/drawing/2014/main" id="{A8D257D6-0945-EB9E-532A-BC900B613456}"/>
              </a:ext>
            </a:extLst>
          </p:cNvPr>
          <p:cNvSpPr/>
          <p:nvPr/>
        </p:nvSpPr>
        <p:spPr>
          <a:xfrm flipV="1">
            <a:off x="5904525" y="3786716"/>
            <a:ext cx="4904152" cy="1191683"/>
          </a:xfrm>
          <a:prstGeom prst="rect">
            <a:avLst/>
          </a:prstGeom>
          <a:noFill/>
          <a:ln w="38100">
            <a:solidFill>
              <a:srgbClr val="7030A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D9FA7AF-A96D-8F84-519F-66A100C4B18F}"/>
              </a:ext>
            </a:extLst>
          </p:cNvPr>
          <p:cNvSpPr/>
          <p:nvPr/>
        </p:nvSpPr>
        <p:spPr>
          <a:xfrm>
            <a:off x="9128369" y="54788"/>
            <a:ext cx="925886" cy="212725"/>
          </a:xfrm>
          <a:prstGeom prst="rect">
            <a:avLst/>
          </a:prstGeom>
          <a:noFill/>
          <a:ln w="38100">
            <a:solidFill>
              <a:srgbClr val="7030A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9367885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CEA2B-538F-66AB-DFA9-BC0E1EBE5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Adam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14D856-CCB6-9C34-899E-47E2CC181A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b="1" dirty="0"/>
              <a:t>Definition (</a:t>
            </a:r>
            <a:r>
              <a:rPr lang="en-GB" b="1" dirty="0">
                <a:solidFill>
                  <a:srgbClr val="00B050"/>
                </a:solidFill>
              </a:rPr>
              <a:t>Adam</a:t>
            </a:r>
            <a:r>
              <a:rPr lang="en-GB" b="1" dirty="0"/>
              <a:t> optimizer [Adam2015]):</a:t>
            </a:r>
          </a:p>
          <a:p>
            <a:pPr marL="0" indent="0">
              <a:buNone/>
            </a:pPr>
            <a:r>
              <a:rPr lang="en-GB" b="1" dirty="0">
                <a:solidFill>
                  <a:srgbClr val="00B050"/>
                </a:solidFill>
              </a:rPr>
              <a:t>Adam</a:t>
            </a:r>
            <a:r>
              <a:rPr lang="en-GB" dirty="0"/>
              <a:t> is a very popular variation of gradient descent that combines the ideas of momentum and </a:t>
            </a:r>
            <a:r>
              <a:rPr lang="en-GB" dirty="0" err="1"/>
              <a:t>RMSProp</a:t>
            </a:r>
            <a:r>
              <a:rPr lang="en-GB" dirty="0"/>
              <a:t>. </a:t>
            </a:r>
          </a:p>
          <a:p>
            <a:pPr marL="0" indent="0">
              <a:buNone/>
            </a:pPr>
            <a:r>
              <a:rPr lang="en-GB" dirty="0"/>
              <a:t>Adam is a widely used (possibly the most used?) optimizer, as</a:t>
            </a:r>
            <a:r>
              <a:rPr lang="en-GB" b="1" dirty="0"/>
              <a:t> it can often achieve good performance with relatively little hyperparameter tuning.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76F08F-03EE-2230-7FC9-C1A26A7308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1384" y="2034770"/>
            <a:ext cx="5788743" cy="3420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01093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CEA2B-538F-66AB-DFA9-BC0E1EBE5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Adam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14D856-CCB6-9C34-899E-47E2CC181A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b="1" dirty="0"/>
              <a:t>Definition (</a:t>
            </a:r>
            <a:r>
              <a:rPr lang="en-GB" b="1" dirty="0">
                <a:solidFill>
                  <a:srgbClr val="00B050"/>
                </a:solidFill>
              </a:rPr>
              <a:t>Adam</a:t>
            </a:r>
            <a:r>
              <a:rPr lang="en-GB" b="1" dirty="0"/>
              <a:t> optimizer [Adam2015]):</a:t>
            </a:r>
          </a:p>
          <a:p>
            <a:pPr marL="0" indent="0">
              <a:buNone/>
            </a:pPr>
            <a:r>
              <a:rPr lang="en-GB" b="1" dirty="0">
                <a:solidFill>
                  <a:srgbClr val="00B050"/>
                </a:solidFill>
              </a:rPr>
              <a:t>Adam</a:t>
            </a:r>
            <a:r>
              <a:rPr lang="en-GB" dirty="0"/>
              <a:t> is a very popular variation of gradient descent that combines the ideas of momentum and </a:t>
            </a:r>
            <a:r>
              <a:rPr lang="en-GB" dirty="0" err="1"/>
              <a:t>RMSProp</a:t>
            </a:r>
            <a:r>
              <a:rPr lang="en-GB" dirty="0"/>
              <a:t>. </a:t>
            </a:r>
          </a:p>
          <a:p>
            <a:pPr marL="0" indent="0">
              <a:buNone/>
            </a:pPr>
            <a:r>
              <a:rPr lang="en-GB" dirty="0"/>
              <a:t>Adam is a widely used (possibly the most used?) optimizer, as</a:t>
            </a:r>
            <a:r>
              <a:rPr lang="en-GB" b="1" dirty="0"/>
              <a:t> it can often achieve good performance with relatively little hyperparameter tuning.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14B826-76A1-4C74-2CF3-31C48D1B32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Adam combines two things:</a:t>
            </a:r>
          </a:p>
          <a:p>
            <a:r>
              <a:rPr lang="en-GB" b="1" dirty="0"/>
              <a:t>exponentially</a:t>
            </a:r>
            <a:r>
              <a:rPr lang="en-GB" dirty="0"/>
              <a:t> </a:t>
            </a:r>
            <a:r>
              <a:rPr lang="en-GB" b="1" dirty="0"/>
              <a:t>decaying</a:t>
            </a:r>
            <a:r>
              <a:rPr lang="en-GB" dirty="0"/>
              <a:t> </a:t>
            </a:r>
            <a:r>
              <a:rPr lang="en-GB" b="1" dirty="0"/>
              <a:t>averages</a:t>
            </a:r>
            <a:r>
              <a:rPr lang="en-GB" dirty="0"/>
              <a:t> </a:t>
            </a:r>
            <a:r>
              <a:rPr lang="en-GB" b="1" dirty="0"/>
              <a:t>of</a:t>
            </a:r>
            <a:r>
              <a:rPr lang="en-GB" dirty="0"/>
              <a:t> </a:t>
            </a:r>
            <a:r>
              <a:rPr lang="en-GB" b="1" dirty="0"/>
              <a:t>the</a:t>
            </a:r>
            <a:r>
              <a:rPr lang="en-GB" dirty="0"/>
              <a:t> </a:t>
            </a:r>
            <a:r>
              <a:rPr lang="en-GB" b="1" dirty="0"/>
              <a:t>past</a:t>
            </a:r>
            <a:r>
              <a:rPr lang="en-GB" dirty="0"/>
              <a:t> </a:t>
            </a:r>
            <a:r>
              <a:rPr lang="en-GB" b="1" dirty="0"/>
              <a:t>gradients</a:t>
            </a:r>
            <a:r>
              <a:rPr lang="en-GB" dirty="0"/>
              <a:t> to scale the learning rate for each parameter,</a:t>
            </a:r>
          </a:p>
          <a:p>
            <a:r>
              <a:rPr lang="en-GB" dirty="0"/>
              <a:t>and </a:t>
            </a:r>
            <a:r>
              <a:rPr lang="en-GB" b="1" dirty="0"/>
              <a:t>exponentially</a:t>
            </a:r>
            <a:r>
              <a:rPr lang="en-GB" dirty="0"/>
              <a:t> </a:t>
            </a:r>
            <a:r>
              <a:rPr lang="en-GB" b="1" dirty="0"/>
              <a:t>decaying</a:t>
            </a:r>
            <a:r>
              <a:rPr lang="en-GB" dirty="0"/>
              <a:t> </a:t>
            </a:r>
            <a:r>
              <a:rPr lang="en-GB" b="1" dirty="0"/>
              <a:t>average</a:t>
            </a:r>
            <a:r>
              <a:rPr lang="en-GB" dirty="0"/>
              <a:t> </a:t>
            </a:r>
            <a:r>
              <a:rPr lang="en-GB" b="1" dirty="0"/>
              <a:t>of</a:t>
            </a:r>
            <a:r>
              <a:rPr lang="en-GB" dirty="0"/>
              <a:t> </a:t>
            </a:r>
            <a:r>
              <a:rPr lang="en-GB" b="1" dirty="0"/>
              <a:t>the</a:t>
            </a:r>
            <a:r>
              <a:rPr lang="en-GB" dirty="0"/>
              <a:t> </a:t>
            </a:r>
            <a:r>
              <a:rPr lang="en-GB" b="1" dirty="0"/>
              <a:t>past</a:t>
            </a:r>
            <a:r>
              <a:rPr lang="en-GB" dirty="0"/>
              <a:t> </a:t>
            </a:r>
            <a:r>
              <a:rPr lang="en-GB" b="1" u="sng" dirty="0"/>
              <a:t>squared</a:t>
            </a:r>
            <a:r>
              <a:rPr lang="en-GB" dirty="0"/>
              <a:t> </a:t>
            </a:r>
            <a:r>
              <a:rPr lang="en-GB" b="1" dirty="0"/>
              <a:t>gradients</a:t>
            </a:r>
            <a:r>
              <a:rPr lang="en-GB" dirty="0"/>
              <a:t> to scale the learning rate for each parameter (as in </a:t>
            </a:r>
            <a:r>
              <a:rPr lang="en-GB" dirty="0" err="1"/>
              <a:t>RMSProp</a:t>
            </a:r>
            <a:r>
              <a:rPr lang="en-GB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58936996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CEA2B-538F-66AB-DFA9-BC0E1EBE5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Adam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14D856-CCB6-9C34-899E-47E2CC181A1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GB" dirty="0"/>
                  <a:t>As before, in </a:t>
                </a:r>
                <a:r>
                  <a:rPr lang="en-GB" dirty="0" err="1"/>
                  <a:t>AdaGrad</a:t>
                </a:r>
                <a:r>
                  <a:rPr lang="en-GB" dirty="0"/>
                  <a:t> and </a:t>
                </a:r>
                <a:r>
                  <a:rPr lang="en-GB" dirty="0" err="1"/>
                  <a:t>RMSProp</a:t>
                </a:r>
                <a:r>
                  <a:rPr lang="en-GB" dirty="0"/>
                  <a:t>, </a:t>
                </a:r>
                <a:r>
                  <a:rPr lang="en-GB" b="1" dirty="0">
                    <a:solidFill>
                      <a:srgbClr val="00B050"/>
                    </a:solidFill>
                  </a:rPr>
                  <a:t>Adam</a:t>
                </a:r>
                <a:r>
                  <a:rPr lang="en-GB" dirty="0"/>
                  <a:t> uses the same intuition on using running averages for gradients, but will do so by using two running averages instead of one.</a:t>
                </a:r>
              </a:p>
              <a:p>
                <a:pPr marL="0" indent="0">
                  <a:buNone/>
                </a:pPr>
                <a:r>
                  <a:rPr lang="en-GB" dirty="0"/>
                  <a:t>For instance, for the trainable parameter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dirty="0"/>
                  <a:t>, we will have two variables, denoted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sSub>
                          <m:sSubPr>
                            <m:ctrlPr>
                              <a:rPr lang="en-GB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GB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GB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sSub>
                          <m:sSubPr>
                            <m:ctrlPr>
                              <a:rPr lang="en-GB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GB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GB" dirty="0"/>
                  <a:t>.</a:t>
                </a:r>
              </a:p>
              <a:p>
                <a:pPr marL="0" indent="0">
                  <a:buNone/>
                </a:pPr>
                <a:r>
                  <a:rPr lang="en-GB" dirty="0"/>
                  <a:t>The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GB" dirty="0"/>
                  <a:t> variables will be calculated for each trainable parameter.</a:t>
                </a:r>
              </a:p>
              <a:p>
                <a:pPr marL="0" indent="0">
                  <a:buNone/>
                </a:pPr>
                <a:r>
                  <a:rPr lang="en-GB" dirty="0"/>
                  <a:t>They will later be used in the gradient descent formula.</a:t>
                </a:r>
              </a:p>
              <a:p>
                <a:pPr marL="0" indent="0">
                  <a:buNone/>
                </a:pPr>
                <a:endParaRPr lang="en-S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14D856-CCB6-9C34-899E-47E2CC181A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 r="-1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702986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CEA2B-538F-66AB-DFA9-BC0E1EBE5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Adam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14D856-CCB6-9C34-899E-47E2CC181A1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GB" dirty="0"/>
                  <a:t>The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GB" dirty="0"/>
                  <a:t> values are defined following the logic in </a:t>
                </a:r>
                <a:r>
                  <a:rPr lang="en-GB" dirty="0" err="1"/>
                  <a:t>RMSProp</a:t>
                </a:r>
                <a:r>
                  <a:rPr lang="en-GB" dirty="0"/>
                  <a:t>, reusing the running average formula on both </a:t>
                </a:r>
                <a:r>
                  <a:rPr lang="en-GB" b="1" dirty="0"/>
                  <a:t>gradients</a:t>
                </a:r>
                <a:r>
                  <a:rPr lang="en-GB" dirty="0"/>
                  <a:t> and </a:t>
                </a:r>
                <a:r>
                  <a:rPr lang="en-GB" b="1" dirty="0"/>
                  <a:t>squared</a:t>
                </a:r>
                <a:r>
                  <a:rPr lang="en-GB" dirty="0"/>
                  <a:t> </a:t>
                </a:r>
                <a:r>
                  <a:rPr lang="en-GB" b="1" dirty="0"/>
                  <a:t>gradients</a:t>
                </a:r>
                <a:r>
                  <a:rPr lang="en-GB" dirty="0"/>
                  <a:t>: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GB" b="0" i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br>
                  <a:rPr lang="en-GB" dirty="0"/>
                </a:br>
                <a:endParaRPr lang="en-SG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num>
                                <m:den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𝑊</m:t>
                                      </m:r>
                                    </m:e>
                                    <m:sub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14D856-CCB6-9C34-899E-47E2CC181A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 r="-46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8690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CEA2B-538F-66AB-DFA9-BC0E1EBE5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Adam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14D856-CCB6-9C34-899E-47E2CC181A1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GB" dirty="0"/>
                  <a:t>In Adam, we will have two hyperparameters, one for each component we described earlier:</a:t>
                </a:r>
              </a:p>
              <a:p>
                <a:r>
                  <a:rPr lang="en-GB" dirty="0"/>
                  <a:t>First,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is an hyperparameter, whose value is set between 0 and 1, often set to 0.9.</a:t>
                </a:r>
              </a:p>
              <a:p>
                <a:r>
                  <a:rPr lang="en-GB" dirty="0"/>
                  <a:t>Second,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is an hyperparameter, whose value is set between 0 and 1, often set to 0.999.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In general, default values for these parameters seem to perform well, but as in all things, NFL!</a:t>
                </a:r>
              </a:p>
              <a:p>
                <a:pPr marL="0" indent="0">
                  <a:buNone/>
                </a:pPr>
                <a:endParaRPr lang="en-S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14D856-CCB6-9C34-899E-47E2CC181A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 r="-179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830001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CEA2B-538F-66AB-DFA9-BC0E1EBE5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Adam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14D856-CCB6-9C34-899E-47E2CC181A1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4"/>
                <a:ext cx="10925175" cy="5032375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GB" dirty="0"/>
                  <a:t>The values are then used to calculate the change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sSub>
                          <m:sSubPr>
                            <m:ctrlPr>
                              <a:rPr lang="en-GB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GB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GB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below:</a:t>
                </a:r>
                <a:br>
                  <a:rPr lang="en-GB" dirty="0"/>
                </a:b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sSub>
                            <m:sSubPr>
                              <m:ctrlPr>
                                <a:rPr lang="en-GB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 dirty="0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GB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 dirty="0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GB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 dirty="0" smtClean="0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GB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i="1" dirty="0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en-GB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 dirty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GB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i="1" dirty="0">
                                          <a:latin typeface="Cambria Math" panose="02040503050406030204" pitchFamily="18" charset="0"/>
                                        </a:rPr>
                                        <m:t>𝑊</m:t>
                                      </m:r>
                                    </m:e>
                                    <m:sub>
                                      <m:r>
                                        <a:rPr lang="en-GB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rad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𝜖</m:t>
                          </m:r>
                        </m:den>
                      </m:f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br>
                  <a:rPr lang="en-GB" dirty="0"/>
                </a:br>
                <a:r>
                  <a:rPr lang="en-GB" dirty="0"/>
                  <a:t>Note that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GB" dirty="0"/>
                  <a:t> is no longer in the square root. The update rule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dirty="0"/>
                  <a:t> is then:</a:t>
                </a:r>
                <a:br>
                  <a:rPr lang="en-GB" dirty="0"/>
                </a:b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i="1" dirty="0">
                          <a:latin typeface="Cambria Math" panose="02040503050406030204" pitchFamily="18" charset="0"/>
                        </a:rPr>
                        <m:t>← </m:t>
                      </m:r>
                      <m:sSub>
                        <m:sSub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i="1" dirty="0">
                          <a:latin typeface="Cambria Math" panose="02040503050406030204" pitchFamily="18" charset="0"/>
                        </a:rPr>
                        <m:t> −</m:t>
                      </m:r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sSub>
                            <m:sSubPr>
                              <m:ctrlPr>
                                <a:rPr lang="en-GB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dirty="0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GB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SG" dirty="0"/>
              </a:p>
              <a:p>
                <a:pPr marL="0" indent="0">
                  <a:buNone/>
                </a:pPr>
                <a:endParaRPr lang="en-SG" dirty="0"/>
              </a:p>
              <a:p>
                <a:pPr marL="0" indent="0">
                  <a:buNone/>
                </a:pPr>
                <a:r>
                  <a:rPr lang="en-SG" dirty="0"/>
                  <a:t>This new gradient descent update rule formula technically includes </a:t>
                </a:r>
                <a:r>
                  <a:rPr lang="en-SG" b="1" dirty="0"/>
                  <a:t>LR decay</a:t>
                </a:r>
                <a:r>
                  <a:rPr lang="en-SG" dirty="0"/>
                  <a:t>, </a:t>
                </a:r>
                <a:r>
                  <a:rPr lang="en-SG" b="1" dirty="0"/>
                  <a:t>LR gradient-based control </a:t>
                </a:r>
                <a:r>
                  <a:rPr lang="en-SG" dirty="0"/>
                  <a:t>and </a:t>
                </a:r>
                <a:r>
                  <a:rPr lang="en-SG" b="1" dirty="0"/>
                  <a:t>momentum</a:t>
                </a:r>
                <a:r>
                  <a:rPr lang="en-SG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14D856-CCB6-9C34-899E-47E2CC181A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4"/>
                <a:ext cx="10925175" cy="5032375"/>
              </a:xfrm>
              <a:blipFill>
                <a:blip r:embed="rId2"/>
                <a:stretch>
                  <a:fillRect l="-1115" t="-1695" r="-669" b="-48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94291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259EF48-1714-83AF-4AC7-0E68789C831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4861" r="28315" b="4028"/>
          <a:stretch/>
        </p:blipFill>
        <p:spPr>
          <a:xfrm>
            <a:off x="5183434" y="365125"/>
            <a:ext cx="6660318" cy="60547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1CCEA2B-538F-66AB-DFA9-BC0E1EBE5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Adam</a:t>
            </a:r>
            <a:br>
              <a:rPr lang="en-GB" dirty="0"/>
            </a:br>
            <a:r>
              <a:rPr lang="en-GB" dirty="0"/>
              <a:t>implementation</a:t>
            </a:r>
            <a:endParaRPr lang="en-SG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A1CCDEF-05D4-3DE0-A3AE-255A2FA6F44C}"/>
              </a:ext>
            </a:extLst>
          </p:cNvPr>
          <p:cNvSpPr txBox="1"/>
          <p:nvPr/>
        </p:nvSpPr>
        <p:spPr>
          <a:xfrm>
            <a:off x="320429" y="2341561"/>
            <a:ext cx="54881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7030A0"/>
                </a:solidFill>
              </a:rPr>
              <a:t>Compute all eight S and V variables (we have four trainable parameters).</a:t>
            </a:r>
          </a:p>
          <a:p>
            <a:endParaRPr lang="en-GB" dirty="0">
              <a:solidFill>
                <a:srgbClr val="7030A0"/>
              </a:solidFill>
            </a:endParaRPr>
          </a:p>
          <a:p>
            <a:r>
              <a:rPr lang="en-GB" dirty="0">
                <a:solidFill>
                  <a:srgbClr val="7030A0"/>
                </a:solidFill>
              </a:rPr>
              <a:t>Use update formulas as mentioned.</a:t>
            </a:r>
            <a:endParaRPr lang="en-SG" dirty="0">
              <a:solidFill>
                <a:srgbClr val="7030A0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8D257D6-0945-EB9E-532A-BC900B613456}"/>
              </a:ext>
            </a:extLst>
          </p:cNvPr>
          <p:cNvSpPr/>
          <p:nvPr/>
        </p:nvSpPr>
        <p:spPr>
          <a:xfrm flipV="1">
            <a:off x="5543550" y="365125"/>
            <a:ext cx="6300201" cy="5930900"/>
          </a:xfrm>
          <a:prstGeom prst="rect">
            <a:avLst/>
          </a:prstGeom>
          <a:noFill/>
          <a:ln w="38100">
            <a:solidFill>
              <a:srgbClr val="7030A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5206068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F1BBBA7-9578-2836-556B-73778E7C2DB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4861" r="28315" b="4028"/>
          <a:stretch/>
        </p:blipFill>
        <p:spPr>
          <a:xfrm>
            <a:off x="5183434" y="365125"/>
            <a:ext cx="6660318" cy="605472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4045281-7532-71C1-98CA-BD5DF9D548D5}"/>
              </a:ext>
            </a:extLst>
          </p:cNvPr>
          <p:cNvSpPr/>
          <p:nvPr/>
        </p:nvSpPr>
        <p:spPr>
          <a:xfrm flipV="1">
            <a:off x="5543550" y="365125"/>
            <a:ext cx="6300201" cy="5930900"/>
          </a:xfrm>
          <a:prstGeom prst="rect">
            <a:avLst/>
          </a:prstGeom>
          <a:noFill/>
          <a:ln w="38100">
            <a:solidFill>
              <a:srgbClr val="7030A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CCEA2B-538F-66AB-DFA9-BC0E1EBE5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Adam</a:t>
            </a:r>
            <a:br>
              <a:rPr lang="en-GB" dirty="0"/>
            </a:br>
            <a:r>
              <a:rPr lang="en-GB" dirty="0"/>
              <a:t>implementation</a:t>
            </a:r>
            <a:endParaRPr lang="en-SG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A1CCDEF-05D4-3DE0-A3AE-255A2FA6F44C}"/>
              </a:ext>
            </a:extLst>
          </p:cNvPr>
          <p:cNvSpPr txBox="1"/>
          <p:nvPr/>
        </p:nvSpPr>
        <p:spPr>
          <a:xfrm>
            <a:off x="320429" y="2341561"/>
            <a:ext cx="54881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7030A0"/>
                </a:solidFill>
              </a:rPr>
              <a:t>Compute all eight S and V variables (we have four trainable parameters).</a:t>
            </a:r>
          </a:p>
          <a:p>
            <a:endParaRPr lang="en-GB" dirty="0">
              <a:solidFill>
                <a:srgbClr val="7030A0"/>
              </a:solidFill>
            </a:endParaRPr>
          </a:p>
          <a:p>
            <a:r>
              <a:rPr lang="en-GB" dirty="0">
                <a:solidFill>
                  <a:srgbClr val="7030A0"/>
                </a:solidFill>
              </a:rPr>
              <a:t>Use update formulas as mentioned.</a:t>
            </a:r>
            <a:endParaRPr lang="en-SG" dirty="0">
              <a:solidFill>
                <a:srgbClr val="7030A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FD0325-5E9A-BBD4-31E7-1049C1A2E287}"/>
              </a:ext>
            </a:extLst>
          </p:cNvPr>
          <p:cNvSpPr txBox="1"/>
          <p:nvPr/>
        </p:nvSpPr>
        <p:spPr>
          <a:xfrm>
            <a:off x="320428" y="4250170"/>
            <a:ext cx="497915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2"/>
                </a:solidFill>
              </a:rPr>
              <a:t>We have also implemented an optional normalization of the S and V coefficients.</a:t>
            </a:r>
          </a:p>
          <a:p>
            <a:endParaRPr lang="en-GB" dirty="0">
              <a:solidFill>
                <a:schemeClr val="accent2"/>
              </a:solidFill>
            </a:endParaRPr>
          </a:p>
          <a:p>
            <a:r>
              <a:rPr lang="en-GB" dirty="0">
                <a:solidFill>
                  <a:schemeClr val="accent2"/>
                </a:solidFill>
              </a:rPr>
              <a:t>This is mentioned in the Adam paper, and it typically allows to include the iteration number (somewhat similar to learning rate decay).</a:t>
            </a:r>
          </a:p>
          <a:p>
            <a:endParaRPr lang="en-GB" dirty="0">
              <a:solidFill>
                <a:schemeClr val="accent2"/>
              </a:solidFill>
            </a:endParaRPr>
          </a:p>
          <a:p>
            <a:r>
              <a:rPr lang="en-GB" dirty="0">
                <a:solidFill>
                  <a:schemeClr val="accent2"/>
                </a:solidFill>
              </a:rPr>
              <a:t>It could be freely omitted but shown for curiosity.</a:t>
            </a:r>
            <a:endParaRPr lang="en-SG" dirty="0">
              <a:solidFill>
                <a:schemeClr val="accent2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C13568-9EB7-8AE9-3D65-8A2BBB2E97EF}"/>
              </a:ext>
            </a:extLst>
          </p:cNvPr>
          <p:cNvSpPr/>
          <p:nvPr/>
        </p:nvSpPr>
        <p:spPr>
          <a:xfrm flipV="1">
            <a:off x="5560937" y="1779873"/>
            <a:ext cx="4668913" cy="915701"/>
          </a:xfrm>
          <a:prstGeom prst="rect">
            <a:avLst/>
          </a:prstGeom>
          <a:noFill/>
          <a:ln w="38100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561ACA-75D2-4E95-A058-ADEAB06C0ACD}"/>
              </a:ext>
            </a:extLst>
          </p:cNvPr>
          <p:cNvSpPr/>
          <p:nvPr/>
        </p:nvSpPr>
        <p:spPr>
          <a:xfrm flipV="1">
            <a:off x="5659704" y="3541890"/>
            <a:ext cx="4570146" cy="915700"/>
          </a:xfrm>
          <a:prstGeom prst="rect">
            <a:avLst/>
          </a:prstGeom>
          <a:noFill/>
          <a:ln w="38100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812352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0D8F5-BFAC-79E0-DA30-6EC3AF8D8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Comparing all four optimizers</a:t>
            </a:r>
            <a:endParaRPr lang="en-S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D52421-3700-A878-249F-9DA49F4B79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3894" y="1514865"/>
            <a:ext cx="7744211" cy="5343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16222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0D8F5-BFAC-79E0-DA30-6EC3AF8D8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Comparing all four optimizers</a:t>
            </a:r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3BF6F7-D370-1DB8-5C33-A9914495DE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1249" y="1603643"/>
            <a:ext cx="7609501" cy="5254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75513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C2759-F8AB-AA46-0AE4-72B27C6D4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PyTorch</a:t>
            </a:r>
            <a:r>
              <a:rPr lang="en-GB" dirty="0"/>
              <a:t> has many</a:t>
            </a:r>
            <a:br>
              <a:rPr lang="en-GB" dirty="0"/>
            </a:br>
            <a:r>
              <a:rPr lang="en-GB" dirty="0"/>
              <a:t>more optimizers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A9154-8357-5DC7-E5FE-55312619F8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5032374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These days, most Neural Networks seem to rely on Adam.</a:t>
            </a:r>
          </a:p>
          <a:p>
            <a:r>
              <a:rPr lang="en-GB" dirty="0"/>
              <a:t>As with activation functions, there are a few more (niche) optimizers, implemented in </a:t>
            </a:r>
            <a:r>
              <a:rPr lang="en-GB" dirty="0" err="1"/>
              <a:t>PyTorch</a:t>
            </a:r>
            <a:r>
              <a:rPr lang="en-GB" dirty="0"/>
              <a:t>.</a:t>
            </a:r>
          </a:p>
          <a:p>
            <a:r>
              <a:rPr lang="en-GB" dirty="0"/>
              <a:t>Worth looking into: </a:t>
            </a:r>
            <a:r>
              <a:rPr lang="en-GB" dirty="0">
                <a:hlinkClick r:id="rId2"/>
              </a:rPr>
              <a:t>https://pytorch.org/docs/stable/optim.html#torch.optim.Optimizer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(Quick discussion, in bonus slides)</a:t>
            </a:r>
          </a:p>
          <a:p>
            <a:endParaRPr lang="en-S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BEA049-9A5E-EF72-FEF9-BB9BD89E7A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8595" y="746448"/>
            <a:ext cx="5713405" cy="6111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70673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45DD1-7D03-DF5A-B422-D9D0C471A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Just a question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AE152F-A5D2-2F32-A363-DA5CFD8B2E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We have a dataset of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GB" dirty="0"/>
                  <a:t> samples, used for training. </a:t>
                </a:r>
                <a:r>
                  <a:rPr lang="en-SG" dirty="0"/>
                  <a:t>Our training procedure, so far consists of:</a:t>
                </a:r>
              </a:p>
              <a:p>
                <a:r>
                  <a:rPr lang="en-SG" dirty="0"/>
                  <a:t>Formulating predictions for all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GB" dirty="0"/>
                  <a:t> samples in the dataset, using current model parameters,</a:t>
                </a:r>
              </a:p>
              <a:p>
                <a:r>
                  <a:rPr lang="en-GB" dirty="0"/>
                  <a:t>Using all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GB" dirty="0"/>
                  <a:t> predictions to compute the value of the loss function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GB" dirty="0"/>
                  <a:t> for current model parameters, essentially averaging errors over all predictions made on all samples,</a:t>
                </a:r>
              </a:p>
              <a:p>
                <a:r>
                  <a:rPr lang="en-GB" dirty="0"/>
                  <a:t>Backpropagation using the loss function we just calculated, using parameters update rules calculations and parameters adjustment.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AE152F-A5D2-2F32-A363-DA5CFD8B2E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 r="-185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342289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45DD1-7D03-DF5A-B422-D9D0C471A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Just a question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AE152F-A5D2-2F32-A363-DA5CFD8B2E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On each call of the backward() method, we would therefore perform </a:t>
                </a:r>
                <a:r>
                  <a:rPr lang="en-GB" b="1" u="sng" dirty="0"/>
                  <a:t>1 parameter update using all </a:t>
                </a:r>
                <a14:m>
                  <m:oMath xmlns:m="http://schemas.openxmlformats.org/officeDocument/2006/math">
                    <m:r>
                      <a:rPr lang="en-GB" b="1" i="1" u="sng" dirty="0"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r>
                  <a:rPr lang="en-GB" b="1" u="sng" dirty="0"/>
                  <a:t> samples in the dataset</a:t>
                </a:r>
                <a:r>
                  <a:rPr lang="en-GB" dirty="0"/>
                  <a:t>.</a:t>
                </a:r>
              </a:p>
              <a:p>
                <a:pPr marL="0" indent="0">
                  <a:buNone/>
                </a:pPr>
                <a:r>
                  <a:rPr lang="en-GB" dirty="0"/>
                  <a:t>This is called a </a:t>
                </a:r>
                <a:r>
                  <a:rPr lang="en-GB" b="1" dirty="0">
                    <a:solidFill>
                      <a:srgbClr val="00B050"/>
                    </a:solidFill>
                  </a:rPr>
                  <a:t>(Full) Batch </a:t>
                </a:r>
                <a:r>
                  <a:rPr lang="en-GB" b="1" dirty="0"/>
                  <a:t>Gradient Descent</a:t>
                </a:r>
                <a:r>
                  <a:rPr lang="en-GB" dirty="0"/>
                  <a:t>.</a:t>
                </a:r>
                <a:br>
                  <a:rPr lang="en-GB" dirty="0"/>
                </a:br>
                <a:endParaRPr lang="en-GB" dirty="0"/>
              </a:p>
              <a:p>
                <a:pPr algn="ctr">
                  <a:buFont typeface="Wingdings" panose="05000000000000000000" pitchFamily="2" charset="2"/>
                  <a:buChar char="à"/>
                </a:pPr>
                <a:r>
                  <a:rPr lang="en-SG" dirty="0">
                    <a:solidFill>
                      <a:srgbClr val="FF0000"/>
                    </a:solidFill>
                  </a:rPr>
                  <a:t>While this is a </a:t>
                </a:r>
                <a:r>
                  <a:rPr lang="en-SG" b="1" dirty="0">
                    <a:solidFill>
                      <a:srgbClr val="FF0000"/>
                    </a:solidFill>
                  </a:rPr>
                  <a:t>slow and safe way to go</a:t>
                </a:r>
                <a:r>
                  <a:rPr lang="en-SG" dirty="0">
                    <a:solidFill>
                      <a:srgbClr val="FF0000"/>
                    </a:solidFill>
                  </a:rPr>
                  <a:t>, do we really need to use all </a:t>
                </a:r>
                <a14:m>
                  <m:oMath xmlns:m="http://schemas.openxmlformats.org/officeDocument/2006/math">
                    <m:r>
                      <a:rPr lang="en-SG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SG" dirty="0">
                    <a:solidFill>
                      <a:srgbClr val="FF0000"/>
                    </a:solidFill>
                  </a:rPr>
                  <a:t> samples in the dataset to perform one update of the parameters?</a:t>
                </a:r>
              </a:p>
              <a:p>
                <a:pPr marL="0" indent="0" algn="ctr">
                  <a:buNone/>
                </a:pPr>
                <a:r>
                  <a:rPr lang="en-SG" dirty="0">
                    <a:solidFill>
                      <a:srgbClr val="FF0000"/>
                    </a:solidFill>
                  </a:rPr>
                  <a:t>Or could we perform </a:t>
                </a:r>
                <a:r>
                  <a:rPr lang="en-SG" b="1" dirty="0">
                    <a:solidFill>
                      <a:srgbClr val="FF0000"/>
                    </a:solidFill>
                  </a:rPr>
                  <a:t>more regular updates </a:t>
                </a:r>
                <a:r>
                  <a:rPr lang="en-SG" dirty="0">
                    <a:solidFill>
                      <a:srgbClr val="FF0000"/>
                    </a:solidFill>
                  </a:rPr>
                  <a:t>to reduce the computational cost for each parameter update?</a:t>
                </a:r>
              </a:p>
              <a:p>
                <a:pPr marL="0" indent="0">
                  <a:buNone/>
                </a:pPr>
                <a:endParaRPr lang="en-S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AE152F-A5D2-2F32-A363-DA5CFD8B2E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r="-58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514682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45DD1-7D03-DF5A-B422-D9D0C471A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Stochastic Gradient Descent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AE152F-A5D2-2F32-A363-DA5CFD8B2E5F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GB" b="1" dirty="0"/>
                  <a:t>Definition (</a:t>
                </a:r>
                <a:r>
                  <a:rPr lang="en-GB" b="1" dirty="0">
                    <a:solidFill>
                      <a:srgbClr val="00B050"/>
                    </a:solidFill>
                  </a:rPr>
                  <a:t>Stochastic</a:t>
                </a:r>
                <a:r>
                  <a:rPr lang="en-GB" b="1" dirty="0"/>
                  <a:t> Gradient Descent [StoGD1951]):</a:t>
                </a:r>
              </a:p>
              <a:p>
                <a:pPr marL="0" indent="0">
                  <a:buNone/>
                </a:pPr>
                <a:r>
                  <a:rPr lang="en-GB" dirty="0"/>
                  <a:t>Vanilla Gradient Descent would perform </a:t>
                </a:r>
                <a:r>
                  <a:rPr lang="en-GB" b="1" dirty="0"/>
                  <a:t>1 parameter update using all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r>
                  <a:rPr lang="en-GB" b="1" dirty="0"/>
                  <a:t> samples in the dataset</a:t>
                </a:r>
                <a:r>
                  <a:rPr lang="en-GB" dirty="0"/>
                  <a:t>.</a:t>
                </a:r>
              </a:p>
              <a:p>
                <a:pPr marL="0" indent="0">
                  <a:buNone/>
                </a:pPr>
                <a:r>
                  <a:rPr lang="en-GB" dirty="0"/>
                  <a:t>If we wanted to design the most frequent update scheme, it would probably consist of using of</a:t>
                </a:r>
              </a:p>
              <a:p>
                <a:r>
                  <a:rPr lang="en-SG" dirty="0"/>
                  <a:t>Formulating predictions </a:t>
                </a:r>
                <a:r>
                  <a:rPr lang="en-SG" b="1" u="sng" dirty="0"/>
                  <a:t>for </a:t>
                </a:r>
                <a:r>
                  <a:rPr lang="en-GB" b="1" u="sng" dirty="0"/>
                  <a:t>a single sample, randomly drawn in dataset</a:t>
                </a:r>
                <a:r>
                  <a:rPr lang="en-GB" dirty="0"/>
                  <a:t>, using current model parameters,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AE152F-A5D2-2F32-A363-DA5CFD8B2E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  <a:blipFill>
                <a:blip r:embed="rId2"/>
                <a:stretch>
                  <a:fillRect l="-2118" t="-2421" r="-47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9F7CD9D3-6C4B-94A6-906C-0AD70AEA03EE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172200" y="1825624"/>
                <a:ext cx="5181600" cy="3949945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GB" dirty="0"/>
                  <a:t>Using this single prediction to compute the value of the loss function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GB" dirty="0"/>
                  <a:t> for current model parameters,</a:t>
                </a:r>
              </a:p>
              <a:p>
                <a:r>
                  <a:rPr lang="en-GB" dirty="0"/>
                  <a:t>Backpropagation using the loss function we just calculated (parameters update rules calculations and parameters adjustment).</a:t>
                </a:r>
              </a:p>
              <a:p>
                <a:pPr marL="0" indent="0">
                  <a:buNone/>
                </a:pPr>
                <a:r>
                  <a:rPr lang="en-GB" dirty="0"/>
                  <a:t>This procedure is called </a:t>
                </a:r>
                <a:r>
                  <a:rPr lang="en-GB" b="1" dirty="0">
                    <a:solidFill>
                      <a:srgbClr val="00B050"/>
                    </a:solidFill>
                  </a:rPr>
                  <a:t>Stochastic</a:t>
                </a:r>
                <a:r>
                  <a:rPr lang="en-GB" b="1" dirty="0"/>
                  <a:t> Gradient Descent</a:t>
                </a:r>
                <a:r>
                  <a:rPr lang="en-GB" dirty="0"/>
                  <a:t>.</a:t>
                </a:r>
              </a:p>
              <a:p>
                <a:endParaRPr lang="en-SG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9F7CD9D3-6C4B-94A6-906C-0AD70AEA03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172200" y="1825624"/>
                <a:ext cx="5181600" cy="3949945"/>
              </a:xfrm>
              <a:blipFill>
                <a:blip r:embed="rId3"/>
                <a:stretch>
                  <a:fillRect l="-2118" t="-3086" b="-1389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F8FF7AF-0E2B-BCAB-107E-7853CBA15E6D}"/>
              </a:ext>
            </a:extLst>
          </p:cNvPr>
          <p:cNvCxnSpPr/>
          <p:nvPr/>
        </p:nvCxnSpPr>
        <p:spPr>
          <a:xfrm>
            <a:off x="6658708" y="5924059"/>
            <a:ext cx="4634523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85F05F4-3906-780A-7322-0C25864927BA}"/>
                  </a:ext>
                </a:extLst>
              </p:cNvPr>
              <p:cNvSpPr txBox="1"/>
              <p:nvPr/>
            </p:nvSpPr>
            <p:spPr>
              <a:xfrm>
                <a:off x="9831755" y="6171327"/>
                <a:ext cx="219612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1 update using all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GB" dirty="0"/>
                  <a:t> samples in dataset</a:t>
                </a:r>
                <a:endParaRPr lang="en-SG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85F05F4-3906-780A-7322-0C25864927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1755" y="6171327"/>
                <a:ext cx="2196122" cy="646331"/>
              </a:xfrm>
              <a:prstGeom prst="rect">
                <a:avLst/>
              </a:prstGeom>
              <a:blipFill>
                <a:blip r:embed="rId4"/>
                <a:stretch>
                  <a:fillRect l="-2500" t="-4717" b="-141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94C7BFE9-F2F2-B754-9A29-6465EC4E7431}"/>
              </a:ext>
            </a:extLst>
          </p:cNvPr>
          <p:cNvSpPr txBox="1"/>
          <p:nvPr/>
        </p:nvSpPr>
        <p:spPr>
          <a:xfrm>
            <a:off x="6414477" y="6169709"/>
            <a:ext cx="26201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Stochastic GD: One update per sample?!</a:t>
            </a:r>
            <a:endParaRPr lang="en-SG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757090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45DD1-7D03-DF5A-B422-D9D0C471A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Stochastic Gradient Descent implementation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AE152F-A5D2-2F32-A363-DA5CFD8B2E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Implementing the </a:t>
            </a:r>
            <a:r>
              <a:rPr lang="en-GB" b="1" dirty="0">
                <a:solidFill>
                  <a:srgbClr val="00B050"/>
                </a:solidFill>
              </a:rPr>
              <a:t>Stochastic Gradient Descent </a:t>
            </a:r>
            <a:r>
              <a:rPr lang="en-GB" dirty="0"/>
              <a:t>requires to slightly change the trainer method of our class. </a:t>
            </a:r>
            <a:r>
              <a:rPr lang="en-GB" b="1" dirty="0"/>
              <a:t>It will now draw a random sample in the dataset and use this single sample to perform the backward operations.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A6996B0-8B63-4DA5-4985-91EDFA8750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9126" y="3558240"/>
            <a:ext cx="9593748" cy="329976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707593F-467E-CADC-317F-563EB18D6C9F}"/>
              </a:ext>
            </a:extLst>
          </p:cNvPr>
          <p:cNvSpPr/>
          <p:nvPr/>
        </p:nvSpPr>
        <p:spPr>
          <a:xfrm flipV="1">
            <a:off x="2563447" y="5509844"/>
            <a:ext cx="3860799" cy="802055"/>
          </a:xfrm>
          <a:prstGeom prst="rect">
            <a:avLst/>
          </a:prstGeom>
          <a:noFill/>
          <a:ln w="38100">
            <a:solidFill>
              <a:srgbClr val="7030A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52DC33-4EDE-1892-E960-3AB7D3DA672B}"/>
              </a:ext>
            </a:extLst>
          </p:cNvPr>
          <p:cNvSpPr/>
          <p:nvPr/>
        </p:nvSpPr>
        <p:spPr>
          <a:xfrm>
            <a:off x="3938954" y="6596184"/>
            <a:ext cx="3094892" cy="195383"/>
          </a:xfrm>
          <a:prstGeom prst="rect">
            <a:avLst/>
          </a:prstGeom>
          <a:noFill/>
          <a:ln w="38100">
            <a:solidFill>
              <a:srgbClr val="7030A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2844017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45DD1-7D03-DF5A-B422-D9D0C471A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Stochastic Gradient Descent implementation</a:t>
            </a:r>
            <a:endParaRPr lang="en-SG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BB9B56B-0BC7-D8EF-7A43-861F4131A5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In general, slightly faster training, but a lot more erratic.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CBFC68F-5339-51E4-BFD3-86304D32F8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76" y="2594708"/>
            <a:ext cx="11679847" cy="4263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24762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45DD1-7D03-DF5A-B422-D9D0C471A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Stochastic Gradient Descent implementation</a:t>
            </a:r>
            <a:endParaRPr lang="en-SG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BB9B56B-0BC7-D8EF-7A43-861F4131A5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In general, slightly faster training, but a lot more erratic.</a:t>
            </a:r>
          </a:p>
          <a:p>
            <a:pPr marL="0" indent="0">
              <a:buNone/>
            </a:pPr>
            <a:r>
              <a:rPr lang="en-GB" b="1" dirty="0"/>
              <a:t>Reason: </a:t>
            </a:r>
            <a:r>
              <a:rPr lang="en-GB" dirty="0"/>
              <a:t>Most loss function are using mean/averaging error values over several samples, e.g. Mean Square Error.</a:t>
            </a:r>
          </a:p>
          <a:p>
            <a:r>
              <a:rPr lang="en-GB" dirty="0"/>
              <a:t>Using only one sample in the MSE formula will not lead to a good estimation of the Mean Square Error of the model on the dataset.</a:t>
            </a:r>
          </a:p>
          <a:p>
            <a:r>
              <a:rPr lang="en-GB" dirty="0"/>
              <a:t>Using all samples however leads to the best possible estimations but it is slow to compute.</a:t>
            </a:r>
            <a:endParaRPr lang="en-SG" dirty="0"/>
          </a:p>
          <a:p>
            <a:pPr marL="0" indent="0">
              <a:buNone/>
            </a:pPr>
            <a:endParaRPr lang="en-GB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3727F9D-698E-D89C-9CF8-1D677D282078}"/>
              </a:ext>
            </a:extLst>
          </p:cNvPr>
          <p:cNvCxnSpPr>
            <a:cxnSpLocks/>
          </p:cNvCxnSpPr>
          <p:nvPr/>
        </p:nvCxnSpPr>
        <p:spPr>
          <a:xfrm>
            <a:off x="1117600" y="5418301"/>
            <a:ext cx="10410092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B16CD45C-C3DC-FF0C-761C-26D94F1CF5E2}"/>
              </a:ext>
            </a:extLst>
          </p:cNvPr>
          <p:cNvSpPr txBox="1"/>
          <p:nvPr/>
        </p:nvSpPr>
        <p:spPr>
          <a:xfrm>
            <a:off x="8815755" y="5653456"/>
            <a:ext cx="3213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Batch GD: </a:t>
            </a:r>
            <a:r>
              <a:rPr lang="en-GB" dirty="0">
                <a:solidFill>
                  <a:srgbClr val="00B050"/>
                </a:solidFill>
              </a:rPr>
              <a:t>best estimation of MSE loss</a:t>
            </a:r>
            <a:r>
              <a:rPr lang="en-GB" dirty="0"/>
              <a:t>, but </a:t>
            </a:r>
            <a:r>
              <a:rPr lang="en-GB" dirty="0">
                <a:solidFill>
                  <a:srgbClr val="FF0000"/>
                </a:solidFill>
              </a:rPr>
              <a:t>slow to compute</a:t>
            </a:r>
            <a:r>
              <a:rPr lang="en-GB" dirty="0"/>
              <a:t>.</a:t>
            </a:r>
            <a:endParaRPr lang="en-SG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86FD0E-514A-1A1A-1172-F8B141359EAA}"/>
              </a:ext>
            </a:extLst>
          </p:cNvPr>
          <p:cNvSpPr txBox="1"/>
          <p:nvPr/>
        </p:nvSpPr>
        <p:spPr>
          <a:xfrm>
            <a:off x="389792" y="5648209"/>
            <a:ext cx="3213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Stochastic GD: </a:t>
            </a:r>
            <a:r>
              <a:rPr lang="en-GB" dirty="0">
                <a:solidFill>
                  <a:srgbClr val="FF0000"/>
                </a:solidFill>
              </a:rPr>
              <a:t>worst estimation of the MSE</a:t>
            </a:r>
            <a:r>
              <a:rPr lang="en-GB" dirty="0"/>
              <a:t>, but </a:t>
            </a:r>
            <a:r>
              <a:rPr lang="en-GB" dirty="0">
                <a:solidFill>
                  <a:srgbClr val="00B050"/>
                </a:solidFill>
              </a:rPr>
              <a:t>fast to compute</a:t>
            </a:r>
            <a:endParaRPr lang="en-SG" dirty="0">
              <a:solidFill>
                <a:srgbClr val="00B05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9704F6B-35B9-4B8C-0090-DD2A3FE0F78E}"/>
              </a:ext>
            </a:extLst>
          </p:cNvPr>
          <p:cNvSpPr txBox="1"/>
          <p:nvPr/>
        </p:nvSpPr>
        <p:spPr>
          <a:xfrm>
            <a:off x="4602773" y="5672410"/>
            <a:ext cx="32131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/>
              <a:t>What does the optimal middle ground consist of</a:t>
            </a:r>
            <a:r>
              <a:rPr lang="en-GB" b="1" dirty="0"/>
              <a:t>?</a:t>
            </a:r>
            <a:endParaRPr lang="en-SG" sz="2000" dirty="0"/>
          </a:p>
        </p:txBody>
      </p:sp>
    </p:spTree>
    <p:extLst>
      <p:ext uri="{BB962C8B-B14F-4D97-AF65-F5344CB8AC3E}">
        <p14:creationId xmlns:p14="http://schemas.microsoft.com/office/powerpoint/2010/main" val="256622027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0C7BF-4A47-FDD1-90A0-7CB2FF008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Intuition behind Mini-</a:t>
            </a:r>
            <a:r>
              <a:rPr lang="en-GB" dirty="0" err="1"/>
              <a:t>ba</a:t>
            </a:r>
            <a:r>
              <a:rPr lang="en-GB" dirty="0"/>
              <a:t>	tch Stochastic GD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02A2FDC-5691-C578-010D-7EB4BB4DFB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958129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GB" dirty="0"/>
                  <a:t>What if we used a subset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𝑤𝑖𝑡h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randomly drawn samples from the dataset to perform one iteration of parameter update instead of</a:t>
                </a:r>
              </a:p>
              <a:p>
                <a:r>
                  <a:rPr lang="en-GB" dirty="0"/>
                  <a:t>The entire dataset as in </a:t>
                </a:r>
                <a:r>
                  <a:rPr lang="en-GB" b="1" dirty="0">
                    <a:solidFill>
                      <a:srgbClr val="00B050"/>
                    </a:solidFill>
                  </a:rPr>
                  <a:t>(Full) Batch GD</a:t>
                </a:r>
                <a:r>
                  <a:rPr lang="en-GB" dirty="0"/>
                  <a:t>,</a:t>
                </a:r>
              </a:p>
              <a:p>
                <a:r>
                  <a:rPr lang="en-GB" dirty="0"/>
                  <a:t>Or only one sample as in </a:t>
                </a:r>
                <a:r>
                  <a:rPr lang="en-GB" b="1" dirty="0">
                    <a:solidFill>
                      <a:srgbClr val="00B050"/>
                    </a:solidFill>
                  </a:rPr>
                  <a:t>Stochastic GD</a:t>
                </a:r>
                <a:r>
                  <a:rPr lang="en-GB" dirty="0"/>
                  <a:t>?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b="1" dirty="0"/>
                  <a:t>Definition (samples </a:t>
                </a:r>
                <a:r>
                  <a:rPr lang="en-GB" b="1" dirty="0">
                    <a:solidFill>
                      <a:srgbClr val="00B050"/>
                    </a:solidFill>
                  </a:rPr>
                  <a:t>mini-batch</a:t>
                </a:r>
                <a:r>
                  <a:rPr lang="en-GB" b="1" dirty="0"/>
                  <a:t>):</a:t>
                </a:r>
              </a:p>
              <a:p>
                <a:pPr marL="0" indent="0">
                  <a:buNone/>
                </a:pPr>
                <a:r>
                  <a:rPr lang="en-GB" dirty="0"/>
                  <a:t>We call a </a:t>
                </a:r>
                <a:r>
                  <a:rPr lang="en-GB" b="1" dirty="0"/>
                  <a:t>samples </a:t>
                </a:r>
                <a:r>
                  <a:rPr lang="en-GB" b="1" dirty="0">
                    <a:solidFill>
                      <a:srgbClr val="00B050"/>
                    </a:solidFill>
                  </a:rPr>
                  <a:t>mini-batch</a:t>
                </a:r>
                <a:r>
                  <a:rPr lang="en-GB" dirty="0"/>
                  <a:t>, or simply </a:t>
                </a:r>
                <a:r>
                  <a:rPr lang="en-GB" b="1" dirty="0">
                    <a:solidFill>
                      <a:srgbClr val="00B050"/>
                    </a:solidFill>
                  </a:rPr>
                  <a:t>mini-batch</a:t>
                </a:r>
                <a:r>
                  <a:rPr lang="en-GB" dirty="0"/>
                  <a:t>, a subset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𝑤𝑖𝑡h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randomly drawn samples from the dataset.</a:t>
                </a:r>
                <a:endParaRPr lang="en-SG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02A2FDC-5691-C578-010D-7EB4BB4DFB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958129"/>
              </a:xfrm>
              <a:blipFill>
                <a:blip r:embed="rId2"/>
                <a:stretch>
                  <a:fillRect l="-1217" t="-196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120170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45DD1-7D03-DF5A-B422-D9D0C471A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Stochastic Mini-Batch Gradient </a:t>
            </a:r>
            <a:r>
              <a:rPr lang="en-GB" dirty="0"/>
              <a:t>Descent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AE152F-A5D2-2F32-A363-DA5CFD8B2E5F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5"/>
                <a:ext cx="5181600" cy="3746744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GB" b="1" dirty="0"/>
                  <a:t>Definition (</a:t>
                </a:r>
                <a:r>
                  <a:rPr lang="en-GB" b="1" dirty="0">
                    <a:solidFill>
                      <a:srgbClr val="00B050"/>
                    </a:solidFill>
                  </a:rPr>
                  <a:t>mini-batch stochastic </a:t>
                </a:r>
                <a:r>
                  <a:rPr lang="en-GB" b="1" dirty="0"/>
                  <a:t>gradient descent [MiniGD1952]):</a:t>
                </a:r>
                <a:endParaRPr lang="en-SG" b="1" dirty="0"/>
              </a:p>
              <a:p>
                <a:pPr marL="0" indent="0">
                  <a:buNone/>
                </a:pPr>
                <a:r>
                  <a:rPr lang="en-GB" dirty="0"/>
                  <a:t>The </a:t>
                </a:r>
                <a:r>
                  <a:rPr lang="en-GB" b="1" dirty="0">
                    <a:solidFill>
                      <a:srgbClr val="00B050"/>
                    </a:solidFill>
                  </a:rPr>
                  <a:t>mini-batch stochastic </a:t>
                </a:r>
                <a:r>
                  <a:rPr lang="en-GB" b="1" dirty="0"/>
                  <a:t>gradient descent</a:t>
                </a:r>
                <a:r>
                  <a:rPr lang="en-GB" dirty="0"/>
                  <a:t> uses the following steps:</a:t>
                </a:r>
              </a:p>
              <a:p>
                <a:r>
                  <a:rPr lang="en-SG" dirty="0"/>
                  <a:t>Formulate predictions </a:t>
                </a:r>
                <a:r>
                  <a:rPr lang="en-SG" b="1" u="sng" dirty="0"/>
                  <a:t>for </a:t>
                </a:r>
                <a:r>
                  <a:rPr lang="en-GB" b="1" u="sng" dirty="0"/>
                  <a:t>a single mini-batch of </a:t>
                </a:r>
                <a14:m>
                  <m:oMath xmlns:m="http://schemas.openxmlformats.org/officeDocument/2006/math">
                    <m:r>
                      <a:rPr lang="en-GB" b="1" i="1" u="sng" dirty="0" smtClean="0">
                        <a:latin typeface="Cambria Math" panose="02040503050406030204" pitchFamily="18" charset="0"/>
                      </a:rPr>
                      <m:t>𝑵</m:t>
                    </m:r>
                    <m:r>
                      <a:rPr lang="en-GB" b="1" i="1" u="sng" dirty="0" smtClean="0">
                        <a:latin typeface="Cambria Math" panose="02040503050406030204" pitchFamily="18" charset="0"/>
                      </a:rPr>
                      <m:t>’ </m:t>
                    </m:r>
                  </m:oMath>
                </a14:m>
                <a:r>
                  <a:rPr lang="en-GB" b="1" u="sng" dirty="0"/>
                  <a:t>samples, randomly drawn in dataset</a:t>
                </a:r>
                <a:r>
                  <a:rPr lang="en-GB" dirty="0"/>
                  <a:t>, using current model parameters,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AE152F-A5D2-2F32-A363-DA5CFD8B2E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5"/>
                <a:ext cx="5181600" cy="3746744"/>
              </a:xfrm>
              <a:blipFill>
                <a:blip r:embed="rId2"/>
                <a:stretch>
                  <a:fillRect l="-2471" t="-3577" r="-2824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9F7CD9D3-6C4B-94A6-906C-0AD70AEA03EE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172200" y="1825624"/>
                <a:ext cx="5181600" cy="4254745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GB" dirty="0"/>
                  <a:t>Using these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GB" dirty="0"/>
                  <a:t>predictions to compute the value of the loss function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GB" dirty="0"/>
                  <a:t> for current model parameters,</a:t>
                </a:r>
              </a:p>
              <a:p>
                <a:r>
                  <a:rPr lang="en-GB" dirty="0"/>
                  <a:t>Backpropagation using the loss function we just calculated.</a:t>
                </a:r>
              </a:p>
              <a:p>
                <a:pPr marL="0" indent="0">
                  <a:buNone/>
                </a:pPr>
                <a:r>
                  <a:rPr lang="en-GB" dirty="0"/>
                  <a:t>It is therefore our </a:t>
                </a:r>
                <a:r>
                  <a:rPr lang="en-GB" b="1" dirty="0"/>
                  <a:t>middle</a:t>
                </a:r>
                <a:r>
                  <a:rPr lang="en-GB" dirty="0"/>
                  <a:t> </a:t>
                </a:r>
                <a:r>
                  <a:rPr lang="en-GB" b="1" dirty="0"/>
                  <a:t>ground</a:t>
                </a:r>
                <a:r>
                  <a:rPr lang="en-GB" dirty="0"/>
                  <a:t>.</a:t>
                </a:r>
              </a:p>
              <a:p>
                <a:endParaRPr lang="en-SG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9F7CD9D3-6C4B-94A6-906C-0AD70AEA03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172200" y="1825624"/>
                <a:ext cx="5181600" cy="4254745"/>
              </a:xfrm>
              <a:blipFill>
                <a:blip r:embed="rId3"/>
                <a:stretch>
                  <a:fillRect l="-2471" t="-3152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FA66113-11A8-35A8-CEC9-5C0A3A7C868D}"/>
              </a:ext>
            </a:extLst>
          </p:cNvPr>
          <p:cNvCxnSpPr>
            <a:cxnSpLocks/>
          </p:cNvCxnSpPr>
          <p:nvPr/>
        </p:nvCxnSpPr>
        <p:spPr>
          <a:xfrm>
            <a:off x="1117600" y="5590237"/>
            <a:ext cx="10410092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A4E6067-4F9D-F418-62B2-99B679600BED}"/>
              </a:ext>
            </a:extLst>
          </p:cNvPr>
          <p:cNvSpPr txBox="1"/>
          <p:nvPr/>
        </p:nvSpPr>
        <p:spPr>
          <a:xfrm>
            <a:off x="8815755" y="5825392"/>
            <a:ext cx="3213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Batch GD: </a:t>
            </a:r>
            <a:r>
              <a:rPr lang="en-GB" dirty="0">
                <a:solidFill>
                  <a:srgbClr val="00B050"/>
                </a:solidFill>
              </a:rPr>
              <a:t>best estimation of MSE loss</a:t>
            </a:r>
            <a:r>
              <a:rPr lang="en-GB" dirty="0"/>
              <a:t>, but </a:t>
            </a:r>
            <a:r>
              <a:rPr lang="en-GB" dirty="0">
                <a:solidFill>
                  <a:srgbClr val="FF0000"/>
                </a:solidFill>
              </a:rPr>
              <a:t>slow to compute</a:t>
            </a:r>
            <a:r>
              <a:rPr lang="en-GB" dirty="0"/>
              <a:t>.</a:t>
            </a:r>
            <a:endParaRPr lang="en-SG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4C6055E-604F-DF05-8281-5F193E57FE66}"/>
              </a:ext>
            </a:extLst>
          </p:cNvPr>
          <p:cNvSpPr txBox="1"/>
          <p:nvPr/>
        </p:nvSpPr>
        <p:spPr>
          <a:xfrm>
            <a:off x="389792" y="5820145"/>
            <a:ext cx="3213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Stochastic GD: </a:t>
            </a:r>
            <a:r>
              <a:rPr lang="en-GB" dirty="0">
                <a:solidFill>
                  <a:srgbClr val="FF0000"/>
                </a:solidFill>
              </a:rPr>
              <a:t>worst estimation of the MSE</a:t>
            </a:r>
            <a:r>
              <a:rPr lang="en-GB" dirty="0"/>
              <a:t>, but </a:t>
            </a:r>
            <a:r>
              <a:rPr lang="en-GB" dirty="0">
                <a:solidFill>
                  <a:srgbClr val="00B050"/>
                </a:solidFill>
              </a:rPr>
              <a:t>fast to compute</a:t>
            </a:r>
            <a:endParaRPr lang="en-SG" dirty="0">
              <a:solidFill>
                <a:srgbClr val="00B05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E8F32C2-32A9-A953-2056-ADAA1AEE8AE4}"/>
              </a:ext>
            </a:extLst>
          </p:cNvPr>
          <p:cNvSpPr txBox="1"/>
          <p:nvPr/>
        </p:nvSpPr>
        <p:spPr>
          <a:xfrm>
            <a:off x="4524864" y="5707473"/>
            <a:ext cx="33689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/>
              <a:t>What does the optimal middle ground consist of</a:t>
            </a:r>
            <a:r>
              <a:rPr lang="en-GB" b="1" dirty="0"/>
              <a:t>?</a:t>
            </a:r>
          </a:p>
          <a:p>
            <a:pPr algn="ctr"/>
            <a:r>
              <a:rPr lang="en-GB" sz="2000" b="1" dirty="0">
                <a:sym typeface="Wingdings" panose="05000000000000000000" pitchFamily="2" charset="2"/>
              </a:rPr>
              <a:t> </a:t>
            </a:r>
            <a:r>
              <a:rPr lang="en-GB" sz="2000" b="1" dirty="0">
                <a:solidFill>
                  <a:srgbClr val="00B050"/>
                </a:solidFill>
                <a:sym typeface="Wingdings" panose="05000000000000000000" pitchFamily="2" charset="2"/>
              </a:rPr>
              <a:t>Mini-batch stochastic </a:t>
            </a:r>
            <a:r>
              <a:rPr lang="en-GB" sz="2000" b="1" dirty="0">
                <a:sym typeface="Wingdings" panose="05000000000000000000" pitchFamily="2" charset="2"/>
              </a:rPr>
              <a:t>GD!</a:t>
            </a:r>
            <a:endParaRPr lang="en-SG" sz="2000" dirty="0"/>
          </a:p>
        </p:txBody>
      </p:sp>
    </p:spTree>
    <p:extLst>
      <p:ext uri="{BB962C8B-B14F-4D97-AF65-F5344CB8AC3E}">
        <p14:creationId xmlns:p14="http://schemas.microsoft.com/office/powerpoint/2010/main" val="283998427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C54CF5F-0B8F-01F8-62E1-B65AB5663091}"/>
              </a:ext>
            </a:extLst>
          </p:cNvPr>
          <p:cNvSpPr/>
          <p:nvPr/>
        </p:nvSpPr>
        <p:spPr>
          <a:xfrm>
            <a:off x="5611446" y="6572739"/>
            <a:ext cx="1336430" cy="2834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2C6F3E-8A60-8054-961F-7C6AEB35BD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7107" y="2808725"/>
            <a:ext cx="9115542" cy="398284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8C45DD1-7D03-DF5A-B422-D9D0C471A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Mini-batch Stochastic GD implementation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AE152F-A5D2-2F32-A363-DA5CFD8B2E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Our trainer </a:t>
                </a:r>
                <a:r>
                  <a:rPr lang="en-GB" b="1" dirty="0"/>
                  <a:t>will now draw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latin typeface="Cambria Math" panose="02040503050406030204" pitchFamily="18" charset="0"/>
                      </a:rPr>
                      <m:t>𝑵</m:t>
                    </m:r>
                    <m:r>
                      <a:rPr lang="en-GB" b="1" i="1" dirty="0" smtClean="0">
                        <a:latin typeface="Cambria Math" panose="02040503050406030204" pitchFamily="18" charset="0"/>
                      </a:rPr>
                      <m:t>’</m:t>
                    </m:r>
                  </m:oMath>
                </a14:m>
                <a:r>
                  <a:rPr lang="en-GB" b="1" dirty="0"/>
                  <a:t> random sample in the dataset and use these to perform the backward operations.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AE152F-A5D2-2F32-A363-DA5CFD8B2E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F707593F-467E-CADC-317F-563EB18D6C9F}"/>
              </a:ext>
            </a:extLst>
          </p:cNvPr>
          <p:cNvSpPr/>
          <p:nvPr/>
        </p:nvSpPr>
        <p:spPr>
          <a:xfrm flipV="1">
            <a:off x="2797908" y="5478583"/>
            <a:ext cx="5025292" cy="833313"/>
          </a:xfrm>
          <a:prstGeom prst="rect">
            <a:avLst/>
          </a:prstGeom>
          <a:noFill/>
          <a:ln w="38100">
            <a:solidFill>
              <a:srgbClr val="7030A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52DC33-4EDE-1892-E960-3AB7D3DA672B}"/>
              </a:ext>
            </a:extLst>
          </p:cNvPr>
          <p:cNvSpPr/>
          <p:nvPr/>
        </p:nvSpPr>
        <p:spPr>
          <a:xfrm>
            <a:off x="3985846" y="6533469"/>
            <a:ext cx="2962030" cy="195383"/>
          </a:xfrm>
          <a:prstGeom prst="rect">
            <a:avLst/>
          </a:prstGeom>
          <a:noFill/>
          <a:ln w="38100">
            <a:solidFill>
              <a:srgbClr val="7030A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300AEE-B87D-92CD-573C-0DB497EC91C4}"/>
              </a:ext>
            </a:extLst>
          </p:cNvPr>
          <p:cNvSpPr/>
          <p:nvPr/>
        </p:nvSpPr>
        <p:spPr>
          <a:xfrm>
            <a:off x="2500923" y="4478215"/>
            <a:ext cx="3110523" cy="385764"/>
          </a:xfrm>
          <a:prstGeom prst="rect">
            <a:avLst/>
          </a:prstGeom>
          <a:noFill/>
          <a:ln w="38100">
            <a:solidFill>
              <a:srgbClr val="7030A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1724481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45DD1-7D03-DF5A-B422-D9D0C471A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Mini-batch Stochastic GD implementation</a:t>
            </a:r>
            <a:endParaRPr lang="en-SG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BB9B56B-0BC7-D8EF-7A43-861F4131A5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In general, good performance, might be erratic towards late iterations, but – in general – not as much as stochastic GD.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FC4753-88DB-D5E7-72B5-D6C7BBDCA8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413" y="2728363"/>
            <a:ext cx="11279174" cy="4096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8779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45DD1-7D03-DF5A-B422-D9D0C471A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quick note on batch sizes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CBB9B56B-0BC7-D8EF-7A43-861F4131A53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GB" dirty="0"/>
                  <a:t>A few remarks regarding batch sizes:</a:t>
                </a:r>
              </a:p>
              <a:p>
                <a:r>
                  <a:rPr lang="en-GB" dirty="0"/>
                  <a:t>It is often a good idea to choose a </a:t>
                </a:r>
                <a:r>
                  <a:rPr lang="en-GB" b="1" dirty="0"/>
                  <a:t>batch size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𝑵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GB" dirty="0"/>
                  <a:t>, defined as a power of 2, between 64 and 1024, that is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′={64, 128, 256, 512, 1024}</m:t>
                    </m:r>
                  </m:oMath>
                </a14:m>
                <a:r>
                  <a:rPr lang="en-GB" dirty="0"/>
                  <a:t>.</a:t>
                </a:r>
              </a:p>
              <a:p>
                <a:r>
                  <a:rPr lang="en-GB" dirty="0"/>
                  <a:t>In general, </a:t>
                </a:r>
                <a:r>
                  <a:rPr lang="en-GB" b="1" dirty="0"/>
                  <a:t>a larger batch size means slower computation but better training performance</a:t>
                </a:r>
                <a:r>
                  <a:rPr lang="en-GB" dirty="0"/>
                  <a:t>.</a:t>
                </a:r>
              </a:p>
              <a:p>
                <a:r>
                  <a:rPr lang="en-GB" dirty="0"/>
                  <a:t>As in all things so far,</a:t>
                </a:r>
                <a:r>
                  <a:rPr lang="en-GB" b="1" dirty="0"/>
                  <a:t> it will be about finding the correct balance!</a:t>
                </a:r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CBB9B56B-0BC7-D8EF-7A43-861F4131A5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 r="-17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DA67688C-85AD-4C81-D832-A5F68BF13828}"/>
              </a:ext>
            </a:extLst>
          </p:cNvPr>
          <p:cNvCxnSpPr>
            <a:cxnSpLocks/>
          </p:cNvCxnSpPr>
          <p:nvPr/>
        </p:nvCxnSpPr>
        <p:spPr>
          <a:xfrm>
            <a:off x="1117600" y="5590237"/>
            <a:ext cx="10410092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1F2DA7B-4775-5934-7752-FEA62B0E66C5}"/>
              </a:ext>
            </a:extLst>
          </p:cNvPr>
          <p:cNvSpPr txBox="1"/>
          <p:nvPr/>
        </p:nvSpPr>
        <p:spPr>
          <a:xfrm>
            <a:off x="8815755" y="5825392"/>
            <a:ext cx="3213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Batch GD: </a:t>
            </a:r>
            <a:r>
              <a:rPr lang="en-GB" dirty="0">
                <a:solidFill>
                  <a:srgbClr val="00B050"/>
                </a:solidFill>
              </a:rPr>
              <a:t>best estimation of MSE loss</a:t>
            </a:r>
            <a:r>
              <a:rPr lang="en-GB" dirty="0"/>
              <a:t>, but </a:t>
            </a:r>
            <a:r>
              <a:rPr lang="en-GB" dirty="0">
                <a:solidFill>
                  <a:srgbClr val="FF0000"/>
                </a:solidFill>
              </a:rPr>
              <a:t>slow to compute</a:t>
            </a:r>
            <a:r>
              <a:rPr lang="en-GB" dirty="0"/>
              <a:t>.</a:t>
            </a:r>
            <a:endParaRPr lang="en-S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212AF1-2E01-1991-4739-71C06E22B2C2}"/>
              </a:ext>
            </a:extLst>
          </p:cNvPr>
          <p:cNvSpPr txBox="1"/>
          <p:nvPr/>
        </p:nvSpPr>
        <p:spPr>
          <a:xfrm>
            <a:off x="389792" y="5820145"/>
            <a:ext cx="3213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Stochastic GD: </a:t>
            </a:r>
            <a:r>
              <a:rPr lang="en-GB" dirty="0">
                <a:solidFill>
                  <a:srgbClr val="FF0000"/>
                </a:solidFill>
              </a:rPr>
              <a:t>worst estimation of the MSE</a:t>
            </a:r>
            <a:r>
              <a:rPr lang="en-GB" dirty="0"/>
              <a:t>, but </a:t>
            </a:r>
            <a:r>
              <a:rPr lang="en-GB" dirty="0">
                <a:solidFill>
                  <a:srgbClr val="00B050"/>
                </a:solidFill>
              </a:rPr>
              <a:t>fast to compute</a:t>
            </a:r>
            <a:endParaRPr lang="en-SG" dirty="0">
              <a:solidFill>
                <a:srgbClr val="00B05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C963A5-6415-D510-E9B2-67311B86A9B6}"/>
              </a:ext>
            </a:extLst>
          </p:cNvPr>
          <p:cNvSpPr txBox="1"/>
          <p:nvPr/>
        </p:nvSpPr>
        <p:spPr>
          <a:xfrm>
            <a:off x="4524864" y="5707473"/>
            <a:ext cx="33689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/>
              <a:t>What does the optimal middle ground consists of</a:t>
            </a:r>
            <a:r>
              <a:rPr lang="en-GB" b="1" dirty="0"/>
              <a:t>?</a:t>
            </a:r>
          </a:p>
          <a:p>
            <a:pPr algn="ctr"/>
            <a:r>
              <a:rPr lang="en-GB" sz="2000" b="1" dirty="0">
                <a:sym typeface="Wingdings" panose="05000000000000000000" pitchFamily="2" charset="2"/>
              </a:rPr>
              <a:t> </a:t>
            </a:r>
            <a:r>
              <a:rPr lang="en-GB" sz="2000" b="1" dirty="0">
                <a:solidFill>
                  <a:srgbClr val="00B050"/>
                </a:solidFill>
                <a:sym typeface="Wingdings" panose="05000000000000000000" pitchFamily="2" charset="2"/>
              </a:rPr>
              <a:t>Mini-batch stochastic </a:t>
            </a:r>
            <a:r>
              <a:rPr lang="en-GB" sz="2000" b="1" dirty="0">
                <a:sym typeface="Wingdings" panose="05000000000000000000" pitchFamily="2" charset="2"/>
              </a:rPr>
              <a:t>GD!</a:t>
            </a:r>
            <a:endParaRPr lang="en-SG" sz="2000" dirty="0"/>
          </a:p>
        </p:txBody>
      </p:sp>
    </p:spTree>
    <p:extLst>
      <p:ext uri="{BB962C8B-B14F-4D97-AF65-F5344CB8AC3E}">
        <p14:creationId xmlns:p14="http://schemas.microsoft.com/office/powerpoint/2010/main" val="229660520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45DD1-7D03-DF5A-B422-D9D0C471A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Mini-batch Stochastic GD implementation</a:t>
            </a:r>
            <a:endParaRPr lang="en-S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C6C554-AA10-0882-6CD7-815724E15B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199" y="2352430"/>
            <a:ext cx="6330343" cy="440103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36D4896-8330-2324-2F45-BDAE47D4CC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7450" y="2352430"/>
            <a:ext cx="5101351" cy="4067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86667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45DD1-7D03-DF5A-B422-D9D0C471A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Mini-batch Stochastic GD implementation</a:t>
            </a:r>
            <a:endParaRPr lang="en-S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4A7593-30BB-AB44-2C9E-C634118358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7969" y="1582261"/>
            <a:ext cx="7744755" cy="5275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77994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953A8-46C5-4F63-DA6B-594F80C97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Combining everything into a great optimizer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2CAA94-66D4-3EA4-3029-12CF769C85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From now on, we will be:</a:t>
            </a:r>
          </a:p>
          <a:p>
            <a:r>
              <a:rPr lang="en-GB" dirty="0"/>
              <a:t>Using an </a:t>
            </a:r>
            <a:r>
              <a:rPr lang="en-GB" b="1" dirty="0"/>
              <a:t>advanced</a:t>
            </a:r>
            <a:r>
              <a:rPr lang="en-GB" dirty="0"/>
              <a:t> </a:t>
            </a:r>
            <a:r>
              <a:rPr lang="en-GB" b="1" dirty="0"/>
              <a:t>optimizer</a:t>
            </a:r>
            <a:r>
              <a:rPr lang="en-GB" dirty="0"/>
              <a:t> (like </a:t>
            </a:r>
            <a:r>
              <a:rPr lang="en-GB" b="1" dirty="0"/>
              <a:t>Adam</a:t>
            </a:r>
            <a:r>
              <a:rPr lang="en-GB" dirty="0"/>
              <a:t>), implementing </a:t>
            </a:r>
            <a:r>
              <a:rPr lang="en-GB" b="1" dirty="0"/>
              <a:t>momentum</a:t>
            </a:r>
            <a:r>
              <a:rPr lang="en-GB" dirty="0"/>
              <a:t> and </a:t>
            </a:r>
            <a:r>
              <a:rPr lang="en-GB" b="1" dirty="0"/>
              <a:t>gradient-based learning rate control</a:t>
            </a:r>
            <a:r>
              <a:rPr lang="en-GB" dirty="0"/>
              <a:t>,</a:t>
            </a:r>
          </a:p>
          <a:p>
            <a:r>
              <a:rPr lang="en-GB" dirty="0"/>
              <a:t>Using a </a:t>
            </a:r>
            <a:r>
              <a:rPr lang="en-GB" b="1" dirty="0"/>
              <a:t>mini-batch</a:t>
            </a:r>
            <a:r>
              <a:rPr lang="en-GB" dirty="0"/>
              <a:t> </a:t>
            </a:r>
            <a:r>
              <a:rPr lang="en-GB" b="1" dirty="0"/>
              <a:t>stochastic</a:t>
            </a:r>
            <a:r>
              <a:rPr lang="en-GB" dirty="0"/>
              <a:t> </a:t>
            </a:r>
            <a:r>
              <a:rPr lang="en-GB" b="1" dirty="0"/>
              <a:t>gradient</a:t>
            </a:r>
            <a:r>
              <a:rPr lang="en-GB" dirty="0"/>
              <a:t> </a:t>
            </a:r>
            <a:r>
              <a:rPr lang="en-GB" b="1" dirty="0"/>
              <a:t>descent</a:t>
            </a:r>
            <a:r>
              <a:rPr lang="en-GB" dirty="0"/>
              <a:t> procedure, drawing mini-batches to perform trainable parameter updates instead of using the entire dataset for each update,</a:t>
            </a:r>
          </a:p>
          <a:p>
            <a:r>
              <a:rPr lang="en-GB" dirty="0"/>
              <a:t>Trying some values for the different hyperparameters (learning rate, batch size, momentum/optimizers parameters, number of iterations, etc.). Often a good idea to start with recommended values and explore from there!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0632750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953A8-46C5-4F63-DA6B-594F80C97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Combining everything into a great optimizer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2CAA94-66D4-3EA4-3029-12CF769C85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In an upcoming lesson, we will implement more controls on the learning rate and gradient descent algorithm, for instance:</a:t>
            </a:r>
          </a:p>
          <a:p>
            <a:r>
              <a:rPr lang="en-GB" b="1" dirty="0"/>
              <a:t>Learning rate decay: </a:t>
            </a:r>
            <a:r>
              <a:rPr lang="en-GB" dirty="0"/>
              <a:t>decrease the value of learning rate over iterations like before. (Feel free to try implementing it for practice?)</a:t>
            </a:r>
          </a:p>
          <a:p>
            <a:r>
              <a:rPr lang="en-GB" b="1" dirty="0"/>
              <a:t>Early stopping: </a:t>
            </a:r>
            <a:r>
              <a:rPr lang="en-GB" dirty="0"/>
              <a:t>stop iterations of GD, if network has already achieved a good performance (Done a few times, more in next lecture).</a:t>
            </a:r>
          </a:p>
          <a:p>
            <a:r>
              <a:rPr lang="en-GB" b="1" dirty="0"/>
              <a:t>Gradient clipping: </a:t>
            </a:r>
            <a:r>
              <a:rPr lang="en-GB" dirty="0"/>
              <a:t>prevent gradient values from going above a certain threshold to avoid large modifications on a single iteration (Mentioned in previous lecture, will be implemented on W10 for other purposes).</a:t>
            </a:r>
          </a:p>
          <a:p>
            <a:r>
              <a:rPr lang="en-GB" dirty="0"/>
              <a:t>Etc.</a:t>
            </a:r>
            <a:endParaRPr lang="en-SG" dirty="0"/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52586713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33F64-ACBF-414C-8E71-06E4F9517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 more about these topics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1C8DD6-14D1-44DF-9843-EFEDF44E39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Out of class, supporting papers, for those of you who are curious.</a:t>
            </a:r>
          </a:p>
          <a:p>
            <a:r>
              <a:rPr lang="en-GB" dirty="0"/>
              <a:t>[AdaGrad2011] J. </a:t>
            </a:r>
            <a:r>
              <a:rPr lang="en-GB" dirty="0" err="1"/>
              <a:t>Duchi</a:t>
            </a:r>
            <a:r>
              <a:rPr lang="en-GB" dirty="0"/>
              <a:t>, E. </a:t>
            </a:r>
            <a:r>
              <a:rPr lang="en-GB" b="1" dirty="0">
                <a:solidFill>
                  <a:schemeClr val="accent2">
                    <a:lumMod val="50000"/>
                  </a:schemeClr>
                </a:solidFill>
              </a:rPr>
              <a:t>Hazan</a:t>
            </a:r>
            <a:r>
              <a:rPr lang="en-GB" dirty="0"/>
              <a:t>, and Y. Singer, “Adaptive </a:t>
            </a:r>
            <a:r>
              <a:rPr lang="en-GB" dirty="0" err="1"/>
              <a:t>Subgradient</a:t>
            </a:r>
            <a:r>
              <a:rPr lang="en-GB" dirty="0"/>
              <a:t> Methods for Online Learning and Stochastic Optimization”, 2011.</a:t>
            </a:r>
          </a:p>
          <a:p>
            <a:r>
              <a:rPr lang="en-GB" dirty="0"/>
              <a:t>[RMSProp2012] G. </a:t>
            </a:r>
            <a:r>
              <a:rPr lang="en-GB" b="1" dirty="0">
                <a:solidFill>
                  <a:schemeClr val="accent2">
                    <a:lumMod val="50000"/>
                  </a:schemeClr>
                </a:solidFill>
              </a:rPr>
              <a:t>Hinton</a:t>
            </a:r>
            <a:r>
              <a:rPr lang="en-GB" dirty="0"/>
              <a:t> “Neural Networks for Machine Learning”, 2012.</a:t>
            </a:r>
          </a:p>
          <a:p>
            <a:r>
              <a:rPr lang="en-GB" dirty="0"/>
              <a:t>[Adam2015] D. </a:t>
            </a:r>
            <a:r>
              <a:rPr lang="en-GB" b="1" dirty="0" err="1">
                <a:solidFill>
                  <a:schemeClr val="accent2">
                    <a:lumMod val="50000"/>
                  </a:schemeClr>
                </a:solidFill>
              </a:rPr>
              <a:t>Kingma</a:t>
            </a:r>
            <a:r>
              <a:rPr lang="en-GB" dirty="0"/>
              <a:t> and J. </a:t>
            </a:r>
            <a:r>
              <a:rPr lang="en-GB" b="1" dirty="0">
                <a:solidFill>
                  <a:schemeClr val="accent2">
                    <a:lumMod val="50000"/>
                  </a:schemeClr>
                </a:solidFill>
              </a:rPr>
              <a:t>Ba</a:t>
            </a:r>
            <a:r>
              <a:rPr lang="en-GB" dirty="0"/>
              <a:t> “Adam: A Method for Stochastic Optimization”, 2015</a:t>
            </a:r>
          </a:p>
        </p:txBody>
      </p:sp>
    </p:spTree>
    <p:extLst>
      <p:ext uri="{BB962C8B-B14F-4D97-AF65-F5344CB8AC3E}">
        <p14:creationId xmlns:p14="http://schemas.microsoft.com/office/powerpoint/2010/main" val="130336720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33F64-ACBF-414C-8E71-06E4F9517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 more about these topics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1C8DD6-14D1-44DF-9843-EFEDF44E39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Out of class, supporting papers, for those of you who are curious.</a:t>
            </a:r>
          </a:p>
          <a:p>
            <a:r>
              <a:rPr lang="en-GB" dirty="0"/>
              <a:t>[StoGD1951] H. Robbins and S. </a:t>
            </a:r>
            <a:r>
              <a:rPr lang="en-GB" dirty="0" err="1"/>
              <a:t>Monro</a:t>
            </a:r>
            <a:r>
              <a:rPr lang="en-GB" dirty="0"/>
              <a:t>, “A Stochastic Approximation Method”, 1951.</a:t>
            </a:r>
          </a:p>
          <a:p>
            <a:r>
              <a:rPr lang="en-GB" dirty="0"/>
              <a:t>[MiniGD1952] Kiefer and Wolfowitz, “On the Use of Stochastic Approximation Methods in Optimization and Control Problems”, 1952.</a:t>
            </a:r>
          </a:p>
          <a:p>
            <a:r>
              <a:rPr lang="en-GB" dirty="0"/>
              <a:t>Leon </a:t>
            </a:r>
            <a:r>
              <a:rPr lang="en-GB" dirty="0" err="1"/>
              <a:t>Bottou</a:t>
            </a:r>
            <a:r>
              <a:rPr lang="en-GB" dirty="0"/>
              <a:t>, </a:t>
            </a:r>
            <a:r>
              <a:rPr lang="en-GB" dirty="0" err="1"/>
              <a:t>Yoshua</a:t>
            </a:r>
            <a:r>
              <a:rPr lang="en-GB" dirty="0"/>
              <a:t> </a:t>
            </a:r>
            <a:r>
              <a:rPr lang="en-GB" dirty="0" err="1"/>
              <a:t>Bengio</a:t>
            </a:r>
            <a:r>
              <a:rPr lang="en-GB" dirty="0"/>
              <a:t> and Yann </a:t>
            </a:r>
            <a:r>
              <a:rPr lang="en-GB" dirty="0" err="1"/>
              <a:t>LeCun</a:t>
            </a:r>
            <a:r>
              <a:rPr lang="en-GB" dirty="0"/>
              <a:t> have also worked on implementations of the Mini-batch stochastic Gradient Descent for Neural Networks.</a:t>
            </a:r>
            <a:br>
              <a:rPr lang="en-GB" dirty="0"/>
            </a:br>
            <a:r>
              <a:rPr lang="en-GB" dirty="0">
                <a:hlinkClick r:id="rId2"/>
              </a:rPr>
              <a:t>https://machinelearningmastery.com/gentle-introduction-mini-batch-gradient-descent-configure-batch-size/</a:t>
            </a:r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3956382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A4A12-42C1-4189-603A-5E1F47717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 more about these topics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75B357-0886-EDDA-5F55-77F580FB4D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Tracking important names (Track their works and follow them on Scholar, Twitter, or whatever works for you!)</a:t>
            </a:r>
          </a:p>
          <a:p>
            <a:r>
              <a:rPr lang="en-GB" b="1" dirty="0" err="1"/>
              <a:t>Elad</a:t>
            </a:r>
            <a:r>
              <a:rPr lang="en-GB" b="1" dirty="0"/>
              <a:t> </a:t>
            </a:r>
            <a:r>
              <a:rPr lang="en-GB" b="1" dirty="0">
                <a:solidFill>
                  <a:schemeClr val="accent2">
                    <a:lumMod val="50000"/>
                  </a:schemeClr>
                </a:solidFill>
              </a:rPr>
              <a:t>Hazan</a:t>
            </a:r>
            <a:r>
              <a:rPr lang="en-GB" b="1" dirty="0"/>
              <a:t>: Professor </a:t>
            </a:r>
            <a:r>
              <a:rPr lang="en-GB" dirty="0"/>
              <a:t>at </a:t>
            </a:r>
            <a:r>
              <a:rPr lang="en-GB" b="1" dirty="0"/>
              <a:t>Princeton</a:t>
            </a:r>
            <a:r>
              <a:rPr lang="en-GB" dirty="0"/>
              <a:t> </a:t>
            </a:r>
            <a:r>
              <a:rPr lang="en-GB" b="1" dirty="0"/>
              <a:t>University</a:t>
            </a:r>
            <a:r>
              <a:rPr lang="en-GB" dirty="0"/>
              <a:t>, </a:t>
            </a:r>
            <a:r>
              <a:rPr lang="en-GB" b="1" dirty="0"/>
              <a:t>Director</a:t>
            </a:r>
            <a:r>
              <a:rPr lang="en-GB" dirty="0"/>
              <a:t> and </a:t>
            </a:r>
            <a:r>
              <a:rPr lang="en-GB" b="1" dirty="0"/>
              <a:t>co-founder</a:t>
            </a:r>
            <a:r>
              <a:rPr lang="en-GB" dirty="0"/>
              <a:t> of </a:t>
            </a:r>
            <a:r>
              <a:rPr lang="en-GB" b="1" dirty="0"/>
              <a:t>Google</a:t>
            </a:r>
            <a:r>
              <a:rPr lang="en-GB" dirty="0"/>
              <a:t> </a:t>
            </a:r>
            <a:r>
              <a:rPr lang="en-GB" b="1" dirty="0"/>
              <a:t>AI</a:t>
            </a:r>
            <a:r>
              <a:rPr lang="en-GB" dirty="0"/>
              <a:t> </a:t>
            </a:r>
            <a:r>
              <a:rPr lang="en-GB" b="1" dirty="0"/>
              <a:t>Princeton</a:t>
            </a:r>
            <a:r>
              <a:rPr lang="en-GB" dirty="0"/>
              <a:t>.</a:t>
            </a:r>
            <a:br>
              <a:rPr lang="en-GB" dirty="0"/>
            </a:br>
            <a:r>
              <a:rPr lang="en-GB" dirty="0">
                <a:hlinkClick r:id="rId2"/>
              </a:rPr>
              <a:t>https://www.ehazan.com</a:t>
            </a:r>
            <a:r>
              <a:rPr lang="en-GB" dirty="0"/>
              <a:t> </a:t>
            </a:r>
            <a:r>
              <a:rPr lang="en-GB" dirty="0">
                <a:hlinkClick r:id="rId3"/>
              </a:rPr>
              <a:t>https://scholar.google.com/citations?user=LnhCGNMAAAAJ&amp;hl=fr</a:t>
            </a:r>
            <a:endParaRPr lang="en-GB" dirty="0"/>
          </a:p>
          <a:p>
            <a:r>
              <a:rPr lang="en-SG" b="1" dirty="0" err="1"/>
              <a:t>Diederik</a:t>
            </a:r>
            <a:r>
              <a:rPr lang="en-SG" b="1" dirty="0"/>
              <a:t> P.</a:t>
            </a:r>
            <a:r>
              <a:rPr lang="en-GB" b="1" dirty="0"/>
              <a:t> </a:t>
            </a:r>
            <a:r>
              <a:rPr lang="en-GB" b="1" dirty="0" err="1">
                <a:solidFill>
                  <a:schemeClr val="accent2">
                    <a:lumMod val="50000"/>
                  </a:schemeClr>
                </a:solidFill>
              </a:rPr>
              <a:t>Kingma</a:t>
            </a:r>
            <a:r>
              <a:rPr lang="en-GB" b="1" dirty="0"/>
              <a:t>: Research Scientist</a:t>
            </a:r>
            <a:r>
              <a:rPr lang="en-GB" dirty="0"/>
              <a:t> at </a:t>
            </a:r>
            <a:r>
              <a:rPr lang="en-GB" b="1" dirty="0"/>
              <a:t>Google Brain.</a:t>
            </a:r>
            <a:br>
              <a:rPr lang="en-GB" b="1" dirty="0"/>
            </a:br>
            <a:r>
              <a:rPr lang="en-GB" dirty="0">
                <a:hlinkClick r:id="rId4"/>
              </a:rPr>
              <a:t>http://dpkingma.com/</a:t>
            </a:r>
            <a:br>
              <a:rPr lang="en-GB" b="1" dirty="0"/>
            </a:br>
            <a:r>
              <a:rPr lang="en-GB" dirty="0">
                <a:hlinkClick r:id="rId5"/>
              </a:rPr>
              <a:t>https://scholar.google.nl/citations?user=yyIoQu4AAAAJ&amp;hl=en</a:t>
            </a:r>
            <a:endParaRPr lang="en-GB" b="1" dirty="0"/>
          </a:p>
          <a:p>
            <a:r>
              <a:rPr lang="en-GB" b="1" dirty="0"/>
              <a:t>Jimmy </a:t>
            </a:r>
            <a:r>
              <a:rPr lang="en-GB" b="1" dirty="0">
                <a:solidFill>
                  <a:schemeClr val="accent2">
                    <a:lumMod val="50000"/>
                  </a:schemeClr>
                </a:solidFill>
              </a:rPr>
              <a:t>Ba</a:t>
            </a:r>
            <a:r>
              <a:rPr lang="en-GB" b="1" dirty="0"/>
              <a:t>: Assistant Professor </a:t>
            </a:r>
            <a:r>
              <a:rPr lang="en-GB" dirty="0"/>
              <a:t>at </a:t>
            </a:r>
            <a:r>
              <a:rPr lang="en-GB" b="1" dirty="0"/>
              <a:t>University of Toronto.</a:t>
            </a:r>
            <a:br>
              <a:rPr lang="en-GB" b="1" dirty="0"/>
            </a:br>
            <a:r>
              <a:rPr lang="en-GB" dirty="0">
                <a:hlinkClick r:id="rId6"/>
              </a:rPr>
              <a:t>https://jimmylba.github.io/</a:t>
            </a:r>
            <a:br>
              <a:rPr lang="en-GB" b="1" dirty="0"/>
            </a:br>
            <a:r>
              <a:rPr lang="en-GB" dirty="0">
                <a:hlinkClick r:id="rId7"/>
              </a:rPr>
              <a:t>https://scholar.google.ca/citations?user=ymzxRhAAAAAJ&amp;hl=en</a:t>
            </a:r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54861722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B9715-ECD1-470D-B523-53C9DD5C7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 more about these topics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D0CB248-82F3-414A-84E4-14EF63C7FB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Some extra (easy) reading and videos for those of you who are curious.</a:t>
            </a:r>
          </a:p>
          <a:p>
            <a:r>
              <a:rPr lang="en-US" dirty="0"/>
              <a:t>[</a:t>
            </a:r>
            <a:r>
              <a:rPr lang="en-US" dirty="0" err="1"/>
              <a:t>Analy_Vidhya_Optim</a:t>
            </a:r>
            <a:r>
              <a:rPr lang="en-US" dirty="0"/>
              <a:t>] </a:t>
            </a:r>
            <a:r>
              <a:rPr lang="en-GB" dirty="0"/>
              <a:t>Learn more about optimizers.</a:t>
            </a:r>
            <a:br>
              <a:rPr lang="en-GB" dirty="0"/>
            </a:br>
            <a:r>
              <a:rPr lang="en-GB" dirty="0">
                <a:hlinkClick r:id="rId2"/>
              </a:rPr>
              <a:t>https://www.analyticsvidhya.com/blog/2021/10/a-comprehensive-guide-on-deep-learning-optimizers/</a:t>
            </a:r>
            <a:endParaRPr lang="en-GB" dirty="0"/>
          </a:p>
          <a:p>
            <a:r>
              <a:rPr lang="en-GB" dirty="0"/>
              <a:t>[MLM_GD] Learn more about stochastic mini-batch gradient descent.</a:t>
            </a:r>
            <a:br>
              <a:rPr lang="en-GB" dirty="0"/>
            </a:br>
            <a:r>
              <a:rPr lang="en-GB" dirty="0">
                <a:hlinkClick r:id="rId3"/>
              </a:rPr>
              <a:t>https://machinelearningmastery.com/gentle-introduction-mini-batch-gradient-descent-configure-batch-size/</a:t>
            </a:r>
            <a:endParaRPr lang="en-GB" dirty="0"/>
          </a:p>
          <a:p>
            <a:r>
              <a:rPr lang="en-GB" dirty="0"/>
              <a:t>Is gradient descent the only way to train parameters anyway?</a:t>
            </a:r>
            <a:br>
              <a:rPr lang="en-GB" dirty="0"/>
            </a:br>
            <a:r>
              <a:rPr lang="en-GB" dirty="0"/>
              <a:t>An introduction to the new 2022 training algorithm, from Hinton, called the forward-forward method.</a:t>
            </a:r>
            <a:br>
              <a:rPr lang="en-GB" dirty="0"/>
            </a:br>
            <a:r>
              <a:rPr lang="en-GB" dirty="0">
                <a:hlinkClick r:id="rId4"/>
              </a:rPr>
              <a:t>https://bdtechtalks.com/2022/12/19/forward-forward-algorithm-geoffrey-hinton/</a:t>
            </a:r>
            <a:endParaRPr lang="en-GB" dirty="0"/>
          </a:p>
          <a:p>
            <a:endParaRPr lang="en-GB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9387306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79242-6832-7632-6E7B-F88574E9C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Other forms of GD with momentum exist</a:t>
            </a:r>
            <a:endParaRPr lang="en-S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BF58AE-93BF-E791-70EA-A49B9A2BBB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Definition (Gradient Descent with </a:t>
            </a:r>
            <a:r>
              <a:rPr lang="en-GB" b="1" dirty="0">
                <a:solidFill>
                  <a:srgbClr val="00B050"/>
                </a:solidFill>
              </a:rPr>
              <a:t>Nesterov</a:t>
            </a:r>
            <a:r>
              <a:rPr lang="en-GB" b="1" dirty="0"/>
              <a:t> </a:t>
            </a:r>
            <a:r>
              <a:rPr lang="en-GB" b="1" dirty="0">
                <a:solidFill>
                  <a:srgbClr val="00B050"/>
                </a:solidFill>
              </a:rPr>
              <a:t>Momentum</a:t>
            </a:r>
            <a:r>
              <a:rPr lang="en-GB" b="1" dirty="0"/>
              <a:t>):</a:t>
            </a:r>
          </a:p>
          <a:p>
            <a:pPr marL="0" indent="0">
              <a:buNone/>
            </a:pPr>
            <a:r>
              <a:rPr lang="en-GB" b="1" dirty="0">
                <a:solidFill>
                  <a:srgbClr val="00B050"/>
                </a:solidFill>
              </a:rPr>
              <a:t>Nesterov</a:t>
            </a:r>
            <a:r>
              <a:rPr lang="en-GB" b="1" dirty="0"/>
              <a:t> accelerated gradient descent (NAG) </a:t>
            </a:r>
            <a:r>
              <a:rPr lang="en-GB" dirty="0"/>
              <a:t>is a variant of momentum gradient descent that can help accelerate convergence and improve the optimization of deep learning models.</a:t>
            </a:r>
          </a:p>
          <a:p>
            <a:pPr marL="0" indent="0">
              <a:buNone/>
            </a:pPr>
            <a:r>
              <a:rPr lang="en-GB" dirty="0"/>
              <a:t>It does this by incorporating the concept of momentum, although </a:t>
            </a:r>
            <a:r>
              <a:rPr lang="en-GB" b="1" dirty="0"/>
              <a:t>in a slightly different way </a:t>
            </a:r>
            <a:r>
              <a:rPr lang="en-GB" dirty="0"/>
              <a:t>than before.</a:t>
            </a:r>
          </a:p>
          <a:p>
            <a:pPr marL="0" indent="0">
              <a:buNone/>
            </a:pPr>
            <a:r>
              <a:rPr lang="en-GB" dirty="0"/>
              <a:t>This could help the optimization algorithm to continue moving in the same direction even if the gradients change, but with </a:t>
            </a:r>
            <a:r>
              <a:rPr lang="en-GB" b="1" dirty="0"/>
              <a:t>less oscillations than observed with the previous momentum.</a:t>
            </a:r>
            <a:endParaRPr lang="en-GB" dirty="0"/>
          </a:p>
          <a:p>
            <a:pPr marL="0" indent="0">
              <a:buNone/>
            </a:pPr>
            <a:r>
              <a:rPr lang="en-SG" b="1" dirty="0"/>
              <a:t>In my opinion, this is neither better or worse, than the previous formula, just different </a:t>
            </a:r>
            <a:r>
              <a:rPr lang="en-GB" b="1" dirty="0"/>
              <a:t>(have I mentioned the NFL theorem yet?)</a:t>
            </a:r>
            <a:r>
              <a:rPr lang="en-SG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7941003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79242-6832-7632-6E7B-F88574E9C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Other forms of GD with momentum exist</a:t>
            </a:r>
            <a:endParaRPr lang="en-S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BF58AE-93BF-E791-70EA-A49B9A2BBB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Definition (Gradient Descent with </a:t>
            </a:r>
            <a:r>
              <a:rPr lang="en-GB" b="1" dirty="0">
                <a:solidFill>
                  <a:srgbClr val="00B050"/>
                </a:solidFill>
              </a:rPr>
              <a:t>Nesterov</a:t>
            </a:r>
            <a:r>
              <a:rPr lang="en-GB" b="1" dirty="0"/>
              <a:t> </a:t>
            </a:r>
            <a:r>
              <a:rPr lang="en-GB" b="1" dirty="0">
                <a:solidFill>
                  <a:srgbClr val="00B050"/>
                </a:solidFill>
              </a:rPr>
              <a:t>Momentum</a:t>
            </a:r>
            <a:r>
              <a:rPr lang="en-GB" b="1" dirty="0"/>
              <a:t>):</a:t>
            </a:r>
          </a:p>
          <a:p>
            <a:pPr marL="0" indent="0">
              <a:buNone/>
            </a:pPr>
            <a:r>
              <a:rPr lang="en-GB" b="1" dirty="0">
                <a:solidFill>
                  <a:srgbClr val="00B050"/>
                </a:solidFill>
              </a:rPr>
              <a:t>Nesterov</a:t>
            </a:r>
            <a:r>
              <a:rPr lang="en-GB" b="1" dirty="0"/>
              <a:t> accelerated gradient descent (NAG) </a:t>
            </a:r>
            <a:r>
              <a:rPr lang="en-GB" dirty="0"/>
              <a:t>is a variant of momentum gradient descent that can help accelerate convergence and improve the optimization of deep learning models.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D7D9CA-1C08-64B7-C35F-33451A3CC7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2321" y="3700598"/>
            <a:ext cx="7207357" cy="3157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66144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79242-6832-7632-6E7B-F88574E9C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Comparing both momentum GD</a:t>
            </a:r>
            <a:endParaRPr lang="en-S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BF58AE-93BF-E791-70EA-A49B9A2BBBA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Gradient Descent with Added </a:t>
            </a:r>
            <a:r>
              <a:rPr lang="en-GB" b="1" dirty="0">
                <a:solidFill>
                  <a:srgbClr val="00B050"/>
                </a:solidFill>
              </a:rPr>
              <a:t>Momentum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8290D6-2E70-151B-3D14-A8F9B50EA32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>
                <a:solidFill>
                  <a:srgbClr val="00B050"/>
                </a:solidFill>
              </a:rPr>
              <a:t>Nesterov</a:t>
            </a:r>
            <a:r>
              <a:rPr lang="en-GB" b="1" dirty="0"/>
              <a:t> accelerated gradient descent (NAG)</a:t>
            </a:r>
            <a:endParaRPr lang="en-S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0DF8BBC-A4AA-8DBA-285B-06D0760BF4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000" y="2763627"/>
            <a:ext cx="5868800" cy="403375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F14A4DA-618B-AFA0-DE72-7C46235E94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6237" y="2783340"/>
            <a:ext cx="5776160" cy="4014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19274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C2759-F8AB-AA46-0AE4-72B27C6D4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PyTorch</a:t>
            </a:r>
            <a:r>
              <a:rPr lang="en-GB" dirty="0"/>
              <a:t> has many</a:t>
            </a:r>
            <a:br>
              <a:rPr lang="en-GB" dirty="0"/>
            </a:br>
            <a:r>
              <a:rPr lang="en-GB" dirty="0"/>
              <a:t>more optimizers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A9154-8357-5DC7-E5FE-55312619F8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5032374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These days, most Neural Networks seem to rely on Adam.</a:t>
            </a:r>
          </a:p>
          <a:p>
            <a:r>
              <a:rPr lang="en-GB" dirty="0"/>
              <a:t>As with activation functions, there are a few more (niche) optimizers, implemented in </a:t>
            </a:r>
            <a:r>
              <a:rPr lang="en-GB" dirty="0" err="1"/>
              <a:t>PyTorch</a:t>
            </a:r>
            <a:r>
              <a:rPr lang="en-GB" dirty="0"/>
              <a:t>.</a:t>
            </a:r>
          </a:p>
          <a:p>
            <a:r>
              <a:rPr lang="en-GB" dirty="0"/>
              <a:t>Worth looking into: </a:t>
            </a:r>
            <a:r>
              <a:rPr lang="en-GB" dirty="0">
                <a:hlinkClick r:id="rId2"/>
              </a:rPr>
              <a:t>https://pytorch.org/docs/stable/optim.html#torch.optim.Optimizer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(Quick discussion, in bonus slides)</a:t>
            </a:r>
          </a:p>
          <a:p>
            <a:endParaRPr lang="en-S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BEA049-9A5E-EF72-FEF9-BB9BD89E7A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8595" y="746448"/>
            <a:ext cx="5713405" cy="6111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97936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C2759-F8AB-AA46-0AE4-72B27C6D4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PyTorch</a:t>
            </a:r>
            <a:r>
              <a:rPr lang="en-GB" dirty="0"/>
              <a:t> </a:t>
            </a:r>
            <a:r>
              <a:rPr lang="en-GB"/>
              <a:t>has many more </a:t>
            </a:r>
            <a:r>
              <a:rPr lang="en-GB" dirty="0"/>
              <a:t>optimizers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A9154-8357-5DC7-E5FE-55312619F8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There are several recent optimizers that are worth looking into beyond Adam, typically </a:t>
            </a:r>
            <a:r>
              <a:rPr lang="en-GB" b="1" dirty="0" err="1"/>
              <a:t>AdaBound</a:t>
            </a:r>
            <a:r>
              <a:rPr lang="en-GB" dirty="0"/>
              <a:t> , </a:t>
            </a:r>
            <a:r>
              <a:rPr lang="en-GB" b="1" dirty="0" err="1"/>
              <a:t>AMSGrad</a:t>
            </a:r>
            <a:r>
              <a:rPr lang="en-GB" dirty="0"/>
              <a:t>, and </a:t>
            </a:r>
            <a:r>
              <a:rPr lang="en-GB" b="1" dirty="0"/>
              <a:t>Lookahead</a:t>
            </a:r>
            <a:r>
              <a:rPr lang="en-GB" dirty="0"/>
              <a:t>.</a:t>
            </a:r>
          </a:p>
          <a:p>
            <a:r>
              <a:rPr lang="en-GB" b="1" dirty="0" err="1"/>
              <a:t>AdaBound</a:t>
            </a:r>
            <a:r>
              <a:rPr lang="en-GB" dirty="0"/>
              <a:t> is an improved version of Adam that combines the advantages of Adam and the </a:t>
            </a:r>
            <a:r>
              <a:rPr lang="en-GB" dirty="0" err="1"/>
              <a:t>AdaGrad</a:t>
            </a:r>
            <a:r>
              <a:rPr lang="en-GB" dirty="0"/>
              <a:t> algorithm.</a:t>
            </a:r>
          </a:p>
          <a:p>
            <a:r>
              <a:rPr lang="en-GB" b="1" dirty="0" err="1"/>
              <a:t>AMSGrad</a:t>
            </a:r>
            <a:r>
              <a:rPr lang="en-GB" dirty="0"/>
              <a:t>, which stands for Adaptive Moment Estimation with Simulated Annealing and Gradient Descent, is an improved version of Adam that utilizes a special bounding mechanism to prevent overshooting and divergence.</a:t>
            </a:r>
          </a:p>
          <a:p>
            <a:r>
              <a:rPr lang="en-GB" dirty="0"/>
              <a:t>Finally, </a:t>
            </a:r>
            <a:r>
              <a:rPr lang="en-GB" b="1" dirty="0"/>
              <a:t>Lookahead</a:t>
            </a:r>
            <a:r>
              <a:rPr lang="en-GB" dirty="0"/>
              <a:t> is an algorithm that combines the advantages of several optimization techniques, such as Adam and momentum, to speed up the optimization process. </a:t>
            </a:r>
          </a:p>
          <a:p>
            <a:pPr marL="0" indent="0">
              <a:buNone/>
            </a:pPr>
            <a:r>
              <a:rPr lang="en-GB" b="1" dirty="0"/>
              <a:t>These are out of scope, but worth mentioning for the curious reader.</a:t>
            </a:r>
            <a:endParaRPr lang="en-SG" b="1" dirty="0"/>
          </a:p>
        </p:txBody>
      </p:sp>
    </p:spTree>
    <p:extLst>
      <p:ext uri="{BB962C8B-B14F-4D97-AF65-F5344CB8AC3E}">
        <p14:creationId xmlns:p14="http://schemas.microsoft.com/office/powerpoint/2010/main" val="5128236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4199</TotalTime>
  <Words>4966</Words>
  <Application>Microsoft Office PowerPoint</Application>
  <PresentationFormat>Widescreen</PresentationFormat>
  <Paragraphs>374</Paragraphs>
  <Slides>78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78</vt:i4>
      </vt:variant>
    </vt:vector>
  </HeadingPairs>
  <TitlesOfParts>
    <vt:vector size="84" baseType="lpstr">
      <vt:lpstr>Arial</vt:lpstr>
      <vt:lpstr>Calibri</vt:lpstr>
      <vt:lpstr>Calibri Light</vt:lpstr>
      <vt:lpstr>Cambria Math</vt:lpstr>
      <vt:lpstr>Wingdings</vt:lpstr>
      <vt:lpstr>Office Theme</vt:lpstr>
      <vt:lpstr>50.039 Theory and Practice of Deep Learning W2-S2 Neural Networks, Initializers, Optimizers and other Good Practices</vt:lpstr>
      <vt:lpstr>About this week (Week 2)</vt:lpstr>
      <vt:lpstr>About this week (Week 2)</vt:lpstr>
      <vt:lpstr>About this week (Week 2)</vt:lpstr>
      <vt:lpstr>The problem with the GD algorithm</vt:lpstr>
      <vt:lpstr>The problem with the GD algorithm</vt:lpstr>
      <vt:lpstr>The problem with the GD algorithm</vt:lpstr>
      <vt:lpstr>The problem with the GD algorithm</vt:lpstr>
      <vt:lpstr>PowerPoint Presentation</vt:lpstr>
      <vt:lpstr>The problem with the GD algorithm</vt:lpstr>
      <vt:lpstr>The problem with the GD algorithm</vt:lpstr>
      <vt:lpstr>The problem with the GD algorithm</vt:lpstr>
      <vt:lpstr>The problem with the GD algorithm</vt:lpstr>
      <vt:lpstr>Adding momentum to gradient descent</vt:lpstr>
      <vt:lpstr>Adding momentum to gradient descent</vt:lpstr>
      <vt:lpstr>Adding momentum to gradient descent</vt:lpstr>
      <vt:lpstr>Adding momentum to gradient descent</vt:lpstr>
      <vt:lpstr>Adding momentum to gradient descent</vt:lpstr>
      <vt:lpstr>Adding momentum to gradient descent</vt:lpstr>
      <vt:lpstr>Adding momentum to gradient descent</vt:lpstr>
      <vt:lpstr>Adding momentum to gradient descent</vt:lpstr>
      <vt:lpstr>Adding momentum to gradient descent</vt:lpstr>
      <vt:lpstr>Adding a decay to hyperparameters</vt:lpstr>
      <vt:lpstr>Adding a decay to hyperparameters</vt:lpstr>
      <vt:lpstr>Adding a decay to hyperparameters</vt:lpstr>
      <vt:lpstr>Adding a decay to hyperparameters</vt:lpstr>
      <vt:lpstr>Gradient-based learning rate control</vt:lpstr>
      <vt:lpstr>Idea behind gradient-based LR control</vt:lpstr>
      <vt:lpstr>Gradient-based learning rate control</vt:lpstr>
      <vt:lpstr>Gradient-based learning rate control</vt:lpstr>
      <vt:lpstr>Gradient-based learning rate control</vt:lpstr>
      <vt:lpstr>Gradient-based learning rate control</vt:lpstr>
      <vt:lpstr>Going back to our classification dataset</vt:lpstr>
      <vt:lpstr>So far, training using “vanilla” gradient descent</vt:lpstr>
      <vt:lpstr>AdaGrad</vt:lpstr>
      <vt:lpstr>AdaGrad</vt:lpstr>
      <vt:lpstr>AdaGrad</vt:lpstr>
      <vt:lpstr>AdaGrad implementation</vt:lpstr>
      <vt:lpstr>RMSProp</vt:lpstr>
      <vt:lpstr>RMSProp</vt:lpstr>
      <vt:lpstr>RMSProp</vt:lpstr>
      <vt:lpstr>RMSProp</vt:lpstr>
      <vt:lpstr>RMSProp implementation</vt:lpstr>
      <vt:lpstr>Adam</vt:lpstr>
      <vt:lpstr>Adam</vt:lpstr>
      <vt:lpstr>Adam</vt:lpstr>
      <vt:lpstr>Adam</vt:lpstr>
      <vt:lpstr>Adam</vt:lpstr>
      <vt:lpstr>Adam</vt:lpstr>
      <vt:lpstr>Adam implementation</vt:lpstr>
      <vt:lpstr>Adam implementation</vt:lpstr>
      <vt:lpstr>Comparing all four optimizers</vt:lpstr>
      <vt:lpstr>Comparing all four optimizers</vt:lpstr>
      <vt:lpstr>PyTorch has many more optimizers</vt:lpstr>
      <vt:lpstr>Just a question</vt:lpstr>
      <vt:lpstr>Just a question</vt:lpstr>
      <vt:lpstr>Stochastic Gradient Descent</vt:lpstr>
      <vt:lpstr>Stochastic Gradient Descent implementation</vt:lpstr>
      <vt:lpstr>Stochastic Gradient Descent implementation</vt:lpstr>
      <vt:lpstr>Stochastic Gradient Descent implementation</vt:lpstr>
      <vt:lpstr>Intuition behind Mini-ba tch Stochastic GD</vt:lpstr>
      <vt:lpstr>Stochastic Mini-Batch Gradient Descent</vt:lpstr>
      <vt:lpstr>Mini-batch Stochastic GD implementation</vt:lpstr>
      <vt:lpstr>Mini-batch Stochastic GD implementation</vt:lpstr>
      <vt:lpstr>A quick note on batch sizes</vt:lpstr>
      <vt:lpstr>Mini-batch Stochastic GD implementation</vt:lpstr>
      <vt:lpstr>Mini-batch Stochastic GD implementation</vt:lpstr>
      <vt:lpstr>Combining everything into a great optimizer</vt:lpstr>
      <vt:lpstr>Combining everything into a great optimizer</vt:lpstr>
      <vt:lpstr>Learn more about these topics</vt:lpstr>
      <vt:lpstr>Learn more about these topics</vt:lpstr>
      <vt:lpstr>Learn more about these topics</vt:lpstr>
      <vt:lpstr>Learn more about these topics</vt:lpstr>
      <vt:lpstr>Other forms of GD with momentum exist</vt:lpstr>
      <vt:lpstr>Other forms of GD with momentum exist</vt:lpstr>
      <vt:lpstr>Comparing both momentum GD</vt:lpstr>
      <vt:lpstr>PyTorch has many more optimizers</vt:lpstr>
      <vt:lpstr>PyTorch has many more optimizers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50.039 Theory and Practice of Deep Learning W8 S1-2-3</dc:title>
  <dc:creator>Matthieu DE MARI</dc:creator>
  <cp:lastModifiedBy>Matthieu De Mari</cp:lastModifiedBy>
  <cp:revision>108</cp:revision>
  <dcterms:created xsi:type="dcterms:W3CDTF">2021-03-10T09:35:15Z</dcterms:created>
  <dcterms:modified xsi:type="dcterms:W3CDTF">2026-01-16T05:26:01Z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fde23a9-9a05-4714-826f-57380a17bd9d_Enabled">
    <vt:lpwstr>true</vt:lpwstr>
  </property>
  <property fmtid="{D5CDD505-2E9C-101B-9397-08002B2CF9AE}" pid="3" name="MSIP_Label_7fde23a9-9a05-4714-826f-57380a17bd9d_SetDate">
    <vt:lpwstr>2022-10-19T06:30:58Z</vt:lpwstr>
  </property>
  <property fmtid="{D5CDD505-2E9C-101B-9397-08002B2CF9AE}" pid="4" name="MSIP_Label_7fde23a9-9a05-4714-826f-57380a17bd9d_Method">
    <vt:lpwstr>Privileged</vt:lpwstr>
  </property>
  <property fmtid="{D5CDD505-2E9C-101B-9397-08002B2CF9AE}" pid="5" name="MSIP_Label_7fde23a9-9a05-4714-826f-57380a17bd9d_Name">
    <vt:lpwstr>Restricted</vt:lpwstr>
  </property>
  <property fmtid="{D5CDD505-2E9C-101B-9397-08002B2CF9AE}" pid="6" name="MSIP_Label_7fde23a9-9a05-4714-826f-57380a17bd9d_SiteId">
    <vt:lpwstr>3476b776-e990-4f72-b950-62489831623d</vt:lpwstr>
  </property>
  <property fmtid="{D5CDD505-2E9C-101B-9397-08002B2CF9AE}" pid="7" name="MSIP_Label_7fde23a9-9a05-4714-826f-57380a17bd9d_ActionId">
    <vt:lpwstr>0e56de01-4734-4bb5-8abe-0837a2dfdfb0</vt:lpwstr>
  </property>
  <property fmtid="{D5CDD505-2E9C-101B-9397-08002B2CF9AE}" pid="8" name="MSIP_Label_7fde23a9-9a05-4714-826f-57380a17bd9d_ContentBits">
    <vt:lpwstr>3</vt:lpwstr>
  </property>
  <property fmtid="{D5CDD505-2E9C-101B-9397-08002B2CF9AE}" pid="9" name="ClassificationContentMarkingFooterLocations">
    <vt:lpwstr>Office Theme:10</vt:lpwstr>
  </property>
  <property fmtid="{D5CDD505-2E9C-101B-9397-08002B2CF9AE}" pid="10" name="ClassificationContentMarkingFooterText">
    <vt:lpwstr>Restricted</vt:lpwstr>
  </property>
  <property fmtid="{D5CDD505-2E9C-101B-9397-08002B2CF9AE}" pid="11" name="ClassificationContentMarkingHeaderLocations">
    <vt:lpwstr>Office Theme:9</vt:lpwstr>
  </property>
  <property fmtid="{D5CDD505-2E9C-101B-9397-08002B2CF9AE}" pid="12" name="ClassificationContentMarkingHeaderText">
    <vt:lpwstr>Restricted</vt:lpwstr>
  </property>
</Properties>
</file>