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377" r:id="rId2"/>
    <p:sldId id="452" r:id="rId3"/>
    <p:sldId id="453" r:id="rId4"/>
    <p:sldId id="450" r:id="rId5"/>
    <p:sldId id="381" r:id="rId6"/>
    <p:sldId id="394" r:id="rId7"/>
    <p:sldId id="395" r:id="rId8"/>
    <p:sldId id="384" r:id="rId9"/>
    <p:sldId id="392" r:id="rId10"/>
    <p:sldId id="393" r:id="rId11"/>
    <p:sldId id="390" r:id="rId12"/>
    <p:sldId id="397" r:id="rId13"/>
    <p:sldId id="398" r:id="rId14"/>
    <p:sldId id="399" r:id="rId15"/>
    <p:sldId id="400" r:id="rId16"/>
    <p:sldId id="401" r:id="rId17"/>
    <p:sldId id="383" r:id="rId18"/>
    <p:sldId id="403" r:id="rId19"/>
    <p:sldId id="382" r:id="rId20"/>
    <p:sldId id="404" r:id="rId21"/>
    <p:sldId id="405" r:id="rId22"/>
    <p:sldId id="406" r:id="rId23"/>
    <p:sldId id="407" r:id="rId24"/>
    <p:sldId id="409" r:id="rId25"/>
    <p:sldId id="410" r:id="rId26"/>
    <p:sldId id="411" r:id="rId27"/>
    <p:sldId id="412" r:id="rId28"/>
    <p:sldId id="413" r:id="rId29"/>
    <p:sldId id="402" r:id="rId30"/>
    <p:sldId id="415" r:id="rId31"/>
    <p:sldId id="427" r:id="rId32"/>
    <p:sldId id="418" r:id="rId33"/>
    <p:sldId id="428" r:id="rId34"/>
    <p:sldId id="424" r:id="rId35"/>
    <p:sldId id="426" r:id="rId36"/>
    <p:sldId id="385" r:id="rId37"/>
    <p:sldId id="421" r:id="rId38"/>
    <p:sldId id="429" r:id="rId39"/>
    <p:sldId id="430" r:id="rId40"/>
    <p:sldId id="431" r:id="rId41"/>
    <p:sldId id="433" r:id="rId42"/>
    <p:sldId id="386" r:id="rId43"/>
    <p:sldId id="434" r:id="rId44"/>
    <p:sldId id="437" r:id="rId45"/>
    <p:sldId id="435" r:id="rId46"/>
    <p:sldId id="436" r:id="rId47"/>
    <p:sldId id="387" r:id="rId48"/>
    <p:sldId id="438" r:id="rId49"/>
    <p:sldId id="439" r:id="rId50"/>
    <p:sldId id="440" r:id="rId51"/>
    <p:sldId id="441" r:id="rId52"/>
    <p:sldId id="389" r:id="rId53"/>
    <p:sldId id="443" r:id="rId54"/>
    <p:sldId id="444" r:id="rId55"/>
    <p:sldId id="445" r:id="rId56"/>
    <p:sldId id="446" r:id="rId57"/>
    <p:sldId id="447" r:id="rId58"/>
    <p:sldId id="448" r:id="rId59"/>
    <p:sldId id="449" r:id="rId60"/>
    <p:sldId id="391" r:id="rId61"/>
    <p:sldId id="442" r:id="rId62"/>
    <p:sldId id="396" r:id="rId63"/>
    <p:sldId id="451" r:id="rId64"/>
    <p:sldId id="267"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377"/>
          </p14:sldIdLst>
        </p14:section>
        <p14:section name="I.0. Questioning" id="{07122D72-DD9F-4CC2-92F1-78B5F7901AD8}">
          <p14:sldIdLst>
            <p14:sldId id="452"/>
            <p14:sldId id="453"/>
          </p14:sldIdLst>
        </p14:section>
        <p14:section name="Introduction" id="{2FD0FF71-F5FC-4EB7-B2CB-B31E4CBECD79}">
          <p14:sldIdLst>
            <p14:sldId id="450"/>
            <p14:sldId id="381"/>
          </p14:sldIdLst>
        </p14:section>
        <p14:section name="I.1. AutoEncoders definition" id="{FC4004CD-F4EF-46BA-BCA4-C872EA6A6BA2}">
          <p14:sldIdLst>
            <p14:sldId id="394"/>
            <p14:sldId id="395"/>
            <p14:sldId id="384"/>
            <p14:sldId id="392"/>
            <p14:sldId id="393"/>
          </p14:sldIdLst>
        </p14:section>
        <p14:section name="I.2. AutoEncoders Structure" id="{EFA1C734-3C6E-43B7-868E-0327706770B8}">
          <p14:sldIdLst>
            <p14:sldId id="390"/>
            <p14:sldId id="397"/>
            <p14:sldId id="398"/>
            <p14:sldId id="399"/>
            <p14:sldId id="400"/>
            <p14:sldId id="401"/>
          </p14:sldIdLst>
        </p14:section>
        <p14:section name="I.3. Reversibility of FC" id="{30A88076-83DE-4478-BCFD-221C48C7E4FC}">
          <p14:sldIdLst>
            <p14:sldId id="383"/>
            <p14:sldId id="403"/>
          </p14:sldIdLst>
        </p14:section>
        <p14:section name="I.4. AutoEncoders with FC on MNIST" id="{B50CEEF5-14E6-497B-8E97-44939EB4237D}">
          <p14:sldIdLst>
            <p14:sldId id="382"/>
            <p14:sldId id="404"/>
            <p14:sldId id="405"/>
            <p14:sldId id="406"/>
            <p14:sldId id="407"/>
            <p14:sldId id="409"/>
            <p14:sldId id="410"/>
            <p14:sldId id="411"/>
            <p14:sldId id="412"/>
          </p14:sldIdLst>
        </p14:section>
        <p14:section name="I.5. On finding the right dimensionality" id="{4E42E279-FADD-44B9-81E9-A1071BC3E1D5}">
          <p14:sldIdLst>
            <p14:sldId id="413"/>
            <p14:sldId id="402"/>
            <p14:sldId id="415"/>
            <p14:sldId id="427"/>
            <p14:sldId id="418"/>
            <p14:sldId id="428"/>
          </p14:sldIdLst>
        </p14:section>
        <p14:section name="II.1. On the need for uplsampling layers" id="{2D0D1533-8B69-432A-B578-812102963C6D}">
          <p14:sldIdLst>
            <p14:sldId id="424"/>
            <p14:sldId id="426"/>
            <p14:sldId id="385"/>
            <p14:sldId id="421"/>
            <p14:sldId id="429"/>
            <p14:sldId id="430"/>
            <p14:sldId id="431"/>
            <p14:sldId id="433"/>
          </p14:sldIdLst>
        </p14:section>
        <p14:section name="II.2. DeConvolution layer" id="{3317F55B-25C4-4C21-B990-1495D8FEF30E}">
          <p14:sldIdLst>
            <p14:sldId id="386"/>
            <p14:sldId id="434"/>
            <p14:sldId id="437"/>
            <p14:sldId id="435"/>
            <p14:sldId id="436"/>
          </p14:sldIdLst>
        </p14:section>
        <p14:section name="II.3. DeConvolution layer with padding and stride" id="{92BB43CF-025D-486B-A6B7-32701DE2A5A7}">
          <p14:sldIdLst>
            <p14:sldId id="387"/>
            <p14:sldId id="438"/>
            <p14:sldId id="439"/>
            <p14:sldId id="440"/>
            <p14:sldId id="441"/>
          </p14:sldIdLst>
        </p14:section>
        <p14:section name="III.1. AutoEncoders with Conv and DeConv" id="{60AAC3A0-8722-4C49-A259-521DEB16312F}">
          <p14:sldIdLst>
            <p14:sldId id="389"/>
            <p14:sldId id="443"/>
            <p14:sldId id="444"/>
            <p14:sldId id="445"/>
            <p14:sldId id="446"/>
            <p14:sldId id="447"/>
            <p14:sldId id="448"/>
            <p14:sldId id="449"/>
          </p14:sldIdLst>
        </p14:section>
        <p14:section name="III.2. On the applications of AutoEncoders" id="{339BF601-3294-4E6B-8DD0-8D0B8D4ED004}">
          <p14:sldIdLst>
            <p14:sldId id="391"/>
            <p14:sldId id="442"/>
            <p14:sldId id="396"/>
          </p14:sldIdLst>
        </p14:section>
        <p14:section name="Conclusion" id="{F32771D1-00C9-468B-921F-57B3DD4A3A9C}">
          <p14:sldIdLst>
            <p14:sldId id="451"/>
          </p14:sldIdLst>
        </p14:section>
        <p14:section name="References and watchlist" id="{217B8593-1CA5-408D-B198-A5E6ACAB5948}">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92" autoAdjust="0"/>
  </p:normalViewPr>
  <p:slideViewPr>
    <p:cSldViewPr snapToGrid="0">
      <p:cViewPr varScale="1">
        <p:scale>
          <a:sx n="70" d="100"/>
          <a:sy n="70" d="100"/>
        </p:scale>
        <p:origin x="1138"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custSel delSld modSld modSection">
      <pc:chgData name="Matthieu De Mari" userId="dfb708c9-d8dc-439f-9a3b-c772bf4a311c" providerId="ADAL" clId="{81E9B007-0C2C-493E-9B93-55A62C9C1F12}" dt="2026-03-30T10:54:35.711" v="72" actId="47"/>
      <pc:docMkLst>
        <pc:docMk/>
      </pc:docMkLst>
      <pc:sldChg chg="del">
        <pc:chgData name="Matthieu De Mari" userId="dfb708c9-d8dc-439f-9a3b-c772bf4a311c" providerId="ADAL" clId="{81E9B007-0C2C-493E-9B93-55A62C9C1F12}" dt="2026-03-30T02:45:42.421" v="0" actId="47"/>
        <pc:sldMkLst>
          <pc:docMk/>
          <pc:sldMk cId="3442501962" sldId="257"/>
        </pc:sldMkLst>
      </pc:sldChg>
      <pc:sldChg chg="modSp mod">
        <pc:chgData name="Matthieu De Mari" userId="dfb708c9-d8dc-439f-9a3b-c772bf4a311c" providerId="ADAL" clId="{81E9B007-0C2C-493E-9B93-55A62C9C1F12}" dt="2026-03-30T02:46:29.462" v="43" actId="20577"/>
        <pc:sldMkLst>
          <pc:docMk/>
          <pc:sldMk cId="2845126724" sldId="403"/>
        </pc:sldMkLst>
        <pc:spChg chg="mod">
          <ac:chgData name="Matthieu De Mari" userId="dfb708c9-d8dc-439f-9a3b-c772bf4a311c" providerId="ADAL" clId="{81E9B007-0C2C-493E-9B93-55A62C9C1F12}" dt="2026-03-30T02:46:29.462" v="43" actId="20577"/>
          <ac:spMkLst>
            <pc:docMk/>
            <pc:sldMk cId="2845126724" sldId="403"/>
            <ac:spMk id="9" creationId="{7FE4E4E0-4CCD-4B65-B935-87D7D0E0D3AA}"/>
          </ac:spMkLst>
        </pc:spChg>
      </pc:sldChg>
      <pc:sldChg chg="modSp del mod">
        <pc:chgData name="Matthieu De Mari" userId="dfb708c9-d8dc-439f-9a3b-c772bf4a311c" providerId="ADAL" clId="{81E9B007-0C2C-493E-9B93-55A62C9C1F12}" dt="2026-03-30T10:54:32.169" v="70" actId="47"/>
        <pc:sldMkLst>
          <pc:docMk/>
          <pc:sldMk cId="265449064" sldId="416"/>
        </pc:sldMkLst>
        <pc:spChg chg="mod">
          <ac:chgData name="Matthieu De Mari" userId="dfb708c9-d8dc-439f-9a3b-c772bf4a311c" providerId="ADAL" clId="{81E9B007-0C2C-493E-9B93-55A62C9C1F12}" dt="2026-03-30T02:47:06.281" v="57" actId="20577"/>
          <ac:spMkLst>
            <pc:docMk/>
            <pc:sldMk cId="265449064" sldId="416"/>
            <ac:spMk id="5" creationId="{A15800C8-7D41-4004-8334-3275C11C119D}"/>
          </ac:spMkLst>
        </pc:spChg>
      </pc:sldChg>
      <pc:sldChg chg="del">
        <pc:chgData name="Matthieu De Mari" userId="dfb708c9-d8dc-439f-9a3b-c772bf4a311c" providerId="ADAL" clId="{81E9B007-0C2C-493E-9B93-55A62C9C1F12}" dt="2026-03-30T02:47:46.697" v="68" actId="47"/>
        <pc:sldMkLst>
          <pc:docMk/>
          <pc:sldMk cId="2852886529" sldId="420"/>
        </pc:sldMkLst>
      </pc:sldChg>
      <pc:sldChg chg="del">
        <pc:chgData name="Matthieu De Mari" userId="dfb708c9-d8dc-439f-9a3b-c772bf4a311c" providerId="ADAL" clId="{81E9B007-0C2C-493E-9B93-55A62C9C1F12}" dt="2026-03-30T10:54:33.756" v="71" actId="47"/>
        <pc:sldMkLst>
          <pc:docMk/>
          <pc:sldMk cId="2313068411" sldId="422"/>
        </pc:sldMkLst>
      </pc:sldChg>
      <pc:sldChg chg="del">
        <pc:chgData name="Matthieu De Mari" userId="dfb708c9-d8dc-439f-9a3b-c772bf4a311c" providerId="ADAL" clId="{81E9B007-0C2C-493E-9B93-55A62C9C1F12}" dt="2026-03-30T10:54:35.711" v="72" actId="47"/>
        <pc:sldMkLst>
          <pc:docMk/>
          <pc:sldMk cId="3116029073" sldId="423"/>
        </pc:sldMkLst>
      </pc:sldChg>
      <pc:sldChg chg="modSp del mod">
        <pc:chgData name="Matthieu De Mari" userId="dfb708c9-d8dc-439f-9a3b-c772bf4a311c" providerId="ADAL" clId="{81E9B007-0C2C-493E-9B93-55A62C9C1F12}" dt="2026-03-30T02:47:31.344" v="62" actId="47"/>
        <pc:sldMkLst>
          <pc:docMk/>
          <pc:sldMk cId="3364932867" sldId="425"/>
        </pc:sldMkLst>
        <pc:spChg chg="mod">
          <ac:chgData name="Matthieu De Mari" userId="dfb708c9-d8dc-439f-9a3b-c772bf4a311c" providerId="ADAL" clId="{81E9B007-0C2C-493E-9B93-55A62C9C1F12}" dt="2026-03-30T02:47:24.084" v="59" actId="113"/>
          <ac:spMkLst>
            <pc:docMk/>
            <pc:sldMk cId="3364932867" sldId="425"/>
            <ac:spMk id="3" creationId="{F7CC87E4-4FD0-4AE6-9578-9B906826A73B}"/>
          </ac:spMkLst>
        </pc:spChg>
      </pc:sldChg>
      <pc:sldChg chg="modSp mod">
        <pc:chgData name="Matthieu De Mari" userId="dfb708c9-d8dc-439f-9a3b-c772bf4a311c" providerId="ADAL" clId="{81E9B007-0C2C-493E-9B93-55A62C9C1F12}" dt="2026-03-30T02:47:35.895" v="67" actId="20577"/>
        <pc:sldMkLst>
          <pc:docMk/>
          <pc:sldMk cId="1316085275" sldId="426"/>
        </pc:sldMkLst>
        <pc:spChg chg="mod">
          <ac:chgData name="Matthieu De Mari" userId="dfb708c9-d8dc-439f-9a3b-c772bf4a311c" providerId="ADAL" clId="{81E9B007-0C2C-493E-9B93-55A62C9C1F12}" dt="2026-03-30T02:47:35.895" v="67" actId="20577"/>
          <ac:spMkLst>
            <pc:docMk/>
            <pc:sldMk cId="1316085275" sldId="426"/>
            <ac:spMk id="3" creationId="{F7CC87E4-4FD0-4AE6-9578-9B906826A73B}"/>
          </ac:spMkLst>
        </pc:spChg>
      </pc:sldChg>
      <pc:sldChg chg="del">
        <pc:chgData name="Matthieu De Mari" userId="dfb708c9-d8dc-439f-9a3b-c772bf4a311c" providerId="ADAL" clId="{81E9B007-0C2C-493E-9B93-55A62C9C1F12}" dt="2026-03-30T02:48:01.131" v="69" actId="47"/>
        <pc:sldMkLst>
          <pc:docMk/>
          <pc:sldMk cId="3895049578" sldId="43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DDF42F7-ECA9-4571-90F4-A1E833F407E7}" type="doc">
      <dgm:prSet loTypeId="urn:microsoft.com/office/officeart/2005/8/layout/arrow6" loCatId="relationship" qsTypeId="urn:microsoft.com/office/officeart/2005/8/quickstyle/simple1" qsCatId="simple" csTypeId="urn:microsoft.com/office/officeart/2005/8/colors/accent1_2" csCatId="accent1" phldr="1"/>
      <dgm:spPr/>
      <dgm:t>
        <a:bodyPr/>
        <a:lstStyle/>
        <a:p>
          <a:endParaRPr lang="en-GB"/>
        </a:p>
      </dgm:t>
    </dgm:pt>
    <dgm:pt modelId="{CC9D1620-D616-40BB-AA89-F534F6184AAE}">
      <dgm:prSet phldrT="[Text]"/>
      <dgm:spPr/>
      <dgm:t>
        <a:bodyPr/>
        <a:lstStyle/>
        <a:p>
          <a:r>
            <a:rPr lang="en-US" b="1" dirty="0"/>
            <a:t>Higher size</a:t>
          </a:r>
          <a:br>
            <a:rPr lang="en-US" dirty="0"/>
          </a:br>
          <a:r>
            <a:rPr lang="en-US" dirty="0"/>
            <a:t>More accurate representation, more parameters to train.</a:t>
          </a:r>
          <a:endParaRPr lang="en-GB" dirty="0"/>
        </a:p>
      </dgm:t>
    </dgm:pt>
    <dgm:pt modelId="{34120501-8043-4B73-84FF-E59A26965957}" type="parTrans" cxnId="{44A062A2-4526-48C3-BA89-5D3DA8127351}">
      <dgm:prSet/>
      <dgm:spPr/>
      <dgm:t>
        <a:bodyPr/>
        <a:lstStyle/>
        <a:p>
          <a:endParaRPr lang="en-GB"/>
        </a:p>
      </dgm:t>
    </dgm:pt>
    <dgm:pt modelId="{814976EC-95DA-4CFD-9F53-92C6BE26411D}" type="sibTrans" cxnId="{44A062A2-4526-48C3-BA89-5D3DA8127351}">
      <dgm:prSet/>
      <dgm:spPr/>
      <dgm:t>
        <a:bodyPr/>
        <a:lstStyle/>
        <a:p>
          <a:endParaRPr lang="en-GB"/>
        </a:p>
      </dgm:t>
    </dgm:pt>
    <dgm:pt modelId="{C0727021-A93B-4E3C-A000-C5F74C594101}">
      <dgm:prSet phldrT="[Text]"/>
      <dgm:spPr/>
      <dgm:t>
        <a:bodyPr/>
        <a:lstStyle/>
        <a:p>
          <a:r>
            <a:rPr lang="en-US" b="1" dirty="0"/>
            <a:t>Lower size</a:t>
          </a:r>
          <a:br>
            <a:rPr lang="en-US" dirty="0"/>
          </a:br>
          <a:r>
            <a:rPr lang="en-US" dirty="0"/>
            <a:t>Less accurate representation, less parameters to train</a:t>
          </a:r>
          <a:endParaRPr lang="en-GB" dirty="0"/>
        </a:p>
      </dgm:t>
    </dgm:pt>
    <dgm:pt modelId="{855EAFF7-4531-49BE-A2B0-FCC24B5CB592}" type="parTrans" cxnId="{1E9E043F-1FC1-4BFE-92CF-ED2441ADE217}">
      <dgm:prSet/>
      <dgm:spPr/>
      <dgm:t>
        <a:bodyPr/>
        <a:lstStyle/>
        <a:p>
          <a:endParaRPr lang="en-GB"/>
        </a:p>
      </dgm:t>
    </dgm:pt>
    <dgm:pt modelId="{3151DA33-51F5-455C-98B3-1E8713C09FF1}" type="sibTrans" cxnId="{1E9E043F-1FC1-4BFE-92CF-ED2441ADE217}">
      <dgm:prSet/>
      <dgm:spPr/>
      <dgm:t>
        <a:bodyPr/>
        <a:lstStyle/>
        <a:p>
          <a:endParaRPr lang="en-GB"/>
        </a:p>
      </dgm:t>
    </dgm:pt>
    <dgm:pt modelId="{BA38B21E-9211-4859-A2C9-9CD406381B41}" type="pres">
      <dgm:prSet presAssocID="{1DDF42F7-ECA9-4571-90F4-A1E833F407E7}" presName="compositeShape" presStyleCnt="0">
        <dgm:presLayoutVars>
          <dgm:chMax val="2"/>
          <dgm:dir/>
          <dgm:resizeHandles val="exact"/>
        </dgm:presLayoutVars>
      </dgm:prSet>
      <dgm:spPr/>
    </dgm:pt>
    <dgm:pt modelId="{30A37605-B5E7-498C-B084-8B649CBB7AF5}" type="pres">
      <dgm:prSet presAssocID="{1DDF42F7-ECA9-4571-90F4-A1E833F407E7}" presName="ribbon" presStyleLbl="node1" presStyleIdx="0" presStyleCnt="1"/>
      <dgm:spPr/>
    </dgm:pt>
    <dgm:pt modelId="{4B8A5D72-42F4-41F2-ABC1-A3878AB8D4D1}" type="pres">
      <dgm:prSet presAssocID="{1DDF42F7-ECA9-4571-90F4-A1E833F407E7}" presName="leftArrowText" presStyleLbl="node1" presStyleIdx="0" presStyleCnt="1">
        <dgm:presLayoutVars>
          <dgm:chMax val="0"/>
          <dgm:bulletEnabled val="1"/>
        </dgm:presLayoutVars>
      </dgm:prSet>
      <dgm:spPr/>
    </dgm:pt>
    <dgm:pt modelId="{1C47DCDE-0A36-424B-AD9D-2E2D6448B24F}" type="pres">
      <dgm:prSet presAssocID="{1DDF42F7-ECA9-4571-90F4-A1E833F407E7}" presName="rightArrowText" presStyleLbl="node1" presStyleIdx="0" presStyleCnt="1">
        <dgm:presLayoutVars>
          <dgm:chMax val="0"/>
          <dgm:bulletEnabled val="1"/>
        </dgm:presLayoutVars>
      </dgm:prSet>
      <dgm:spPr/>
    </dgm:pt>
  </dgm:ptLst>
  <dgm:cxnLst>
    <dgm:cxn modelId="{1E9E043F-1FC1-4BFE-92CF-ED2441ADE217}" srcId="{1DDF42F7-ECA9-4571-90F4-A1E833F407E7}" destId="{C0727021-A93B-4E3C-A000-C5F74C594101}" srcOrd="1" destOrd="0" parTransId="{855EAFF7-4531-49BE-A2B0-FCC24B5CB592}" sibTransId="{3151DA33-51F5-455C-98B3-1E8713C09FF1}"/>
    <dgm:cxn modelId="{ED307556-22F6-4C49-82D5-7AEE0C45FC47}" type="presOf" srcId="{1DDF42F7-ECA9-4571-90F4-A1E833F407E7}" destId="{BA38B21E-9211-4859-A2C9-9CD406381B41}" srcOrd="0" destOrd="0" presId="urn:microsoft.com/office/officeart/2005/8/layout/arrow6"/>
    <dgm:cxn modelId="{14F92159-4F8E-4D1B-8751-E17F2D380C2D}" type="presOf" srcId="{CC9D1620-D616-40BB-AA89-F534F6184AAE}" destId="{4B8A5D72-42F4-41F2-ABC1-A3878AB8D4D1}" srcOrd="0" destOrd="0" presId="urn:microsoft.com/office/officeart/2005/8/layout/arrow6"/>
    <dgm:cxn modelId="{0DD05580-8AD7-4958-BCC2-12B24725E26F}" type="presOf" srcId="{C0727021-A93B-4E3C-A000-C5F74C594101}" destId="{1C47DCDE-0A36-424B-AD9D-2E2D6448B24F}" srcOrd="0" destOrd="0" presId="urn:microsoft.com/office/officeart/2005/8/layout/arrow6"/>
    <dgm:cxn modelId="{44A062A2-4526-48C3-BA89-5D3DA8127351}" srcId="{1DDF42F7-ECA9-4571-90F4-A1E833F407E7}" destId="{CC9D1620-D616-40BB-AA89-F534F6184AAE}" srcOrd="0" destOrd="0" parTransId="{34120501-8043-4B73-84FF-E59A26965957}" sibTransId="{814976EC-95DA-4CFD-9F53-92C6BE26411D}"/>
    <dgm:cxn modelId="{0F186119-7361-4F0C-82FB-A4D62BE64CDC}" type="presParOf" srcId="{BA38B21E-9211-4859-A2C9-9CD406381B41}" destId="{30A37605-B5E7-498C-B084-8B649CBB7AF5}" srcOrd="0" destOrd="0" presId="urn:microsoft.com/office/officeart/2005/8/layout/arrow6"/>
    <dgm:cxn modelId="{D973A100-EF1B-468B-A08C-C5F7AD2613BA}" type="presParOf" srcId="{BA38B21E-9211-4859-A2C9-9CD406381B41}" destId="{4B8A5D72-42F4-41F2-ABC1-A3878AB8D4D1}" srcOrd="1" destOrd="0" presId="urn:microsoft.com/office/officeart/2005/8/layout/arrow6"/>
    <dgm:cxn modelId="{5753FEB2-E0E8-4DEB-9BA0-C40461997030}" type="presParOf" srcId="{BA38B21E-9211-4859-A2C9-9CD406381B41}" destId="{1C47DCDE-0A36-424B-AD9D-2E2D6448B24F}" srcOrd="2" destOrd="0" presId="urn:microsoft.com/office/officeart/2005/8/layout/arrow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A37605-B5E7-498C-B084-8B649CBB7AF5}">
      <dsp:nvSpPr>
        <dsp:cNvPr id="0" name=""/>
        <dsp:cNvSpPr/>
      </dsp:nvSpPr>
      <dsp:spPr>
        <a:xfrm>
          <a:off x="891591" y="0"/>
          <a:ext cx="6344817" cy="2537926"/>
        </a:xfrm>
        <a:prstGeom prst="leftRightRibb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8A5D72-42F4-41F2-ABC1-A3878AB8D4D1}">
      <dsp:nvSpPr>
        <dsp:cNvPr id="0" name=""/>
        <dsp:cNvSpPr/>
      </dsp:nvSpPr>
      <dsp:spPr>
        <a:xfrm>
          <a:off x="1652969" y="444137"/>
          <a:ext cx="2093789" cy="124358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7564" rIns="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t>Higher size</a:t>
          </a:r>
          <a:br>
            <a:rPr lang="en-US" sz="1900" kern="1200" dirty="0"/>
          </a:br>
          <a:r>
            <a:rPr lang="en-US" sz="1900" kern="1200" dirty="0"/>
            <a:t>More accurate representation, more parameters to train.</a:t>
          </a:r>
          <a:endParaRPr lang="en-GB" sz="1900" kern="1200" dirty="0"/>
        </a:p>
      </dsp:txBody>
      <dsp:txXfrm>
        <a:off x="1652969" y="444137"/>
        <a:ext cx="2093789" cy="1243584"/>
      </dsp:txXfrm>
    </dsp:sp>
    <dsp:sp modelId="{1C47DCDE-0A36-424B-AD9D-2E2D6448B24F}">
      <dsp:nvSpPr>
        <dsp:cNvPr id="0" name=""/>
        <dsp:cNvSpPr/>
      </dsp:nvSpPr>
      <dsp:spPr>
        <a:xfrm>
          <a:off x="4064000" y="850205"/>
          <a:ext cx="2474478" cy="124358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7564" rIns="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t>Lower size</a:t>
          </a:r>
          <a:br>
            <a:rPr lang="en-US" sz="1900" kern="1200" dirty="0"/>
          </a:br>
          <a:r>
            <a:rPr lang="en-US" sz="1900" kern="1200" dirty="0"/>
            <a:t>Less accurate representation, less parameters to train</a:t>
          </a:r>
          <a:endParaRPr lang="en-GB" sz="1900" kern="1200" dirty="0"/>
        </a:p>
      </dsp:txBody>
      <dsp:txXfrm>
        <a:off x="4064000" y="850205"/>
        <a:ext cx="2474478" cy="1243584"/>
      </dsp:txXfrm>
    </dsp:sp>
  </dsp:spTree>
</dsp:drawing>
</file>

<file path=ppt/diagrams/layout1.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30/03/2026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30/03/2026</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30/03/2026</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30/03/2026</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30/03/2026</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30/03/2026</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30/03/2026</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30/03/2026</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30/03/2026</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30/03/2026</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30/03/2026</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30/03/2026</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30/03/2026</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41291B79-DCC3-A6A5-5F28-B01DEE8ACF8E}"/>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8C82451B-AFE4-2BD0-0F0B-B68CEFC6A118}"/>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hyperlink" Target="https://github.com/vdumoulin/conv_arithmetic/blob/master/README.md"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50.039 Theory and Practice of</a:t>
            </a:r>
            <a:br>
              <a:rPr lang="en-US" b="1" dirty="0"/>
            </a:br>
            <a:r>
              <a:rPr lang="en-US" b="1" dirty="0"/>
              <a:t>Deep Learning</a:t>
            </a:r>
            <a:br>
              <a:rPr lang="en-US" dirty="0"/>
            </a:br>
            <a:r>
              <a:rPr lang="en-US" dirty="0"/>
              <a:t>W10-S1 Generative Models in</a:t>
            </a:r>
            <a:br>
              <a:rPr lang="en-US" dirty="0"/>
            </a:br>
            <a:r>
              <a:rPr lang="en-US" dirty="0"/>
              <a:t>Deep Learning</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De Mari</a:t>
            </a:r>
            <a:endParaRPr lang="en-GB" dirty="0"/>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632F8-8696-C279-0A35-60D556F597E0}"/>
              </a:ext>
            </a:extLst>
          </p:cNvPr>
          <p:cNvSpPr>
            <a:spLocks noGrp="1"/>
          </p:cNvSpPr>
          <p:nvPr>
            <p:ph type="title"/>
          </p:nvPr>
        </p:nvSpPr>
        <p:spPr/>
        <p:txBody>
          <a:bodyPr/>
          <a:lstStyle/>
          <a:p>
            <a:r>
              <a:rPr lang="en-GB" dirty="0"/>
              <a:t>What we have done so far</a:t>
            </a:r>
            <a:endParaRPr lang="en-SG" dirty="0"/>
          </a:p>
        </p:txBody>
      </p:sp>
      <p:sp>
        <p:nvSpPr>
          <p:cNvPr id="5" name="Content Placeholder 4">
            <a:extLst>
              <a:ext uri="{FF2B5EF4-FFF2-40B4-BE49-F238E27FC236}">
                <a16:creationId xmlns:a16="http://schemas.microsoft.com/office/drawing/2014/main" id="{8553B1CF-F1A0-0939-D0A4-48D1DA85BC60}"/>
              </a:ext>
            </a:extLst>
          </p:cNvPr>
          <p:cNvSpPr>
            <a:spLocks noGrp="1"/>
          </p:cNvSpPr>
          <p:nvPr>
            <p:ph idx="1"/>
          </p:nvPr>
        </p:nvSpPr>
        <p:spPr>
          <a:xfrm>
            <a:off x="838200" y="1825624"/>
            <a:ext cx="10515600" cy="5032375"/>
          </a:xfrm>
        </p:spPr>
        <p:txBody>
          <a:bodyPr/>
          <a:lstStyle/>
          <a:p>
            <a:pPr marL="0" indent="0">
              <a:buNone/>
            </a:pPr>
            <a:r>
              <a:rPr lang="en-GB" dirty="0"/>
              <a:t>All our models so far had something in common:</a:t>
            </a:r>
          </a:p>
          <a:p>
            <a:pPr marL="0" indent="0">
              <a:buNone/>
            </a:pPr>
            <a:endParaRPr lang="en-GB" dirty="0"/>
          </a:p>
          <a:p>
            <a:pPr algn="ctr">
              <a:buFont typeface="Wingdings" panose="05000000000000000000" pitchFamily="2" charset="2"/>
              <a:buChar char="à"/>
            </a:pPr>
            <a:r>
              <a:rPr lang="en-GB" b="1" dirty="0">
                <a:sym typeface="Wingdings" panose="05000000000000000000" pitchFamily="2" charset="2"/>
              </a:rPr>
              <a:t> The dimensionality of the inputs was always superior to the dimensionality of the outputs. </a:t>
            </a:r>
          </a:p>
          <a:p>
            <a:pPr algn="ctr">
              <a:buFont typeface="Wingdings" panose="05000000000000000000" pitchFamily="2" charset="2"/>
              <a:buChar char="à"/>
            </a:pPr>
            <a:endParaRPr lang="en-GB" b="1" dirty="0">
              <a:sym typeface="Wingdings" panose="05000000000000000000" pitchFamily="2" charset="2"/>
            </a:endParaRPr>
          </a:p>
          <a:p>
            <a:pPr marL="0" indent="0">
              <a:buNone/>
            </a:pPr>
            <a:r>
              <a:rPr lang="en-GB" dirty="0">
                <a:sym typeface="Wingdings" panose="05000000000000000000" pitchFamily="2" charset="2"/>
              </a:rPr>
              <a:t>E.g. Receiving Tabular data, images, time series, words graphs as inputs and predicting a single value (regression) or a given class in a finite number of classes (much smaller).</a:t>
            </a:r>
          </a:p>
          <a:p>
            <a:pPr marL="0" indent="0">
              <a:buNone/>
            </a:pPr>
            <a:r>
              <a:rPr lang="en-GB" dirty="0">
                <a:sym typeface="Wingdings" panose="05000000000000000000" pitchFamily="2" charset="2"/>
              </a:rPr>
              <a:t>Only Seq2Seq models and </a:t>
            </a:r>
            <a:r>
              <a:rPr lang="en-GB" dirty="0" err="1">
                <a:sym typeface="Wingdings" panose="05000000000000000000" pitchFamily="2" charset="2"/>
              </a:rPr>
              <a:t>SkipGram</a:t>
            </a:r>
            <a:r>
              <a:rPr lang="en-GB" dirty="0">
                <a:sym typeface="Wingdings" panose="05000000000000000000" pitchFamily="2" charset="2"/>
              </a:rPr>
              <a:t> models somehow broke this idea.</a:t>
            </a:r>
            <a:br>
              <a:rPr lang="en-GB" dirty="0">
                <a:sym typeface="Wingdings" panose="05000000000000000000" pitchFamily="2" charset="2"/>
              </a:rPr>
            </a:br>
            <a:r>
              <a:rPr lang="en-GB" dirty="0">
                <a:sym typeface="Wingdings" panose="05000000000000000000" pitchFamily="2" charset="2"/>
              </a:rPr>
              <a:t>(But </a:t>
            </a:r>
            <a:r>
              <a:rPr lang="en-GB" dirty="0" err="1">
                <a:sym typeface="Wingdings" panose="05000000000000000000" pitchFamily="2" charset="2"/>
              </a:rPr>
              <a:t>SkipGram</a:t>
            </a:r>
            <a:r>
              <a:rPr lang="en-GB" dirty="0">
                <a:sym typeface="Wingdings" panose="05000000000000000000" pitchFamily="2" charset="2"/>
              </a:rPr>
              <a:t> was not doing so great anyway).</a:t>
            </a:r>
            <a:endParaRPr lang="en-SG" dirty="0"/>
          </a:p>
        </p:txBody>
      </p:sp>
    </p:spTree>
    <p:extLst>
      <p:ext uri="{BB962C8B-B14F-4D97-AF65-F5344CB8AC3E}">
        <p14:creationId xmlns:p14="http://schemas.microsoft.com/office/powerpoint/2010/main" val="1799997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632F8-8696-C279-0A35-60D556F597E0}"/>
              </a:ext>
            </a:extLst>
          </p:cNvPr>
          <p:cNvSpPr>
            <a:spLocks noGrp="1"/>
          </p:cNvSpPr>
          <p:nvPr>
            <p:ph type="title"/>
          </p:nvPr>
        </p:nvSpPr>
        <p:spPr/>
        <p:txBody>
          <a:bodyPr/>
          <a:lstStyle/>
          <a:p>
            <a:r>
              <a:rPr lang="en-GB" dirty="0"/>
              <a:t>What we have done so far</a:t>
            </a:r>
            <a:endParaRPr lang="en-SG" dirty="0"/>
          </a:p>
        </p:txBody>
      </p:sp>
      <p:sp>
        <p:nvSpPr>
          <p:cNvPr id="5" name="Content Placeholder 4">
            <a:extLst>
              <a:ext uri="{FF2B5EF4-FFF2-40B4-BE49-F238E27FC236}">
                <a16:creationId xmlns:a16="http://schemas.microsoft.com/office/drawing/2014/main" id="{8553B1CF-F1A0-0939-D0A4-48D1DA85BC60}"/>
              </a:ext>
            </a:extLst>
          </p:cNvPr>
          <p:cNvSpPr>
            <a:spLocks noGrp="1"/>
          </p:cNvSpPr>
          <p:nvPr>
            <p:ph idx="1"/>
          </p:nvPr>
        </p:nvSpPr>
        <p:spPr>
          <a:xfrm>
            <a:off x="838200" y="1825624"/>
            <a:ext cx="10515600" cy="5032375"/>
          </a:xfrm>
        </p:spPr>
        <p:txBody>
          <a:bodyPr/>
          <a:lstStyle/>
          <a:p>
            <a:pPr marL="0" indent="0">
              <a:buNone/>
            </a:pPr>
            <a:r>
              <a:rPr lang="en-GB" dirty="0"/>
              <a:t>All our models so far had something in common:</a:t>
            </a:r>
          </a:p>
          <a:p>
            <a:pPr marL="0" indent="0">
              <a:buNone/>
            </a:pPr>
            <a:endParaRPr lang="en-GB" dirty="0"/>
          </a:p>
          <a:p>
            <a:pPr algn="ctr">
              <a:buFont typeface="Wingdings" panose="05000000000000000000" pitchFamily="2" charset="2"/>
              <a:buChar char="à"/>
            </a:pPr>
            <a:r>
              <a:rPr lang="en-GB" b="1" dirty="0">
                <a:sym typeface="Wingdings" panose="05000000000000000000" pitchFamily="2" charset="2"/>
              </a:rPr>
              <a:t> The dimensionality of the inputs was always superior to the dimensionality of the outputs. </a:t>
            </a:r>
          </a:p>
          <a:p>
            <a:pPr algn="ctr">
              <a:buFont typeface="Wingdings" panose="05000000000000000000" pitchFamily="2" charset="2"/>
              <a:buChar char="à"/>
            </a:pPr>
            <a:endParaRPr lang="en-GB" b="1" dirty="0">
              <a:sym typeface="Wingdings" panose="05000000000000000000" pitchFamily="2" charset="2"/>
            </a:endParaRPr>
          </a:p>
          <a:p>
            <a:pPr marL="0" indent="0" algn="ctr">
              <a:buNone/>
            </a:pPr>
            <a:r>
              <a:rPr lang="en-GB" b="1" dirty="0">
                <a:solidFill>
                  <a:srgbClr val="C00000"/>
                </a:solidFill>
                <a:sym typeface="Wingdings" panose="05000000000000000000" pitchFamily="2" charset="2"/>
              </a:rPr>
              <a:t>Question:</a:t>
            </a:r>
          </a:p>
          <a:p>
            <a:pPr marL="0" indent="0" algn="ctr">
              <a:buNone/>
            </a:pPr>
            <a:r>
              <a:rPr lang="en-GB" b="1" dirty="0">
                <a:solidFill>
                  <a:srgbClr val="C00000"/>
                </a:solidFill>
                <a:sym typeface="Wingdings" panose="05000000000000000000" pitchFamily="2" charset="2"/>
              </a:rPr>
              <a:t> Does that mean it is impossible for Deep Learning models to have a higher dimensionality for outputs?</a:t>
            </a:r>
            <a:endParaRPr lang="en-SG" b="1" dirty="0">
              <a:solidFill>
                <a:srgbClr val="C00000"/>
              </a:solidFill>
            </a:endParaRPr>
          </a:p>
        </p:txBody>
      </p:sp>
    </p:spTree>
    <p:extLst>
      <p:ext uri="{BB962C8B-B14F-4D97-AF65-F5344CB8AC3E}">
        <p14:creationId xmlns:p14="http://schemas.microsoft.com/office/powerpoint/2010/main" val="2611815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a:t>
            </a:r>
            <a:r>
              <a:rPr lang="en-US"/>
              <a:t>Week 10)</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p:txBody>
          <a:bodyPr/>
          <a:lstStyle/>
          <a:p>
            <a:pPr marL="514350" indent="-514350">
              <a:buFont typeface="+mj-lt"/>
              <a:buAutoNum type="arabicPeriod"/>
            </a:pPr>
            <a:r>
              <a:rPr lang="en-US" dirty="0"/>
              <a:t>What are typical </a:t>
            </a:r>
            <a:r>
              <a:rPr lang="en-US" b="1" dirty="0"/>
              <a:t>generative</a:t>
            </a:r>
            <a:r>
              <a:rPr lang="en-US" dirty="0"/>
              <a:t> </a:t>
            </a:r>
            <a:r>
              <a:rPr lang="en-US" b="1" dirty="0"/>
              <a:t>models</a:t>
            </a:r>
            <a:r>
              <a:rPr lang="en-US" dirty="0"/>
              <a:t> in deep learning?</a:t>
            </a:r>
          </a:p>
          <a:p>
            <a:pPr marL="514350" indent="-514350">
              <a:buFont typeface="+mj-lt"/>
              <a:buAutoNum type="arabicPeriod"/>
            </a:pPr>
            <a:r>
              <a:rPr lang="en-US" dirty="0"/>
              <a:t>What is an </a:t>
            </a:r>
            <a:r>
              <a:rPr lang="en-US" b="1" dirty="0"/>
              <a:t>autoencoder</a:t>
            </a:r>
            <a:r>
              <a:rPr lang="en-US" dirty="0"/>
              <a:t> and what are its uses?</a:t>
            </a:r>
          </a:p>
          <a:p>
            <a:pPr marL="514350" indent="-514350">
              <a:buFont typeface="+mj-lt"/>
              <a:buAutoNum type="arabicPeriod"/>
            </a:pPr>
            <a:r>
              <a:rPr lang="en-GB" dirty="0"/>
              <a:t>What is a </a:t>
            </a:r>
            <a:r>
              <a:rPr lang="en-GB" b="1" dirty="0"/>
              <a:t>fractionally</a:t>
            </a:r>
            <a:r>
              <a:rPr lang="en-GB" dirty="0"/>
              <a:t> </a:t>
            </a:r>
            <a:r>
              <a:rPr lang="en-GB" b="1" dirty="0" err="1"/>
              <a:t>strided</a:t>
            </a:r>
            <a:r>
              <a:rPr lang="en-GB" dirty="0"/>
              <a:t> </a:t>
            </a:r>
            <a:r>
              <a:rPr lang="en-GB" b="1" dirty="0"/>
              <a:t>convolution</a:t>
            </a:r>
            <a:r>
              <a:rPr lang="en-GB" dirty="0"/>
              <a:t> </a:t>
            </a:r>
            <a:r>
              <a:rPr lang="en-GB" b="1" dirty="0"/>
              <a:t>layer</a:t>
            </a:r>
            <a:r>
              <a:rPr lang="en-GB" dirty="0"/>
              <a:t>?</a:t>
            </a:r>
          </a:p>
          <a:p>
            <a:pPr marL="514350" indent="-514350">
              <a:buFont typeface="+mj-lt"/>
              <a:buAutoNum type="arabicPeriod"/>
            </a:pPr>
            <a:r>
              <a:rPr lang="en-GB" dirty="0">
                <a:solidFill>
                  <a:schemeClr val="accent3"/>
                </a:solidFill>
              </a:rPr>
              <a:t>What are </a:t>
            </a:r>
            <a:r>
              <a:rPr lang="en-GB" b="1" dirty="0">
                <a:solidFill>
                  <a:schemeClr val="accent3"/>
                </a:solidFill>
              </a:rPr>
              <a:t>variational</a:t>
            </a:r>
            <a:r>
              <a:rPr lang="en-GB" dirty="0">
                <a:solidFill>
                  <a:schemeClr val="accent3"/>
                </a:solidFill>
              </a:rPr>
              <a:t> </a:t>
            </a:r>
            <a:r>
              <a:rPr lang="en-GB" b="1" dirty="0">
                <a:solidFill>
                  <a:schemeClr val="accent3"/>
                </a:solidFill>
              </a:rPr>
              <a:t>autoencoders</a:t>
            </a:r>
            <a:r>
              <a:rPr lang="en-GB" dirty="0">
                <a:solidFill>
                  <a:schemeClr val="accent3"/>
                </a:solidFill>
              </a:rPr>
              <a:t> and why do </a:t>
            </a:r>
            <a:r>
              <a:rPr lang="en-GB" b="1" dirty="0">
                <a:solidFill>
                  <a:schemeClr val="accent3"/>
                </a:solidFill>
              </a:rPr>
              <a:t>noise</a:t>
            </a:r>
            <a:r>
              <a:rPr lang="en-GB" dirty="0">
                <a:solidFill>
                  <a:schemeClr val="accent3"/>
                </a:solidFill>
              </a:rPr>
              <a:t> </a:t>
            </a:r>
            <a:r>
              <a:rPr lang="en-GB" b="1" dirty="0">
                <a:solidFill>
                  <a:schemeClr val="accent3"/>
                </a:solidFill>
              </a:rPr>
              <a:t>representations</a:t>
            </a:r>
            <a:r>
              <a:rPr lang="en-GB" dirty="0">
                <a:solidFill>
                  <a:schemeClr val="accent3"/>
                </a:solidFill>
              </a:rPr>
              <a:t> </a:t>
            </a:r>
            <a:r>
              <a:rPr lang="en-GB" b="1" dirty="0">
                <a:solidFill>
                  <a:schemeClr val="accent3"/>
                </a:solidFill>
              </a:rPr>
              <a:t>of</a:t>
            </a:r>
            <a:r>
              <a:rPr lang="en-GB" dirty="0">
                <a:solidFill>
                  <a:schemeClr val="accent3"/>
                </a:solidFill>
              </a:rPr>
              <a:t> </a:t>
            </a:r>
            <a:r>
              <a:rPr lang="en-GB" b="1" dirty="0">
                <a:solidFill>
                  <a:schemeClr val="accent3"/>
                </a:solidFill>
              </a:rPr>
              <a:t>latent</a:t>
            </a:r>
            <a:r>
              <a:rPr lang="en-GB" dirty="0">
                <a:solidFill>
                  <a:schemeClr val="accent3"/>
                </a:solidFill>
              </a:rPr>
              <a:t> </a:t>
            </a:r>
            <a:r>
              <a:rPr lang="en-GB" b="1" dirty="0">
                <a:solidFill>
                  <a:schemeClr val="accent3"/>
                </a:solidFill>
              </a:rPr>
              <a:t>features</a:t>
            </a:r>
            <a:r>
              <a:rPr lang="en-GB" dirty="0">
                <a:solidFill>
                  <a:schemeClr val="accent3"/>
                </a:solidFill>
              </a:rPr>
              <a:t> work better than the ones in standard autoencoders?</a:t>
            </a:r>
          </a:p>
          <a:p>
            <a:pPr marL="514350" indent="-514350">
              <a:buFont typeface="+mj-lt"/>
              <a:buAutoNum type="arabicPeriod"/>
            </a:pPr>
            <a:r>
              <a:rPr lang="en-GB" dirty="0">
                <a:solidFill>
                  <a:schemeClr val="accent3"/>
                </a:solidFill>
              </a:rPr>
              <a:t>What are </a:t>
            </a:r>
            <a:r>
              <a:rPr lang="en-GB" b="1" dirty="0">
                <a:solidFill>
                  <a:schemeClr val="accent3"/>
                </a:solidFill>
              </a:rPr>
              <a:t>Generative</a:t>
            </a:r>
            <a:r>
              <a:rPr lang="en-GB" dirty="0">
                <a:solidFill>
                  <a:schemeClr val="accent3"/>
                </a:solidFill>
              </a:rPr>
              <a:t> </a:t>
            </a:r>
            <a:r>
              <a:rPr lang="en-GB" b="1" dirty="0">
                <a:solidFill>
                  <a:schemeClr val="accent3"/>
                </a:solidFill>
              </a:rPr>
              <a:t>Adversarial</a:t>
            </a:r>
            <a:r>
              <a:rPr lang="en-GB" dirty="0">
                <a:solidFill>
                  <a:schemeClr val="accent3"/>
                </a:solidFill>
              </a:rPr>
              <a:t> </a:t>
            </a:r>
            <a:r>
              <a:rPr lang="en-GB" b="1" dirty="0">
                <a:solidFill>
                  <a:schemeClr val="accent3"/>
                </a:solidFill>
              </a:rPr>
              <a:t>Networks</a:t>
            </a:r>
            <a:r>
              <a:rPr lang="en-GB" dirty="0">
                <a:solidFill>
                  <a:schemeClr val="accent3"/>
                </a:solidFill>
              </a:rPr>
              <a:t> (</a:t>
            </a:r>
            <a:r>
              <a:rPr lang="en-GB" b="1" dirty="0">
                <a:solidFill>
                  <a:schemeClr val="accent3"/>
                </a:solidFill>
              </a:rPr>
              <a:t>GANs</a:t>
            </a:r>
            <a:r>
              <a:rPr lang="en-GB" dirty="0">
                <a:solidFill>
                  <a:schemeClr val="accent3"/>
                </a:solidFill>
              </a:rPr>
              <a:t>) and their uses?</a:t>
            </a:r>
          </a:p>
          <a:p>
            <a:pPr marL="514350" indent="-514350">
              <a:buFont typeface="+mj-lt"/>
              <a:buAutoNum type="arabicPeriod"/>
            </a:pPr>
            <a:r>
              <a:rPr lang="en-GB" dirty="0">
                <a:solidFill>
                  <a:schemeClr val="accent3"/>
                </a:solidFill>
              </a:rPr>
              <a:t>What are the </a:t>
            </a:r>
            <a:r>
              <a:rPr lang="en-GB" b="1" dirty="0">
                <a:solidFill>
                  <a:schemeClr val="accent3"/>
                </a:solidFill>
              </a:rPr>
              <a:t>advanced</a:t>
            </a:r>
            <a:r>
              <a:rPr lang="en-GB" dirty="0">
                <a:solidFill>
                  <a:schemeClr val="accent3"/>
                </a:solidFill>
              </a:rPr>
              <a:t> </a:t>
            </a:r>
            <a:r>
              <a:rPr lang="en-GB" b="1" dirty="0">
                <a:solidFill>
                  <a:schemeClr val="accent3"/>
                </a:solidFill>
              </a:rPr>
              <a:t>techniques</a:t>
            </a:r>
            <a:r>
              <a:rPr lang="en-GB" dirty="0">
                <a:solidFill>
                  <a:schemeClr val="accent3"/>
                </a:solidFill>
              </a:rPr>
              <a:t> in GANs and deepfakes?</a:t>
            </a:r>
          </a:p>
        </p:txBody>
      </p:sp>
    </p:spTree>
    <p:extLst>
      <p:ext uri="{BB962C8B-B14F-4D97-AF65-F5344CB8AC3E}">
        <p14:creationId xmlns:p14="http://schemas.microsoft.com/office/powerpoint/2010/main" val="2134775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2EFD1-C5FA-4040-ADB8-C1A60FA9FEE9}"/>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78053446-C600-4EAD-8161-EB9D925C5227}"/>
              </a:ext>
            </a:extLst>
          </p:cNvPr>
          <p:cNvSpPr>
            <a:spLocks noGrp="1"/>
          </p:cNvSpPr>
          <p:nvPr>
            <p:ph sz="half" idx="1"/>
          </p:nvPr>
        </p:nvSpPr>
        <p:spPr/>
        <p:txBody>
          <a:bodyPr>
            <a:normAutofit/>
          </a:bodyPr>
          <a:lstStyle/>
          <a:p>
            <a:pPr marL="0" indent="0">
              <a:buNone/>
            </a:pPr>
            <a:r>
              <a:rPr lang="en-US" dirty="0"/>
              <a:t>In this lecture</a:t>
            </a:r>
          </a:p>
          <a:p>
            <a:r>
              <a:rPr lang="en-US" dirty="0"/>
              <a:t>Autoencoders definition</a:t>
            </a:r>
          </a:p>
          <a:p>
            <a:r>
              <a:rPr lang="en-US" dirty="0"/>
              <a:t>Autoencoders with fully connected layers</a:t>
            </a:r>
          </a:p>
          <a:p>
            <a:r>
              <a:rPr lang="en-US" dirty="0"/>
              <a:t>Fractionally </a:t>
            </a:r>
            <a:r>
              <a:rPr lang="en-US" dirty="0" err="1"/>
              <a:t>strided</a:t>
            </a:r>
            <a:r>
              <a:rPr lang="en-US" dirty="0"/>
              <a:t> convolution layers</a:t>
            </a:r>
          </a:p>
          <a:p>
            <a:r>
              <a:rPr lang="en-US" dirty="0"/>
              <a:t>Autoencoders with convolutions and deconvolutions</a:t>
            </a:r>
          </a:p>
          <a:p>
            <a:r>
              <a:rPr lang="en-US" dirty="0"/>
              <a:t>Autoencoder uses</a:t>
            </a:r>
          </a:p>
        </p:txBody>
      </p:sp>
      <p:sp>
        <p:nvSpPr>
          <p:cNvPr id="4" name="Content Placeholder 3">
            <a:extLst>
              <a:ext uri="{FF2B5EF4-FFF2-40B4-BE49-F238E27FC236}">
                <a16:creationId xmlns:a16="http://schemas.microsoft.com/office/drawing/2014/main" id="{2F691806-2364-43BE-8739-E73493C0FDB0}"/>
              </a:ext>
            </a:extLst>
          </p:cNvPr>
          <p:cNvSpPr>
            <a:spLocks noGrp="1"/>
          </p:cNvSpPr>
          <p:nvPr>
            <p:ph sz="half" idx="2"/>
          </p:nvPr>
        </p:nvSpPr>
        <p:spPr>
          <a:xfrm>
            <a:off x="6172200" y="1825625"/>
            <a:ext cx="5181600" cy="4895606"/>
          </a:xfrm>
        </p:spPr>
        <p:txBody>
          <a:bodyPr>
            <a:normAutofit/>
          </a:bodyPr>
          <a:lstStyle/>
          <a:p>
            <a:pPr marL="0" indent="0">
              <a:buNone/>
            </a:pPr>
            <a:r>
              <a:rPr lang="en-US" dirty="0"/>
              <a:t>In the next lectures</a:t>
            </a:r>
          </a:p>
          <a:p>
            <a:r>
              <a:rPr lang="en-US" dirty="0"/>
              <a:t>Variational Autoencoder and noisy latent representations</a:t>
            </a:r>
          </a:p>
          <a:p>
            <a:r>
              <a:rPr lang="en-US" dirty="0"/>
              <a:t>Generative Adversarial Networks</a:t>
            </a:r>
          </a:p>
          <a:p>
            <a:r>
              <a:rPr lang="en-US" dirty="0"/>
              <a:t>More advanced GANs</a:t>
            </a:r>
          </a:p>
          <a:p>
            <a:endParaRPr lang="en-US" dirty="0"/>
          </a:p>
        </p:txBody>
      </p:sp>
    </p:spTree>
    <p:extLst>
      <p:ext uri="{BB962C8B-B14F-4D97-AF65-F5344CB8AC3E}">
        <p14:creationId xmlns:p14="http://schemas.microsoft.com/office/powerpoint/2010/main" val="2877994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C0CF6-DAD3-4561-A07E-40F625238CDA}"/>
              </a:ext>
            </a:extLst>
          </p:cNvPr>
          <p:cNvSpPr>
            <a:spLocks noGrp="1"/>
          </p:cNvSpPr>
          <p:nvPr>
            <p:ph type="title"/>
          </p:nvPr>
        </p:nvSpPr>
        <p:spPr/>
        <p:txBody>
          <a:bodyPr/>
          <a:lstStyle/>
          <a:p>
            <a:r>
              <a:rPr lang="en-US" dirty="0" err="1"/>
              <a:t>AutoEncoders</a:t>
            </a:r>
            <a:r>
              <a:rPr lang="en-US" dirty="0"/>
              <a:t>: a definition</a:t>
            </a:r>
            <a:endParaRPr lang="en-GB" dirty="0"/>
          </a:p>
        </p:txBody>
      </p:sp>
      <p:sp>
        <p:nvSpPr>
          <p:cNvPr id="3" name="Content Placeholder 2">
            <a:extLst>
              <a:ext uri="{FF2B5EF4-FFF2-40B4-BE49-F238E27FC236}">
                <a16:creationId xmlns:a16="http://schemas.microsoft.com/office/drawing/2014/main" id="{665EA97C-6E45-450C-85D1-8C371F99A46E}"/>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a:t>
            </a:r>
            <a:r>
              <a:rPr lang="en-US" b="1" dirty="0" err="1">
                <a:solidFill>
                  <a:srgbClr val="00B050"/>
                </a:solidFill>
              </a:rPr>
              <a:t>AutoEncoder</a:t>
            </a:r>
            <a:r>
              <a:rPr lang="en-US" b="1" dirty="0"/>
              <a:t>):</a:t>
            </a:r>
          </a:p>
          <a:p>
            <a:pPr marL="0" indent="0">
              <a:buNone/>
            </a:pPr>
            <a:r>
              <a:rPr lang="en-US" dirty="0"/>
              <a:t>An </a:t>
            </a:r>
            <a:r>
              <a:rPr lang="en-US" b="1" dirty="0" err="1">
                <a:solidFill>
                  <a:srgbClr val="00B050"/>
                </a:solidFill>
              </a:rPr>
              <a:t>AutoEncoder</a:t>
            </a:r>
            <a:r>
              <a:rPr lang="en-US" dirty="0"/>
              <a:t> is a neural network that learns to </a:t>
            </a:r>
            <a:r>
              <a:rPr lang="en-US" b="1" dirty="0"/>
              <a:t>copy its input to its output</a:t>
            </a:r>
            <a:r>
              <a:rPr lang="en-US" dirty="0"/>
              <a:t>. Basically, it attempts to approximate the identity function.</a:t>
            </a:r>
          </a:p>
        </p:txBody>
      </p:sp>
      <p:pic>
        <p:nvPicPr>
          <p:cNvPr id="4" name="Picture 3">
            <a:extLst>
              <a:ext uri="{FF2B5EF4-FFF2-40B4-BE49-F238E27FC236}">
                <a16:creationId xmlns:a16="http://schemas.microsoft.com/office/drawing/2014/main" id="{AFD8EF32-7DCD-4416-9072-650810DAC7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2" y="2654384"/>
            <a:ext cx="6019798" cy="2225526"/>
          </a:xfrm>
          <a:prstGeom prst="rect">
            <a:avLst/>
          </a:prstGeom>
        </p:spPr>
      </p:pic>
    </p:spTree>
    <p:extLst>
      <p:ext uri="{BB962C8B-B14F-4D97-AF65-F5344CB8AC3E}">
        <p14:creationId xmlns:p14="http://schemas.microsoft.com/office/powerpoint/2010/main" val="6041761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E7A3A-2072-4C05-A072-951FC96E1BCA}"/>
              </a:ext>
            </a:extLst>
          </p:cNvPr>
          <p:cNvSpPr>
            <a:spLocks noGrp="1"/>
          </p:cNvSpPr>
          <p:nvPr>
            <p:ph type="title"/>
          </p:nvPr>
        </p:nvSpPr>
        <p:spPr/>
        <p:txBody>
          <a:bodyPr/>
          <a:lstStyle/>
          <a:p>
            <a:r>
              <a:rPr lang="en-US" dirty="0" err="1"/>
              <a:t>AutoEncoders</a:t>
            </a:r>
            <a:r>
              <a:rPr lang="en-US" dirty="0"/>
              <a:t>: a definition</a:t>
            </a:r>
            <a:endParaRPr lang="en-GB" dirty="0"/>
          </a:p>
        </p:txBody>
      </p:sp>
      <p:pic>
        <p:nvPicPr>
          <p:cNvPr id="5" name="Picture 4">
            <a:extLst>
              <a:ext uri="{FF2B5EF4-FFF2-40B4-BE49-F238E27FC236}">
                <a16:creationId xmlns:a16="http://schemas.microsoft.com/office/drawing/2014/main" id="{9B7D70E5-4405-4C45-97AC-F2FEC231BE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982" y="1950097"/>
            <a:ext cx="11861984" cy="4385389"/>
          </a:xfrm>
          <a:prstGeom prst="rect">
            <a:avLst/>
          </a:prstGeom>
        </p:spPr>
      </p:pic>
    </p:spTree>
    <p:extLst>
      <p:ext uri="{BB962C8B-B14F-4D97-AF65-F5344CB8AC3E}">
        <p14:creationId xmlns:p14="http://schemas.microsoft.com/office/powerpoint/2010/main" val="13215231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C0CF6-DAD3-4561-A07E-40F625238CDA}"/>
              </a:ext>
            </a:extLst>
          </p:cNvPr>
          <p:cNvSpPr>
            <a:spLocks noGrp="1"/>
          </p:cNvSpPr>
          <p:nvPr>
            <p:ph type="title"/>
          </p:nvPr>
        </p:nvSpPr>
        <p:spPr/>
        <p:txBody>
          <a:bodyPr/>
          <a:lstStyle/>
          <a:p>
            <a:r>
              <a:rPr lang="en-US" dirty="0" err="1"/>
              <a:t>AutoEncoders</a:t>
            </a:r>
            <a:r>
              <a:rPr lang="en-US" dirty="0"/>
              <a:t>: a definition</a:t>
            </a:r>
            <a:endParaRPr lang="en-GB" dirty="0"/>
          </a:p>
        </p:txBody>
      </p:sp>
      <p:sp>
        <p:nvSpPr>
          <p:cNvPr id="3" name="Content Placeholder 2">
            <a:extLst>
              <a:ext uri="{FF2B5EF4-FFF2-40B4-BE49-F238E27FC236}">
                <a16:creationId xmlns:a16="http://schemas.microsoft.com/office/drawing/2014/main" id="{665EA97C-6E45-450C-85D1-8C371F99A46E}"/>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a:t>
            </a:r>
            <a:r>
              <a:rPr lang="en-US" b="1" dirty="0" err="1">
                <a:solidFill>
                  <a:srgbClr val="00B050"/>
                </a:solidFill>
              </a:rPr>
              <a:t>AutoEncoder</a:t>
            </a:r>
            <a:r>
              <a:rPr lang="en-US" b="1" dirty="0"/>
              <a:t>):</a:t>
            </a:r>
          </a:p>
          <a:p>
            <a:pPr marL="0" indent="0">
              <a:buNone/>
            </a:pPr>
            <a:r>
              <a:rPr lang="en-US" dirty="0"/>
              <a:t>An </a:t>
            </a:r>
            <a:r>
              <a:rPr lang="en-US" b="1" dirty="0" err="1">
                <a:solidFill>
                  <a:srgbClr val="00B050"/>
                </a:solidFill>
              </a:rPr>
              <a:t>AutoEncoder</a:t>
            </a:r>
            <a:r>
              <a:rPr lang="en-US" dirty="0"/>
              <a:t> is a neural network that learns to </a:t>
            </a:r>
            <a:r>
              <a:rPr lang="en-US" b="1" dirty="0"/>
              <a:t>copy its input to its output</a:t>
            </a:r>
            <a:r>
              <a:rPr lang="en-US" dirty="0"/>
              <a:t>. Basically, it attempts to approximate the identity function.</a:t>
            </a:r>
          </a:p>
          <a:p>
            <a:pPr marL="0" indent="0">
              <a:buNone/>
            </a:pPr>
            <a:r>
              <a:rPr lang="en-US" dirty="0"/>
              <a:t>It has an internal (hidden) layer that describes a code used to represent the input, and is called the </a:t>
            </a:r>
            <a:r>
              <a:rPr lang="en-US" b="1" dirty="0"/>
              <a:t>feature representation </a:t>
            </a:r>
            <a:r>
              <a:rPr lang="en-US" dirty="0"/>
              <a:t>or </a:t>
            </a:r>
            <a:r>
              <a:rPr lang="en-US" b="1" dirty="0"/>
              <a:t>latent representation of the input</a:t>
            </a:r>
            <a:r>
              <a:rPr lang="en-US" dirty="0"/>
              <a:t>.</a:t>
            </a:r>
          </a:p>
        </p:txBody>
      </p:sp>
      <p:pic>
        <p:nvPicPr>
          <p:cNvPr id="4" name="Picture 3">
            <a:extLst>
              <a:ext uri="{FF2B5EF4-FFF2-40B4-BE49-F238E27FC236}">
                <a16:creationId xmlns:a16="http://schemas.microsoft.com/office/drawing/2014/main" id="{B983A4ED-05BE-652E-6E77-08667E9247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2" y="2654384"/>
            <a:ext cx="6019798" cy="2225526"/>
          </a:xfrm>
          <a:prstGeom prst="rect">
            <a:avLst/>
          </a:prstGeom>
        </p:spPr>
      </p:pic>
    </p:spTree>
    <p:extLst>
      <p:ext uri="{BB962C8B-B14F-4D97-AF65-F5344CB8AC3E}">
        <p14:creationId xmlns:p14="http://schemas.microsoft.com/office/powerpoint/2010/main" val="4291187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C0CF6-DAD3-4561-A07E-40F625238CDA}"/>
              </a:ext>
            </a:extLst>
          </p:cNvPr>
          <p:cNvSpPr>
            <a:spLocks noGrp="1"/>
          </p:cNvSpPr>
          <p:nvPr>
            <p:ph type="title"/>
          </p:nvPr>
        </p:nvSpPr>
        <p:spPr/>
        <p:txBody>
          <a:bodyPr/>
          <a:lstStyle/>
          <a:p>
            <a:r>
              <a:rPr lang="en-US" dirty="0" err="1"/>
              <a:t>AutoEncoders</a:t>
            </a:r>
            <a:r>
              <a:rPr lang="en-US" dirty="0"/>
              <a:t>: a definition</a:t>
            </a:r>
            <a:endParaRPr lang="en-GB" dirty="0"/>
          </a:p>
        </p:txBody>
      </p:sp>
      <p:sp>
        <p:nvSpPr>
          <p:cNvPr id="3" name="Content Placeholder 2">
            <a:extLst>
              <a:ext uri="{FF2B5EF4-FFF2-40B4-BE49-F238E27FC236}">
                <a16:creationId xmlns:a16="http://schemas.microsoft.com/office/drawing/2014/main" id="{665EA97C-6E45-450C-85D1-8C371F99A46E}"/>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a:t>
            </a:r>
            <a:r>
              <a:rPr lang="en-US" b="1" dirty="0" err="1">
                <a:solidFill>
                  <a:srgbClr val="00B050"/>
                </a:solidFill>
              </a:rPr>
              <a:t>AutoEncoder</a:t>
            </a:r>
            <a:r>
              <a:rPr lang="en-US" b="1" dirty="0"/>
              <a:t>):</a:t>
            </a:r>
          </a:p>
          <a:p>
            <a:pPr marL="0" indent="0">
              <a:buNone/>
            </a:pPr>
            <a:r>
              <a:rPr lang="en-US" dirty="0"/>
              <a:t>An </a:t>
            </a:r>
            <a:r>
              <a:rPr lang="en-US" b="1" dirty="0" err="1">
                <a:solidFill>
                  <a:srgbClr val="00B050"/>
                </a:solidFill>
              </a:rPr>
              <a:t>AutoEncoder</a:t>
            </a:r>
            <a:r>
              <a:rPr lang="en-US" dirty="0"/>
              <a:t> is a neural network that learns to </a:t>
            </a:r>
            <a:r>
              <a:rPr lang="en-US" b="1" dirty="0"/>
              <a:t>copy its input to its output</a:t>
            </a:r>
            <a:r>
              <a:rPr lang="en-US" dirty="0"/>
              <a:t>.</a:t>
            </a:r>
          </a:p>
          <a:p>
            <a:pPr marL="0" indent="0">
              <a:buNone/>
            </a:pPr>
            <a:r>
              <a:rPr lang="en-US" dirty="0"/>
              <a:t>It is constituted of two main parts:</a:t>
            </a:r>
          </a:p>
          <a:p>
            <a:r>
              <a:rPr lang="en-US" dirty="0"/>
              <a:t>an </a:t>
            </a:r>
            <a:r>
              <a:rPr lang="en-US" b="1" dirty="0"/>
              <a:t>encoder</a:t>
            </a:r>
            <a:r>
              <a:rPr lang="en-US" dirty="0"/>
              <a:t> that maps the input into the code,</a:t>
            </a:r>
          </a:p>
          <a:p>
            <a:r>
              <a:rPr lang="en-US" dirty="0"/>
              <a:t>and a </a:t>
            </a:r>
            <a:r>
              <a:rPr lang="en-US" b="1" dirty="0"/>
              <a:t>decoder</a:t>
            </a:r>
            <a:r>
              <a:rPr lang="en-US" dirty="0"/>
              <a:t> that maps the code to a reconstruction of the input.</a:t>
            </a:r>
          </a:p>
        </p:txBody>
      </p:sp>
      <p:pic>
        <p:nvPicPr>
          <p:cNvPr id="4" name="Picture 3">
            <a:extLst>
              <a:ext uri="{FF2B5EF4-FFF2-40B4-BE49-F238E27FC236}">
                <a16:creationId xmlns:a16="http://schemas.microsoft.com/office/drawing/2014/main" id="{5B213169-D3FF-278C-5852-30360A009F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2" y="2654384"/>
            <a:ext cx="6019798" cy="2225526"/>
          </a:xfrm>
          <a:prstGeom prst="rect">
            <a:avLst/>
          </a:prstGeom>
        </p:spPr>
      </p:pic>
    </p:spTree>
    <p:extLst>
      <p:ext uri="{BB962C8B-B14F-4D97-AF65-F5344CB8AC3E}">
        <p14:creationId xmlns:p14="http://schemas.microsoft.com/office/powerpoint/2010/main" val="397851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C0CF6-DAD3-4561-A07E-40F625238CDA}"/>
              </a:ext>
            </a:extLst>
          </p:cNvPr>
          <p:cNvSpPr>
            <a:spLocks noGrp="1"/>
          </p:cNvSpPr>
          <p:nvPr>
            <p:ph type="title"/>
          </p:nvPr>
        </p:nvSpPr>
        <p:spPr/>
        <p:txBody>
          <a:bodyPr/>
          <a:lstStyle/>
          <a:p>
            <a:r>
              <a:rPr lang="en-US" dirty="0" err="1"/>
              <a:t>AutoEncoders</a:t>
            </a:r>
            <a:r>
              <a:rPr lang="en-US" dirty="0"/>
              <a:t>: a definition</a:t>
            </a:r>
            <a:endParaRPr lang="en-GB" dirty="0"/>
          </a:p>
        </p:txBody>
      </p:sp>
      <p:sp>
        <p:nvSpPr>
          <p:cNvPr id="3" name="Content Placeholder 2">
            <a:extLst>
              <a:ext uri="{FF2B5EF4-FFF2-40B4-BE49-F238E27FC236}">
                <a16:creationId xmlns:a16="http://schemas.microsoft.com/office/drawing/2014/main" id="{665EA97C-6E45-450C-85D1-8C371F99A46E}"/>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a:t>
            </a:r>
            <a:r>
              <a:rPr lang="en-US" b="1" dirty="0" err="1">
                <a:solidFill>
                  <a:srgbClr val="00B050"/>
                </a:solidFill>
              </a:rPr>
              <a:t>AutoEncoder</a:t>
            </a:r>
            <a:r>
              <a:rPr lang="en-US" b="1" dirty="0"/>
              <a:t>):</a:t>
            </a:r>
          </a:p>
          <a:p>
            <a:pPr marL="0" indent="0">
              <a:buNone/>
            </a:pPr>
            <a:r>
              <a:rPr lang="en-US" b="1" dirty="0">
                <a:solidFill>
                  <a:srgbClr val="00B050"/>
                </a:solidFill>
              </a:rPr>
              <a:t>Autoencoders</a:t>
            </a:r>
            <a:r>
              <a:rPr lang="en-US" dirty="0"/>
              <a:t> are usually restricted in their </a:t>
            </a:r>
            <a:r>
              <a:rPr lang="en-US" b="1" dirty="0"/>
              <a:t>latent representation dimensionality</a:t>
            </a:r>
            <a:r>
              <a:rPr lang="en-US" dirty="0"/>
              <a:t>.</a:t>
            </a:r>
          </a:p>
          <a:p>
            <a:pPr marL="0" indent="0">
              <a:buNone/>
            </a:pPr>
            <a:r>
              <a:rPr lang="en-US" dirty="0"/>
              <a:t>This forces them to reconstruct the input approximately, </a:t>
            </a:r>
            <a:r>
              <a:rPr lang="en-US" b="1" dirty="0"/>
              <a:t>preserving only the most relevant aspects of the data in the copy</a:t>
            </a:r>
            <a:r>
              <a:rPr lang="en-US" dirty="0"/>
              <a:t>. </a:t>
            </a:r>
          </a:p>
        </p:txBody>
      </p:sp>
      <p:pic>
        <p:nvPicPr>
          <p:cNvPr id="4" name="Picture 3">
            <a:extLst>
              <a:ext uri="{FF2B5EF4-FFF2-40B4-BE49-F238E27FC236}">
                <a16:creationId xmlns:a16="http://schemas.microsoft.com/office/drawing/2014/main" id="{61BB84BA-5776-DA77-2B03-48BC756F4F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2" y="2654384"/>
            <a:ext cx="6019798" cy="2225526"/>
          </a:xfrm>
          <a:prstGeom prst="rect">
            <a:avLst/>
          </a:prstGeom>
        </p:spPr>
      </p:pic>
    </p:spTree>
    <p:extLst>
      <p:ext uri="{BB962C8B-B14F-4D97-AF65-F5344CB8AC3E}">
        <p14:creationId xmlns:p14="http://schemas.microsoft.com/office/powerpoint/2010/main" val="3170898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A2A2F-98D2-43C7-800D-A0D76373FD41}"/>
              </a:ext>
            </a:extLst>
          </p:cNvPr>
          <p:cNvSpPr>
            <a:spLocks noGrp="1"/>
          </p:cNvSpPr>
          <p:nvPr>
            <p:ph type="title"/>
          </p:nvPr>
        </p:nvSpPr>
        <p:spPr/>
        <p:txBody>
          <a:bodyPr/>
          <a:lstStyle/>
          <a:p>
            <a:r>
              <a:rPr lang="en-US" dirty="0" err="1"/>
              <a:t>AutoEncoders</a:t>
            </a:r>
            <a:r>
              <a:rPr lang="en-US" dirty="0"/>
              <a:t>: a definition</a:t>
            </a:r>
            <a:endParaRPr lang="en-GB" dirty="0"/>
          </a:p>
        </p:txBody>
      </p:sp>
      <p:sp>
        <p:nvSpPr>
          <p:cNvPr id="3" name="Content Placeholder 2">
            <a:extLst>
              <a:ext uri="{FF2B5EF4-FFF2-40B4-BE49-F238E27FC236}">
                <a16:creationId xmlns:a16="http://schemas.microsoft.com/office/drawing/2014/main" id="{9452C33E-6CD8-404B-B11D-C4C6A75E931C}"/>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a:t>
            </a:r>
            <a:r>
              <a:rPr lang="en-US" b="1" dirty="0" err="1">
                <a:solidFill>
                  <a:srgbClr val="00B050"/>
                </a:solidFill>
              </a:rPr>
              <a:t>AutoEncoder</a:t>
            </a:r>
            <a:r>
              <a:rPr lang="en-US" b="1" dirty="0"/>
              <a:t>):</a:t>
            </a:r>
          </a:p>
          <a:p>
            <a:pPr marL="0" indent="0">
              <a:buNone/>
            </a:pPr>
            <a:r>
              <a:rPr lang="en-US" b="1" dirty="0" err="1">
                <a:solidFill>
                  <a:srgbClr val="00B050"/>
                </a:solidFill>
              </a:rPr>
              <a:t>AutoEncoders</a:t>
            </a:r>
            <a:r>
              <a:rPr lang="en-US" dirty="0"/>
              <a:t> are (un)supervised artificial neural networks, which</a:t>
            </a:r>
          </a:p>
          <a:p>
            <a:r>
              <a:rPr lang="en-US" dirty="0"/>
              <a:t>learn how to efficiently compress and encode data,</a:t>
            </a:r>
          </a:p>
          <a:p>
            <a:r>
              <a:rPr lang="en-US" dirty="0"/>
              <a:t>and then learns how to reconstruct the data back from the reduced encoded representation to a representation that is as close to the original input as possible.</a:t>
            </a:r>
          </a:p>
          <a:p>
            <a:endParaRPr lang="en-GB" dirty="0"/>
          </a:p>
        </p:txBody>
      </p:sp>
      <p:pic>
        <p:nvPicPr>
          <p:cNvPr id="4" name="Picture 3">
            <a:extLst>
              <a:ext uri="{FF2B5EF4-FFF2-40B4-BE49-F238E27FC236}">
                <a16:creationId xmlns:a16="http://schemas.microsoft.com/office/drawing/2014/main" id="{49A75956-E918-D9DB-1099-2015020DA1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2" y="2654384"/>
            <a:ext cx="6019798" cy="2225526"/>
          </a:xfrm>
          <a:prstGeom prst="rect">
            <a:avLst/>
          </a:prstGeom>
        </p:spPr>
      </p:pic>
    </p:spTree>
    <p:extLst>
      <p:ext uri="{BB962C8B-B14F-4D97-AF65-F5344CB8AC3E}">
        <p14:creationId xmlns:p14="http://schemas.microsoft.com/office/powerpoint/2010/main" val="3024525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B0AC9-925F-442D-AA8E-0105E73A68F2}"/>
              </a:ext>
            </a:extLst>
          </p:cNvPr>
          <p:cNvSpPr>
            <a:spLocks noGrp="1"/>
          </p:cNvSpPr>
          <p:nvPr>
            <p:ph type="title"/>
          </p:nvPr>
        </p:nvSpPr>
        <p:spPr/>
        <p:txBody>
          <a:bodyPr/>
          <a:lstStyle/>
          <a:p>
            <a:r>
              <a:rPr lang="en-US" dirty="0" err="1"/>
              <a:t>AutoEncoders</a:t>
            </a:r>
            <a:r>
              <a:rPr lang="en-US" dirty="0"/>
              <a:t> structure</a:t>
            </a:r>
            <a:endParaRPr lang="en-GB" dirty="0"/>
          </a:p>
        </p:txBody>
      </p:sp>
      <p:sp>
        <p:nvSpPr>
          <p:cNvPr id="3" name="Content Placeholder 2">
            <a:extLst>
              <a:ext uri="{FF2B5EF4-FFF2-40B4-BE49-F238E27FC236}">
                <a16:creationId xmlns:a16="http://schemas.microsoft.com/office/drawing/2014/main" id="{A1EDB40D-1A6B-47B6-8CFB-2328012AE457}"/>
              </a:ext>
            </a:extLst>
          </p:cNvPr>
          <p:cNvSpPr>
            <a:spLocks noGrp="1"/>
          </p:cNvSpPr>
          <p:nvPr>
            <p:ph sz="half" idx="1"/>
          </p:nvPr>
        </p:nvSpPr>
        <p:spPr>
          <a:xfrm>
            <a:off x="838200" y="1825624"/>
            <a:ext cx="5181600" cy="5032375"/>
          </a:xfrm>
        </p:spPr>
        <p:txBody>
          <a:bodyPr>
            <a:normAutofit/>
          </a:bodyPr>
          <a:lstStyle/>
          <a:p>
            <a:pPr marL="0" indent="0">
              <a:buNone/>
            </a:pPr>
            <a:r>
              <a:rPr lang="en-US" dirty="0"/>
              <a:t>Autoencoders consists of 4 main parts, to be discussed in the next few slides:</a:t>
            </a:r>
          </a:p>
          <a:p>
            <a:pPr marL="514350" indent="-514350">
              <a:buFont typeface="+mj-lt"/>
              <a:buAutoNum type="arabicPeriod"/>
            </a:pPr>
            <a:r>
              <a:rPr lang="en-US" b="1" dirty="0"/>
              <a:t>Encoder</a:t>
            </a:r>
          </a:p>
          <a:p>
            <a:pPr marL="514350" indent="-514350">
              <a:buFont typeface="+mj-lt"/>
              <a:buAutoNum type="arabicPeriod"/>
            </a:pPr>
            <a:r>
              <a:rPr lang="en-US" b="1" dirty="0"/>
              <a:t>Bottleneck</a:t>
            </a:r>
          </a:p>
          <a:p>
            <a:pPr marL="514350" indent="-514350">
              <a:buFont typeface="+mj-lt"/>
              <a:buAutoNum type="arabicPeriod"/>
            </a:pPr>
            <a:r>
              <a:rPr lang="en-US" b="1" dirty="0"/>
              <a:t>Decoder</a:t>
            </a:r>
          </a:p>
          <a:p>
            <a:pPr marL="514350" indent="-514350">
              <a:buFont typeface="+mj-lt"/>
              <a:buAutoNum type="arabicPeriod"/>
            </a:pPr>
            <a:r>
              <a:rPr lang="en-US" b="1" dirty="0"/>
              <a:t>Reconstruction</a:t>
            </a:r>
            <a:r>
              <a:rPr lang="en-US" dirty="0"/>
              <a:t> </a:t>
            </a:r>
            <a:r>
              <a:rPr lang="en-US" b="1" dirty="0"/>
              <a:t>Loss</a:t>
            </a:r>
            <a:endParaRPr lang="en-US" dirty="0"/>
          </a:p>
          <a:p>
            <a:endParaRPr lang="en-GB" dirty="0"/>
          </a:p>
        </p:txBody>
      </p:sp>
      <p:pic>
        <p:nvPicPr>
          <p:cNvPr id="4" name="Picture 3">
            <a:extLst>
              <a:ext uri="{FF2B5EF4-FFF2-40B4-BE49-F238E27FC236}">
                <a16:creationId xmlns:a16="http://schemas.microsoft.com/office/drawing/2014/main" id="{63B01BB8-1D79-75E0-E69B-EDABB0428D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2" y="2654384"/>
            <a:ext cx="6019798" cy="2225526"/>
          </a:xfrm>
          <a:prstGeom prst="rect">
            <a:avLst/>
          </a:prstGeom>
        </p:spPr>
      </p:pic>
    </p:spTree>
    <p:extLst>
      <p:ext uri="{BB962C8B-B14F-4D97-AF65-F5344CB8AC3E}">
        <p14:creationId xmlns:p14="http://schemas.microsoft.com/office/powerpoint/2010/main" val="1748926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B0AC9-925F-442D-AA8E-0105E73A68F2}"/>
              </a:ext>
            </a:extLst>
          </p:cNvPr>
          <p:cNvSpPr>
            <a:spLocks noGrp="1"/>
          </p:cNvSpPr>
          <p:nvPr>
            <p:ph type="title"/>
          </p:nvPr>
        </p:nvSpPr>
        <p:spPr/>
        <p:txBody>
          <a:bodyPr/>
          <a:lstStyle/>
          <a:p>
            <a:r>
              <a:rPr lang="en-US" dirty="0" err="1"/>
              <a:t>AutoEncoders</a:t>
            </a:r>
            <a:r>
              <a:rPr lang="en-US" dirty="0"/>
              <a:t> structure</a:t>
            </a:r>
            <a:endParaRPr lang="en-GB" dirty="0"/>
          </a:p>
        </p:txBody>
      </p:sp>
      <p:sp>
        <p:nvSpPr>
          <p:cNvPr id="3" name="Content Placeholder 2">
            <a:extLst>
              <a:ext uri="{FF2B5EF4-FFF2-40B4-BE49-F238E27FC236}">
                <a16:creationId xmlns:a16="http://schemas.microsoft.com/office/drawing/2014/main" id="{A1EDB40D-1A6B-47B6-8CFB-2328012AE457}"/>
              </a:ext>
            </a:extLst>
          </p:cNvPr>
          <p:cNvSpPr>
            <a:spLocks noGrp="1"/>
          </p:cNvSpPr>
          <p:nvPr>
            <p:ph sz="half" idx="1"/>
          </p:nvPr>
        </p:nvSpPr>
        <p:spPr>
          <a:xfrm>
            <a:off x="838200" y="1825624"/>
            <a:ext cx="5181600" cy="5032375"/>
          </a:xfrm>
        </p:spPr>
        <p:txBody>
          <a:bodyPr>
            <a:normAutofit/>
          </a:bodyPr>
          <a:lstStyle/>
          <a:p>
            <a:pPr marL="514350" indent="-514350">
              <a:buFont typeface="+mj-lt"/>
              <a:buAutoNum type="arabicPeriod"/>
            </a:pPr>
            <a:r>
              <a:rPr lang="en-US" b="1" dirty="0"/>
              <a:t>Encoder</a:t>
            </a:r>
            <a:r>
              <a:rPr lang="en-US" dirty="0"/>
              <a:t>: In which the model learns how to reduce the input dimensions and compress the input data into an encoded representation.</a:t>
            </a:r>
            <a:br>
              <a:rPr lang="en-US" dirty="0"/>
            </a:br>
            <a:br>
              <a:rPr lang="en-US" dirty="0"/>
            </a:br>
            <a:r>
              <a:rPr lang="en-US" dirty="0"/>
              <a:t>An encoder will, for instance, consist of </a:t>
            </a:r>
            <a:r>
              <a:rPr lang="en-US" b="1" dirty="0"/>
              <a:t>successive fully connected layers, decreasing in size.</a:t>
            </a:r>
          </a:p>
        </p:txBody>
      </p:sp>
      <p:pic>
        <p:nvPicPr>
          <p:cNvPr id="5" name="Picture 4">
            <a:extLst>
              <a:ext uri="{FF2B5EF4-FFF2-40B4-BE49-F238E27FC236}">
                <a16:creationId xmlns:a16="http://schemas.microsoft.com/office/drawing/2014/main" id="{32804533-B053-40E9-9C25-54A5EB85B30C}"/>
              </a:ext>
            </a:extLst>
          </p:cNvPr>
          <p:cNvPicPr>
            <a:picLocks noChangeAspect="1"/>
          </p:cNvPicPr>
          <p:nvPr/>
        </p:nvPicPr>
        <p:blipFill rotWithShape="1">
          <a:blip r:embed="rId2">
            <a:extLst>
              <a:ext uri="{28A0092B-C50C-407E-A947-70E740481C1C}">
                <a14:useLocalDpi xmlns:a14="http://schemas.microsoft.com/office/drawing/2010/main" val="0"/>
              </a:ext>
            </a:extLst>
          </a:blip>
          <a:srcRect r="39990"/>
          <a:stretch/>
        </p:blipFill>
        <p:spPr>
          <a:xfrm>
            <a:off x="6329236" y="2248677"/>
            <a:ext cx="5679547" cy="3498980"/>
          </a:xfrm>
          <a:prstGeom prst="rect">
            <a:avLst/>
          </a:prstGeom>
        </p:spPr>
      </p:pic>
      <p:pic>
        <p:nvPicPr>
          <p:cNvPr id="6" name="Picture 5">
            <a:extLst>
              <a:ext uri="{FF2B5EF4-FFF2-40B4-BE49-F238E27FC236}">
                <a16:creationId xmlns:a16="http://schemas.microsoft.com/office/drawing/2014/main" id="{9E4789CE-020E-4A3A-ABF5-41E41323DB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0573" y="238179"/>
            <a:ext cx="4718210" cy="1744328"/>
          </a:xfrm>
          <a:prstGeom prst="rect">
            <a:avLst/>
          </a:prstGeom>
        </p:spPr>
      </p:pic>
    </p:spTree>
    <p:extLst>
      <p:ext uri="{BB962C8B-B14F-4D97-AF65-F5344CB8AC3E}">
        <p14:creationId xmlns:p14="http://schemas.microsoft.com/office/powerpoint/2010/main" val="704527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B0AC9-925F-442D-AA8E-0105E73A68F2}"/>
              </a:ext>
            </a:extLst>
          </p:cNvPr>
          <p:cNvSpPr>
            <a:spLocks noGrp="1"/>
          </p:cNvSpPr>
          <p:nvPr>
            <p:ph type="title"/>
          </p:nvPr>
        </p:nvSpPr>
        <p:spPr/>
        <p:txBody>
          <a:bodyPr/>
          <a:lstStyle/>
          <a:p>
            <a:r>
              <a:rPr lang="en-US" dirty="0" err="1"/>
              <a:t>AutoEncoders</a:t>
            </a:r>
            <a:r>
              <a:rPr lang="en-US" dirty="0"/>
              <a:t> structure</a:t>
            </a:r>
            <a:endParaRPr lang="en-GB" dirty="0"/>
          </a:p>
        </p:txBody>
      </p:sp>
      <p:sp>
        <p:nvSpPr>
          <p:cNvPr id="3" name="Content Placeholder 2">
            <a:extLst>
              <a:ext uri="{FF2B5EF4-FFF2-40B4-BE49-F238E27FC236}">
                <a16:creationId xmlns:a16="http://schemas.microsoft.com/office/drawing/2014/main" id="{A1EDB40D-1A6B-47B6-8CFB-2328012AE457}"/>
              </a:ext>
            </a:extLst>
          </p:cNvPr>
          <p:cNvSpPr>
            <a:spLocks noGrp="1"/>
          </p:cNvSpPr>
          <p:nvPr>
            <p:ph sz="half" idx="1"/>
          </p:nvPr>
        </p:nvSpPr>
        <p:spPr>
          <a:xfrm>
            <a:off x="838200" y="1825624"/>
            <a:ext cx="5181600" cy="5032375"/>
          </a:xfrm>
        </p:spPr>
        <p:txBody>
          <a:bodyPr>
            <a:normAutofit/>
          </a:bodyPr>
          <a:lstStyle/>
          <a:p>
            <a:pPr marL="514350" indent="-514350">
              <a:buFont typeface="+mj-lt"/>
              <a:buAutoNum type="arabicPeriod" startAt="2"/>
            </a:pPr>
            <a:r>
              <a:rPr lang="en-US" b="1" dirty="0"/>
              <a:t>Bottleneck</a:t>
            </a:r>
            <a:r>
              <a:rPr lang="en-US" dirty="0"/>
              <a:t>: which is the layer that contains the compressed representation of the input data.</a:t>
            </a:r>
            <a:br>
              <a:rPr lang="en-US" dirty="0"/>
            </a:br>
            <a:br>
              <a:rPr lang="en-US" dirty="0"/>
            </a:br>
            <a:r>
              <a:rPr lang="en-US" dirty="0"/>
              <a:t>Technically, we want the dimensionality to be the lowest possible dimension of the input data (more on this later).</a:t>
            </a:r>
          </a:p>
        </p:txBody>
      </p:sp>
      <p:pic>
        <p:nvPicPr>
          <p:cNvPr id="5" name="Picture 4">
            <a:extLst>
              <a:ext uri="{FF2B5EF4-FFF2-40B4-BE49-F238E27FC236}">
                <a16:creationId xmlns:a16="http://schemas.microsoft.com/office/drawing/2014/main" id="{C3B666F6-81E8-468E-BAF2-EEB50A446858}"/>
              </a:ext>
            </a:extLst>
          </p:cNvPr>
          <p:cNvPicPr>
            <a:picLocks noChangeAspect="1"/>
          </p:cNvPicPr>
          <p:nvPr/>
        </p:nvPicPr>
        <p:blipFill rotWithShape="1">
          <a:blip r:embed="rId2">
            <a:extLst>
              <a:ext uri="{28A0092B-C50C-407E-A947-70E740481C1C}">
                <a14:useLocalDpi xmlns:a14="http://schemas.microsoft.com/office/drawing/2010/main" val="0"/>
              </a:ext>
            </a:extLst>
          </a:blip>
          <a:srcRect l="36630" r="38090" b="29373"/>
          <a:stretch/>
        </p:blipFill>
        <p:spPr>
          <a:xfrm>
            <a:off x="7290573" y="2236399"/>
            <a:ext cx="4243874" cy="4383422"/>
          </a:xfrm>
          <a:prstGeom prst="rect">
            <a:avLst/>
          </a:prstGeom>
        </p:spPr>
      </p:pic>
      <p:pic>
        <p:nvPicPr>
          <p:cNvPr id="6" name="Picture 5">
            <a:extLst>
              <a:ext uri="{FF2B5EF4-FFF2-40B4-BE49-F238E27FC236}">
                <a16:creationId xmlns:a16="http://schemas.microsoft.com/office/drawing/2014/main" id="{C73C68B3-844B-473D-BC60-3B525B8840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0573" y="238179"/>
            <a:ext cx="4718210" cy="1744328"/>
          </a:xfrm>
          <a:prstGeom prst="rect">
            <a:avLst/>
          </a:prstGeom>
        </p:spPr>
      </p:pic>
    </p:spTree>
    <p:extLst>
      <p:ext uri="{BB962C8B-B14F-4D97-AF65-F5344CB8AC3E}">
        <p14:creationId xmlns:p14="http://schemas.microsoft.com/office/powerpoint/2010/main" val="1091378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B0AC9-925F-442D-AA8E-0105E73A68F2}"/>
              </a:ext>
            </a:extLst>
          </p:cNvPr>
          <p:cNvSpPr>
            <a:spLocks noGrp="1"/>
          </p:cNvSpPr>
          <p:nvPr>
            <p:ph type="title"/>
          </p:nvPr>
        </p:nvSpPr>
        <p:spPr/>
        <p:txBody>
          <a:bodyPr/>
          <a:lstStyle/>
          <a:p>
            <a:r>
              <a:rPr lang="en-US" dirty="0" err="1"/>
              <a:t>AutoEncoders</a:t>
            </a:r>
            <a:r>
              <a:rPr lang="en-US" dirty="0"/>
              <a:t> structure</a:t>
            </a:r>
            <a:endParaRPr lang="en-GB" dirty="0"/>
          </a:p>
        </p:txBody>
      </p:sp>
      <p:sp>
        <p:nvSpPr>
          <p:cNvPr id="3" name="Content Placeholder 2">
            <a:extLst>
              <a:ext uri="{FF2B5EF4-FFF2-40B4-BE49-F238E27FC236}">
                <a16:creationId xmlns:a16="http://schemas.microsoft.com/office/drawing/2014/main" id="{A1EDB40D-1A6B-47B6-8CFB-2328012AE457}"/>
              </a:ext>
            </a:extLst>
          </p:cNvPr>
          <p:cNvSpPr>
            <a:spLocks noGrp="1"/>
          </p:cNvSpPr>
          <p:nvPr>
            <p:ph sz="half" idx="1"/>
          </p:nvPr>
        </p:nvSpPr>
        <p:spPr>
          <a:xfrm>
            <a:off x="838200" y="1825624"/>
            <a:ext cx="5181600" cy="5032375"/>
          </a:xfrm>
        </p:spPr>
        <p:txBody>
          <a:bodyPr>
            <a:normAutofit/>
          </a:bodyPr>
          <a:lstStyle/>
          <a:p>
            <a:pPr marL="514350" indent="-514350">
              <a:buFont typeface="+mj-lt"/>
              <a:buAutoNum type="arabicPeriod" startAt="3"/>
            </a:pPr>
            <a:r>
              <a:rPr lang="en-US" b="1" dirty="0"/>
              <a:t>Decoder</a:t>
            </a:r>
            <a:r>
              <a:rPr lang="en-US" dirty="0"/>
              <a:t>: In which the model learns how to reconstruct the data from the encoded representation to be as close to the original input as possible.</a:t>
            </a:r>
            <a:br>
              <a:rPr lang="en-US" dirty="0"/>
            </a:br>
            <a:br>
              <a:rPr lang="en-US" dirty="0"/>
            </a:br>
            <a:r>
              <a:rPr lang="en-US" dirty="0"/>
              <a:t>Our decoder will, for instance, consist of </a:t>
            </a:r>
            <a:r>
              <a:rPr lang="en-US" b="1" dirty="0"/>
              <a:t>successive fully connected layers, increasing in size, back to the original input size.</a:t>
            </a:r>
            <a:endParaRPr lang="en-US" dirty="0"/>
          </a:p>
          <a:p>
            <a:endParaRPr lang="en-GB" dirty="0"/>
          </a:p>
        </p:txBody>
      </p:sp>
      <p:pic>
        <p:nvPicPr>
          <p:cNvPr id="5" name="Picture 4">
            <a:extLst>
              <a:ext uri="{FF2B5EF4-FFF2-40B4-BE49-F238E27FC236}">
                <a16:creationId xmlns:a16="http://schemas.microsoft.com/office/drawing/2014/main" id="{176DBDCF-7BFF-4E0D-AB2F-11A51DEA40D9}"/>
              </a:ext>
            </a:extLst>
          </p:cNvPr>
          <p:cNvPicPr>
            <a:picLocks noChangeAspect="1"/>
          </p:cNvPicPr>
          <p:nvPr/>
        </p:nvPicPr>
        <p:blipFill rotWithShape="1">
          <a:blip r:embed="rId2">
            <a:extLst>
              <a:ext uri="{28A0092B-C50C-407E-A947-70E740481C1C}">
                <a14:useLocalDpi xmlns:a14="http://schemas.microsoft.com/office/drawing/2010/main" val="0"/>
              </a:ext>
            </a:extLst>
          </a:blip>
          <a:srcRect l="39260"/>
          <a:stretch/>
        </p:blipFill>
        <p:spPr>
          <a:xfrm>
            <a:off x="6676329" y="2250524"/>
            <a:ext cx="5515671" cy="3357173"/>
          </a:xfrm>
          <a:prstGeom prst="rect">
            <a:avLst/>
          </a:prstGeom>
        </p:spPr>
      </p:pic>
      <p:pic>
        <p:nvPicPr>
          <p:cNvPr id="6" name="Picture 5">
            <a:extLst>
              <a:ext uri="{FF2B5EF4-FFF2-40B4-BE49-F238E27FC236}">
                <a16:creationId xmlns:a16="http://schemas.microsoft.com/office/drawing/2014/main" id="{0B891EB2-3A41-484D-B7BC-D92979DA5B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0573" y="238179"/>
            <a:ext cx="4718210" cy="1744328"/>
          </a:xfrm>
          <a:prstGeom prst="rect">
            <a:avLst/>
          </a:prstGeom>
        </p:spPr>
      </p:pic>
    </p:spTree>
    <p:extLst>
      <p:ext uri="{BB962C8B-B14F-4D97-AF65-F5344CB8AC3E}">
        <p14:creationId xmlns:p14="http://schemas.microsoft.com/office/powerpoint/2010/main" val="875388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B0AC9-925F-442D-AA8E-0105E73A68F2}"/>
              </a:ext>
            </a:extLst>
          </p:cNvPr>
          <p:cNvSpPr>
            <a:spLocks noGrp="1"/>
          </p:cNvSpPr>
          <p:nvPr>
            <p:ph type="title"/>
          </p:nvPr>
        </p:nvSpPr>
        <p:spPr/>
        <p:txBody>
          <a:bodyPr/>
          <a:lstStyle/>
          <a:p>
            <a:r>
              <a:rPr lang="en-US" dirty="0" err="1"/>
              <a:t>AutoEncoders</a:t>
            </a:r>
            <a:r>
              <a:rPr lang="en-US" dirty="0"/>
              <a:t> structure</a:t>
            </a:r>
            <a:endParaRPr lang="en-GB" dirty="0"/>
          </a:p>
        </p:txBody>
      </p:sp>
      <p:sp>
        <p:nvSpPr>
          <p:cNvPr id="3" name="Content Placeholder 2">
            <a:extLst>
              <a:ext uri="{FF2B5EF4-FFF2-40B4-BE49-F238E27FC236}">
                <a16:creationId xmlns:a16="http://schemas.microsoft.com/office/drawing/2014/main" id="{A1EDB40D-1A6B-47B6-8CFB-2328012AE457}"/>
              </a:ext>
            </a:extLst>
          </p:cNvPr>
          <p:cNvSpPr>
            <a:spLocks noGrp="1"/>
          </p:cNvSpPr>
          <p:nvPr>
            <p:ph sz="half" idx="1"/>
          </p:nvPr>
        </p:nvSpPr>
        <p:spPr>
          <a:xfrm>
            <a:off x="838200" y="1825624"/>
            <a:ext cx="5181600" cy="5032375"/>
          </a:xfrm>
        </p:spPr>
        <p:txBody>
          <a:bodyPr>
            <a:normAutofit/>
          </a:bodyPr>
          <a:lstStyle/>
          <a:p>
            <a:pPr marL="514350" indent="-514350">
              <a:buFont typeface="+mj-lt"/>
              <a:buAutoNum type="arabicPeriod" startAt="4"/>
            </a:pPr>
            <a:r>
              <a:rPr lang="en-US" b="1" dirty="0"/>
              <a:t>Reconstruction</a:t>
            </a:r>
            <a:r>
              <a:rPr lang="en-US" dirty="0"/>
              <a:t> </a:t>
            </a:r>
            <a:r>
              <a:rPr lang="en-US" b="1" dirty="0"/>
              <a:t>Loss</a:t>
            </a:r>
            <a:r>
              <a:rPr lang="en-US" dirty="0"/>
              <a:t>: This is the method that measures measure how well the decoder is performing and how close the output is to the original input.</a:t>
            </a:r>
            <a:br>
              <a:rPr lang="en-US" dirty="0"/>
            </a:br>
            <a:br>
              <a:rPr lang="en-US" dirty="0"/>
            </a:br>
            <a:r>
              <a:rPr lang="en-US" dirty="0"/>
              <a:t>In the case of images, we can typically use an MSE on all pixels, or variations of it.</a:t>
            </a:r>
          </a:p>
          <a:p>
            <a:endParaRPr lang="en-GB" dirty="0"/>
          </a:p>
        </p:txBody>
      </p:sp>
      <p:pic>
        <p:nvPicPr>
          <p:cNvPr id="6" name="Picture 5">
            <a:extLst>
              <a:ext uri="{FF2B5EF4-FFF2-40B4-BE49-F238E27FC236}">
                <a16:creationId xmlns:a16="http://schemas.microsoft.com/office/drawing/2014/main" id="{0B1D8E6F-808E-4F25-9C70-17E783C9B81A}"/>
              </a:ext>
            </a:extLst>
          </p:cNvPr>
          <p:cNvPicPr>
            <a:picLocks noChangeAspect="1"/>
          </p:cNvPicPr>
          <p:nvPr/>
        </p:nvPicPr>
        <p:blipFill rotWithShape="1">
          <a:blip r:embed="rId2">
            <a:extLst>
              <a:ext uri="{28A0092B-C50C-407E-A947-70E740481C1C}">
                <a14:useLocalDpi xmlns:a14="http://schemas.microsoft.com/office/drawing/2010/main" val="0"/>
              </a:ext>
            </a:extLst>
          </a:blip>
          <a:srcRect l="16048" t="27327" r="14575" b="35051"/>
          <a:stretch/>
        </p:blipFill>
        <p:spPr>
          <a:xfrm>
            <a:off x="6394624" y="432593"/>
            <a:ext cx="5763265" cy="2702493"/>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C575220-1B5F-433B-960B-A3B64B2577F4}"/>
                  </a:ext>
                </a:extLst>
              </p:cNvPr>
              <p:cNvSpPr txBox="1"/>
              <p:nvPr/>
            </p:nvSpPr>
            <p:spPr>
              <a:xfrm>
                <a:off x="6540759" y="4879910"/>
                <a:ext cx="5318449" cy="13653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𝑀𝑆𝐸</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𝑥</m:t>
                          </m:r>
                          <m:r>
                            <a:rPr lang="en-US" sz="2800" b="0" i="1" smtClean="0">
                              <a:latin typeface="Cambria Math" panose="02040503050406030204" pitchFamily="18" charset="0"/>
                            </a:rPr>
                            <m:t>,</m:t>
                          </m:r>
                          <m:r>
                            <a:rPr lang="en-US" sz="2800" b="0" i="1" smtClean="0">
                              <a:latin typeface="Cambria Math" panose="02040503050406030204" pitchFamily="18" charset="0"/>
                            </a:rPr>
                            <m:t>𝑦</m:t>
                          </m:r>
                        </m:e>
                      </m:d>
                      <m:r>
                        <a:rPr lang="en-US" sz="2800" b="0" i="1" smtClean="0">
                          <a:latin typeface="Cambria Math" panose="02040503050406030204" pitchFamily="18" charset="0"/>
                        </a:rPr>
                        <m:t>=</m:t>
                      </m:r>
                      <m:rad>
                        <m:radPr>
                          <m:degHide m:val="on"/>
                          <m:ctrlPr>
                            <a:rPr lang="en-US" sz="2800" b="0" i="1" smtClean="0">
                              <a:latin typeface="Cambria Math" panose="02040503050406030204" pitchFamily="18" charset="0"/>
                            </a:rPr>
                          </m:ctrlPr>
                        </m:radPr>
                        <m:deg/>
                        <m:e>
                          <m:nary>
                            <m:naryPr>
                              <m:chr m:val="∑"/>
                              <m:supHide m:val="on"/>
                              <m:ctrlPr>
                                <a:rPr lang="en-US" sz="2800" i="1">
                                  <a:latin typeface="Cambria Math" panose="02040503050406030204" pitchFamily="18" charset="0"/>
                                </a:rPr>
                              </m:ctrlPr>
                            </m:naryPr>
                            <m:sub>
                              <m:r>
                                <a:rPr lang="en-US" sz="2800" i="1">
                                  <a:latin typeface="Cambria Math" panose="02040503050406030204" pitchFamily="18" charset="0"/>
                                </a:rPr>
                                <m:t>𝑖</m:t>
                              </m:r>
                              <m:r>
                                <a:rPr lang="en-US" sz="2800" i="1">
                                  <a:latin typeface="Cambria Math" panose="02040503050406030204" pitchFamily="18" charset="0"/>
                                </a:rPr>
                                <m:t>,</m:t>
                              </m:r>
                              <m:r>
                                <a:rPr lang="en-US" sz="2800" i="1">
                                  <a:latin typeface="Cambria Math" panose="02040503050406030204" pitchFamily="18" charset="0"/>
                                </a:rPr>
                                <m:t>𝑗</m:t>
                              </m:r>
                            </m:sub>
                            <m:sup/>
                            <m:e>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𝑖</m:t>
                                          </m:r>
                                          <m:r>
                                            <a:rPr lang="en-US" sz="2800" i="1">
                                              <a:latin typeface="Cambria Math" panose="02040503050406030204" pitchFamily="18" charset="0"/>
                                            </a:rPr>
                                            <m:t>,</m:t>
                                          </m:r>
                                          <m:r>
                                            <a:rPr lang="en-US" sz="2800" i="1">
                                              <a:latin typeface="Cambria Math" panose="02040503050406030204" pitchFamily="18" charset="0"/>
                                            </a:rPr>
                                            <m:t>𝑗</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𝑖</m:t>
                                          </m:r>
                                          <m:r>
                                            <a:rPr lang="en-US" sz="2800" i="1">
                                              <a:latin typeface="Cambria Math" panose="02040503050406030204" pitchFamily="18" charset="0"/>
                                            </a:rPr>
                                            <m:t>,</m:t>
                                          </m:r>
                                          <m:r>
                                            <a:rPr lang="en-US" sz="2800" i="1">
                                              <a:latin typeface="Cambria Math" panose="02040503050406030204" pitchFamily="18" charset="0"/>
                                            </a:rPr>
                                            <m:t>𝑗</m:t>
                                          </m:r>
                                        </m:sub>
                                      </m:sSub>
                                    </m:e>
                                  </m:d>
                                </m:e>
                                <m:sup>
                                  <m:r>
                                    <a:rPr lang="en-US" sz="2800" i="1">
                                      <a:latin typeface="Cambria Math" panose="02040503050406030204" pitchFamily="18" charset="0"/>
                                    </a:rPr>
                                    <m:t>2</m:t>
                                  </m:r>
                                </m:sup>
                              </m:sSup>
                            </m:e>
                          </m:nary>
                        </m:e>
                      </m:rad>
                    </m:oMath>
                  </m:oMathPara>
                </a14:m>
                <a:endParaRPr lang="en-GB" sz="2800" dirty="0"/>
              </a:p>
            </p:txBody>
          </p:sp>
        </mc:Choice>
        <mc:Fallback xmlns="">
          <p:sp>
            <p:nvSpPr>
              <p:cNvPr id="7" name="TextBox 6">
                <a:extLst>
                  <a:ext uri="{FF2B5EF4-FFF2-40B4-BE49-F238E27FC236}">
                    <a16:creationId xmlns:a16="http://schemas.microsoft.com/office/drawing/2014/main" id="{BC575220-1B5F-433B-960B-A3B64B2577F4}"/>
                  </a:ext>
                </a:extLst>
              </p:cNvPr>
              <p:cNvSpPr txBox="1">
                <a:spLocks noRot="1" noChangeAspect="1" noMove="1" noResize="1" noEditPoints="1" noAdjustHandles="1" noChangeArrowheads="1" noChangeShapeType="1" noTextEdit="1"/>
              </p:cNvSpPr>
              <p:nvPr/>
            </p:nvSpPr>
            <p:spPr>
              <a:xfrm>
                <a:off x="6540759" y="4879910"/>
                <a:ext cx="5318449" cy="1365374"/>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D932BA2-AEB1-4D65-88A1-B29153076345}"/>
                  </a:ext>
                </a:extLst>
              </p:cNvPr>
              <p:cNvSpPr txBox="1"/>
              <p:nvPr/>
            </p:nvSpPr>
            <p:spPr>
              <a:xfrm>
                <a:off x="6727371" y="3429000"/>
                <a:ext cx="5019870" cy="954107"/>
              </a:xfrm>
              <a:prstGeom prst="rect">
                <a:avLst/>
              </a:prstGeom>
              <a:noFill/>
            </p:spPr>
            <p:txBody>
              <a:bodyPr wrap="square" rtlCol="0">
                <a:spAutoFit/>
              </a:bodyPr>
              <a:lstStyle/>
              <a:p>
                <a:pPr algn="ctr"/>
                <a:r>
                  <a:rPr lang="en-US" sz="2800" dirty="0"/>
                  <a:t>Example: input </a:t>
                </a:r>
                <a14:m>
                  <m:oMath xmlns:m="http://schemas.openxmlformats.org/officeDocument/2006/math">
                    <m:r>
                      <a:rPr lang="en-US" sz="2800" i="1" dirty="0" smtClean="0">
                        <a:latin typeface="Cambria Math" panose="02040503050406030204" pitchFamily="18" charset="0"/>
                      </a:rPr>
                      <m:t>𝑥</m:t>
                    </m:r>
                  </m:oMath>
                </a14:m>
                <a:r>
                  <a:rPr lang="en-US" sz="2800" dirty="0"/>
                  <a:t> on the right, output </a:t>
                </a:r>
                <a14:m>
                  <m:oMath xmlns:m="http://schemas.openxmlformats.org/officeDocument/2006/math">
                    <m:r>
                      <a:rPr lang="en-US" sz="2800" i="1" dirty="0" smtClean="0">
                        <a:latin typeface="Cambria Math" panose="02040503050406030204" pitchFamily="18" charset="0"/>
                      </a:rPr>
                      <m:t>𝑦</m:t>
                    </m:r>
                  </m:oMath>
                </a14:m>
                <a:r>
                  <a:rPr lang="en-US" sz="2800" dirty="0"/>
                  <a:t> on the left.</a:t>
                </a:r>
              </a:p>
            </p:txBody>
          </p:sp>
        </mc:Choice>
        <mc:Fallback xmlns="">
          <p:sp>
            <p:nvSpPr>
              <p:cNvPr id="9" name="TextBox 8">
                <a:extLst>
                  <a:ext uri="{FF2B5EF4-FFF2-40B4-BE49-F238E27FC236}">
                    <a16:creationId xmlns:a16="http://schemas.microsoft.com/office/drawing/2014/main" id="{DD932BA2-AEB1-4D65-88A1-B29153076345}"/>
                  </a:ext>
                </a:extLst>
              </p:cNvPr>
              <p:cNvSpPr txBox="1">
                <a:spLocks noRot="1" noChangeAspect="1" noMove="1" noResize="1" noEditPoints="1" noAdjustHandles="1" noChangeArrowheads="1" noChangeShapeType="1" noTextEdit="1"/>
              </p:cNvSpPr>
              <p:nvPr/>
            </p:nvSpPr>
            <p:spPr>
              <a:xfrm>
                <a:off x="6727371" y="3429000"/>
                <a:ext cx="5019870" cy="954107"/>
              </a:xfrm>
              <a:prstGeom prst="rect">
                <a:avLst/>
              </a:prstGeom>
              <a:blipFill>
                <a:blip r:embed="rId4"/>
                <a:stretch>
                  <a:fillRect t="-6410" b="-17308"/>
                </a:stretch>
              </a:blipFill>
            </p:spPr>
            <p:txBody>
              <a:bodyPr/>
              <a:lstStyle/>
              <a:p>
                <a:r>
                  <a:rPr lang="en-GB">
                    <a:noFill/>
                  </a:rPr>
                  <a:t> </a:t>
                </a:r>
              </a:p>
            </p:txBody>
          </p:sp>
        </mc:Fallback>
      </mc:AlternateContent>
    </p:spTree>
    <p:extLst>
      <p:ext uri="{BB962C8B-B14F-4D97-AF65-F5344CB8AC3E}">
        <p14:creationId xmlns:p14="http://schemas.microsoft.com/office/powerpoint/2010/main" val="3165037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AE63C-F2C2-4B9A-B99A-D47C54E8D4DB}"/>
              </a:ext>
            </a:extLst>
          </p:cNvPr>
          <p:cNvSpPr>
            <a:spLocks noGrp="1"/>
          </p:cNvSpPr>
          <p:nvPr>
            <p:ph type="title"/>
          </p:nvPr>
        </p:nvSpPr>
        <p:spPr/>
        <p:txBody>
          <a:bodyPr/>
          <a:lstStyle/>
          <a:p>
            <a:r>
              <a:rPr lang="en-US" dirty="0"/>
              <a:t>On reversibility of layers</a:t>
            </a:r>
            <a:endParaRPr lang="en-GB" dirty="0"/>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7FE4E4E0-4CCD-4B65-B935-87D7D0E0D3AA}"/>
                  </a:ext>
                </a:extLst>
              </p:cNvPr>
              <p:cNvSpPr>
                <a:spLocks noGrp="1"/>
              </p:cNvSpPr>
              <p:nvPr>
                <p:ph idx="1"/>
              </p:nvPr>
            </p:nvSpPr>
            <p:spPr/>
            <p:txBody>
              <a:bodyPr/>
              <a:lstStyle/>
              <a:p>
                <a:pPr marL="0" indent="0">
                  <a:buNone/>
                </a:pPr>
                <a:r>
                  <a:rPr lang="en-US" dirty="0"/>
                  <a:t>What would a “perfect” autoencoder consist of?</a:t>
                </a:r>
              </a:p>
              <a:p>
                <a:r>
                  <a:rPr lang="en-US" dirty="0"/>
                  <a:t>Let us call </a:t>
                </a:r>
                <a14:m>
                  <m:oMath xmlns:m="http://schemas.openxmlformats.org/officeDocument/2006/math">
                    <m:r>
                      <a:rPr lang="en-US" i="1" dirty="0" smtClean="0">
                        <a:latin typeface="Cambria Math" panose="02040503050406030204" pitchFamily="18" charset="0"/>
                      </a:rPr>
                      <m:t>𝑓</m:t>
                    </m:r>
                  </m:oMath>
                </a14:m>
                <a:r>
                  <a:rPr lang="en-US" dirty="0"/>
                  <a:t>, the encoder function and </a:t>
                </a:r>
                <a14:m>
                  <m:oMath xmlns:m="http://schemas.openxmlformats.org/officeDocument/2006/math">
                    <m:r>
                      <a:rPr lang="en-US" i="1" dirty="0" smtClean="0">
                        <a:latin typeface="Cambria Math" panose="02040503050406030204" pitchFamily="18" charset="0"/>
                      </a:rPr>
                      <m:t>𝑔</m:t>
                    </m:r>
                  </m:oMath>
                </a14:m>
                <a:r>
                  <a:rPr lang="en-US" dirty="0"/>
                  <a:t> the decoder one</a:t>
                </a:r>
                <a:r>
                  <a:rPr lang="en-GB" dirty="0"/>
                  <a:t>. The autoencoder </a:t>
                </a:r>
                <a14:m>
                  <m:oMath xmlns:m="http://schemas.openxmlformats.org/officeDocument/2006/math">
                    <m:r>
                      <a:rPr lang="en-GB" i="1" dirty="0" smtClean="0">
                        <a:latin typeface="Cambria Math" panose="02040503050406030204" pitchFamily="18" charset="0"/>
                      </a:rPr>
                      <m:t>h</m:t>
                    </m:r>
                    <m:r>
                      <a:rPr lang="en-GB" i="1" dirty="0">
                        <a:latin typeface="Cambria Math" panose="02040503050406030204" pitchFamily="18" charset="0"/>
                      </a:rPr>
                      <m:t> </m:t>
                    </m:r>
                    <m:r>
                      <a:rPr lang="en-GB" i="1" dirty="0" smtClean="0">
                        <a:latin typeface="Cambria Math" panose="02040503050406030204" pitchFamily="18" charset="0"/>
                      </a:rPr>
                      <m:t>=</m:t>
                    </m:r>
                    <m:r>
                      <a:rPr lang="en-US" b="0" i="1" dirty="0" smtClean="0">
                        <a:latin typeface="Cambria Math" panose="02040503050406030204" pitchFamily="18" charset="0"/>
                      </a:rPr>
                      <m:t>𝑓𝑜𝑔</m:t>
                    </m:r>
                  </m:oMath>
                </a14:m>
                <a:r>
                  <a:rPr lang="en-GB" dirty="0"/>
                  <a:t> attempts to reproduce the identity function.</a:t>
                </a:r>
                <a:br>
                  <a:rPr lang="en-GB" dirty="0"/>
                </a:br>
                <a:r>
                  <a:rPr lang="en-GB" dirty="0"/>
                  <a:t>A</a:t>
                </a:r>
                <a:r>
                  <a:rPr lang="en-US" dirty="0"/>
                  <a:t> perfect autoencoder would then require </a:t>
                </a:r>
                <a14:m>
                  <m:oMath xmlns:m="http://schemas.openxmlformats.org/officeDocument/2006/math">
                    <m:r>
                      <a:rPr lang="en-US" i="1" dirty="0">
                        <a:latin typeface="Cambria Math" panose="02040503050406030204" pitchFamily="18" charset="0"/>
                      </a:rPr>
                      <m:t>𝑓</m:t>
                    </m:r>
                    <m:r>
                      <a:rPr lang="en-US" i="1" dirty="0">
                        <a:latin typeface="Cambria Math" panose="02040503050406030204" pitchFamily="18" charset="0"/>
                      </a:rPr>
                      <m:t> = </m:t>
                    </m:r>
                    <m:sSup>
                      <m:sSupPr>
                        <m:ctrlPr>
                          <a:rPr lang="en-US" i="1" dirty="0">
                            <a:latin typeface="Cambria Math" panose="02040503050406030204" pitchFamily="18" charset="0"/>
                          </a:rPr>
                        </m:ctrlPr>
                      </m:sSupPr>
                      <m:e>
                        <m:r>
                          <a:rPr lang="en-US" i="1" dirty="0">
                            <a:latin typeface="Cambria Math" panose="02040503050406030204" pitchFamily="18" charset="0"/>
                          </a:rPr>
                          <m:t>𝑔</m:t>
                        </m:r>
                      </m:e>
                      <m:sup>
                        <m:r>
                          <a:rPr lang="en-US" i="1" dirty="0">
                            <a:latin typeface="Cambria Math" panose="02040503050406030204" pitchFamily="18" charset="0"/>
                          </a:rPr>
                          <m:t>−1</m:t>
                        </m:r>
                      </m:sup>
                    </m:sSup>
                  </m:oMath>
                </a14:m>
                <a:endParaRPr lang="en-GB" dirty="0"/>
              </a:p>
              <a:p>
                <a:r>
                  <a:rPr lang="en-GB" dirty="0"/>
                  <a:t>In practice however, it is difficult to train an autoencoder to replicate the identity function exactly. This is because of </a:t>
                </a:r>
                <a:r>
                  <a:rPr lang="en-GB" b="1" dirty="0"/>
                  <a:t>different</a:t>
                </a:r>
                <a:r>
                  <a:rPr lang="en-GB" dirty="0"/>
                  <a:t> </a:t>
                </a:r>
                <a:r>
                  <a:rPr lang="en-GB" b="1" dirty="0"/>
                  <a:t>weights </a:t>
                </a:r>
                <a:r>
                  <a:rPr lang="en-GB" dirty="0"/>
                  <a:t>and</a:t>
                </a:r>
                <a:r>
                  <a:rPr lang="en-GB" b="1" dirty="0"/>
                  <a:t> activation functions</a:t>
                </a:r>
                <a:r>
                  <a:rPr lang="en-GB" dirty="0"/>
                  <a:t>, as well as the </a:t>
                </a:r>
                <a:r>
                  <a:rPr lang="en-GB" b="1" dirty="0"/>
                  <a:t>low-dimensionality latent representation</a:t>
                </a:r>
                <a:r>
                  <a:rPr lang="en-GB" dirty="0"/>
                  <a:t>.</a:t>
                </a:r>
              </a:p>
              <a:p>
                <a:endParaRPr lang="en-GB" dirty="0"/>
              </a:p>
            </p:txBody>
          </p:sp>
        </mc:Choice>
        <mc:Fallback xmlns="">
          <p:sp>
            <p:nvSpPr>
              <p:cNvPr id="9" name="Content Placeholder 8">
                <a:extLst>
                  <a:ext uri="{FF2B5EF4-FFF2-40B4-BE49-F238E27FC236}">
                    <a16:creationId xmlns:a16="http://schemas.microsoft.com/office/drawing/2014/main" id="{7FE4E4E0-4CCD-4B65-B935-87D7D0E0D3AA}"/>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pic>
        <p:nvPicPr>
          <p:cNvPr id="11" name="Picture 10">
            <a:extLst>
              <a:ext uri="{FF2B5EF4-FFF2-40B4-BE49-F238E27FC236}">
                <a16:creationId xmlns:a16="http://schemas.microsoft.com/office/drawing/2014/main" id="{4DC4722C-4A79-4A66-A7EF-3EC7E520A868}"/>
              </a:ext>
            </a:extLst>
          </p:cNvPr>
          <p:cNvPicPr>
            <a:picLocks noChangeAspect="1"/>
          </p:cNvPicPr>
          <p:nvPr/>
        </p:nvPicPr>
        <p:blipFill rotWithShape="1">
          <a:blip r:embed="rId3"/>
          <a:srcRect l="21046" t="44490" r="28750" b="43537"/>
          <a:stretch/>
        </p:blipFill>
        <p:spPr>
          <a:xfrm>
            <a:off x="653142" y="5272608"/>
            <a:ext cx="11197703" cy="1502131"/>
          </a:xfrm>
          <a:prstGeom prst="rect">
            <a:avLst/>
          </a:prstGeom>
        </p:spPr>
      </p:pic>
    </p:spTree>
    <p:extLst>
      <p:ext uri="{BB962C8B-B14F-4D97-AF65-F5344CB8AC3E}">
        <p14:creationId xmlns:p14="http://schemas.microsoft.com/office/powerpoint/2010/main" val="10985725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AE63C-F2C2-4B9A-B99A-D47C54E8D4DB}"/>
              </a:ext>
            </a:extLst>
          </p:cNvPr>
          <p:cNvSpPr>
            <a:spLocks noGrp="1"/>
          </p:cNvSpPr>
          <p:nvPr>
            <p:ph type="title"/>
          </p:nvPr>
        </p:nvSpPr>
        <p:spPr/>
        <p:txBody>
          <a:bodyPr/>
          <a:lstStyle/>
          <a:p>
            <a:r>
              <a:rPr lang="en-US" dirty="0"/>
              <a:t>On reversibility of layers</a:t>
            </a:r>
            <a:endParaRPr lang="en-GB" dirty="0"/>
          </a:p>
        </p:txBody>
      </p:sp>
      <p:sp>
        <p:nvSpPr>
          <p:cNvPr id="9" name="Content Placeholder 8">
            <a:extLst>
              <a:ext uri="{FF2B5EF4-FFF2-40B4-BE49-F238E27FC236}">
                <a16:creationId xmlns:a16="http://schemas.microsoft.com/office/drawing/2014/main" id="{7FE4E4E0-4CCD-4B65-B935-87D7D0E0D3AA}"/>
              </a:ext>
            </a:extLst>
          </p:cNvPr>
          <p:cNvSpPr>
            <a:spLocks noGrp="1"/>
          </p:cNvSpPr>
          <p:nvPr>
            <p:ph idx="1"/>
          </p:nvPr>
        </p:nvSpPr>
        <p:spPr/>
        <p:txBody>
          <a:bodyPr/>
          <a:lstStyle/>
          <a:p>
            <a:pPr marL="0" indent="0">
              <a:buNone/>
            </a:pPr>
            <a:r>
              <a:rPr lang="en-US" dirty="0"/>
              <a:t>At best, we can simply ensure that the layers preserve dimensionality.</a:t>
            </a:r>
          </a:p>
          <a:p>
            <a:r>
              <a:rPr lang="en-US" dirty="0"/>
              <a:t>That is, the encoder compresses an input into a low-dimensionality latent representation in the same way that the decoder decompresses the low-dimensionality latent representation into an output of the same dimensions.</a:t>
            </a:r>
          </a:p>
          <a:p>
            <a:r>
              <a:rPr lang="en-US" b="1" dirty="0"/>
              <a:t>This is simply done, for instance, with fully connected layers, with mirrored sizes, in both the encoder and the decoder sides.</a:t>
            </a:r>
            <a:endParaRPr lang="en-GB" b="1" dirty="0"/>
          </a:p>
        </p:txBody>
      </p:sp>
      <p:pic>
        <p:nvPicPr>
          <p:cNvPr id="11" name="Picture 10">
            <a:extLst>
              <a:ext uri="{FF2B5EF4-FFF2-40B4-BE49-F238E27FC236}">
                <a16:creationId xmlns:a16="http://schemas.microsoft.com/office/drawing/2014/main" id="{4DC4722C-4A79-4A66-A7EF-3EC7E520A868}"/>
              </a:ext>
            </a:extLst>
          </p:cNvPr>
          <p:cNvPicPr>
            <a:picLocks noChangeAspect="1"/>
          </p:cNvPicPr>
          <p:nvPr/>
        </p:nvPicPr>
        <p:blipFill rotWithShape="1">
          <a:blip r:embed="rId2"/>
          <a:srcRect l="21046" t="44490" r="28750" b="43537"/>
          <a:stretch/>
        </p:blipFill>
        <p:spPr>
          <a:xfrm>
            <a:off x="653142" y="5272608"/>
            <a:ext cx="11197703" cy="1502131"/>
          </a:xfrm>
          <a:prstGeom prst="rect">
            <a:avLst/>
          </a:prstGeom>
        </p:spPr>
      </p:pic>
    </p:spTree>
    <p:extLst>
      <p:ext uri="{BB962C8B-B14F-4D97-AF65-F5344CB8AC3E}">
        <p14:creationId xmlns:p14="http://schemas.microsoft.com/office/powerpoint/2010/main" val="28451267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5912B-CB8F-426E-B879-2B3AA9A5AD20}"/>
              </a:ext>
            </a:extLst>
          </p:cNvPr>
          <p:cNvSpPr>
            <a:spLocks noGrp="1"/>
          </p:cNvSpPr>
          <p:nvPr>
            <p:ph type="title"/>
          </p:nvPr>
        </p:nvSpPr>
        <p:spPr/>
        <p:txBody>
          <a:bodyPr/>
          <a:lstStyle/>
          <a:p>
            <a:r>
              <a:rPr lang="en-US" dirty="0"/>
              <a:t>A first toy example: MNIST autoencoder with fully connected layers</a:t>
            </a:r>
            <a:endParaRPr lang="en-GB" dirty="0"/>
          </a:p>
        </p:txBody>
      </p:sp>
      <p:sp>
        <p:nvSpPr>
          <p:cNvPr id="3" name="Content Placeholder 2">
            <a:extLst>
              <a:ext uri="{FF2B5EF4-FFF2-40B4-BE49-F238E27FC236}">
                <a16:creationId xmlns:a16="http://schemas.microsoft.com/office/drawing/2014/main" id="{F7CC87E4-4FD0-4AE6-9578-9B906826A73B}"/>
              </a:ext>
            </a:extLst>
          </p:cNvPr>
          <p:cNvSpPr>
            <a:spLocks noGrp="1"/>
          </p:cNvSpPr>
          <p:nvPr>
            <p:ph idx="1"/>
          </p:nvPr>
        </p:nvSpPr>
        <p:spPr/>
        <p:txBody>
          <a:bodyPr/>
          <a:lstStyle/>
          <a:p>
            <a:pPr marL="0" indent="0">
              <a:buNone/>
            </a:pPr>
            <a:r>
              <a:rPr lang="en-US" dirty="0"/>
              <a:t>Let us start with a simple autoencoder on MNIST (refer to Notebook 1. for demo code).</a:t>
            </a:r>
          </a:p>
          <a:p>
            <a:pPr marL="0" indent="0">
              <a:buNone/>
            </a:pPr>
            <a:r>
              <a:rPr lang="en-US" dirty="0"/>
              <a:t>The dataset is simply MNIST, input dimensions are 28 by 28 pixel images, greyscale.</a:t>
            </a:r>
            <a:endParaRPr lang="en-GB" dirty="0"/>
          </a:p>
        </p:txBody>
      </p:sp>
      <p:pic>
        <p:nvPicPr>
          <p:cNvPr id="6" name="Picture 5">
            <a:extLst>
              <a:ext uri="{FF2B5EF4-FFF2-40B4-BE49-F238E27FC236}">
                <a16:creationId xmlns:a16="http://schemas.microsoft.com/office/drawing/2014/main" id="{A2B4A9AE-2EFC-42DD-9854-9C3193D1193A}"/>
              </a:ext>
            </a:extLst>
          </p:cNvPr>
          <p:cNvPicPr>
            <a:picLocks noChangeAspect="1"/>
          </p:cNvPicPr>
          <p:nvPr/>
        </p:nvPicPr>
        <p:blipFill rotWithShape="1">
          <a:blip r:embed="rId2"/>
          <a:srcRect l="13086" t="24652" r="33419" b="39184"/>
          <a:stretch/>
        </p:blipFill>
        <p:spPr>
          <a:xfrm>
            <a:off x="1707502" y="3566238"/>
            <a:ext cx="8509518" cy="3235833"/>
          </a:xfrm>
          <a:prstGeom prst="rect">
            <a:avLst/>
          </a:prstGeom>
        </p:spPr>
      </p:pic>
    </p:spTree>
    <p:extLst>
      <p:ext uri="{BB962C8B-B14F-4D97-AF65-F5344CB8AC3E}">
        <p14:creationId xmlns:p14="http://schemas.microsoft.com/office/powerpoint/2010/main" val="19897511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5912B-CB8F-426E-B879-2B3AA9A5AD20}"/>
              </a:ext>
            </a:extLst>
          </p:cNvPr>
          <p:cNvSpPr>
            <a:spLocks noGrp="1"/>
          </p:cNvSpPr>
          <p:nvPr>
            <p:ph type="title"/>
          </p:nvPr>
        </p:nvSpPr>
        <p:spPr/>
        <p:txBody>
          <a:bodyPr/>
          <a:lstStyle/>
          <a:p>
            <a:r>
              <a:rPr lang="en-US" dirty="0"/>
              <a:t>A first toy example: MNIST autoencoder with fully connected layers</a:t>
            </a:r>
            <a:endParaRPr lang="en-GB" dirty="0"/>
          </a:p>
        </p:txBody>
      </p:sp>
      <p:sp>
        <p:nvSpPr>
          <p:cNvPr id="3" name="Content Placeholder 2">
            <a:extLst>
              <a:ext uri="{FF2B5EF4-FFF2-40B4-BE49-F238E27FC236}">
                <a16:creationId xmlns:a16="http://schemas.microsoft.com/office/drawing/2014/main" id="{F7CC87E4-4FD0-4AE6-9578-9B906826A73B}"/>
              </a:ext>
            </a:extLst>
          </p:cNvPr>
          <p:cNvSpPr>
            <a:spLocks noGrp="1"/>
          </p:cNvSpPr>
          <p:nvPr>
            <p:ph idx="1"/>
          </p:nvPr>
        </p:nvSpPr>
        <p:spPr/>
        <p:txBody>
          <a:bodyPr>
            <a:normAutofit/>
          </a:bodyPr>
          <a:lstStyle/>
          <a:p>
            <a:pPr marL="0" indent="0">
              <a:buNone/>
            </a:pPr>
            <a:r>
              <a:rPr lang="en-US" dirty="0"/>
              <a:t>Let us start with a simple autoencoder on MNIST (refer to Notebook 1. for demo code).</a:t>
            </a:r>
          </a:p>
          <a:p>
            <a:pPr marL="0" indent="0">
              <a:buNone/>
            </a:pPr>
            <a:endParaRPr lang="en-GB" dirty="0"/>
          </a:p>
          <a:p>
            <a:pPr marL="0" indent="0">
              <a:buNone/>
            </a:pPr>
            <a:r>
              <a:rPr lang="en-GB" dirty="0"/>
              <a:t>Our model consists of</a:t>
            </a:r>
          </a:p>
          <a:p>
            <a:r>
              <a:rPr lang="en-GB" dirty="0"/>
              <a:t>An </a:t>
            </a:r>
            <a:r>
              <a:rPr lang="en-GB" b="1" dirty="0"/>
              <a:t>encoder</a:t>
            </a:r>
            <a:r>
              <a:rPr lang="en-GB" dirty="0"/>
              <a:t>, simply modelled as a </a:t>
            </a:r>
            <a:r>
              <a:rPr lang="en-GB" b="1" dirty="0"/>
              <a:t>fully connected layer </a:t>
            </a:r>
            <a:r>
              <a:rPr lang="en-GB" dirty="0"/>
              <a:t>from </a:t>
            </a:r>
            <a:r>
              <a:rPr lang="en-GB" b="1" dirty="0"/>
              <a:t>28*28</a:t>
            </a:r>
            <a:r>
              <a:rPr lang="en-GB" dirty="0"/>
              <a:t> into a </a:t>
            </a:r>
            <a:r>
              <a:rPr lang="en-GB" b="1" dirty="0"/>
              <a:t>hidden layer size</a:t>
            </a:r>
            <a:r>
              <a:rPr lang="en-GB" dirty="0"/>
              <a:t>, to be decided.</a:t>
            </a:r>
          </a:p>
          <a:p>
            <a:r>
              <a:rPr lang="en-GB" dirty="0"/>
              <a:t>A </a:t>
            </a:r>
            <a:r>
              <a:rPr lang="en-GB" b="1" dirty="0"/>
              <a:t>decoder</a:t>
            </a:r>
            <a:r>
              <a:rPr lang="en-GB" dirty="0"/>
              <a:t>, simply modelled as a </a:t>
            </a:r>
            <a:r>
              <a:rPr lang="en-GB" b="1" dirty="0"/>
              <a:t>fully connected layer</a:t>
            </a:r>
            <a:r>
              <a:rPr lang="en-GB" dirty="0"/>
              <a:t> from the </a:t>
            </a:r>
            <a:r>
              <a:rPr lang="en-GB" b="1" dirty="0"/>
              <a:t>hidden layer size</a:t>
            </a:r>
            <a:r>
              <a:rPr lang="en-GB" dirty="0"/>
              <a:t>, back into </a:t>
            </a:r>
            <a:r>
              <a:rPr lang="en-GB" b="1" dirty="0"/>
              <a:t>28*28</a:t>
            </a:r>
            <a:r>
              <a:rPr lang="en-GB" dirty="0"/>
              <a:t>.</a:t>
            </a:r>
          </a:p>
          <a:p>
            <a:endParaRPr lang="en-GB" dirty="0"/>
          </a:p>
        </p:txBody>
      </p:sp>
    </p:spTree>
    <p:extLst>
      <p:ext uri="{BB962C8B-B14F-4D97-AF65-F5344CB8AC3E}">
        <p14:creationId xmlns:p14="http://schemas.microsoft.com/office/powerpoint/2010/main" val="38718474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5912B-CB8F-426E-B879-2B3AA9A5AD20}"/>
              </a:ext>
            </a:extLst>
          </p:cNvPr>
          <p:cNvSpPr>
            <a:spLocks noGrp="1"/>
          </p:cNvSpPr>
          <p:nvPr>
            <p:ph type="title"/>
          </p:nvPr>
        </p:nvSpPr>
        <p:spPr/>
        <p:txBody>
          <a:bodyPr/>
          <a:lstStyle/>
          <a:p>
            <a:r>
              <a:rPr lang="en-US" dirty="0"/>
              <a:t>A first toy example: MNIST autoencoder with fully connected layers</a:t>
            </a:r>
            <a:endParaRPr lang="en-GB" dirty="0"/>
          </a:p>
        </p:txBody>
      </p:sp>
      <p:pic>
        <p:nvPicPr>
          <p:cNvPr id="6" name="Picture 5">
            <a:extLst>
              <a:ext uri="{FF2B5EF4-FFF2-40B4-BE49-F238E27FC236}">
                <a16:creationId xmlns:a16="http://schemas.microsoft.com/office/drawing/2014/main" id="{281A04C9-6E79-4318-BE0F-BEE2A76ED18C}"/>
              </a:ext>
            </a:extLst>
          </p:cNvPr>
          <p:cNvPicPr>
            <a:picLocks noChangeAspect="1"/>
          </p:cNvPicPr>
          <p:nvPr/>
        </p:nvPicPr>
        <p:blipFill rotWithShape="1">
          <a:blip r:embed="rId2"/>
          <a:srcRect l="13087" t="36599" r="28749" b="11429"/>
          <a:stretch/>
        </p:blipFill>
        <p:spPr>
          <a:xfrm>
            <a:off x="1066022" y="1690688"/>
            <a:ext cx="10059955" cy="5056453"/>
          </a:xfrm>
          <a:prstGeom prst="rect">
            <a:avLst/>
          </a:prstGeom>
        </p:spPr>
      </p:pic>
    </p:spTree>
    <p:extLst>
      <p:ext uri="{BB962C8B-B14F-4D97-AF65-F5344CB8AC3E}">
        <p14:creationId xmlns:p14="http://schemas.microsoft.com/office/powerpoint/2010/main" val="42499083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5912B-CB8F-426E-B879-2B3AA9A5AD20}"/>
              </a:ext>
            </a:extLst>
          </p:cNvPr>
          <p:cNvSpPr>
            <a:spLocks noGrp="1"/>
          </p:cNvSpPr>
          <p:nvPr>
            <p:ph type="title"/>
          </p:nvPr>
        </p:nvSpPr>
        <p:spPr/>
        <p:txBody>
          <a:bodyPr/>
          <a:lstStyle/>
          <a:p>
            <a:r>
              <a:rPr lang="en-US" dirty="0"/>
              <a:t>A first toy example: MNIST autoencoder with fully connected layers</a:t>
            </a:r>
            <a:endParaRPr lang="en-GB" dirty="0"/>
          </a:p>
        </p:txBody>
      </p:sp>
      <p:sp>
        <p:nvSpPr>
          <p:cNvPr id="3" name="Content Placeholder 2">
            <a:extLst>
              <a:ext uri="{FF2B5EF4-FFF2-40B4-BE49-F238E27FC236}">
                <a16:creationId xmlns:a16="http://schemas.microsoft.com/office/drawing/2014/main" id="{F7CC87E4-4FD0-4AE6-9578-9B906826A73B}"/>
              </a:ext>
            </a:extLst>
          </p:cNvPr>
          <p:cNvSpPr>
            <a:spLocks noGrp="1"/>
          </p:cNvSpPr>
          <p:nvPr>
            <p:ph idx="1"/>
          </p:nvPr>
        </p:nvSpPr>
        <p:spPr/>
        <p:txBody>
          <a:bodyPr>
            <a:normAutofit/>
          </a:bodyPr>
          <a:lstStyle/>
          <a:p>
            <a:pPr marL="0" indent="0">
              <a:buNone/>
            </a:pPr>
            <a:r>
              <a:rPr lang="en-US" dirty="0"/>
              <a:t>Let us start with a simple autoencoder on MNIST (refer to Notebook 1. for demo code).</a:t>
            </a:r>
          </a:p>
          <a:p>
            <a:pPr marL="0" indent="0">
              <a:buNone/>
            </a:pPr>
            <a:r>
              <a:rPr lang="en-GB" dirty="0"/>
              <a:t>Our model will be trained on the MNIST dataset, with the following parameters:</a:t>
            </a:r>
          </a:p>
          <a:p>
            <a:r>
              <a:rPr lang="en-GB" dirty="0"/>
              <a:t>Start with </a:t>
            </a:r>
            <a:r>
              <a:rPr lang="en-GB" b="1" dirty="0" err="1"/>
              <a:t>hidden_size</a:t>
            </a:r>
            <a:r>
              <a:rPr lang="en-GB" b="1" dirty="0"/>
              <a:t> = 5</a:t>
            </a:r>
            <a:r>
              <a:rPr lang="en-GB" dirty="0"/>
              <a:t>, that is the </a:t>
            </a:r>
            <a:r>
              <a:rPr lang="en-GB" b="1" dirty="0"/>
              <a:t>dimensionality of the latent representation in the bottleneck layer</a:t>
            </a:r>
            <a:r>
              <a:rPr lang="en-GB" dirty="0"/>
              <a:t>.</a:t>
            </a:r>
          </a:p>
          <a:p>
            <a:r>
              <a:rPr lang="en-GB" b="1" dirty="0"/>
              <a:t>MSE</a:t>
            </a:r>
            <a:r>
              <a:rPr lang="en-GB" dirty="0"/>
              <a:t> as the </a:t>
            </a:r>
            <a:r>
              <a:rPr lang="en-GB" b="1" dirty="0"/>
              <a:t>reconstruction</a:t>
            </a:r>
            <a:r>
              <a:rPr lang="en-GB" dirty="0"/>
              <a:t> </a:t>
            </a:r>
            <a:r>
              <a:rPr lang="en-GB" b="1" dirty="0"/>
              <a:t>loss</a:t>
            </a:r>
            <a:r>
              <a:rPr lang="en-GB" dirty="0"/>
              <a:t>.</a:t>
            </a:r>
          </a:p>
          <a:p>
            <a:r>
              <a:rPr lang="en-GB" dirty="0"/>
              <a:t>Optimizer is Adam, with default parameters.</a:t>
            </a:r>
          </a:p>
          <a:p>
            <a:r>
              <a:rPr lang="en-GB" dirty="0"/>
              <a:t>Mini-batch with size 128 and 25 epochs.</a:t>
            </a:r>
          </a:p>
          <a:p>
            <a:endParaRPr lang="en-GB" dirty="0"/>
          </a:p>
        </p:txBody>
      </p:sp>
    </p:spTree>
    <p:extLst>
      <p:ext uri="{BB962C8B-B14F-4D97-AF65-F5344CB8AC3E}">
        <p14:creationId xmlns:p14="http://schemas.microsoft.com/office/powerpoint/2010/main" val="27858837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5912B-CB8F-426E-B879-2B3AA9A5AD20}"/>
              </a:ext>
            </a:extLst>
          </p:cNvPr>
          <p:cNvSpPr>
            <a:spLocks noGrp="1"/>
          </p:cNvSpPr>
          <p:nvPr>
            <p:ph type="title"/>
          </p:nvPr>
        </p:nvSpPr>
        <p:spPr/>
        <p:txBody>
          <a:bodyPr/>
          <a:lstStyle/>
          <a:p>
            <a:r>
              <a:rPr lang="en-US" dirty="0"/>
              <a:t>A first toy example: MNIST autoencoder with fully connected layers</a:t>
            </a:r>
            <a:endParaRPr lang="en-GB" dirty="0"/>
          </a:p>
        </p:txBody>
      </p:sp>
      <p:pic>
        <p:nvPicPr>
          <p:cNvPr id="7" name="Picture 6">
            <a:extLst>
              <a:ext uri="{FF2B5EF4-FFF2-40B4-BE49-F238E27FC236}">
                <a16:creationId xmlns:a16="http://schemas.microsoft.com/office/drawing/2014/main" id="{8BF6E9FA-76EB-4F20-9E99-F7C290949124}"/>
              </a:ext>
            </a:extLst>
          </p:cNvPr>
          <p:cNvPicPr>
            <a:picLocks noChangeAspect="1"/>
          </p:cNvPicPr>
          <p:nvPr/>
        </p:nvPicPr>
        <p:blipFill rotWithShape="1">
          <a:blip r:embed="rId2"/>
          <a:srcRect l="13240" t="36327" r="38163" b="29388"/>
          <a:stretch/>
        </p:blipFill>
        <p:spPr>
          <a:xfrm>
            <a:off x="532992" y="2014181"/>
            <a:ext cx="11285590" cy="4478694"/>
          </a:xfrm>
          <a:prstGeom prst="rect">
            <a:avLst/>
          </a:prstGeom>
        </p:spPr>
      </p:pic>
    </p:spTree>
    <p:extLst>
      <p:ext uri="{BB962C8B-B14F-4D97-AF65-F5344CB8AC3E}">
        <p14:creationId xmlns:p14="http://schemas.microsoft.com/office/powerpoint/2010/main" val="6403413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5912B-CB8F-426E-B879-2B3AA9A5AD20}"/>
              </a:ext>
            </a:extLst>
          </p:cNvPr>
          <p:cNvSpPr>
            <a:spLocks noGrp="1"/>
          </p:cNvSpPr>
          <p:nvPr>
            <p:ph type="title"/>
          </p:nvPr>
        </p:nvSpPr>
        <p:spPr/>
        <p:txBody>
          <a:bodyPr/>
          <a:lstStyle/>
          <a:p>
            <a:r>
              <a:rPr lang="en-US" dirty="0"/>
              <a:t>A first toy example: MNIST autoencoder with fully connected layers</a:t>
            </a:r>
            <a:endParaRPr lang="en-GB" dirty="0"/>
          </a:p>
        </p:txBody>
      </p:sp>
      <p:sp>
        <p:nvSpPr>
          <p:cNvPr id="3" name="Content Placeholder 2">
            <a:extLst>
              <a:ext uri="{FF2B5EF4-FFF2-40B4-BE49-F238E27FC236}">
                <a16:creationId xmlns:a16="http://schemas.microsoft.com/office/drawing/2014/main" id="{F7CC87E4-4FD0-4AE6-9578-9B906826A73B}"/>
              </a:ext>
            </a:extLst>
          </p:cNvPr>
          <p:cNvSpPr>
            <a:spLocks noGrp="1"/>
          </p:cNvSpPr>
          <p:nvPr>
            <p:ph idx="1"/>
          </p:nvPr>
        </p:nvSpPr>
        <p:spPr/>
        <p:txBody>
          <a:bodyPr>
            <a:normAutofit/>
          </a:bodyPr>
          <a:lstStyle/>
          <a:p>
            <a:pPr marL="0" indent="0">
              <a:buNone/>
            </a:pPr>
            <a:r>
              <a:rPr lang="en-US" dirty="0"/>
              <a:t>Let us start with a simple autoencoder on MNIST (refer to Notebook 1. for demo code).</a:t>
            </a:r>
          </a:p>
          <a:p>
            <a:pPr marL="0" indent="0">
              <a:buNone/>
            </a:pPr>
            <a:r>
              <a:rPr lang="en-GB" dirty="0"/>
              <a:t>Our model will be trained on the MNIST dataset, with the steps:</a:t>
            </a:r>
          </a:p>
          <a:p>
            <a:r>
              <a:rPr lang="en-GB" dirty="0"/>
              <a:t>Flatten the image, so it can be fed into FC layers.</a:t>
            </a:r>
          </a:p>
          <a:p>
            <a:r>
              <a:rPr lang="en-GB" dirty="0"/>
              <a:t>Forward pass.</a:t>
            </a:r>
          </a:p>
          <a:p>
            <a:r>
              <a:rPr lang="en-GB" dirty="0"/>
              <a:t>Backward pass and backpropagation.</a:t>
            </a:r>
          </a:p>
          <a:p>
            <a:r>
              <a:rPr lang="en-GB" dirty="0"/>
              <a:t>Loss and Outputs kept for visualization later on.</a:t>
            </a:r>
          </a:p>
          <a:p>
            <a:endParaRPr lang="en-GB" dirty="0"/>
          </a:p>
        </p:txBody>
      </p:sp>
    </p:spTree>
    <p:extLst>
      <p:ext uri="{BB962C8B-B14F-4D97-AF65-F5344CB8AC3E}">
        <p14:creationId xmlns:p14="http://schemas.microsoft.com/office/powerpoint/2010/main" val="10257040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5912B-CB8F-426E-B879-2B3AA9A5AD20}"/>
              </a:ext>
            </a:extLst>
          </p:cNvPr>
          <p:cNvSpPr>
            <a:spLocks noGrp="1"/>
          </p:cNvSpPr>
          <p:nvPr>
            <p:ph type="title"/>
          </p:nvPr>
        </p:nvSpPr>
        <p:spPr/>
        <p:txBody>
          <a:bodyPr/>
          <a:lstStyle/>
          <a:p>
            <a:r>
              <a:rPr lang="en-US" dirty="0"/>
              <a:t>A first toy example: MNIST autoencoder with fully connected layers</a:t>
            </a:r>
            <a:endParaRPr lang="en-GB" dirty="0"/>
          </a:p>
        </p:txBody>
      </p:sp>
      <p:pic>
        <p:nvPicPr>
          <p:cNvPr id="7" name="Picture 6">
            <a:extLst>
              <a:ext uri="{FF2B5EF4-FFF2-40B4-BE49-F238E27FC236}">
                <a16:creationId xmlns:a16="http://schemas.microsoft.com/office/drawing/2014/main" id="{CD432582-094F-447A-8249-5888F0855D39}"/>
              </a:ext>
            </a:extLst>
          </p:cNvPr>
          <p:cNvPicPr>
            <a:picLocks noChangeAspect="1"/>
          </p:cNvPicPr>
          <p:nvPr/>
        </p:nvPicPr>
        <p:blipFill rotWithShape="1">
          <a:blip r:embed="rId2"/>
          <a:srcRect l="13239" t="27483" r="30740" b="15510"/>
          <a:stretch/>
        </p:blipFill>
        <p:spPr>
          <a:xfrm>
            <a:off x="1649963" y="1690688"/>
            <a:ext cx="8892073" cy="5089861"/>
          </a:xfrm>
          <a:prstGeom prst="rect">
            <a:avLst/>
          </a:prstGeom>
        </p:spPr>
      </p:pic>
    </p:spTree>
    <p:extLst>
      <p:ext uri="{BB962C8B-B14F-4D97-AF65-F5344CB8AC3E}">
        <p14:creationId xmlns:p14="http://schemas.microsoft.com/office/powerpoint/2010/main" val="10070730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5912B-CB8F-426E-B879-2B3AA9A5AD20}"/>
              </a:ext>
            </a:extLst>
          </p:cNvPr>
          <p:cNvSpPr>
            <a:spLocks noGrp="1"/>
          </p:cNvSpPr>
          <p:nvPr>
            <p:ph type="title"/>
          </p:nvPr>
        </p:nvSpPr>
        <p:spPr/>
        <p:txBody>
          <a:bodyPr/>
          <a:lstStyle/>
          <a:p>
            <a:r>
              <a:rPr lang="en-US" dirty="0"/>
              <a:t>A first toy example: MNIST autoencoder with fully connected layers</a:t>
            </a:r>
            <a:endParaRPr lang="en-GB" dirty="0"/>
          </a:p>
        </p:txBody>
      </p:sp>
      <p:pic>
        <p:nvPicPr>
          <p:cNvPr id="4" name="Picture 3">
            <a:extLst>
              <a:ext uri="{FF2B5EF4-FFF2-40B4-BE49-F238E27FC236}">
                <a16:creationId xmlns:a16="http://schemas.microsoft.com/office/drawing/2014/main" id="{7D5006E0-B137-4E17-8807-E666B5459C16}"/>
              </a:ext>
            </a:extLst>
          </p:cNvPr>
          <p:cNvPicPr>
            <a:picLocks noChangeAspect="1"/>
          </p:cNvPicPr>
          <p:nvPr/>
        </p:nvPicPr>
        <p:blipFill rotWithShape="1">
          <a:blip r:embed="rId2"/>
          <a:srcRect l="13240" t="35918" r="56224" b="19047"/>
          <a:stretch/>
        </p:blipFill>
        <p:spPr>
          <a:xfrm>
            <a:off x="3156857" y="1819469"/>
            <a:ext cx="5878286" cy="4876472"/>
          </a:xfrm>
          <a:prstGeom prst="rect">
            <a:avLst/>
          </a:prstGeom>
        </p:spPr>
      </p:pic>
    </p:spTree>
    <p:extLst>
      <p:ext uri="{BB962C8B-B14F-4D97-AF65-F5344CB8AC3E}">
        <p14:creationId xmlns:p14="http://schemas.microsoft.com/office/powerpoint/2010/main" val="23080175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5912B-CB8F-426E-B879-2B3AA9A5AD20}"/>
              </a:ext>
            </a:extLst>
          </p:cNvPr>
          <p:cNvSpPr>
            <a:spLocks noGrp="1"/>
          </p:cNvSpPr>
          <p:nvPr>
            <p:ph type="title"/>
          </p:nvPr>
        </p:nvSpPr>
        <p:spPr/>
        <p:txBody>
          <a:bodyPr/>
          <a:lstStyle/>
          <a:p>
            <a:r>
              <a:rPr lang="en-US" dirty="0"/>
              <a:t>A first toy example: MNIST autoencoder with fully connected layers</a:t>
            </a:r>
            <a:endParaRPr lang="en-GB" dirty="0"/>
          </a:p>
        </p:txBody>
      </p:sp>
      <p:pic>
        <p:nvPicPr>
          <p:cNvPr id="4" name="Picture 3">
            <a:extLst>
              <a:ext uri="{FF2B5EF4-FFF2-40B4-BE49-F238E27FC236}">
                <a16:creationId xmlns:a16="http://schemas.microsoft.com/office/drawing/2014/main" id="{E3527A26-C54F-4E9D-A13A-05DFB64F00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034" y="3002694"/>
            <a:ext cx="11597931" cy="2733798"/>
          </a:xfrm>
          <a:prstGeom prst="rect">
            <a:avLst/>
          </a:prstGeom>
        </p:spPr>
      </p:pic>
    </p:spTree>
    <p:extLst>
      <p:ext uri="{BB962C8B-B14F-4D97-AF65-F5344CB8AC3E}">
        <p14:creationId xmlns:p14="http://schemas.microsoft.com/office/powerpoint/2010/main" val="22713734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B0AC9-925F-442D-AA8E-0105E73A68F2}"/>
              </a:ext>
            </a:extLst>
          </p:cNvPr>
          <p:cNvSpPr>
            <a:spLocks noGrp="1"/>
          </p:cNvSpPr>
          <p:nvPr>
            <p:ph type="title"/>
          </p:nvPr>
        </p:nvSpPr>
        <p:spPr/>
        <p:txBody>
          <a:bodyPr/>
          <a:lstStyle/>
          <a:p>
            <a:r>
              <a:rPr lang="en-US" dirty="0" err="1"/>
              <a:t>AutoEncoders</a:t>
            </a:r>
            <a:r>
              <a:rPr lang="en-US" dirty="0"/>
              <a:t> structure</a:t>
            </a:r>
            <a:br>
              <a:rPr lang="en-US" dirty="0"/>
            </a:br>
            <a:r>
              <a:rPr lang="en-US" dirty="0"/>
              <a:t>(Reminder)</a:t>
            </a:r>
            <a:endParaRPr lang="en-GB" dirty="0"/>
          </a:p>
        </p:txBody>
      </p:sp>
      <p:sp>
        <p:nvSpPr>
          <p:cNvPr id="3" name="Content Placeholder 2">
            <a:extLst>
              <a:ext uri="{FF2B5EF4-FFF2-40B4-BE49-F238E27FC236}">
                <a16:creationId xmlns:a16="http://schemas.microsoft.com/office/drawing/2014/main" id="{A1EDB40D-1A6B-47B6-8CFB-2328012AE457}"/>
              </a:ext>
            </a:extLst>
          </p:cNvPr>
          <p:cNvSpPr>
            <a:spLocks noGrp="1"/>
          </p:cNvSpPr>
          <p:nvPr>
            <p:ph sz="half" idx="1"/>
          </p:nvPr>
        </p:nvSpPr>
        <p:spPr>
          <a:xfrm>
            <a:off x="838200" y="1825624"/>
            <a:ext cx="5181600" cy="5032375"/>
          </a:xfrm>
        </p:spPr>
        <p:txBody>
          <a:bodyPr>
            <a:normAutofit/>
          </a:bodyPr>
          <a:lstStyle/>
          <a:p>
            <a:pPr marL="514350" indent="-514350">
              <a:buFont typeface="+mj-lt"/>
              <a:buAutoNum type="arabicPeriod" startAt="2"/>
            </a:pPr>
            <a:r>
              <a:rPr lang="en-US" b="1" dirty="0"/>
              <a:t>Bottleneck</a:t>
            </a:r>
            <a:r>
              <a:rPr lang="en-US" dirty="0"/>
              <a:t>: which is the layer that contains the compressed representation of the input data.</a:t>
            </a:r>
            <a:br>
              <a:rPr lang="en-US" dirty="0"/>
            </a:br>
            <a:r>
              <a:rPr lang="en-US" dirty="0"/>
              <a:t>Technically, we want the dimensionality to be the lowest possible dimension of the input data.</a:t>
            </a:r>
            <a:br>
              <a:rPr lang="en-US" dirty="0"/>
            </a:br>
            <a:br>
              <a:rPr lang="en-US" b="1" dirty="0"/>
            </a:br>
            <a:r>
              <a:rPr lang="en-US" b="1" dirty="0"/>
              <a:t>How to decide on the best dimensionality for the </a:t>
            </a:r>
            <a:r>
              <a:rPr lang="en-US" b="1" dirty="0" err="1"/>
              <a:t>hidden_size</a:t>
            </a:r>
            <a:r>
              <a:rPr lang="en-US" b="1" dirty="0"/>
              <a:t>?</a:t>
            </a:r>
          </a:p>
        </p:txBody>
      </p:sp>
      <p:pic>
        <p:nvPicPr>
          <p:cNvPr id="5" name="Picture 4">
            <a:extLst>
              <a:ext uri="{FF2B5EF4-FFF2-40B4-BE49-F238E27FC236}">
                <a16:creationId xmlns:a16="http://schemas.microsoft.com/office/drawing/2014/main" id="{C3B666F6-81E8-468E-BAF2-EEB50A446858}"/>
              </a:ext>
            </a:extLst>
          </p:cNvPr>
          <p:cNvPicPr>
            <a:picLocks noChangeAspect="1"/>
          </p:cNvPicPr>
          <p:nvPr/>
        </p:nvPicPr>
        <p:blipFill rotWithShape="1">
          <a:blip r:embed="rId2">
            <a:extLst>
              <a:ext uri="{28A0092B-C50C-407E-A947-70E740481C1C}">
                <a14:useLocalDpi xmlns:a14="http://schemas.microsoft.com/office/drawing/2010/main" val="0"/>
              </a:ext>
            </a:extLst>
          </a:blip>
          <a:srcRect l="36630" r="38090" b="29373"/>
          <a:stretch/>
        </p:blipFill>
        <p:spPr>
          <a:xfrm>
            <a:off x="7290573" y="2236399"/>
            <a:ext cx="4243874" cy="4383422"/>
          </a:xfrm>
          <a:prstGeom prst="rect">
            <a:avLst/>
          </a:prstGeom>
        </p:spPr>
      </p:pic>
      <p:pic>
        <p:nvPicPr>
          <p:cNvPr id="6" name="Picture 5">
            <a:extLst>
              <a:ext uri="{FF2B5EF4-FFF2-40B4-BE49-F238E27FC236}">
                <a16:creationId xmlns:a16="http://schemas.microsoft.com/office/drawing/2014/main" id="{C73C68B3-844B-473D-BC60-3B525B8840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0573" y="238179"/>
            <a:ext cx="4718210" cy="1744328"/>
          </a:xfrm>
          <a:prstGeom prst="rect">
            <a:avLst/>
          </a:prstGeom>
        </p:spPr>
      </p:pic>
    </p:spTree>
    <p:extLst>
      <p:ext uri="{BB962C8B-B14F-4D97-AF65-F5344CB8AC3E}">
        <p14:creationId xmlns:p14="http://schemas.microsoft.com/office/powerpoint/2010/main" val="25231076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48212-25EB-4F6F-92D9-B9B4770C0FC0}"/>
              </a:ext>
            </a:extLst>
          </p:cNvPr>
          <p:cNvSpPr>
            <a:spLocks noGrp="1"/>
          </p:cNvSpPr>
          <p:nvPr>
            <p:ph type="title"/>
          </p:nvPr>
        </p:nvSpPr>
        <p:spPr/>
        <p:txBody>
          <a:bodyPr/>
          <a:lstStyle/>
          <a:p>
            <a:r>
              <a:rPr lang="en-US" dirty="0"/>
              <a:t>On latent dimensionality</a:t>
            </a:r>
            <a:endParaRPr lang="en-GB" dirty="0"/>
          </a:p>
        </p:txBody>
      </p:sp>
      <p:sp>
        <p:nvSpPr>
          <p:cNvPr id="5" name="Content Placeholder 4">
            <a:extLst>
              <a:ext uri="{FF2B5EF4-FFF2-40B4-BE49-F238E27FC236}">
                <a16:creationId xmlns:a16="http://schemas.microsoft.com/office/drawing/2014/main" id="{A15800C8-7D41-4004-8334-3275C11C119D}"/>
              </a:ext>
            </a:extLst>
          </p:cNvPr>
          <p:cNvSpPr>
            <a:spLocks noGrp="1"/>
          </p:cNvSpPr>
          <p:nvPr>
            <p:ph idx="1"/>
          </p:nvPr>
        </p:nvSpPr>
        <p:spPr/>
        <p:txBody>
          <a:bodyPr/>
          <a:lstStyle/>
          <a:p>
            <a:pPr marL="0" indent="0">
              <a:buNone/>
            </a:pPr>
            <a:r>
              <a:rPr lang="en-US" b="1" dirty="0"/>
              <a:t>How to decide on the best dimensionality for the </a:t>
            </a:r>
            <a:r>
              <a:rPr lang="en-US" b="1" dirty="0" err="1"/>
              <a:t>hidden_size</a:t>
            </a:r>
            <a:r>
              <a:rPr lang="en-US" b="1" dirty="0"/>
              <a:t>?</a:t>
            </a:r>
          </a:p>
          <a:p>
            <a:r>
              <a:rPr lang="en-US" dirty="0"/>
              <a:t>Technically, we want the dimensionality to be the lowest possible dimension of the input data.</a:t>
            </a:r>
          </a:p>
          <a:p>
            <a:r>
              <a:rPr lang="en-US" dirty="0"/>
              <a:t>It is often impossible to define it mathematically.</a:t>
            </a:r>
          </a:p>
          <a:p>
            <a:r>
              <a:rPr lang="en-US" dirty="0"/>
              <a:t>More of a trial and error process, with a tradeoff at play.</a:t>
            </a:r>
          </a:p>
          <a:p>
            <a:pPr marL="0" indent="0">
              <a:buNone/>
            </a:pPr>
            <a:endParaRPr lang="en-GB" dirty="0"/>
          </a:p>
        </p:txBody>
      </p:sp>
      <p:graphicFrame>
        <p:nvGraphicFramePr>
          <p:cNvPr id="6" name="Diagram 5">
            <a:extLst>
              <a:ext uri="{FF2B5EF4-FFF2-40B4-BE49-F238E27FC236}">
                <a16:creationId xmlns:a16="http://schemas.microsoft.com/office/drawing/2014/main" id="{36EA7127-8105-4A05-9B8C-671E11F1DE6F}"/>
              </a:ext>
            </a:extLst>
          </p:cNvPr>
          <p:cNvGraphicFramePr/>
          <p:nvPr>
            <p:extLst>
              <p:ext uri="{D42A27DB-BD31-4B8C-83A1-F6EECF244321}">
                <p14:modId xmlns:p14="http://schemas.microsoft.com/office/powerpoint/2010/main" val="2227197198"/>
              </p:ext>
            </p:extLst>
          </p:nvPr>
        </p:nvGraphicFramePr>
        <p:xfrm>
          <a:off x="2032000" y="4320072"/>
          <a:ext cx="8128000" cy="25379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909450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0C893-5808-4157-800C-C2C38F6F427E}"/>
              </a:ext>
            </a:extLst>
          </p:cNvPr>
          <p:cNvSpPr>
            <a:spLocks noGrp="1"/>
          </p:cNvSpPr>
          <p:nvPr>
            <p:ph type="title"/>
          </p:nvPr>
        </p:nvSpPr>
        <p:spPr/>
        <p:txBody>
          <a:bodyPr/>
          <a:lstStyle/>
          <a:p>
            <a:r>
              <a:rPr lang="en-US" dirty="0"/>
              <a:t>On latent dimensionality</a:t>
            </a:r>
            <a:endParaRPr lang="en-GB" dirty="0"/>
          </a:p>
        </p:txBody>
      </p:sp>
      <p:sp>
        <p:nvSpPr>
          <p:cNvPr id="3" name="Content Placeholder 2">
            <a:extLst>
              <a:ext uri="{FF2B5EF4-FFF2-40B4-BE49-F238E27FC236}">
                <a16:creationId xmlns:a16="http://schemas.microsoft.com/office/drawing/2014/main" id="{E1FBB834-37CE-4F44-9A07-BCD99D8365C3}"/>
              </a:ext>
            </a:extLst>
          </p:cNvPr>
          <p:cNvSpPr>
            <a:spLocks noGrp="1"/>
          </p:cNvSpPr>
          <p:nvPr>
            <p:ph idx="1"/>
          </p:nvPr>
        </p:nvSpPr>
        <p:spPr>
          <a:xfrm>
            <a:off x="838200" y="1825624"/>
            <a:ext cx="10515600" cy="5032375"/>
          </a:xfrm>
        </p:spPr>
        <p:txBody>
          <a:bodyPr/>
          <a:lstStyle/>
          <a:p>
            <a:pPr marL="0" indent="0">
              <a:buNone/>
            </a:pPr>
            <a:r>
              <a:rPr lang="en-US" dirty="0"/>
              <a:t>In Notebook 1, we have trained 4 models with different hidden layer sizes for comparison purposes.</a:t>
            </a:r>
          </a:p>
          <a:p>
            <a:r>
              <a:rPr lang="en-GB" b="1" dirty="0"/>
              <a:t>Model #1: </a:t>
            </a:r>
            <a:r>
              <a:rPr lang="en-GB" dirty="0" err="1"/>
              <a:t>hidden_size</a:t>
            </a:r>
            <a:r>
              <a:rPr lang="en-GB" dirty="0"/>
              <a:t> = 5</a:t>
            </a:r>
          </a:p>
          <a:p>
            <a:r>
              <a:rPr lang="en-GB" b="1" dirty="0"/>
              <a:t>Model #2: </a:t>
            </a:r>
            <a:r>
              <a:rPr lang="en-GB" dirty="0" err="1"/>
              <a:t>hidden_size</a:t>
            </a:r>
            <a:r>
              <a:rPr lang="en-GB" dirty="0"/>
              <a:t> = 25</a:t>
            </a:r>
          </a:p>
          <a:p>
            <a:r>
              <a:rPr lang="en-GB" b="1" dirty="0"/>
              <a:t>Model #3: </a:t>
            </a:r>
            <a:r>
              <a:rPr lang="en-GB" dirty="0" err="1"/>
              <a:t>hidden_size</a:t>
            </a:r>
            <a:r>
              <a:rPr lang="en-GB" dirty="0"/>
              <a:t> = 125</a:t>
            </a:r>
          </a:p>
          <a:p>
            <a:r>
              <a:rPr lang="en-GB" b="1" dirty="0"/>
              <a:t>Model #4: </a:t>
            </a:r>
            <a:r>
              <a:rPr lang="en-GB" dirty="0" err="1"/>
              <a:t>hidden_size</a:t>
            </a:r>
            <a:r>
              <a:rPr lang="en-GB" dirty="0"/>
              <a:t> = 784 = 28*28</a:t>
            </a:r>
          </a:p>
          <a:p>
            <a:endParaRPr lang="en-GB" dirty="0"/>
          </a:p>
          <a:p>
            <a:pPr marL="0" indent="0">
              <a:buNone/>
            </a:pPr>
            <a:r>
              <a:rPr lang="en-GB" dirty="0"/>
              <a:t>We then visualize the performance of each model, in terms of loss and in terms of outputs visualization.</a:t>
            </a:r>
          </a:p>
          <a:p>
            <a:endParaRPr lang="en-GB" dirty="0"/>
          </a:p>
        </p:txBody>
      </p:sp>
    </p:spTree>
    <p:extLst>
      <p:ext uri="{BB962C8B-B14F-4D97-AF65-F5344CB8AC3E}">
        <p14:creationId xmlns:p14="http://schemas.microsoft.com/office/powerpoint/2010/main" val="20760048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ECAF6-C62E-45BA-9AB4-3A7505138EC7}"/>
              </a:ext>
            </a:extLst>
          </p:cNvPr>
          <p:cNvSpPr>
            <a:spLocks noGrp="1"/>
          </p:cNvSpPr>
          <p:nvPr>
            <p:ph type="title"/>
          </p:nvPr>
        </p:nvSpPr>
        <p:spPr>
          <a:xfrm>
            <a:off x="190611" y="257532"/>
            <a:ext cx="3700254" cy="6342935"/>
          </a:xfrm>
        </p:spPr>
        <p:txBody>
          <a:bodyPr>
            <a:normAutofit/>
          </a:bodyPr>
          <a:lstStyle/>
          <a:p>
            <a:r>
              <a:rPr lang="en-US" dirty="0"/>
              <a:t>On latent dimensionality</a:t>
            </a:r>
            <a:br>
              <a:rPr lang="en-US" dirty="0"/>
            </a:br>
            <a:r>
              <a:rPr lang="en-US" dirty="0"/>
              <a:t>vs.</a:t>
            </a:r>
            <a:br>
              <a:rPr lang="en-US" dirty="0"/>
            </a:br>
            <a:r>
              <a:rPr lang="en-US" dirty="0"/>
              <a:t>loss effect</a:t>
            </a:r>
            <a:endParaRPr lang="en-GB" dirty="0"/>
          </a:p>
        </p:txBody>
      </p:sp>
      <p:pic>
        <p:nvPicPr>
          <p:cNvPr id="4" name="Picture 3">
            <a:extLst>
              <a:ext uri="{FF2B5EF4-FFF2-40B4-BE49-F238E27FC236}">
                <a16:creationId xmlns:a16="http://schemas.microsoft.com/office/drawing/2014/main" id="{AA55D88E-7746-4123-942C-F7FD964BCF21}"/>
              </a:ext>
            </a:extLst>
          </p:cNvPr>
          <p:cNvPicPr>
            <a:picLocks noChangeAspect="1"/>
          </p:cNvPicPr>
          <p:nvPr/>
        </p:nvPicPr>
        <p:blipFill rotWithShape="1">
          <a:blip r:embed="rId2"/>
          <a:srcRect l="19516" t="25987" r="40535" b="10068"/>
          <a:stretch/>
        </p:blipFill>
        <p:spPr>
          <a:xfrm>
            <a:off x="4338733" y="19482"/>
            <a:ext cx="7595119" cy="6838518"/>
          </a:xfrm>
          <a:prstGeom prst="rect">
            <a:avLst/>
          </a:prstGeom>
        </p:spPr>
      </p:pic>
    </p:spTree>
    <p:extLst>
      <p:ext uri="{BB962C8B-B14F-4D97-AF65-F5344CB8AC3E}">
        <p14:creationId xmlns:p14="http://schemas.microsoft.com/office/powerpoint/2010/main" val="40232572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ECAF6-C62E-45BA-9AB4-3A7505138EC7}"/>
              </a:ext>
            </a:extLst>
          </p:cNvPr>
          <p:cNvSpPr>
            <a:spLocks noGrp="1"/>
          </p:cNvSpPr>
          <p:nvPr>
            <p:ph type="title"/>
          </p:nvPr>
        </p:nvSpPr>
        <p:spPr>
          <a:xfrm>
            <a:off x="190611" y="257532"/>
            <a:ext cx="3700254" cy="6342935"/>
          </a:xfrm>
        </p:spPr>
        <p:txBody>
          <a:bodyPr>
            <a:normAutofit/>
          </a:bodyPr>
          <a:lstStyle/>
          <a:p>
            <a:r>
              <a:rPr lang="en-US" dirty="0"/>
              <a:t>On latent dimensionality</a:t>
            </a:r>
            <a:br>
              <a:rPr lang="en-US" dirty="0"/>
            </a:br>
            <a:r>
              <a:rPr lang="en-US" dirty="0"/>
              <a:t>vs. reconstruction quality</a:t>
            </a:r>
            <a:endParaRPr lang="en-GB" dirty="0"/>
          </a:p>
        </p:txBody>
      </p:sp>
      <p:pic>
        <p:nvPicPr>
          <p:cNvPr id="5" name="Picture 4">
            <a:extLst>
              <a:ext uri="{FF2B5EF4-FFF2-40B4-BE49-F238E27FC236}">
                <a16:creationId xmlns:a16="http://schemas.microsoft.com/office/drawing/2014/main" id="{5594225C-CDDE-4D6B-8913-1447F3E5CA8F}"/>
              </a:ext>
            </a:extLst>
          </p:cNvPr>
          <p:cNvPicPr>
            <a:picLocks noChangeAspect="1"/>
          </p:cNvPicPr>
          <p:nvPr/>
        </p:nvPicPr>
        <p:blipFill rotWithShape="1">
          <a:blip r:embed="rId2"/>
          <a:srcRect l="19209" t="32109" r="44209" b="17959"/>
          <a:stretch/>
        </p:blipFill>
        <p:spPr>
          <a:xfrm>
            <a:off x="3896421" y="257532"/>
            <a:ext cx="8261369" cy="6342935"/>
          </a:xfrm>
          <a:prstGeom prst="rect">
            <a:avLst/>
          </a:prstGeom>
        </p:spPr>
      </p:pic>
    </p:spTree>
    <p:extLst>
      <p:ext uri="{BB962C8B-B14F-4D97-AF65-F5344CB8AC3E}">
        <p14:creationId xmlns:p14="http://schemas.microsoft.com/office/powerpoint/2010/main" val="20352172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ECAF6-C62E-45BA-9AB4-3A7505138EC7}"/>
              </a:ext>
            </a:extLst>
          </p:cNvPr>
          <p:cNvSpPr>
            <a:spLocks noGrp="1"/>
          </p:cNvSpPr>
          <p:nvPr>
            <p:ph type="title"/>
          </p:nvPr>
        </p:nvSpPr>
        <p:spPr>
          <a:xfrm>
            <a:off x="190611" y="257532"/>
            <a:ext cx="3700254" cy="6342935"/>
          </a:xfrm>
        </p:spPr>
        <p:txBody>
          <a:bodyPr>
            <a:normAutofit/>
          </a:bodyPr>
          <a:lstStyle/>
          <a:p>
            <a:r>
              <a:rPr lang="en-US" dirty="0"/>
              <a:t>On latent dimensionality</a:t>
            </a:r>
            <a:br>
              <a:rPr lang="en-US" dirty="0"/>
            </a:br>
            <a:r>
              <a:rPr lang="en-US" dirty="0"/>
              <a:t>vs. reconstruction quality</a:t>
            </a:r>
            <a:endParaRPr lang="en-GB" dirty="0"/>
          </a:p>
        </p:txBody>
      </p:sp>
      <p:pic>
        <p:nvPicPr>
          <p:cNvPr id="4" name="Picture 3">
            <a:extLst>
              <a:ext uri="{FF2B5EF4-FFF2-40B4-BE49-F238E27FC236}">
                <a16:creationId xmlns:a16="http://schemas.microsoft.com/office/drawing/2014/main" id="{AAC4A3AB-E3F6-40CE-8F87-49A9B79BA9E9}"/>
              </a:ext>
            </a:extLst>
          </p:cNvPr>
          <p:cNvPicPr>
            <a:picLocks noChangeAspect="1"/>
          </p:cNvPicPr>
          <p:nvPr/>
        </p:nvPicPr>
        <p:blipFill rotWithShape="1">
          <a:blip r:embed="rId2"/>
          <a:srcRect l="22194" t="21904" r="18877" b="10340"/>
          <a:stretch/>
        </p:blipFill>
        <p:spPr>
          <a:xfrm>
            <a:off x="3965511" y="1406862"/>
            <a:ext cx="8226490" cy="5320510"/>
          </a:xfrm>
          <a:prstGeom prst="rect">
            <a:avLst/>
          </a:prstGeom>
        </p:spPr>
      </p:pic>
      <p:sp>
        <p:nvSpPr>
          <p:cNvPr id="6" name="TextBox 5">
            <a:extLst>
              <a:ext uri="{FF2B5EF4-FFF2-40B4-BE49-F238E27FC236}">
                <a16:creationId xmlns:a16="http://schemas.microsoft.com/office/drawing/2014/main" id="{CD5747C6-1113-4867-ADC0-D38C2771AE1D}"/>
              </a:ext>
            </a:extLst>
          </p:cNvPr>
          <p:cNvSpPr txBox="1"/>
          <p:nvPr/>
        </p:nvSpPr>
        <p:spPr>
          <a:xfrm>
            <a:off x="4161453" y="1037530"/>
            <a:ext cx="7959012" cy="369332"/>
          </a:xfrm>
          <a:prstGeom prst="rect">
            <a:avLst/>
          </a:prstGeom>
          <a:noFill/>
        </p:spPr>
        <p:txBody>
          <a:bodyPr wrap="square" rtlCol="0">
            <a:spAutoFit/>
          </a:bodyPr>
          <a:lstStyle/>
          <a:p>
            <a:r>
              <a:rPr lang="en-US" dirty="0"/>
              <a:t>Original image	  Model1	               Model2	          Model3	       Model4</a:t>
            </a:r>
            <a:endParaRPr lang="en-GB" dirty="0"/>
          </a:p>
        </p:txBody>
      </p:sp>
    </p:spTree>
    <p:extLst>
      <p:ext uri="{BB962C8B-B14F-4D97-AF65-F5344CB8AC3E}">
        <p14:creationId xmlns:p14="http://schemas.microsoft.com/office/powerpoint/2010/main" val="8351139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5912B-CB8F-426E-B879-2B3AA9A5AD20}"/>
              </a:ext>
            </a:extLst>
          </p:cNvPr>
          <p:cNvSpPr>
            <a:spLocks noGrp="1"/>
          </p:cNvSpPr>
          <p:nvPr>
            <p:ph type="title"/>
          </p:nvPr>
        </p:nvSpPr>
        <p:spPr/>
        <p:txBody>
          <a:bodyPr/>
          <a:lstStyle/>
          <a:p>
            <a:r>
              <a:rPr lang="en-US" dirty="0"/>
              <a:t>A first toy example: MNIST autoencoder with fully connected layers (Reminder)</a:t>
            </a:r>
            <a:endParaRPr lang="en-GB" dirty="0"/>
          </a:p>
        </p:txBody>
      </p:sp>
      <p:sp>
        <p:nvSpPr>
          <p:cNvPr id="3" name="Content Placeholder 2">
            <a:extLst>
              <a:ext uri="{FF2B5EF4-FFF2-40B4-BE49-F238E27FC236}">
                <a16:creationId xmlns:a16="http://schemas.microsoft.com/office/drawing/2014/main" id="{F7CC87E4-4FD0-4AE6-9578-9B906826A73B}"/>
              </a:ext>
            </a:extLst>
          </p:cNvPr>
          <p:cNvSpPr>
            <a:spLocks noGrp="1"/>
          </p:cNvSpPr>
          <p:nvPr>
            <p:ph idx="1"/>
          </p:nvPr>
        </p:nvSpPr>
        <p:spPr>
          <a:xfrm>
            <a:off x="838200" y="1825624"/>
            <a:ext cx="10515600" cy="5032375"/>
          </a:xfrm>
        </p:spPr>
        <p:txBody>
          <a:bodyPr>
            <a:normAutofit/>
          </a:bodyPr>
          <a:lstStyle/>
          <a:p>
            <a:pPr marL="0" indent="0">
              <a:buNone/>
            </a:pPr>
            <a:r>
              <a:rPr lang="en-US" dirty="0"/>
              <a:t>Let us start with a simple autoencoder on MNIST (refer to Notebook 1. for demo code). </a:t>
            </a:r>
            <a:r>
              <a:rPr lang="en-GB" dirty="0"/>
              <a:t>Our model consists of</a:t>
            </a:r>
          </a:p>
          <a:p>
            <a:r>
              <a:rPr lang="en-GB" dirty="0"/>
              <a:t>An </a:t>
            </a:r>
            <a:r>
              <a:rPr lang="en-GB" b="1" dirty="0"/>
              <a:t>encoder</a:t>
            </a:r>
            <a:r>
              <a:rPr lang="en-GB" dirty="0"/>
              <a:t>, simply modelled as a </a:t>
            </a:r>
            <a:r>
              <a:rPr lang="en-GB" b="1" dirty="0"/>
              <a:t>fully connected layer </a:t>
            </a:r>
            <a:r>
              <a:rPr lang="en-GB" dirty="0"/>
              <a:t>from </a:t>
            </a:r>
            <a:r>
              <a:rPr lang="en-GB" b="1" dirty="0"/>
              <a:t>28*28</a:t>
            </a:r>
            <a:r>
              <a:rPr lang="en-GB" dirty="0"/>
              <a:t> into a </a:t>
            </a:r>
            <a:r>
              <a:rPr lang="en-GB" b="1" dirty="0"/>
              <a:t>hidden layer size</a:t>
            </a:r>
            <a:r>
              <a:rPr lang="en-GB" dirty="0"/>
              <a:t>, to be decided.</a:t>
            </a:r>
          </a:p>
          <a:p>
            <a:r>
              <a:rPr lang="en-GB" dirty="0"/>
              <a:t>A </a:t>
            </a:r>
            <a:r>
              <a:rPr lang="en-GB" b="1" dirty="0"/>
              <a:t>decoder</a:t>
            </a:r>
            <a:r>
              <a:rPr lang="en-GB" dirty="0"/>
              <a:t>, simply modelled as a </a:t>
            </a:r>
            <a:r>
              <a:rPr lang="en-GB" b="1" dirty="0"/>
              <a:t>fully connected layer</a:t>
            </a:r>
            <a:r>
              <a:rPr lang="en-GB" dirty="0"/>
              <a:t> from the </a:t>
            </a:r>
            <a:r>
              <a:rPr lang="en-GB" b="1" dirty="0"/>
              <a:t>hidden layer size</a:t>
            </a:r>
            <a:r>
              <a:rPr lang="en-GB" dirty="0"/>
              <a:t>, back into </a:t>
            </a:r>
            <a:r>
              <a:rPr lang="en-GB" b="1" dirty="0"/>
              <a:t>28*28</a:t>
            </a:r>
            <a:r>
              <a:rPr lang="en-GB" dirty="0"/>
              <a:t>.</a:t>
            </a:r>
          </a:p>
          <a:p>
            <a:pPr marL="0" indent="0">
              <a:buNone/>
            </a:pPr>
            <a:r>
              <a:rPr lang="en-GB" dirty="0"/>
              <a:t>The two FC layers were performing “inverse” operations, in terms of dimensionality.</a:t>
            </a:r>
          </a:p>
        </p:txBody>
      </p:sp>
    </p:spTree>
    <p:extLst>
      <p:ext uri="{BB962C8B-B14F-4D97-AF65-F5344CB8AC3E}">
        <p14:creationId xmlns:p14="http://schemas.microsoft.com/office/powerpoint/2010/main" val="26359694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5912B-CB8F-426E-B879-2B3AA9A5AD20}"/>
              </a:ext>
            </a:extLst>
          </p:cNvPr>
          <p:cNvSpPr>
            <a:spLocks noGrp="1"/>
          </p:cNvSpPr>
          <p:nvPr>
            <p:ph type="title"/>
          </p:nvPr>
        </p:nvSpPr>
        <p:spPr/>
        <p:txBody>
          <a:bodyPr/>
          <a:lstStyle/>
          <a:p>
            <a:r>
              <a:rPr lang="en-US" dirty="0"/>
              <a:t>A first toy example: MNIST autoencoder with fully connected layers (Reminder)</a:t>
            </a:r>
            <a:endParaRPr lang="en-GB" dirty="0"/>
          </a:p>
        </p:txBody>
      </p:sp>
      <p:sp>
        <p:nvSpPr>
          <p:cNvPr id="3" name="Content Placeholder 2">
            <a:extLst>
              <a:ext uri="{FF2B5EF4-FFF2-40B4-BE49-F238E27FC236}">
                <a16:creationId xmlns:a16="http://schemas.microsoft.com/office/drawing/2014/main" id="{F7CC87E4-4FD0-4AE6-9578-9B906826A73B}"/>
              </a:ext>
            </a:extLst>
          </p:cNvPr>
          <p:cNvSpPr>
            <a:spLocks noGrp="1"/>
          </p:cNvSpPr>
          <p:nvPr>
            <p:ph idx="1"/>
          </p:nvPr>
        </p:nvSpPr>
        <p:spPr>
          <a:xfrm>
            <a:off x="838200" y="1825624"/>
            <a:ext cx="10515600" cy="5032375"/>
          </a:xfrm>
        </p:spPr>
        <p:txBody>
          <a:bodyPr>
            <a:normAutofit/>
          </a:bodyPr>
          <a:lstStyle/>
          <a:p>
            <a:pPr marL="0" indent="0">
              <a:buNone/>
            </a:pPr>
            <a:r>
              <a:rPr lang="en-US" dirty="0"/>
              <a:t>Let us start with a simple autoencoder on MNIST (refer to Notebook 1. for demo code). </a:t>
            </a:r>
            <a:r>
              <a:rPr lang="en-GB" dirty="0"/>
              <a:t>Our model consists of</a:t>
            </a:r>
          </a:p>
          <a:p>
            <a:r>
              <a:rPr lang="en-GB" dirty="0"/>
              <a:t>An </a:t>
            </a:r>
            <a:r>
              <a:rPr lang="en-GB" b="1" dirty="0"/>
              <a:t>encoder</a:t>
            </a:r>
            <a:r>
              <a:rPr lang="en-GB" dirty="0"/>
              <a:t>, simply modelled as a </a:t>
            </a:r>
            <a:r>
              <a:rPr lang="en-GB" b="1" dirty="0"/>
              <a:t>fully connected layer </a:t>
            </a:r>
            <a:r>
              <a:rPr lang="en-GB" dirty="0"/>
              <a:t>from </a:t>
            </a:r>
            <a:r>
              <a:rPr lang="en-GB" b="1" dirty="0"/>
              <a:t>28*28</a:t>
            </a:r>
            <a:r>
              <a:rPr lang="en-GB" dirty="0"/>
              <a:t> into a </a:t>
            </a:r>
            <a:r>
              <a:rPr lang="en-GB" b="1" dirty="0"/>
              <a:t>hidden layer size</a:t>
            </a:r>
            <a:r>
              <a:rPr lang="en-GB" dirty="0"/>
              <a:t>, to be decided.</a:t>
            </a:r>
          </a:p>
          <a:p>
            <a:r>
              <a:rPr lang="en-GB" dirty="0"/>
              <a:t>A </a:t>
            </a:r>
            <a:r>
              <a:rPr lang="en-GB" b="1" dirty="0"/>
              <a:t>decoder</a:t>
            </a:r>
            <a:r>
              <a:rPr lang="en-GB" dirty="0"/>
              <a:t>, simply modelled as a </a:t>
            </a:r>
            <a:r>
              <a:rPr lang="en-GB" b="1" dirty="0"/>
              <a:t>fully connected layer</a:t>
            </a:r>
            <a:r>
              <a:rPr lang="en-GB" dirty="0"/>
              <a:t> from the </a:t>
            </a:r>
            <a:r>
              <a:rPr lang="en-GB" b="1" dirty="0"/>
              <a:t>hidden layer size</a:t>
            </a:r>
            <a:r>
              <a:rPr lang="en-GB" dirty="0"/>
              <a:t>, back into </a:t>
            </a:r>
            <a:r>
              <a:rPr lang="en-GB" b="1" dirty="0"/>
              <a:t>28*28</a:t>
            </a:r>
            <a:r>
              <a:rPr lang="en-GB" dirty="0"/>
              <a:t>.</a:t>
            </a:r>
          </a:p>
          <a:p>
            <a:pPr marL="0" indent="0">
              <a:buNone/>
            </a:pPr>
            <a:r>
              <a:rPr lang="en-GB" dirty="0"/>
              <a:t>The two FC layers were performing “inverse” operations, in terms of dimensionality.</a:t>
            </a:r>
          </a:p>
          <a:p>
            <a:pPr marL="0" indent="0">
              <a:buNone/>
            </a:pPr>
            <a:r>
              <a:rPr lang="en-GB" b="1" dirty="0">
                <a:solidFill>
                  <a:srgbClr val="C00000"/>
                </a:solidFill>
              </a:rPr>
              <a:t>However, we never use FC layers on images, but CNNs instead.</a:t>
            </a:r>
          </a:p>
          <a:p>
            <a:pPr marL="0" indent="0">
              <a:buNone/>
            </a:pPr>
            <a:r>
              <a:rPr lang="en-GB" b="1" dirty="0">
                <a:sym typeface="Wingdings" panose="05000000000000000000" pitchFamily="2" charset="2"/>
              </a:rPr>
              <a:t> </a:t>
            </a:r>
            <a:r>
              <a:rPr lang="en-GB" b="1" dirty="0"/>
              <a:t>What would then be the “inverse” operation of the convolution?</a:t>
            </a:r>
          </a:p>
        </p:txBody>
      </p:sp>
    </p:spTree>
    <p:extLst>
      <p:ext uri="{BB962C8B-B14F-4D97-AF65-F5344CB8AC3E}">
        <p14:creationId xmlns:p14="http://schemas.microsoft.com/office/powerpoint/2010/main" val="13160852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30938-EA36-4AAB-8B56-86778A31DF7E}"/>
              </a:ext>
            </a:extLst>
          </p:cNvPr>
          <p:cNvSpPr>
            <a:spLocks noGrp="1"/>
          </p:cNvSpPr>
          <p:nvPr>
            <p:ph type="title"/>
          </p:nvPr>
        </p:nvSpPr>
        <p:spPr/>
        <p:txBody>
          <a:bodyPr/>
          <a:lstStyle/>
          <a:p>
            <a:r>
              <a:rPr lang="en-US" dirty="0"/>
              <a:t>Convolution layers (reminder)</a:t>
            </a:r>
            <a:endParaRPr lang="en-GB" dirty="0"/>
          </a:p>
        </p:txBody>
      </p:sp>
      <p:sp>
        <p:nvSpPr>
          <p:cNvPr id="3" name="Content Placeholder 2">
            <a:extLst>
              <a:ext uri="{FF2B5EF4-FFF2-40B4-BE49-F238E27FC236}">
                <a16:creationId xmlns:a16="http://schemas.microsoft.com/office/drawing/2014/main" id="{9C5F9D5E-1E0A-4799-9155-E2C49E3C7731}"/>
              </a:ext>
            </a:extLst>
          </p:cNvPr>
          <p:cNvSpPr>
            <a:spLocks noGrp="1"/>
          </p:cNvSpPr>
          <p:nvPr>
            <p:ph sz="half" idx="1"/>
          </p:nvPr>
        </p:nvSpPr>
        <p:spPr>
          <a:xfrm>
            <a:off x="838200" y="1825624"/>
            <a:ext cx="5181600" cy="5032375"/>
          </a:xfrm>
        </p:spPr>
        <p:txBody>
          <a:bodyPr>
            <a:normAutofit/>
          </a:bodyPr>
          <a:lstStyle/>
          <a:p>
            <a:r>
              <a:rPr lang="en-US" dirty="0"/>
              <a:t>Convolution layers performed t</a:t>
            </a:r>
            <a:r>
              <a:rPr lang="en-US" b="0" i="0" u="none" strike="noStrike" baseline="0" dirty="0"/>
              <a:t>ransformations of input and output by convolutions.</a:t>
            </a:r>
          </a:p>
          <a:p>
            <a:r>
              <a:rPr lang="en-US" b="1" i="0" u="none" strike="noStrike" baseline="0" dirty="0"/>
              <a:t>Magic formula:</a:t>
            </a:r>
          </a:p>
          <a:p>
            <a:pPr marL="0" indent="0" algn="ctr">
              <a:buNone/>
            </a:pPr>
            <a:r>
              <a:rPr lang="en-US" dirty="0" err="1"/>
              <a:t>o</a:t>
            </a:r>
            <a:r>
              <a:rPr lang="en-US" b="0" i="0" u="none" strike="noStrike" baseline="0" dirty="0" err="1"/>
              <a:t>utput_size</a:t>
            </a:r>
            <a:r>
              <a:rPr lang="en-US" b="0" i="0" u="none" strike="noStrike" baseline="0" dirty="0"/>
              <a:t> = (</a:t>
            </a:r>
            <a:r>
              <a:rPr lang="en-US" b="0" i="0" u="none" strike="noStrike" baseline="0" dirty="0" err="1"/>
              <a:t>input_size</a:t>
            </a:r>
            <a:r>
              <a:rPr lang="en-US" b="0" i="0" u="none" strike="noStrike" baseline="0" dirty="0"/>
              <a:t> + 2*padding – </a:t>
            </a:r>
            <a:r>
              <a:rPr lang="en-US" b="0" i="0" u="none" strike="noStrike" baseline="0" dirty="0" err="1"/>
              <a:t>kernel_size</a:t>
            </a:r>
            <a:r>
              <a:rPr lang="en-US" b="0" i="0" u="none" strike="noStrike" baseline="0" dirty="0"/>
              <a:t> + stride)/stride</a:t>
            </a:r>
            <a:endParaRPr lang="en-GB" b="0" i="0" u="none" strike="noStrike" baseline="0" dirty="0"/>
          </a:p>
          <a:p>
            <a:r>
              <a:rPr lang="en-GB" dirty="0"/>
              <a:t>Holds </a:t>
            </a:r>
            <a:r>
              <a:rPr lang="en-GB" b="0" i="0" u="none" strike="noStrike" baseline="0" dirty="0"/>
              <a:t>per dimension, i.e. 1D, 2D and N-D convolutions.</a:t>
            </a:r>
          </a:p>
          <a:p>
            <a:endParaRPr lang="en-GB" dirty="0"/>
          </a:p>
        </p:txBody>
      </p:sp>
      <p:pic>
        <p:nvPicPr>
          <p:cNvPr id="7" name="Picture 6">
            <a:extLst>
              <a:ext uri="{FF2B5EF4-FFF2-40B4-BE49-F238E27FC236}">
                <a16:creationId xmlns:a16="http://schemas.microsoft.com/office/drawing/2014/main" id="{28FAF590-2013-4279-BC9C-F14F3B3BD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4087" y="2416630"/>
            <a:ext cx="6097913" cy="2752530"/>
          </a:xfrm>
          <a:prstGeom prst="rect">
            <a:avLst/>
          </a:prstGeom>
        </p:spPr>
      </p:pic>
    </p:spTree>
    <p:extLst>
      <p:ext uri="{BB962C8B-B14F-4D97-AF65-F5344CB8AC3E}">
        <p14:creationId xmlns:p14="http://schemas.microsoft.com/office/powerpoint/2010/main" val="26538211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30938-EA36-4AAB-8B56-86778A31DF7E}"/>
              </a:ext>
            </a:extLst>
          </p:cNvPr>
          <p:cNvSpPr>
            <a:spLocks noGrp="1"/>
          </p:cNvSpPr>
          <p:nvPr>
            <p:ph type="title"/>
          </p:nvPr>
        </p:nvSpPr>
        <p:spPr/>
        <p:txBody>
          <a:bodyPr/>
          <a:lstStyle/>
          <a:p>
            <a:r>
              <a:rPr lang="en-US" dirty="0"/>
              <a:t>Convolution layers (reminder)</a:t>
            </a:r>
            <a:endParaRPr lang="en-GB" dirty="0"/>
          </a:p>
        </p:txBody>
      </p:sp>
      <p:sp>
        <p:nvSpPr>
          <p:cNvPr id="3" name="Content Placeholder 2">
            <a:extLst>
              <a:ext uri="{FF2B5EF4-FFF2-40B4-BE49-F238E27FC236}">
                <a16:creationId xmlns:a16="http://schemas.microsoft.com/office/drawing/2014/main" id="{9C5F9D5E-1E0A-4799-9155-E2C49E3C7731}"/>
              </a:ext>
            </a:extLst>
          </p:cNvPr>
          <p:cNvSpPr>
            <a:spLocks noGrp="1"/>
          </p:cNvSpPr>
          <p:nvPr>
            <p:ph sz="half" idx="1"/>
          </p:nvPr>
        </p:nvSpPr>
        <p:spPr>
          <a:xfrm>
            <a:off x="838200" y="1825624"/>
            <a:ext cx="5181600" cy="5032375"/>
          </a:xfrm>
        </p:spPr>
        <p:txBody>
          <a:bodyPr>
            <a:normAutofit/>
          </a:bodyPr>
          <a:lstStyle/>
          <a:p>
            <a:r>
              <a:rPr lang="en-US" dirty="0"/>
              <a:t>Convolution layers performed t</a:t>
            </a:r>
            <a:r>
              <a:rPr lang="en-US" b="0" i="0" u="none" strike="noStrike" baseline="0" dirty="0"/>
              <a:t>ransformations of input and output by convolutions.</a:t>
            </a:r>
          </a:p>
          <a:p>
            <a:r>
              <a:rPr lang="en-US" i="0" u="none" strike="noStrike" baseline="0" dirty="0"/>
              <a:t>Convolutions were typically used in CNNs to progressively reduce the size of the input images into a fully-connected layer with expected dimension.</a:t>
            </a:r>
          </a:p>
          <a:p>
            <a:r>
              <a:rPr lang="en-US" b="1" dirty="0"/>
              <a:t>What would then be </a:t>
            </a:r>
            <a:r>
              <a:rPr lang="en-US" b="1"/>
              <a:t>the “inverse” </a:t>
            </a:r>
            <a:r>
              <a:rPr lang="en-US" b="1" dirty="0"/>
              <a:t>operation of convolution layers?</a:t>
            </a:r>
            <a:endParaRPr lang="en-GB" b="0" i="0" u="none" strike="noStrike" baseline="0" dirty="0"/>
          </a:p>
          <a:p>
            <a:endParaRPr lang="en-GB" dirty="0"/>
          </a:p>
        </p:txBody>
      </p:sp>
      <p:pic>
        <p:nvPicPr>
          <p:cNvPr id="7" name="Picture 6">
            <a:extLst>
              <a:ext uri="{FF2B5EF4-FFF2-40B4-BE49-F238E27FC236}">
                <a16:creationId xmlns:a16="http://schemas.microsoft.com/office/drawing/2014/main" id="{28FAF590-2013-4279-BC9C-F14F3B3BD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4087" y="2416630"/>
            <a:ext cx="6097913" cy="2752530"/>
          </a:xfrm>
          <a:prstGeom prst="rect">
            <a:avLst/>
          </a:prstGeom>
        </p:spPr>
      </p:pic>
    </p:spTree>
    <p:extLst>
      <p:ext uri="{BB962C8B-B14F-4D97-AF65-F5344CB8AC3E}">
        <p14:creationId xmlns:p14="http://schemas.microsoft.com/office/powerpoint/2010/main" val="476178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3D402-E080-491D-A448-7DF93BF674C9}"/>
              </a:ext>
            </a:extLst>
          </p:cNvPr>
          <p:cNvSpPr>
            <a:spLocks noGrp="1"/>
          </p:cNvSpPr>
          <p:nvPr>
            <p:ph type="title"/>
          </p:nvPr>
        </p:nvSpPr>
        <p:spPr/>
        <p:txBody>
          <a:bodyPr/>
          <a:lstStyle/>
          <a:p>
            <a:r>
              <a:rPr lang="en-US" dirty="0"/>
              <a:t>Option 1: Nearest Neighbors </a:t>
            </a:r>
            <a:r>
              <a:rPr lang="en-US" dirty="0" err="1"/>
              <a:t>upsampling</a:t>
            </a:r>
            <a:endParaRPr lang="en-GB" dirty="0"/>
          </a:p>
        </p:txBody>
      </p:sp>
      <p:sp>
        <p:nvSpPr>
          <p:cNvPr id="3" name="Content Placeholder 2">
            <a:extLst>
              <a:ext uri="{FF2B5EF4-FFF2-40B4-BE49-F238E27FC236}">
                <a16:creationId xmlns:a16="http://schemas.microsoft.com/office/drawing/2014/main" id="{1D041F5F-1317-4BDC-919C-A67C98F8167C}"/>
              </a:ext>
            </a:extLst>
          </p:cNvPr>
          <p:cNvSpPr>
            <a:spLocks noGrp="1"/>
          </p:cNvSpPr>
          <p:nvPr>
            <p:ph sz="half" idx="1"/>
          </p:nvPr>
        </p:nvSpPr>
        <p:spPr/>
        <p:txBody>
          <a:bodyPr/>
          <a:lstStyle/>
          <a:p>
            <a:pPr marL="0" indent="0">
              <a:buNone/>
            </a:pPr>
            <a:r>
              <a:rPr lang="en-US" b="1" dirty="0"/>
              <a:t>Definition (</a:t>
            </a:r>
            <a:r>
              <a:rPr lang="en-US" b="1" dirty="0">
                <a:solidFill>
                  <a:srgbClr val="00B050"/>
                </a:solidFill>
              </a:rPr>
              <a:t>Nearest Neighbors </a:t>
            </a:r>
            <a:r>
              <a:rPr lang="en-US" b="1" dirty="0" err="1"/>
              <a:t>upsampling</a:t>
            </a:r>
            <a:r>
              <a:rPr lang="en-US" b="1" dirty="0"/>
              <a:t> technique)</a:t>
            </a:r>
          </a:p>
          <a:p>
            <a:pPr marL="0" indent="0">
              <a:buNone/>
            </a:pPr>
            <a:endParaRPr lang="en-US" dirty="0"/>
          </a:p>
          <a:p>
            <a:pPr marL="0" indent="0">
              <a:buNone/>
            </a:pPr>
            <a:r>
              <a:rPr lang="en-US" dirty="0"/>
              <a:t>In the </a:t>
            </a:r>
            <a:r>
              <a:rPr lang="en-US" b="1" dirty="0">
                <a:solidFill>
                  <a:srgbClr val="00B050"/>
                </a:solidFill>
              </a:rPr>
              <a:t>Nearest Neighbors </a:t>
            </a:r>
            <a:r>
              <a:rPr lang="en-US" b="1" dirty="0" err="1"/>
              <a:t>upsampling</a:t>
            </a:r>
            <a:r>
              <a:rPr lang="en-US" b="1" dirty="0"/>
              <a:t> technique</a:t>
            </a:r>
            <a:r>
              <a:rPr lang="en-US" dirty="0"/>
              <a:t>, we simply take an input pixel value and copy it to the K-Nearest Neighbors where K depends on the expected output.</a:t>
            </a:r>
            <a:endParaRPr lang="en-GB" dirty="0"/>
          </a:p>
        </p:txBody>
      </p:sp>
      <p:pic>
        <p:nvPicPr>
          <p:cNvPr id="6" name="Picture 5">
            <a:extLst>
              <a:ext uri="{FF2B5EF4-FFF2-40B4-BE49-F238E27FC236}">
                <a16:creationId xmlns:a16="http://schemas.microsoft.com/office/drawing/2014/main" id="{BC92B695-4EFF-4DA0-BC63-FFD948F18AE3}"/>
              </a:ext>
            </a:extLst>
          </p:cNvPr>
          <p:cNvPicPr>
            <a:picLocks noChangeAspect="1"/>
          </p:cNvPicPr>
          <p:nvPr/>
        </p:nvPicPr>
        <p:blipFill rotWithShape="1">
          <a:blip r:embed="rId2"/>
          <a:srcRect l="36046" t="31020" r="37245" b="41905"/>
          <a:stretch/>
        </p:blipFill>
        <p:spPr>
          <a:xfrm>
            <a:off x="6410129" y="2144503"/>
            <a:ext cx="5713643" cy="3257921"/>
          </a:xfrm>
          <a:prstGeom prst="rect">
            <a:avLst/>
          </a:prstGeom>
        </p:spPr>
      </p:pic>
      <p:sp>
        <p:nvSpPr>
          <p:cNvPr id="7" name="Rectangle 6">
            <a:extLst>
              <a:ext uri="{FF2B5EF4-FFF2-40B4-BE49-F238E27FC236}">
                <a16:creationId xmlns:a16="http://schemas.microsoft.com/office/drawing/2014/main" id="{13E3AA08-894D-4F96-B3D7-E781877CD8BD}"/>
              </a:ext>
            </a:extLst>
          </p:cNvPr>
          <p:cNvSpPr/>
          <p:nvPr/>
        </p:nvSpPr>
        <p:spPr>
          <a:xfrm>
            <a:off x="6260841" y="1825625"/>
            <a:ext cx="2733869" cy="88025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151194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3D402-E080-491D-A448-7DF93BF674C9}"/>
              </a:ext>
            </a:extLst>
          </p:cNvPr>
          <p:cNvSpPr>
            <a:spLocks noGrp="1"/>
          </p:cNvSpPr>
          <p:nvPr>
            <p:ph type="title"/>
          </p:nvPr>
        </p:nvSpPr>
        <p:spPr/>
        <p:txBody>
          <a:bodyPr/>
          <a:lstStyle/>
          <a:p>
            <a:r>
              <a:rPr lang="en-US" dirty="0"/>
              <a:t>Option 2: Bed of Nails </a:t>
            </a:r>
            <a:r>
              <a:rPr lang="en-US" dirty="0" err="1"/>
              <a:t>upsampling</a:t>
            </a:r>
            <a:endParaRPr lang="en-GB" dirty="0"/>
          </a:p>
        </p:txBody>
      </p:sp>
      <p:sp>
        <p:nvSpPr>
          <p:cNvPr id="3" name="Content Placeholder 2">
            <a:extLst>
              <a:ext uri="{FF2B5EF4-FFF2-40B4-BE49-F238E27FC236}">
                <a16:creationId xmlns:a16="http://schemas.microsoft.com/office/drawing/2014/main" id="{1D041F5F-1317-4BDC-919C-A67C98F8167C}"/>
              </a:ext>
            </a:extLst>
          </p:cNvPr>
          <p:cNvSpPr>
            <a:spLocks noGrp="1"/>
          </p:cNvSpPr>
          <p:nvPr>
            <p:ph sz="half" idx="1"/>
          </p:nvPr>
        </p:nvSpPr>
        <p:spPr/>
        <p:txBody>
          <a:bodyPr/>
          <a:lstStyle/>
          <a:p>
            <a:pPr marL="0" indent="0">
              <a:buNone/>
            </a:pPr>
            <a:r>
              <a:rPr lang="en-US" b="1" dirty="0"/>
              <a:t>Definition (</a:t>
            </a:r>
            <a:r>
              <a:rPr lang="en-US" b="1" dirty="0">
                <a:solidFill>
                  <a:srgbClr val="00B050"/>
                </a:solidFill>
              </a:rPr>
              <a:t>Bed of Nails </a:t>
            </a:r>
            <a:r>
              <a:rPr lang="en-US" b="1" dirty="0" err="1"/>
              <a:t>upsampling</a:t>
            </a:r>
            <a:r>
              <a:rPr lang="en-US" b="1" dirty="0"/>
              <a:t> technique)</a:t>
            </a:r>
          </a:p>
          <a:p>
            <a:pPr marL="0" indent="0">
              <a:buNone/>
            </a:pPr>
            <a:endParaRPr lang="en-US" dirty="0"/>
          </a:p>
          <a:p>
            <a:pPr marL="0" indent="0">
              <a:buNone/>
            </a:pPr>
            <a:r>
              <a:rPr lang="en-US" dirty="0"/>
              <a:t>In the </a:t>
            </a:r>
            <a:r>
              <a:rPr lang="en-US" b="1" dirty="0">
                <a:solidFill>
                  <a:srgbClr val="00B050"/>
                </a:solidFill>
              </a:rPr>
              <a:t>Bed of Nails </a:t>
            </a:r>
            <a:r>
              <a:rPr lang="en-US" b="1" dirty="0" err="1"/>
              <a:t>upsampling</a:t>
            </a:r>
            <a:r>
              <a:rPr lang="en-US" b="1" dirty="0"/>
              <a:t> technique</a:t>
            </a:r>
            <a:r>
              <a:rPr lang="en-US" dirty="0"/>
              <a:t>, we simply take the value of the input pixel at the corresponding position in the output image and filling zeros in the remaining positions.</a:t>
            </a:r>
            <a:endParaRPr lang="en-GB" dirty="0"/>
          </a:p>
        </p:txBody>
      </p:sp>
      <p:pic>
        <p:nvPicPr>
          <p:cNvPr id="5" name="Picture 4">
            <a:extLst>
              <a:ext uri="{FF2B5EF4-FFF2-40B4-BE49-F238E27FC236}">
                <a16:creationId xmlns:a16="http://schemas.microsoft.com/office/drawing/2014/main" id="{043F0087-7EEF-41DC-87FE-9EB5871D9656}"/>
              </a:ext>
            </a:extLst>
          </p:cNvPr>
          <p:cNvPicPr>
            <a:picLocks noChangeAspect="1"/>
          </p:cNvPicPr>
          <p:nvPr/>
        </p:nvPicPr>
        <p:blipFill rotWithShape="1">
          <a:blip r:embed="rId2"/>
          <a:srcRect l="36123" t="43129" r="36939" b="28435"/>
          <a:stretch/>
        </p:blipFill>
        <p:spPr>
          <a:xfrm>
            <a:off x="6019800" y="1903444"/>
            <a:ext cx="5940161" cy="3526971"/>
          </a:xfrm>
          <a:prstGeom prst="rect">
            <a:avLst/>
          </a:prstGeom>
        </p:spPr>
      </p:pic>
      <p:sp>
        <p:nvSpPr>
          <p:cNvPr id="7" name="Rectangle 6">
            <a:extLst>
              <a:ext uri="{FF2B5EF4-FFF2-40B4-BE49-F238E27FC236}">
                <a16:creationId xmlns:a16="http://schemas.microsoft.com/office/drawing/2014/main" id="{76F88A7D-0806-43C7-8697-261DB0435016}"/>
              </a:ext>
            </a:extLst>
          </p:cNvPr>
          <p:cNvSpPr/>
          <p:nvPr/>
        </p:nvSpPr>
        <p:spPr>
          <a:xfrm>
            <a:off x="5906278" y="1690688"/>
            <a:ext cx="2733869" cy="88025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831489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3D402-E080-491D-A448-7DF93BF674C9}"/>
              </a:ext>
            </a:extLst>
          </p:cNvPr>
          <p:cNvSpPr>
            <a:spLocks noGrp="1"/>
          </p:cNvSpPr>
          <p:nvPr>
            <p:ph type="title"/>
          </p:nvPr>
        </p:nvSpPr>
        <p:spPr/>
        <p:txBody>
          <a:bodyPr/>
          <a:lstStyle/>
          <a:p>
            <a:r>
              <a:rPr lang="en-US" dirty="0"/>
              <a:t>Option 3: Bi-Linear Interpolation </a:t>
            </a:r>
            <a:r>
              <a:rPr lang="en-US" dirty="0" err="1"/>
              <a:t>upsampling</a:t>
            </a:r>
            <a:endParaRPr lang="en-GB" dirty="0"/>
          </a:p>
        </p:txBody>
      </p:sp>
      <p:sp>
        <p:nvSpPr>
          <p:cNvPr id="3" name="Content Placeholder 2">
            <a:extLst>
              <a:ext uri="{FF2B5EF4-FFF2-40B4-BE49-F238E27FC236}">
                <a16:creationId xmlns:a16="http://schemas.microsoft.com/office/drawing/2014/main" id="{1D041F5F-1317-4BDC-919C-A67C98F8167C}"/>
              </a:ext>
            </a:extLst>
          </p:cNvPr>
          <p:cNvSpPr>
            <a:spLocks noGrp="1"/>
          </p:cNvSpPr>
          <p:nvPr>
            <p:ph sz="half" idx="1"/>
          </p:nvPr>
        </p:nvSpPr>
        <p:spPr>
          <a:xfrm>
            <a:off x="838200" y="1825624"/>
            <a:ext cx="5181600" cy="5032375"/>
          </a:xfrm>
        </p:spPr>
        <p:txBody>
          <a:bodyPr/>
          <a:lstStyle/>
          <a:p>
            <a:pPr marL="0" indent="0">
              <a:buNone/>
            </a:pPr>
            <a:r>
              <a:rPr lang="en-US" b="1" dirty="0"/>
              <a:t>Definition (</a:t>
            </a:r>
            <a:r>
              <a:rPr lang="en-US" b="1" dirty="0">
                <a:solidFill>
                  <a:srgbClr val="00B050"/>
                </a:solidFill>
              </a:rPr>
              <a:t>Bi-Linear Interpolation </a:t>
            </a:r>
            <a:r>
              <a:rPr lang="en-US" b="1" dirty="0" err="1"/>
              <a:t>upsampling</a:t>
            </a:r>
            <a:r>
              <a:rPr lang="en-US" b="1" dirty="0"/>
              <a:t> technique)</a:t>
            </a:r>
          </a:p>
          <a:p>
            <a:pPr marL="0" indent="0">
              <a:buNone/>
            </a:pPr>
            <a:endParaRPr lang="en-US" dirty="0"/>
          </a:p>
          <a:p>
            <a:pPr marL="0" indent="0">
              <a:buNone/>
            </a:pPr>
            <a:r>
              <a:rPr lang="en-US" dirty="0"/>
              <a:t>In the </a:t>
            </a:r>
            <a:r>
              <a:rPr lang="en-US" b="1" dirty="0">
                <a:solidFill>
                  <a:srgbClr val="00B050"/>
                </a:solidFill>
              </a:rPr>
              <a:t>Bi-Linear Interpolation </a:t>
            </a:r>
            <a:r>
              <a:rPr lang="en-US" b="1" dirty="0" err="1"/>
              <a:t>upsampling</a:t>
            </a:r>
            <a:r>
              <a:rPr lang="en-US" b="1" dirty="0"/>
              <a:t> technique</a:t>
            </a:r>
            <a:r>
              <a:rPr lang="en-US" dirty="0"/>
              <a:t>, we take the 4 nearest pixel value of the input pixel and perform a weighted average based on the distance of the four nearest cells, therefore smoothing the output.</a:t>
            </a:r>
            <a:endParaRPr lang="en-GB" dirty="0"/>
          </a:p>
        </p:txBody>
      </p:sp>
      <p:pic>
        <p:nvPicPr>
          <p:cNvPr id="5" name="Picture 4">
            <a:extLst>
              <a:ext uri="{FF2B5EF4-FFF2-40B4-BE49-F238E27FC236}">
                <a16:creationId xmlns:a16="http://schemas.microsoft.com/office/drawing/2014/main" id="{AD5B9B86-8F7A-4E81-BA3C-708EEBBD73E7}"/>
              </a:ext>
            </a:extLst>
          </p:cNvPr>
          <p:cNvPicPr>
            <a:picLocks noChangeAspect="1"/>
          </p:cNvPicPr>
          <p:nvPr/>
        </p:nvPicPr>
        <p:blipFill rotWithShape="1">
          <a:blip r:embed="rId2"/>
          <a:srcRect l="35127" t="45579" r="36556" b="29251"/>
          <a:stretch/>
        </p:blipFill>
        <p:spPr>
          <a:xfrm>
            <a:off x="6111553" y="2668555"/>
            <a:ext cx="5971588" cy="2985795"/>
          </a:xfrm>
          <a:prstGeom prst="rect">
            <a:avLst/>
          </a:prstGeom>
        </p:spPr>
      </p:pic>
    </p:spTree>
    <p:extLst>
      <p:ext uri="{BB962C8B-B14F-4D97-AF65-F5344CB8AC3E}">
        <p14:creationId xmlns:p14="http://schemas.microsoft.com/office/powerpoint/2010/main" val="11915011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3D402-E080-491D-A448-7DF93BF674C9}"/>
              </a:ext>
            </a:extLst>
          </p:cNvPr>
          <p:cNvSpPr>
            <a:spLocks noGrp="1"/>
          </p:cNvSpPr>
          <p:nvPr>
            <p:ph type="title"/>
          </p:nvPr>
        </p:nvSpPr>
        <p:spPr/>
        <p:txBody>
          <a:bodyPr/>
          <a:lstStyle/>
          <a:p>
            <a:r>
              <a:rPr lang="en-US" dirty="0"/>
              <a:t>Option 4: Reversed </a:t>
            </a:r>
            <a:r>
              <a:rPr lang="en-US" dirty="0" err="1"/>
              <a:t>MaxPooling</a:t>
            </a:r>
            <a:r>
              <a:rPr lang="en-US" dirty="0"/>
              <a:t> </a:t>
            </a:r>
            <a:r>
              <a:rPr lang="en-US" dirty="0" err="1"/>
              <a:t>upsampling</a:t>
            </a:r>
            <a:endParaRPr lang="en-GB" dirty="0"/>
          </a:p>
        </p:txBody>
      </p:sp>
      <p:sp>
        <p:nvSpPr>
          <p:cNvPr id="3" name="Content Placeholder 2">
            <a:extLst>
              <a:ext uri="{FF2B5EF4-FFF2-40B4-BE49-F238E27FC236}">
                <a16:creationId xmlns:a16="http://schemas.microsoft.com/office/drawing/2014/main" id="{1D041F5F-1317-4BDC-919C-A67C98F8167C}"/>
              </a:ext>
            </a:extLst>
          </p:cNvPr>
          <p:cNvSpPr>
            <a:spLocks noGrp="1"/>
          </p:cNvSpPr>
          <p:nvPr>
            <p:ph sz="half" idx="1"/>
          </p:nvPr>
        </p:nvSpPr>
        <p:spPr>
          <a:xfrm>
            <a:off x="838200" y="1825624"/>
            <a:ext cx="5181600" cy="5032375"/>
          </a:xfrm>
        </p:spPr>
        <p:txBody>
          <a:bodyPr>
            <a:normAutofit fontScale="92500" lnSpcReduction="10000"/>
          </a:bodyPr>
          <a:lstStyle/>
          <a:p>
            <a:pPr marL="0" indent="0">
              <a:buNone/>
            </a:pPr>
            <a:r>
              <a:rPr lang="en-US" b="1" dirty="0"/>
              <a:t>Definition (</a:t>
            </a:r>
            <a:r>
              <a:rPr lang="en-US" b="1" dirty="0">
                <a:solidFill>
                  <a:srgbClr val="00B050"/>
                </a:solidFill>
              </a:rPr>
              <a:t>Reversed </a:t>
            </a:r>
            <a:r>
              <a:rPr lang="en-US" b="1" dirty="0" err="1">
                <a:solidFill>
                  <a:srgbClr val="00B050"/>
                </a:solidFill>
              </a:rPr>
              <a:t>MaxPooling</a:t>
            </a:r>
            <a:r>
              <a:rPr lang="en-US" b="1" dirty="0">
                <a:solidFill>
                  <a:srgbClr val="00B050"/>
                </a:solidFill>
              </a:rPr>
              <a:t> </a:t>
            </a:r>
            <a:r>
              <a:rPr lang="en-US" b="1" dirty="0" err="1"/>
              <a:t>upsampling</a:t>
            </a:r>
            <a:r>
              <a:rPr lang="en-US" b="1" dirty="0"/>
              <a:t> technique)</a:t>
            </a:r>
            <a:endParaRPr lang="en-US" dirty="0"/>
          </a:p>
          <a:p>
            <a:pPr marL="0" indent="0">
              <a:buNone/>
            </a:pPr>
            <a:r>
              <a:rPr lang="en-US" dirty="0"/>
              <a:t>The Max-Pooling layer in CNN takes the maximum among all the values in the kernel.</a:t>
            </a:r>
          </a:p>
          <a:p>
            <a:pPr marL="0" indent="0">
              <a:buNone/>
            </a:pPr>
            <a:r>
              <a:rPr lang="en-US" dirty="0"/>
              <a:t>To perform </a:t>
            </a:r>
            <a:r>
              <a:rPr lang="en-US" b="1" dirty="0">
                <a:solidFill>
                  <a:srgbClr val="00B050"/>
                </a:solidFill>
              </a:rPr>
              <a:t>Reversed </a:t>
            </a:r>
            <a:r>
              <a:rPr lang="en-US" b="1" dirty="0" err="1">
                <a:solidFill>
                  <a:srgbClr val="00B050"/>
                </a:solidFill>
              </a:rPr>
              <a:t>MaxPooling</a:t>
            </a:r>
            <a:r>
              <a:rPr lang="en-US" b="1" dirty="0">
                <a:solidFill>
                  <a:srgbClr val="00B050"/>
                </a:solidFill>
              </a:rPr>
              <a:t> </a:t>
            </a:r>
            <a:r>
              <a:rPr lang="en-US" dirty="0"/>
              <a:t>, first, the index of the maximum value is saved for every max-pooling layer during the encoding step.</a:t>
            </a:r>
          </a:p>
          <a:p>
            <a:pPr marL="0" indent="0">
              <a:buNone/>
            </a:pPr>
            <a:r>
              <a:rPr lang="en-US" dirty="0"/>
              <a:t>The saved index is then used during the decoding step where the input pixel is mapped to the saved index, filling zeros everywhere else.</a:t>
            </a:r>
            <a:endParaRPr lang="en-GB" dirty="0"/>
          </a:p>
        </p:txBody>
      </p:sp>
      <p:pic>
        <p:nvPicPr>
          <p:cNvPr id="6" name="Picture 5">
            <a:extLst>
              <a:ext uri="{FF2B5EF4-FFF2-40B4-BE49-F238E27FC236}">
                <a16:creationId xmlns:a16="http://schemas.microsoft.com/office/drawing/2014/main" id="{78A0FC36-32D5-470B-A231-50E0868FD7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547815"/>
            <a:ext cx="5943746" cy="2946400"/>
          </a:xfrm>
          <a:prstGeom prst="rect">
            <a:avLst/>
          </a:prstGeom>
        </p:spPr>
      </p:pic>
    </p:spTree>
    <p:extLst>
      <p:ext uri="{BB962C8B-B14F-4D97-AF65-F5344CB8AC3E}">
        <p14:creationId xmlns:p14="http://schemas.microsoft.com/office/powerpoint/2010/main" val="6277724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50690-D9BB-42EF-9479-9CAF1A04FB0E}"/>
              </a:ext>
            </a:extLst>
          </p:cNvPr>
          <p:cNvSpPr>
            <a:spLocks noGrp="1"/>
          </p:cNvSpPr>
          <p:nvPr>
            <p:ph type="title"/>
          </p:nvPr>
        </p:nvSpPr>
        <p:spPr/>
        <p:txBody>
          <a:bodyPr/>
          <a:lstStyle/>
          <a:p>
            <a:r>
              <a:rPr lang="en-US" dirty="0"/>
              <a:t>On the need for deconvolution layers</a:t>
            </a:r>
            <a:endParaRPr lang="en-GB" dirty="0"/>
          </a:p>
        </p:txBody>
      </p:sp>
      <p:sp>
        <p:nvSpPr>
          <p:cNvPr id="3" name="Content Placeholder 2">
            <a:extLst>
              <a:ext uri="{FF2B5EF4-FFF2-40B4-BE49-F238E27FC236}">
                <a16:creationId xmlns:a16="http://schemas.microsoft.com/office/drawing/2014/main" id="{F8F1E6D4-AC1F-43FD-9F3A-50AF992F88B8}"/>
              </a:ext>
            </a:extLst>
          </p:cNvPr>
          <p:cNvSpPr>
            <a:spLocks noGrp="1"/>
          </p:cNvSpPr>
          <p:nvPr>
            <p:ph sz="half" idx="1"/>
          </p:nvPr>
        </p:nvSpPr>
        <p:spPr>
          <a:xfrm>
            <a:off x="838200" y="1825624"/>
            <a:ext cx="5181600" cy="5032375"/>
          </a:xfrm>
        </p:spPr>
        <p:txBody>
          <a:bodyPr>
            <a:normAutofit/>
          </a:bodyPr>
          <a:lstStyle/>
          <a:p>
            <a:r>
              <a:rPr lang="en-US" b="1" dirty="0"/>
              <a:t>Problem #1: </a:t>
            </a:r>
            <a:r>
              <a:rPr lang="en-US" dirty="0"/>
              <a:t>the four options mentioned earlier are a bit too simplistic and might </a:t>
            </a:r>
            <a:r>
              <a:rPr lang="en-US" b="1" dirty="0"/>
              <a:t>not be able to “reconstruct” the missing information of an image properly.</a:t>
            </a:r>
          </a:p>
          <a:p>
            <a:endParaRPr lang="en-US" b="1" dirty="0"/>
          </a:p>
          <a:p>
            <a:r>
              <a:rPr lang="en-US" b="1" dirty="0"/>
              <a:t>Problem #2: </a:t>
            </a:r>
            <a:r>
              <a:rPr lang="en-US" dirty="0"/>
              <a:t>more importantly, these layers are not </a:t>
            </a:r>
            <a:r>
              <a:rPr lang="en-US" b="1" dirty="0"/>
              <a:t>trainable and we have no control over them</a:t>
            </a:r>
            <a:r>
              <a:rPr lang="en-US" dirty="0"/>
              <a:t>.</a:t>
            </a:r>
            <a:endParaRPr lang="en-GB" dirty="0"/>
          </a:p>
        </p:txBody>
      </p:sp>
      <p:pic>
        <p:nvPicPr>
          <p:cNvPr id="10" name="Picture 9">
            <a:extLst>
              <a:ext uri="{FF2B5EF4-FFF2-40B4-BE49-F238E27FC236}">
                <a16:creationId xmlns:a16="http://schemas.microsoft.com/office/drawing/2014/main" id="{C862E949-71E0-413F-9DBD-F3B100CBF89D}"/>
              </a:ext>
            </a:extLst>
          </p:cNvPr>
          <p:cNvPicPr>
            <a:picLocks noChangeAspect="1"/>
          </p:cNvPicPr>
          <p:nvPr/>
        </p:nvPicPr>
        <p:blipFill rotWithShape="1">
          <a:blip r:embed="rId2"/>
          <a:srcRect l="36046" t="31020" r="37245" b="41905"/>
          <a:stretch/>
        </p:blipFill>
        <p:spPr>
          <a:xfrm>
            <a:off x="9234077" y="1644977"/>
            <a:ext cx="2836824" cy="1617558"/>
          </a:xfrm>
          <a:prstGeom prst="rect">
            <a:avLst/>
          </a:prstGeom>
        </p:spPr>
      </p:pic>
      <p:pic>
        <p:nvPicPr>
          <p:cNvPr id="11" name="Picture 10">
            <a:extLst>
              <a:ext uri="{FF2B5EF4-FFF2-40B4-BE49-F238E27FC236}">
                <a16:creationId xmlns:a16="http://schemas.microsoft.com/office/drawing/2014/main" id="{98F9A4B1-EB77-4C93-B196-63AEAF4F54AA}"/>
              </a:ext>
            </a:extLst>
          </p:cNvPr>
          <p:cNvPicPr>
            <a:picLocks noChangeAspect="1"/>
          </p:cNvPicPr>
          <p:nvPr/>
        </p:nvPicPr>
        <p:blipFill rotWithShape="1">
          <a:blip r:embed="rId3"/>
          <a:srcRect l="36123" t="43129" r="36939" b="28435"/>
          <a:stretch/>
        </p:blipFill>
        <p:spPr>
          <a:xfrm>
            <a:off x="6468909" y="1711055"/>
            <a:ext cx="2578716" cy="1531113"/>
          </a:xfrm>
          <a:prstGeom prst="rect">
            <a:avLst/>
          </a:prstGeom>
        </p:spPr>
      </p:pic>
      <p:pic>
        <p:nvPicPr>
          <p:cNvPr id="12" name="Picture 11">
            <a:extLst>
              <a:ext uri="{FF2B5EF4-FFF2-40B4-BE49-F238E27FC236}">
                <a16:creationId xmlns:a16="http://schemas.microsoft.com/office/drawing/2014/main" id="{79ECC5FA-F84C-425C-BDC7-9B671F99BFBD}"/>
              </a:ext>
            </a:extLst>
          </p:cNvPr>
          <p:cNvPicPr>
            <a:picLocks noChangeAspect="1"/>
          </p:cNvPicPr>
          <p:nvPr/>
        </p:nvPicPr>
        <p:blipFill rotWithShape="1">
          <a:blip r:embed="rId4"/>
          <a:srcRect l="35127" t="45579" r="36556" b="29251"/>
          <a:stretch/>
        </p:blipFill>
        <p:spPr>
          <a:xfrm>
            <a:off x="7604370" y="3483086"/>
            <a:ext cx="3204308" cy="1602154"/>
          </a:xfrm>
          <a:prstGeom prst="rect">
            <a:avLst/>
          </a:prstGeom>
        </p:spPr>
      </p:pic>
      <p:sp>
        <p:nvSpPr>
          <p:cNvPr id="13" name="Rectangle 12">
            <a:extLst>
              <a:ext uri="{FF2B5EF4-FFF2-40B4-BE49-F238E27FC236}">
                <a16:creationId xmlns:a16="http://schemas.microsoft.com/office/drawing/2014/main" id="{67798593-4C8E-4637-B99C-6E27B1387131}"/>
              </a:ext>
            </a:extLst>
          </p:cNvPr>
          <p:cNvSpPr/>
          <p:nvPr/>
        </p:nvSpPr>
        <p:spPr>
          <a:xfrm>
            <a:off x="9047625" y="1491302"/>
            <a:ext cx="1604864" cy="3750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Rectangle 13">
            <a:extLst>
              <a:ext uri="{FF2B5EF4-FFF2-40B4-BE49-F238E27FC236}">
                <a16:creationId xmlns:a16="http://schemas.microsoft.com/office/drawing/2014/main" id="{75E95883-977B-490E-B1F4-AA1E8380FD36}"/>
              </a:ext>
            </a:extLst>
          </p:cNvPr>
          <p:cNvSpPr/>
          <p:nvPr/>
        </p:nvSpPr>
        <p:spPr>
          <a:xfrm>
            <a:off x="6153403" y="1590995"/>
            <a:ext cx="1604864" cy="3750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Picture 14">
            <a:extLst>
              <a:ext uri="{FF2B5EF4-FFF2-40B4-BE49-F238E27FC236}">
                <a16:creationId xmlns:a16="http://schemas.microsoft.com/office/drawing/2014/main" id="{28768086-E7D2-47F6-871A-14FA265FF0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96194" y="5085240"/>
            <a:ext cx="3477845" cy="1724018"/>
          </a:xfrm>
          <a:prstGeom prst="rect">
            <a:avLst/>
          </a:prstGeom>
        </p:spPr>
      </p:pic>
    </p:spTree>
    <p:extLst>
      <p:ext uri="{BB962C8B-B14F-4D97-AF65-F5344CB8AC3E}">
        <p14:creationId xmlns:p14="http://schemas.microsoft.com/office/powerpoint/2010/main" val="38030256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B0F21-B1F8-4C22-B346-706BF2FCE8AE}"/>
              </a:ext>
            </a:extLst>
          </p:cNvPr>
          <p:cNvSpPr>
            <a:spLocks noGrp="1"/>
          </p:cNvSpPr>
          <p:nvPr>
            <p:ph type="title"/>
          </p:nvPr>
        </p:nvSpPr>
        <p:spPr/>
        <p:txBody>
          <a:bodyPr/>
          <a:lstStyle/>
          <a:p>
            <a:r>
              <a:rPr lang="en-US" dirty="0"/>
              <a:t>Deconvolution operation</a:t>
            </a:r>
            <a:endParaRPr lang="en-GB" dirty="0"/>
          </a:p>
        </p:txBody>
      </p:sp>
      <p:sp>
        <p:nvSpPr>
          <p:cNvPr id="5" name="Content Placeholder 4">
            <a:extLst>
              <a:ext uri="{FF2B5EF4-FFF2-40B4-BE49-F238E27FC236}">
                <a16:creationId xmlns:a16="http://schemas.microsoft.com/office/drawing/2014/main" id="{6A688620-5105-43A9-8227-D807AD0FA34F}"/>
              </a:ext>
            </a:extLst>
          </p:cNvPr>
          <p:cNvSpPr>
            <a:spLocks noGrp="1"/>
          </p:cNvSpPr>
          <p:nvPr>
            <p:ph idx="1"/>
          </p:nvPr>
        </p:nvSpPr>
        <p:spPr/>
        <p:txBody>
          <a:bodyPr/>
          <a:lstStyle/>
          <a:p>
            <a:pPr marL="0" indent="0">
              <a:buNone/>
            </a:pPr>
            <a:r>
              <a:rPr lang="en-US" b="1" dirty="0"/>
              <a:t>Definition (</a:t>
            </a:r>
            <a:r>
              <a:rPr lang="en-US" b="1" dirty="0">
                <a:solidFill>
                  <a:srgbClr val="00B050"/>
                </a:solidFill>
              </a:rPr>
              <a:t>Deconvolution</a:t>
            </a:r>
            <a:r>
              <a:rPr lang="en-US" b="1" dirty="0"/>
              <a:t> layer):</a:t>
            </a:r>
          </a:p>
          <a:p>
            <a:pPr marL="0" indent="0">
              <a:buNone/>
            </a:pPr>
            <a:r>
              <a:rPr lang="en-US" dirty="0"/>
              <a:t>The </a:t>
            </a:r>
            <a:r>
              <a:rPr lang="en-US" b="1" dirty="0">
                <a:solidFill>
                  <a:srgbClr val="00B050"/>
                </a:solidFill>
              </a:rPr>
              <a:t>Deconvolution</a:t>
            </a:r>
            <a:r>
              <a:rPr lang="en-US" dirty="0"/>
              <a:t> (also commonly referred to as </a:t>
            </a:r>
            <a:r>
              <a:rPr lang="en-US" b="1" dirty="0">
                <a:solidFill>
                  <a:srgbClr val="00B050"/>
                </a:solidFill>
              </a:rPr>
              <a:t>Transposed</a:t>
            </a:r>
            <a:r>
              <a:rPr lang="en-US" dirty="0"/>
              <a:t> </a:t>
            </a:r>
            <a:r>
              <a:rPr lang="en-US" b="1" dirty="0">
                <a:solidFill>
                  <a:srgbClr val="00B050"/>
                </a:solidFill>
              </a:rPr>
              <a:t>Convolution</a:t>
            </a:r>
            <a:r>
              <a:rPr lang="en-US" dirty="0"/>
              <a:t>, or </a:t>
            </a:r>
            <a:r>
              <a:rPr lang="en-US" b="1" dirty="0">
                <a:solidFill>
                  <a:srgbClr val="00B050"/>
                </a:solidFill>
              </a:rPr>
              <a:t>Fractionally</a:t>
            </a:r>
            <a:r>
              <a:rPr lang="en-US" dirty="0"/>
              <a:t> </a:t>
            </a:r>
            <a:r>
              <a:rPr lang="en-US" b="1" dirty="0" err="1">
                <a:solidFill>
                  <a:srgbClr val="00B050"/>
                </a:solidFill>
              </a:rPr>
              <a:t>Strided</a:t>
            </a:r>
            <a:r>
              <a:rPr lang="en-US" dirty="0"/>
              <a:t> </a:t>
            </a:r>
            <a:r>
              <a:rPr lang="en-US" b="1" dirty="0">
                <a:solidFill>
                  <a:srgbClr val="00B050"/>
                </a:solidFill>
              </a:rPr>
              <a:t>Convolution</a:t>
            </a:r>
            <a:r>
              <a:rPr lang="en-US" dirty="0"/>
              <a:t>) </a:t>
            </a:r>
            <a:r>
              <a:rPr lang="en-US" b="1" dirty="0"/>
              <a:t>layer</a:t>
            </a:r>
            <a:r>
              <a:rPr lang="en-US" dirty="0"/>
              <a:t> is used to </a:t>
            </a:r>
            <a:r>
              <a:rPr lang="en-US" b="1" dirty="0" err="1"/>
              <a:t>upsample</a:t>
            </a:r>
            <a:r>
              <a:rPr lang="en-US" dirty="0"/>
              <a:t> </a:t>
            </a:r>
            <a:r>
              <a:rPr lang="en-US" b="1" dirty="0"/>
              <a:t>the input feature map </a:t>
            </a:r>
            <a:r>
              <a:rPr lang="en-US" dirty="0"/>
              <a:t>to a </a:t>
            </a:r>
            <a:r>
              <a:rPr lang="en-US" b="1" dirty="0"/>
              <a:t>desired output feature</a:t>
            </a:r>
            <a:r>
              <a:rPr lang="en-US" dirty="0"/>
              <a:t> map using </a:t>
            </a:r>
            <a:r>
              <a:rPr lang="en-US" b="1" dirty="0"/>
              <a:t>some learnable parameters</a:t>
            </a:r>
            <a:r>
              <a:rPr lang="en-US" dirty="0"/>
              <a:t>.</a:t>
            </a:r>
          </a:p>
          <a:p>
            <a:pPr marL="0" indent="0">
              <a:buNone/>
            </a:pPr>
            <a:r>
              <a:rPr lang="en-US" dirty="0"/>
              <a:t>Works as a convolution, multiply input with kernel elements but copy output in multiple locations to </a:t>
            </a:r>
            <a:r>
              <a:rPr lang="en-US" dirty="0" err="1"/>
              <a:t>upsample</a:t>
            </a:r>
            <a:r>
              <a:rPr lang="en-US" dirty="0"/>
              <a:t>.</a:t>
            </a:r>
          </a:p>
          <a:p>
            <a:pPr marL="0" indent="0">
              <a:buNone/>
            </a:pPr>
            <a:endParaRPr lang="en-GB" dirty="0"/>
          </a:p>
        </p:txBody>
      </p:sp>
      <p:pic>
        <p:nvPicPr>
          <p:cNvPr id="7" name="Picture 6">
            <a:extLst>
              <a:ext uri="{FF2B5EF4-FFF2-40B4-BE49-F238E27FC236}">
                <a16:creationId xmlns:a16="http://schemas.microsoft.com/office/drawing/2014/main" id="{462B25D0-F585-41C3-BA57-08644B329A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6506" y="4768118"/>
            <a:ext cx="10917294" cy="2089882"/>
          </a:xfrm>
          <a:prstGeom prst="rect">
            <a:avLst/>
          </a:prstGeom>
        </p:spPr>
      </p:pic>
    </p:spTree>
    <p:extLst>
      <p:ext uri="{BB962C8B-B14F-4D97-AF65-F5344CB8AC3E}">
        <p14:creationId xmlns:p14="http://schemas.microsoft.com/office/powerpoint/2010/main" val="13719829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B0F21-B1F8-4C22-B346-706BF2FCE8AE}"/>
              </a:ext>
            </a:extLst>
          </p:cNvPr>
          <p:cNvSpPr>
            <a:spLocks noGrp="1"/>
          </p:cNvSpPr>
          <p:nvPr>
            <p:ph type="title"/>
          </p:nvPr>
        </p:nvSpPr>
        <p:spPr/>
        <p:txBody>
          <a:bodyPr/>
          <a:lstStyle/>
          <a:p>
            <a:r>
              <a:rPr lang="en-US" dirty="0"/>
              <a:t>Deconvolution operation</a:t>
            </a:r>
            <a:endParaRPr lang="en-GB" dirty="0"/>
          </a:p>
        </p:txBody>
      </p:sp>
      <p:sp>
        <p:nvSpPr>
          <p:cNvPr id="5" name="Content Placeholder 4">
            <a:extLst>
              <a:ext uri="{FF2B5EF4-FFF2-40B4-BE49-F238E27FC236}">
                <a16:creationId xmlns:a16="http://schemas.microsoft.com/office/drawing/2014/main" id="{6A688620-5105-43A9-8227-D807AD0FA34F}"/>
              </a:ext>
            </a:extLst>
          </p:cNvPr>
          <p:cNvSpPr>
            <a:spLocks noGrp="1"/>
          </p:cNvSpPr>
          <p:nvPr>
            <p:ph idx="1"/>
          </p:nvPr>
        </p:nvSpPr>
        <p:spPr/>
        <p:txBody>
          <a:bodyPr/>
          <a:lstStyle/>
          <a:p>
            <a:pPr marL="0" indent="0">
              <a:buNone/>
            </a:pPr>
            <a:r>
              <a:rPr lang="en-US" dirty="0"/>
              <a:t>The </a:t>
            </a:r>
            <a:r>
              <a:rPr lang="en-US" b="1" dirty="0">
                <a:solidFill>
                  <a:srgbClr val="00B050"/>
                </a:solidFill>
              </a:rPr>
              <a:t>Deconvolution</a:t>
            </a:r>
            <a:r>
              <a:rPr lang="en-US" dirty="0"/>
              <a:t> </a:t>
            </a:r>
            <a:r>
              <a:rPr lang="en-US" b="1" dirty="0"/>
              <a:t>layer </a:t>
            </a:r>
            <a:r>
              <a:rPr lang="en-US" dirty="0"/>
              <a:t>consists of a simple matrix multiplication.</a:t>
            </a:r>
            <a:endParaRPr lang="en-GB" dirty="0"/>
          </a:p>
        </p:txBody>
      </p:sp>
      <p:pic>
        <p:nvPicPr>
          <p:cNvPr id="4" name="Picture 3">
            <a:extLst>
              <a:ext uri="{FF2B5EF4-FFF2-40B4-BE49-F238E27FC236}">
                <a16:creationId xmlns:a16="http://schemas.microsoft.com/office/drawing/2014/main" id="{6C24AF77-5A49-40C5-B510-A1117FE497D7}"/>
              </a:ext>
            </a:extLst>
          </p:cNvPr>
          <p:cNvPicPr>
            <a:picLocks noChangeAspect="1"/>
          </p:cNvPicPr>
          <p:nvPr/>
        </p:nvPicPr>
        <p:blipFill rotWithShape="1">
          <a:blip r:embed="rId2"/>
          <a:srcRect l="51410" t="29539" r="13750" b="16923"/>
          <a:stretch/>
        </p:blipFill>
        <p:spPr>
          <a:xfrm>
            <a:off x="1765492" y="2633785"/>
            <a:ext cx="8661016" cy="4159203"/>
          </a:xfrm>
          <a:prstGeom prst="rect">
            <a:avLst/>
          </a:prstGeom>
        </p:spPr>
      </p:pic>
    </p:spTree>
    <p:extLst>
      <p:ext uri="{BB962C8B-B14F-4D97-AF65-F5344CB8AC3E}">
        <p14:creationId xmlns:p14="http://schemas.microsoft.com/office/powerpoint/2010/main" val="25988624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B0F21-B1F8-4C22-B346-706BF2FCE8AE}"/>
              </a:ext>
            </a:extLst>
          </p:cNvPr>
          <p:cNvSpPr>
            <a:spLocks noGrp="1"/>
          </p:cNvSpPr>
          <p:nvPr>
            <p:ph type="title"/>
          </p:nvPr>
        </p:nvSpPr>
        <p:spPr/>
        <p:txBody>
          <a:bodyPr/>
          <a:lstStyle/>
          <a:p>
            <a:r>
              <a:rPr lang="en-US" dirty="0"/>
              <a:t>Deconvolution operation</a:t>
            </a:r>
            <a:endParaRPr lang="en-GB" dirty="0"/>
          </a:p>
        </p:txBody>
      </p:sp>
      <p:sp>
        <p:nvSpPr>
          <p:cNvPr id="5" name="Content Placeholder 4">
            <a:extLst>
              <a:ext uri="{FF2B5EF4-FFF2-40B4-BE49-F238E27FC236}">
                <a16:creationId xmlns:a16="http://schemas.microsoft.com/office/drawing/2014/main" id="{6A688620-5105-43A9-8227-D807AD0FA34F}"/>
              </a:ext>
            </a:extLst>
          </p:cNvPr>
          <p:cNvSpPr>
            <a:spLocks noGrp="1"/>
          </p:cNvSpPr>
          <p:nvPr>
            <p:ph sz="half" idx="1"/>
          </p:nvPr>
        </p:nvSpPr>
        <p:spPr>
          <a:xfrm>
            <a:off x="838200" y="1825624"/>
            <a:ext cx="5181600" cy="5062117"/>
          </a:xfrm>
        </p:spPr>
        <p:txBody>
          <a:bodyPr>
            <a:normAutofit/>
          </a:bodyPr>
          <a:lstStyle/>
          <a:p>
            <a:pPr marL="0" indent="0">
              <a:buNone/>
            </a:pPr>
            <a:r>
              <a:rPr lang="en-US" dirty="0"/>
              <a:t>Deconvolution layers are </a:t>
            </a:r>
            <a:r>
              <a:rPr lang="en-US" b="1" dirty="0"/>
              <a:t>trainable</a:t>
            </a:r>
            <a:r>
              <a:rPr lang="en-US" dirty="0"/>
              <a:t> layers, which allow to </a:t>
            </a:r>
            <a:r>
              <a:rPr lang="en-US" dirty="0" err="1"/>
              <a:t>upsample</a:t>
            </a:r>
            <a:r>
              <a:rPr lang="en-US" dirty="0"/>
              <a:t> an input (as opposed to </a:t>
            </a:r>
            <a:r>
              <a:rPr lang="en-US" dirty="0" err="1"/>
              <a:t>downsampling</a:t>
            </a:r>
            <a:r>
              <a:rPr lang="en-US" dirty="0"/>
              <a:t> Convolution layers).</a:t>
            </a:r>
          </a:p>
          <a:p>
            <a:pPr marL="0" indent="0">
              <a:buNone/>
            </a:pPr>
            <a:endParaRPr lang="en-US" dirty="0"/>
          </a:p>
          <a:p>
            <a:pPr marL="0" indent="0">
              <a:buNone/>
            </a:pPr>
            <a:r>
              <a:rPr lang="en-US" dirty="0"/>
              <a:t>They are easily implemented on </a:t>
            </a:r>
            <a:r>
              <a:rPr lang="en-US" dirty="0" err="1"/>
              <a:t>PyTorch</a:t>
            </a:r>
            <a:r>
              <a:rPr lang="en-US" dirty="0"/>
              <a:t>, using the </a:t>
            </a:r>
            <a:r>
              <a:rPr lang="en-US" b="1" dirty="0" err="1"/>
              <a:t>ConvTranspose</a:t>
            </a:r>
            <a:r>
              <a:rPr lang="en-US" dirty="0"/>
              <a:t> types of layers (exists in 1D, 2D, and n-D if needed).</a:t>
            </a:r>
          </a:p>
          <a:p>
            <a:pPr marL="0" indent="0">
              <a:buNone/>
            </a:pPr>
            <a:endParaRPr lang="en-US" dirty="0"/>
          </a:p>
          <a:p>
            <a:pPr marL="0" indent="0">
              <a:buNone/>
            </a:pPr>
            <a:endParaRPr lang="en-US" dirty="0"/>
          </a:p>
          <a:p>
            <a:pPr marL="0" indent="0">
              <a:buNone/>
            </a:pPr>
            <a:endParaRPr lang="en-GB" dirty="0"/>
          </a:p>
        </p:txBody>
      </p:sp>
      <p:pic>
        <p:nvPicPr>
          <p:cNvPr id="6" name="Picture 5">
            <a:extLst>
              <a:ext uri="{FF2B5EF4-FFF2-40B4-BE49-F238E27FC236}">
                <a16:creationId xmlns:a16="http://schemas.microsoft.com/office/drawing/2014/main" id="{D721B045-C451-4905-872B-4CD5F1F68959}"/>
              </a:ext>
            </a:extLst>
          </p:cNvPr>
          <p:cNvPicPr>
            <a:picLocks noChangeAspect="1"/>
          </p:cNvPicPr>
          <p:nvPr/>
        </p:nvPicPr>
        <p:blipFill rotWithShape="1">
          <a:blip r:embed="rId2"/>
          <a:srcRect l="10385" t="26462" r="75833" b="31897"/>
          <a:stretch/>
        </p:blipFill>
        <p:spPr>
          <a:xfrm>
            <a:off x="6346092" y="1539631"/>
            <a:ext cx="5361354" cy="5062118"/>
          </a:xfrm>
          <a:prstGeom prst="rect">
            <a:avLst/>
          </a:prstGeom>
        </p:spPr>
      </p:pic>
    </p:spTree>
    <p:extLst>
      <p:ext uri="{BB962C8B-B14F-4D97-AF65-F5344CB8AC3E}">
        <p14:creationId xmlns:p14="http://schemas.microsoft.com/office/powerpoint/2010/main" val="37454956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B0F21-B1F8-4C22-B346-706BF2FCE8AE}"/>
              </a:ext>
            </a:extLst>
          </p:cNvPr>
          <p:cNvSpPr>
            <a:spLocks noGrp="1"/>
          </p:cNvSpPr>
          <p:nvPr>
            <p:ph type="title"/>
          </p:nvPr>
        </p:nvSpPr>
        <p:spPr/>
        <p:txBody>
          <a:bodyPr/>
          <a:lstStyle/>
          <a:p>
            <a:r>
              <a:rPr lang="en-US" dirty="0"/>
              <a:t>Deconvolution operation</a:t>
            </a:r>
            <a:endParaRPr lang="en-GB" dirty="0"/>
          </a:p>
        </p:txBody>
      </p:sp>
      <p:sp>
        <p:nvSpPr>
          <p:cNvPr id="5" name="Content Placeholder 4">
            <a:extLst>
              <a:ext uri="{FF2B5EF4-FFF2-40B4-BE49-F238E27FC236}">
                <a16:creationId xmlns:a16="http://schemas.microsoft.com/office/drawing/2014/main" id="{6A688620-5105-43A9-8227-D807AD0FA34F}"/>
              </a:ext>
            </a:extLst>
          </p:cNvPr>
          <p:cNvSpPr>
            <a:spLocks noGrp="1"/>
          </p:cNvSpPr>
          <p:nvPr>
            <p:ph sz="half" idx="1"/>
          </p:nvPr>
        </p:nvSpPr>
        <p:spPr>
          <a:xfrm>
            <a:off x="838200" y="1825624"/>
            <a:ext cx="5181600" cy="5062117"/>
          </a:xfrm>
        </p:spPr>
        <p:txBody>
          <a:bodyPr>
            <a:normAutofit/>
          </a:bodyPr>
          <a:lstStyle/>
          <a:p>
            <a:pPr marL="0" indent="0">
              <a:buNone/>
            </a:pPr>
            <a:r>
              <a:rPr lang="en-US" dirty="0"/>
              <a:t>Deconvolution layers are </a:t>
            </a:r>
            <a:r>
              <a:rPr lang="en-US" b="1" dirty="0"/>
              <a:t>trainable</a:t>
            </a:r>
            <a:r>
              <a:rPr lang="en-US" dirty="0"/>
              <a:t> layers, which allow to </a:t>
            </a:r>
            <a:r>
              <a:rPr lang="en-US" dirty="0" err="1"/>
              <a:t>upsample</a:t>
            </a:r>
            <a:r>
              <a:rPr lang="en-US" dirty="0"/>
              <a:t> an input (as opposed to </a:t>
            </a:r>
            <a:r>
              <a:rPr lang="en-US" dirty="0" err="1"/>
              <a:t>downsampling</a:t>
            </a:r>
            <a:r>
              <a:rPr lang="en-US" dirty="0"/>
              <a:t> Convolution layers).</a:t>
            </a:r>
          </a:p>
          <a:p>
            <a:pPr marL="0" indent="0">
              <a:buNone/>
            </a:pPr>
            <a:endParaRPr lang="en-US" dirty="0"/>
          </a:p>
          <a:p>
            <a:pPr marL="0" indent="0">
              <a:buNone/>
            </a:pPr>
            <a:r>
              <a:rPr lang="en-US" b="1" dirty="0"/>
              <a:t>Important note: </a:t>
            </a:r>
            <a:r>
              <a:rPr lang="en-US" dirty="0"/>
              <a:t>Deconvolution is NOT the inverse operation of Convolution, mathematically speaking!</a:t>
            </a:r>
          </a:p>
          <a:p>
            <a:pPr marL="0" indent="0">
              <a:buNone/>
            </a:pPr>
            <a:endParaRPr lang="en-US" dirty="0"/>
          </a:p>
          <a:p>
            <a:pPr marL="0" indent="0">
              <a:buNone/>
            </a:pPr>
            <a:endParaRPr lang="en-US" dirty="0"/>
          </a:p>
          <a:p>
            <a:pPr marL="0" indent="0">
              <a:buNone/>
            </a:pPr>
            <a:endParaRPr lang="en-GB" dirty="0"/>
          </a:p>
        </p:txBody>
      </p:sp>
      <p:pic>
        <p:nvPicPr>
          <p:cNvPr id="4" name="Picture 3">
            <a:extLst>
              <a:ext uri="{FF2B5EF4-FFF2-40B4-BE49-F238E27FC236}">
                <a16:creationId xmlns:a16="http://schemas.microsoft.com/office/drawing/2014/main" id="{EB25B74D-3D65-490B-BD9E-7020336FEC21}"/>
              </a:ext>
            </a:extLst>
          </p:cNvPr>
          <p:cNvPicPr>
            <a:picLocks noChangeAspect="1"/>
          </p:cNvPicPr>
          <p:nvPr/>
        </p:nvPicPr>
        <p:blipFill rotWithShape="1">
          <a:blip r:embed="rId2"/>
          <a:srcRect l="10192" t="35487" r="68333" b="27795"/>
          <a:stretch/>
        </p:blipFill>
        <p:spPr>
          <a:xfrm>
            <a:off x="6228862" y="2384648"/>
            <a:ext cx="5951225" cy="3179906"/>
          </a:xfrm>
          <a:prstGeom prst="rect">
            <a:avLst/>
          </a:prstGeom>
        </p:spPr>
      </p:pic>
    </p:spTree>
    <p:extLst>
      <p:ext uri="{BB962C8B-B14F-4D97-AF65-F5344CB8AC3E}">
        <p14:creationId xmlns:p14="http://schemas.microsoft.com/office/powerpoint/2010/main" val="31595200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8C0CC-6472-4A76-B341-121E45A06372}"/>
              </a:ext>
            </a:extLst>
          </p:cNvPr>
          <p:cNvSpPr>
            <a:spLocks noGrp="1"/>
          </p:cNvSpPr>
          <p:nvPr>
            <p:ph type="title"/>
          </p:nvPr>
        </p:nvSpPr>
        <p:spPr/>
        <p:txBody>
          <a:bodyPr/>
          <a:lstStyle/>
          <a:p>
            <a:r>
              <a:rPr lang="en-US" dirty="0"/>
              <a:t>Deconvolution operation</a:t>
            </a:r>
            <a:endParaRPr lang="en-GB" dirty="0"/>
          </a:p>
        </p:txBody>
      </p:sp>
      <p:sp>
        <p:nvSpPr>
          <p:cNvPr id="3" name="Content Placeholder 2">
            <a:extLst>
              <a:ext uri="{FF2B5EF4-FFF2-40B4-BE49-F238E27FC236}">
                <a16:creationId xmlns:a16="http://schemas.microsoft.com/office/drawing/2014/main" id="{62B2B063-3687-4C58-9026-9E5E9532937D}"/>
              </a:ext>
            </a:extLst>
          </p:cNvPr>
          <p:cNvSpPr>
            <a:spLocks noGrp="1"/>
          </p:cNvSpPr>
          <p:nvPr>
            <p:ph sz="half" idx="1"/>
          </p:nvPr>
        </p:nvSpPr>
        <p:spPr>
          <a:xfrm>
            <a:off x="838200" y="1825624"/>
            <a:ext cx="5181600" cy="5032375"/>
          </a:xfrm>
        </p:spPr>
        <p:txBody>
          <a:bodyPr/>
          <a:lstStyle/>
          <a:p>
            <a:r>
              <a:rPr lang="en-US" dirty="0"/>
              <a:t>Deconvolution also works with additional parameters, such as </a:t>
            </a:r>
            <a:r>
              <a:rPr lang="en-US" b="1" dirty="0"/>
              <a:t>stride</a:t>
            </a:r>
            <a:r>
              <a:rPr lang="en-US" dirty="0"/>
              <a:t> and </a:t>
            </a:r>
            <a:r>
              <a:rPr lang="en-US" b="1" dirty="0"/>
              <a:t>padding</a:t>
            </a:r>
            <a:r>
              <a:rPr lang="en-US" dirty="0"/>
              <a:t>.</a:t>
            </a:r>
          </a:p>
          <a:p>
            <a:r>
              <a:rPr lang="en-US" dirty="0"/>
              <a:t>They might also take an additional parameter, known as </a:t>
            </a:r>
            <a:r>
              <a:rPr lang="en-US" b="1" dirty="0"/>
              <a:t>output</a:t>
            </a:r>
            <a:r>
              <a:rPr lang="en-US" dirty="0"/>
              <a:t> </a:t>
            </a:r>
            <a:r>
              <a:rPr lang="en-US" b="1" dirty="0"/>
              <a:t>padding: </a:t>
            </a:r>
            <a:r>
              <a:rPr lang="en-US" dirty="0"/>
              <a:t>while standard padding is applied to the input elements, </a:t>
            </a:r>
            <a:r>
              <a:rPr lang="en-US" b="1" dirty="0"/>
              <a:t>output</a:t>
            </a:r>
            <a:r>
              <a:rPr lang="en-US" dirty="0"/>
              <a:t> </a:t>
            </a:r>
            <a:r>
              <a:rPr lang="en-US" b="1" dirty="0"/>
              <a:t>padding</a:t>
            </a:r>
            <a:r>
              <a:rPr lang="en-US" dirty="0"/>
              <a:t> is simply an </a:t>
            </a:r>
            <a:r>
              <a:rPr lang="en-US" b="1" dirty="0"/>
              <a:t>additional</a:t>
            </a:r>
            <a:r>
              <a:rPr lang="en-US" dirty="0"/>
              <a:t> </a:t>
            </a:r>
            <a:r>
              <a:rPr lang="en-US" b="1" dirty="0"/>
              <a:t>size</a:t>
            </a:r>
            <a:r>
              <a:rPr lang="en-US" dirty="0"/>
              <a:t> </a:t>
            </a:r>
            <a:r>
              <a:rPr lang="en-US" b="1" dirty="0"/>
              <a:t>added</a:t>
            </a:r>
            <a:r>
              <a:rPr lang="en-US" dirty="0"/>
              <a:t> </a:t>
            </a:r>
            <a:r>
              <a:rPr lang="en-US" b="1" dirty="0"/>
              <a:t>to</a:t>
            </a:r>
            <a:r>
              <a:rPr lang="en-US" dirty="0"/>
              <a:t> </a:t>
            </a:r>
            <a:r>
              <a:rPr lang="en-US" b="1" dirty="0"/>
              <a:t>one</a:t>
            </a:r>
            <a:r>
              <a:rPr lang="en-US" dirty="0"/>
              <a:t> </a:t>
            </a:r>
            <a:r>
              <a:rPr lang="en-US" b="1" dirty="0"/>
              <a:t>side</a:t>
            </a:r>
            <a:r>
              <a:rPr lang="en-US" dirty="0"/>
              <a:t> </a:t>
            </a:r>
            <a:r>
              <a:rPr lang="en-US" b="1" dirty="0"/>
              <a:t>of</a:t>
            </a:r>
            <a:r>
              <a:rPr lang="en-US" dirty="0"/>
              <a:t> </a:t>
            </a:r>
            <a:r>
              <a:rPr lang="en-US" b="1" dirty="0"/>
              <a:t>each</a:t>
            </a:r>
            <a:r>
              <a:rPr lang="en-US" dirty="0"/>
              <a:t> </a:t>
            </a:r>
            <a:r>
              <a:rPr lang="en-US" b="1" dirty="0"/>
              <a:t>dimension</a:t>
            </a:r>
            <a:r>
              <a:rPr lang="en-US" dirty="0"/>
              <a:t> </a:t>
            </a:r>
            <a:r>
              <a:rPr lang="en-US" b="1" dirty="0"/>
              <a:t>in</a:t>
            </a:r>
            <a:r>
              <a:rPr lang="en-US" dirty="0"/>
              <a:t> </a:t>
            </a:r>
            <a:r>
              <a:rPr lang="en-US" b="1" dirty="0"/>
              <a:t>the</a:t>
            </a:r>
            <a:r>
              <a:rPr lang="en-US" dirty="0"/>
              <a:t> </a:t>
            </a:r>
            <a:r>
              <a:rPr lang="en-US" b="1" dirty="0"/>
              <a:t>output</a:t>
            </a:r>
            <a:r>
              <a:rPr lang="en-US" dirty="0"/>
              <a:t> </a:t>
            </a:r>
            <a:r>
              <a:rPr lang="en-US" b="1" dirty="0"/>
              <a:t>shape</a:t>
            </a:r>
            <a:r>
              <a:rPr lang="en-US" dirty="0"/>
              <a:t>.</a:t>
            </a:r>
            <a:endParaRPr lang="en-GB" dirty="0"/>
          </a:p>
        </p:txBody>
      </p:sp>
      <p:pic>
        <p:nvPicPr>
          <p:cNvPr id="6" name="Picture 5">
            <a:extLst>
              <a:ext uri="{FF2B5EF4-FFF2-40B4-BE49-F238E27FC236}">
                <a16:creationId xmlns:a16="http://schemas.microsoft.com/office/drawing/2014/main" id="{0237640E-3D3C-4826-B18F-9946A1E49EB7}"/>
              </a:ext>
            </a:extLst>
          </p:cNvPr>
          <p:cNvPicPr>
            <a:picLocks noChangeAspect="1"/>
          </p:cNvPicPr>
          <p:nvPr/>
        </p:nvPicPr>
        <p:blipFill rotWithShape="1">
          <a:blip r:embed="rId2"/>
          <a:srcRect l="10385" t="39795" r="75128" b="20000"/>
          <a:stretch/>
        </p:blipFill>
        <p:spPr>
          <a:xfrm>
            <a:off x="6281618" y="1602155"/>
            <a:ext cx="5551153" cy="4814276"/>
          </a:xfrm>
          <a:prstGeom prst="rect">
            <a:avLst/>
          </a:prstGeom>
        </p:spPr>
      </p:pic>
    </p:spTree>
    <p:extLst>
      <p:ext uri="{BB962C8B-B14F-4D97-AF65-F5344CB8AC3E}">
        <p14:creationId xmlns:p14="http://schemas.microsoft.com/office/powerpoint/2010/main" val="3201368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30938-EA36-4AAB-8B56-86778A31DF7E}"/>
              </a:ext>
            </a:extLst>
          </p:cNvPr>
          <p:cNvSpPr>
            <a:spLocks noGrp="1"/>
          </p:cNvSpPr>
          <p:nvPr>
            <p:ph type="title"/>
          </p:nvPr>
        </p:nvSpPr>
        <p:spPr/>
        <p:txBody>
          <a:bodyPr/>
          <a:lstStyle/>
          <a:p>
            <a:r>
              <a:rPr lang="en-US" dirty="0"/>
              <a:t>Convolution layers (reminder)</a:t>
            </a:r>
            <a:endParaRPr lang="en-GB" dirty="0"/>
          </a:p>
        </p:txBody>
      </p:sp>
      <p:sp>
        <p:nvSpPr>
          <p:cNvPr id="3" name="Content Placeholder 2">
            <a:extLst>
              <a:ext uri="{FF2B5EF4-FFF2-40B4-BE49-F238E27FC236}">
                <a16:creationId xmlns:a16="http://schemas.microsoft.com/office/drawing/2014/main" id="{9C5F9D5E-1E0A-4799-9155-E2C49E3C7731}"/>
              </a:ext>
            </a:extLst>
          </p:cNvPr>
          <p:cNvSpPr>
            <a:spLocks noGrp="1"/>
          </p:cNvSpPr>
          <p:nvPr>
            <p:ph sz="half" idx="1"/>
          </p:nvPr>
        </p:nvSpPr>
        <p:spPr>
          <a:xfrm>
            <a:off x="838200" y="1825624"/>
            <a:ext cx="5181600" cy="5032375"/>
          </a:xfrm>
        </p:spPr>
        <p:txBody>
          <a:bodyPr>
            <a:normAutofit/>
          </a:bodyPr>
          <a:lstStyle/>
          <a:p>
            <a:r>
              <a:rPr lang="en-US" dirty="0"/>
              <a:t>Convolution layers performed t</a:t>
            </a:r>
            <a:r>
              <a:rPr lang="en-US" b="0" i="0" u="none" strike="noStrike" baseline="0" dirty="0"/>
              <a:t>ransformations of input and output by convolutions.</a:t>
            </a:r>
          </a:p>
          <a:p>
            <a:r>
              <a:rPr lang="en-US" b="1" i="0" u="none" strike="noStrike" baseline="0" dirty="0"/>
              <a:t>Magic formula:</a:t>
            </a:r>
          </a:p>
          <a:p>
            <a:pPr marL="0" indent="0" algn="ctr">
              <a:buNone/>
            </a:pPr>
            <a:r>
              <a:rPr lang="en-US" dirty="0" err="1"/>
              <a:t>o</a:t>
            </a:r>
            <a:r>
              <a:rPr lang="en-US" b="0" i="0" u="none" strike="noStrike" baseline="0" dirty="0" err="1"/>
              <a:t>utput_size</a:t>
            </a:r>
            <a:r>
              <a:rPr lang="en-US" b="0" i="0" u="none" strike="noStrike" baseline="0" dirty="0"/>
              <a:t> = (</a:t>
            </a:r>
            <a:r>
              <a:rPr lang="en-US" b="0" i="0" u="none" strike="noStrike" baseline="0" dirty="0" err="1"/>
              <a:t>input_size</a:t>
            </a:r>
            <a:r>
              <a:rPr lang="en-US" b="0" i="0" u="none" strike="noStrike" baseline="0" dirty="0"/>
              <a:t> + 2*padding – </a:t>
            </a:r>
            <a:r>
              <a:rPr lang="en-US" b="0" i="0" u="none" strike="noStrike" baseline="0" dirty="0" err="1"/>
              <a:t>kernel_size</a:t>
            </a:r>
            <a:r>
              <a:rPr lang="en-US" b="0" i="0" u="none" strike="noStrike" baseline="0" dirty="0"/>
              <a:t> + stride)/stride</a:t>
            </a:r>
            <a:endParaRPr lang="en-GB" b="0" i="0" u="none" strike="noStrike" baseline="0" dirty="0"/>
          </a:p>
          <a:p>
            <a:r>
              <a:rPr lang="en-GB" dirty="0"/>
              <a:t>Holds </a:t>
            </a:r>
            <a:r>
              <a:rPr lang="en-GB" b="0" i="0" u="none" strike="noStrike" baseline="0" dirty="0"/>
              <a:t>per dimension, i.e. 1D, 2D and N-D convolutions.</a:t>
            </a:r>
          </a:p>
          <a:p>
            <a:endParaRPr lang="en-GB" dirty="0"/>
          </a:p>
        </p:txBody>
      </p:sp>
      <p:pic>
        <p:nvPicPr>
          <p:cNvPr id="7" name="Picture 6">
            <a:extLst>
              <a:ext uri="{FF2B5EF4-FFF2-40B4-BE49-F238E27FC236}">
                <a16:creationId xmlns:a16="http://schemas.microsoft.com/office/drawing/2014/main" id="{28FAF590-2013-4279-BC9C-F14F3B3BD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4087" y="2416630"/>
            <a:ext cx="6097913" cy="2752530"/>
          </a:xfrm>
          <a:prstGeom prst="rect">
            <a:avLst/>
          </a:prstGeom>
        </p:spPr>
      </p:pic>
    </p:spTree>
    <p:extLst>
      <p:ext uri="{BB962C8B-B14F-4D97-AF65-F5344CB8AC3E}">
        <p14:creationId xmlns:p14="http://schemas.microsoft.com/office/powerpoint/2010/main" val="33438916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30938-EA36-4AAB-8B56-86778A31DF7E}"/>
              </a:ext>
            </a:extLst>
          </p:cNvPr>
          <p:cNvSpPr>
            <a:spLocks noGrp="1"/>
          </p:cNvSpPr>
          <p:nvPr>
            <p:ph type="title"/>
          </p:nvPr>
        </p:nvSpPr>
        <p:spPr/>
        <p:txBody>
          <a:bodyPr/>
          <a:lstStyle/>
          <a:p>
            <a:r>
              <a:rPr lang="en-US" dirty="0"/>
              <a:t>Convolution vs. Deconvolution layers</a:t>
            </a:r>
            <a:endParaRPr lang="en-GB" dirty="0"/>
          </a:p>
        </p:txBody>
      </p:sp>
      <p:sp>
        <p:nvSpPr>
          <p:cNvPr id="3" name="Content Placeholder 2">
            <a:extLst>
              <a:ext uri="{FF2B5EF4-FFF2-40B4-BE49-F238E27FC236}">
                <a16:creationId xmlns:a16="http://schemas.microsoft.com/office/drawing/2014/main" id="{9C5F9D5E-1E0A-4799-9155-E2C49E3C7731}"/>
              </a:ext>
            </a:extLst>
          </p:cNvPr>
          <p:cNvSpPr>
            <a:spLocks noGrp="1"/>
          </p:cNvSpPr>
          <p:nvPr>
            <p:ph sz="half" idx="1"/>
          </p:nvPr>
        </p:nvSpPr>
        <p:spPr>
          <a:xfrm>
            <a:off x="838200" y="1825624"/>
            <a:ext cx="5181600" cy="5032375"/>
          </a:xfrm>
        </p:spPr>
        <p:txBody>
          <a:bodyPr>
            <a:normAutofit/>
          </a:bodyPr>
          <a:lstStyle/>
          <a:p>
            <a:r>
              <a:rPr lang="en-US" dirty="0"/>
              <a:t>Convolution layers performed t</a:t>
            </a:r>
            <a:r>
              <a:rPr lang="en-US" b="0" i="0" u="none" strike="noStrike" baseline="0" dirty="0"/>
              <a:t>ransformations of input and output by convolutions.</a:t>
            </a:r>
          </a:p>
          <a:p>
            <a:r>
              <a:rPr lang="en-US" b="1" i="0" u="none" strike="noStrike" baseline="0" dirty="0"/>
              <a:t>Magic formula:</a:t>
            </a:r>
          </a:p>
          <a:p>
            <a:pPr marL="0" indent="0" algn="ctr">
              <a:buNone/>
            </a:pPr>
            <a:r>
              <a:rPr lang="en-US" dirty="0" err="1"/>
              <a:t>o</a:t>
            </a:r>
            <a:r>
              <a:rPr lang="en-US" b="0" i="0" u="none" strike="noStrike" baseline="0" dirty="0" err="1"/>
              <a:t>utput_size</a:t>
            </a:r>
            <a:r>
              <a:rPr lang="en-US" b="0" i="0" u="none" strike="noStrike" baseline="0" dirty="0"/>
              <a:t> = (</a:t>
            </a:r>
            <a:r>
              <a:rPr lang="en-US" b="0" i="0" u="none" strike="noStrike" baseline="0" dirty="0" err="1"/>
              <a:t>input_size</a:t>
            </a:r>
            <a:r>
              <a:rPr lang="en-US" b="0" i="0" u="none" strike="noStrike" baseline="0" dirty="0"/>
              <a:t> + 2*padding – </a:t>
            </a:r>
            <a:r>
              <a:rPr lang="en-US" b="0" i="0" u="none" strike="noStrike" baseline="0" dirty="0" err="1"/>
              <a:t>kernel_size</a:t>
            </a:r>
            <a:r>
              <a:rPr lang="en-US" b="0" i="0" u="none" strike="noStrike" baseline="0" dirty="0"/>
              <a:t> + stride)/stride</a:t>
            </a:r>
            <a:endParaRPr lang="en-GB" b="0" i="0" u="none" strike="noStrike" baseline="0" dirty="0"/>
          </a:p>
          <a:p>
            <a:r>
              <a:rPr lang="en-GB" dirty="0"/>
              <a:t>Holds </a:t>
            </a:r>
            <a:r>
              <a:rPr lang="en-GB" b="0" i="0" u="none" strike="noStrike" baseline="0" dirty="0"/>
              <a:t>per dimension, i.e. 1D, 2D and N-D convolutions.</a:t>
            </a:r>
          </a:p>
          <a:p>
            <a:endParaRPr lang="en-GB" dirty="0"/>
          </a:p>
        </p:txBody>
      </p:sp>
      <p:sp>
        <p:nvSpPr>
          <p:cNvPr id="4" name="Content Placeholder 3">
            <a:extLst>
              <a:ext uri="{FF2B5EF4-FFF2-40B4-BE49-F238E27FC236}">
                <a16:creationId xmlns:a16="http://schemas.microsoft.com/office/drawing/2014/main" id="{6AC9ADB9-5FFE-4453-AC6F-B0948953C772}"/>
              </a:ext>
            </a:extLst>
          </p:cNvPr>
          <p:cNvSpPr>
            <a:spLocks noGrp="1"/>
          </p:cNvSpPr>
          <p:nvPr>
            <p:ph sz="half" idx="2"/>
          </p:nvPr>
        </p:nvSpPr>
        <p:spPr>
          <a:xfrm>
            <a:off x="6172200" y="1825625"/>
            <a:ext cx="5863492" cy="5032374"/>
          </a:xfrm>
        </p:spPr>
        <p:txBody>
          <a:bodyPr>
            <a:normAutofit/>
          </a:bodyPr>
          <a:lstStyle/>
          <a:p>
            <a:r>
              <a:rPr lang="en-US" dirty="0"/>
              <a:t>Deconvolution layers performed t</a:t>
            </a:r>
            <a:r>
              <a:rPr lang="en-US" b="0" i="0" u="none" strike="noStrike" baseline="0" dirty="0"/>
              <a:t>ransformations of input and output by </a:t>
            </a:r>
            <a:r>
              <a:rPr lang="en-US" b="0" i="0" u="none" strike="noStrike" baseline="0" dirty="0" err="1"/>
              <a:t>upsampling</a:t>
            </a:r>
            <a:r>
              <a:rPr lang="en-US" b="0" i="0" u="none" strike="noStrike" baseline="0" dirty="0"/>
              <a:t> convolutions.</a:t>
            </a:r>
          </a:p>
          <a:p>
            <a:r>
              <a:rPr lang="en-US" b="1" i="0" u="none" strike="noStrike" baseline="0" dirty="0"/>
              <a:t>Magic formula:</a:t>
            </a:r>
          </a:p>
          <a:p>
            <a:pPr marL="0" indent="0" algn="ctr">
              <a:buNone/>
            </a:pPr>
            <a:r>
              <a:rPr lang="en-US" dirty="0" err="1"/>
              <a:t>o</a:t>
            </a:r>
            <a:r>
              <a:rPr lang="en-US" b="0" i="0" u="none" strike="noStrike" baseline="0" dirty="0" err="1"/>
              <a:t>utput_size</a:t>
            </a:r>
            <a:r>
              <a:rPr lang="en-US" b="0" i="0" u="none" strike="noStrike" baseline="0" dirty="0"/>
              <a:t> = (</a:t>
            </a:r>
            <a:r>
              <a:rPr lang="en-US" b="0" i="0" u="none" strike="noStrike" baseline="0" dirty="0" err="1"/>
              <a:t>input_size</a:t>
            </a:r>
            <a:r>
              <a:rPr lang="en-US" b="0" i="0" u="none" strike="noStrike" baseline="0" dirty="0"/>
              <a:t> – 1)*stride</a:t>
            </a:r>
            <a:br>
              <a:rPr lang="en-US" b="0" i="0" u="none" strike="noStrike" baseline="0" dirty="0"/>
            </a:br>
            <a:r>
              <a:rPr lang="en-US" b="0" i="0" u="none" strike="noStrike" baseline="0" dirty="0"/>
              <a:t>- </a:t>
            </a:r>
            <a:r>
              <a:rPr lang="en-GB" dirty="0"/>
              <a:t>2*padding + </a:t>
            </a:r>
            <a:r>
              <a:rPr lang="en-GB" dirty="0" err="1"/>
              <a:t>kernel_size</a:t>
            </a:r>
            <a:br>
              <a:rPr lang="en-GB" dirty="0"/>
            </a:br>
            <a:r>
              <a:rPr lang="en-GB" dirty="0"/>
              <a:t>+ </a:t>
            </a:r>
            <a:r>
              <a:rPr lang="en-GB" b="1" dirty="0" err="1">
                <a:solidFill>
                  <a:srgbClr val="7030A0"/>
                </a:solidFill>
              </a:rPr>
              <a:t>output_padding</a:t>
            </a:r>
            <a:br>
              <a:rPr lang="en-GB" dirty="0"/>
            </a:br>
            <a:endParaRPr lang="en-GB" dirty="0"/>
          </a:p>
          <a:p>
            <a:r>
              <a:rPr lang="en-GB" dirty="0"/>
              <a:t>Holds </a:t>
            </a:r>
            <a:r>
              <a:rPr lang="en-GB" b="0" i="0" u="none" strike="noStrike" baseline="0" dirty="0"/>
              <a:t>per dimension, i.e. 1D, 2D and N-D convolutions.</a:t>
            </a:r>
          </a:p>
          <a:p>
            <a:endParaRPr lang="en-GB" dirty="0"/>
          </a:p>
        </p:txBody>
      </p:sp>
    </p:spTree>
    <p:extLst>
      <p:ext uri="{BB962C8B-B14F-4D97-AF65-F5344CB8AC3E}">
        <p14:creationId xmlns:p14="http://schemas.microsoft.com/office/powerpoint/2010/main" val="9318345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30938-EA36-4AAB-8B56-86778A31DF7E}"/>
              </a:ext>
            </a:extLst>
          </p:cNvPr>
          <p:cNvSpPr>
            <a:spLocks noGrp="1"/>
          </p:cNvSpPr>
          <p:nvPr>
            <p:ph type="title"/>
          </p:nvPr>
        </p:nvSpPr>
        <p:spPr/>
        <p:txBody>
          <a:bodyPr/>
          <a:lstStyle/>
          <a:p>
            <a:r>
              <a:rPr lang="en-US" dirty="0"/>
              <a:t>A note on dilation in Deconvolution layers</a:t>
            </a:r>
            <a:endParaRPr lang="en-GB" dirty="0"/>
          </a:p>
        </p:txBody>
      </p:sp>
      <p:sp>
        <p:nvSpPr>
          <p:cNvPr id="3" name="Content Placeholder 2">
            <a:extLst>
              <a:ext uri="{FF2B5EF4-FFF2-40B4-BE49-F238E27FC236}">
                <a16:creationId xmlns:a16="http://schemas.microsoft.com/office/drawing/2014/main" id="{9C5F9D5E-1E0A-4799-9155-E2C49E3C7731}"/>
              </a:ext>
            </a:extLst>
          </p:cNvPr>
          <p:cNvSpPr>
            <a:spLocks noGrp="1"/>
          </p:cNvSpPr>
          <p:nvPr>
            <p:ph idx="1"/>
          </p:nvPr>
        </p:nvSpPr>
        <p:spPr/>
        <p:txBody>
          <a:bodyPr>
            <a:normAutofit/>
          </a:bodyPr>
          <a:lstStyle/>
          <a:p>
            <a:r>
              <a:rPr lang="en-US" dirty="0"/>
              <a:t>Deconvolution layers can also take one additional parameter called </a:t>
            </a:r>
            <a:r>
              <a:rPr lang="en-US" b="1" dirty="0"/>
              <a:t>dilation </a:t>
            </a:r>
            <a:r>
              <a:rPr lang="en-US" dirty="0"/>
              <a:t>(it has some very niche uses, which are out-of-class)</a:t>
            </a:r>
            <a:r>
              <a:rPr lang="en-US" b="0" i="0" u="none" strike="noStrike" baseline="0" dirty="0"/>
              <a:t>.</a:t>
            </a:r>
          </a:p>
          <a:p>
            <a:r>
              <a:rPr lang="en-US" b="1" i="0" u="none" strike="noStrike" baseline="0" dirty="0"/>
              <a:t>This slightly changes the magic formula into:</a:t>
            </a:r>
          </a:p>
          <a:p>
            <a:pPr marL="0" indent="0" algn="ctr">
              <a:buNone/>
            </a:pPr>
            <a:r>
              <a:rPr lang="en-US" dirty="0" err="1"/>
              <a:t>o</a:t>
            </a:r>
            <a:r>
              <a:rPr lang="en-US" b="0" i="0" u="none" strike="noStrike" baseline="0" dirty="0" err="1"/>
              <a:t>utput_size</a:t>
            </a:r>
            <a:r>
              <a:rPr lang="en-US" b="0" i="0" u="none" strike="noStrike" baseline="0" dirty="0"/>
              <a:t> = (</a:t>
            </a:r>
            <a:r>
              <a:rPr lang="en-US" b="0" i="0" u="none" strike="noStrike" baseline="0" dirty="0" err="1"/>
              <a:t>input_size</a:t>
            </a:r>
            <a:r>
              <a:rPr lang="en-US" b="0" i="0" u="none" strike="noStrike" baseline="0" dirty="0"/>
              <a:t> – 1)*stride</a:t>
            </a:r>
            <a:br>
              <a:rPr lang="en-US" b="0" i="0" u="none" strike="noStrike" baseline="0" dirty="0"/>
            </a:br>
            <a:r>
              <a:rPr lang="en-US" b="0" i="0" u="none" strike="noStrike" baseline="0" dirty="0"/>
              <a:t>- </a:t>
            </a:r>
            <a:r>
              <a:rPr lang="en-GB" dirty="0"/>
              <a:t>2*padding + </a:t>
            </a:r>
            <a:r>
              <a:rPr lang="en-GB" b="1" dirty="0" err="1">
                <a:solidFill>
                  <a:srgbClr val="7030A0"/>
                </a:solidFill>
              </a:rPr>
              <a:t>output_padding</a:t>
            </a:r>
            <a:r>
              <a:rPr lang="en-GB" dirty="0">
                <a:solidFill>
                  <a:srgbClr val="7030A0"/>
                </a:solidFill>
              </a:rPr>
              <a:t> </a:t>
            </a:r>
            <a:r>
              <a:rPr lang="en-GB" dirty="0"/>
              <a:t>+ 1</a:t>
            </a:r>
            <a:br>
              <a:rPr lang="en-GB" dirty="0"/>
            </a:br>
            <a:r>
              <a:rPr lang="en-GB" dirty="0"/>
              <a:t>+ </a:t>
            </a:r>
            <a:r>
              <a:rPr lang="en-GB" b="1" dirty="0">
                <a:solidFill>
                  <a:srgbClr val="7030A0"/>
                </a:solidFill>
              </a:rPr>
              <a:t>dilation</a:t>
            </a:r>
            <a:r>
              <a:rPr lang="en-GB" dirty="0"/>
              <a:t>*(</a:t>
            </a:r>
            <a:r>
              <a:rPr lang="en-GB" dirty="0" err="1"/>
              <a:t>kernel_size</a:t>
            </a:r>
            <a:r>
              <a:rPr lang="en-GB" dirty="0"/>
              <a:t> − 1)</a:t>
            </a:r>
          </a:p>
          <a:p>
            <a:endParaRPr lang="en-GB" dirty="0"/>
          </a:p>
          <a:p>
            <a:r>
              <a:rPr lang="en-GB" dirty="0"/>
              <a:t>Holds </a:t>
            </a:r>
            <a:r>
              <a:rPr lang="en-GB" b="0" i="0" u="none" strike="noStrike" baseline="0" dirty="0"/>
              <a:t>per dimension, i.e. 1D, 2D and N-D convolutions.</a:t>
            </a:r>
          </a:p>
          <a:p>
            <a:endParaRPr lang="en-GB" dirty="0"/>
          </a:p>
        </p:txBody>
      </p:sp>
      <p:sp>
        <p:nvSpPr>
          <p:cNvPr id="5" name="TextBox 4">
            <a:extLst>
              <a:ext uri="{FF2B5EF4-FFF2-40B4-BE49-F238E27FC236}">
                <a16:creationId xmlns:a16="http://schemas.microsoft.com/office/drawing/2014/main" id="{1F59847F-856C-4C76-B7E2-25C63BFEF2C4}"/>
              </a:ext>
            </a:extLst>
          </p:cNvPr>
          <p:cNvSpPr txBox="1"/>
          <p:nvPr/>
        </p:nvSpPr>
        <p:spPr>
          <a:xfrm>
            <a:off x="492370" y="5619402"/>
            <a:ext cx="11699630" cy="1384995"/>
          </a:xfrm>
          <a:prstGeom prst="rect">
            <a:avLst/>
          </a:prstGeom>
          <a:noFill/>
        </p:spPr>
        <p:txBody>
          <a:bodyPr wrap="square" rtlCol="0">
            <a:spAutoFit/>
          </a:bodyPr>
          <a:lstStyle/>
          <a:p>
            <a:r>
              <a:rPr lang="en-GB" sz="2800" dirty="0"/>
              <a:t>Note: </a:t>
            </a:r>
            <a:r>
              <a:rPr lang="en-GB" sz="2800" b="1" dirty="0">
                <a:solidFill>
                  <a:srgbClr val="7030A0"/>
                </a:solidFill>
              </a:rPr>
              <a:t>dilation</a:t>
            </a:r>
            <a:r>
              <a:rPr lang="en-GB" sz="2800" dirty="0"/>
              <a:t> is hard to explain but easily visualized. (</a:t>
            </a:r>
            <a:r>
              <a:rPr lang="en-GB" sz="2800" dirty="0">
                <a:hlinkClick r:id="rId2"/>
              </a:rPr>
              <a:t>https://github.com/vdumoulin/conv_arithmetic/blob/master/README.md</a:t>
            </a:r>
            <a:r>
              <a:rPr lang="en-GB" sz="2800" dirty="0"/>
              <a:t>)</a:t>
            </a:r>
            <a:endParaRPr lang="en-GB" sz="2800" b="0" i="0" u="none" strike="noStrike" baseline="0" dirty="0"/>
          </a:p>
          <a:p>
            <a:endParaRPr lang="en-GB" sz="2800" dirty="0"/>
          </a:p>
        </p:txBody>
      </p:sp>
    </p:spTree>
    <p:extLst>
      <p:ext uri="{BB962C8B-B14F-4D97-AF65-F5344CB8AC3E}">
        <p14:creationId xmlns:p14="http://schemas.microsoft.com/office/powerpoint/2010/main" val="2896924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30938-EA36-4AAB-8B56-86778A31DF7E}"/>
              </a:ext>
            </a:extLst>
          </p:cNvPr>
          <p:cNvSpPr>
            <a:spLocks noGrp="1"/>
          </p:cNvSpPr>
          <p:nvPr>
            <p:ph type="title"/>
          </p:nvPr>
        </p:nvSpPr>
        <p:spPr/>
        <p:txBody>
          <a:bodyPr/>
          <a:lstStyle/>
          <a:p>
            <a:r>
              <a:rPr lang="en-US" dirty="0"/>
              <a:t>A note on Deconvolution layers</a:t>
            </a:r>
            <a:endParaRPr lang="en-GB" dirty="0"/>
          </a:p>
        </p:txBody>
      </p:sp>
      <p:sp>
        <p:nvSpPr>
          <p:cNvPr id="3" name="Content Placeholder 2">
            <a:extLst>
              <a:ext uri="{FF2B5EF4-FFF2-40B4-BE49-F238E27FC236}">
                <a16:creationId xmlns:a16="http://schemas.microsoft.com/office/drawing/2014/main" id="{9C5F9D5E-1E0A-4799-9155-E2C49E3C7731}"/>
              </a:ext>
            </a:extLst>
          </p:cNvPr>
          <p:cNvSpPr>
            <a:spLocks noGrp="1"/>
          </p:cNvSpPr>
          <p:nvPr>
            <p:ph sz="half" idx="1"/>
          </p:nvPr>
        </p:nvSpPr>
        <p:spPr>
          <a:xfrm>
            <a:off x="838200" y="1825624"/>
            <a:ext cx="5181600" cy="5032375"/>
          </a:xfrm>
        </p:spPr>
        <p:txBody>
          <a:bodyPr>
            <a:normAutofit/>
          </a:bodyPr>
          <a:lstStyle/>
          <a:p>
            <a:pPr marL="0" indent="0">
              <a:buNone/>
            </a:pPr>
            <a:r>
              <a:rPr lang="en-US" dirty="0"/>
              <a:t>Transposed convolutions are not perfect, as they suffer from “</a:t>
            </a:r>
            <a:r>
              <a:rPr lang="en-US" b="1" dirty="0" err="1"/>
              <a:t>chequered</a:t>
            </a:r>
            <a:r>
              <a:rPr lang="en-US" b="1" dirty="0"/>
              <a:t>” board effects</a:t>
            </a:r>
            <a:r>
              <a:rPr lang="en-US" dirty="0"/>
              <a:t>.</a:t>
            </a:r>
          </a:p>
          <a:p>
            <a:r>
              <a:rPr lang="en-US" dirty="0"/>
              <a:t>The main cause of this is uneven overlap at some parts of the image causing artifacts.</a:t>
            </a:r>
          </a:p>
          <a:p>
            <a:r>
              <a:rPr lang="en-US" dirty="0"/>
              <a:t>This can be fixed, or at least partially reduced, by using a kernel size divisible by the stride, </a:t>
            </a:r>
            <a:r>
              <a:rPr lang="en-US" dirty="0" err="1"/>
              <a:t>e.g</a:t>
            </a:r>
            <a:r>
              <a:rPr lang="en-US" dirty="0"/>
              <a:t> taking a kernel-size of 2x2 or 4x4 when having a stride of 2.</a:t>
            </a:r>
            <a:endParaRPr lang="en-GB" dirty="0"/>
          </a:p>
        </p:txBody>
      </p:sp>
      <p:pic>
        <p:nvPicPr>
          <p:cNvPr id="7" name="Picture 6">
            <a:extLst>
              <a:ext uri="{FF2B5EF4-FFF2-40B4-BE49-F238E27FC236}">
                <a16:creationId xmlns:a16="http://schemas.microsoft.com/office/drawing/2014/main" id="{D564E143-B325-483E-9375-D09631B3A2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4104" y="2571262"/>
            <a:ext cx="6047896" cy="2782032"/>
          </a:xfrm>
          <a:prstGeom prst="rect">
            <a:avLst/>
          </a:prstGeom>
        </p:spPr>
      </p:pic>
    </p:spTree>
    <p:extLst>
      <p:ext uri="{BB962C8B-B14F-4D97-AF65-F5344CB8AC3E}">
        <p14:creationId xmlns:p14="http://schemas.microsoft.com/office/powerpoint/2010/main" val="4509983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7CDCD-4D4E-4B6B-AB4F-B5F04E72375B}"/>
              </a:ext>
            </a:extLst>
          </p:cNvPr>
          <p:cNvSpPr>
            <a:spLocks noGrp="1"/>
          </p:cNvSpPr>
          <p:nvPr>
            <p:ph type="title"/>
          </p:nvPr>
        </p:nvSpPr>
        <p:spPr/>
        <p:txBody>
          <a:bodyPr/>
          <a:lstStyle/>
          <a:p>
            <a:r>
              <a:rPr lang="en-US" dirty="0" err="1"/>
              <a:t>AutoEncoder</a:t>
            </a:r>
            <a:r>
              <a:rPr lang="en-US" dirty="0"/>
              <a:t> with Conv and </a:t>
            </a:r>
            <a:r>
              <a:rPr lang="en-US" dirty="0" err="1"/>
              <a:t>DeConv</a:t>
            </a:r>
            <a:r>
              <a:rPr lang="en-US" dirty="0"/>
              <a:t> layers</a:t>
            </a:r>
            <a:endParaRPr lang="en-GB" dirty="0"/>
          </a:p>
        </p:txBody>
      </p:sp>
      <p:sp>
        <p:nvSpPr>
          <p:cNvPr id="3" name="Content Placeholder 2">
            <a:extLst>
              <a:ext uri="{FF2B5EF4-FFF2-40B4-BE49-F238E27FC236}">
                <a16:creationId xmlns:a16="http://schemas.microsoft.com/office/drawing/2014/main" id="{C964E879-30F7-437D-A4A0-62805A5D97FF}"/>
              </a:ext>
            </a:extLst>
          </p:cNvPr>
          <p:cNvSpPr>
            <a:spLocks noGrp="1"/>
          </p:cNvSpPr>
          <p:nvPr>
            <p:ph sz="half" idx="1"/>
          </p:nvPr>
        </p:nvSpPr>
        <p:spPr/>
        <p:txBody>
          <a:bodyPr/>
          <a:lstStyle/>
          <a:p>
            <a:r>
              <a:rPr lang="en-US" dirty="0"/>
              <a:t>Let us put our Deconvolution layers to use, by replacing the FC layers in our original autoencoder, with Convolutions and Deconvolution ones!</a:t>
            </a:r>
            <a:endParaRPr lang="en-GB" dirty="0"/>
          </a:p>
        </p:txBody>
      </p:sp>
    </p:spTree>
    <p:extLst>
      <p:ext uri="{BB962C8B-B14F-4D97-AF65-F5344CB8AC3E}">
        <p14:creationId xmlns:p14="http://schemas.microsoft.com/office/powerpoint/2010/main" val="34271012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7CDCD-4D4E-4B6B-AB4F-B5F04E72375B}"/>
              </a:ext>
            </a:extLst>
          </p:cNvPr>
          <p:cNvSpPr>
            <a:spLocks noGrp="1"/>
          </p:cNvSpPr>
          <p:nvPr>
            <p:ph type="title"/>
          </p:nvPr>
        </p:nvSpPr>
        <p:spPr/>
        <p:txBody>
          <a:bodyPr/>
          <a:lstStyle/>
          <a:p>
            <a:r>
              <a:rPr lang="en-US" dirty="0" err="1"/>
              <a:t>AutoEncoder</a:t>
            </a:r>
            <a:r>
              <a:rPr lang="en-US" dirty="0"/>
              <a:t> with Conv and </a:t>
            </a:r>
            <a:r>
              <a:rPr lang="en-US" dirty="0" err="1"/>
              <a:t>DeConv</a:t>
            </a:r>
            <a:r>
              <a:rPr lang="en-US" dirty="0"/>
              <a:t> layers</a:t>
            </a:r>
            <a:endParaRPr lang="en-GB" dirty="0"/>
          </a:p>
        </p:txBody>
      </p:sp>
      <p:pic>
        <p:nvPicPr>
          <p:cNvPr id="7" name="Picture 6">
            <a:extLst>
              <a:ext uri="{FF2B5EF4-FFF2-40B4-BE49-F238E27FC236}">
                <a16:creationId xmlns:a16="http://schemas.microsoft.com/office/drawing/2014/main" id="{F80F5FA0-C3D1-4603-BD31-527780C837B4}"/>
              </a:ext>
            </a:extLst>
          </p:cNvPr>
          <p:cNvPicPr>
            <a:picLocks noChangeAspect="1"/>
          </p:cNvPicPr>
          <p:nvPr/>
        </p:nvPicPr>
        <p:blipFill rotWithShape="1">
          <a:blip r:embed="rId2"/>
          <a:srcRect l="10449" t="29744" r="58397" b="13641"/>
          <a:stretch/>
        </p:blipFill>
        <p:spPr>
          <a:xfrm>
            <a:off x="1039446" y="1273906"/>
            <a:ext cx="9714523" cy="5516892"/>
          </a:xfrm>
          <a:prstGeom prst="rect">
            <a:avLst/>
          </a:prstGeom>
        </p:spPr>
      </p:pic>
    </p:spTree>
    <p:extLst>
      <p:ext uri="{BB962C8B-B14F-4D97-AF65-F5344CB8AC3E}">
        <p14:creationId xmlns:p14="http://schemas.microsoft.com/office/powerpoint/2010/main" val="1564595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7CDCD-4D4E-4B6B-AB4F-B5F04E72375B}"/>
              </a:ext>
            </a:extLst>
          </p:cNvPr>
          <p:cNvSpPr>
            <a:spLocks noGrp="1"/>
          </p:cNvSpPr>
          <p:nvPr>
            <p:ph type="title"/>
          </p:nvPr>
        </p:nvSpPr>
        <p:spPr/>
        <p:txBody>
          <a:bodyPr/>
          <a:lstStyle/>
          <a:p>
            <a:r>
              <a:rPr lang="en-US" dirty="0" err="1"/>
              <a:t>AutoEncoder</a:t>
            </a:r>
            <a:r>
              <a:rPr lang="en-US" dirty="0"/>
              <a:t> with Conv and </a:t>
            </a:r>
            <a:r>
              <a:rPr lang="en-US" dirty="0" err="1"/>
              <a:t>DeConv</a:t>
            </a:r>
            <a:r>
              <a:rPr lang="en-US" dirty="0"/>
              <a:t> layers</a:t>
            </a:r>
            <a:endParaRPr lang="en-GB" dirty="0"/>
          </a:p>
        </p:txBody>
      </p:sp>
      <p:sp>
        <p:nvSpPr>
          <p:cNvPr id="3" name="Content Placeholder 2">
            <a:extLst>
              <a:ext uri="{FF2B5EF4-FFF2-40B4-BE49-F238E27FC236}">
                <a16:creationId xmlns:a16="http://schemas.microsoft.com/office/drawing/2014/main" id="{C964E879-30F7-437D-A4A0-62805A5D97FF}"/>
              </a:ext>
            </a:extLst>
          </p:cNvPr>
          <p:cNvSpPr>
            <a:spLocks noGrp="1"/>
          </p:cNvSpPr>
          <p:nvPr>
            <p:ph sz="half" idx="1"/>
          </p:nvPr>
        </p:nvSpPr>
        <p:spPr/>
        <p:txBody>
          <a:bodyPr/>
          <a:lstStyle/>
          <a:p>
            <a:r>
              <a:rPr lang="en-US" dirty="0"/>
              <a:t>Let us put our Deconvolution layers to use, by replacing the FC layers in our original autoencoder, with Convolutions and Deconvolution ones!</a:t>
            </a:r>
          </a:p>
          <a:p>
            <a:r>
              <a:rPr lang="en-US" dirty="0"/>
              <a:t>Deconvolutions in the decoder phase follow the same logic (dimensionality variations) as the convolutions ones in the encoder phase.</a:t>
            </a:r>
            <a:endParaRPr lang="en-GB" dirty="0"/>
          </a:p>
        </p:txBody>
      </p:sp>
      <p:pic>
        <p:nvPicPr>
          <p:cNvPr id="4" name="Picture 3">
            <a:extLst>
              <a:ext uri="{FF2B5EF4-FFF2-40B4-BE49-F238E27FC236}">
                <a16:creationId xmlns:a16="http://schemas.microsoft.com/office/drawing/2014/main" id="{F9A19846-70AA-4AE2-99A0-218C9976DD97}"/>
              </a:ext>
            </a:extLst>
          </p:cNvPr>
          <p:cNvPicPr>
            <a:picLocks noChangeAspect="1"/>
          </p:cNvPicPr>
          <p:nvPr/>
        </p:nvPicPr>
        <p:blipFill rotWithShape="1">
          <a:blip r:embed="rId2"/>
          <a:srcRect l="10449" t="29744" r="58397" b="13641"/>
          <a:stretch/>
        </p:blipFill>
        <p:spPr>
          <a:xfrm>
            <a:off x="6385169" y="2209726"/>
            <a:ext cx="5658338" cy="3213379"/>
          </a:xfrm>
          <a:prstGeom prst="rect">
            <a:avLst/>
          </a:prstGeom>
        </p:spPr>
      </p:pic>
    </p:spTree>
    <p:extLst>
      <p:ext uri="{BB962C8B-B14F-4D97-AF65-F5344CB8AC3E}">
        <p14:creationId xmlns:p14="http://schemas.microsoft.com/office/powerpoint/2010/main" val="16108165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7CDCD-4D4E-4B6B-AB4F-B5F04E72375B}"/>
              </a:ext>
            </a:extLst>
          </p:cNvPr>
          <p:cNvSpPr>
            <a:spLocks noGrp="1"/>
          </p:cNvSpPr>
          <p:nvPr>
            <p:ph type="title"/>
          </p:nvPr>
        </p:nvSpPr>
        <p:spPr/>
        <p:txBody>
          <a:bodyPr/>
          <a:lstStyle/>
          <a:p>
            <a:r>
              <a:rPr lang="en-US" dirty="0" err="1"/>
              <a:t>AutoEncoder</a:t>
            </a:r>
            <a:r>
              <a:rPr lang="en-US" dirty="0"/>
              <a:t> with Conv and </a:t>
            </a:r>
            <a:r>
              <a:rPr lang="en-US" dirty="0" err="1"/>
              <a:t>DeConv</a:t>
            </a:r>
            <a:r>
              <a:rPr lang="en-US" dirty="0"/>
              <a:t> layers</a:t>
            </a:r>
            <a:endParaRPr lang="en-GB" dirty="0"/>
          </a:p>
        </p:txBody>
      </p:sp>
      <p:sp>
        <p:nvSpPr>
          <p:cNvPr id="3" name="Content Placeholder 2">
            <a:extLst>
              <a:ext uri="{FF2B5EF4-FFF2-40B4-BE49-F238E27FC236}">
                <a16:creationId xmlns:a16="http://schemas.microsoft.com/office/drawing/2014/main" id="{C964E879-30F7-437D-A4A0-62805A5D97FF}"/>
              </a:ext>
            </a:extLst>
          </p:cNvPr>
          <p:cNvSpPr>
            <a:spLocks noGrp="1"/>
          </p:cNvSpPr>
          <p:nvPr>
            <p:ph idx="1"/>
          </p:nvPr>
        </p:nvSpPr>
        <p:spPr/>
        <p:txBody>
          <a:bodyPr/>
          <a:lstStyle/>
          <a:p>
            <a:r>
              <a:rPr lang="en-US" dirty="0"/>
              <a:t>Our trainer function does not change, except for the part where we were flattening the input image (no longer necessary, convolutions).</a:t>
            </a:r>
          </a:p>
          <a:p>
            <a:pPr marL="0" indent="0">
              <a:buNone/>
            </a:pPr>
            <a:endParaRPr lang="en-GB" dirty="0"/>
          </a:p>
        </p:txBody>
      </p:sp>
      <p:pic>
        <p:nvPicPr>
          <p:cNvPr id="6" name="Picture 5">
            <a:extLst>
              <a:ext uri="{FF2B5EF4-FFF2-40B4-BE49-F238E27FC236}">
                <a16:creationId xmlns:a16="http://schemas.microsoft.com/office/drawing/2014/main" id="{A2D9EC24-B32F-4DB9-9F04-BF9FEEE89C02}"/>
              </a:ext>
            </a:extLst>
          </p:cNvPr>
          <p:cNvPicPr>
            <a:picLocks noChangeAspect="1"/>
          </p:cNvPicPr>
          <p:nvPr/>
        </p:nvPicPr>
        <p:blipFill rotWithShape="1">
          <a:blip r:embed="rId2"/>
          <a:srcRect l="10449" t="24821" r="66987" b="34769"/>
          <a:stretch/>
        </p:blipFill>
        <p:spPr>
          <a:xfrm>
            <a:off x="2376854" y="2695094"/>
            <a:ext cx="7438292" cy="4162906"/>
          </a:xfrm>
          <a:prstGeom prst="rect">
            <a:avLst/>
          </a:prstGeom>
        </p:spPr>
      </p:pic>
    </p:spTree>
    <p:extLst>
      <p:ext uri="{BB962C8B-B14F-4D97-AF65-F5344CB8AC3E}">
        <p14:creationId xmlns:p14="http://schemas.microsoft.com/office/powerpoint/2010/main" val="16195361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7CDCD-4D4E-4B6B-AB4F-B5F04E72375B}"/>
              </a:ext>
            </a:extLst>
          </p:cNvPr>
          <p:cNvSpPr>
            <a:spLocks noGrp="1"/>
          </p:cNvSpPr>
          <p:nvPr>
            <p:ph type="title"/>
          </p:nvPr>
        </p:nvSpPr>
        <p:spPr/>
        <p:txBody>
          <a:bodyPr/>
          <a:lstStyle/>
          <a:p>
            <a:r>
              <a:rPr lang="en-US" dirty="0" err="1"/>
              <a:t>AutoEncoder</a:t>
            </a:r>
            <a:r>
              <a:rPr lang="en-US" dirty="0"/>
              <a:t> with Conv and </a:t>
            </a:r>
            <a:r>
              <a:rPr lang="en-US" dirty="0" err="1"/>
              <a:t>DeConv</a:t>
            </a:r>
            <a:r>
              <a:rPr lang="en-US" dirty="0"/>
              <a:t> layers</a:t>
            </a:r>
            <a:endParaRPr lang="en-GB" dirty="0"/>
          </a:p>
        </p:txBody>
      </p:sp>
      <p:sp>
        <p:nvSpPr>
          <p:cNvPr id="3" name="Content Placeholder 2">
            <a:extLst>
              <a:ext uri="{FF2B5EF4-FFF2-40B4-BE49-F238E27FC236}">
                <a16:creationId xmlns:a16="http://schemas.microsoft.com/office/drawing/2014/main" id="{C964E879-30F7-437D-A4A0-62805A5D97FF}"/>
              </a:ext>
            </a:extLst>
          </p:cNvPr>
          <p:cNvSpPr>
            <a:spLocks noGrp="1"/>
          </p:cNvSpPr>
          <p:nvPr>
            <p:ph idx="1"/>
          </p:nvPr>
        </p:nvSpPr>
        <p:spPr/>
        <p:txBody>
          <a:bodyPr/>
          <a:lstStyle/>
          <a:p>
            <a:r>
              <a:rPr lang="en-US" dirty="0"/>
              <a:t>Our trainer function does not change, except for the part where we were flattening the input image (no longer necessary, convolutions).</a:t>
            </a:r>
          </a:p>
          <a:p>
            <a:pPr marL="0" indent="0">
              <a:buNone/>
            </a:pPr>
            <a:endParaRPr lang="en-GB" dirty="0"/>
          </a:p>
        </p:txBody>
      </p:sp>
      <p:pic>
        <p:nvPicPr>
          <p:cNvPr id="6" name="Picture 5">
            <a:extLst>
              <a:ext uri="{FF2B5EF4-FFF2-40B4-BE49-F238E27FC236}">
                <a16:creationId xmlns:a16="http://schemas.microsoft.com/office/drawing/2014/main" id="{A2D9EC24-B32F-4DB9-9F04-BF9FEEE89C02}"/>
              </a:ext>
            </a:extLst>
          </p:cNvPr>
          <p:cNvPicPr>
            <a:picLocks noChangeAspect="1"/>
          </p:cNvPicPr>
          <p:nvPr/>
        </p:nvPicPr>
        <p:blipFill rotWithShape="1">
          <a:blip r:embed="rId2"/>
          <a:srcRect l="10449" t="24821" r="66987" b="34769"/>
          <a:stretch/>
        </p:blipFill>
        <p:spPr>
          <a:xfrm>
            <a:off x="2376854" y="2695094"/>
            <a:ext cx="7438292" cy="4162906"/>
          </a:xfrm>
          <a:prstGeom prst="rect">
            <a:avLst/>
          </a:prstGeom>
        </p:spPr>
      </p:pic>
    </p:spTree>
    <p:extLst>
      <p:ext uri="{BB962C8B-B14F-4D97-AF65-F5344CB8AC3E}">
        <p14:creationId xmlns:p14="http://schemas.microsoft.com/office/powerpoint/2010/main" val="31150993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7CDCD-4D4E-4B6B-AB4F-B5F04E72375B}"/>
              </a:ext>
            </a:extLst>
          </p:cNvPr>
          <p:cNvSpPr>
            <a:spLocks noGrp="1"/>
          </p:cNvSpPr>
          <p:nvPr>
            <p:ph type="title"/>
          </p:nvPr>
        </p:nvSpPr>
        <p:spPr/>
        <p:txBody>
          <a:bodyPr/>
          <a:lstStyle/>
          <a:p>
            <a:r>
              <a:rPr lang="en-US" dirty="0" err="1"/>
              <a:t>AutoEncoder</a:t>
            </a:r>
            <a:r>
              <a:rPr lang="en-US" dirty="0"/>
              <a:t> with Conv and </a:t>
            </a:r>
            <a:r>
              <a:rPr lang="en-US" dirty="0" err="1"/>
              <a:t>DeConv</a:t>
            </a:r>
            <a:r>
              <a:rPr lang="en-US" dirty="0"/>
              <a:t> layers</a:t>
            </a:r>
            <a:endParaRPr lang="en-GB" dirty="0"/>
          </a:p>
        </p:txBody>
      </p:sp>
      <p:pic>
        <p:nvPicPr>
          <p:cNvPr id="8" name="Picture 7">
            <a:extLst>
              <a:ext uri="{FF2B5EF4-FFF2-40B4-BE49-F238E27FC236}">
                <a16:creationId xmlns:a16="http://schemas.microsoft.com/office/drawing/2014/main" id="{330EF9D6-0EC7-412D-85D9-F565AE6D5237}"/>
              </a:ext>
            </a:extLst>
          </p:cNvPr>
          <p:cNvPicPr>
            <a:picLocks noChangeAspect="1"/>
          </p:cNvPicPr>
          <p:nvPr/>
        </p:nvPicPr>
        <p:blipFill rotWithShape="1">
          <a:blip r:embed="rId2"/>
          <a:srcRect l="10257" t="25230" r="77179" b="39978"/>
          <a:stretch/>
        </p:blipFill>
        <p:spPr>
          <a:xfrm>
            <a:off x="2969846" y="1447537"/>
            <a:ext cx="6252308" cy="5410463"/>
          </a:xfrm>
          <a:prstGeom prst="rect">
            <a:avLst/>
          </a:prstGeom>
        </p:spPr>
      </p:pic>
    </p:spTree>
    <p:extLst>
      <p:ext uri="{BB962C8B-B14F-4D97-AF65-F5344CB8AC3E}">
        <p14:creationId xmlns:p14="http://schemas.microsoft.com/office/powerpoint/2010/main" val="27926275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7CDCD-4D4E-4B6B-AB4F-B5F04E72375B}"/>
              </a:ext>
            </a:extLst>
          </p:cNvPr>
          <p:cNvSpPr>
            <a:spLocks noGrp="1"/>
          </p:cNvSpPr>
          <p:nvPr>
            <p:ph type="title"/>
          </p:nvPr>
        </p:nvSpPr>
        <p:spPr/>
        <p:txBody>
          <a:bodyPr/>
          <a:lstStyle/>
          <a:p>
            <a:r>
              <a:rPr lang="en-US" dirty="0" err="1"/>
              <a:t>AutoEncoder</a:t>
            </a:r>
            <a:r>
              <a:rPr lang="en-US" dirty="0"/>
              <a:t> with Conv and </a:t>
            </a:r>
            <a:r>
              <a:rPr lang="en-US" dirty="0" err="1"/>
              <a:t>DeConv</a:t>
            </a:r>
            <a:r>
              <a:rPr lang="en-US" dirty="0"/>
              <a:t> layers</a:t>
            </a:r>
            <a:endParaRPr lang="en-GB" dirty="0"/>
          </a:p>
        </p:txBody>
      </p:sp>
      <p:sp>
        <p:nvSpPr>
          <p:cNvPr id="5" name="Content Placeholder 4">
            <a:extLst>
              <a:ext uri="{FF2B5EF4-FFF2-40B4-BE49-F238E27FC236}">
                <a16:creationId xmlns:a16="http://schemas.microsoft.com/office/drawing/2014/main" id="{7344AAF9-5B35-4831-A730-8639EBF6A78C}"/>
              </a:ext>
            </a:extLst>
          </p:cNvPr>
          <p:cNvSpPr>
            <a:spLocks noGrp="1"/>
          </p:cNvSpPr>
          <p:nvPr>
            <p:ph idx="1"/>
          </p:nvPr>
        </p:nvSpPr>
        <p:spPr/>
        <p:txBody>
          <a:bodyPr/>
          <a:lstStyle/>
          <a:p>
            <a:r>
              <a:rPr lang="en-US" dirty="0"/>
              <a:t>We can also see the evolution on the outputs being generated during the different iterations of training.</a:t>
            </a:r>
            <a:endParaRPr lang="en-GB" dirty="0"/>
          </a:p>
        </p:txBody>
      </p:sp>
      <p:pic>
        <p:nvPicPr>
          <p:cNvPr id="4" name="Picture 3">
            <a:extLst>
              <a:ext uri="{FF2B5EF4-FFF2-40B4-BE49-F238E27FC236}">
                <a16:creationId xmlns:a16="http://schemas.microsoft.com/office/drawing/2014/main" id="{E1428829-161E-49ED-BDD9-98B0E766A990}"/>
              </a:ext>
            </a:extLst>
          </p:cNvPr>
          <p:cNvPicPr>
            <a:picLocks noChangeAspect="1"/>
          </p:cNvPicPr>
          <p:nvPr/>
        </p:nvPicPr>
        <p:blipFill rotWithShape="1">
          <a:blip r:embed="rId2"/>
          <a:srcRect l="10576" t="36307" r="74167" b="38257"/>
          <a:stretch/>
        </p:blipFill>
        <p:spPr>
          <a:xfrm>
            <a:off x="2434492" y="2829169"/>
            <a:ext cx="7323016" cy="3815357"/>
          </a:xfrm>
          <a:prstGeom prst="rect">
            <a:avLst/>
          </a:prstGeom>
        </p:spPr>
      </p:pic>
    </p:spTree>
    <p:extLst>
      <p:ext uri="{BB962C8B-B14F-4D97-AF65-F5344CB8AC3E}">
        <p14:creationId xmlns:p14="http://schemas.microsoft.com/office/powerpoint/2010/main" val="35063437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5314AE3-F715-4885-81C8-E3AF9CB50642}"/>
              </a:ext>
            </a:extLst>
          </p:cNvPr>
          <p:cNvPicPr>
            <a:picLocks noChangeAspect="1"/>
          </p:cNvPicPr>
          <p:nvPr/>
        </p:nvPicPr>
        <p:blipFill rotWithShape="1">
          <a:blip r:embed="rId2"/>
          <a:srcRect l="10577" t="19487" r="72500" b="5231"/>
          <a:stretch/>
        </p:blipFill>
        <p:spPr>
          <a:xfrm>
            <a:off x="5306645" y="35051"/>
            <a:ext cx="4908063" cy="6822949"/>
          </a:xfrm>
          <a:prstGeom prst="rect">
            <a:avLst/>
          </a:prstGeom>
        </p:spPr>
      </p:pic>
      <p:sp>
        <p:nvSpPr>
          <p:cNvPr id="11" name="TextBox 10">
            <a:extLst>
              <a:ext uri="{FF2B5EF4-FFF2-40B4-BE49-F238E27FC236}">
                <a16:creationId xmlns:a16="http://schemas.microsoft.com/office/drawing/2014/main" id="{3CF9070C-5736-43FE-B0EC-4C85DCB4A2D5}"/>
              </a:ext>
            </a:extLst>
          </p:cNvPr>
          <p:cNvSpPr txBox="1"/>
          <p:nvPr/>
        </p:nvSpPr>
        <p:spPr>
          <a:xfrm>
            <a:off x="2485291" y="277137"/>
            <a:ext cx="2516554" cy="523220"/>
          </a:xfrm>
          <a:prstGeom prst="rect">
            <a:avLst/>
          </a:prstGeom>
          <a:noFill/>
        </p:spPr>
        <p:txBody>
          <a:bodyPr wrap="square" rtlCol="0">
            <a:spAutoFit/>
          </a:bodyPr>
          <a:lstStyle/>
          <a:p>
            <a:r>
              <a:rPr lang="en-US" sz="2800" dirty="0"/>
              <a:t>Iteration 5</a:t>
            </a:r>
            <a:endParaRPr lang="en-GB" sz="2800" dirty="0"/>
          </a:p>
        </p:txBody>
      </p:sp>
      <p:sp>
        <p:nvSpPr>
          <p:cNvPr id="12" name="TextBox 11">
            <a:extLst>
              <a:ext uri="{FF2B5EF4-FFF2-40B4-BE49-F238E27FC236}">
                <a16:creationId xmlns:a16="http://schemas.microsoft.com/office/drawing/2014/main" id="{580A8495-99EF-49D2-839C-7D8C4DBED3C0}"/>
              </a:ext>
            </a:extLst>
          </p:cNvPr>
          <p:cNvSpPr txBox="1"/>
          <p:nvPr/>
        </p:nvSpPr>
        <p:spPr>
          <a:xfrm>
            <a:off x="2485291" y="1699845"/>
            <a:ext cx="2516554" cy="523220"/>
          </a:xfrm>
          <a:prstGeom prst="rect">
            <a:avLst/>
          </a:prstGeom>
          <a:noFill/>
        </p:spPr>
        <p:txBody>
          <a:bodyPr wrap="square" rtlCol="0">
            <a:spAutoFit/>
          </a:bodyPr>
          <a:lstStyle/>
          <a:p>
            <a:r>
              <a:rPr lang="en-US" sz="2800" dirty="0"/>
              <a:t>Iteration 10</a:t>
            </a:r>
            <a:endParaRPr lang="en-GB" sz="2800" dirty="0"/>
          </a:p>
        </p:txBody>
      </p:sp>
      <p:sp>
        <p:nvSpPr>
          <p:cNvPr id="13" name="TextBox 12">
            <a:extLst>
              <a:ext uri="{FF2B5EF4-FFF2-40B4-BE49-F238E27FC236}">
                <a16:creationId xmlns:a16="http://schemas.microsoft.com/office/drawing/2014/main" id="{3FC9E966-5ACF-4137-9938-49A676C4FA7B}"/>
              </a:ext>
            </a:extLst>
          </p:cNvPr>
          <p:cNvSpPr txBox="1"/>
          <p:nvPr/>
        </p:nvSpPr>
        <p:spPr>
          <a:xfrm>
            <a:off x="2485291" y="3122553"/>
            <a:ext cx="2516554" cy="523220"/>
          </a:xfrm>
          <a:prstGeom prst="rect">
            <a:avLst/>
          </a:prstGeom>
          <a:noFill/>
        </p:spPr>
        <p:txBody>
          <a:bodyPr wrap="square" rtlCol="0">
            <a:spAutoFit/>
          </a:bodyPr>
          <a:lstStyle/>
          <a:p>
            <a:r>
              <a:rPr lang="en-US" sz="2800" dirty="0"/>
              <a:t>Iteration 15</a:t>
            </a:r>
            <a:endParaRPr lang="en-GB" sz="2800" dirty="0"/>
          </a:p>
        </p:txBody>
      </p:sp>
      <p:sp>
        <p:nvSpPr>
          <p:cNvPr id="14" name="TextBox 13">
            <a:extLst>
              <a:ext uri="{FF2B5EF4-FFF2-40B4-BE49-F238E27FC236}">
                <a16:creationId xmlns:a16="http://schemas.microsoft.com/office/drawing/2014/main" id="{66224AB6-89C6-4D68-BAB5-DC2731BAD16B}"/>
              </a:ext>
            </a:extLst>
          </p:cNvPr>
          <p:cNvSpPr txBox="1"/>
          <p:nvPr/>
        </p:nvSpPr>
        <p:spPr>
          <a:xfrm>
            <a:off x="2485291" y="4545261"/>
            <a:ext cx="2516554" cy="523220"/>
          </a:xfrm>
          <a:prstGeom prst="rect">
            <a:avLst/>
          </a:prstGeom>
          <a:noFill/>
        </p:spPr>
        <p:txBody>
          <a:bodyPr wrap="square" rtlCol="0">
            <a:spAutoFit/>
          </a:bodyPr>
          <a:lstStyle/>
          <a:p>
            <a:r>
              <a:rPr lang="en-US" sz="2800" dirty="0"/>
              <a:t>Iteration 20</a:t>
            </a:r>
            <a:endParaRPr lang="en-GB" sz="2800" dirty="0"/>
          </a:p>
        </p:txBody>
      </p:sp>
      <p:sp>
        <p:nvSpPr>
          <p:cNvPr id="15" name="TextBox 14">
            <a:extLst>
              <a:ext uri="{FF2B5EF4-FFF2-40B4-BE49-F238E27FC236}">
                <a16:creationId xmlns:a16="http://schemas.microsoft.com/office/drawing/2014/main" id="{D4E8787A-D229-483C-828C-5FD874D75FD1}"/>
              </a:ext>
            </a:extLst>
          </p:cNvPr>
          <p:cNvSpPr txBox="1"/>
          <p:nvPr/>
        </p:nvSpPr>
        <p:spPr>
          <a:xfrm>
            <a:off x="2485291" y="5967969"/>
            <a:ext cx="2516554" cy="523220"/>
          </a:xfrm>
          <a:prstGeom prst="rect">
            <a:avLst/>
          </a:prstGeom>
          <a:noFill/>
        </p:spPr>
        <p:txBody>
          <a:bodyPr wrap="square" rtlCol="0">
            <a:spAutoFit/>
          </a:bodyPr>
          <a:lstStyle/>
          <a:p>
            <a:r>
              <a:rPr lang="en-US" sz="2800" dirty="0"/>
              <a:t>Iteration 25</a:t>
            </a:r>
            <a:endParaRPr lang="en-GB" sz="2800" dirty="0"/>
          </a:p>
        </p:txBody>
      </p:sp>
    </p:spTree>
    <p:extLst>
      <p:ext uri="{BB962C8B-B14F-4D97-AF65-F5344CB8AC3E}">
        <p14:creationId xmlns:p14="http://schemas.microsoft.com/office/powerpoint/2010/main" val="30364336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4A033-85AC-4AB4-8032-53AEAB824612}"/>
              </a:ext>
            </a:extLst>
          </p:cNvPr>
          <p:cNvSpPr>
            <a:spLocks noGrp="1"/>
          </p:cNvSpPr>
          <p:nvPr>
            <p:ph type="title"/>
          </p:nvPr>
        </p:nvSpPr>
        <p:spPr/>
        <p:txBody>
          <a:bodyPr/>
          <a:lstStyle/>
          <a:p>
            <a:r>
              <a:rPr lang="en-US" dirty="0" err="1"/>
              <a:t>AutoEncoders</a:t>
            </a:r>
            <a:r>
              <a:rPr lang="en-US" dirty="0"/>
              <a:t> for Signal Denoising</a:t>
            </a:r>
            <a:endParaRPr lang="en-GB" dirty="0"/>
          </a:p>
        </p:txBody>
      </p:sp>
      <p:sp>
        <p:nvSpPr>
          <p:cNvPr id="3" name="Content Placeholder 2">
            <a:extLst>
              <a:ext uri="{FF2B5EF4-FFF2-40B4-BE49-F238E27FC236}">
                <a16:creationId xmlns:a16="http://schemas.microsoft.com/office/drawing/2014/main" id="{A49BAA60-5870-441C-87A2-2BF087C8450E}"/>
              </a:ext>
            </a:extLst>
          </p:cNvPr>
          <p:cNvSpPr>
            <a:spLocks noGrp="1"/>
          </p:cNvSpPr>
          <p:nvPr>
            <p:ph sz="half" idx="1"/>
          </p:nvPr>
        </p:nvSpPr>
        <p:spPr>
          <a:xfrm>
            <a:off x="838200" y="1825624"/>
            <a:ext cx="5181600" cy="5032375"/>
          </a:xfrm>
        </p:spPr>
        <p:txBody>
          <a:bodyPr/>
          <a:lstStyle/>
          <a:p>
            <a:r>
              <a:rPr lang="en-US" dirty="0"/>
              <a:t>On top of their ability to encode an input into a low-dimension latent vectors, the </a:t>
            </a:r>
            <a:r>
              <a:rPr lang="en-US" dirty="0" err="1"/>
              <a:t>AutoEncoders</a:t>
            </a:r>
            <a:r>
              <a:rPr lang="en-US" dirty="0"/>
              <a:t> can be used for…</a:t>
            </a:r>
          </a:p>
          <a:p>
            <a:r>
              <a:rPr lang="en-US" b="1" dirty="0"/>
              <a:t>Denoising images: </a:t>
            </a:r>
            <a:r>
              <a:rPr lang="en-US" dirty="0"/>
              <a:t>the autoencoder will simply focus on keeping the most important features of the image and will likely drop the noise present in the image.</a:t>
            </a:r>
          </a:p>
          <a:p>
            <a:r>
              <a:rPr lang="en-US" b="1" dirty="0"/>
              <a:t>This can be used to protect against Noising Attacks!</a:t>
            </a:r>
            <a:endParaRPr lang="en-GB" b="1" dirty="0"/>
          </a:p>
        </p:txBody>
      </p:sp>
      <p:pic>
        <p:nvPicPr>
          <p:cNvPr id="6" name="Picture 5">
            <a:extLst>
              <a:ext uri="{FF2B5EF4-FFF2-40B4-BE49-F238E27FC236}">
                <a16:creationId xmlns:a16="http://schemas.microsoft.com/office/drawing/2014/main" id="{609A541A-D464-4459-A705-B95B8204D5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2" y="2368855"/>
            <a:ext cx="5939186" cy="2120289"/>
          </a:xfrm>
          <a:prstGeom prst="rect">
            <a:avLst/>
          </a:prstGeom>
        </p:spPr>
      </p:pic>
      <p:pic>
        <p:nvPicPr>
          <p:cNvPr id="8" name="Picture 7">
            <a:extLst>
              <a:ext uri="{FF2B5EF4-FFF2-40B4-BE49-F238E27FC236}">
                <a16:creationId xmlns:a16="http://schemas.microsoft.com/office/drawing/2014/main" id="{97D188B7-5900-4177-98BE-7A940732DF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63323" y="4489144"/>
            <a:ext cx="5486400" cy="1622407"/>
          </a:xfrm>
          <a:prstGeom prst="rect">
            <a:avLst/>
          </a:prstGeom>
        </p:spPr>
      </p:pic>
    </p:spTree>
    <p:extLst>
      <p:ext uri="{BB962C8B-B14F-4D97-AF65-F5344CB8AC3E}">
        <p14:creationId xmlns:p14="http://schemas.microsoft.com/office/powerpoint/2010/main" val="21093693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D1E3F-FD1E-48EA-B102-4338019BF2F1}"/>
              </a:ext>
            </a:extLst>
          </p:cNvPr>
          <p:cNvSpPr>
            <a:spLocks noGrp="1"/>
          </p:cNvSpPr>
          <p:nvPr>
            <p:ph type="title"/>
          </p:nvPr>
        </p:nvSpPr>
        <p:spPr/>
        <p:txBody>
          <a:bodyPr/>
          <a:lstStyle/>
          <a:p>
            <a:r>
              <a:rPr lang="en-US" dirty="0" err="1"/>
              <a:t>AutoEncoders</a:t>
            </a:r>
            <a:r>
              <a:rPr lang="en-US" dirty="0"/>
              <a:t> for Supersizing Images</a:t>
            </a:r>
            <a:endParaRPr lang="en-GB" dirty="0"/>
          </a:p>
        </p:txBody>
      </p:sp>
      <p:sp>
        <p:nvSpPr>
          <p:cNvPr id="3" name="Content Placeholder 2">
            <a:extLst>
              <a:ext uri="{FF2B5EF4-FFF2-40B4-BE49-F238E27FC236}">
                <a16:creationId xmlns:a16="http://schemas.microsoft.com/office/drawing/2014/main" id="{12987710-476C-4853-8C1D-E94149FD7F70}"/>
              </a:ext>
            </a:extLst>
          </p:cNvPr>
          <p:cNvSpPr>
            <a:spLocks noGrp="1"/>
          </p:cNvSpPr>
          <p:nvPr>
            <p:ph idx="1"/>
          </p:nvPr>
        </p:nvSpPr>
        <p:spPr/>
        <p:txBody>
          <a:bodyPr>
            <a:normAutofit/>
          </a:bodyPr>
          <a:lstStyle/>
          <a:p>
            <a:r>
              <a:rPr lang="en-US" dirty="0"/>
              <a:t>On top of their ability to encode an input into a low-dimension latent vectors, the </a:t>
            </a:r>
            <a:r>
              <a:rPr lang="en-US" dirty="0" err="1"/>
              <a:t>AutoEncoders</a:t>
            </a:r>
            <a:r>
              <a:rPr lang="en-US" dirty="0"/>
              <a:t> can be used for…</a:t>
            </a:r>
          </a:p>
          <a:p>
            <a:r>
              <a:rPr lang="en-US" b="1" dirty="0"/>
              <a:t>Supersizing images: </a:t>
            </a:r>
            <a:r>
              <a:rPr lang="en-US" dirty="0"/>
              <a:t>the autoencoder will simply attempt to reconstruct the missing pixels in the image to increase its resolution.</a:t>
            </a:r>
          </a:p>
        </p:txBody>
      </p:sp>
      <p:pic>
        <p:nvPicPr>
          <p:cNvPr id="6" name="Picture 5">
            <a:extLst>
              <a:ext uri="{FF2B5EF4-FFF2-40B4-BE49-F238E27FC236}">
                <a16:creationId xmlns:a16="http://schemas.microsoft.com/office/drawing/2014/main" id="{D4F210CC-D856-4638-85D5-7AED255C73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1312" y="4100325"/>
            <a:ext cx="8969375" cy="2726442"/>
          </a:xfrm>
          <a:prstGeom prst="rect">
            <a:avLst/>
          </a:prstGeom>
        </p:spPr>
      </p:pic>
      <p:sp>
        <p:nvSpPr>
          <p:cNvPr id="7" name="TextBox 6">
            <a:extLst>
              <a:ext uri="{FF2B5EF4-FFF2-40B4-BE49-F238E27FC236}">
                <a16:creationId xmlns:a16="http://schemas.microsoft.com/office/drawing/2014/main" id="{A42A1268-4C53-464B-9CD6-7B819C2ABBDF}"/>
              </a:ext>
            </a:extLst>
          </p:cNvPr>
          <p:cNvSpPr txBox="1"/>
          <p:nvPr/>
        </p:nvSpPr>
        <p:spPr>
          <a:xfrm>
            <a:off x="1611312" y="6176963"/>
            <a:ext cx="2328984" cy="461665"/>
          </a:xfrm>
          <a:prstGeom prst="rect">
            <a:avLst/>
          </a:prstGeom>
          <a:solidFill>
            <a:schemeClr val="bg1"/>
          </a:solidFill>
        </p:spPr>
        <p:txBody>
          <a:bodyPr wrap="square" rtlCol="0">
            <a:spAutoFit/>
          </a:bodyPr>
          <a:lstStyle/>
          <a:p>
            <a:r>
              <a:rPr lang="en-US" sz="2400" dirty="0"/>
              <a:t>Ground Truth</a:t>
            </a:r>
            <a:endParaRPr lang="en-GB" sz="2400" dirty="0"/>
          </a:p>
        </p:txBody>
      </p:sp>
      <p:sp>
        <p:nvSpPr>
          <p:cNvPr id="10" name="TextBox 9">
            <a:extLst>
              <a:ext uri="{FF2B5EF4-FFF2-40B4-BE49-F238E27FC236}">
                <a16:creationId xmlns:a16="http://schemas.microsoft.com/office/drawing/2014/main" id="{5F29F550-2F74-42BD-87A7-531024F6FA9F}"/>
              </a:ext>
            </a:extLst>
          </p:cNvPr>
          <p:cNvSpPr txBox="1"/>
          <p:nvPr/>
        </p:nvSpPr>
        <p:spPr>
          <a:xfrm>
            <a:off x="3742225" y="6040200"/>
            <a:ext cx="4264635" cy="830997"/>
          </a:xfrm>
          <a:prstGeom prst="rect">
            <a:avLst/>
          </a:prstGeom>
          <a:solidFill>
            <a:schemeClr val="bg1"/>
          </a:solidFill>
        </p:spPr>
        <p:txBody>
          <a:bodyPr wrap="square" rtlCol="0">
            <a:spAutoFit/>
          </a:bodyPr>
          <a:lstStyle/>
          <a:p>
            <a:r>
              <a:rPr lang="en-US" sz="2400" dirty="0" err="1"/>
              <a:t>Downsample</a:t>
            </a:r>
            <a:r>
              <a:rPr lang="en-US" sz="2400" dirty="0"/>
              <a:t>, and then pixelate with Nearest Neighbors </a:t>
            </a:r>
            <a:endParaRPr lang="en-GB" sz="2400" dirty="0"/>
          </a:p>
        </p:txBody>
      </p:sp>
      <p:sp>
        <p:nvSpPr>
          <p:cNvPr id="11" name="Rectangle 10">
            <a:extLst>
              <a:ext uri="{FF2B5EF4-FFF2-40B4-BE49-F238E27FC236}">
                <a16:creationId xmlns:a16="http://schemas.microsoft.com/office/drawing/2014/main" id="{7801B67F-47CC-4F33-AE60-0DA459638355}"/>
              </a:ext>
            </a:extLst>
          </p:cNvPr>
          <p:cNvSpPr/>
          <p:nvPr/>
        </p:nvSpPr>
        <p:spPr>
          <a:xfrm>
            <a:off x="4189046" y="5611446"/>
            <a:ext cx="1211385" cy="5620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0FCD5C03-0F56-45C5-B46F-627E9888D591}"/>
              </a:ext>
            </a:extLst>
          </p:cNvPr>
          <p:cNvSpPr txBox="1"/>
          <p:nvPr/>
        </p:nvSpPr>
        <p:spPr>
          <a:xfrm>
            <a:off x="8332422" y="6175253"/>
            <a:ext cx="3695455" cy="461665"/>
          </a:xfrm>
          <a:prstGeom prst="rect">
            <a:avLst/>
          </a:prstGeom>
          <a:solidFill>
            <a:schemeClr val="bg1"/>
          </a:solidFill>
        </p:spPr>
        <p:txBody>
          <a:bodyPr wrap="square" rtlCol="0">
            <a:spAutoFit/>
          </a:bodyPr>
          <a:lstStyle/>
          <a:p>
            <a:r>
              <a:rPr lang="en-US" sz="2400" dirty="0"/>
              <a:t>Output (super resolution)</a:t>
            </a:r>
            <a:endParaRPr lang="en-GB" sz="2400" dirty="0"/>
          </a:p>
        </p:txBody>
      </p:sp>
      <p:cxnSp>
        <p:nvCxnSpPr>
          <p:cNvPr id="14" name="Straight Arrow Connector 13">
            <a:extLst>
              <a:ext uri="{FF2B5EF4-FFF2-40B4-BE49-F238E27FC236}">
                <a16:creationId xmlns:a16="http://schemas.microsoft.com/office/drawing/2014/main" id="{0F232189-C3F8-4FB5-BAE2-69F6569B21F7}"/>
              </a:ext>
            </a:extLst>
          </p:cNvPr>
          <p:cNvCxnSpPr/>
          <p:nvPr/>
        </p:nvCxnSpPr>
        <p:spPr>
          <a:xfrm>
            <a:off x="3704492" y="5611446"/>
            <a:ext cx="2055447"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494675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4A033-85AC-4AB4-8032-53AEAB824612}"/>
              </a:ext>
            </a:extLst>
          </p:cNvPr>
          <p:cNvSpPr>
            <a:spLocks noGrp="1"/>
          </p:cNvSpPr>
          <p:nvPr>
            <p:ph type="title"/>
          </p:nvPr>
        </p:nvSpPr>
        <p:spPr/>
        <p:txBody>
          <a:bodyPr/>
          <a:lstStyle/>
          <a:p>
            <a:r>
              <a:rPr lang="en-US" dirty="0" err="1"/>
              <a:t>AutoEncoders</a:t>
            </a:r>
            <a:r>
              <a:rPr lang="en-US" dirty="0"/>
              <a:t> for Anomaly Detection</a:t>
            </a:r>
            <a:endParaRPr lang="en-GB" dirty="0"/>
          </a:p>
        </p:txBody>
      </p:sp>
      <p:sp>
        <p:nvSpPr>
          <p:cNvPr id="3" name="Content Placeholder 2">
            <a:extLst>
              <a:ext uri="{FF2B5EF4-FFF2-40B4-BE49-F238E27FC236}">
                <a16:creationId xmlns:a16="http://schemas.microsoft.com/office/drawing/2014/main" id="{A49BAA60-5870-441C-87A2-2BF087C8450E}"/>
              </a:ext>
            </a:extLst>
          </p:cNvPr>
          <p:cNvSpPr>
            <a:spLocks noGrp="1"/>
          </p:cNvSpPr>
          <p:nvPr>
            <p:ph sz="half" idx="1"/>
          </p:nvPr>
        </p:nvSpPr>
        <p:spPr>
          <a:xfrm>
            <a:off x="838200" y="1825624"/>
            <a:ext cx="5181600" cy="5032375"/>
          </a:xfrm>
        </p:spPr>
        <p:txBody>
          <a:bodyPr>
            <a:normAutofit lnSpcReduction="10000"/>
          </a:bodyPr>
          <a:lstStyle/>
          <a:p>
            <a:r>
              <a:rPr lang="en-US" dirty="0"/>
              <a:t>On top of their ability to encode an input into a low-dimension latent vectors, the </a:t>
            </a:r>
            <a:r>
              <a:rPr lang="en-US" dirty="0" err="1"/>
              <a:t>AutoEncoders</a:t>
            </a:r>
            <a:r>
              <a:rPr lang="en-US" dirty="0"/>
              <a:t> can be used for…</a:t>
            </a:r>
          </a:p>
          <a:p>
            <a:r>
              <a:rPr lang="en-US" b="1" dirty="0"/>
              <a:t>Anomaly detection:</a:t>
            </a:r>
            <a:r>
              <a:rPr lang="en-US" dirty="0"/>
              <a:t> There are many ways and techniques to detect anomalies and outliers. However, if you have correlated input data, the autoencoder method will work very well because the encoding operation relies on the correlated features to compress the data.</a:t>
            </a:r>
            <a:endParaRPr lang="en-GB" dirty="0"/>
          </a:p>
        </p:txBody>
      </p:sp>
      <p:pic>
        <p:nvPicPr>
          <p:cNvPr id="6" name="Picture 5">
            <a:extLst>
              <a:ext uri="{FF2B5EF4-FFF2-40B4-BE49-F238E27FC236}">
                <a16:creationId xmlns:a16="http://schemas.microsoft.com/office/drawing/2014/main" id="{609EAB6A-A4F4-42E1-94B5-953AF2E02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6187" y="2414953"/>
            <a:ext cx="5755745" cy="3009314"/>
          </a:xfrm>
          <a:prstGeom prst="rect">
            <a:avLst/>
          </a:prstGeom>
        </p:spPr>
      </p:pic>
    </p:spTree>
    <p:extLst>
      <p:ext uri="{BB962C8B-B14F-4D97-AF65-F5344CB8AC3E}">
        <p14:creationId xmlns:p14="http://schemas.microsoft.com/office/powerpoint/2010/main" val="24164390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2EFD1-C5FA-4040-ADB8-C1A60FA9FEE9}"/>
              </a:ext>
            </a:extLst>
          </p:cNvPr>
          <p:cNvSpPr>
            <a:spLocks noGrp="1"/>
          </p:cNvSpPr>
          <p:nvPr>
            <p:ph type="title"/>
          </p:nvPr>
        </p:nvSpPr>
        <p:spPr/>
        <p:txBody>
          <a:bodyPr/>
          <a:lstStyle/>
          <a:p>
            <a:r>
              <a:rPr lang="en-US"/>
              <a:t>Conclusion</a:t>
            </a:r>
            <a:endParaRPr lang="en-US" dirty="0"/>
          </a:p>
        </p:txBody>
      </p:sp>
      <p:sp>
        <p:nvSpPr>
          <p:cNvPr id="3" name="Content Placeholder 2">
            <a:extLst>
              <a:ext uri="{FF2B5EF4-FFF2-40B4-BE49-F238E27FC236}">
                <a16:creationId xmlns:a16="http://schemas.microsoft.com/office/drawing/2014/main" id="{78053446-C600-4EAD-8161-EB9D925C5227}"/>
              </a:ext>
            </a:extLst>
          </p:cNvPr>
          <p:cNvSpPr>
            <a:spLocks noGrp="1"/>
          </p:cNvSpPr>
          <p:nvPr>
            <p:ph sz="half" idx="1"/>
          </p:nvPr>
        </p:nvSpPr>
        <p:spPr/>
        <p:txBody>
          <a:bodyPr>
            <a:normAutofit/>
          </a:bodyPr>
          <a:lstStyle/>
          <a:p>
            <a:pPr marL="0" indent="0">
              <a:buNone/>
            </a:pPr>
            <a:r>
              <a:rPr lang="en-US" dirty="0"/>
              <a:t>In this lecture</a:t>
            </a:r>
          </a:p>
          <a:p>
            <a:r>
              <a:rPr lang="en-US" dirty="0"/>
              <a:t>Autoencoders definition</a:t>
            </a:r>
          </a:p>
          <a:p>
            <a:r>
              <a:rPr lang="en-US" dirty="0"/>
              <a:t>Autoencoders with fully connected layers</a:t>
            </a:r>
          </a:p>
          <a:p>
            <a:r>
              <a:rPr lang="en-US" dirty="0"/>
              <a:t>Fractionally </a:t>
            </a:r>
            <a:r>
              <a:rPr lang="en-US" dirty="0" err="1"/>
              <a:t>strided</a:t>
            </a:r>
            <a:r>
              <a:rPr lang="en-US" dirty="0"/>
              <a:t> convolution layers</a:t>
            </a:r>
          </a:p>
          <a:p>
            <a:r>
              <a:rPr lang="en-US" dirty="0"/>
              <a:t>Autoencoders with convolutions and deconvolutions</a:t>
            </a:r>
          </a:p>
          <a:p>
            <a:r>
              <a:rPr lang="en-US" dirty="0"/>
              <a:t>Autoencoder uses</a:t>
            </a:r>
          </a:p>
        </p:txBody>
      </p:sp>
      <p:sp>
        <p:nvSpPr>
          <p:cNvPr id="4" name="Content Placeholder 3">
            <a:extLst>
              <a:ext uri="{FF2B5EF4-FFF2-40B4-BE49-F238E27FC236}">
                <a16:creationId xmlns:a16="http://schemas.microsoft.com/office/drawing/2014/main" id="{2F691806-2364-43BE-8739-E73493C0FDB0}"/>
              </a:ext>
            </a:extLst>
          </p:cNvPr>
          <p:cNvSpPr>
            <a:spLocks noGrp="1"/>
          </p:cNvSpPr>
          <p:nvPr>
            <p:ph sz="half" idx="2"/>
          </p:nvPr>
        </p:nvSpPr>
        <p:spPr>
          <a:xfrm>
            <a:off x="6172200" y="1825625"/>
            <a:ext cx="5181600" cy="4895606"/>
          </a:xfrm>
        </p:spPr>
        <p:txBody>
          <a:bodyPr>
            <a:normAutofit/>
          </a:bodyPr>
          <a:lstStyle/>
          <a:p>
            <a:pPr marL="0" indent="0">
              <a:buNone/>
            </a:pPr>
            <a:r>
              <a:rPr lang="en-US" dirty="0"/>
              <a:t>In the next lectures</a:t>
            </a:r>
          </a:p>
          <a:p>
            <a:r>
              <a:rPr lang="en-US" dirty="0"/>
              <a:t>Variational Autoencoder and noisy latent representations</a:t>
            </a:r>
          </a:p>
          <a:p>
            <a:r>
              <a:rPr lang="en-US" dirty="0"/>
              <a:t>Generative Adversarial Networks</a:t>
            </a:r>
          </a:p>
          <a:p>
            <a:r>
              <a:rPr lang="en-US" dirty="0"/>
              <a:t>More advanced GANs</a:t>
            </a:r>
          </a:p>
          <a:p>
            <a:endParaRPr lang="en-US" dirty="0"/>
          </a:p>
        </p:txBody>
      </p:sp>
    </p:spTree>
    <p:extLst>
      <p:ext uri="{BB962C8B-B14F-4D97-AF65-F5344CB8AC3E}">
        <p14:creationId xmlns:p14="http://schemas.microsoft.com/office/powerpoint/2010/main" val="27493019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515600" cy="5032375"/>
          </a:xfrm>
        </p:spPr>
        <p:txBody>
          <a:bodyPr>
            <a:normAutofit/>
          </a:bodyPr>
          <a:lstStyle/>
          <a:p>
            <a:pPr marL="0" indent="0">
              <a:buNone/>
            </a:pPr>
            <a:r>
              <a:rPr lang="en-US" dirty="0"/>
              <a:t>Out of class, for those of you who are curious</a:t>
            </a:r>
          </a:p>
          <a:p>
            <a:r>
              <a:rPr lang="en-US" dirty="0"/>
              <a:t>None for now!</a:t>
            </a:r>
          </a:p>
          <a:p>
            <a:endParaRPr lang="en-US" dirty="0"/>
          </a:p>
          <a:p>
            <a:endParaRPr lang="en-GB" dirty="0"/>
          </a:p>
        </p:txBody>
      </p:sp>
    </p:spTree>
    <p:extLst>
      <p:ext uri="{BB962C8B-B14F-4D97-AF65-F5344CB8AC3E}">
        <p14:creationId xmlns:p14="http://schemas.microsoft.com/office/powerpoint/2010/main" val="38809490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3642</TotalTime>
  <Words>3146</Words>
  <Application>Microsoft Office PowerPoint</Application>
  <PresentationFormat>Widescreen</PresentationFormat>
  <Paragraphs>261</Paragraphs>
  <Slides>64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64</vt:i4>
      </vt:variant>
    </vt:vector>
  </HeadingPairs>
  <TitlesOfParts>
    <vt:vector size="70" baseType="lpstr">
      <vt:lpstr>Arial</vt:lpstr>
      <vt:lpstr>Calibri</vt:lpstr>
      <vt:lpstr>Calibri Light</vt:lpstr>
      <vt:lpstr>Cambria Math</vt:lpstr>
      <vt:lpstr>Wingdings</vt:lpstr>
      <vt:lpstr>Office Theme</vt:lpstr>
      <vt:lpstr>50.039 Theory and Practice of Deep Learning W10-S1 Generative Models in Deep Learning</vt:lpstr>
      <vt:lpstr>What we have done so far</vt:lpstr>
      <vt:lpstr>What we have done so far</vt:lpstr>
      <vt:lpstr>About this week (Week 10)</vt:lpstr>
      <vt:lpstr>Outline</vt:lpstr>
      <vt:lpstr>AutoEncoders: a definition</vt:lpstr>
      <vt:lpstr>AutoEncoders: a definition</vt:lpstr>
      <vt:lpstr>AutoEncoders: a definition</vt:lpstr>
      <vt:lpstr>AutoEncoders: a definition</vt:lpstr>
      <vt:lpstr>AutoEncoders: a definition</vt:lpstr>
      <vt:lpstr>AutoEncoders: a definition</vt:lpstr>
      <vt:lpstr>AutoEncoders structure</vt:lpstr>
      <vt:lpstr>AutoEncoders structure</vt:lpstr>
      <vt:lpstr>AutoEncoders structure</vt:lpstr>
      <vt:lpstr>AutoEncoders structure</vt:lpstr>
      <vt:lpstr>AutoEncoders structure</vt:lpstr>
      <vt:lpstr>On reversibility of layers</vt:lpstr>
      <vt:lpstr>On reversibility of layers</vt:lpstr>
      <vt:lpstr>A first toy example: MNIST autoencoder with fully connected layers</vt:lpstr>
      <vt:lpstr>A first toy example: MNIST autoencoder with fully connected layers</vt:lpstr>
      <vt:lpstr>A first toy example: MNIST autoencoder with fully connected layers</vt:lpstr>
      <vt:lpstr>A first toy example: MNIST autoencoder with fully connected layers</vt:lpstr>
      <vt:lpstr>A first toy example: MNIST autoencoder with fully connected layers</vt:lpstr>
      <vt:lpstr>A first toy example: MNIST autoencoder with fully connected layers</vt:lpstr>
      <vt:lpstr>A first toy example: MNIST autoencoder with fully connected layers</vt:lpstr>
      <vt:lpstr>A first toy example: MNIST autoencoder with fully connected layers</vt:lpstr>
      <vt:lpstr>A first toy example: MNIST autoencoder with fully connected layers</vt:lpstr>
      <vt:lpstr>AutoEncoders structure (Reminder)</vt:lpstr>
      <vt:lpstr>On latent dimensionality</vt:lpstr>
      <vt:lpstr>On latent dimensionality</vt:lpstr>
      <vt:lpstr>On latent dimensionality vs. loss effect</vt:lpstr>
      <vt:lpstr>On latent dimensionality vs. reconstruction quality</vt:lpstr>
      <vt:lpstr>On latent dimensionality vs. reconstruction quality</vt:lpstr>
      <vt:lpstr>A first toy example: MNIST autoencoder with fully connected layers (Reminder)</vt:lpstr>
      <vt:lpstr>A first toy example: MNIST autoencoder with fully connected layers (Reminder)</vt:lpstr>
      <vt:lpstr>Convolution layers (reminder)</vt:lpstr>
      <vt:lpstr>Convolution layers (reminder)</vt:lpstr>
      <vt:lpstr>Option 1: Nearest Neighbors upsampling</vt:lpstr>
      <vt:lpstr>Option 2: Bed of Nails upsampling</vt:lpstr>
      <vt:lpstr>Option 3: Bi-Linear Interpolation upsampling</vt:lpstr>
      <vt:lpstr>Option 4: Reversed MaxPooling upsampling</vt:lpstr>
      <vt:lpstr>On the need for deconvolution layers</vt:lpstr>
      <vt:lpstr>Deconvolution operation</vt:lpstr>
      <vt:lpstr>Deconvolution operation</vt:lpstr>
      <vt:lpstr>Deconvolution operation</vt:lpstr>
      <vt:lpstr>Deconvolution operation</vt:lpstr>
      <vt:lpstr>Deconvolution operation</vt:lpstr>
      <vt:lpstr>Convolution layers (reminder)</vt:lpstr>
      <vt:lpstr>Convolution vs. Deconvolution layers</vt:lpstr>
      <vt:lpstr>A note on dilation in Deconvolution layers</vt:lpstr>
      <vt:lpstr>A note on Deconvolution layers</vt:lpstr>
      <vt:lpstr>AutoEncoder with Conv and DeConv layers</vt:lpstr>
      <vt:lpstr>AutoEncoder with Conv and DeConv layers</vt:lpstr>
      <vt:lpstr>AutoEncoder with Conv and DeConv layers</vt:lpstr>
      <vt:lpstr>AutoEncoder with Conv and DeConv layers</vt:lpstr>
      <vt:lpstr>AutoEncoder with Conv and DeConv layers</vt:lpstr>
      <vt:lpstr>AutoEncoder with Conv and DeConv layers</vt:lpstr>
      <vt:lpstr>AutoEncoder with Conv and DeConv layers</vt:lpstr>
      <vt:lpstr>PowerPoint Presentation</vt:lpstr>
      <vt:lpstr>AutoEncoders for Signal Denoising</vt:lpstr>
      <vt:lpstr>AutoEncoders for Supersizing Images</vt:lpstr>
      <vt:lpstr>AutoEncoders for Anomaly Detection</vt:lpstr>
      <vt:lpstr>Conclusion</vt:lpstr>
      <vt:lpstr>Learn more about these topics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179</cp:revision>
  <dcterms:created xsi:type="dcterms:W3CDTF">2021-03-10T09:35:15Z</dcterms:created>
  <dcterms:modified xsi:type="dcterms:W3CDTF">2026-03-30T10:54:41Z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2022-10-31T05:55:02Z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b7e6da27-4160-480c-82b6-997a0a2f1b31</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