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sldIdLst>
    <p:sldId id="377" r:id="rId2"/>
    <p:sldId id="257" r:id="rId3"/>
    <p:sldId id="452" r:id="rId4"/>
    <p:sldId id="381" r:id="rId5"/>
    <p:sldId id="384" r:id="rId6"/>
    <p:sldId id="395" r:id="rId7"/>
    <p:sldId id="392" r:id="rId8"/>
    <p:sldId id="393" r:id="rId9"/>
    <p:sldId id="401" r:id="rId10"/>
    <p:sldId id="434" r:id="rId11"/>
    <p:sldId id="435" r:id="rId12"/>
    <p:sldId id="454" r:id="rId13"/>
    <p:sldId id="468" r:id="rId14"/>
    <p:sldId id="470" r:id="rId15"/>
    <p:sldId id="471" r:id="rId16"/>
    <p:sldId id="472" r:id="rId17"/>
    <p:sldId id="474" r:id="rId18"/>
    <p:sldId id="475" r:id="rId19"/>
    <p:sldId id="476" r:id="rId20"/>
    <p:sldId id="477" r:id="rId21"/>
    <p:sldId id="478" r:id="rId22"/>
    <p:sldId id="473" r:id="rId23"/>
    <p:sldId id="466" r:id="rId24"/>
    <p:sldId id="485" r:id="rId25"/>
    <p:sldId id="486" r:id="rId26"/>
    <p:sldId id="555" r:id="rId27"/>
    <p:sldId id="484" r:id="rId28"/>
    <p:sldId id="483" r:id="rId29"/>
    <p:sldId id="480" r:id="rId30"/>
    <p:sldId id="479" r:id="rId31"/>
    <p:sldId id="481" r:id="rId32"/>
    <p:sldId id="496" r:id="rId33"/>
    <p:sldId id="494" r:id="rId34"/>
    <p:sldId id="503" r:id="rId35"/>
    <p:sldId id="504" r:id="rId36"/>
    <p:sldId id="505" r:id="rId37"/>
    <p:sldId id="506" r:id="rId38"/>
    <p:sldId id="508" r:id="rId39"/>
    <p:sldId id="509" r:id="rId40"/>
    <p:sldId id="507" r:id="rId41"/>
    <p:sldId id="459" r:id="rId42"/>
    <p:sldId id="510" r:id="rId43"/>
    <p:sldId id="514" r:id="rId44"/>
    <p:sldId id="551" r:id="rId45"/>
    <p:sldId id="552" r:id="rId46"/>
    <p:sldId id="553" r:id="rId47"/>
    <p:sldId id="549" r:id="rId48"/>
    <p:sldId id="460" r:id="rId49"/>
    <p:sldId id="554" r:id="rId50"/>
    <p:sldId id="519" r:id="rId51"/>
    <p:sldId id="520" r:id="rId52"/>
    <p:sldId id="522" r:id="rId53"/>
    <p:sldId id="523" r:id="rId54"/>
    <p:sldId id="524" r:id="rId55"/>
    <p:sldId id="525" r:id="rId56"/>
    <p:sldId id="526" r:id="rId57"/>
    <p:sldId id="527" r:id="rId58"/>
    <p:sldId id="528" r:id="rId59"/>
    <p:sldId id="529" r:id="rId60"/>
    <p:sldId id="461" r:id="rId61"/>
    <p:sldId id="530" r:id="rId62"/>
    <p:sldId id="531" r:id="rId63"/>
    <p:sldId id="462" r:id="rId64"/>
    <p:sldId id="532" r:id="rId65"/>
    <p:sldId id="463" r:id="rId66"/>
    <p:sldId id="533" r:id="rId67"/>
    <p:sldId id="534" r:id="rId68"/>
    <p:sldId id="535" r:id="rId69"/>
    <p:sldId id="536" r:id="rId70"/>
    <p:sldId id="537" r:id="rId71"/>
    <p:sldId id="538" r:id="rId72"/>
    <p:sldId id="541" r:id="rId73"/>
    <p:sldId id="539" r:id="rId74"/>
    <p:sldId id="540" r:id="rId75"/>
    <p:sldId id="543" r:id="rId76"/>
    <p:sldId id="542" r:id="rId77"/>
    <p:sldId id="544" r:id="rId78"/>
    <p:sldId id="545" r:id="rId79"/>
    <p:sldId id="547" r:id="rId80"/>
    <p:sldId id="453" r:id="rId81"/>
    <p:sldId id="267" r:id="rId82"/>
    <p:sldId id="455" r:id="rId83"/>
    <p:sldId id="488" r:id="rId84"/>
    <p:sldId id="487" r:id="rId85"/>
    <p:sldId id="489" r:id="rId86"/>
    <p:sldId id="490" r:id="rId87"/>
    <p:sldId id="491" r:id="rId88"/>
    <p:sldId id="498" r:id="rId89"/>
    <p:sldId id="497" r:id="rId90"/>
    <p:sldId id="499" r:id="rId91"/>
    <p:sldId id="500" r:id="rId92"/>
    <p:sldId id="501" r:id="rId93"/>
    <p:sldId id="502" r:id="rId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ntroduction" id="{2FD0FF71-F5FC-4EB7-B2CB-B31E4CBECD79}">
          <p14:sldIdLst>
            <p14:sldId id="257"/>
            <p14:sldId id="452"/>
            <p14:sldId id="381"/>
          </p14:sldIdLst>
        </p14:section>
        <p14:section name="Previous lecture reminders" id="{FC4004CD-F4EF-46BA-BCA4-C872EA6A6BA2}">
          <p14:sldIdLst>
            <p14:sldId id="384"/>
            <p14:sldId id="395"/>
            <p14:sldId id="392"/>
            <p14:sldId id="393"/>
            <p14:sldId id="401"/>
            <p14:sldId id="434"/>
            <p14:sldId id="435"/>
          </p14:sldIdLst>
        </p14:section>
        <p14:section name="I.1. Limits of standard autoencoders" id="{C9B72821-6F33-43EE-A63E-321ECD9D3F53}">
          <p14:sldIdLst>
            <p14:sldId id="454"/>
            <p14:sldId id="468"/>
            <p14:sldId id="470"/>
            <p14:sldId id="471"/>
            <p14:sldId id="472"/>
            <p14:sldId id="474"/>
            <p14:sldId id="475"/>
            <p14:sldId id="476"/>
            <p14:sldId id="477"/>
            <p14:sldId id="478"/>
            <p14:sldId id="473"/>
            <p14:sldId id="466"/>
            <p14:sldId id="485"/>
            <p14:sldId id="486"/>
          </p14:sldIdLst>
        </p14:section>
        <p14:section name="I.2. Adding more diversity with KL" id="{11A44536-CB39-435E-9D06-73C7991B9908}">
          <p14:sldIdLst>
            <p14:sldId id="555"/>
            <p14:sldId id="484"/>
            <p14:sldId id="483"/>
            <p14:sldId id="480"/>
            <p14:sldId id="479"/>
            <p14:sldId id="481"/>
          </p14:sldIdLst>
        </p14:section>
        <p14:section name="I.3. A quick word on KL" id="{FA9DE321-56F9-4CD8-AE6E-A3818EE7F2D9}">
          <p14:sldIdLst>
            <p14:sldId id="496"/>
          </p14:sldIdLst>
        </p14:section>
        <p14:section name="I.3. A quick word on JS" id="{85871C86-7350-4C93-B594-DD9609595588}">
          <p14:sldIdLst>
            <p14:sldId id="494"/>
          </p14:sldIdLst>
        </p14:section>
        <p14:section name="I.5. Minimization loss" id="{47974A54-D201-439D-A7E3-56D425DBB661}">
          <p14:sldIdLst>
            <p14:sldId id="503"/>
            <p14:sldId id="504"/>
            <p14:sldId id="505"/>
            <p14:sldId id="506"/>
            <p14:sldId id="508"/>
            <p14:sldId id="509"/>
            <p14:sldId id="507"/>
          </p14:sldIdLst>
        </p14:section>
        <p14:section name="I.6. Variational Autoencoders implementation" id="{12A7E976-C8EB-4AAE-AFB8-9C56F85448C3}">
          <p14:sldIdLst>
            <p14:sldId id="459"/>
            <p14:sldId id="510"/>
            <p14:sldId id="514"/>
            <p14:sldId id="551"/>
            <p14:sldId id="552"/>
            <p14:sldId id="553"/>
            <p14:sldId id="549"/>
          </p14:sldIdLst>
        </p14:section>
        <p14:section name="II.1. From VAE to GANs" id="{500CE6DE-A6CD-4D8A-BFB2-2587099675FD}">
          <p14:sldIdLst>
            <p14:sldId id="460"/>
            <p14:sldId id="554"/>
          </p14:sldIdLst>
        </p14:section>
        <p14:section name="II.2. GAN structure" id="{58483394-FD43-487F-A99C-250F899988A8}">
          <p14:sldIdLst>
            <p14:sldId id="519"/>
            <p14:sldId id="520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</p14:sldIdLst>
        </p14:section>
        <p14:section name="II.3. GAN implementation (discriminator)" id="{DCF193CE-3E0B-44EB-A76B-4B491EB7C3A7}">
          <p14:sldIdLst>
            <p14:sldId id="461"/>
            <p14:sldId id="530"/>
            <p14:sldId id="531"/>
          </p14:sldIdLst>
        </p14:section>
        <p14:section name="II.4. GAN implementation (generator)" id="{47DFA10E-837E-46C2-BBD4-1DFA3778B2BE}">
          <p14:sldIdLst>
            <p14:sldId id="462"/>
            <p14:sldId id="532"/>
          </p14:sldIdLst>
        </p14:section>
        <p14:section name="II.5. GAN training procedure" id="{591591C1-4B9B-4F48-BFB0-FD5D0AD11DD7}">
          <p14:sldIdLst>
            <p14:sldId id="463"/>
            <p14:sldId id="533"/>
            <p14:sldId id="534"/>
            <p14:sldId id="535"/>
            <p14:sldId id="536"/>
            <p14:sldId id="537"/>
            <p14:sldId id="538"/>
            <p14:sldId id="541"/>
            <p14:sldId id="539"/>
          </p14:sldIdLst>
        </p14:section>
        <p14:section name="II.6. Training practices" id="{3A15BD35-CA99-40D1-8ADF-2CE827D3DB69}">
          <p14:sldIdLst>
            <p14:sldId id="540"/>
            <p14:sldId id="543"/>
            <p14:sldId id="542"/>
            <p14:sldId id="544"/>
            <p14:sldId id="545"/>
            <p14:sldId id="547"/>
          </p14:sldIdLst>
        </p14:section>
        <p14:section name="Conclusion" id="{F32771D1-00C9-468B-921F-57B3DD4A3A9C}">
          <p14:sldIdLst>
            <p14:sldId id="453"/>
          </p14:sldIdLst>
        </p14:section>
        <p14:section name="References and watchlist" id="{217B8593-1CA5-408D-B198-A5E6ACAB5948}">
          <p14:sldIdLst>
            <p14:sldId id="267"/>
          </p14:sldIdLst>
        </p14:section>
        <p14:section name="A mathematical motivation behind using KL as regularization" id="{9D2D51DC-FEE7-419F-9A80-CC20ABB53C83}">
          <p14:sldIdLst>
            <p14:sldId id="455"/>
            <p14:sldId id="488"/>
            <p14:sldId id="487"/>
            <p14:sldId id="489"/>
            <p14:sldId id="490"/>
            <p14:sldId id="491"/>
            <p14:sldId id="498"/>
            <p14:sldId id="497"/>
            <p14:sldId id="499"/>
            <p14:sldId id="500"/>
            <p14:sldId id="501"/>
            <p14:sldId id="5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6292" autoAdjust="0"/>
  </p:normalViewPr>
  <p:slideViewPr>
    <p:cSldViewPr snapToGrid="0">
      <p:cViewPr varScale="1">
        <p:scale>
          <a:sx n="106" d="100"/>
          <a:sy n="106" d="100"/>
        </p:scale>
        <p:origin x="9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delSld modSld modSection">
      <pc:chgData name="Matthieu De Mari" userId="dfb708c9-d8dc-439f-9a3b-c772bf4a311c" providerId="ADAL" clId="{81E9B007-0C2C-493E-9B93-55A62C9C1F12}" dt="2026-07-26T16:16:22.631" v="353" actId="20577"/>
      <pc:docMkLst>
        <pc:docMk/>
      </pc:docMkLst>
      <pc:sldChg chg="modSp mod">
        <pc:chgData name="Matthieu De Mari" userId="dfb708c9-d8dc-439f-9a3b-c772bf4a311c" providerId="ADAL" clId="{81E9B007-0C2C-493E-9B93-55A62C9C1F12}" dt="2026-07-26T16:16:22.631" v="353" actId="20577"/>
        <pc:sldMkLst>
          <pc:docMk/>
          <pc:sldMk cId="139413919" sldId="474"/>
        </pc:sldMkLst>
        <pc:spChg chg="mod">
          <ac:chgData name="Matthieu De Mari" userId="dfb708c9-d8dc-439f-9a3b-c772bf4a311c" providerId="ADAL" clId="{81E9B007-0C2C-493E-9B93-55A62C9C1F12}" dt="2026-07-26T16:16:22.631" v="353" actId="20577"/>
          <ac:spMkLst>
            <pc:docMk/>
            <pc:sldMk cId="139413919" sldId="474"/>
            <ac:spMk id="3" creationId="{486E9371-72DB-468C-9242-D490DB560E17}"/>
          </ac:spMkLst>
        </pc:spChg>
      </pc:sldChg>
      <pc:sldChg chg="modSp mod">
        <pc:chgData name="Matthieu De Mari" userId="dfb708c9-d8dc-439f-9a3b-c772bf4a311c" providerId="ADAL" clId="{81E9B007-0C2C-493E-9B93-55A62C9C1F12}" dt="2026-06-29T05:10:37.030" v="328" actId="20577"/>
        <pc:sldMkLst>
          <pc:docMk/>
          <pc:sldMk cId="1186884344" sldId="541"/>
        </pc:sldMkLst>
        <pc:spChg chg="mod">
          <ac:chgData name="Matthieu De Mari" userId="dfb708c9-d8dc-439f-9a3b-c772bf4a311c" providerId="ADAL" clId="{81E9B007-0C2C-493E-9B93-55A62C9C1F12}" dt="2026-06-29T05:10:37.030" v="328" actId="20577"/>
          <ac:spMkLst>
            <pc:docMk/>
            <pc:sldMk cId="1186884344" sldId="541"/>
            <ac:spMk id="2" creationId="{5B9E98A4-A94F-4259-83D6-52DAA78084EC}"/>
          </ac:spMkLst>
        </pc:spChg>
        <pc:spChg chg="mod">
          <ac:chgData name="Matthieu De Mari" userId="dfb708c9-d8dc-439f-9a3b-c772bf4a311c" providerId="ADAL" clId="{81E9B007-0C2C-493E-9B93-55A62C9C1F12}" dt="2026-06-29T05:10:02.460" v="304" actId="20577"/>
          <ac:spMkLst>
            <pc:docMk/>
            <pc:sldMk cId="1186884344" sldId="541"/>
            <ac:spMk id="3" creationId="{BC78C647-9BF9-4C00-A1C6-907660028ADE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ADDD25-08D7-4D8F-8499-DE9D37EEE0C4}" type="doc">
      <dgm:prSet loTypeId="urn:microsoft.com/office/officeart/2005/8/layout/arrow1" loCatId="relationship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95AB23C9-0D34-4148-9AEA-941DE000B499}">
      <dgm:prSet phldrT="[Text]"/>
      <dgm:spPr/>
      <dgm:t>
        <a:bodyPr/>
        <a:lstStyle/>
        <a:p>
          <a:r>
            <a:rPr lang="en-US" dirty="0"/>
            <a:t>Vanilla autoencoder</a:t>
          </a:r>
          <a:endParaRPr lang="en-GB" dirty="0"/>
        </a:p>
      </dgm:t>
    </dgm:pt>
    <dgm:pt modelId="{AB8498D7-5229-4AAB-9C08-B166BD1D5774}" type="parTrans" cxnId="{CFD49899-F81C-4F0A-B8A0-32DC4839CE78}">
      <dgm:prSet/>
      <dgm:spPr/>
      <dgm:t>
        <a:bodyPr/>
        <a:lstStyle/>
        <a:p>
          <a:endParaRPr lang="en-GB"/>
        </a:p>
      </dgm:t>
    </dgm:pt>
    <dgm:pt modelId="{CC153BBC-0CC6-43D6-8B6C-48C1BCDDAD84}" type="sibTrans" cxnId="{CFD49899-F81C-4F0A-B8A0-32DC4839CE78}">
      <dgm:prSet/>
      <dgm:spPr/>
      <dgm:t>
        <a:bodyPr/>
        <a:lstStyle/>
        <a:p>
          <a:endParaRPr lang="en-GB"/>
        </a:p>
      </dgm:t>
    </dgm:pt>
    <dgm:pt modelId="{474693FF-8848-41C1-B379-CE1326C7FEEF}">
      <dgm:prSet phldrT="[Text]"/>
      <dgm:spPr/>
      <dgm:t>
        <a:bodyPr/>
        <a:lstStyle/>
        <a:p>
          <a:r>
            <a:rPr lang="en-US" dirty="0"/>
            <a:t>Variational autoencoder</a:t>
          </a:r>
          <a:endParaRPr lang="en-GB" dirty="0"/>
        </a:p>
      </dgm:t>
    </dgm:pt>
    <dgm:pt modelId="{1B941A7E-C7EF-4DA8-A3E6-79FF2F80D9D5}" type="parTrans" cxnId="{2B74A939-9D66-4D2B-9BE6-4658F05B15F2}">
      <dgm:prSet/>
      <dgm:spPr/>
      <dgm:t>
        <a:bodyPr/>
        <a:lstStyle/>
        <a:p>
          <a:endParaRPr lang="en-GB"/>
        </a:p>
      </dgm:t>
    </dgm:pt>
    <dgm:pt modelId="{244EF476-02FF-4627-9B9B-7FF2E9472825}" type="sibTrans" cxnId="{2B74A939-9D66-4D2B-9BE6-4658F05B15F2}">
      <dgm:prSet/>
      <dgm:spPr/>
      <dgm:t>
        <a:bodyPr/>
        <a:lstStyle/>
        <a:p>
          <a:endParaRPr lang="en-GB"/>
        </a:p>
      </dgm:t>
    </dgm:pt>
    <dgm:pt modelId="{025E32C9-E73A-46DE-B0C4-DF94A65F6537}" type="pres">
      <dgm:prSet presAssocID="{2AADDD25-08D7-4D8F-8499-DE9D37EEE0C4}" presName="cycle" presStyleCnt="0">
        <dgm:presLayoutVars>
          <dgm:dir/>
          <dgm:resizeHandles val="exact"/>
        </dgm:presLayoutVars>
      </dgm:prSet>
      <dgm:spPr/>
    </dgm:pt>
    <dgm:pt modelId="{5A12F4E3-942A-4D85-813B-C21290DC331A}" type="pres">
      <dgm:prSet presAssocID="{95AB23C9-0D34-4148-9AEA-941DE000B499}" presName="arrow" presStyleLbl="node1" presStyleIdx="0" presStyleCnt="2">
        <dgm:presLayoutVars>
          <dgm:bulletEnabled val="1"/>
        </dgm:presLayoutVars>
      </dgm:prSet>
      <dgm:spPr/>
    </dgm:pt>
    <dgm:pt modelId="{F3114410-1686-4FD3-B439-BB2502CB19F2}" type="pres">
      <dgm:prSet presAssocID="{474693FF-8848-41C1-B379-CE1326C7FEEF}" presName="arrow" presStyleLbl="node1" presStyleIdx="1" presStyleCnt="2">
        <dgm:presLayoutVars>
          <dgm:bulletEnabled val="1"/>
        </dgm:presLayoutVars>
      </dgm:prSet>
      <dgm:spPr/>
    </dgm:pt>
  </dgm:ptLst>
  <dgm:cxnLst>
    <dgm:cxn modelId="{2B74A939-9D66-4D2B-9BE6-4658F05B15F2}" srcId="{2AADDD25-08D7-4D8F-8499-DE9D37EEE0C4}" destId="{474693FF-8848-41C1-B379-CE1326C7FEEF}" srcOrd="1" destOrd="0" parTransId="{1B941A7E-C7EF-4DA8-A3E6-79FF2F80D9D5}" sibTransId="{244EF476-02FF-4627-9B9B-7FF2E9472825}"/>
    <dgm:cxn modelId="{CFD49899-F81C-4F0A-B8A0-32DC4839CE78}" srcId="{2AADDD25-08D7-4D8F-8499-DE9D37EEE0C4}" destId="{95AB23C9-0D34-4148-9AEA-941DE000B499}" srcOrd="0" destOrd="0" parTransId="{AB8498D7-5229-4AAB-9C08-B166BD1D5774}" sibTransId="{CC153BBC-0CC6-43D6-8B6C-48C1BCDDAD84}"/>
    <dgm:cxn modelId="{C40DFBB4-16D2-43C5-B19C-AC963BA0A76F}" type="presOf" srcId="{474693FF-8848-41C1-B379-CE1326C7FEEF}" destId="{F3114410-1686-4FD3-B439-BB2502CB19F2}" srcOrd="0" destOrd="0" presId="urn:microsoft.com/office/officeart/2005/8/layout/arrow1"/>
    <dgm:cxn modelId="{A47948E3-B486-48BF-9397-8D46878185AC}" type="presOf" srcId="{2AADDD25-08D7-4D8F-8499-DE9D37EEE0C4}" destId="{025E32C9-E73A-46DE-B0C4-DF94A65F6537}" srcOrd="0" destOrd="0" presId="urn:microsoft.com/office/officeart/2005/8/layout/arrow1"/>
    <dgm:cxn modelId="{37D56BE6-466D-417E-962C-BF10DB7889BE}" type="presOf" srcId="{95AB23C9-0D34-4148-9AEA-941DE000B499}" destId="{5A12F4E3-942A-4D85-813B-C21290DC331A}" srcOrd="0" destOrd="0" presId="urn:microsoft.com/office/officeart/2005/8/layout/arrow1"/>
    <dgm:cxn modelId="{76835AF0-90A8-4B61-AE9C-AE3DDF23C154}" type="presParOf" srcId="{025E32C9-E73A-46DE-B0C4-DF94A65F6537}" destId="{5A12F4E3-942A-4D85-813B-C21290DC331A}" srcOrd="0" destOrd="0" presId="urn:microsoft.com/office/officeart/2005/8/layout/arrow1"/>
    <dgm:cxn modelId="{A430C053-1581-47DA-9D0C-AC1000488E5C}" type="presParOf" srcId="{025E32C9-E73A-46DE-B0C4-DF94A65F6537}" destId="{F3114410-1686-4FD3-B439-BB2502CB19F2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AADDD25-08D7-4D8F-8499-DE9D37EEE0C4}" type="doc">
      <dgm:prSet loTypeId="urn:microsoft.com/office/officeart/2005/8/layout/arrow1" loCatId="relationship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95AB23C9-0D34-4148-9AEA-941DE000B499}">
      <dgm:prSet phldrT="[Text]"/>
      <dgm:spPr/>
      <dgm:t>
        <a:bodyPr/>
        <a:lstStyle/>
        <a:p>
          <a:r>
            <a:rPr lang="en-US" dirty="0"/>
            <a:t>Vanilla autoencoder</a:t>
          </a:r>
          <a:endParaRPr lang="en-GB" dirty="0"/>
        </a:p>
      </dgm:t>
    </dgm:pt>
    <dgm:pt modelId="{AB8498D7-5229-4AAB-9C08-B166BD1D5774}" type="parTrans" cxnId="{CFD49899-F81C-4F0A-B8A0-32DC4839CE78}">
      <dgm:prSet/>
      <dgm:spPr/>
      <dgm:t>
        <a:bodyPr/>
        <a:lstStyle/>
        <a:p>
          <a:endParaRPr lang="en-GB"/>
        </a:p>
      </dgm:t>
    </dgm:pt>
    <dgm:pt modelId="{CC153BBC-0CC6-43D6-8B6C-48C1BCDDAD84}" type="sibTrans" cxnId="{CFD49899-F81C-4F0A-B8A0-32DC4839CE78}">
      <dgm:prSet/>
      <dgm:spPr/>
      <dgm:t>
        <a:bodyPr/>
        <a:lstStyle/>
        <a:p>
          <a:endParaRPr lang="en-GB"/>
        </a:p>
      </dgm:t>
    </dgm:pt>
    <dgm:pt modelId="{474693FF-8848-41C1-B379-CE1326C7FEEF}">
      <dgm:prSet phldrT="[Text]"/>
      <dgm:spPr/>
      <dgm:t>
        <a:bodyPr/>
        <a:lstStyle/>
        <a:p>
          <a:r>
            <a:rPr lang="en-US" dirty="0"/>
            <a:t>Variational autoencoder</a:t>
          </a:r>
          <a:endParaRPr lang="en-GB" dirty="0"/>
        </a:p>
      </dgm:t>
    </dgm:pt>
    <dgm:pt modelId="{1B941A7E-C7EF-4DA8-A3E6-79FF2F80D9D5}" type="parTrans" cxnId="{2B74A939-9D66-4D2B-9BE6-4658F05B15F2}">
      <dgm:prSet/>
      <dgm:spPr/>
      <dgm:t>
        <a:bodyPr/>
        <a:lstStyle/>
        <a:p>
          <a:endParaRPr lang="en-GB"/>
        </a:p>
      </dgm:t>
    </dgm:pt>
    <dgm:pt modelId="{244EF476-02FF-4627-9B9B-7FF2E9472825}" type="sibTrans" cxnId="{2B74A939-9D66-4D2B-9BE6-4658F05B15F2}">
      <dgm:prSet/>
      <dgm:spPr/>
      <dgm:t>
        <a:bodyPr/>
        <a:lstStyle/>
        <a:p>
          <a:endParaRPr lang="en-GB"/>
        </a:p>
      </dgm:t>
    </dgm:pt>
    <dgm:pt modelId="{025E32C9-E73A-46DE-B0C4-DF94A65F6537}" type="pres">
      <dgm:prSet presAssocID="{2AADDD25-08D7-4D8F-8499-DE9D37EEE0C4}" presName="cycle" presStyleCnt="0">
        <dgm:presLayoutVars>
          <dgm:dir/>
          <dgm:resizeHandles val="exact"/>
        </dgm:presLayoutVars>
      </dgm:prSet>
      <dgm:spPr/>
    </dgm:pt>
    <dgm:pt modelId="{5A12F4E3-942A-4D85-813B-C21290DC331A}" type="pres">
      <dgm:prSet presAssocID="{95AB23C9-0D34-4148-9AEA-941DE000B499}" presName="arrow" presStyleLbl="node1" presStyleIdx="0" presStyleCnt="2">
        <dgm:presLayoutVars>
          <dgm:bulletEnabled val="1"/>
        </dgm:presLayoutVars>
      </dgm:prSet>
      <dgm:spPr/>
    </dgm:pt>
    <dgm:pt modelId="{F3114410-1686-4FD3-B439-BB2502CB19F2}" type="pres">
      <dgm:prSet presAssocID="{474693FF-8848-41C1-B379-CE1326C7FEEF}" presName="arrow" presStyleLbl="node1" presStyleIdx="1" presStyleCnt="2">
        <dgm:presLayoutVars>
          <dgm:bulletEnabled val="1"/>
        </dgm:presLayoutVars>
      </dgm:prSet>
      <dgm:spPr/>
    </dgm:pt>
  </dgm:ptLst>
  <dgm:cxnLst>
    <dgm:cxn modelId="{2B74A939-9D66-4D2B-9BE6-4658F05B15F2}" srcId="{2AADDD25-08D7-4D8F-8499-DE9D37EEE0C4}" destId="{474693FF-8848-41C1-B379-CE1326C7FEEF}" srcOrd="1" destOrd="0" parTransId="{1B941A7E-C7EF-4DA8-A3E6-79FF2F80D9D5}" sibTransId="{244EF476-02FF-4627-9B9B-7FF2E9472825}"/>
    <dgm:cxn modelId="{CFD49899-F81C-4F0A-B8A0-32DC4839CE78}" srcId="{2AADDD25-08D7-4D8F-8499-DE9D37EEE0C4}" destId="{95AB23C9-0D34-4148-9AEA-941DE000B499}" srcOrd="0" destOrd="0" parTransId="{AB8498D7-5229-4AAB-9C08-B166BD1D5774}" sibTransId="{CC153BBC-0CC6-43D6-8B6C-48C1BCDDAD84}"/>
    <dgm:cxn modelId="{C40DFBB4-16D2-43C5-B19C-AC963BA0A76F}" type="presOf" srcId="{474693FF-8848-41C1-B379-CE1326C7FEEF}" destId="{F3114410-1686-4FD3-B439-BB2502CB19F2}" srcOrd="0" destOrd="0" presId="urn:microsoft.com/office/officeart/2005/8/layout/arrow1"/>
    <dgm:cxn modelId="{A47948E3-B486-48BF-9397-8D46878185AC}" type="presOf" srcId="{2AADDD25-08D7-4D8F-8499-DE9D37EEE0C4}" destId="{025E32C9-E73A-46DE-B0C4-DF94A65F6537}" srcOrd="0" destOrd="0" presId="urn:microsoft.com/office/officeart/2005/8/layout/arrow1"/>
    <dgm:cxn modelId="{37D56BE6-466D-417E-962C-BF10DB7889BE}" type="presOf" srcId="{95AB23C9-0D34-4148-9AEA-941DE000B499}" destId="{5A12F4E3-942A-4D85-813B-C21290DC331A}" srcOrd="0" destOrd="0" presId="urn:microsoft.com/office/officeart/2005/8/layout/arrow1"/>
    <dgm:cxn modelId="{76835AF0-90A8-4B61-AE9C-AE3DDF23C154}" type="presParOf" srcId="{025E32C9-E73A-46DE-B0C4-DF94A65F6537}" destId="{5A12F4E3-942A-4D85-813B-C21290DC331A}" srcOrd="0" destOrd="0" presId="urn:microsoft.com/office/officeart/2005/8/layout/arrow1"/>
    <dgm:cxn modelId="{A430C053-1581-47DA-9D0C-AC1000488E5C}" type="presParOf" srcId="{025E32C9-E73A-46DE-B0C4-DF94A65F6537}" destId="{F3114410-1686-4FD3-B439-BB2502CB19F2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12F4E3-942A-4D85-813B-C21290DC331A}">
      <dsp:nvSpPr>
        <dsp:cNvPr id="0" name=""/>
        <dsp:cNvSpPr/>
      </dsp:nvSpPr>
      <dsp:spPr>
        <a:xfrm rot="16200000">
          <a:off x="14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Vanilla autoencoder</a:t>
          </a:r>
          <a:endParaRPr lang="en-GB" sz="1700" kern="1200" dirty="0"/>
        </a:p>
      </dsp:txBody>
      <dsp:txXfrm rot="5400000">
        <a:off x="293211" y="575044"/>
        <a:ext cx="1381593" cy="837329"/>
      </dsp:txXfrm>
    </dsp:sp>
    <dsp:sp modelId="{F3114410-1686-4FD3-B439-BB2502CB19F2}">
      <dsp:nvSpPr>
        <dsp:cNvPr id="0" name=""/>
        <dsp:cNvSpPr/>
      </dsp:nvSpPr>
      <dsp:spPr>
        <a:xfrm rot="5400000">
          <a:off x="184283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Variational autoencoder</a:t>
          </a:r>
          <a:endParaRPr lang="en-GB" sz="1700" kern="1200" dirty="0"/>
        </a:p>
      </dsp:txBody>
      <dsp:txXfrm rot="-5400000">
        <a:off x="1842836" y="575045"/>
        <a:ext cx="1381593" cy="8373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12F4E3-942A-4D85-813B-C21290DC331A}">
      <dsp:nvSpPr>
        <dsp:cNvPr id="0" name=""/>
        <dsp:cNvSpPr/>
      </dsp:nvSpPr>
      <dsp:spPr>
        <a:xfrm rot="16200000">
          <a:off x="14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Vanilla autoencoder</a:t>
          </a:r>
          <a:endParaRPr lang="en-GB" sz="1700" kern="1200" dirty="0"/>
        </a:p>
      </dsp:txBody>
      <dsp:txXfrm rot="5400000">
        <a:off x="293211" y="575044"/>
        <a:ext cx="1381593" cy="837329"/>
      </dsp:txXfrm>
    </dsp:sp>
    <dsp:sp modelId="{F3114410-1686-4FD3-B439-BB2502CB19F2}">
      <dsp:nvSpPr>
        <dsp:cNvPr id="0" name=""/>
        <dsp:cNvSpPr/>
      </dsp:nvSpPr>
      <dsp:spPr>
        <a:xfrm rot="5400000">
          <a:off x="184283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Variational autoencoder</a:t>
          </a:r>
          <a:endParaRPr lang="en-GB" sz="1700" kern="1200" dirty="0"/>
        </a:p>
      </dsp:txBody>
      <dsp:txXfrm rot="-5400000">
        <a:off x="1842836" y="575045"/>
        <a:ext cx="1381593" cy="837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9E7B1C-EA76-8321-B574-B74D436BA93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BFDF2A-0397-6485-2360-FF9F96CD14E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406.2661" TargetMode="External"/><Relationship Id="rId2" Type="http://schemas.openxmlformats.org/officeDocument/2006/relationships/hyperlink" Target="https://arxiv.org/abs/1906.0269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G5JT16flZwM&amp;list=PLBUMAYA6kvGU8Cgqh709o5SUvo-zHGTxr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hyperlink" Target="https://www.youtube.com/watch?v=uaaqyVS9-rM&amp;t=1182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W10-S2 Generative Models in</a:t>
            </a:r>
            <a:br>
              <a:rPr lang="en-US" dirty="0"/>
            </a:br>
            <a:r>
              <a:rPr lang="en-US" dirty="0"/>
              <a:t>Deep Learning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De Mari</a:t>
            </a:r>
            <a:endParaRPr lang="en-GB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10)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are typical </a:t>
            </a:r>
            <a:r>
              <a:rPr lang="en-US" b="1" dirty="0"/>
              <a:t>generative</a:t>
            </a:r>
            <a:r>
              <a:rPr lang="en-US" dirty="0"/>
              <a:t> </a:t>
            </a:r>
            <a:r>
              <a:rPr lang="en-US" b="1" dirty="0"/>
              <a:t>models</a:t>
            </a:r>
            <a:r>
              <a:rPr lang="en-US" dirty="0"/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an </a:t>
            </a:r>
            <a:r>
              <a:rPr lang="en-US" b="1" dirty="0"/>
              <a:t>autoencoder</a:t>
            </a:r>
            <a:r>
              <a:rPr lang="en-US" dirty="0"/>
              <a:t> and what are its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/>
              <a:t>fractionally</a:t>
            </a:r>
            <a:r>
              <a:rPr lang="en-GB" dirty="0"/>
              <a:t> </a:t>
            </a:r>
            <a:r>
              <a:rPr lang="en-GB" b="1" dirty="0" err="1"/>
              <a:t>strided</a:t>
            </a:r>
            <a:r>
              <a:rPr lang="en-GB" dirty="0"/>
              <a:t> </a:t>
            </a:r>
            <a:r>
              <a:rPr lang="en-GB" b="1" dirty="0"/>
              <a:t>convolution</a:t>
            </a:r>
            <a:r>
              <a:rPr lang="en-GB" dirty="0"/>
              <a:t> </a:t>
            </a:r>
            <a:r>
              <a:rPr lang="en-GB" b="1" dirty="0"/>
              <a:t>layer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variational</a:t>
            </a:r>
            <a:r>
              <a:rPr lang="en-GB" dirty="0"/>
              <a:t> </a:t>
            </a:r>
            <a:r>
              <a:rPr lang="en-GB" b="1" dirty="0"/>
              <a:t>autoencoders</a:t>
            </a:r>
            <a:r>
              <a:rPr lang="en-GB" dirty="0"/>
              <a:t> and why do </a:t>
            </a:r>
            <a:r>
              <a:rPr lang="en-GB" b="1" dirty="0"/>
              <a:t>noise</a:t>
            </a:r>
            <a:r>
              <a:rPr lang="en-GB" dirty="0"/>
              <a:t> </a:t>
            </a:r>
            <a:r>
              <a:rPr lang="en-GB" b="1" dirty="0"/>
              <a:t>representations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latent</a:t>
            </a:r>
            <a:r>
              <a:rPr lang="en-GB" dirty="0"/>
              <a:t> </a:t>
            </a:r>
            <a:r>
              <a:rPr lang="en-GB" b="1" dirty="0"/>
              <a:t>features</a:t>
            </a:r>
            <a:r>
              <a:rPr lang="en-GB" dirty="0"/>
              <a:t> work better than the ones in standard autoencoders?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Generative</a:t>
            </a:r>
            <a:r>
              <a:rPr lang="en-GB" dirty="0"/>
              <a:t> </a:t>
            </a:r>
            <a:r>
              <a:rPr lang="en-GB" b="1" dirty="0"/>
              <a:t>Adversarial</a:t>
            </a:r>
            <a:r>
              <a:rPr lang="en-GB" dirty="0"/>
              <a:t> </a:t>
            </a:r>
            <a:r>
              <a:rPr lang="en-GB" b="1" dirty="0"/>
              <a:t>Networks</a:t>
            </a:r>
            <a:r>
              <a:rPr lang="en-GB" dirty="0"/>
              <a:t> (</a:t>
            </a:r>
            <a:r>
              <a:rPr lang="en-GB" b="1" dirty="0"/>
              <a:t>GANs</a:t>
            </a:r>
            <a:r>
              <a:rPr lang="en-GB" dirty="0"/>
              <a:t>) and their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the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techniques</a:t>
            </a:r>
            <a:r>
              <a:rPr lang="en-GB" dirty="0"/>
              <a:t> in GANs and deepfakes?</a:t>
            </a:r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10)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accent3"/>
                </a:solidFill>
              </a:rPr>
              <a:t>What are typical </a:t>
            </a:r>
            <a:r>
              <a:rPr lang="en-US" b="1" dirty="0">
                <a:solidFill>
                  <a:schemeClr val="accent3"/>
                </a:solidFill>
              </a:rPr>
              <a:t>generative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b="1" dirty="0">
                <a:solidFill>
                  <a:schemeClr val="accent3"/>
                </a:solidFill>
              </a:rPr>
              <a:t>models</a:t>
            </a:r>
            <a:r>
              <a:rPr lang="en-US" dirty="0">
                <a:solidFill>
                  <a:schemeClr val="accent3"/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accent3"/>
                </a:solidFill>
              </a:rPr>
              <a:t>What is an </a:t>
            </a:r>
            <a:r>
              <a:rPr lang="en-US" b="1" dirty="0">
                <a:solidFill>
                  <a:schemeClr val="accent3"/>
                </a:solidFill>
              </a:rPr>
              <a:t>autoencoder</a:t>
            </a:r>
            <a:r>
              <a:rPr lang="en-US" dirty="0">
                <a:solidFill>
                  <a:schemeClr val="accent3"/>
                </a:solidFill>
              </a:rPr>
              <a:t> and what are its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accent3"/>
                </a:solidFill>
              </a:rPr>
              <a:t>What is a </a:t>
            </a:r>
            <a:r>
              <a:rPr lang="en-GB" b="1" dirty="0">
                <a:solidFill>
                  <a:schemeClr val="accent3"/>
                </a:solidFill>
              </a:rPr>
              <a:t>fractionally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 err="1">
                <a:solidFill>
                  <a:schemeClr val="accent3"/>
                </a:solidFill>
              </a:rPr>
              <a:t>strided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>
                <a:solidFill>
                  <a:schemeClr val="accent3"/>
                </a:solidFill>
              </a:rPr>
              <a:t>convolution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>
                <a:solidFill>
                  <a:schemeClr val="accent3"/>
                </a:solidFill>
              </a:rPr>
              <a:t>layer</a:t>
            </a:r>
            <a:r>
              <a:rPr lang="en-GB" dirty="0">
                <a:solidFill>
                  <a:schemeClr val="accent3"/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variational</a:t>
            </a:r>
            <a:r>
              <a:rPr lang="en-GB" dirty="0"/>
              <a:t> </a:t>
            </a:r>
            <a:r>
              <a:rPr lang="en-GB" b="1" dirty="0"/>
              <a:t>autoencoders</a:t>
            </a:r>
            <a:r>
              <a:rPr lang="en-GB" dirty="0"/>
              <a:t> and why do </a:t>
            </a:r>
            <a:r>
              <a:rPr lang="en-GB" b="1" dirty="0"/>
              <a:t>noise</a:t>
            </a:r>
            <a:r>
              <a:rPr lang="en-GB" dirty="0"/>
              <a:t> </a:t>
            </a:r>
            <a:r>
              <a:rPr lang="en-GB" b="1" dirty="0"/>
              <a:t>representations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latent</a:t>
            </a:r>
            <a:r>
              <a:rPr lang="en-GB" dirty="0"/>
              <a:t> </a:t>
            </a:r>
            <a:r>
              <a:rPr lang="en-GB" b="1" dirty="0"/>
              <a:t>features</a:t>
            </a:r>
            <a:r>
              <a:rPr lang="en-GB" dirty="0"/>
              <a:t> work better than the ones in standard autoencoders?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Generative</a:t>
            </a:r>
            <a:r>
              <a:rPr lang="en-GB" dirty="0"/>
              <a:t> </a:t>
            </a:r>
            <a:r>
              <a:rPr lang="en-GB" b="1" dirty="0"/>
              <a:t>Adversarial</a:t>
            </a:r>
            <a:r>
              <a:rPr lang="en-GB" dirty="0"/>
              <a:t> </a:t>
            </a:r>
            <a:r>
              <a:rPr lang="en-GB" b="1" dirty="0"/>
              <a:t>Networks</a:t>
            </a:r>
            <a:r>
              <a:rPr lang="en-GB" dirty="0"/>
              <a:t> (</a:t>
            </a:r>
            <a:r>
              <a:rPr lang="en-GB" b="1" dirty="0"/>
              <a:t>GANs</a:t>
            </a:r>
            <a:r>
              <a:rPr lang="en-GB" dirty="0"/>
              <a:t>) and their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accent3"/>
                </a:solidFill>
              </a:rPr>
              <a:t>What are the </a:t>
            </a:r>
            <a:r>
              <a:rPr lang="en-GB" b="1" dirty="0">
                <a:solidFill>
                  <a:schemeClr val="accent3"/>
                </a:solidFill>
              </a:rPr>
              <a:t>advanced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>
                <a:solidFill>
                  <a:schemeClr val="accent3"/>
                </a:solidFill>
              </a:rPr>
              <a:t>techniques</a:t>
            </a:r>
            <a:r>
              <a:rPr lang="en-GB" dirty="0">
                <a:solidFill>
                  <a:schemeClr val="accent3"/>
                </a:solidFill>
              </a:rPr>
              <a:t> in GANs and deepfakes?</a:t>
            </a:r>
          </a:p>
        </p:txBody>
      </p:sp>
    </p:spTree>
    <p:extLst>
      <p:ext uri="{BB962C8B-B14F-4D97-AF65-F5344CB8AC3E}">
        <p14:creationId xmlns:p14="http://schemas.microsoft.com/office/powerpoint/2010/main" val="2226856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2EFD1-C5FA-4040-ADB8-C1A60FA9F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53446-C600-4EAD-8161-EB9D925C5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this lecture</a:t>
            </a:r>
          </a:p>
          <a:p>
            <a:r>
              <a:rPr lang="en-US" dirty="0"/>
              <a:t>Main issues of traditional Autoencoders</a:t>
            </a:r>
          </a:p>
          <a:p>
            <a:r>
              <a:rPr lang="en-US" dirty="0"/>
              <a:t>Diversity on feature representation using stochastic latent representations</a:t>
            </a:r>
          </a:p>
          <a:p>
            <a:r>
              <a:rPr lang="en-US" dirty="0"/>
              <a:t>Variational Autoencoder and stochastic latent representations</a:t>
            </a:r>
          </a:p>
          <a:p>
            <a:r>
              <a:rPr lang="en-US" dirty="0"/>
              <a:t>Basic Generative Adversarial Networks: ideas and procedure.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691806-2364-43BE-8739-E73493C0F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8956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the next lectures</a:t>
            </a:r>
          </a:p>
          <a:p>
            <a:r>
              <a:rPr lang="en-US" dirty="0"/>
              <a:t>More advanced concepts on GANs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994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C0CF6-DAD3-4561-A07E-40F62523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EA97C-6E45-450C-85D1-8C371F99A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dirty="0"/>
              <a:t> is a neural network that learns to </a:t>
            </a:r>
            <a:r>
              <a:rPr lang="en-US" b="1" dirty="0"/>
              <a:t>copy its input to its output</a:t>
            </a:r>
            <a:r>
              <a:rPr lang="en-US" dirty="0"/>
              <a:t>. Basically, it attempts to approximate the identity function.</a:t>
            </a:r>
          </a:p>
          <a:p>
            <a:pPr marL="0" indent="0">
              <a:buNone/>
            </a:pPr>
            <a:r>
              <a:rPr lang="en-US" dirty="0"/>
              <a:t>It has an internal (hidden) layer that describes a code used to represent the input, and is called the </a:t>
            </a:r>
            <a:r>
              <a:rPr lang="en-US" b="1" dirty="0"/>
              <a:t>feature representation </a:t>
            </a:r>
            <a:r>
              <a:rPr lang="en-US" dirty="0"/>
              <a:t>or </a:t>
            </a:r>
            <a:r>
              <a:rPr lang="en-US" b="1" dirty="0"/>
              <a:t>latent representation of the input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6859B4-69B4-BB05-BA4E-8733D5903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54384"/>
            <a:ext cx="6019798" cy="222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18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E7A3A-2072-4C05-A072-951FC96E1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7D70E5-4405-4C45-97AC-F2FEC231B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82" y="1950097"/>
            <a:ext cx="11861984" cy="438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23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C0CF6-DAD3-4561-A07E-40F62523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EA97C-6E45-450C-85D1-8C371F99A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dirty="0"/>
              <a:t> is a neural network that learns to </a:t>
            </a:r>
            <a:r>
              <a:rPr lang="en-US" b="1" dirty="0"/>
              <a:t>copy its input to its output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It is constituted of two main parts:</a:t>
            </a:r>
          </a:p>
          <a:p>
            <a:r>
              <a:rPr lang="en-US" dirty="0"/>
              <a:t>an </a:t>
            </a:r>
            <a:r>
              <a:rPr lang="en-US" b="1" dirty="0"/>
              <a:t>encoder</a:t>
            </a:r>
            <a:r>
              <a:rPr lang="en-US" dirty="0"/>
              <a:t> that maps the input into the code,</a:t>
            </a:r>
          </a:p>
          <a:p>
            <a:r>
              <a:rPr lang="en-US" dirty="0"/>
              <a:t>and a </a:t>
            </a:r>
            <a:r>
              <a:rPr lang="en-US" b="1" dirty="0"/>
              <a:t>decoder</a:t>
            </a:r>
            <a:r>
              <a:rPr lang="en-US" dirty="0"/>
              <a:t> that maps the code to a reconstruction of the input.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8666C6-175A-4C92-B843-D22B82979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54384"/>
            <a:ext cx="6019798" cy="222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5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C0CF6-DAD3-4561-A07E-40F62523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EA97C-6E45-450C-85D1-8C371F99A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/>
              <a:t>Autoencoders </a:t>
            </a:r>
            <a:r>
              <a:rPr lang="en-US" dirty="0"/>
              <a:t>are usually restricted in their </a:t>
            </a:r>
            <a:r>
              <a:rPr lang="en-US" b="1" dirty="0"/>
              <a:t>latent representation dimensionality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This forces them to reconstruct the input approximately, </a:t>
            </a:r>
            <a:r>
              <a:rPr lang="en-US" b="1" dirty="0"/>
              <a:t>preserving only the most relevant aspects of the data in the copy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F36AB8-8E4C-BF44-026A-5F5C0FD9E9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54384"/>
            <a:ext cx="6019798" cy="222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89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0AC9-925F-442D-AA8E-0105E73A6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 structure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DB40D-1A6B-47B6-8CFB-2328012AE4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Reconstruction</a:t>
            </a:r>
            <a:r>
              <a:rPr lang="en-US" dirty="0"/>
              <a:t> </a:t>
            </a:r>
            <a:r>
              <a:rPr lang="en-US" b="1" dirty="0"/>
              <a:t>Loss</a:t>
            </a:r>
            <a:r>
              <a:rPr lang="en-US" dirty="0"/>
              <a:t>: This is the method that measures measure how well the decoder is performing and how close the output is to the original input.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 the case of images, we can typically use an MSE on all pixels, or variations of it.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1D8E6F-808E-4F25-9C70-17E783C9B81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48" t="27327" r="14575" b="35051"/>
          <a:stretch/>
        </p:blipFill>
        <p:spPr>
          <a:xfrm>
            <a:off x="6394624" y="432593"/>
            <a:ext cx="5763265" cy="27024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575220-1B5F-433B-960B-A3B64B2577F4}"/>
                  </a:ext>
                </a:extLst>
              </p:cNvPr>
              <p:cNvSpPr txBox="1"/>
              <p:nvPr/>
            </p:nvSpPr>
            <p:spPr>
              <a:xfrm>
                <a:off x="6540759" y="4879910"/>
                <a:ext cx="5318449" cy="13653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575220-1B5F-433B-960B-A3B64B257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759" y="4879910"/>
                <a:ext cx="5318449" cy="13653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932BA2-AEB1-4D65-88A1-B29153076345}"/>
                  </a:ext>
                </a:extLst>
              </p:cNvPr>
              <p:cNvSpPr txBox="1"/>
              <p:nvPr/>
            </p:nvSpPr>
            <p:spPr>
              <a:xfrm>
                <a:off x="6727371" y="3429000"/>
                <a:ext cx="501987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Example: input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 on the right, output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800" dirty="0"/>
                  <a:t> on the left.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932BA2-AEB1-4D65-88A1-B29153076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7371" y="3429000"/>
                <a:ext cx="5019870" cy="954107"/>
              </a:xfrm>
              <a:prstGeom prst="rect">
                <a:avLst/>
              </a:prstGeom>
              <a:blipFill>
                <a:blip r:embed="rId4"/>
                <a:stretch>
                  <a:fillRect t="-6410" b="-173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03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0F21-B1F8-4C22-B346-706BF2FC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Deconvolution operation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88620-5105-43A9-8227-D807AD0FA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Deconvolution</a:t>
            </a:r>
            <a:r>
              <a:rPr lang="en-US" b="1" dirty="0"/>
              <a:t> layer):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Deconvolution</a:t>
            </a:r>
            <a:r>
              <a:rPr lang="en-US" dirty="0"/>
              <a:t> (also commonly referred to as </a:t>
            </a:r>
            <a:r>
              <a:rPr lang="en-US" b="1" dirty="0">
                <a:solidFill>
                  <a:srgbClr val="00B050"/>
                </a:solidFill>
              </a:rPr>
              <a:t>Transposed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Convolution</a:t>
            </a:r>
            <a:r>
              <a:rPr lang="en-US" dirty="0"/>
              <a:t>, or </a:t>
            </a:r>
            <a:r>
              <a:rPr lang="en-US" b="1" dirty="0">
                <a:solidFill>
                  <a:srgbClr val="00B050"/>
                </a:solidFill>
              </a:rPr>
              <a:t>Fractionally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Strided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Convolution</a:t>
            </a:r>
            <a:r>
              <a:rPr lang="en-US" dirty="0"/>
              <a:t>) </a:t>
            </a:r>
            <a:r>
              <a:rPr lang="en-US" b="1" dirty="0"/>
              <a:t>layer</a:t>
            </a:r>
            <a:r>
              <a:rPr lang="en-US" dirty="0"/>
              <a:t> is used to </a:t>
            </a:r>
            <a:r>
              <a:rPr lang="en-US" b="1" dirty="0" err="1"/>
              <a:t>upsample</a:t>
            </a:r>
            <a:r>
              <a:rPr lang="en-US" dirty="0"/>
              <a:t> </a:t>
            </a:r>
            <a:r>
              <a:rPr lang="en-US" b="1" dirty="0"/>
              <a:t>the input feature map </a:t>
            </a:r>
            <a:r>
              <a:rPr lang="en-US" dirty="0"/>
              <a:t>to a </a:t>
            </a:r>
            <a:r>
              <a:rPr lang="en-US" b="1" dirty="0"/>
              <a:t>desired output feature</a:t>
            </a:r>
            <a:r>
              <a:rPr lang="en-US" dirty="0"/>
              <a:t> map using </a:t>
            </a:r>
            <a:r>
              <a:rPr lang="en-US" b="1" dirty="0"/>
              <a:t>some learnable parameters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Works as a convolution, multiply input with kernel elements but copy output in multiple locations to </a:t>
            </a:r>
            <a:r>
              <a:rPr lang="en-US" dirty="0" err="1"/>
              <a:t>upsample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B25D0-F585-41C3-BA57-08644B329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506" y="4768118"/>
            <a:ext cx="10917294" cy="2089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18C2DD-1A6E-4C04-96C4-29EA672B63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9886" y="268980"/>
            <a:ext cx="4736841" cy="175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982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0F21-B1F8-4C22-B346-706BF2FC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Deconvolution operation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88620-5105-43A9-8227-D807AD0FA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621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Deconvolution layers are trainable layers, which allow to </a:t>
            </a:r>
            <a:r>
              <a:rPr lang="en-US" dirty="0" err="1"/>
              <a:t>upsample</a:t>
            </a:r>
            <a:r>
              <a:rPr lang="en-US" dirty="0"/>
              <a:t> an input (as opposed to </a:t>
            </a:r>
            <a:r>
              <a:rPr lang="en-US" dirty="0" err="1"/>
              <a:t>downsampling</a:t>
            </a:r>
            <a:r>
              <a:rPr lang="en-US" dirty="0"/>
              <a:t> Convolution layers).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are easily implemented on </a:t>
            </a:r>
            <a:r>
              <a:rPr lang="en-US" dirty="0" err="1"/>
              <a:t>PyTorch</a:t>
            </a:r>
            <a:r>
              <a:rPr lang="en-US" dirty="0"/>
              <a:t>, using the </a:t>
            </a:r>
            <a:r>
              <a:rPr lang="en-US" b="1" dirty="0" err="1"/>
              <a:t>ConvTranspose</a:t>
            </a:r>
            <a:r>
              <a:rPr lang="en-US" dirty="0"/>
              <a:t> types of layers (exists in 1D, 2D, and n-D if needed).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21B045-C451-4905-872B-4CD5F1F689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85" t="26462" r="75833" b="31897"/>
          <a:stretch/>
        </p:blipFill>
        <p:spPr>
          <a:xfrm>
            <a:off x="6346092" y="1539631"/>
            <a:ext cx="5361354" cy="506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495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US" dirty="0"/>
              <a:t>Encoders in “Vanilla” autoencoders take an input and output a </a:t>
            </a:r>
            <a:r>
              <a:rPr lang="en-US" b="1" dirty="0"/>
              <a:t>fixed single value</a:t>
            </a:r>
            <a:r>
              <a:rPr lang="en-US" dirty="0"/>
              <a:t> for each encoding dimension of the latent representation.</a:t>
            </a:r>
          </a:p>
          <a:p>
            <a:r>
              <a:rPr lang="en-US" dirty="0"/>
              <a:t> The decoder network then subsequently takes these values and attempts to recreate the original input.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5CCB99-247A-4E71-9B97-8F9EE756E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/>
          <a:lstStyle/>
          <a:p>
            <a:r>
              <a:rPr lang="en-US" dirty="0"/>
              <a:t>A variational autoencoder (VAE) provides a </a:t>
            </a:r>
            <a:r>
              <a:rPr lang="en-US" b="1" dirty="0"/>
              <a:t>probabilistic</a:t>
            </a:r>
            <a:r>
              <a:rPr lang="en-US" dirty="0"/>
              <a:t> manner for describing an observation in latent space.</a:t>
            </a:r>
          </a:p>
          <a:p>
            <a:r>
              <a:rPr lang="en-US" dirty="0"/>
              <a:t>Thus, rather than building an encoder which outputs a single value to describe each latent state attribute, we will formulate our encoder to describe a</a:t>
            </a:r>
            <a:r>
              <a:rPr lang="en-US" b="1" dirty="0"/>
              <a:t> probability distribution for each latent attribute</a:t>
            </a:r>
            <a:r>
              <a:rPr lang="en-US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8835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349A18-3CCF-4E25-90A2-77E512403A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5" t="13567" r="6739" b="11922"/>
          <a:stretch/>
        </p:blipFill>
        <p:spPr>
          <a:xfrm>
            <a:off x="73089" y="1520889"/>
            <a:ext cx="12123868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893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46A26A-B2FA-4AB8-9ABA-2CF7228F4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09806"/>
            <a:ext cx="10515600" cy="544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760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349A18-3CCF-4E25-90A2-77E512403A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5" t="13567" r="6739" b="11922"/>
          <a:stretch/>
        </p:blipFill>
        <p:spPr>
          <a:xfrm>
            <a:off x="73089" y="1520889"/>
            <a:ext cx="12123868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411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11A06A-262D-48CC-AF71-D1A5D862D4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97464" y="1736109"/>
            <a:ext cx="12107515" cy="499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23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Variational 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variational autoencoder</a:t>
            </a:r>
            <a:r>
              <a:rPr lang="en-GB" dirty="0"/>
              <a:t> fulfils the same job as a standard autoencoder but the key difference is it attempts to learn</a:t>
            </a:r>
          </a:p>
          <a:p>
            <a:r>
              <a:rPr lang="en-GB" dirty="0"/>
              <a:t>how to represent inputs into,</a:t>
            </a:r>
          </a:p>
          <a:p>
            <a:r>
              <a:rPr lang="en-GB" dirty="0"/>
              <a:t>and how to reconstruct outputs from a </a:t>
            </a:r>
            <a:r>
              <a:rPr lang="en-GB" b="1" dirty="0"/>
              <a:t>probabilistic latent space/representation instead of a deterministic one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BDA928-5FC1-4185-AA6A-8914C5DDCBF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B92A96-CF64-589B-9A57-6FC7D3E13CA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6" name="&quot;Not Allowed&quot; Symbol 5">
            <a:extLst>
              <a:ext uri="{FF2B5EF4-FFF2-40B4-BE49-F238E27FC236}">
                <a16:creationId xmlns:a16="http://schemas.microsoft.com/office/drawing/2014/main" id="{B9D850EB-7D40-14ED-05B3-2018A230B60E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13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Just like before with vanilla autoencoders, a variational autoencoder consists of four parts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Encoder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Probabilistic latent Representation in bottleneck layer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Decoder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Reconstruction loss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C52BBA-7875-2159-1CF1-E2A146C260E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783782-8622-1C51-FB3C-1394D745B6D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C5BB58F4-6538-6268-384D-82D8B27B3583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6574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b="1" dirty="0"/>
              <a:t>Encoder (as before)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GB" b="1" dirty="0"/>
              <a:t>Decoder (as before)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Note: </a:t>
            </a:r>
            <a:r>
              <a:rPr lang="en-US" dirty="0"/>
              <a:t>for VAEs, the encoder model is sometimes referred to as the </a:t>
            </a:r>
            <a:r>
              <a:rPr lang="en-US" b="1" dirty="0"/>
              <a:t>recognition model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Whereas the decoder model is sometimes referred to as the </a:t>
            </a:r>
            <a:r>
              <a:rPr lang="en-US" b="1" dirty="0"/>
              <a:t>generative model</a:t>
            </a:r>
            <a:r>
              <a:rPr lang="en-US" dirty="0"/>
              <a:t>.</a:t>
            </a:r>
            <a:endParaRPr lang="en-GB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F28F54-1D6D-E083-54E3-097DD69C7A1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AE46D1-C7AB-E1E1-468E-54C51D050C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E79074F4-1F14-CC6A-C43C-A7B3336AFFF9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5702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8D32FB-D8A0-394B-5968-2FA0839FA2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6E9371-72DB-468C-9242-D490DB560E1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 startAt="2"/>
                </a:pPr>
                <a:r>
                  <a:rPr lang="en-GB" b="1" dirty="0"/>
                  <a:t>Probabilistic latent representation in bottleneck layer</a:t>
                </a:r>
              </a:p>
              <a:p>
                <a:pPr marL="514350" indent="-514350">
                  <a:buFont typeface="+mj-lt"/>
                  <a:buAutoNum type="arabicPeriod" startAt="2"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There is a slight change in the way we formulate our latent representation of the features.</a:t>
                </a:r>
              </a:p>
              <a:p>
                <a:pPr marL="0" indent="0">
                  <a:buNone/>
                </a:pPr>
                <a:r>
                  <a:rPr lang="en-GB" b="1" dirty="0"/>
                  <a:t>Each value of the feature vector is assumed to follow from a normal distribution represented with its own set of (mean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en-GB" b="1" dirty="0"/>
                  <a:t>, std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GB" b="1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6E9371-72DB-468C-9242-D490DB560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  <a:blipFill>
                <a:blip r:embed="rId3"/>
                <a:stretch>
                  <a:fillRect l="-2436" t="-2058" r="-243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A2A57BE-8E72-BBD6-38AF-2068F8C42C0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105AF9CD-A31F-8787-B2F5-A1F70EFD6A3B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075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GB" b="1" dirty="0"/>
              <a:t>Probabilistic latent representation in bottleneck layer</a:t>
            </a:r>
          </a:p>
          <a:p>
            <a:pPr marL="514350" indent="-514350">
              <a:buFont typeface="+mj-lt"/>
              <a:buAutoNum type="arabicPeriod" startAt="2"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Right before the decoder phase, we then </a:t>
            </a:r>
            <a:r>
              <a:rPr lang="en-GB" b="1" dirty="0"/>
              <a:t>sample</a:t>
            </a:r>
            <a:r>
              <a:rPr lang="en-GB" dirty="0"/>
              <a:t> </a:t>
            </a:r>
            <a:r>
              <a:rPr lang="en-GB" b="1" dirty="0"/>
              <a:t>a latent vector from the distributions</a:t>
            </a:r>
            <a:r>
              <a:rPr lang="en-GB" dirty="0"/>
              <a:t> we have identified.</a:t>
            </a:r>
          </a:p>
          <a:p>
            <a:pPr marL="0" indent="0">
              <a:buNone/>
            </a:pPr>
            <a:r>
              <a:rPr lang="en-GB" dirty="0"/>
              <a:t>This vector is then used for reconstruction in the decoder.</a:t>
            </a:r>
            <a:endParaRPr lang="en-GB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E7BF0-4C5D-5387-BB9F-48D728964C1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A87B28-9B62-2503-6516-5E3D416B58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462A9E7B-A22C-FF07-1BE9-992DA3F3F2B6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0297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21C62C-016F-4F63-A9A5-645590629A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0" b="1646"/>
          <a:stretch/>
        </p:blipFill>
        <p:spPr>
          <a:xfrm>
            <a:off x="81808" y="390770"/>
            <a:ext cx="11742869" cy="4945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284558-02D8-4ABF-AABF-717C6C09951C}"/>
              </a:ext>
            </a:extLst>
          </p:cNvPr>
          <p:cNvSpPr txBox="1"/>
          <p:nvPr/>
        </p:nvSpPr>
        <p:spPr>
          <a:xfrm>
            <a:off x="461108" y="5711336"/>
            <a:ext cx="11363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Important note: </a:t>
            </a:r>
            <a:r>
              <a:rPr lang="en-US" sz="2800" dirty="0"/>
              <a:t>this means that two forward passes of the same image could have different latent vectors and reconstructed images.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9345985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AA95C2-26E7-4292-9457-421401AC07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81914"/>
            <a:ext cx="10707948" cy="529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527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Just like before with vanilla autoencoders, a variational autoencoder consists of four parts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00B050"/>
                </a:solidFill>
              </a:rPr>
              <a:t>Encoder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Probabilistic latent Representation in bottleneck layer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7030A0"/>
                </a:solidFill>
              </a:rPr>
              <a:t>Decoder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Reconstruction loss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038573-D41C-41B4-A7BE-4E3427C2E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03241"/>
            <a:ext cx="5755546" cy="28458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C6031A-A49A-4F4A-8158-C0E55BA8A31E}"/>
              </a:ext>
            </a:extLst>
          </p:cNvPr>
          <p:cNvSpPr/>
          <p:nvPr/>
        </p:nvSpPr>
        <p:spPr>
          <a:xfrm>
            <a:off x="6096000" y="2509935"/>
            <a:ext cx="2114938" cy="3303036"/>
          </a:xfrm>
          <a:prstGeom prst="rect">
            <a:avLst/>
          </a:prstGeom>
          <a:noFill/>
          <a:ln w="5715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51E970-05B6-4793-A58A-A23F2F8D5B44}"/>
              </a:ext>
            </a:extLst>
          </p:cNvPr>
          <p:cNvSpPr/>
          <p:nvPr/>
        </p:nvSpPr>
        <p:spPr>
          <a:xfrm>
            <a:off x="9150220" y="2503715"/>
            <a:ext cx="2853729" cy="3303036"/>
          </a:xfrm>
          <a:prstGeom prst="rect">
            <a:avLst/>
          </a:prstGeom>
          <a:noFill/>
          <a:ln w="5715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6863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Just like before with vanilla autoencoders, a variational autoencoder consists of four parts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Encoder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chemeClr val="accent2"/>
                </a:solidFill>
              </a:rPr>
              <a:t>Probabilistic latent representation in bottleneck layer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Decoder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Reconstruction loss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038573-D41C-41B4-A7BE-4E3427C2E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03241"/>
            <a:ext cx="5755546" cy="28458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C6031A-A49A-4F4A-8158-C0E55BA8A31E}"/>
              </a:ext>
            </a:extLst>
          </p:cNvPr>
          <p:cNvSpPr/>
          <p:nvPr/>
        </p:nvSpPr>
        <p:spPr>
          <a:xfrm flipH="1">
            <a:off x="8210937" y="2509935"/>
            <a:ext cx="1520891" cy="3303036"/>
          </a:xfrm>
          <a:prstGeom prst="rect">
            <a:avLst/>
          </a:prstGeom>
          <a:noFill/>
          <a:ln w="5715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4297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is that better?</a:t>
            </a:r>
          </a:p>
          <a:p>
            <a:r>
              <a:rPr lang="en-US" dirty="0"/>
              <a:t>By constructing our encoder model to output a range of possible values (a statistical distribution) from which we will randomly sample to feed into our decoder model, we are essentially </a:t>
            </a:r>
            <a:r>
              <a:rPr lang="en-US" b="1" dirty="0"/>
              <a:t>enforcing a continuous, smooth latent space representation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3014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will have two effects</a:t>
            </a:r>
          </a:p>
          <a:p>
            <a:r>
              <a:rPr lang="en-US" dirty="0"/>
              <a:t>The decoder will have to </a:t>
            </a:r>
            <a:r>
              <a:rPr lang="en-US" b="1" dirty="0"/>
              <a:t>work harder </a:t>
            </a:r>
            <a:r>
              <a:rPr lang="en-US" dirty="0"/>
              <a:t>to reconstruct images as the latent vector could be different for two forward passes (</a:t>
            </a:r>
            <a:r>
              <a:rPr lang="en-US" dirty="0" err="1"/>
              <a:t>SkipGram</a:t>
            </a:r>
            <a:r>
              <a:rPr lang="en-US" dirty="0"/>
              <a:t> vs. </a:t>
            </a:r>
            <a:r>
              <a:rPr lang="en-US" dirty="0" err="1"/>
              <a:t>CBoW</a:t>
            </a:r>
            <a:r>
              <a:rPr lang="en-US" dirty="0"/>
              <a:t> effect?)</a:t>
            </a:r>
          </a:p>
          <a:p>
            <a:r>
              <a:rPr lang="en-US" dirty="0"/>
              <a:t>The space for latent vectors will be used </a:t>
            </a:r>
            <a:r>
              <a:rPr lang="en-US" b="1" dirty="0"/>
              <a:t>more uniformly </a:t>
            </a:r>
            <a:r>
              <a:rPr lang="en-US" dirty="0"/>
              <a:t>(which could mean less compression on the encoder side?)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8554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7FFDE6-E294-4523-857D-F019833B4E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72" t="33470" r="62092" b="26802"/>
          <a:stretch/>
        </p:blipFill>
        <p:spPr>
          <a:xfrm>
            <a:off x="186613" y="1604863"/>
            <a:ext cx="4917232" cy="50321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D86E2E-7191-4E53-8D83-3864A096EA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275" t="33470" r="16888" b="26802"/>
          <a:stretch/>
        </p:blipFill>
        <p:spPr>
          <a:xfrm>
            <a:off x="7088157" y="1604865"/>
            <a:ext cx="4917230" cy="5032117"/>
          </a:xfrm>
          <a:prstGeom prst="rect">
            <a:avLst/>
          </a:prstGeom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70310AA5-542C-424B-B38F-7C2C7B0521DD}"/>
              </a:ext>
            </a:extLst>
          </p:cNvPr>
          <p:cNvGraphicFramePr/>
          <p:nvPr/>
        </p:nvGraphicFramePr>
        <p:xfrm>
          <a:off x="4142792" y="4505455"/>
          <a:ext cx="3517641" cy="19874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601747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Another effect is that</a:t>
            </a:r>
          </a:p>
          <a:p>
            <a:r>
              <a:rPr lang="en-US" dirty="0"/>
              <a:t>For any sampling of the latent distributions, we are expecting our decoder model to be able to accurately reconstruct an image.</a:t>
            </a:r>
          </a:p>
          <a:p>
            <a:r>
              <a:rPr lang="en-US" dirty="0"/>
              <a:t>Thus, values which are nearby to one another in latent space should correspond with very similar reconstructions.</a:t>
            </a:r>
          </a:p>
        </p:txBody>
      </p:sp>
    </p:spTree>
    <p:extLst>
      <p:ext uri="{BB962C8B-B14F-4D97-AF65-F5344CB8AC3E}">
        <p14:creationId xmlns:p14="http://schemas.microsoft.com/office/powerpoint/2010/main" val="2693354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7FFDE6-E294-4523-857D-F019833B4E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72" t="33470" r="62092" b="26802"/>
          <a:stretch/>
        </p:blipFill>
        <p:spPr>
          <a:xfrm>
            <a:off x="186613" y="1604863"/>
            <a:ext cx="4917232" cy="50321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D86E2E-7191-4E53-8D83-3864A096EA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275" t="33470" r="16888" b="26802"/>
          <a:stretch/>
        </p:blipFill>
        <p:spPr>
          <a:xfrm>
            <a:off x="7088157" y="1604865"/>
            <a:ext cx="4917230" cy="5032117"/>
          </a:xfrm>
          <a:prstGeom prst="rect">
            <a:avLst/>
          </a:prstGeom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70310AA5-542C-424B-B38F-7C2C7B0521DD}"/>
              </a:ext>
            </a:extLst>
          </p:cNvPr>
          <p:cNvGraphicFramePr/>
          <p:nvPr/>
        </p:nvGraphicFramePr>
        <p:xfrm>
          <a:off x="4142792" y="4505455"/>
          <a:ext cx="3517641" cy="19874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43094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More importantly,</a:t>
            </a:r>
          </a:p>
          <a:p>
            <a:r>
              <a:rPr lang="en-US" dirty="0"/>
              <a:t>This also means that any random noise vector can be used </a:t>
            </a:r>
            <a:r>
              <a:rPr lang="en-US" dirty="0" err="1"/>
              <a:t>used</a:t>
            </a:r>
            <a:r>
              <a:rPr lang="en-US" dirty="0"/>
              <a:t> as an input for the decoder,</a:t>
            </a:r>
          </a:p>
          <a:p>
            <a:r>
              <a:rPr lang="en-US" dirty="0"/>
              <a:t>And this random encoding vector given to the decoder has high chances of producing an output which looks plausible!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In other words,</a:t>
            </a:r>
          </a:p>
          <a:p>
            <a:r>
              <a:rPr lang="en-US" b="1" dirty="0"/>
              <a:t>We could therefore get a decoder Neural Network, which could generate plausible images out of </a:t>
            </a:r>
            <a:r>
              <a:rPr lang="en-US" b="1" u="sng" dirty="0"/>
              <a:t>any noise vector</a:t>
            </a:r>
            <a:r>
              <a:rPr lang="en-US" b="1" dirty="0"/>
              <a:t>, </a:t>
            </a:r>
          </a:p>
          <a:p>
            <a:r>
              <a:rPr lang="en-US" b="1" dirty="0"/>
              <a:t>Or in other words, a model that can generate plausible images out of thin air!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389407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Kullback</a:t>
            </a:r>
            <a:r>
              <a:rPr lang="en-US" dirty="0"/>
              <a:t>–</a:t>
            </a:r>
            <a:r>
              <a:rPr lang="en-US" dirty="0" err="1"/>
              <a:t>Leibler</a:t>
            </a:r>
            <a:r>
              <a:rPr lang="en-US" dirty="0"/>
              <a:t> Divergence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Definition (</a:t>
                </a:r>
                <a:r>
                  <a:rPr lang="en-US" b="1" dirty="0">
                    <a:solidFill>
                      <a:srgbClr val="00B050"/>
                    </a:solidFill>
                  </a:rPr>
                  <a:t>KL</a:t>
                </a:r>
                <a:r>
                  <a:rPr lang="en-US" b="1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divergence</a:t>
                </a:r>
                <a:r>
                  <a:rPr lang="en-US" b="1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 err="1"/>
                  <a:t>Kullback</a:t>
                </a:r>
                <a:r>
                  <a:rPr lang="en-US" b="1" dirty="0"/>
                  <a:t>–</a:t>
                </a:r>
                <a:r>
                  <a:rPr lang="en-US" b="1" dirty="0" err="1"/>
                  <a:t>Leibler</a:t>
                </a:r>
                <a:r>
                  <a:rPr lang="en-US" b="1" dirty="0"/>
                  <a:t> divergence </a:t>
                </a:r>
                <a:r>
                  <a:rPr lang="en-US" dirty="0"/>
                  <a:t>(or </a:t>
                </a:r>
                <a:r>
                  <a:rPr lang="en-US" b="1" dirty="0">
                    <a:solidFill>
                      <a:srgbClr val="00B050"/>
                    </a:solidFill>
                  </a:rPr>
                  <a:t>KL divergence</a:t>
                </a:r>
                <a:r>
                  <a:rPr lang="en-US" dirty="0"/>
                  <a:t>, in short) is a measure of how one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 different from a second, reference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Simple, but not symmetrical!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endParaRPr lang="en-GB" b="1" dirty="0"/>
              </a:p>
              <a:p>
                <a:r>
                  <a:rPr lang="en-GB" b="1" dirty="0"/>
                  <a:t>Finding a good distribution q that matches p, then requires to minimize the KL divergence.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118" t="-2241" r="-35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4646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Jensen-Shannon Divergence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(extra - </a:t>
                </a:r>
                <a:r>
                  <a:rPr lang="en-US" b="1" dirty="0">
                    <a:solidFill>
                      <a:srgbClr val="00B050"/>
                    </a:solidFill>
                  </a:rPr>
                  <a:t>JS</a:t>
                </a:r>
                <a:r>
                  <a:rPr lang="en-US" b="1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divergence</a:t>
                </a:r>
                <a:r>
                  <a:rPr lang="en-US" b="1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/>
                  <a:t>Jensen–Shannon divergence </a:t>
                </a:r>
                <a:r>
                  <a:rPr lang="en-US" dirty="0"/>
                  <a:t>(or </a:t>
                </a:r>
                <a:r>
                  <a:rPr lang="en-US" b="1" dirty="0">
                    <a:solidFill>
                      <a:srgbClr val="00B050"/>
                    </a:solidFill>
                  </a:rPr>
                  <a:t>JS divergence</a:t>
                </a:r>
                <a:r>
                  <a:rPr lang="en-US" dirty="0"/>
                  <a:t>, in short) is another measure of how one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 different from a second, reference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 reuses the KL divergence formula and simply averages it.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78964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𝑱𝑺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𝑲𝑳</m:t>
                              </m:r>
                            </m:sub>
                          </m:s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</m:d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𝑲𝑳</m:t>
                              </m:r>
                            </m:sub>
                          </m:s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e>
                          </m:d>
                        </m:num>
                        <m:den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Better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𝐽𝑆</m:t>
                        </m:r>
                      </m:sub>
                    </m:sSub>
                  </m:oMath>
                </a14:m>
                <a:r>
                  <a:rPr lang="en-US" dirty="0"/>
                  <a:t> is symmetrical!</a:t>
                </a:r>
                <a:br>
                  <a:rPr lang="en-US" dirty="0"/>
                </a:br>
                <a:r>
                  <a:rPr lang="en-US" dirty="0"/>
                  <a:t>(by definition)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789645" cy="4351338"/>
              </a:xfrm>
              <a:blipFill>
                <a:blip r:embed="rId3"/>
                <a:stretch>
                  <a:fillRect l="-1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10168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 revisit our graphical model, we can 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infer the possible hidden variables (i.e. our latent representation or bottleneck vector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Later, this vector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will be used to generate an observation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153A4EB-42A8-4B10-BCC2-109C232903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0840" y="2713477"/>
            <a:ext cx="5792269" cy="234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008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53A4EB-42A8-4B10-BCC2-109C23290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31" y="1690688"/>
            <a:ext cx="11857828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70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can further construct this model into a neural network architecture, where:</a:t>
                </a:r>
              </a:p>
              <a:p>
                <a:r>
                  <a:rPr lang="en-US" dirty="0"/>
                  <a:t>the encoder model learns a mapping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that 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d>
                      <m:dPr>
                        <m:ctrlPr>
                          <a:rPr lang="en-US" b="1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e>
                        <m:r>
                          <a:rPr lang="en-US" b="1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and the decoder model learns a mapping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back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that is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en-US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3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153A4EB-42A8-4B10-BCC2-109C232903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0840" y="2713477"/>
            <a:ext cx="5792269" cy="234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365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06842-74CE-4D0F-AD4E-47DACE805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Reconstruction loss</a:t>
            </a:r>
          </a:p>
          <a:p>
            <a:pPr marL="0" indent="0">
              <a:buNone/>
            </a:pPr>
            <a:r>
              <a:rPr lang="en-US" dirty="0"/>
              <a:t>Our loss function for this network will now consist of two terms:</a:t>
            </a:r>
          </a:p>
          <a:p>
            <a:r>
              <a:rPr lang="en-US" dirty="0"/>
              <a:t>one which penalizes </a:t>
            </a:r>
            <a:r>
              <a:rPr lang="en-US" b="1" dirty="0"/>
              <a:t>reconstruction</a:t>
            </a:r>
            <a:r>
              <a:rPr lang="en-US" dirty="0"/>
              <a:t> </a:t>
            </a:r>
            <a:r>
              <a:rPr lang="en-US" b="1" dirty="0"/>
              <a:t>error</a:t>
            </a:r>
            <a:r>
              <a:rPr lang="en-US" dirty="0"/>
              <a:t> (which can be thought of maximizing the reconstruction likelihood as discussed earlier)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and </a:t>
                </a:r>
                <a:r>
                  <a:rPr lang="en-US" dirty="0">
                    <a:solidFill>
                      <a:srgbClr val="7030A0"/>
                    </a:solidFill>
                  </a:rPr>
                  <a:t>a second term </a:t>
                </a:r>
                <a:r>
                  <a:rPr lang="en-US" dirty="0"/>
                  <a:t>which </a:t>
                </a:r>
                <a:r>
                  <a:rPr lang="en-US" b="1" dirty="0"/>
                  <a:t>encourages</a:t>
                </a:r>
                <a:r>
                  <a:rPr lang="en-US" dirty="0"/>
                  <a:t> </a:t>
                </a:r>
                <a:r>
                  <a:rPr lang="en-US" b="1" dirty="0"/>
                  <a:t>our</a:t>
                </a:r>
                <a:r>
                  <a:rPr lang="en-US" dirty="0"/>
                  <a:t> </a:t>
                </a:r>
                <a:r>
                  <a:rPr lang="en-US" b="1" dirty="0"/>
                  <a:t>learned</a:t>
                </a:r>
                <a:r>
                  <a:rPr lang="en-US" dirty="0"/>
                  <a:t> </a:t>
                </a:r>
                <a:r>
                  <a:rPr lang="en-US" b="1" dirty="0"/>
                  <a:t>distribution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similar to a target distribution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  <a:blipFill>
                <a:blip r:embed="rId2"/>
                <a:stretch>
                  <a:fillRect l="-1846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GB" sz="2800" i="1">
                          <a:latin typeface="Cambria Math" panose="02040503050406030204" pitchFamily="18" charset="0"/>
                        </a:rPr>
                        <m:t>)+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7241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06842-74CE-4D0F-AD4E-47DACE805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Reconstruction loss</a:t>
            </a:r>
          </a:p>
          <a:p>
            <a:pPr marL="0" indent="0">
              <a:buNone/>
            </a:pPr>
            <a:r>
              <a:rPr lang="en-US" dirty="0"/>
              <a:t>Our loss function for this network will now consist of two terms:</a:t>
            </a:r>
          </a:p>
          <a:p>
            <a:r>
              <a:rPr lang="en-US" dirty="0"/>
              <a:t>one which penalizes </a:t>
            </a:r>
            <a:r>
              <a:rPr lang="en-US" b="1" dirty="0"/>
              <a:t>reconstruction</a:t>
            </a:r>
            <a:r>
              <a:rPr lang="en-US" dirty="0"/>
              <a:t> </a:t>
            </a:r>
            <a:r>
              <a:rPr lang="en-US" b="1" dirty="0"/>
              <a:t>error</a:t>
            </a:r>
            <a:r>
              <a:rPr lang="en-US" dirty="0"/>
              <a:t> (which can be thought of maximizing the reconstruction likelihood as discussed earlier)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and </a:t>
                </a:r>
                <a:r>
                  <a:rPr lang="en-US" dirty="0">
                    <a:solidFill>
                      <a:srgbClr val="7030A0"/>
                    </a:solidFill>
                  </a:rPr>
                  <a:t>a second term </a:t>
                </a:r>
                <a:r>
                  <a:rPr lang="en-US" dirty="0"/>
                  <a:t>which </a:t>
                </a:r>
                <a:r>
                  <a:rPr lang="en-US" b="1" dirty="0"/>
                  <a:t>encourages</a:t>
                </a:r>
                <a:r>
                  <a:rPr lang="en-US" dirty="0"/>
                  <a:t> </a:t>
                </a:r>
                <a:r>
                  <a:rPr lang="en-US" b="1" dirty="0"/>
                  <a:t>our</a:t>
                </a:r>
                <a:r>
                  <a:rPr lang="en-US" dirty="0"/>
                  <a:t> </a:t>
                </a:r>
                <a:r>
                  <a:rPr lang="en-US" b="1" dirty="0"/>
                  <a:t>learned</a:t>
                </a:r>
                <a:r>
                  <a:rPr lang="en-US" dirty="0"/>
                  <a:t> </a:t>
                </a:r>
                <a:r>
                  <a:rPr lang="en-US" b="1" dirty="0"/>
                  <a:t>distribution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similar to a target distribution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For instance, let us assume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follows a </a:t>
                </a:r>
                <a:r>
                  <a:rPr lang="en-US" b="1" dirty="0">
                    <a:solidFill>
                      <a:srgbClr val="0070C0"/>
                    </a:solidFill>
                  </a:rPr>
                  <a:t>unit Gaussian distribution</a:t>
                </a:r>
                <a:r>
                  <a:rPr lang="en-US" dirty="0"/>
                  <a:t> (could be any other nice distribution really), for each dimension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of the latent space.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  <a:blipFill>
                <a:blip r:embed="rId2"/>
                <a:stretch>
                  <a:fillRect l="-1846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US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(0,1))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1467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06842-74CE-4D0F-AD4E-47DACE805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Reconstruction loss</a:t>
            </a:r>
          </a:p>
          <a:p>
            <a:pPr marL="0" indent="0">
              <a:buNone/>
            </a:pPr>
            <a:r>
              <a:rPr lang="en-US" dirty="0"/>
              <a:t>Our loss function for this network will now consist of two terms:</a:t>
            </a:r>
          </a:p>
          <a:p>
            <a:r>
              <a:rPr lang="en-US" dirty="0"/>
              <a:t>one which penalizes </a:t>
            </a:r>
            <a:r>
              <a:rPr lang="en-US" b="1" dirty="0">
                <a:solidFill>
                  <a:schemeClr val="accent2"/>
                </a:solidFill>
              </a:rPr>
              <a:t>reconstruction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b="1" dirty="0">
                <a:solidFill>
                  <a:schemeClr val="accent2"/>
                </a:solidFill>
              </a:rPr>
              <a:t>error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dirty="0"/>
              <a:t>(which can be thought of maximizing the reconstruction likelihood as discussed earlier)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and </a:t>
                </a:r>
                <a:r>
                  <a:rPr lang="en-US" dirty="0">
                    <a:solidFill>
                      <a:srgbClr val="7030A0"/>
                    </a:solidFill>
                  </a:rPr>
                  <a:t>a second term </a:t>
                </a:r>
                <a:r>
                  <a:rPr lang="en-US" dirty="0"/>
                  <a:t>which </a:t>
                </a:r>
                <a:r>
                  <a:rPr lang="en-US" b="1" dirty="0"/>
                  <a:t>encourages</a:t>
                </a:r>
                <a:r>
                  <a:rPr lang="en-US" dirty="0"/>
                  <a:t> </a:t>
                </a:r>
                <a:r>
                  <a:rPr lang="en-US" b="1" dirty="0"/>
                  <a:t>our</a:t>
                </a:r>
                <a:r>
                  <a:rPr lang="en-US" dirty="0"/>
                  <a:t> </a:t>
                </a:r>
                <a:r>
                  <a:rPr lang="en-US" b="1" dirty="0"/>
                  <a:t>learned</a:t>
                </a:r>
                <a:r>
                  <a:rPr lang="en-US" dirty="0"/>
                  <a:t> </a:t>
                </a:r>
                <a:r>
                  <a:rPr lang="en-US" b="1" dirty="0"/>
                  <a:t>distribution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similar to a target distribution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For instance, let us assume that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follows a </a:t>
                </a:r>
                <a:r>
                  <a:rPr lang="en-US" b="1" dirty="0">
                    <a:solidFill>
                      <a:srgbClr val="0070C0"/>
                    </a:solidFill>
                  </a:rPr>
                  <a:t>unit Gaussian distribution</a:t>
                </a:r>
                <a:r>
                  <a:rPr lang="en-US" dirty="0"/>
                  <a:t> (could be any other nice distribution really), for each dimension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of the latent space.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  <a:blipFill>
                <a:blip r:embed="rId2"/>
                <a:stretch>
                  <a:fillRect l="-1846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d>
                        <m:d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US" sz="2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(0,1))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919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6EB7C-442E-46EE-916B-B8CF245177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21"/>
          <a:stretch/>
        </p:blipFill>
        <p:spPr>
          <a:xfrm>
            <a:off x="199068" y="1427584"/>
            <a:ext cx="11809430" cy="43171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0C6F5D0-9F2B-431A-94AB-AAC53B5DB831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d>
                        <m:dPr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US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(0,1))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0C6F5D0-9F2B-431A-94AB-AAC53B5DB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9579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3434-CE3D-4C8F-ADC6-2BC1FE16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2033F-8E0F-46EE-9E74-6D07FF2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The implementation of a VAE is out of the scope of this class.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important notions we want to learn are</a:t>
            </a:r>
          </a:p>
          <a:p>
            <a:r>
              <a:rPr lang="en-US" dirty="0"/>
              <a:t>Using </a:t>
            </a:r>
            <a:r>
              <a:rPr lang="en-US" b="1" dirty="0"/>
              <a:t>probabilistic</a:t>
            </a:r>
            <a:r>
              <a:rPr lang="en-US" dirty="0"/>
              <a:t> </a:t>
            </a:r>
            <a:r>
              <a:rPr lang="en-US" b="1" dirty="0"/>
              <a:t>latent</a:t>
            </a:r>
            <a:r>
              <a:rPr lang="en-US" dirty="0"/>
              <a:t> </a:t>
            </a:r>
            <a:r>
              <a:rPr lang="en-US" b="1" dirty="0"/>
              <a:t>representations</a:t>
            </a:r>
            <a:r>
              <a:rPr lang="en-US" dirty="0"/>
              <a:t>, instead of fixed ones, </a:t>
            </a:r>
            <a:r>
              <a:rPr lang="en-US" b="1" dirty="0"/>
              <a:t>distributes the embeddings or features vectors over the latent space in a more uniform</a:t>
            </a:r>
            <a:r>
              <a:rPr lang="en-US" dirty="0"/>
              <a:t> </a:t>
            </a:r>
            <a:r>
              <a:rPr lang="en-US" b="1" dirty="0"/>
              <a:t>way, occupying the entire space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90367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43CD-EB4B-4391-A835-D259AB56B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KL term on latent space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0AAC73-493C-43CF-94A2-0C2C4505D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10248"/>
            <a:ext cx="12192000" cy="4932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2169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3434-CE3D-4C8F-ADC6-2BC1FE16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2033F-8E0F-46EE-9E74-6D07FF2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The training of a VAE is out of the scope of this class.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important notions we want to learn are:</a:t>
            </a:r>
          </a:p>
          <a:p>
            <a:r>
              <a:rPr lang="en-US" dirty="0"/>
              <a:t>Using </a:t>
            </a:r>
            <a:r>
              <a:rPr lang="en-US" b="1" dirty="0"/>
              <a:t>probabilistic</a:t>
            </a:r>
            <a:r>
              <a:rPr lang="en-US" dirty="0"/>
              <a:t> </a:t>
            </a:r>
            <a:r>
              <a:rPr lang="en-US" b="1" dirty="0"/>
              <a:t>latent</a:t>
            </a:r>
            <a:r>
              <a:rPr lang="en-US" dirty="0"/>
              <a:t> </a:t>
            </a:r>
            <a:r>
              <a:rPr lang="en-US" b="1" dirty="0"/>
              <a:t>representations</a:t>
            </a:r>
            <a:r>
              <a:rPr lang="en-US" dirty="0"/>
              <a:t>, instead of fixed ones, </a:t>
            </a:r>
            <a:r>
              <a:rPr lang="en-US" b="1" dirty="0"/>
              <a:t>distributes the embeddings or features vectors over the latent space in a more uniform</a:t>
            </a:r>
            <a:r>
              <a:rPr lang="en-US" dirty="0"/>
              <a:t> </a:t>
            </a:r>
            <a:r>
              <a:rPr lang="en-US" b="1" dirty="0"/>
              <a:t>way, occupying the entire space</a:t>
            </a:r>
            <a:r>
              <a:rPr lang="en-US" dirty="0"/>
              <a:t>.</a:t>
            </a:r>
          </a:p>
          <a:p>
            <a:r>
              <a:rPr lang="en-US" dirty="0"/>
              <a:t>This is done by adding a simple KL term to our reconstruction loss, which acts as a </a:t>
            </a:r>
            <a:r>
              <a:rPr lang="en-US" b="1" dirty="0"/>
              <a:t>regularization</a:t>
            </a:r>
            <a:r>
              <a:rPr lang="en-US" dirty="0"/>
              <a:t> of some sort.</a:t>
            </a:r>
          </a:p>
          <a:p>
            <a:r>
              <a:rPr lang="en-US" b="1" dirty="0">
                <a:solidFill>
                  <a:srgbClr val="C00000"/>
                </a:solidFill>
              </a:rPr>
              <a:t>This also means that any randomly generated latent vector could technically produce a good-looking output via the decoder</a:t>
            </a:r>
            <a:r>
              <a:rPr lang="en-US" dirty="0">
                <a:solidFill>
                  <a:srgbClr val="C00000"/>
                </a:solidFill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57083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0D030D-90D6-419D-9166-4F0CC4560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940" y="37626"/>
            <a:ext cx="10174120" cy="678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3330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1F1CEE-06E8-4AB6-B14E-38922C939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43" y="1189426"/>
            <a:ext cx="11720513" cy="4258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7926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11E69E-F75F-47CA-8C09-21AFF264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73" y="80532"/>
            <a:ext cx="8055807" cy="674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78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3434-CE3D-4C8F-ADC6-2BC1FE16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VAE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E2033F-8E0F-46EE-9E74-6D07FF26C4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The training of a VAE is out of the scope of this class.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important notions we want to learn are</a:t>
                </a:r>
              </a:p>
              <a:p>
                <a:r>
                  <a:rPr lang="en-US" b="1" dirty="0"/>
                  <a:t>This approach forces the VAE to work harder to figure out a good embedding (like </a:t>
                </a:r>
                <a:r>
                  <a:rPr lang="en-US" b="1" dirty="0" err="1"/>
                  <a:t>Skipgram</a:t>
                </a:r>
                <a:r>
                  <a:rPr lang="en-US" b="1" dirty="0"/>
                  <a:t> vs. </a:t>
                </a:r>
                <a:r>
                  <a:rPr lang="en-US" b="1" dirty="0" err="1"/>
                  <a:t>CBoW</a:t>
                </a:r>
                <a:r>
                  <a:rPr lang="en-US" b="1" dirty="0"/>
                  <a:t>), which in turn will be better?</a:t>
                </a:r>
              </a:p>
              <a:p>
                <a:r>
                  <a:rPr lang="en-US" dirty="0"/>
                  <a:t>Another fun thing is that VAEs produce embeddings which could preserve similarity as the word embeddings we have seen on W9!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𝑞𝑢𝑒𝑒𝑛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𝑘𝑖𝑛𝑔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𝑤𝑜𝑚𝑎𝑛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images VAE, the vectors will for instance allow for this type of </a:t>
                </a:r>
                <a:r>
                  <a:rPr lang="en-US" dirty="0" err="1"/>
                  <a:t>shenaningans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𝑤𝑖𝑡h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𝑔𝑙𝑎𝑠𝑠𝑒𝑠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𝑔𝑙𝑎𝑠𝑠𝑒𝑠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E2033F-8E0F-46EE-9E74-6D07FF26C4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5250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B4D-4832-40E5-9E7F-B094BFFF1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VAE to GANs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E54CD-F16D-492C-9D0C-C9D0D7F3B4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US" b="1" dirty="0"/>
              <a:t>Our intuition: </a:t>
            </a:r>
            <a:r>
              <a:rPr lang="en-US" dirty="0"/>
              <a:t>train an encoder + decoder type of architecture on a meaningless task to learn a good embedding for images.</a:t>
            </a:r>
          </a:p>
          <a:p>
            <a:r>
              <a:rPr lang="en-US" b="1" dirty="0"/>
              <a:t>After training: </a:t>
            </a:r>
            <a:r>
              <a:rPr lang="en-US" dirty="0"/>
              <a:t>throw away the decoder and keep the encoder for good image embeddings and reuse on some other applications.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en-US" b="1" dirty="0">
                <a:solidFill>
                  <a:srgbClr val="FF0000"/>
                </a:solidFill>
              </a:rPr>
              <a:t>But what if we kept the decoder for a change?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ED7B9A-4D05-42E4-B273-E7B86DAEC2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would then have a generator type of object, which only requires a noise vector sample (any vector really) as input…</a:t>
            </a:r>
          </a:p>
          <a:p>
            <a:r>
              <a:rPr lang="en-US" dirty="0"/>
              <a:t>And generates good looking outputs as a result!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ym typeface="Wingdings" panose="05000000000000000000" pitchFamily="2" charset="2"/>
              </a:rPr>
              <a:t> This is the c</a:t>
            </a:r>
            <a:r>
              <a:rPr lang="en-US" b="1" dirty="0"/>
              <a:t>ore idea behind Generative Adversarial Networks!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1083483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B4D-4832-40E5-9E7F-B094BFFF1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VAE to GANs</a:t>
            </a:r>
            <a:endParaRPr lang="en-GB" dirty="0"/>
          </a:p>
        </p:txBody>
      </p:sp>
      <p:pic>
        <p:nvPicPr>
          <p:cNvPr id="24" name="Picture 23" descr="Graphical user interface&#10;&#10;Description automatically generated">
            <a:extLst>
              <a:ext uri="{FF2B5EF4-FFF2-40B4-BE49-F238E27FC236}">
                <a16:creationId xmlns:a16="http://schemas.microsoft.com/office/drawing/2014/main" id="{AFCAFB9F-B8DB-287C-D193-F7C09B4A0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1721252"/>
            <a:ext cx="10681404" cy="48140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C587CE-2E57-79DC-C29A-3F9783FD4788}"/>
              </a:ext>
            </a:extLst>
          </p:cNvPr>
          <p:cNvSpPr txBox="1"/>
          <p:nvPr/>
        </p:nvSpPr>
        <p:spPr>
          <a:xfrm>
            <a:off x="10064469" y="3143363"/>
            <a:ext cx="2087497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Same job for these two models!</a:t>
            </a:r>
          </a:p>
          <a:p>
            <a:r>
              <a:rPr lang="en-GB" b="1" dirty="0">
                <a:solidFill>
                  <a:schemeClr val="accent2"/>
                </a:solidFill>
              </a:rPr>
              <a:t>(i.e. generate images using a noise vector as input)</a:t>
            </a:r>
          </a:p>
        </p:txBody>
      </p:sp>
    </p:spTree>
    <p:extLst>
      <p:ext uri="{BB962C8B-B14F-4D97-AF65-F5344CB8AC3E}">
        <p14:creationId xmlns:p14="http://schemas.microsoft.com/office/powerpoint/2010/main" val="11389752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09A57-D9E0-472D-9E58-FCDBBE6D3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definition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9280E0-EB97-4D42-9494-1D5CF55FE48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Definition (</a:t>
                </a:r>
                <a:r>
                  <a:rPr lang="en-US" b="1" dirty="0">
                    <a:solidFill>
                      <a:srgbClr val="00B050"/>
                    </a:solidFill>
                  </a:rPr>
                  <a:t>GAN</a:t>
                </a:r>
                <a:r>
                  <a:rPr lang="en-US" b="1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Generative</a:t>
                </a:r>
                <a:r>
                  <a:rPr lang="en-US" dirty="0"/>
                  <a:t> </a:t>
                </a:r>
                <a:r>
                  <a:rPr lang="en-US" b="1" dirty="0"/>
                  <a:t>Adversarial</a:t>
                </a:r>
                <a:r>
                  <a:rPr lang="en-US" dirty="0"/>
                  <a:t> </a:t>
                </a:r>
                <a:r>
                  <a:rPr lang="en-US" b="1" dirty="0"/>
                  <a:t>Network</a:t>
                </a:r>
                <a:r>
                  <a:rPr lang="en-US" dirty="0"/>
                  <a:t> (or </a:t>
                </a:r>
                <a:r>
                  <a:rPr lang="en-US" b="1" dirty="0">
                    <a:solidFill>
                      <a:srgbClr val="00B050"/>
                    </a:solidFill>
                  </a:rPr>
                  <a:t>GAN</a:t>
                </a:r>
                <a:r>
                  <a:rPr lang="en-US" dirty="0"/>
                  <a:t>, in short) is a particular type of architecture, which attempts to learn to reproduce the samples distribution in a given dataset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9280E0-EB97-4D42-9494-1D5CF55FE4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F9F2B0-5F0C-422B-B797-CA84E32763C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/>
              <a:lstStyle/>
              <a:p>
                <a:r>
                  <a:rPr lang="en-US" dirty="0"/>
                  <a:t>Train a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, with noise sample inputs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drawn from normalized Gaussian distributions.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training objective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GB" dirty="0"/>
                  <a:t>, is then to ensure that the distribution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GB" dirty="0"/>
                  <a:t> matches the one of our original dataset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F9F2B0-5F0C-422B-B797-CA84E3276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471" t="-1937" r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8751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Noise sample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endParaRPr lang="en-GB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3059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1459462" y="1517392"/>
            <a:ext cx="9273075" cy="534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71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Noise sample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endParaRPr lang="en-GB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283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Noise sample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Simply draw some random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, by using random noise.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It will be fed to our generator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6684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2"/>
                </a:pPr>
                <a:r>
                  <a:rPr lang="en-US" b="1" dirty="0"/>
                  <a:t>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Receives the noise vector z as input and produces a (fake) image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b="1" dirty="0"/>
                  <a:t> as output.</a:t>
                </a:r>
              </a:p>
              <a:p>
                <a:pPr marL="0" indent="0">
                  <a:buNone/>
                </a:pPr>
                <a:r>
                  <a:rPr lang="en-US" dirty="0"/>
                  <a:t>In terms of architecture, same logic as the decoder part of our AE/VAE, i.e. </a:t>
                </a:r>
                <a:r>
                  <a:rPr lang="en-US" b="1" dirty="0" err="1"/>
                  <a:t>upsampling</a:t>
                </a:r>
                <a:r>
                  <a:rPr lang="en-US" dirty="0"/>
                  <a:t> </a:t>
                </a:r>
                <a:r>
                  <a:rPr lang="en-US" b="1" dirty="0"/>
                  <a:t>FC</a:t>
                </a:r>
                <a:r>
                  <a:rPr lang="en-US" dirty="0"/>
                  <a:t> or </a:t>
                </a:r>
                <a:r>
                  <a:rPr lang="en-US" b="1" dirty="0" err="1"/>
                  <a:t>TransposeConv</a:t>
                </a:r>
                <a:r>
                  <a:rPr lang="en-US" dirty="0"/>
                  <a:t> layers!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485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b="1" dirty="0"/>
                  <a:t>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 startAt="3"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Will receive</a:t>
                </a:r>
              </a:p>
              <a:p>
                <a:r>
                  <a:rPr lang="en-US" dirty="0"/>
                  <a:t>an image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from the dataset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half of the time,</a:t>
                </a:r>
              </a:p>
              <a:p>
                <a:r>
                  <a:rPr lang="en-US" dirty="0"/>
                  <a:t>an image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from the generator the other half.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  <a:blipFill>
                <a:blip r:embed="rId2"/>
                <a:stretch>
                  <a:fillRect l="-2436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B987E-650A-453F-BB6D-9A7B50B736F6}"/>
              </a:ext>
            </a:extLst>
          </p:cNvPr>
          <p:cNvSpPr txBox="1"/>
          <p:nvPr/>
        </p:nvSpPr>
        <p:spPr>
          <a:xfrm>
            <a:off x="838200" y="6083559"/>
            <a:ext cx="10815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Binary classification: </a:t>
            </a:r>
            <a:r>
              <a:rPr lang="en-US" sz="2800" dirty="0"/>
              <a:t>needs to classify the image as fake (0) or real (1).</a:t>
            </a:r>
          </a:p>
        </p:txBody>
      </p:sp>
    </p:spTree>
    <p:extLst>
      <p:ext uri="{BB962C8B-B14F-4D97-AF65-F5344CB8AC3E}">
        <p14:creationId xmlns:p14="http://schemas.microsoft.com/office/powerpoint/2010/main" val="15596263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discriminator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The purpose of D is to correctly guess whether the image is real or was generated by G (BCE loss!)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 r="-30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9E9AFB-02B4-4EA8-9422-002C471485D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rgbClr val="00B050"/>
                </a:solidFill>
              </a:rPr>
              <a:t>first component </a:t>
            </a:r>
            <a:r>
              <a:rPr lang="en-US" dirty="0"/>
              <a:t>checks if the discriminator is correctly classifying the real samples.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rgbClr val="7030A0"/>
                </a:solidFill>
              </a:rPr>
              <a:t>second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component</a:t>
            </a:r>
            <a:r>
              <a:rPr lang="en-US" dirty="0"/>
              <a:t> checks if the discriminator correctly classifies the fake samples.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4941C4-105A-49B7-B8D4-8CC00A763CBC}"/>
                  </a:ext>
                </a:extLst>
              </p:cNvPr>
              <p:cNvSpPr txBox="1"/>
              <p:nvPr/>
            </p:nvSpPr>
            <p:spPr>
              <a:xfrm>
                <a:off x="101081" y="5425856"/>
                <a:ext cx="11989837" cy="1194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4941C4-105A-49B7-B8D4-8CC00A763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1" y="5425856"/>
                <a:ext cx="11989837" cy="11940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9051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GB" b="1" dirty="0"/>
              </a:p>
              <a:p>
                <a:pPr marL="514350" indent="-514350">
                  <a:buFont typeface="+mj-lt"/>
                  <a:buAutoNum type="arabicPeriod" startAt="5"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The purpose of G is to create images that are good enough to fool the discriminator 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/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1.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1788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GB" b="1" dirty="0"/>
              </a:p>
              <a:p>
                <a:pPr marL="514350" indent="-514350">
                  <a:buFont typeface="+mj-lt"/>
                  <a:buAutoNum type="arabicPeriod" startAt="5"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The purpose of G is to create images that are good enough to fool the discriminator 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3B97B5F-147F-4589-B08A-FB842BD6A6E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Intuitively,</a:t>
                </a:r>
              </a:p>
              <a:p>
                <a:r>
                  <a:rPr lang="en-US" dirty="0"/>
                  <a:t>This loss checks that the discriminator classifies the </a:t>
                </a:r>
                <a:r>
                  <a:rPr lang="en-US" b="1" dirty="0">
                    <a:solidFill>
                      <a:srgbClr val="7030A0"/>
                    </a:solidFill>
                  </a:rPr>
                  <a:t>generated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samples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 err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err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dirty="0" err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endParaRPr lang="en-US" b="1" dirty="0">
                  <a:solidFill>
                    <a:srgbClr val="7030A0"/>
                  </a:solidFill>
                </a:endParaRPr>
              </a:p>
              <a:p>
                <a:r>
                  <a:rPr lang="en-GB" dirty="0"/>
                  <a:t>as </a:t>
                </a:r>
                <a:r>
                  <a:rPr lang="en-GB" dirty="0">
                    <a:solidFill>
                      <a:srgbClr val="00B050"/>
                    </a:solidFill>
                  </a:rPr>
                  <a:t>real</a:t>
                </a:r>
                <a:r>
                  <a:rPr lang="en-GB" dirty="0"/>
                  <a:t> samples (1), instead of fake ones (0).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3B97B5F-147F-4589-B08A-FB842BD6A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/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1197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90BD-7006-4C4C-BDF3-43CBC13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dataset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2BD1E0-F825-42B4-8CDF-E4B4D0F433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40" t="29524" r="39617" b="29251"/>
          <a:stretch/>
        </p:blipFill>
        <p:spPr>
          <a:xfrm>
            <a:off x="718457" y="1464905"/>
            <a:ext cx="10254343" cy="504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5856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90BD-7006-4C4C-BDF3-43CBC13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discriminator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F3854-5B9B-4B07-A52F-D487A9A04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US" dirty="0"/>
              <a:t>For simplicity, our discriminator, will be designed as stacked </a:t>
            </a:r>
            <a:r>
              <a:rPr lang="en-US" dirty="0" err="1"/>
              <a:t>downsampling</a:t>
            </a:r>
            <a:r>
              <a:rPr lang="en-US" dirty="0"/>
              <a:t> FC layers.</a:t>
            </a:r>
          </a:p>
          <a:p>
            <a:r>
              <a:rPr lang="en-US" dirty="0"/>
              <a:t>Freely decide on the hidden layer sizes.</a:t>
            </a:r>
          </a:p>
          <a:p>
            <a:endParaRPr lang="en-US" dirty="0"/>
          </a:p>
          <a:p>
            <a:r>
              <a:rPr lang="en-US" dirty="0"/>
              <a:t>(Later on, we will replace these layers with Conv2d ones, which are much better layers to use when it comes to images!)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D8E120-FA2A-40D7-994E-4D639CBC91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63" t="30476" r="39464" b="26802"/>
          <a:stretch/>
        </p:blipFill>
        <p:spPr>
          <a:xfrm>
            <a:off x="6172202" y="2062064"/>
            <a:ext cx="5775649" cy="292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712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90BD-7006-4C4C-BDF3-43CBC13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discriminator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D8E120-FA2A-40D7-994E-4D639CBC91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63" t="30476" r="39464" b="26802"/>
          <a:stretch/>
        </p:blipFill>
        <p:spPr>
          <a:xfrm>
            <a:off x="788436" y="1399590"/>
            <a:ext cx="10615127" cy="538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65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CAE0-4F38-447D-BE95-6994DC840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generator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D5B0D-39F7-44BA-90F8-A073409EA9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For simplicity, our generator will mirror the operations of our discriminator (Same intuition as with Encoder and Decoder in </a:t>
            </a:r>
            <a:r>
              <a:rPr lang="en-US" dirty="0" err="1"/>
              <a:t>AutoEncoder</a:t>
            </a:r>
            <a:r>
              <a:rPr lang="en-US" dirty="0"/>
              <a:t> models).</a:t>
            </a:r>
          </a:p>
          <a:p>
            <a:r>
              <a:rPr lang="en-US" dirty="0"/>
              <a:t>It will therefore consist of </a:t>
            </a:r>
            <a:r>
              <a:rPr lang="en-US" dirty="0" err="1"/>
              <a:t>upsampling</a:t>
            </a:r>
            <a:r>
              <a:rPr lang="en-US" dirty="0"/>
              <a:t> FC layers.</a:t>
            </a:r>
          </a:p>
          <a:p>
            <a:r>
              <a:rPr lang="en-US" dirty="0"/>
              <a:t>(Later on, we might replace these layers with Conv2d and  TransposeConv2d ones, which are easier to train and much better at working with images!)</a:t>
            </a:r>
            <a:endParaRPr lang="en-GB" dirty="0"/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56ABF-F36F-4199-9C95-EB3BD272E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0" t="32789" r="39388" b="24762"/>
          <a:stretch/>
        </p:blipFill>
        <p:spPr>
          <a:xfrm>
            <a:off x="6288832" y="2174033"/>
            <a:ext cx="5803641" cy="291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1313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CAE0-4F38-447D-BE95-6994DC840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generator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56ABF-F36F-4199-9C95-EB3BD272E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0" t="32789" r="39388" b="24560"/>
          <a:stretch/>
        </p:blipFill>
        <p:spPr>
          <a:xfrm>
            <a:off x="838200" y="1418257"/>
            <a:ext cx="10515600" cy="529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3084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Start by defining hyperparameters and models.</a:t>
            </a:r>
          </a:p>
          <a:p>
            <a:r>
              <a:rPr lang="en-GB" dirty="0"/>
              <a:t>Latent size for noise samples fed to generator arbitrarily fixed.</a:t>
            </a:r>
          </a:p>
          <a:p>
            <a:r>
              <a:rPr lang="en-GB" dirty="0"/>
              <a:t>Adam, with almost default parameters, arbitrarily chosen.</a:t>
            </a:r>
          </a:p>
          <a:p>
            <a:r>
              <a:rPr lang="en-GB" dirty="0"/>
              <a:t>Losses on D and G for training curves later on. </a:t>
            </a:r>
          </a:p>
          <a:p>
            <a:r>
              <a:rPr lang="en-GB" dirty="0"/>
              <a:t>Also, accuracy scores of D on real and fake samples for visualization after training.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059060-D851-4BCF-930C-C4CBF82AB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62" t="35375" r="49376" b="37550"/>
          <a:stretch/>
        </p:blipFill>
        <p:spPr>
          <a:xfrm>
            <a:off x="6466117" y="1142998"/>
            <a:ext cx="5570376" cy="22645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01B397-DF4A-45D2-875A-C52781C672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163" t="26621" r="49375" b="62585"/>
          <a:stretch/>
        </p:blipFill>
        <p:spPr>
          <a:xfrm>
            <a:off x="6466117" y="3407562"/>
            <a:ext cx="5572283" cy="9031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61FB3E-FF2F-498D-90CC-707AFACCBB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163" t="26621" r="44337" b="43129"/>
          <a:stretch/>
        </p:blipFill>
        <p:spPr>
          <a:xfrm>
            <a:off x="5719666" y="4301409"/>
            <a:ext cx="6385528" cy="255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940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Start by processing the samples</a:t>
            </a:r>
          </a:p>
          <a:p>
            <a:r>
              <a:rPr lang="en-US" dirty="0"/>
              <a:t>Generate N (mini-batch size) random noise samples, which will later be fed to generator. Make their labels 0.</a:t>
            </a:r>
          </a:p>
          <a:p>
            <a:r>
              <a:rPr lang="en-US" dirty="0"/>
              <a:t>Draw N (mini-batch size) samples from the dataset X, which will be fed to discriminator later on. Make their labels 1.</a:t>
            </a:r>
          </a:p>
          <a:p>
            <a:r>
              <a:rPr lang="en-US" dirty="0"/>
              <a:t>Flatten images (FC layers!)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8D45-DB52-4C64-8F3F-55A073A869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05" t="27891" r="32347" b="41361"/>
          <a:stretch/>
        </p:blipFill>
        <p:spPr>
          <a:xfrm>
            <a:off x="2825620" y="4749282"/>
            <a:ext cx="6540759" cy="210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007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8D45-DB52-4C64-8F3F-55A073A869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05" t="27891" r="32347" b="41361"/>
          <a:stretch/>
        </p:blipFill>
        <p:spPr>
          <a:xfrm>
            <a:off x="129073" y="2264714"/>
            <a:ext cx="11933853" cy="384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425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57389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Train the discriminator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Pass real samples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check if it is able to classify these samples correctly as real (1).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first half of the loss and the accuracy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these real samples.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Pass noise samples to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, and output images to discriminator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check if it is able to classify these images correctly as fake (0).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second half of the loss and the accuracy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these fake samples.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Backpropagate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the computed combined loss.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57389" cy="5032375"/>
              </a:xfrm>
              <a:blipFill>
                <a:blip r:embed="rId2"/>
                <a:stretch>
                  <a:fillRect l="-1103" t="-1937" r="-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1903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653A3A-DEC5-4D1D-96AA-BFD6BB2A7E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546" t="34886" r="36020" b="7619"/>
          <a:stretch/>
        </p:blipFill>
        <p:spPr>
          <a:xfrm>
            <a:off x="1717577" y="1147864"/>
            <a:ext cx="8756846" cy="56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3362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68016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Train the generator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Produce a fresh batch of noise samples to be fed to the generator.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Produce fake images by feeding these noise samples to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Pass fake images to discriminator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check if it is misclassifying these samples as real (1) instead of fake.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Backpropagate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on the computed loss.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680166" cy="5032375"/>
              </a:xfrm>
              <a:blipFill>
                <a:blip r:embed="rId2"/>
                <a:stretch>
                  <a:fillRect l="-1199" t="-1937" r="-10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51162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9FDC6-B79A-433C-B0ED-96EE8E45DE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17" t="41087" r="39923" b="16463"/>
          <a:stretch/>
        </p:blipFill>
        <p:spPr>
          <a:xfrm>
            <a:off x="699796" y="1222310"/>
            <a:ext cx="10792408" cy="5511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7630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</a:t>
            </a:r>
            <a:r>
              <a:rPr lang="en-US"/>
              <a:t>: interleaved </a:t>
            </a:r>
            <a:r>
              <a:rPr lang="en-US" dirty="0"/>
              <a:t>t</a:t>
            </a:r>
            <a:r>
              <a:rPr lang="en-US"/>
              <a:t>raining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interleaved</a:t>
            </a:r>
            <a:r>
              <a:rPr lang="en-US" b="1" dirty="0"/>
              <a:t> </a:t>
            </a:r>
            <a:r>
              <a:rPr lang="en-US" b="1" dirty="0">
                <a:solidFill>
                  <a:srgbClr val="00B050"/>
                </a:solidFill>
              </a:rPr>
              <a:t>training</a:t>
            </a:r>
            <a:r>
              <a:rPr lang="en-US" b="1" dirty="0"/>
              <a:t>): </a:t>
            </a:r>
          </a:p>
          <a:p>
            <a:pPr marL="0" indent="0">
              <a:buNone/>
            </a:pPr>
            <a:r>
              <a:rPr lang="en-GB" dirty="0"/>
              <a:t>In general, we like to train a discriminator, while the generator is fixed, and vice-versa. We then alternate a few rounds of training on the discriminator/generator, effectively training both at the “same” time.</a:t>
            </a:r>
          </a:p>
          <a:p>
            <a:pPr marL="0" indent="0">
              <a:buNone/>
            </a:pPr>
            <a:r>
              <a:rPr lang="en-GB" dirty="0"/>
              <a:t>This prevents the discriminator from getting used to what the generator is producing and in turn, forces the generator to generate better samples, with higher chance of fooling the discriminator.</a:t>
            </a:r>
          </a:p>
          <a:p>
            <a:pPr marL="0" indent="0">
              <a:buNone/>
            </a:pPr>
            <a:r>
              <a:rPr lang="en-GB" dirty="0"/>
              <a:t>This is called an </a:t>
            </a:r>
            <a:r>
              <a:rPr lang="en-GB" b="1" dirty="0">
                <a:solidFill>
                  <a:srgbClr val="00B050"/>
                </a:solidFill>
              </a:rPr>
              <a:t>interleaved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training</a:t>
            </a:r>
            <a:r>
              <a:rPr lang="en-GB" dirty="0"/>
              <a:t>, and is very common in GANs, or even </a:t>
            </a:r>
            <a:r>
              <a:rPr lang="en-GB" b="1" dirty="0"/>
              <a:t>game</a:t>
            </a:r>
            <a:r>
              <a:rPr lang="en-GB" dirty="0"/>
              <a:t> </a:t>
            </a:r>
            <a:r>
              <a:rPr lang="en-GB" b="1" dirty="0"/>
              <a:t>theory</a:t>
            </a:r>
            <a:r>
              <a:rPr lang="en-GB" dirty="0"/>
              <a:t> where multiple players trying to figure out their best strategies, with contradicting objectives.</a:t>
            </a:r>
          </a:p>
          <a:p>
            <a:pPr marL="0" indent="0">
              <a:buNone/>
            </a:pPr>
            <a:r>
              <a:rPr lang="en-GB" b="1" dirty="0"/>
              <a:t>However, this does not ensure that the GAN training will converge!</a:t>
            </a:r>
          </a:p>
        </p:txBody>
      </p:sp>
    </p:spTree>
    <p:extLst>
      <p:ext uri="{BB962C8B-B14F-4D97-AF65-F5344CB8AC3E}">
        <p14:creationId xmlns:p14="http://schemas.microsoft.com/office/powerpoint/2010/main" val="11868843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Update loss and accuracy history after each mini-batch.</a:t>
            </a:r>
          </a:p>
          <a:p>
            <a:pPr marL="0" indent="0">
              <a:buNone/>
            </a:pPr>
            <a:r>
              <a:rPr lang="en-US" dirty="0"/>
              <a:t>Display on periodic epoch values for convenience.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54F09E-614C-4014-A3D1-35B8BED734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857" t="43946" r="10306" b="19184"/>
          <a:stretch/>
        </p:blipFill>
        <p:spPr>
          <a:xfrm>
            <a:off x="85840" y="3236635"/>
            <a:ext cx="11822259" cy="3191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8197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D069302-8138-4E1F-B466-46347F020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After training, we can visualize the losses.</a:t>
            </a:r>
          </a:p>
          <a:p>
            <a:r>
              <a:rPr lang="en-US" dirty="0"/>
              <a:t>Convergence seems to be happening on the losses.</a:t>
            </a:r>
          </a:p>
          <a:p>
            <a:r>
              <a:rPr lang="en-US" dirty="0"/>
              <a:t>(A few more iterations would have probably been good).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18F4D4-3969-4B4A-9CDE-B58F28AF9F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0" t="26621" r="41837" b="20952"/>
          <a:stretch/>
        </p:blipFill>
        <p:spPr>
          <a:xfrm>
            <a:off x="6172202" y="1825624"/>
            <a:ext cx="5790784" cy="378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7657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D069302-8138-4E1F-B466-46347F020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326380" cy="5032375"/>
          </a:xfrm>
        </p:spPr>
        <p:txBody>
          <a:bodyPr/>
          <a:lstStyle/>
          <a:p>
            <a:r>
              <a:rPr lang="en-US" dirty="0"/>
              <a:t>After training, we can visualize the accuracies as well.</a:t>
            </a:r>
          </a:p>
          <a:p>
            <a:r>
              <a:rPr lang="en-US" dirty="0"/>
              <a:t>Convergence seems to be happening on the accuracies too.</a:t>
            </a:r>
          </a:p>
          <a:p>
            <a:r>
              <a:rPr lang="en-US" dirty="0"/>
              <a:t>(A few more iterations would have probably been good).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3E206F-053D-4B49-A071-49EADC52BC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704" t="31565" r="38546" b="16190"/>
          <a:stretch/>
        </p:blipFill>
        <p:spPr>
          <a:xfrm>
            <a:off x="6096000" y="1825624"/>
            <a:ext cx="5943600" cy="358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6895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US" dirty="0"/>
                  <a:t>After training, we can visualize the accuracy scores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both the real and fake samples.</a:t>
                </a:r>
              </a:p>
              <a:p>
                <a:r>
                  <a:rPr lang="en-US" dirty="0"/>
                  <a:t>Convergence seems to be happening on the accuracies as well.</a:t>
                </a:r>
              </a:p>
              <a:p>
                <a:r>
                  <a:rPr lang="en-US" dirty="0"/>
                  <a:t>It does not seem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was able to completely fool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(50% score accuracy as optimal target?)</a:t>
                </a:r>
              </a:p>
              <a:p>
                <a:r>
                  <a:rPr lang="en-US" b="1" dirty="0"/>
                  <a:t>But do we care?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3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33E206F-053D-4B49-A071-49EADC52BC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704" t="31565" r="38546" b="16190"/>
          <a:stretch/>
        </p:blipFill>
        <p:spPr>
          <a:xfrm>
            <a:off x="6096000" y="1825624"/>
            <a:ext cx="5943600" cy="358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01700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Seriously, do we care?</a:t>
                </a:r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No, because what matters is that we get a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that is trained well enough to generate </a:t>
                </a:r>
                <a:r>
                  <a:rPr lang="en-US" b="1" dirty="0">
                    <a:solidFill>
                      <a:srgbClr val="FF0000"/>
                    </a:solidFill>
                  </a:rPr>
                  <a:t>plausible (!)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images</a:t>
                </a:r>
                <a:r>
                  <a:rPr lang="en-US" dirty="0">
                    <a:solidFill>
                      <a:srgbClr val="FF0000"/>
                    </a:solidFill>
                  </a:rPr>
                  <a:t>!</a:t>
                </a:r>
                <a:endParaRPr lang="en-US" b="1" dirty="0"/>
              </a:p>
              <a:p>
                <a:r>
                  <a:rPr lang="en-US" dirty="0"/>
                  <a:t>(On a side note, when is the last time we saw this “</a:t>
                </a:r>
                <a:r>
                  <a:rPr lang="en-US" b="1" dirty="0">
                    <a:solidFill>
                      <a:srgbClr val="7030A0"/>
                    </a:solidFill>
                  </a:rPr>
                  <a:t>plausible</a:t>
                </a:r>
                <a:r>
                  <a:rPr lang="en-US" dirty="0"/>
                  <a:t>” keyword BTW? How about the “</a:t>
                </a:r>
                <a:r>
                  <a:rPr lang="en-US" b="1" dirty="0">
                    <a:solidFill>
                      <a:srgbClr val="7030A0"/>
                    </a:solidFill>
                  </a:rPr>
                  <a:t>adversarial</a:t>
                </a:r>
                <a:r>
                  <a:rPr lang="en-US" dirty="0"/>
                  <a:t>” keyword?</a:t>
                </a:r>
                <a:br>
                  <a:rPr lang="en-US" dirty="0"/>
                </a:br>
                <a:r>
                  <a:rPr lang="en-US" dirty="0"/>
                  <a:t>Could that mean GANs could be used as attack functions?)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3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F7D0BE5-F864-4333-B947-B1277B2383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87" t="24652" r="34184" b="10884"/>
          <a:stretch/>
        </p:blipFill>
        <p:spPr>
          <a:xfrm>
            <a:off x="6172202" y="1968759"/>
            <a:ext cx="5915875" cy="406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7306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7D0BE5-F864-4333-B947-B1277B2383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87" t="24652" r="34184" b="10884"/>
          <a:stretch/>
        </p:blipFill>
        <p:spPr>
          <a:xfrm>
            <a:off x="2207468" y="1404257"/>
            <a:ext cx="7777064" cy="534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9986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Seriously, do we care?</a:t>
                </a:r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No, because what matters is that we get a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that is trained well enough </a:t>
                </a:r>
                <a:r>
                  <a:rPr lang="en-US">
                    <a:solidFill>
                      <a:srgbClr val="FF0000"/>
                    </a:solidFill>
                  </a:rPr>
                  <a:t>to generate</a:t>
                </a:r>
                <a:br>
                  <a:rPr lang="en-US">
                    <a:solidFill>
                      <a:srgbClr val="FF0000"/>
                    </a:solidFill>
                  </a:rPr>
                </a:br>
                <a:r>
                  <a:rPr lang="en-US" b="1">
                    <a:solidFill>
                      <a:srgbClr val="FF0000"/>
                    </a:solidFill>
                  </a:rPr>
                  <a:t>plausible </a:t>
                </a:r>
                <a:r>
                  <a:rPr lang="en-US" b="1" dirty="0">
                    <a:solidFill>
                      <a:srgbClr val="FF0000"/>
                    </a:solidFill>
                  </a:rPr>
                  <a:t>(!)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images</a:t>
                </a:r>
                <a:r>
                  <a:rPr lang="en-US" dirty="0">
                    <a:solidFill>
                      <a:srgbClr val="FF0000"/>
                    </a:solidFill>
                  </a:rPr>
                  <a:t>!</a:t>
                </a:r>
              </a:p>
              <a:p>
                <a:endParaRPr lang="en-US" b="1" dirty="0"/>
              </a:p>
              <a:p>
                <a:r>
                  <a:rPr lang="en-US" dirty="0"/>
                  <a:t>Overall, plausible images!</a:t>
                </a:r>
              </a:p>
              <a:p>
                <a:r>
                  <a:rPr lang="en-US" b="1" dirty="0"/>
                  <a:t>Extra implementation: </a:t>
                </a:r>
                <a:r>
                  <a:rPr lang="en-US" dirty="0"/>
                  <a:t>could we remove noise, by using Conv2d and TransposeConv2d layers instead of FC layers in the generator?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  <a:blipFill>
                <a:blip r:embed="rId2"/>
                <a:stretch>
                  <a:fillRect l="-2295" t="-1937" r="-28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6E40F59-269F-4A6E-805A-0CA7747459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209" t="19728" r="56760" b="35863"/>
          <a:stretch/>
        </p:blipFill>
        <p:spPr>
          <a:xfrm>
            <a:off x="6643396" y="99513"/>
            <a:ext cx="2407298" cy="6658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3B8CB7-B28C-4D79-B645-EF6B467C4A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209" t="64137" r="56760" b="5324"/>
          <a:stretch/>
        </p:blipFill>
        <p:spPr>
          <a:xfrm>
            <a:off x="9128449" y="864294"/>
            <a:ext cx="2513243" cy="478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67191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2EFD1-C5FA-4040-ADB8-C1A60FA9F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53446-C600-4EAD-8161-EB9D925C5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this lecture</a:t>
            </a:r>
          </a:p>
          <a:p>
            <a:r>
              <a:rPr lang="en-US" dirty="0"/>
              <a:t>Main issues of traditional Autoencoders</a:t>
            </a:r>
          </a:p>
          <a:p>
            <a:r>
              <a:rPr lang="en-US" dirty="0"/>
              <a:t>Diversity on feature representation using stochastic latent representations</a:t>
            </a:r>
          </a:p>
          <a:p>
            <a:r>
              <a:rPr lang="en-US" dirty="0"/>
              <a:t>Variational Autoencoder and stochastic latent representations</a:t>
            </a:r>
          </a:p>
          <a:p>
            <a:r>
              <a:rPr lang="en-US" dirty="0"/>
              <a:t>Basic Generative Adversarial Networks: ideas and procedure.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691806-2364-43BE-8739-E73493C0F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8956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the next lectures</a:t>
            </a:r>
          </a:p>
          <a:p>
            <a:r>
              <a:rPr lang="en-US" dirty="0"/>
              <a:t>More advanced concepts on GANs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9116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for those of you who are curious</a:t>
            </a:r>
          </a:p>
          <a:p>
            <a:r>
              <a:rPr lang="en-US" dirty="0"/>
              <a:t>Reference paper on VAEs.</a:t>
            </a:r>
            <a:br>
              <a:rPr lang="en-US" dirty="0"/>
            </a:br>
            <a:r>
              <a:rPr lang="en-US" b="1" dirty="0" err="1">
                <a:solidFill>
                  <a:schemeClr val="accent2">
                    <a:lumMod val="50000"/>
                  </a:schemeClr>
                </a:solidFill>
              </a:rPr>
              <a:t>Kingma</a:t>
            </a:r>
            <a:r>
              <a:rPr lang="en-US" dirty="0"/>
              <a:t> et al., “An Introduction to Variational Autoencoders</a:t>
            </a:r>
            <a:r>
              <a:rPr lang="en-GB" dirty="0"/>
              <a:t>”, 2013.</a:t>
            </a:r>
            <a:br>
              <a:rPr lang="en-GB" dirty="0"/>
            </a:br>
            <a:r>
              <a:rPr lang="en-GB" dirty="0">
                <a:hlinkClick r:id="rId2"/>
              </a:rPr>
              <a:t>https://arxiv.org/abs/1906.02691</a:t>
            </a:r>
            <a:endParaRPr lang="en-GB" dirty="0"/>
          </a:p>
          <a:p>
            <a:r>
              <a:rPr lang="en-US" dirty="0"/>
              <a:t>Reference paper on vanilla GANs.</a:t>
            </a:r>
            <a:br>
              <a:rPr lang="en-US" dirty="0"/>
            </a:b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Goodfellow</a:t>
            </a:r>
            <a:r>
              <a:rPr lang="en-US" dirty="0"/>
              <a:t> et al., “</a:t>
            </a:r>
            <a:r>
              <a:rPr lang="en-GB" dirty="0"/>
              <a:t>Generative Adversarial Networks”, 2014.</a:t>
            </a:r>
            <a:br>
              <a:rPr lang="en-US" dirty="0"/>
            </a:br>
            <a:r>
              <a:rPr lang="en-US" dirty="0">
                <a:hlinkClick r:id="rId3"/>
              </a:rPr>
              <a:t>https://arxiv.org/abs/1406.2661</a:t>
            </a:r>
            <a:endParaRPr lang="en-US" dirty="0"/>
          </a:p>
          <a:p>
            <a:r>
              <a:rPr lang="en-US" dirty="0"/>
              <a:t>Make music with VAEs!</a:t>
            </a:r>
            <a:br>
              <a:rPr lang="en-US" dirty="0"/>
            </a:br>
            <a:r>
              <a:rPr lang="en-US" dirty="0">
                <a:hlinkClick r:id="rId4"/>
              </a:rPr>
              <a:t>https://www.youtube.com/watch?v=G5JT16flZwM&amp;list=PLBUMAYA6kvGU8Cgqh709o5SUvo-zHGTxr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/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1824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00541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This part is a Gaussian distribution (easy)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212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71444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B050"/>
                    </a:solidFill>
                  </a:rPr>
                  <a:t>This part is a our decoder effect (easy)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212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224126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accent2"/>
                    </a:solidFill>
                  </a:rPr>
                  <a:t>Summing it over all the possible z representations? Hard to compute (requires understanding of encoder).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212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762665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b="1" dirty="0"/>
                  <a:t>Oh, no, this is mathematically </a:t>
                </a:r>
                <a:r>
                  <a:rPr lang="en-GB" b="1" dirty="0" err="1"/>
                  <a:t>untractable</a:t>
                </a:r>
                <a:r>
                  <a:rPr lang="en-GB" b="1" dirty="0"/>
                  <a:t>!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1824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486480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Workaround: </a:t>
                </a:r>
                <a:r>
                  <a:rPr lang="en-US" dirty="0"/>
                  <a:t>approximate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by another distribution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which will be defined such that it has a tractable distribution.</a:t>
                </a:r>
              </a:p>
              <a:p>
                <a:r>
                  <a:rPr lang="en-US" dirty="0"/>
                  <a:t>If we can define the parameters of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such that it is very similar to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we can use it to perform approximate inference of the intractable distribution.</a:t>
                </a:r>
              </a:p>
              <a:p>
                <a:r>
                  <a:rPr lang="en-US" dirty="0"/>
                  <a:t>We later simply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by using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instead.</a:t>
                </a:r>
              </a:p>
              <a:p>
                <a:r>
                  <a:rPr lang="en-US" dirty="0"/>
                  <a:t>The only thing we need, then, is </a:t>
                </a:r>
                <a:r>
                  <a:rPr lang="en-US" b="1" dirty="0"/>
                  <a:t>a way to measure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is a good approximate measure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general, we will even choose a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independently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that is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 r="-8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7624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Finding a good distribution q that matches p, then requires to minimize the KL divergence.</a:t>
                </a: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r>
                  <a:rPr lang="en-GB" dirty="0"/>
                  <a:t>Applied to our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64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/>
              <a:lstStyle/>
              <a:p>
                <a:r>
                  <a:rPr lang="en-US" b="0" dirty="0"/>
                  <a:t>This is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11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850973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Finding a good distribution q that matches p, then requires to minimize the KL divergence.</a:t>
                </a: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r>
                  <a:rPr lang="en-GB" dirty="0"/>
                  <a:t>Applied to our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6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/>
              <a:lstStyle/>
              <a:p>
                <a:r>
                  <a:rPr lang="en-US" b="0" dirty="0"/>
                  <a:t>This is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Which is equivalent to</a:t>
                </a:r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b="1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11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69556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Bayes’ formula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  <m:sup/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d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</m:d>
                                        </m:e>
                                      </m:func>
                                    </m:e>
                                  </m:nary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e>
                                  </m:func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  <m:sup/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d>
                                    </m:e>
                                  </m:nary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By definition, we have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en-GB" dirty="0"/>
                  <a:t>, 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60608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en-GB" dirty="0"/>
                  <a:t> is a constant quantity here. It is then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43805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en-GB" dirty="0"/>
                  <a:t> is a constant quantity here. It is then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Splitting it with Bayes’ formula again gives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 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835994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Final twist: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are identical (can you see why?)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first term represents the reconstruction log-likelihood, or in other word, a good reconstruction of the images!</a:t>
                </a:r>
              </a:p>
              <a:p>
                <a:r>
                  <a:rPr lang="en-US" dirty="0"/>
                  <a:t>And the second term ensures that our learned distribution q is similar to the true prior distribution p!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3"/>
                    </a:solidFill>
                  </a:rPr>
                  <a:t>(Need to take it slow? Full proof of previous calculation here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https://www.youtube.com/watch?v=uaaqyVS9-rM&amp;t=1182s</a:t>
                </a:r>
                <a:r>
                  <a:rPr lang="en-US" dirty="0">
                    <a:solidFill>
                      <a:schemeClr val="accent3"/>
                    </a:solidFill>
                  </a:rPr>
                  <a:t>) </a:t>
                </a:r>
                <a:endParaRPr lang="en-GB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1937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7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4317</TotalTime>
  <Words>4709</Words>
  <Application>Microsoft Office PowerPoint</Application>
  <PresentationFormat>Widescreen</PresentationFormat>
  <Paragraphs>466</Paragraphs>
  <Slides>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W10-S2 Generative Models in Deep Learning</vt:lpstr>
      <vt:lpstr>About this week (Week 10)</vt:lpstr>
      <vt:lpstr>About this week (Week 10)</vt:lpstr>
      <vt:lpstr>Outline</vt:lpstr>
      <vt:lpstr>AutoEncoders: a definition</vt:lpstr>
      <vt:lpstr>AutoEncoders: a definition</vt:lpstr>
      <vt:lpstr>AutoEncoders: a definition</vt:lpstr>
      <vt:lpstr>AutoEncoders: a definition</vt:lpstr>
      <vt:lpstr>AutoEncoders structure</vt:lpstr>
      <vt:lpstr>Deconvolution operation</vt:lpstr>
      <vt:lpstr>Deconvolution operation</vt:lpstr>
      <vt:lpstr>Limits of “vanilla” autoencoders</vt:lpstr>
      <vt:lpstr>Limits of “vanilla” autoencoders</vt:lpstr>
      <vt:lpstr>Limits of “vanilla” autoencoders</vt:lpstr>
      <vt:lpstr>Limits of “vanilla” autoencoders</vt:lpstr>
      <vt:lpstr>Limits of “vanilla” autoencoders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PowerPoint Presentation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The Kullback–Leibler Divergence</vt:lpstr>
      <vt:lpstr>The Jensen-Shannon Divergence</vt:lpstr>
      <vt:lpstr>Back to our VAE</vt:lpstr>
      <vt:lpstr>Back to our VAE</vt:lpstr>
      <vt:lpstr>Back to our VAE</vt:lpstr>
      <vt:lpstr>Back to our VAE</vt:lpstr>
      <vt:lpstr>Back to our VAE</vt:lpstr>
      <vt:lpstr>Back to our VAE</vt:lpstr>
      <vt:lpstr>Back to our VAE</vt:lpstr>
      <vt:lpstr>Implementation of a VAE</vt:lpstr>
      <vt:lpstr>Effect of KL term on latent space</vt:lpstr>
      <vt:lpstr>Implementation of a VAE</vt:lpstr>
      <vt:lpstr>PowerPoint Presentation</vt:lpstr>
      <vt:lpstr>PowerPoint Presentation</vt:lpstr>
      <vt:lpstr>PowerPoint Presentation</vt:lpstr>
      <vt:lpstr>Implementation of a VAE</vt:lpstr>
      <vt:lpstr>From VAE to GANs</vt:lpstr>
      <vt:lpstr>From VAE to GANs</vt:lpstr>
      <vt:lpstr>GAN definition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GAN implementation: dataset</vt:lpstr>
      <vt:lpstr>GAN implementation: discriminator</vt:lpstr>
      <vt:lpstr>GAN implementation: discriminator</vt:lpstr>
      <vt:lpstr>GAN implementation: generator</vt:lpstr>
      <vt:lpstr>GAN implementation: generator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interleaved training </vt:lpstr>
      <vt:lpstr>GAN implementation: trainer </vt:lpstr>
      <vt:lpstr>GAN training visuals</vt:lpstr>
      <vt:lpstr>GAN training visuals</vt:lpstr>
      <vt:lpstr>GAN training visuals</vt:lpstr>
      <vt:lpstr>GAN training visuals</vt:lpstr>
      <vt:lpstr>GAN training visuals</vt:lpstr>
      <vt:lpstr>GAN training visuals</vt:lpstr>
      <vt:lpstr>Conclusion</vt:lpstr>
      <vt:lpstr>Learn more about these topics</vt:lpstr>
      <vt:lpstr>A mathematical motivation (out-of-class)</vt:lpstr>
      <vt:lpstr>A mathematical motivation (out-of-class)</vt:lpstr>
      <vt:lpstr>A mathematical motivation (out-of-class)</vt:lpstr>
      <vt:lpstr>A mathematical motivation (out-of-class)</vt:lpstr>
      <vt:lpstr>A mathematical motivation (out-of-class)</vt:lpstr>
      <vt:lpstr>A mathematical motivation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213</cp:revision>
  <dcterms:created xsi:type="dcterms:W3CDTF">2021-03-10T09:35:15Z</dcterms:created>
  <dcterms:modified xsi:type="dcterms:W3CDTF">2026-07-26T16:16:29Z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2022-10-31T05:46:06Z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e50dd50c-64b1-435b-9ca5-e853a0d05925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