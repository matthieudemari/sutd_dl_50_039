
<file path=[Content_Types].xml><?xml version="1.0" encoding="utf-8"?>
<Types xmlns="http://schemas.openxmlformats.org/package/2006/content-types">
  <Default Extension="jpeg" ContentType="image/jpeg"/>
  <Default Extension="jp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changesInfos/changesInfo1.xml" ContentType="application/vnd.ms-powerpoint.changesinfo+xml"/>
  <Override PartName="/ppt/revisionInfo.xml" ContentType="application/vnd.ms-powerpoint.revisioninfo+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5" Type="http://schemas.openxmlformats.org/officeDocument/2006/relationships/custom-properties" Target="docProps/custom.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notesMasterIdLst>
    <p:notesMasterId r:id="rId54"/>
  </p:notesMasterIdLst>
  <p:sldIdLst>
    <p:sldId id="377" r:id="rId2"/>
    <p:sldId id="257" r:id="rId3"/>
    <p:sldId id="535" r:id="rId4"/>
    <p:sldId id="546" r:id="rId5"/>
    <p:sldId id="547" r:id="rId6"/>
    <p:sldId id="536" r:id="rId7"/>
    <p:sldId id="548" r:id="rId8"/>
    <p:sldId id="549" r:id="rId9"/>
    <p:sldId id="537" r:id="rId10"/>
    <p:sldId id="550" r:id="rId11"/>
    <p:sldId id="551" r:id="rId12"/>
    <p:sldId id="552" r:id="rId13"/>
    <p:sldId id="553" r:id="rId14"/>
    <p:sldId id="554" r:id="rId15"/>
    <p:sldId id="555" r:id="rId16"/>
    <p:sldId id="544" r:id="rId17"/>
    <p:sldId id="545" r:id="rId18"/>
    <p:sldId id="556" r:id="rId19"/>
    <p:sldId id="539" r:id="rId20"/>
    <p:sldId id="557" r:id="rId21"/>
    <p:sldId id="540" r:id="rId22"/>
    <p:sldId id="558" r:id="rId23"/>
    <p:sldId id="559" r:id="rId24"/>
    <p:sldId id="561" r:id="rId25"/>
    <p:sldId id="562" r:id="rId26"/>
    <p:sldId id="563" r:id="rId27"/>
    <p:sldId id="564" r:id="rId28"/>
    <p:sldId id="565" r:id="rId29"/>
    <p:sldId id="566" r:id="rId30"/>
    <p:sldId id="560" r:id="rId31"/>
    <p:sldId id="567" r:id="rId32"/>
    <p:sldId id="568" r:id="rId33"/>
    <p:sldId id="541" r:id="rId34"/>
    <p:sldId id="569" r:id="rId35"/>
    <p:sldId id="570" r:id="rId36"/>
    <p:sldId id="572" r:id="rId37"/>
    <p:sldId id="542" r:id="rId38"/>
    <p:sldId id="573" r:id="rId39"/>
    <p:sldId id="574" r:id="rId40"/>
    <p:sldId id="575" r:id="rId41"/>
    <p:sldId id="576" r:id="rId42"/>
    <p:sldId id="543" r:id="rId43"/>
    <p:sldId id="577" r:id="rId44"/>
    <p:sldId id="578" r:id="rId45"/>
    <p:sldId id="582" r:id="rId46"/>
    <p:sldId id="580" r:id="rId47"/>
    <p:sldId id="583" r:id="rId48"/>
    <p:sldId id="800" r:id="rId49"/>
    <p:sldId id="801" r:id="rId50"/>
    <p:sldId id="534" r:id="rId51"/>
    <p:sldId id="267" r:id="rId52"/>
    <p:sldId id="579" r:id="rId53"/>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521415D9-36F7-43E2-AB2F-B90AF26B5E84}">
      <p14:sectionLst xmlns:p14="http://schemas.microsoft.com/office/powerpoint/2010/main">
        <p14:section name="Title" id="{D6D3CB8D-C5FE-4F85-97E1-008DE64A5D47}">
          <p14:sldIdLst>
            <p14:sldId id="377"/>
          </p14:sldIdLst>
        </p14:section>
        <p14:section name="Introduction" id="{2FD0FF71-F5FC-4EB7-B2CB-B31E4CBECD79}">
          <p14:sldIdLst>
            <p14:sldId id="257"/>
          </p14:sldIdLst>
        </p14:section>
        <p14:section name="A reminder on PDEs" id="{C2980155-E4F5-4026-AC5D-6936A271629A}">
          <p14:sldIdLst>
            <p14:sldId id="535"/>
            <p14:sldId id="546"/>
          </p14:sldIdLst>
        </p14:section>
        <p14:section name="On the difficulty of solving PDEs" id="{0242D6A3-167B-4DCE-A100-04ECCBCAEDD8}">
          <p14:sldIdLst>
            <p14:sldId id="547"/>
            <p14:sldId id="536"/>
            <p14:sldId id="548"/>
            <p14:sldId id="549"/>
          </p14:sldIdLst>
        </p14:section>
        <p14:section name="Limits of FEM and the rise of PINNs" id="{16F8E60D-9BFE-47F8-A6AD-C3258A021CAE}">
          <p14:sldIdLst>
            <p14:sldId id="537"/>
            <p14:sldId id="550"/>
            <p14:sldId id="551"/>
            <p14:sldId id="552"/>
            <p14:sldId id="553"/>
            <p14:sldId id="554"/>
            <p14:sldId id="555"/>
          </p14:sldIdLst>
        </p14:section>
        <p14:section name="Our toy example" id="{CBA7AFCD-DDDE-437F-BE7F-30B3A6893F69}">
          <p14:sldIdLst>
            <p14:sldId id="544"/>
            <p14:sldId id="545"/>
            <p14:sldId id="556"/>
          </p14:sldIdLst>
        </p14:section>
        <p14:section name="Writing a PINN model" id="{1284C98A-23FE-4596-B21F-2A3E7BD8B907}">
          <p14:sldIdLst>
            <p14:sldId id="539"/>
            <p14:sldId id="557"/>
          </p14:sldIdLst>
        </p14:section>
        <p14:section name="A custom Physics Loss function" id="{C89D58D1-FC71-4C1A-95D0-0FE8130B96F1}">
          <p14:sldIdLst>
            <p14:sldId id="540"/>
            <p14:sldId id="558"/>
            <p14:sldId id="559"/>
            <p14:sldId id="561"/>
            <p14:sldId id="562"/>
            <p14:sldId id="563"/>
            <p14:sldId id="564"/>
            <p14:sldId id="565"/>
            <p14:sldId id="566"/>
            <p14:sldId id="560"/>
            <p14:sldId id="567"/>
            <p14:sldId id="568"/>
          </p14:sldIdLst>
        </p14:section>
        <p14:section name="Training a PINN" id="{CDAF13D4-D6A8-4DEE-95D0-B5BADD535DDB}">
          <p14:sldIdLst>
            <p14:sldId id="541"/>
            <p14:sldId id="569"/>
            <p14:sldId id="570"/>
            <p14:sldId id="572"/>
          </p14:sldIdLst>
        </p14:section>
        <p14:section name="Feature Engineering in PINNs" id="{2F122CD9-FEBC-4DD2-9321-300C31855888}">
          <p14:sldIdLst>
            <p14:sldId id="542"/>
            <p14:sldId id="573"/>
            <p14:sldId id="574"/>
            <p14:sldId id="575"/>
            <p14:sldId id="576"/>
          </p14:sldIdLst>
        </p14:section>
        <p14:section name="More on PINNs (boundary, higher order derivatives, data matching, etc.)" id="{E7B489EA-749F-4C73-AFB0-5606453A5F12}">
          <p14:sldIdLst>
            <p14:sldId id="543"/>
            <p14:sldId id="577"/>
            <p14:sldId id="578"/>
          </p14:sldIdLst>
        </p14:section>
        <p14:section name="Applications of PINNs" id="{7ABCB3A2-E83E-4EC0-9773-0455637E628E}">
          <p14:sldIdLst>
            <p14:sldId id="582"/>
            <p14:sldId id="580"/>
            <p14:sldId id="583"/>
            <p14:sldId id="800"/>
            <p14:sldId id="801"/>
          </p14:sldIdLst>
        </p14:section>
        <p14:section name="Conclusion" id="{E85D5A98-C1EF-4D8B-BDB9-EBBAF56B0F2C}">
          <p14:sldIdLst>
            <p14:sldId id="534"/>
          </p14:sldIdLst>
        </p14:section>
        <p14:section name="References and watchlist" id="{217B8593-1CA5-408D-B198-A5E6ACAB5948}">
          <p14:sldIdLst>
            <p14:sldId id="267"/>
            <p14:sldId id="579"/>
          </p14:sldIdLst>
        </p14:section>
      </p14:sectionLst>
    </p:ex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476D683F-22A3-4E42-8B7A-196B23FB7835}" v="1" dt="2026-04-13T05:31:26.065"/>
  </p1510:revLst>
</p1510:revInfo>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5620"/>
    <p:restoredTop sz="96292" autoAdjust="0"/>
  </p:normalViewPr>
  <p:slideViewPr>
    <p:cSldViewPr snapToGrid="0">
      <p:cViewPr varScale="1">
        <p:scale>
          <a:sx n="70" d="100"/>
          <a:sy n="70" d="100"/>
        </p:scale>
        <p:origin x="1138" y="278"/>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9" Type="http://schemas.openxmlformats.org/officeDocument/2006/relationships/slide" Target="slides/slide38.xml"/><Relationship Id="rId21" Type="http://schemas.openxmlformats.org/officeDocument/2006/relationships/slide" Target="slides/slide20.xml"/><Relationship Id="rId34" Type="http://schemas.openxmlformats.org/officeDocument/2006/relationships/slide" Target="slides/slide33.xml"/><Relationship Id="rId42" Type="http://schemas.openxmlformats.org/officeDocument/2006/relationships/slide" Target="slides/slide41.xml"/><Relationship Id="rId47" Type="http://schemas.openxmlformats.org/officeDocument/2006/relationships/slide" Target="slides/slide46.xml"/><Relationship Id="rId50" Type="http://schemas.openxmlformats.org/officeDocument/2006/relationships/slide" Target="slides/slide49.xml"/><Relationship Id="rId55" Type="http://schemas.openxmlformats.org/officeDocument/2006/relationships/presProps" Target="presProps.xml"/><Relationship Id="rId7" Type="http://schemas.openxmlformats.org/officeDocument/2006/relationships/slide" Target="slides/slide6.xml"/><Relationship Id="rId2" Type="http://schemas.openxmlformats.org/officeDocument/2006/relationships/slide" Target="slides/slide1.xml"/><Relationship Id="rId16" Type="http://schemas.openxmlformats.org/officeDocument/2006/relationships/slide" Target="slides/slide15.xml"/><Relationship Id="rId29" Type="http://schemas.openxmlformats.org/officeDocument/2006/relationships/slide" Target="slides/slide28.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slide" Target="slides/slide36.xml"/><Relationship Id="rId40" Type="http://schemas.openxmlformats.org/officeDocument/2006/relationships/slide" Target="slides/slide39.xml"/><Relationship Id="rId45" Type="http://schemas.openxmlformats.org/officeDocument/2006/relationships/slide" Target="slides/slide44.xml"/><Relationship Id="rId53" Type="http://schemas.openxmlformats.org/officeDocument/2006/relationships/slide" Target="slides/slide52.xml"/><Relationship Id="rId58" Type="http://schemas.openxmlformats.org/officeDocument/2006/relationships/tableStyles" Target="tableStyles.xml"/><Relationship Id="rId5" Type="http://schemas.openxmlformats.org/officeDocument/2006/relationships/slide" Target="slides/slide4.xml"/><Relationship Id="rId19" Type="http://schemas.openxmlformats.org/officeDocument/2006/relationships/slide" Target="slides/slide18.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slide" Target="slides/slide34.xml"/><Relationship Id="rId43" Type="http://schemas.openxmlformats.org/officeDocument/2006/relationships/slide" Target="slides/slide42.xml"/><Relationship Id="rId48" Type="http://schemas.openxmlformats.org/officeDocument/2006/relationships/slide" Target="slides/slide47.xml"/><Relationship Id="rId56" Type="http://schemas.openxmlformats.org/officeDocument/2006/relationships/viewProps" Target="viewProps.xml"/><Relationship Id="rId8" Type="http://schemas.openxmlformats.org/officeDocument/2006/relationships/slide" Target="slides/slide7.xml"/><Relationship Id="rId51" Type="http://schemas.openxmlformats.org/officeDocument/2006/relationships/slide" Target="slides/slide50.xml"/><Relationship Id="rId3" Type="http://schemas.openxmlformats.org/officeDocument/2006/relationships/slide" Target="slides/slide2.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slide" Target="slides/slide37.xml"/><Relationship Id="rId46" Type="http://schemas.openxmlformats.org/officeDocument/2006/relationships/slide" Target="slides/slide45.xml"/><Relationship Id="rId59" Type="http://schemas.microsoft.com/office/2016/11/relationships/changesInfo" Target="changesInfos/changesInfo1.xml"/><Relationship Id="rId20" Type="http://schemas.openxmlformats.org/officeDocument/2006/relationships/slide" Target="slides/slide19.xml"/><Relationship Id="rId41" Type="http://schemas.openxmlformats.org/officeDocument/2006/relationships/slide" Target="slides/slide40.xml"/><Relationship Id="rId54" Type="http://schemas.openxmlformats.org/officeDocument/2006/relationships/notesMaster" Target="notesMasters/notesMaster1.xml"/><Relationship Id="rId1" Type="http://schemas.openxmlformats.org/officeDocument/2006/relationships/slideMaster" Target="slideMasters/slideMaster1.xml"/><Relationship Id="rId6" Type="http://schemas.openxmlformats.org/officeDocument/2006/relationships/slide" Target="slides/slide5.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slide" Target="slides/slide35.xml"/><Relationship Id="rId49" Type="http://schemas.openxmlformats.org/officeDocument/2006/relationships/slide" Target="slides/slide48.xml"/><Relationship Id="rId57" Type="http://schemas.openxmlformats.org/officeDocument/2006/relationships/theme" Target="theme/theme1.xml"/><Relationship Id="rId10" Type="http://schemas.openxmlformats.org/officeDocument/2006/relationships/slide" Target="slides/slide9.xml"/><Relationship Id="rId31" Type="http://schemas.openxmlformats.org/officeDocument/2006/relationships/slide" Target="slides/slide30.xml"/><Relationship Id="rId44" Type="http://schemas.openxmlformats.org/officeDocument/2006/relationships/slide" Target="slides/slide43.xml"/><Relationship Id="rId52" Type="http://schemas.openxmlformats.org/officeDocument/2006/relationships/slide" Target="slides/slide51.xml"/><Relationship Id="rId60" Type="http://schemas.microsoft.com/office/2015/10/relationships/revisionInfo" Target="revisionInfo.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Matthieu De Mari" userId="dfb708c9-d8dc-439f-9a3b-c772bf4a311c" providerId="ADAL" clId="{81E9B007-0C2C-493E-9B93-55A62C9C1F12}"/>
    <pc:docChg chg="addSld modSld modSection">
      <pc:chgData name="Matthieu De Mari" userId="dfb708c9-d8dc-439f-9a3b-c772bf4a311c" providerId="ADAL" clId="{81E9B007-0C2C-493E-9B93-55A62C9C1F12}" dt="2026-04-13T05:31:52.607" v="5" actId="1440"/>
      <pc:docMkLst>
        <pc:docMk/>
      </pc:docMkLst>
      <pc:sldChg chg="add">
        <pc:chgData name="Matthieu De Mari" userId="dfb708c9-d8dc-439f-9a3b-c772bf4a311c" providerId="ADAL" clId="{81E9B007-0C2C-493E-9B93-55A62C9C1F12}" dt="2026-04-13T05:31:26.065" v="0"/>
        <pc:sldMkLst>
          <pc:docMk/>
          <pc:sldMk cId="3143901571" sldId="800"/>
        </pc:sldMkLst>
      </pc:sldChg>
      <pc:sldChg chg="addSp modSp add mod">
        <pc:chgData name="Matthieu De Mari" userId="dfb708c9-d8dc-439f-9a3b-c772bf4a311c" providerId="ADAL" clId="{81E9B007-0C2C-493E-9B93-55A62C9C1F12}" dt="2026-04-13T05:31:52.607" v="5" actId="1440"/>
        <pc:sldMkLst>
          <pc:docMk/>
          <pc:sldMk cId="708083991" sldId="801"/>
        </pc:sldMkLst>
        <pc:picChg chg="add mod">
          <ac:chgData name="Matthieu De Mari" userId="dfb708c9-d8dc-439f-9a3b-c772bf4a311c" providerId="ADAL" clId="{81E9B007-0C2C-493E-9B93-55A62C9C1F12}" dt="2026-04-13T05:31:52.607" v="5" actId="1440"/>
          <ac:picMkLst>
            <pc:docMk/>
            <pc:sldMk cId="708083991" sldId="801"/>
            <ac:picMk id="3" creationId="{93EA9DCC-C90C-BBF6-CDA7-AE904A4FE348}"/>
          </ac:picMkLst>
        </pc:picChg>
      </pc:sldChg>
    </pc:docChg>
  </pc:docChgLst>
</pc:chgInfo>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GB"/>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61478373-EB31-4867-8CF0-FA31364748A5}" type="datetimeFigureOut">
              <a:rPr lang="en-GB" smtClean="0"/>
              <a:t>13/04/2026</a:t>
            </a:fld>
            <a:endParaRPr lang="en-GB"/>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GB"/>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GB"/>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B14DF365-F842-4E76-AC24-5BC5382A0823}" type="slidenum">
              <a:rPr lang="en-GB" smtClean="0"/>
              <a:t>‹#›</a:t>
            </a:fld>
            <a:endParaRPr lang="en-GB"/>
          </a:p>
        </p:txBody>
      </p:sp>
    </p:spTree>
    <p:extLst>
      <p:ext uri="{BB962C8B-B14F-4D97-AF65-F5344CB8AC3E}">
        <p14:creationId xmlns:p14="http://schemas.microsoft.com/office/powerpoint/2010/main" val="4182812655"/>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93E4AD2-5DFB-40B9-9046-538F457C2D47}"/>
              </a:ext>
            </a:extLst>
          </p:cNvPr>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endParaRPr lang="en-GB"/>
          </a:p>
        </p:txBody>
      </p:sp>
      <p:sp>
        <p:nvSpPr>
          <p:cNvPr id="3" name="Subtitle 2">
            <a:extLst>
              <a:ext uri="{FF2B5EF4-FFF2-40B4-BE49-F238E27FC236}">
                <a16:creationId xmlns:a16="http://schemas.microsoft.com/office/drawing/2014/main" id="{9189AB4D-C9BD-4804-BAD4-30ABC21BBF41}"/>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endParaRPr lang="en-GB"/>
          </a:p>
        </p:txBody>
      </p:sp>
      <p:sp>
        <p:nvSpPr>
          <p:cNvPr id="4" name="Date Placeholder 3">
            <a:extLst>
              <a:ext uri="{FF2B5EF4-FFF2-40B4-BE49-F238E27FC236}">
                <a16:creationId xmlns:a16="http://schemas.microsoft.com/office/drawing/2014/main" id="{DFC16BA0-299B-403D-BF6F-22CAD5861D93}"/>
              </a:ext>
            </a:extLst>
          </p:cNvPr>
          <p:cNvSpPr>
            <a:spLocks noGrp="1"/>
          </p:cNvSpPr>
          <p:nvPr>
            <p:ph type="dt" sz="half" idx="10"/>
          </p:nvPr>
        </p:nvSpPr>
        <p:spPr/>
        <p:txBody>
          <a:bodyPr/>
          <a:lstStyle/>
          <a:p>
            <a:fld id="{E85DF616-B21E-4EF6-A6A5-95E2FB3EB1A1}" type="datetimeFigureOut">
              <a:rPr lang="en-GB" smtClean="0"/>
              <a:t>13/04/2026</a:t>
            </a:fld>
            <a:endParaRPr lang="en-GB"/>
          </a:p>
        </p:txBody>
      </p:sp>
      <p:sp>
        <p:nvSpPr>
          <p:cNvPr id="5" name="Footer Placeholder 4">
            <a:extLst>
              <a:ext uri="{FF2B5EF4-FFF2-40B4-BE49-F238E27FC236}">
                <a16:creationId xmlns:a16="http://schemas.microsoft.com/office/drawing/2014/main" id="{5492CE3F-0F08-4DF3-A557-685AC26F7187}"/>
              </a:ext>
            </a:extLst>
          </p:cNvPr>
          <p:cNvSpPr>
            <a:spLocks noGrp="1"/>
          </p:cNvSpPr>
          <p:nvPr>
            <p:ph type="ftr" sz="quarter" idx="11"/>
          </p:nvPr>
        </p:nvSpPr>
        <p:spPr/>
        <p:txBody>
          <a:bodyPr/>
          <a:lstStyle/>
          <a:p>
            <a:endParaRPr lang="en-GB"/>
          </a:p>
        </p:txBody>
      </p:sp>
      <p:sp>
        <p:nvSpPr>
          <p:cNvPr id="6" name="Slide Number Placeholder 5">
            <a:extLst>
              <a:ext uri="{FF2B5EF4-FFF2-40B4-BE49-F238E27FC236}">
                <a16:creationId xmlns:a16="http://schemas.microsoft.com/office/drawing/2014/main" id="{8FDB7FD2-E7A4-40C9-9DA4-170335047761}"/>
              </a:ext>
            </a:extLst>
          </p:cNvPr>
          <p:cNvSpPr>
            <a:spLocks noGrp="1"/>
          </p:cNvSpPr>
          <p:nvPr>
            <p:ph type="sldNum" sz="quarter" idx="12"/>
          </p:nvPr>
        </p:nvSpPr>
        <p:spPr/>
        <p:txBody>
          <a:bodyPr/>
          <a:lstStyle/>
          <a:p>
            <a:fld id="{D05DED30-C8B5-4AF9-8D67-600C77DA493C}" type="slidenum">
              <a:rPr lang="en-GB" smtClean="0"/>
              <a:t>‹#›</a:t>
            </a:fld>
            <a:endParaRPr lang="en-GB"/>
          </a:p>
        </p:txBody>
      </p:sp>
    </p:spTree>
    <p:extLst>
      <p:ext uri="{BB962C8B-B14F-4D97-AF65-F5344CB8AC3E}">
        <p14:creationId xmlns:p14="http://schemas.microsoft.com/office/powerpoint/2010/main" val="976607118"/>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EC9B31A-FA50-4DA2-9315-474283DEB0F0}"/>
              </a:ext>
            </a:extLst>
          </p:cNvPr>
          <p:cNvSpPr>
            <a:spLocks noGrp="1"/>
          </p:cNvSpPr>
          <p:nvPr>
            <p:ph type="title"/>
          </p:nvPr>
        </p:nvSpPr>
        <p:spPr/>
        <p:txBody>
          <a:bodyPr/>
          <a:lstStyle/>
          <a:p>
            <a:r>
              <a:rPr lang="en-US"/>
              <a:t>Click to edit Master title style</a:t>
            </a:r>
            <a:endParaRPr lang="en-GB"/>
          </a:p>
        </p:txBody>
      </p:sp>
      <p:sp>
        <p:nvSpPr>
          <p:cNvPr id="3" name="Content Placeholder 2">
            <a:extLst>
              <a:ext uri="{FF2B5EF4-FFF2-40B4-BE49-F238E27FC236}">
                <a16:creationId xmlns:a16="http://schemas.microsoft.com/office/drawing/2014/main" id="{B9F3FCD2-8B77-4AF4-8080-624AD9E7F85B}"/>
              </a:ext>
            </a:extLst>
          </p:cNvPr>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4" name="Date Placeholder 3">
            <a:extLst>
              <a:ext uri="{FF2B5EF4-FFF2-40B4-BE49-F238E27FC236}">
                <a16:creationId xmlns:a16="http://schemas.microsoft.com/office/drawing/2014/main" id="{7311587F-CECC-48E1-9033-F49992081389}"/>
              </a:ext>
            </a:extLst>
          </p:cNvPr>
          <p:cNvSpPr>
            <a:spLocks noGrp="1"/>
          </p:cNvSpPr>
          <p:nvPr>
            <p:ph type="dt" sz="half" idx="10"/>
          </p:nvPr>
        </p:nvSpPr>
        <p:spPr/>
        <p:txBody>
          <a:bodyPr/>
          <a:lstStyle/>
          <a:p>
            <a:fld id="{E85DF616-B21E-4EF6-A6A5-95E2FB3EB1A1}" type="datetimeFigureOut">
              <a:rPr lang="en-GB" smtClean="0"/>
              <a:t>13/04/2026</a:t>
            </a:fld>
            <a:endParaRPr lang="en-GB"/>
          </a:p>
        </p:txBody>
      </p:sp>
      <p:sp>
        <p:nvSpPr>
          <p:cNvPr id="5" name="Footer Placeholder 4">
            <a:extLst>
              <a:ext uri="{FF2B5EF4-FFF2-40B4-BE49-F238E27FC236}">
                <a16:creationId xmlns:a16="http://schemas.microsoft.com/office/drawing/2014/main" id="{5ADBEDBB-8F3E-4349-BF02-8BA4BFA4A1BE}"/>
              </a:ext>
            </a:extLst>
          </p:cNvPr>
          <p:cNvSpPr>
            <a:spLocks noGrp="1"/>
          </p:cNvSpPr>
          <p:nvPr>
            <p:ph type="ftr" sz="quarter" idx="11"/>
          </p:nvPr>
        </p:nvSpPr>
        <p:spPr/>
        <p:txBody>
          <a:bodyPr/>
          <a:lstStyle/>
          <a:p>
            <a:endParaRPr lang="en-GB"/>
          </a:p>
        </p:txBody>
      </p:sp>
      <p:sp>
        <p:nvSpPr>
          <p:cNvPr id="6" name="Slide Number Placeholder 5">
            <a:extLst>
              <a:ext uri="{FF2B5EF4-FFF2-40B4-BE49-F238E27FC236}">
                <a16:creationId xmlns:a16="http://schemas.microsoft.com/office/drawing/2014/main" id="{E2049832-CE42-4D03-89CE-BF86C2288335}"/>
              </a:ext>
            </a:extLst>
          </p:cNvPr>
          <p:cNvSpPr>
            <a:spLocks noGrp="1"/>
          </p:cNvSpPr>
          <p:nvPr>
            <p:ph type="sldNum" sz="quarter" idx="12"/>
          </p:nvPr>
        </p:nvSpPr>
        <p:spPr/>
        <p:txBody>
          <a:bodyPr/>
          <a:lstStyle/>
          <a:p>
            <a:fld id="{D05DED30-C8B5-4AF9-8D67-600C77DA493C}" type="slidenum">
              <a:rPr lang="en-GB" smtClean="0"/>
              <a:t>‹#›</a:t>
            </a:fld>
            <a:endParaRPr lang="en-GB"/>
          </a:p>
        </p:txBody>
      </p:sp>
    </p:spTree>
    <p:extLst>
      <p:ext uri="{BB962C8B-B14F-4D97-AF65-F5344CB8AC3E}">
        <p14:creationId xmlns:p14="http://schemas.microsoft.com/office/powerpoint/2010/main" val="817041032"/>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6B741B7-69A0-4F98-A4F1-934086E8E6D3}"/>
              </a:ext>
            </a:extLst>
          </p:cNvPr>
          <p:cNvSpPr>
            <a:spLocks noGrp="1"/>
          </p:cNvSpPr>
          <p:nvPr>
            <p:ph type="title"/>
          </p:nvPr>
        </p:nvSpPr>
        <p:spPr>
          <a:xfrm>
            <a:off x="831850" y="1709738"/>
            <a:ext cx="10515600" cy="2852737"/>
          </a:xfrm>
        </p:spPr>
        <p:txBody>
          <a:bodyPr anchor="b"/>
          <a:lstStyle>
            <a:lvl1pPr>
              <a:defRPr sz="6000"/>
            </a:lvl1pPr>
          </a:lstStyle>
          <a:p>
            <a:r>
              <a:rPr lang="en-US"/>
              <a:t>Click to edit Master title style</a:t>
            </a:r>
            <a:endParaRPr lang="en-GB"/>
          </a:p>
        </p:txBody>
      </p:sp>
      <p:sp>
        <p:nvSpPr>
          <p:cNvPr id="3" name="Text Placeholder 2">
            <a:extLst>
              <a:ext uri="{FF2B5EF4-FFF2-40B4-BE49-F238E27FC236}">
                <a16:creationId xmlns:a16="http://schemas.microsoft.com/office/drawing/2014/main" id="{76C4F2BF-824A-433E-A1B8-AA04DCB3EA98}"/>
              </a:ext>
            </a:extLst>
          </p:cNvPr>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Click to edit Master text styles</a:t>
            </a:r>
          </a:p>
        </p:txBody>
      </p:sp>
      <p:sp>
        <p:nvSpPr>
          <p:cNvPr id="4" name="Date Placeholder 3">
            <a:extLst>
              <a:ext uri="{FF2B5EF4-FFF2-40B4-BE49-F238E27FC236}">
                <a16:creationId xmlns:a16="http://schemas.microsoft.com/office/drawing/2014/main" id="{E0003A02-257B-42F0-BF28-1777F5C487A2}"/>
              </a:ext>
            </a:extLst>
          </p:cNvPr>
          <p:cNvSpPr>
            <a:spLocks noGrp="1"/>
          </p:cNvSpPr>
          <p:nvPr>
            <p:ph type="dt" sz="half" idx="10"/>
          </p:nvPr>
        </p:nvSpPr>
        <p:spPr/>
        <p:txBody>
          <a:bodyPr/>
          <a:lstStyle/>
          <a:p>
            <a:fld id="{E85DF616-B21E-4EF6-A6A5-95E2FB3EB1A1}" type="datetimeFigureOut">
              <a:rPr lang="en-GB" smtClean="0"/>
              <a:t>13/04/2026</a:t>
            </a:fld>
            <a:endParaRPr lang="en-GB"/>
          </a:p>
        </p:txBody>
      </p:sp>
      <p:sp>
        <p:nvSpPr>
          <p:cNvPr id="5" name="Footer Placeholder 4">
            <a:extLst>
              <a:ext uri="{FF2B5EF4-FFF2-40B4-BE49-F238E27FC236}">
                <a16:creationId xmlns:a16="http://schemas.microsoft.com/office/drawing/2014/main" id="{191A73EA-09DC-41D8-B62F-461F73837CD0}"/>
              </a:ext>
            </a:extLst>
          </p:cNvPr>
          <p:cNvSpPr>
            <a:spLocks noGrp="1"/>
          </p:cNvSpPr>
          <p:nvPr>
            <p:ph type="ftr" sz="quarter" idx="11"/>
          </p:nvPr>
        </p:nvSpPr>
        <p:spPr/>
        <p:txBody>
          <a:bodyPr/>
          <a:lstStyle/>
          <a:p>
            <a:endParaRPr lang="en-GB"/>
          </a:p>
        </p:txBody>
      </p:sp>
      <p:sp>
        <p:nvSpPr>
          <p:cNvPr id="6" name="Slide Number Placeholder 5">
            <a:extLst>
              <a:ext uri="{FF2B5EF4-FFF2-40B4-BE49-F238E27FC236}">
                <a16:creationId xmlns:a16="http://schemas.microsoft.com/office/drawing/2014/main" id="{6150A76A-6E9C-414F-B980-FF95D8BC4032}"/>
              </a:ext>
            </a:extLst>
          </p:cNvPr>
          <p:cNvSpPr>
            <a:spLocks noGrp="1"/>
          </p:cNvSpPr>
          <p:nvPr>
            <p:ph type="sldNum" sz="quarter" idx="12"/>
          </p:nvPr>
        </p:nvSpPr>
        <p:spPr/>
        <p:txBody>
          <a:bodyPr/>
          <a:lstStyle/>
          <a:p>
            <a:fld id="{D05DED30-C8B5-4AF9-8D67-600C77DA493C}" type="slidenum">
              <a:rPr lang="en-GB" smtClean="0"/>
              <a:t>‹#›</a:t>
            </a:fld>
            <a:endParaRPr lang="en-GB"/>
          </a:p>
        </p:txBody>
      </p:sp>
    </p:spTree>
    <p:extLst>
      <p:ext uri="{BB962C8B-B14F-4D97-AF65-F5344CB8AC3E}">
        <p14:creationId xmlns:p14="http://schemas.microsoft.com/office/powerpoint/2010/main" val="4081840810"/>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77D12A8-E7BA-4E8E-9357-A40BF427BFE1}"/>
              </a:ext>
            </a:extLst>
          </p:cNvPr>
          <p:cNvSpPr>
            <a:spLocks noGrp="1"/>
          </p:cNvSpPr>
          <p:nvPr>
            <p:ph type="title"/>
          </p:nvPr>
        </p:nvSpPr>
        <p:spPr/>
        <p:txBody>
          <a:bodyPr/>
          <a:lstStyle/>
          <a:p>
            <a:r>
              <a:rPr lang="en-US"/>
              <a:t>Click to edit Master title style</a:t>
            </a:r>
            <a:endParaRPr lang="en-GB"/>
          </a:p>
        </p:txBody>
      </p:sp>
      <p:sp>
        <p:nvSpPr>
          <p:cNvPr id="3" name="Content Placeholder 2">
            <a:extLst>
              <a:ext uri="{FF2B5EF4-FFF2-40B4-BE49-F238E27FC236}">
                <a16:creationId xmlns:a16="http://schemas.microsoft.com/office/drawing/2014/main" id="{23FB368D-1AC8-401B-8D15-AB5F2DF52BEE}"/>
              </a:ext>
            </a:extLst>
          </p:cNvPr>
          <p:cNvSpPr>
            <a:spLocks noGrp="1"/>
          </p:cNvSpPr>
          <p:nvPr>
            <p:ph sz="half" idx="1"/>
          </p:nvPr>
        </p:nvSpPr>
        <p:spPr>
          <a:xfrm>
            <a:off x="838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4" name="Content Placeholder 3">
            <a:extLst>
              <a:ext uri="{FF2B5EF4-FFF2-40B4-BE49-F238E27FC236}">
                <a16:creationId xmlns:a16="http://schemas.microsoft.com/office/drawing/2014/main" id="{22B54FE0-C058-43CC-8FAE-A8FF7FC43F8C}"/>
              </a:ext>
            </a:extLst>
          </p:cNvPr>
          <p:cNvSpPr>
            <a:spLocks noGrp="1"/>
          </p:cNvSpPr>
          <p:nvPr>
            <p:ph sz="half" idx="2"/>
          </p:nvPr>
        </p:nvSpPr>
        <p:spPr>
          <a:xfrm>
            <a:off x="6172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5" name="Date Placeholder 4">
            <a:extLst>
              <a:ext uri="{FF2B5EF4-FFF2-40B4-BE49-F238E27FC236}">
                <a16:creationId xmlns:a16="http://schemas.microsoft.com/office/drawing/2014/main" id="{6A6EDAEE-3329-419E-908B-25F1A6C11B64}"/>
              </a:ext>
            </a:extLst>
          </p:cNvPr>
          <p:cNvSpPr>
            <a:spLocks noGrp="1"/>
          </p:cNvSpPr>
          <p:nvPr>
            <p:ph type="dt" sz="half" idx="10"/>
          </p:nvPr>
        </p:nvSpPr>
        <p:spPr/>
        <p:txBody>
          <a:bodyPr/>
          <a:lstStyle/>
          <a:p>
            <a:fld id="{E85DF616-B21E-4EF6-A6A5-95E2FB3EB1A1}" type="datetimeFigureOut">
              <a:rPr lang="en-GB" smtClean="0"/>
              <a:t>13/04/2026</a:t>
            </a:fld>
            <a:endParaRPr lang="en-GB"/>
          </a:p>
        </p:txBody>
      </p:sp>
      <p:sp>
        <p:nvSpPr>
          <p:cNvPr id="6" name="Footer Placeholder 5">
            <a:extLst>
              <a:ext uri="{FF2B5EF4-FFF2-40B4-BE49-F238E27FC236}">
                <a16:creationId xmlns:a16="http://schemas.microsoft.com/office/drawing/2014/main" id="{DFBF37E1-EFD9-4926-903C-A8F3F36F6D66}"/>
              </a:ext>
            </a:extLst>
          </p:cNvPr>
          <p:cNvSpPr>
            <a:spLocks noGrp="1"/>
          </p:cNvSpPr>
          <p:nvPr>
            <p:ph type="ftr" sz="quarter" idx="11"/>
          </p:nvPr>
        </p:nvSpPr>
        <p:spPr/>
        <p:txBody>
          <a:bodyPr/>
          <a:lstStyle/>
          <a:p>
            <a:endParaRPr lang="en-GB"/>
          </a:p>
        </p:txBody>
      </p:sp>
      <p:sp>
        <p:nvSpPr>
          <p:cNvPr id="7" name="Slide Number Placeholder 6">
            <a:extLst>
              <a:ext uri="{FF2B5EF4-FFF2-40B4-BE49-F238E27FC236}">
                <a16:creationId xmlns:a16="http://schemas.microsoft.com/office/drawing/2014/main" id="{831BFE49-D09A-40E3-8D45-D54CF1403B5D}"/>
              </a:ext>
            </a:extLst>
          </p:cNvPr>
          <p:cNvSpPr>
            <a:spLocks noGrp="1"/>
          </p:cNvSpPr>
          <p:nvPr>
            <p:ph type="sldNum" sz="quarter" idx="12"/>
          </p:nvPr>
        </p:nvSpPr>
        <p:spPr/>
        <p:txBody>
          <a:bodyPr/>
          <a:lstStyle/>
          <a:p>
            <a:fld id="{D05DED30-C8B5-4AF9-8D67-600C77DA493C}" type="slidenum">
              <a:rPr lang="en-GB" smtClean="0"/>
              <a:t>‹#›</a:t>
            </a:fld>
            <a:endParaRPr lang="en-GB"/>
          </a:p>
        </p:txBody>
      </p:sp>
    </p:spTree>
    <p:extLst>
      <p:ext uri="{BB962C8B-B14F-4D97-AF65-F5344CB8AC3E}">
        <p14:creationId xmlns:p14="http://schemas.microsoft.com/office/powerpoint/2010/main" val="921781480"/>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6A06ACB-47EB-4233-8485-0DBCD4792BCA}"/>
              </a:ext>
            </a:extLst>
          </p:cNvPr>
          <p:cNvSpPr>
            <a:spLocks noGrp="1"/>
          </p:cNvSpPr>
          <p:nvPr>
            <p:ph type="title"/>
          </p:nvPr>
        </p:nvSpPr>
        <p:spPr>
          <a:xfrm>
            <a:off x="839788" y="365125"/>
            <a:ext cx="10515600" cy="1325563"/>
          </a:xfrm>
        </p:spPr>
        <p:txBody>
          <a:bodyPr/>
          <a:lstStyle/>
          <a:p>
            <a:r>
              <a:rPr lang="en-US"/>
              <a:t>Click to edit Master title style</a:t>
            </a:r>
            <a:endParaRPr lang="en-GB"/>
          </a:p>
        </p:txBody>
      </p:sp>
      <p:sp>
        <p:nvSpPr>
          <p:cNvPr id="3" name="Text Placeholder 2">
            <a:extLst>
              <a:ext uri="{FF2B5EF4-FFF2-40B4-BE49-F238E27FC236}">
                <a16:creationId xmlns:a16="http://schemas.microsoft.com/office/drawing/2014/main" id="{4A51BCCC-D7D1-44A6-85A4-5F35671D8034}"/>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a:extLst>
              <a:ext uri="{FF2B5EF4-FFF2-40B4-BE49-F238E27FC236}">
                <a16:creationId xmlns:a16="http://schemas.microsoft.com/office/drawing/2014/main" id="{FF24D018-9C08-4325-8DE0-27765125B3DC}"/>
              </a:ext>
            </a:extLst>
          </p:cNvPr>
          <p:cNvSpPr>
            <a:spLocks noGrp="1"/>
          </p:cNvSpPr>
          <p:nvPr>
            <p:ph sz="half" idx="2"/>
          </p:nvPr>
        </p:nvSpPr>
        <p:spPr>
          <a:xfrm>
            <a:off x="839788" y="2505075"/>
            <a:ext cx="5157787"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5" name="Text Placeholder 4">
            <a:extLst>
              <a:ext uri="{FF2B5EF4-FFF2-40B4-BE49-F238E27FC236}">
                <a16:creationId xmlns:a16="http://schemas.microsoft.com/office/drawing/2014/main" id="{1B054B92-6EF5-4DC3-8819-3BB914D088E1}"/>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a:extLst>
              <a:ext uri="{FF2B5EF4-FFF2-40B4-BE49-F238E27FC236}">
                <a16:creationId xmlns:a16="http://schemas.microsoft.com/office/drawing/2014/main" id="{029DEE04-4503-4C98-A54E-5B4414DE449C}"/>
              </a:ext>
            </a:extLst>
          </p:cNvPr>
          <p:cNvSpPr>
            <a:spLocks noGrp="1"/>
          </p:cNvSpPr>
          <p:nvPr>
            <p:ph sz="quarter" idx="4"/>
          </p:nvPr>
        </p:nvSpPr>
        <p:spPr>
          <a:xfrm>
            <a:off x="6172200" y="2505075"/>
            <a:ext cx="5183188"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7" name="Date Placeholder 6">
            <a:extLst>
              <a:ext uri="{FF2B5EF4-FFF2-40B4-BE49-F238E27FC236}">
                <a16:creationId xmlns:a16="http://schemas.microsoft.com/office/drawing/2014/main" id="{8E682F25-2B9E-401E-842E-29906523234B}"/>
              </a:ext>
            </a:extLst>
          </p:cNvPr>
          <p:cNvSpPr>
            <a:spLocks noGrp="1"/>
          </p:cNvSpPr>
          <p:nvPr>
            <p:ph type="dt" sz="half" idx="10"/>
          </p:nvPr>
        </p:nvSpPr>
        <p:spPr/>
        <p:txBody>
          <a:bodyPr/>
          <a:lstStyle/>
          <a:p>
            <a:fld id="{E85DF616-B21E-4EF6-A6A5-95E2FB3EB1A1}" type="datetimeFigureOut">
              <a:rPr lang="en-GB" smtClean="0"/>
              <a:t>13/04/2026</a:t>
            </a:fld>
            <a:endParaRPr lang="en-GB"/>
          </a:p>
        </p:txBody>
      </p:sp>
      <p:sp>
        <p:nvSpPr>
          <p:cNvPr id="8" name="Footer Placeholder 7">
            <a:extLst>
              <a:ext uri="{FF2B5EF4-FFF2-40B4-BE49-F238E27FC236}">
                <a16:creationId xmlns:a16="http://schemas.microsoft.com/office/drawing/2014/main" id="{E7C4412F-03BB-4180-96FC-5FFE79C5FE4C}"/>
              </a:ext>
            </a:extLst>
          </p:cNvPr>
          <p:cNvSpPr>
            <a:spLocks noGrp="1"/>
          </p:cNvSpPr>
          <p:nvPr>
            <p:ph type="ftr" sz="quarter" idx="11"/>
          </p:nvPr>
        </p:nvSpPr>
        <p:spPr/>
        <p:txBody>
          <a:bodyPr/>
          <a:lstStyle/>
          <a:p>
            <a:endParaRPr lang="en-GB"/>
          </a:p>
        </p:txBody>
      </p:sp>
      <p:sp>
        <p:nvSpPr>
          <p:cNvPr id="9" name="Slide Number Placeholder 8">
            <a:extLst>
              <a:ext uri="{FF2B5EF4-FFF2-40B4-BE49-F238E27FC236}">
                <a16:creationId xmlns:a16="http://schemas.microsoft.com/office/drawing/2014/main" id="{F3D4B694-771E-4D77-A094-AE6844AC4BE9}"/>
              </a:ext>
            </a:extLst>
          </p:cNvPr>
          <p:cNvSpPr>
            <a:spLocks noGrp="1"/>
          </p:cNvSpPr>
          <p:nvPr>
            <p:ph type="sldNum" sz="quarter" idx="12"/>
          </p:nvPr>
        </p:nvSpPr>
        <p:spPr/>
        <p:txBody>
          <a:bodyPr/>
          <a:lstStyle/>
          <a:p>
            <a:fld id="{D05DED30-C8B5-4AF9-8D67-600C77DA493C}" type="slidenum">
              <a:rPr lang="en-GB" smtClean="0"/>
              <a:t>‹#›</a:t>
            </a:fld>
            <a:endParaRPr lang="en-GB"/>
          </a:p>
        </p:txBody>
      </p:sp>
    </p:spTree>
    <p:extLst>
      <p:ext uri="{BB962C8B-B14F-4D97-AF65-F5344CB8AC3E}">
        <p14:creationId xmlns:p14="http://schemas.microsoft.com/office/powerpoint/2010/main" val="2357763379"/>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084B0B5-CEFD-42FE-80F6-946D187926B0}"/>
              </a:ext>
            </a:extLst>
          </p:cNvPr>
          <p:cNvSpPr>
            <a:spLocks noGrp="1"/>
          </p:cNvSpPr>
          <p:nvPr>
            <p:ph type="title"/>
          </p:nvPr>
        </p:nvSpPr>
        <p:spPr/>
        <p:txBody>
          <a:bodyPr/>
          <a:lstStyle/>
          <a:p>
            <a:r>
              <a:rPr lang="en-US"/>
              <a:t>Click to edit Master title style</a:t>
            </a:r>
            <a:endParaRPr lang="en-GB"/>
          </a:p>
        </p:txBody>
      </p:sp>
      <p:sp>
        <p:nvSpPr>
          <p:cNvPr id="3" name="Date Placeholder 2">
            <a:extLst>
              <a:ext uri="{FF2B5EF4-FFF2-40B4-BE49-F238E27FC236}">
                <a16:creationId xmlns:a16="http://schemas.microsoft.com/office/drawing/2014/main" id="{62338384-0D5D-4181-9005-8843908CF6AD}"/>
              </a:ext>
            </a:extLst>
          </p:cNvPr>
          <p:cNvSpPr>
            <a:spLocks noGrp="1"/>
          </p:cNvSpPr>
          <p:nvPr>
            <p:ph type="dt" sz="half" idx="10"/>
          </p:nvPr>
        </p:nvSpPr>
        <p:spPr/>
        <p:txBody>
          <a:bodyPr/>
          <a:lstStyle/>
          <a:p>
            <a:fld id="{E85DF616-B21E-4EF6-A6A5-95E2FB3EB1A1}" type="datetimeFigureOut">
              <a:rPr lang="en-GB" smtClean="0"/>
              <a:t>13/04/2026</a:t>
            </a:fld>
            <a:endParaRPr lang="en-GB"/>
          </a:p>
        </p:txBody>
      </p:sp>
      <p:sp>
        <p:nvSpPr>
          <p:cNvPr id="4" name="Footer Placeholder 3">
            <a:extLst>
              <a:ext uri="{FF2B5EF4-FFF2-40B4-BE49-F238E27FC236}">
                <a16:creationId xmlns:a16="http://schemas.microsoft.com/office/drawing/2014/main" id="{C9F3C4F2-521E-43BA-978F-A744CDEB1018}"/>
              </a:ext>
            </a:extLst>
          </p:cNvPr>
          <p:cNvSpPr>
            <a:spLocks noGrp="1"/>
          </p:cNvSpPr>
          <p:nvPr>
            <p:ph type="ftr" sz="quarter" idx="11"/>
          </p:nvPr>
        </p:nvSpPr>
        <p:spPr/>
        <p:txBody>
          <a:bodyPr/>
          <a:lstStyle/>
          <a:p>
            <a:endParaRPr lang="en-GB"/>
          </a:p>
        </p:txBody>
      </p:sp>
      <p:sp>
        <p:nvSpPr>
          <p:cNvPr id="5" name="Slide Number Placeholder 4">
            <a:extLst>
              <a:ext uri="{FF2B5EF4-FFF2-40B4-BE49-F238E27FC236}">
                <a16:creationId xmlns:a16="http://schemas.microsoft.com/office/drawing/2014/main" id="{E6E24618-CDB0-4673-AF57-77A81FE6F53F}"/>
              </a:ext>
            </a:extLst>
          </p:cNvPr>
          <p:cNvSpPr>
            <a:spLocks noGrp="1"/>
          </p:cNvSpPr>
          <p:nvPr>
            <p:ph type="sldNum" sz="quarter" idx="12"/>
          </p:nvPr>
        </p:nvSpPr>
        <p:spPr/>
        <p:txBody>
          <a:bodyPr/>
          <a:lstStyle/>
          <a:p>
            <a:fld id="{D05DED30-C8B5-4AF9-8D67-600C77DA493C}" type="slidenum">
              <a:rPr lang="en-GB" smtClean="0"/>
              <a:t>‹#›</a:t>
            </a:fld>
            <a:endParaRPr lang="en-GB"/>
          </a:p>
        </p:txBody>
      </p:sp>
    </p:spTree>
    <p:extLst>
      <p:ext uri="{BB962C8B-B14F-4D97-AF65-F5344CB8AC3E}">
        <p14:creationId xmlns:p14="http://schemas.microsoft.com/office/powerpoint/2010/main" val="3699381848"/>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879B6684-ECAC-47C6-9E72-EC9A0F42056A}"/>
              </a:ext>
            </a:extLst>
          </p:cNvPr>
          <p:cNvSpPr>
            <a:spLocks noGrp="1"/>
          </p:cNvSpPr>
          <p:nvPr>
            <p:ph type="dt" sz="half" idx="10"/>
          </p:nvPr>
        </p:nvSpPr>
        <p:spPr/>
        <p:txBody>
          <a:bodyPr/>
          <a:lstStyle/>
          <a:p>
            <a:fld id="{E85DF616-B21E-4EF6-A6A5-95E2FB3EB1A1}" type="datetimeFigureOut">
              <a:rPr lang="en-GB" smtClean="0"/>
              <a:t>13/04/2026</a:t>
            </a:fld>
            <a:endParaRPr lang="en-GB"/>
          </a:p>
        </p:txBody>
      </p:sp>
      <p:sp>
        <p:nvSpPr>
          <p:cNvPr id="3" name="Footer Placeholder 2">
            <a:extLst>
              <a:ext uri="{FF2B5EF4-FFF2-40B4-BE49-F238E27FC236}">
                <a16:creationId xmlns:a16="http://schemas.microsoft.com/office/drawing/2014/main" id="{69837DBC-C277-472E-BF47-6769C2B2042D}"/>
              </a:ext>
            </a:extLst>
          </p:cNvPr>
          <p:cNvSpPr>
            <a:spLocks noGrp="1"/>
          </p:cNvSpPr>
          <p:nvPr>
            <p:ph type="ftr" sz="quarter" idx="11"/>
          </p:nvPr>
        </p:nvSpPr>
        <p:spPr/>
        <p:txBody>
          <a:bodyPr/>
          <a:lstStyle/>
          <a:p>
            <a:endParaRPr lang="en-GB"/>
          </a:p>
        </p:txBody>
      </p:sp>
      <p:sp>
        <p:nvSpPr>
          <p:cNvPr id="4" name="Slide Number Placeholder 3">
            <a:extLst>
              <a:ext uri="{FF2B5EF4-FFF2-40B4-BE49-F238E27FC236}">
                <a16:creationId xmlns:a16="http://schemas.microsoft.com/office/drawing/2014/main" id="{BD39D80B-7718-49DE-9803-FDF6ECAD197C}"/>
              </a:ext>
            </a:extLst>
          </p:cNvPr>
          <p:cNvSpPr>
            <a:spLocks noGrp="1"/>
          </p:cNvSpPr>
          <p:nvPr>
            <p:ph type="sldNum" sz="quarter" idx="12"/>
          </p:nvPr>
        </p:nvSpPr>
        <p:spPr/>
        <p:txBody>
          <a:bodyPr/>
          <a:lstStyle/>
          <a:p>
            <a:fld id="{D05DED30-C8B5-4AF9-8D67-600C77DA493C}" type="slidenum">
              <a:rPr lang="en-GB" smtClean="0"/>
              <a:t>‹#›</a:t>
            </a:fld>
            <a:endParaRPr lang="en-GB"/>
          </a:p>
        </p:txBody>
      </p:sp>
    </p:spTree>
    <p:extLst>
      <p:ext uri="{BB962C8B-B14F-4D97-AF65-F5344CB8AC3E}">
        <p14:creationId xmlns:p14="http://schemas.microsoft.com/office/powerpoint/2010/main" val="414118447"/>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2FDE5B7-A7F2-453D-9210-C132F79425A1}"/>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endParaRPr lang="en-GB"/>
          </a:p>
        </p:txBody>
      </p:sp>
      <p:sp>
        <p:nvSpPr>
          <p:cNvPr id="3" name="Content Placeholder 2">
            <a:extLst>
              <a:ext uri="{FF2B5EF4-FFF2-40B4-BE49-F238E27FC236}">
                <a16:creationId xmlns:a16="http://schemas.microsoft.com/office/drawing/2014/main" id="{0F581A54-3B44-49FD-9DFE-5C031AC3B0E9}"/>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4" name="Text Placeholder 3">
            <a:extLst>
              <a:ext uri="{FF2B5EF4-FFF2-40B4-BE49-F238E27FC236}">
                <a16:creationId xmlns:a16="http://schemas.microsoft.com/office/drawing/2014/main" id="{38CEDAA9-F86E-42B0-BCB5-FFBD8F9BD231}"/>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EE8E5CCE-232A-418F-BF54-FECCCBE5BBE8}"/>
              </a:ext>
            </a:extLst>
          </p:cNvPr>
          <p:cNvSpPr>
            <a:spLocks noGrp="1"/>
          </p:cNvSpPr>
          <p:nvPr>
            <p:ph type="dt" sz="half" idx="10"/>
          </p:nvPr>
        </p:nvSpPr>
        <p:spPr/>
        <p:txBody>
          <a:bodyPr/>
          <a:lstStyle/>
          <a:p>
            <a:fld id="{E85DF616-B21E-4EF6-A6A5-95E2FB3EB1A1}" type="datetimeFigureOut">
              <a:rPr lang="en-GB" smtClean="0"/>
              <a:t>13/04/2026</a:t>
            </a:fld>
            <a:endParaRPr lang="en-GB"/>
          </a:p>
        </p:txBody>
      </p:sp>
      <p:sp>
        <p:nvSpPr>
          <p:cNvPr id="6" name="Footer Placeholder 5">
            <a:extLst>
              <a:ext uri="{FF2B5EF4-FFF2-40B4-BE49-F238E27FC236}">
                <a16:creationId xmlns:a16="http://schemas.microsoft.com/office/drawing/2014/main" id="{F510C79A-014C-4B02-9279-7EE20A512885}"/>
              </a:ext>
            </a:extLst>
          </p:cNvPr>
          <p:cNvSpPr>
            <a:spLocks noGrp="1"/>
          </p:cNvSpPr>
          <p:nvPr>
            <p:ph type="ftr" sz="quarter" idx="11"/>
          </p:nvPr>
        </p:nvSpPr>
        <p:spPr/>
        <p:txBody>
          <a:bodyPr/>
          <a:lstStyle/>
          <a:p>
            <a:endParaRPr lang="en-GB"/>
          </a:p>
        </p:txBody>
      </p:sp>
      <p:sp>
        <p:nvSpPr>
          <p:cNvPr id="7" name="Slide Number Placeholder 6">
            <a:extLst>
              <a:ext uri="{FF2B5EF4-FFF2-40B4-BE49-F238E27FC236}">
                <a16:creationId xmlns:a16="http://schemas.microsoft.com/office/drawing/2014/main" id="{DE3E7691-D5FC-4182-9AE9-20D2EFC761D4}"/>
              </a:ext>
            </a:extLst>
          </p:cNvPr>
          <p:cNvSpPr>
            <a:spLocks noGrp="1"/>
          </p:cNvSpPr>
          <p:nvPr>
            <p:ph type="sldNum" sz="quarter" idx="12"/>
          </p:nvPr>
        </p:nvSpPr>
        <p:spPr/>
        <p:txBody>
          <a:bodyPr/>
          <a:lstStyle/>
          <a:p>
            <a:fld id="{D05DED30-C8B5-4AF9-8D67-600C77DA493C}" type="slidenum">
              <a:rPr lang="en-GB" smtClean="0"/>
              <a:t>‹#›</a:t>
            </a:fld>
            <a:endParaRPr lang="en-GB"/>
          </a:p>
        </p:txBody>
      </p:sp>
    </p:spTree>
    <p:extLst>
      <p:ext uri="{BB962C8B-B14F-4D97-AF65-F5344CB8AC3E}">
        <p14:creationId xmlns:p14="http://schemas.microsoft.com/office/powerpoint/2010/main" val="824019693"/>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6E35217-D17F-45E7-B7CA-F5D4DAFB30DE}"/>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endParaRPr lang="en-GB"/>
          </a:p>
        </p:txBody>
      </p:sp>
      <p:sp>
        <p:nvSpPr>
          <p:cNvPr id="3" name="Picture Placeholder 2">
            <a:extLst>
              <a:ext uri="{FF2B5EF4-FFF2-40B4-BE49-F238E27FC236}">
                <a16:creationId xmlns:a16="http://schemas.microsoft.com/office/drawing/2014/main" id="{F8B94D55-9243-49C9-96F4-70D456901505}"/>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GB"/>
          </a:p>
        </p:txBody>
      </p:sp>
      <p:sp>
        <p:nvSpPr>
          <p:cNvPr id="4" name="Text Placeholder 3">
            <a:extLst>
              <a:ext uri="{FF2B5EF4-FFF2-40B4-BE49-F238E27FC236}">
                <a16:creationId xmlns:a16="http://schemas.microsoft.com/office/drawing/2014/main" id="{9E476A3C-7074-4031-BCF5-275CD92ED789}"/>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A6130CC7-09EA-4C92-80AE-F253D048A40D}"/>
              </a:ext>
            </a:extLst>
          </p:cNvPr>
          <p:cNvSpPr>
            <a:spLocks noGrp="1"/>
          </p:cNvSpPr>
          <p:nvPr>
            <p:ph type="dt" sz="half" idx="10"/>
          </p:nvPr>
        </p:nvSpPr>
        <p:spPr/>
        <p:txBody>
          <a:bodyPr/>
          <a:lstStyle/>
          <a:p>
            <a:fld id="{E85DF616-B21E-4EF6-A6A5-95E2FB3EB1A1}" type="datetimeFigureOut">
              <a:rPr lang="en-GB" smtClean="0"/>
              <a:t>13/04/2026</a:t>
            </a:fld>
            <a:endParaRPr lang="en-GB"/>
          </a:p>
        </p:txBody>
      </p:sp>
      <p:sp>
        <p:nvSpPr>
          <p:cNvPr id="6" name="Footer Placeholder 5">
            <a:extLst>
              <a:ext uri="{FF2B5EF4-FFF2-40B4-BE49-F238E27FC236}">
                <a16:creationId xmlns:a16="http://schemas.microsoft.com/office/drawing/2014/main" id="{9D7CD087-50BE-480B-BD3C-2CCB17C0EDC9}"/>
              </a:ext>
            </a:extLst>
          </p:cNvPr>
          <p:cNvSpPr>
            <a:spLocks noGrp="1"/>
          </p:cNvSpPr>
          <p:nvPr>
            <p:ph type="ftr" sz="quarter" idx="11"/>
          </p:nvPr>
        </p:nvSpPr>
        <p:spPr/>
        <p:txBody>
          <a:bodyPr/>
          <a:lstStyle/>
          <a:p>
            <a:endParaRPr lang="en-GB"/>
          </a:p>
        </p:txBody>
      </p:sp>
      <p:sp>
        <p:nvSpPr>
          <p:cNvPr id="7" name="Slide Number Placeholder 6">
            <a:extLst>
              <a:ext uri="{FF2B5EF4-FFF2-40B4-BE49-F238E27FC236}">
                <a16:creationId xmlns:a16="http://schemas.microsoft.com/office/drawing/2014/main" id="{7F96C921-787D-431A-BDD7-DA404775A0E2}"/>
              </a:ext>
            </a:extLst>
          </p:cNvPr>
          <p:cNvSpPr>
            <a:spLocks noGrp="1"/>
          </p:cNvSpPr>
          <p:nvPr>
            <p:ph type="sldNum" sz="quarter" idx="12"/>
          </p:nvPr>
        </p:nvSpPr>
        <p:spPr/>
        <p:txBody>
          <a:bodyPr/>
          <a:lstStyle/>
          <a:p>
            <a:fld id="{D05DED30-C8B5-4AF9-8D67-600C77DA493C}" type="slidenum">
              <a:rPr lang="en-GB" smtClean="0"/>
              <a:t>‹#›</a:t>
            </a:fld>
            <a:endParaRPr lang="en-GB"/>
          </a:p>
        </p:txBody>
      </p:sp>
    </p:spTree>
    <p:extLst>
      <p:ext uri="{BB962C8B-B14F-4D97-AF65-F5344CB8AC3E}">
        <p14:creationId xmlns:p14="http://schemas.microsoft.com/office/powerpoint/2010/main" val="3576846528"/>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0EB0483-1596-4673-8A29-254D3DC88A58}"/>
              </a:ext>
            </a:extLst>
          </p:cNvPr>
          <p:cNvSpPr>
            <a:spLocks noGrp="1"/>
          </p:cNvSpPr>
          <p:nvPr>
            <p:ph type="title"/>
          </p:nvPr>
        </p:nvSpPr>
        <p:spPr/>
        <p:txBody>
          <a:bodyPr/>
          <a:lstStyle/>
          <a:p>
            <a:r>
              <a:rPr lang="en-US"/>
              <a:t>Click to edit Master title style</a:t>
            </a:r>
            <a:endParaRPr lang="en-GB"/>
          </a:p>
        </p:txBody>
      </p:sp>
      <p:sp>
        <p:nvSpPr>
          <p:cNvPr id="3" name="Vertical Text Placeholder 2">
            <a:extLst>
              <a:ext uri="{FF2B5EF4-FFF2-40B4-BE49-F238E27FC236}">
                <a16:creationId xmlns:a16="http://schemas.microsoft.com/office/drawing/2014/main" id="{F78DE429-CA08-4265-9A4D-51FDC7FA54E2}"/>
              </a:ext>
            </a:extLst>
          </p:cNvPr>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4" name="Date Placeholder 3">
            <a:extLst>
              <a:ext uri="{FF2B5EF4-FFF2-40B4-BE49-F238E27FC236}">
                <a16:creationId xmlns:a16="http://schemas.microsoft.com/office/drawing/2014/main" id="{AEE484A7-7EB0-4711-BB58-4DD3DBAC7D8E}"/>
              </a:ext>
            </a:extLst>
          </p:cNvPr>
          <p:cNvSpPr>
            <a:spLocks noGrp="1"/>
          </p:cNvSpPr>
          <p:nvPr>
            <p:ph type="dt" sz="half" idx="10"/>
          </p:nvPr>
        </p:nvSpPr>
        <p:spPr/>
        <p:txBody>
          <a:bodyPr/>
          <a:lstStyle/>
          <a:p>
            <a:fld id="{E85DF616-B21E-4EF6-A6A5-95E2FB3EB1A1}" type="datetimeFigureOut">
              <a:rPr lang="en-GB" smtClean="0"/>
              <a:t>13/04/2026</a:t>
            </a:fld>
            <a:endParaRPr lang="en-GB"/>
          </a:p>
        </p:txBody>
      </p:sp>
      <p:sp>
        <p:nvSpPr>
          <p:cNvPr id="5" name="Footer Placeholder 4">
            <a:extLst>
              <a:ext uri="{FF2B5EF4-FFF2-40B4-BE49-F238E27FC236}">
                <a16:creationId xmlns:a16="http://schemas.microsoft.com/office/drawing/2014/main" id="{E2541F78-0B35-41BE-A0A9-4586BE477DAC}"/>
              </a:ext>
            </a:extLst>
          </p:cNvPr>
          <p:cNvSpPr>
            <a:spLocks noGrp="1"/>
          </p:cNvSpPr>
          <p:nvPr>
            <p:ph type="ftr" sz="quarter" idx="11"/>
          </p:nvPr>
        </p:nvSpPr>
        <p:spPr/>
        <p:txBody>
          <a:bodyPr/>
          <a:lstStyle/>
          <a:p>
            <a:endParaRPr lang="en-GB"/>
          </a:p>
        </p:txBody>
      </p:sp>
      <p:sp>
        <p:nvSpPr>
          <p:cNvPr id="6" name="Slide Number Placeholder 5">
            <a:extLst>
              <a:ext uri="{FF2B5EF4-FFF2-40B4-BE49-F238E27FC236}">
                <a16:creationId xmlns:a16="http://schemas.microsoft.com/office/drawing/2014/main" id="{85D6E482-F592-48F9-83BC-62EB3DB573C7}"/>
              </a:ext>
            </a:extLst>
          </p:cNvPr>
          <p:cNvSpPr>
            <a:spLocks noGrp="1"/>
          </p:cNvSpPr>
          <p:nvPr>
            <p:ph type="sldNum" sz="quarter" idx="12"/>
          </p:nvPr>
        </p:nvSpPr>
        <p:spPr/>
        <p:txBody>
          <a:bodyPr/>
          <a:lstStyle/>
          <a:p>
            <a:fld id="{D05DED30-C8B5-4AF9-8D67-600C77DA493C}" type="slidenum">
              <a:rPr lang="en-GB" smtClean="0"/>
              <a:t>‹#›</a:t>
            </a:fld>
            <a:endParaRPr lang="en-GB"/>
          </a:p>
        </p:txBody>
      </p:sp>
    </p:spTree>
    <p:extLst>
      <p:ext uri="{BB962C8B-B14F-4D97-AF65-F5344CB8AC3E}">
        <p14:creationId xmlns:p14="http://schemas.microsoft.com/office/powerpoint/2010/main" val="361594651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a:extLst>
              <a:ext uri="{FF2B5EF4-FFF2-40B4-BE49-F238E27FC236}">
                <a16:creationId xmlns:a16="http://schemas.microsoft.com/office/drawing/2014/main" id="{D5361B4E-3627-4AD6-AD20-F32FAFBDA413}"/>
              </a:ext>
            </a:extLst>
          </p:cNvPr>
          <p:cNvSpPr>
            <a:spLocks noGrp="1"/>
          </p:cNvSpPr>
          <p:nvPr>
            <p:ph type="title" orient="vert"/>
          </p:nvPr>
        </p:nvSpPr>
        <p:spPr>
          <a:xfrm>
            <a:off x="8724900" y="365125"/>
            <a:ext cx="2628900" cy="5811838"/>
          </a:xfrm>
        </p:spPr>
        <p:txBody>
          <a:bodyPr vert="eaVert"/>
          <a:lstStyle/>
          <a:p>
            <a:r>
              <a:rPr lang="en-US"/>
              <a:t>Click to edit Master title style</a:t>
            </a:r>
            <a:endParaRPr lang="en-GB"/>
          </a:p>
        </p:txBody>
      </p:sp>
      <p:sp>
        <p:nvSpPr>
          <p:cNvPr id="3" name="Vertical Text Placeholder 2">
            <a:extLst>
              <a:ext uri="{FF2B5EF4-FFF2-40B4-BE49-F238E27FC236}">
                <a16:creationId xmlns:a16="http://schemas.microsoft.com/office/drawing/2014/main" id="{0048BF35-5935-4E82-A1F8-08337A4DA331}"/>
              </a:ext>
            </a:extLst>
          </p:cNvPr>
          <p:cNvSpPr>
            <a:spLocks noGrp="1"/>
          </p:cNvSpPr>
          <p:nvPr>
            <p:ph type="body" orient="vert" idx="1"/>
          </p:nvPr>
        </p:nvSpPr>
        <p:spPr>
          <a:xfrm>
            <a:off x="838200" y="365125"/>
            <a:ext cx="7734300" cy="5811838"/>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4" name="Date Placeholder 3">
            <a:extLst>
              <a:ext uri="{FF2B5EF4-FFF2-40B4-BE49-F238E27FC236}">
                <a16:creationId xmlns:a16="http://schemas.microsoft.com/office/drawing/2014/main" id="{8FFBD791-DE7C-49E1-A341-84D81473B5FD}"/>
              </a:ext>
            </a:extLst>
          </p:cNvPr>
          <p:cNvSpPr>
            <a:spLocks noGrp="1"/>
          </p:cNvSpPr>
          <p:nvPr>
            <p:ph type="dt" sz="half" idx="10"/>
          </p:nvPr>
        </p:nvSpPr>
        <p:spPr/>
        <p:txBody>
          <a:bodyPr/>
          <a:lstStyle/>
          <a:p>
            <a:fld id="{E85DF616-B21E-4EF6-A6A5-95E2FB3EB1A1}" type="datetimeFigureOut">
              <a:rPr lang="en-GB" smtClean="0"/>
              <a:t>13/04/2026</a:t>
            </a:fld>
            <a:endParaRPr lang="en-GB"/>
          </a:p>
        </p:txBody>
      </p:sp>
      <p:sp>
        <p:nvSpPr>
          <p:cNvPr id="5" name="Footer Placeholder 4">
            <a:extLst>
              <a:ext uri="{FF2B5EF4-FFF2-40B4-BE49-F238E27FC236}">
                <a16:creationId xmlns:a16="http://schemas.microsoft.com/office/drawing/2014/main" id="{69FD9CCE-A99B-4CBA-91FF-4D46A3F5C0E6}"/>
              </a:ext>
            </a:extLst>
          </p:cNvPr>
          <p:cNvSpPr>
            <a:spLocks noGrp="1"/>
          </p:cNvSpPr>
          <p:nvPr>
            <p:ph type="ftr" sz="quarter" idx="11"/>
          </p:nvPr>
        </p:nvSpPr>
        <p:spPr/>
        <p:txBody>
          <a:bodyPr/>
          <a:lstStyle/>
          <a:p>
            <a:endParaRPr lang="en-GB"/>
          </a:p>
        </p:txBody>
      </p:sp>
      <p:sp>
        <p:nvSpPr>
          <p:cNvPr id="6" name="Slide Number Placeholder 5">
            <a:extLst>
              <a:ext uri="{FF2B5EF4-FFF2-40B4-BE49-F238E27FC236}">
                <a16:creationId xmlns:a16="http://schemas.microsoft.com/office/drawing/2014/main" id="{863CAD09-2925-4932-B93A-FF27DE64CA89}"/>
              </a:ext>
            </a:extLst>
          </p:cNvPr>
          <p:cNvSpPr>
            <a:spLocks noGrp="1"/>
          </p:cNvSpPr>
          <p:nvPr>
            <p:ph type="sldNum" sz="quarter" idx="12"/>
          </p:nvPr>
        </p:nvSpPr>
        <p:spPr/>
        <p:txBody>
          <a:bodyPr/>
          <a:lstStyle/>
          <a:p>
            <a:fld id="{D05DED30-C8B5-4AF9-8D67-600C77DA493C}" type="slidenum">
              <a:rPr lang="en-GB" smtClean="0"/>
              <a:t>‹#›</a:t>
            </a:fld>
            <a:endParaRPr lang="en-GB"/>
          </a:p>
        </p:txBody>
      </p:sp>
    </p:spTree>
    <p:extLst>
      <p:ext uri="{BB962C8B-B14F-4D97-AF65-F5344CB8AC3E}">
        <p14:creationId xmlns:p14="http://schemas.microsoft.com/office/powerpoint/2010/main" val="2200597959"/>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21DB992C-5696-43C0-B140-56751731D8F9}"/>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endParaRPr lang="en-GB"/>
          </a:p>
        </p:txBody>
      </p:sp>
      <p:sp>
        <p:nvSpPr>
          <p:cNvPr id="3" name="Text Placeholder 2">
            <a:extLst>
              <a:ext uri="{FF2B5EF4-FFF2-40B4-BE49-F238E27FC236}">
                <a16:creationId xmlns:a16="http://schemas.microsoft.com/office/drawing/2014/main" id="{8C058581-4C84-49FD-8B3C-95F4C8571A13}"/>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4" name="Date Placeholder 3">
            <a:extLst>
              <a:ext uri="{FF2B5EF4-FFF2-40B4-BE49-F238E27FC236}">
                <a16:creationId xmlns:a16="http://schemas.microsoft.com/office/drawing/2014/main" id="{0948350B-1B49-41B8-8A7A-F1A1B98F8CA6}"/>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E85DF616-B21E-4EF6-A6A5-95E2FB3EB1A1}" type="datetimeFigureOut">
              <a:rPr lang="en-GB" smtClean="0"/>
              <a:t>13/04/2026</a:t>
            </a:fld>
            <a:endParaRPr lang="en-GB"/>
          </a:p>
        </p:txBody>
      </p:sp>
      <p:sp>
        <p:nvSpPr>
          <p:cNvPr id="5" name="Footer Placeholder 4">
            <a:extLst>
              <a:ext uri="{FF2B5EF4-FFF2-40B4-BE49-F238E27FC236}">
                <a16:creationId xmlns:a16="http://schemas.microsoft.com/office/drawing/2014/main" id="{4F0BE49B-AA7F-417D-B067-42C40475CC1D}"/>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GB"/>
          </a:p>
        </p:txBody>
      </p:sp>
      <p:sp>
        <p:nvSpPr>
          <p:cNvPr id="6" name="Slide Number Placeholder 5">
            <a:extLst>
              <a:ext uri="{FF2B5EF4-FFF2-40B4-BE49-F238E27FC236}">
                <a16:creationId xmlns:a16="http://schemas.microsoft.com/office/drawing/2014/main" id="{B3972CFA-2157-4F98-8693-550F0B104B64}"/>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D05DED30-C8B5-4AF9-8D67-600C77DA493C}" type="slidenum">
              <a:rPr lang="en-GB" smtClean="0"/>
              <a:t>‹#›</a:t>
            </a:fld>
            <a:endParaRPr lang="en-GB"/>
          </a:p>
        </p:txBody>
      </p:sp>
      <p:sp>
        <p:nvSpPr>
          <p:cNvPr id="9" name="TextBox 8">
            <a:extLst>
              <a:ext uri="{FF2B5EF4-FFF2-40B4-BE49-F238E27FC236}">
                <a16:creationId xmlns:a16="http://schemas.microsoft.com/office/drawing/2014/main" id="{1D422B38-8D44-4D58-EFF4-E79D02EF0DCA}"/>
              </a:ext>
            </a:extLst>
          </p:cNvPr>
          <p:cNvSpPr txBox="1"/>
          <p:nvPr userDrawn="1">
            <p:extLst>
              <p:ext uri="{1162E1C5-73C7-4A58-AE30-91384D911F3F}">
                <p184:classification xmlns:p184="http://schemas.microsoft.com/office/powerpoint/2018/4/main" val="hdr"/>
              </p:ext>
            </p:extLst>
          </p:nvPr>
        </p:nvSpPr>
        <p:spPr>
          <a:xfrm>
            <a:off x="5781675" y="0"/>
            <a:ext cx="663575" cy="182880"/>
          </a:xfrm>
          <a:prstGeom prst="rect">
            <a:avLst/>
          </a:prstGeom>
        </p:spPr>
        <p:txBody>
          <a:bodyPr horzOverflow="overflow" lIns="0" tIns="0" rIns="0" bIns="0">
            <a:spAutoFit/>
          </a:bodyPr>
          <a:lstStyle/>
          <a:p>
            <a:pPr algn="l"/>
            <a:r>
              <a:rPr lang="en-SG" sz="1200">
                <a:solidFill>
                  <a:srgbClr val="FF0000"/>
                </a:solidFill>
                <a:latin typeface="Calibri" panose="020F0502020204030204" pitchFamily="34" charset="0"/>
                <a:cs typeface="Calibri" panose="020F0502020204030204" pitchFamily="34" charset="0"/>
              </a:rPr>
              <a:t>Restricted</a:t>
            </a:r>
          </a:p>
        </p:txBody>
      </p:sp>
      <p:sp>
        <p:nvSpPr>
          <p:cNvPr id="10" name="TextBox 9">
            <a:extLst>
              <a:ext uri="{FF2B5EF4-FFF2-40B4-BE49-F238E27FC236}">
                <a16:creationId xmlns:a16="http://schemas.microsoft.com/office/drawing/2014/main" id="{AB4C9BE7-59F9-8FE1-9039-A07A762ED4F1}"/>
              </a:ext>
            </a:extLst>
          </p:cNvPr>
          <p:cNvSpPr txBox="1"/>
          <p:nvPr userDrawn="1">
            <p:extLst>
              <p:ext uri="{1162E1C5-73C7-4A58-AE30-91384D911F3F}">
                <p184:classification xmlns:p184="http://schemas.microsoft.com/office/powerpoint/2018/4/main" val="ftr"/>
              </p:ext>
            </p:extLst>
          </p:nvPr>
        </p:nvSpPr>
        <p:spPr>
          <a:xfrm>
            <a:off x="5781675" y="6675120"/>
            <a:ext cx="663575" cy="182880"/>
          </a:xfrm>
          <a:prstGeom prst="rect">
            <a:avLst/>
          </a:prstGeom>
        </p:spPr>
        <p:txBody>
          <a:bodyPr horzOverflow="overflow" lIns="0" tIns="0" rIns="0" bIns="0">
            <a:spAutoFit/>
          </a:bodyPr>
          <a:lstStyle/>
          <a:p>
            <a:pPr algn="l"/>
            <a:r>
              <a:rPr lang="en-SG" sz="1200">
                <a:solidFill>
                  <a:srgbClr val="FF0000"/>
                </a:solidFill>
                <a:latin typeface="Calibri" panose="020F0502020204030204" pitchFamily="34" charset="0"/>
                <a:cs typeface="Calibri" panose="020F0502020204030204" pitchFamily="34" charset="0"/>
              </a:rPr>
              <a:t>Restricted</a:t>
            </a:r>
          </a:p>
        </p:txBody>
      </p:sp>
    </p:spTree>
    <p:extLst>
      <p:ext uri="{BB962C8B-B14F-4D97-AF65-F5344CB8AC3E}">
        <p14:creationId xmlns:p14="http://schemas.microsoft.com/office/powerpoint/2010/main" val="2168708284"/>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image" Target="../media/image1.jpg"/><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4.xml"/></Relationships>
</file>

<file path=ppt/slides/_rels/slide6.xml.rels><?xml version="1.0" encoding="UTF-8" standalone="yes"?>
<Relationships xmlns="http://schemas.openxmlformats.org/package/2006/relationships"><Relationship Id="rId2" Type="http://schemas.openxmlformats.org/officeDocument/2006/relationships/image" Target="../media/image4.jpg"/><Relationship Id="rId1" Type="http://schemas.openxmlformats.org/officeDocument/2006/relationships/slideLayout" Target="../slideLayouts/slideLayout4.xml"/></Relationships>
</file>

<file path=ppt/slides/_rels/slide7.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image" Target="../media/image4.jpg"/><Relationship Id="rId1" Type="http://schemas.openxmlformats.org/officeDocument/2006/relationships/slideLayout" Target="../slideLayouts/slideLayout4.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Layout" Target="../slideLayouts/slideLayout4.xml"/></Relationships>
</file>

<file path=ppt/slides/_rels/slide10.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Layout" Target="../slideLayouts/slideLayout4.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image" Target="../media/image7.png"/><Relationship Id="rId1" Type="http://schemas.openxmlformats.org/officeDocument/2006/relationships/slideLayout" Target="../slideLayouts/slideLayout2.xml"/><Relationship Id="rId5" Type="http://schemas.openxmlformats.org/officeDocument/2006/relationships/image" Target="../media/image10.png"/><Relationship Id="rId4" Type="http://schemas.openxmlformats.org/officeDocument/2006/relationships/image" Target="../media/image9.png"/></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2" Type="http://schemas.openxmlformats.org/officeDocument/2006/relationships/image" Target="../media/image11.png"/><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3" Type="http://schemas.openxmlformats.org/officeDocument/2006/relationships/image" Target="../media/image11.png"/><Relationship Id="rId2" Type="http://schemas.openxmlformats.org/officeDocument/2006/relationships/image" Target="../media/image12.png"/><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3" Type="http://schemas.openxmlformats.org/officeDocument/2006/relationships/image" Target="../media/image11.png"/><Relationship Id="rId2" Type="http://schemas.openxmlformats.org/officeDocument/2006/relationships/image" Target="../media/image13.png"/><Relationship Id="rId1" Type="http://schemas.openxmlformats.org/officeDocument/2006/relationships/slideLayout" Target="../slideLayouts/slideLayout4.xml"/><Relationship Id="rId4" Type="http://schemas.openxmlformats.org/officeDocument/2006/relationships/image" Target="../media/image14.png"/></Relationships>
</file>

<file path=ppt/slides/_rels/slide19.xml.rels><?xml version="1.0" encoding="UTF-8" standalone="yes"?>
<Relationships xmlns="http://schemas.openxmlformats.org/package/2006/relationships"><Relationship Id="rId3" Type="http://schemas.openxmlformats.org/officeDocument/2006/relationships/image" Target="../media/image15.png"/><Relationship Id="rId2" Type="http://schemas.openxmlformats.org/officeDocument/2006/relationships/image" Target="../media/image140.png"/><Relationship Id="rId1" Type="http://schemas.openxmlformats.org/officeDocument/2006/relationships/slideLayout" Target="../slideLayouts/slideLayout4.xml"/><Relationship Id="rId4" Type="http://schemas.openxmlformats.org/officeDocument/2006/relationships/image" Target="../media/image16.png"/></Relationships>
</file>

<file path=ppt/slides/_rels/slide20.xml.rels><?xml version="1.0" encoding="UTF-8" standalone="yes"?>
<Relationships xmlns="http://schemas.openxmlformats.org/package/2006/relationships"><Relationship Id="rId2" Type="http://schemas.openxmlformats.org/officeDocument/2006/relationships/image" Target="../media/image17.png"/><Relationship Id="rId1" Type="http://schemas.openxmlformats.org/officeDocument/2006/relationships/slideLayout" Target="../slideLayouts/slideLayout4.xml"/></Relationships>
</file>

<file path=ppt/slides/_rels/slide21.xml.rels><?xml version="1.0" encoding="UTF-8" standalone="yes"?>
<Relationships xmlns="http://schemas.openxmlformats.org/package/2006/relationships"><Relationship Id="rId2" Type="http://schemas.openxmlformats.org/officeDocument/2006/relationships/image" Target="../media/image18.png"/><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2" Type="http://schemas.openxmlformats.org/officeDocument/2006/relationships/image" Target="../media/image19.png"/><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3" Type="http://schemas.openxmlformats.org/officeDocument/2006/relationships/image" Target="../media/image21.png"/><Relationship Id="rId2" Type="http://schemas.openxmlformats.org/officeDocument/2006/relationships/image" Target="../media/image20.png"/><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2" Type="http://schemas.openxmlformats.org/officeDocument/2006/relationships/image" Target="../media/image22.png"/><Relationship Id="rId1" Type="http://schemas.openxmlformats.org/officeDocument/2006/relationships/slideLayout" Target="../slideLayouts/slideLayout2.xml"/></Relationships>
</file>

<file path=ppt/slides/_rels/slide25.xml.rels><?xml version="1.0" encoding="UTF-8" standalone="yes"?>
<Relationships xmlns="http://schemas.openxmlformats.org/package/2006/relationships"><Relationship Id="rId3" Type="http://schemas.openxmlformats.org/officeDocument/2006/relationships/image" Target="../media/image24.png"/><Relationship Id="rId2" Type="http://schemas.openxmlformats.org/officeDocument/2006/relationships/image" Target="../media/image23.png"/><Relationship Id="rId1" Type="http://schemas.openxmlformats.org/officeDocument/2006/relationships/slideLayout" Target="../slideLayouts/slideLayout2.xml"/></Relationships>
</file>

<file path=ppt/slides/_rels/slide26.xml.rels><?xml version="1.0" encoding="UTF-8" standalone="yes"?>
<Relationships xmlns="http://schemas.openxmlformats.org/package/2006/relationships"><Relationship Id="rId3" Type="http://schemas.openxmlformats.org/officeDocument/2006/relationships/image" Target="../media/image24.png"/><Relationship Id="rId2" Type="http://schemas.openxmlformats.org/officeDocument/2006/relationships/image" Target="../media/image25.png"/><Relationship Id="rId1" Type="http://schemas.openxmlformats.org/officeDocument/2006/relationships/slideLayout" Target="../slideLayouts/slideLayout2.xml"/></Relationships>
</file>

<file path=ppt/slides/_rels/slide27.xml.rels><?xml version="1.0" encoding="UTF-8" standalone="yes"?>
<Relationships xmlns="http://schemas.openxmlformats.org/package/2006/relationships"><Relationship Id="rId3" Type="http://schemas.openxmlformats.org/officeDocument/2006/relationships/image" Target="../media/image24.png"/><Relationship Id="rId2" Type="http://schemas.openxmlformats.org/officeDocument/2006/relationships/image" Target="../media/image26.png"/><Relationship Id="rId1" Type="http://schemas.openxmlformats.org/officeDocument/2006/relationships/slideLayout" Target="../slideLayouts/slideLayout2.xml"/></Relationships>
</file>

<file path=ppt/slides/_rels/slide28.xml.rels><?xml version="1.0" encoding="UTF-8" standalone="yes"?>
<Relationships xmlns="http://schemas.openxmlformats.org/package/2006/relationships"><Relationship Id="rId3" Type="http://schemas.openxmlformats.org/officeDocument/2006/relationships/image" Target="../media/image24.png"/><Relationship Id="rId2" Type="http://schemas.openxmlformats.org/officeDocument/2006/relationships/image" Target="../media/image27.png"/><Relationship Id="rId1" Type="http://schemas.openxmlformats.org/officeDocument/2006/relationships/slideLayout" Target="../slideLayouts/slideLayout2.xml"/></Relationships>
</file>

<file path=ppt/slides/_rels/slide29.xml.rels><?xml version="1.0" encoding="UTF-8" standalone="yes"?>
<Relationships xmlns="http://schemas.openxmlformats.org/package/2006/relationships"><Relationship Id="rId3" Type="http://schemas.openxmlformats.org/officeDocument/2006/relationships/image" Target="../media/image24.png"/><Relationship Id="rId2" Type="http://schemas.openxmlformats.org/officeDocument/2006/relationships/image" Target="../media/image28.png"/><Relationship Id="rId1" Type="http://schemas.openxmlformats.org/officeDocument/2006/relationships/slideLayout" Target="../slideLayouts/slideLayout2.xml"/></Relationships>
</file>

<file path=ppt/slides/_rels/slide30.xml.rels><?xml version="1.0" encoding="UTF-8" standalone="yes"?>
<Relationships xmlns="http://schemas.openxmlformats.org/package/2006/relationships"><Relationship Id="rId3" Type="http://schemas.openxmlformats.org/officeDocument/2006/relationships/image" Target="../media/image30.png"/><Relationship Id="rId2" Type="http://schemas.openxmlformats.org/officeDocument/2006/relationships/image" Target="../media/image29.png"/><Relationship Id="rId1" Type="http://schemas.openxmlformats.org/officeDocument/2006/relationships/slideLayout" Target="../slideLayouts/slideLayout2.xml"/></Relationships>
</file>

<file path=ppt/slides/_rels/slide31.xml.rels><?xml version="1.0" encoding="UTF-8" standalone="yes"?>
<Relationships xmlns="http://schemas.openxmlformats.org/package/2006/relationships"><Relationship Id="rId2" Type="http://schemas.openxmlformats.org/officeDocument/2006/relationships/image" Target="../media/image31.png"/><Relationship Id="rId1" Type="http://schemas.openxmlformats.org/officeDocument/2006/relationships/slideLayout" Target="../slideLayouts/slideLayout2.xml"/></Relationships>
</file>

<file path=ppt/slides/_rels/slide32.xml.rels><?xml version="1.0" encoding="UTF-8" standalone="yes"?>
<Relationships xmlns="http://schemas.openxmlformats.org/package/2006/relationships"><Relationship Id="rId2" Type="http://schemas.openxmlformats.org/officeDocument/2006/relationships/image" Target="../media/image32.png"/><Relationship Id="rId1" Type="http://schemas.openxmlformats.org/officeDocument/2006/relationships/slideLayout" Target="../slideLayouts/slideLayout2.xml"/></Relationships>
</file>

<file path=ppt/slides/_rels/slide33.xml.rels><?xml version="1.0" encoding="UTF-8" standalone="yes"?>
<Relationships xmlns="http://schemas.openxmlformats.org/package/2006/relationships"><Relationship Id="rId2" Type="http://schemas.openxmlformats.org/officeDocument/2006/relationships/image" Target="../media/image33.png"/><Relationship Id="rId1" Type="http://schemas.openxmlformats.org/officeDocument/2006/relationships/slideLayout" Target="../slideLayouts/slideLayout2.xml"/></Relationships>
</file>

<file path=ppt/slides/_rels/slide34.xml.rels><?xml version="1.0" encoding="UTF-8" standalone="yes"?>
<Relationships xmlns="http://schemas.openxmlformats.org/package/2006/relationships"><Relationship Id="rId2" Type="http://schemas.openxmlformats.org/officeDocument/2006/relationships/image" Target="../media/image34.png"/><Relationship Id="rId1" Type="http://schemas.openxmlformats.org/officeDocument/2006/relationships/slideLayout" Target="../slideLayouts/slideLayout2.xml"/></Relationships>
</file>

<file path=ppt/slides/_rels/slide35.xml.rels><?xml version="1.0" encoding="UTF-8" standalone="yes"?>
<Relationships xmlns="http://schemas.openxmlformats.org/package/2006/relationships"><Relationship Id="rId3" Type="http://schemas.openxmlformats.org/officeDocument/2006/relationships/image" Target="../media/image36.png"/><Relationship Id="rId2" Type="http://schemas.openxmlformats.org/officeDocument/2006/relationships/image" Target="../media/image35.png"/><Relationship Id="rId1" Type="http://schemas.openxmlformats.org/officeDocument/2006/relationships/slideLayout" Target="../slideLayouts/slideLayout2.xml"/></Relationships>
</file>

<file path=ppt/slides/_rels/slide36.xml.rels><?xml version="1.0" encoding="UTF-8" standalone="yes"?>
<Relationships xmlns="http://schemas.openxmlformats.org/package/2006/relationships"><Relationship Id="rId3" Type="http://schemas.openxmlformats.org/officeDocument/2006/relationships/image" Target="../media/image37.png"/><Relationship Id="rId2" Type="http://schemas.openxmlformats.org/officeDocument/2006/relationships/image" Target="../media/image36.png"/><Relationship Id="rId1" Type="http://schemas.openxmlformats.org/officeDocument/2006/relationships/slideLayout" Target="../slideLayouts/slideLayout2.xml"/></Relationships>
</file>

<file path=ppt/slides/_rels/slide37.xml.rels><?xml version="1.0" encoding="UTF-8" standalone="yes"?>
<Relationships xmlns="http://schemas.openxmlformats.org/package/2006/relationships"><Relationship Id="rId2" Type="http://schemas.openxmlformats.org/officeDocument/2006/relationships/image" Target="../media/image38.png"/><Relationship Id="rId1" Type="http://schemas.openxmlformats.org/officeDocument/2006/relationships/slideLayout" Target="../slideLayouts/slideLayout2.xml"/></Relationships>
</file>

<file path=ppt/slides/_rels/slide38.xml.rels><?xml version="1.0" encoding="UTF-8" standalone="yes"?>
<Relationships xmlns="http://schemas.openxmlformats.org/package/2006/relationships"><Relationship Id="rId2" Type="http://schemas.openxmlformats.org/officeDocument/2006/relationships/image" Target="../media/image39.png"/><Relationship Id="rId1" Type="http://schemas.openxmlformats.org/officeDocument/2006/relationships/slideLayout" Target="../slideLayouts/slideLayout2.xml"/></Relationships>
</file>

<file path=ppt/slides/_rels/slide39.xml.rels><?xml version="1.0" encoding="UTF-8" standalone="yes"?>
<Relationships xmlns="http://schemas.openxmlformats.org/package/2006/relationships"><Relationship Id="rId2" Type="http://schemas.openxmlformats.org/officeDocument/2006/relationships/image" Target="../media/image40.png"/><Relationship Id="rId1" Type="http://schemas.openxmlformats.org/officeDocument/2006/relationships/slideLayout" Target="../slideLayouts/slideLayout2.xml"/></Relationships>
</file>

<file path=ppt/slides/_rels/slide40.xml.rels><?xml version="1.0" encoding="UTF-8" standalone="yes"?>
<Relationships xmlns="http://schemas.openxmlformats.org/package/2006/relationships"><Relationship Id="rId3" Type="http://schemas.openxmlformats.org/officeDocument/2006/relationships/image" Target="../media/image41.png"/><Relationship Id="rId2" Type="http://schemas.openxmlformats.org/officeDocument/2006/relationships/image" Target="../media/image40.png"/><Relationship Id="rId1" Type="http://schemas.openxmlformats.org/officeDocument/2006/relationships/slideLayout" Target="../slideLayouts/slideLayout2.xml"/></Relationships>
</file>

<file path=ppt/slides/_rels/slide41.xml.rels><?xml version="1.0" encoding="UTF-8" standalone="yes"?>
<Relationships xmlns="http://schemas.openxmlformats.org/package/2006/relationships"><Relationship Id="rId2" Type="http://schemas.openxmlformats.org/officeDocument/2006/relationships/image" Target="../media/image42.png"/><Relationship Id="rId1" Type="http://schemas.openxmlformats.org/officeDocument/2006/relationships/slideLayout" Target="../slideLayouts/slideLayout2.xml"/></Relationships>
</file>

<file path=ppt/slides/_rels/slide42.xml.rels><?xml version="1.0" encoding="UTF-8" standalone="yes"?>
<Relationships xmlns="http://schemas.openxmlformats.org/package/2006/relationships"><Relationship Id="rId2" Type="http://schemas.openxmlformats.org/officeDocument/2006/relationships/image" Target="../media/image43.png"/><Relationship Id="rId1" Type="http://schemas.openxmlformats.org/officeDocument/2006/relationships/slideLayout" Target="../slideLayouts/slideLayout4.xml"/></Relationships>
</file>

<file path=ppt/slides/_rels/slide43.xml.rels><?xml version="1.0" encoding="UTF-8" standalone="yes"?>
<Relationships xmlns="http://schemas.openxmlformats.org/package/2006/relationships"><Relationship Id="rId2" Type="http://schemas.openxmlformats.org/officeDocument/2006/relationships/image" Target="../media/image44.png"/><Relationship Id="rId1" Type="http://schemas.openxmlformats.org/officeDocument/2006/relationships/slideLayout" Target="../slideLayouts/slideLayout2.xml"/></Relationships>
</file>

<file path=ppt/slides/_rels/slide44.xml.rels><?xml version="1.0" encoding="UTF-8" standalone="yes"?>
<Relationships xmlns="http://schemas.openxmlformats.org/package/2006/relationships"><Relationship Id="rId3" Type="http://schemas.openxmlformats.org/officeDocument/2006/relationships/image" Target="../media/image46.png"/><Relationship Id="rId2" Type="http://schemas.openxmlformats.org/officeDocument/2006/relationships/image" Target="../media/image45.png"/><Relationship Id="rId1" Type="http://schemas.openxmlformats.org/officeDocument/2006/relationships/slideLayout" Target="../slideLayouts/slideLayout4.xml"/></Relationships>
</file>

<file path=ppt/slides/_rels/slide45.xml.rels><?xml version="1.0" encoding="UTF-8" standalone="yes"?>
<Relationships xmlns="http://schemas.openxmlformats.org/package/2006/relationships"><Relationship Id="rId3" Type="http://schemas.openxmlformats.org/officeDocument/2006/relationships/image" Target="../media/image48.jpg"/><Relationship Id="rId2" Type="http://schemas.openxmlformats.org/officeDocument/2006/relationships/image" Target="../media/image47.jpg"/><Relationship Id="rId1" Type="http://schemas.openxmlformats.org/officeDocument/2006/relationships/slideLayout" Target="../slideLayouts/slideLayout4.xml"/><Relationship Id="rId4" Type="http://schemas.openxmlformats.org/officeDocument/2006/relationships/image" Target="../media/image49.png"/></Relationships>
</file>

<file path=ppt/slides/_rels/slide46.xml.rels><?xml version="1.0" encoding="UTF-8" standalone="yes"?>
<Relationships xmlns="http://schemas.openxmlformats.org/package/2006/relationships"><Relationship Id="rId3" Type="http://schemas.openxmlformats.org/officeDocument/2006/relationships/image" Target="../media/image51.jpg"/><Relationship Id="rId2" Type="http://schemas.openxmlformats.org/officeDocument/2006/relationships/image" Target="../media/image50.jpg"/><Relationship Id="rId1" Type="http://schemas.openxmlformats.org/officeDocument/2006/relationships/slideLayout" Target="../slideLayouts/slideLayout4.xml"/></Relationships>
</file>

<file path=ppt/slides/_rels/slide47.xml.rels><?xml version="1.0" encoding="UTF-8" standalone="yes"?>
<Relationships xmlns="http://schemas.openxmlformats.org/package/2006/relationships"><Relationship Id="rId3" Type="http://schemas.openxmlformats.org/officeDocument/2006/relationships/image" Target="../media/image53.jpg"/><Relationship Id="rId2" Type="http://schemas.openxmlformats.org/officeDocument/2006/relationships/image" Target="../media/image52.png"/><Relationship Id="rId1" Type="http://schemas.openxmlformats.org/officeDocument/2006/relationships/slideLayout" Target="../slideLayouts/slideLayout4.xml"/></Relationships>
</file>

<file path=ppt/slides/_rels/slide48.xml.rels><?xml version="1.0" encoding="UTF-8" standalone="yes"?>
<Relationships xmlns="http://schemas.openxmlformats.org/package/2006/relationships"><Relationship Id="rId3" Type="http://schemas.openxmlformats.org/officeDocument/2006/relationships/hyperlink" Target="https://techcrunch.com/2025/12/19/yann-lecun-confirms-his-new-world-model-startup-reportedly-seeks-5b-valuation/" TargetMode="External"/><Relationship Id="rId2" Type="http://schemas.openxmlformats.org/officeDocument/2006/relationships/image" Target="../media/image54.png"/><Relationship Id="rId1" Type="http://schemas.openxmlformats.org/officeDocument/2006/relationships/slideLayout" Target="../slideLayouts/slideLayout4.xml"/></Relationships>
</file>

<file path=ppt/slides/_rels/slide49.xml.rels><?xml version="1.0" encoding="UTF-8" standalone="yes"?>
<Relationships xmlns="http://schemas.openxmlformats.org/package/2006/relationships"><Relationship Id="rId3" Type="http://schemas.openxmlformats.org/officeDocument/2006/relationships/hyperlink" Target="https://techcrunch.com/2025/12/19/yann-lecun-confirms-his-new-world-model-startup-reportedly-seeks-5b-valuation/" TargetMode="External"/><Relationship Id="rId2" Type="http://schemas.openxmlformats.org/officeDocument/2006/relationships/image" Target="../media/image55.png"/><Relationship Id="rId1" Type="http://schemas.openxmlformats.org/officeDocument/2006/relationships/slideLayout" Target="../slideLayouts/slideLayout4.xml"/><Relationship Id="rId4" Type="http://schemas.openxmlformats.org/officeDocument/2006/relationships/image" Target="../media/image56.png"/></Relationships>
</file>

<file path=ppt/slides/_rels/slide5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2.xml.rels><?xml version="1.0" encoding="UTF-8" standalone="yes"?>
<Relationships xmlns="http://schemas.openxmlformats.org/package/2006/relationships"><Relationship Id="rId3" Type="http://schemas.openxmlformats.org/officeDocument/2006/relationships/hyperlink" Target="https://www.youtube.com/watch?v=A5w-dEgIU1M" TargetMode="External"/><Relationship Id="rId2" Type="http://schemas.openxmlformats.org/officeDocument/2006/relationships/hyperlink" Target="https://benmoseley.blog/my-research/so-what-is-a-physics-informed-neural-network/" TargetMode="External"/><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80CEB46-CC16-4D19-8C2C-AEE9471D8168}"/>
              </a:ext>
            </a:extLst>
          </p:cNvPr>
          <p:cNvSpPr>
            <a:spLocks noGrp="1"/>
          </p:cNvSpPr>
          <p:nvPr>
            <p:ph type="ctrTitle"/>
          </p:nvPr>
        </p:nvSpPr>
        <p:spPr>
          <a:xfrm>
            <a:off x="375139" y="942610"/>
            <a:ext cx="11441722" cy="2387600"/>
          </a:xfrm>
        </p:spPr>
        <p:txBody>
          <a:bodyPr>
            <a:normAutofit fontScale="90000"/>
          </a:bodyPr>
          <a:lstStyle/>
          <a:p>
            <a:r>
              <a:rPr lang="en-US" b="1" dirty="0"/>
              <a:t>50.039 Theory and Practice of</a:t>
            </a:r>
            <a:br>
              <a:rPr lang="en-US" b="1" dirty="0"/>
            </a:br>
            <a:r>
              <a:rPr lang="en-US" b="1" dirty="0"/>
              <a:t>Deep Learning</a:t>
            </a:r>
            <a:br>
              <a:rPr lang="en-US" dirty="0"/>
            </a:br>
            <a:r>
              <a:rPr lang="en-US" dirty="0"/>
              <a:t>W12-S1 About Physics-Informed</a:t>
            </a:r>
            <a:br>
              <a:rPr lang="en-US" dirty="0"/>
            </a:br>
            <a:r>
              <a:rPr lang="en-US" dirty="0"/>
              <a:t>Neural Networks</a:t>
            </a:r>
            <a:endParaRPr lang="en-GB" dirty="0"/>
          </a:p>
        </p:txBody>
      </p:sp>
      <p:sp>
        <p:nvSpPr>
          <p:cNvPr id="3" name="Subtitle 2">
            <a:extLst>
              <a:ext uri="{FF2B5EF4-FFF2-40B4-BE49-F238E27FC236}">
                <a16:creationId xmlns:a16="http://schemas.microsoft.com/office/drawing/2014/main" id="{816ABDE1-A047-4B53-92F2-67282914DD77}"/>
              </a:ext>
            </a:extLst>
          </p:cNvPr>
          <p:cNvSpPr>
            <a:spLocks noGrp="1"/>
          </p:cNvSpPr>
          <p:nvPr>
            <p:ph type="subTitle" idx="1"/>
          </p:nvPr>
        </p:nvSpPr>
        <p:spPr/>
        <p:txBody>
          <a:bodyPr/>
          <a:lstStyle/>
          <a:p>
            <a:r>
              <a:rPr lang="en-US" dirty="0"/>
              <a:t>Matthieu De Mari</a:t>
            </a:r>
            <a:endParaRPr lang="en-GB" dirty="0"/>
          </a:p>
        </p:txBody>
      </p:sp>
      <p:pic>
        <p:nvPicPr>
          <p:cNvPr id="4" name="Picture 3" descr="A picture containing drawing&#10;&#10;Description automatically generated">
            <a:extLst>
              <a:ext uri="{FF2B5EF4-FFF2-40B4-BE49-F238E27FC236}">
                <a16:creationId xmlns:a16="http://schemas.microsoft.com/office/drawing/2014/main" id="{EEFD138E-FF3C-4975-898F-313719523671}"/>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3874008" y="4484243"/>
            <a:ext cx="4443984" cy="1731264"/>
          </a:xfrm>
          <a:prstGeom prst="rect">
            <a:avLst/>
          </a:prstGeom>
        </p:spPr>
      </p:pic>
    </p:spTree>
    <p:extLst>
      <p:ext uri="{BB962C8B-B14F-4D97-AF65-F5344CB8AC3E}">
        <p14:creationId xmlns:p14="http://schemas.microsoft.com/office/powerpoint/2010/main" val="1040156172"/>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9D40417-A4D3-4CE8-96E7-708E2439AE7B}"/>
              </a:ext>
            </a:extLst>
          </p:cNvPr>
          <p:cNvSpPr>
            <a:spLocks noGrp="1"/>
          </p:cNvSpPr>
          <p:nvPr>
            <p:ph type="title"/>
          </p:nvPr>
        </p:nvSpPr>
        <p:spPr>
          <a:xfrm>
            <a:off x="838200" y="365125"/>
            <a:ext cx="11220938" cy="1325563"/>
          </a:xfrm>
        </p:spPr>
        <p:txBody>
          <a:bodyPr>
            <a:normAutofit/>
          </a:bodyPr>
          <a:lstStyle/>
          <a:p>
            <a:r>
              <a:rPr lang="en-US" dirty="0"/>
              <a:t>About this week (Week 12, an informative lecture about physics-informed neural networks)</a:t>
            </a:r>
            <a:endParaRPr lang="en-GB" dirty="0"/>
          </a:p>
        </p:txBody>
      </p:sp>
      <p:sp>
        <p:nvSpPr>
          <p:cNvPr id="3" name="Content Placeholder 2">
            <a:extLst>
              <a:ext uri="{FF2B5EF4-FFF2-40B4-BE49-F238E27FC236}">
                <a16:creationId xmlns:a16="http://schemas.microsoft.com/office/drawing/2014/main" id="{35995840-A9D9-479A-A34F-EA7DC229D38E}"/>
              </a:ext>
            </a:extLst>
          </p:cNvPr>
          <p:cNvSpPr>
            <a:spLocks noGrp="1"/>
          </p:cNvSpPr>
          <p:nvPr>
            <p:ph idx="1"/>
          </p:nvPr>
        </p:nvSpPr>
        <p:spPr/>
        <p:txBody>
          <a:bodyPr>
            <a:normAutofit/>
          </a:bodyPr>
          <a:lstStyle/>
          <a:p>
            <a:pPr marL="514350" indent="-514350">
              <a:buFont typeface="+mj-lt"/>
              <a:buAutoNum type="arabicPeriod"/>
            </a:pPr>
            <a:r>
              <a:rPr lang="en-US" dirty="0"/>
              <a:t>What is a </a:t>
            </a:r>
            <a:r>
              <a:rPr lang="en-US" b="1" dirty="0"/>
              <a:t>Partial Differential Equation (PDE) </a:t>
            </a:r>
            <a:r>
              <a:rPr lang="en-US" dirty="0"/>
              <a:t>and what are </a:t>
            </a:r>
            <a:r>
              <a:rPr lang="en-US" b="1" dirty="0"/>
              <a:t>typical uses </a:t>
            </a:r>
            <a:r>
              <a:rPr lang="en-US" dirty="0"/>
              <a:t>of PDEs?</a:t>
            </a:r>
          </a:p>
          <a:p>
            <a:pPr marL="514350" indent="-514350">
              <a:buFont typeface="+mj-lt"/>
              <a:buAutoNum type="arabicPeriod"/>
            </a:pPr>
            <a:r>
              <a:rPr lang="en-US" dirty="0"/>
              <a:t>Why are PDEs </a:t>
            </a:r>
            <a:r>
              <a:rPr lang="en-US" b="1" dirty="0"/>
              <a:t>hard to solve </a:t>
            </a:r>
            <a:r>
              <a:rPr lang="en-US" dirty="0"/>
              <a:t>in practice?</a:t>
            </a:r>
          </a:p>
          <a:p>
            <a:pPr marL="514350" indent="-514350">
              <a:buFont typeface="+mj-lt"/>
              <a:buAutoNum type="arabicPeriod"/>
            </a:pPr>
            <a:r>
              <a:rPr lang="en-US" dirty="0"/>
              <a:t>What are </a:t>
            </a:r>
            <a:r>
              <a:rPr lang="en-US" b="1" dirty="0"/>
              <a:t>Physics-Informed Neural Networks (PINNs)</a:t>
            </a:r>
            <a:r>
              <a:rPr lang="en-US" dirty="0"/>
              <a:t>?</a:t>
            </a:r>
          </a:p>
          <a:p>
            <a:pPr marL="514350" indent="-514350">
              <a:buFont typeface="+mj-lt"/>
              <a:buAutoNum type="arabicPeriod"/>
            </a:pPr>
            <a:r>
              <a:rPr lang="en-US" dirty="0"/>
              <a:t>What is a </a:t>
            </a:r>
            <a:r>
              <a:rPr lang="en-US" b="1" dirty="0"/>
              <a:t>Physics Loss</a:t>
            </a:r>
            <a:r>
              <a:rPr lang="en-US" dirty="0"/>
              <a:t> function and how to write a custom one?</a:t>
            </a:r>
          </a:p>
          <a:p>
            <a:pPr marL="514350" indent="-514350">
              <a:buFont typeface="+mj-lt"/>
              <a:buAutoNum type="arabicPeriod"/>
            </a:pPr>
            <a:r>
              <a:rPr lang="en-US" dirty="0"/>
              <a:t>How to </a:t>
            </a:r>
            <a:r>
              <a:rPr lang="en-US" b="1" dirty="0"/>
              <a:t>train a PINN to solve a given</a:t>
            </a:r>
            <a:r>
              <a:rPr lang="en-US" dirty="0"/>
              <a:t> </a:t>
            </a:r>
            <a:r>
              <a:rPr lang="en-US" b="1" dirty="0"/>
              <a:t>PDE</a:t>
            </a:r>
            <a:r>
              <a:rPr lang="en-US" dirty="0"/>
              <a:t>?</a:t>
            </a:r>
          </a:p>
          <a:p>
            <a:pPr marL="514350" indent="-514350">
              <a:buFont typeface="+mj-lt"/>
              <a:buAutoNum type="arabicPeriod"/>
            </a:pPr>
            <a:r>
              <a:rPr lang="en-US" dirty="0"/>
              <a:t>Is </a:t>
            </a:r>
            <a:r>
              <a:rPr lang="en-US" b="1" dirty="0"/>
              <a:t>Feature Engineering</a:t>
            </a:r>
            <a:r>
              <a:rPr lang="en-US" dirty="0"/>
              <a:t> a good thing to have in PINNs?</a:t>
            </a:r>
          </a:p>
          <a:p>
            <a:pPr marL="514350" indent="-514350">
              <a:buFont typeface="+mj-lt"/>
              <a:buAutoNum type="arabicPeriod"/>
            </a:pPr>
            <a:r>
              <a:rPr lang="en-US"/>
              <a:t>What are </a:t>
            </a:r>
            <a:r>
              <a:rPr lang="en-US" b="1"/>
              <a:t>interesting applications </a:t>
            </a:r>
            <a:r>
              <a:rPr lang="en-US"/>
              <a:t>for PINNs?</a:t>
            </a:r>
          </a:p>
          <a:p>
            <a:pPr marL="514350" indent="-514350">
              <a:buFont typeface="+mj-lt"/>
              <a:buAutoNum type="arabicPeriod"/>
            </a:pPr>
            <a:endParaRPr lang="en-US" dirty="0"/>
          </a:p>
          <a:p>
            <a:pPr marL="514350" indent="-514350">
              <a:buFont typeface="+mj-lt"/>
              <a:buAutoNum type="arabicPeriod"/>
            </a:pPr>
            <a:endParaRPr lang="en-US" dirty="0"/>
          </a:p>
          <a:p>
            <a:pPr marL="514350" indent="-514350">
              <a:buFont typeface="+mj-lt"/>
              <a:buAutoNum type="arabicPeriod"/>
            </a:pPr>
            <a:endParaRPr lang="en-GB" dirty="0"/>
          </a:p>
        </p:txBody>
      </p:sp>
    </p:spTree>
    <p:extLst>
      <p:ext uri="{BB962C8B-B14F-4D97-AF65-F5344CB8AC3E}">
        <p14:creationId xmlns:p14="http://schemas.microsoft.com/office/powerpoint/2010/main" val="3442501962"/>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CC414F5-B2DE-CCD0-8388-F16117777465}"/>
              </a:ext>
            </a:extLst>
          </p:cNvPr>
          <p:cNvSpPr>
            <a:spLocks noGrp="1"/>
          </p:cNvSpPr>
          <p:nvPr>
            <p:ph type="title"/>
          </p:nvPr>
        </p:nvSpPr>
        <p:spPr/>
        <p:txBody>
          <a:bodyPr/>
          <a:lstStyle/>
          <a:p>
            <a:r>
              <a:rPr lang="en-GB" dirty="0"/>
              <a:t>A reminder on PDEs</a:t>
            </a:r>
          </a:p>
        </p:txBody>
      </p:sp>
      <mc:AlternateContent xmlns:mc="http://schemas.openxmlformats.org/markup-compatibility/2006" xmlns:a14="http://schemas.microsoft.com/office/drawing/2010/main">
        <mc:Choice Requires="a14">
          <p:sp>
            <p:nvSpPr>
              <p:cNvPr id="3" name="Content Placeholder 2">
                <a:extLst>
                  <a:ext uri="{FF2B5EF4-FFF2-40B4-BE49-F238E27FC236}">
                    <a16:creationId xmlns:a16="http://schemas.microsoft.com/office/drawing/2014/main" id="{29E4A597-46A7-123D-30B3-89121E4C17CC}"/>
                  </a:ext>
                </a:extLst>
              </p:cNvPr>
              <p:cNvSpPr>
                <a:spLocks noGrp="1"/>
              </p:cNvSpPr>
              <p:nvPr>
                <p:ph idx="1"/>
              </p:nvPr>
            </p:nvSpPr>
            <p:spPr>
              <a:xfrm>
                <a:off x="838200" y="1825624"/>
                <a:ext cx="11049000" cy="5032375"/>
              </a:xfrm>
            </p:spPr>
            <p:txBody>
              <a:bodyPr/>
              <a:lstStyle/>
              <a:p>
                <a:pPr marL="0" indent="0">
                  <a:buNone/>
                </a:pPr>
                <a:r>
                  <a:rPr lang="en-GB" b="1" dirty="0"/>
                  <a:t>Definition (</a:t>
                </a:r>
                <a:r>
                  <a:rPr lang="en-GB" b="1" dirty="0">
                    <a:solidFill>
                      <a:srgbClr val="00B050"/>
                    </a:solidFill>
                  </a:rPr>
                  <a:t>Partial Differential Equation</a:t>
                </a:r>
                <a:r>
                  <a:rPr lang="en-GB" b="1" dirty="0"/>
                  <a:t>):</a:t>
                </a:r>
              </a:p>
              <a:p>
                <a:pPr marL="0" indent="0">
                  <a:buNone/>
                </a:pPr>
                <a:r>
                  <a:rPr lang="en-GB" dirty="0"/>
                  <a:t>A </a:t>
                </a:r>
                <a:r>
                  <a:rPr lang="en-GB" b="1" dirty="0">
                    <a:solidFill>
                      <a:srgbClr val="00B050"/>
                    </a:solidFill>
                  </a:rPr>
                  <a:t>Partial Differential Equation </a:t>
                </a:r>
                <a:r>
                  <a:rPr lang="en-GB" b="1" dirty="0"/>
                  <a:t>(PDE) </a:t>
                </a:r>
                <a:r>
                  <a:rPr lang="en-GB" dirty="0"/>
                  <a:t>is an equation, which computes a </a:t>
                </a:r>
                <a:r>
                  <a:rPr lang="en-GB" b="1" dirty="0"/>
                  <a:t>function</a:t>
                </a:r>
                <a:r>
                  <a:rPr lang="en-GB" dirty="0"/>
                  <a:t> between </a:t>
                </a:r>
                <a:r>
                  <a:rPr lang="en-GB" b="1" dirty="0"/>
                  <a:t>various partial derivatives of a multivariable function</a:t>
                </a:r>
                <a:r>
                  <a:rPr lang="en-GB" dirty="0"/>
                  <a:t>. </a:t>
                </a:r>
              </a:p>
              <a:p>
                <a:pPr marL="0" indent="0">
                  <a:buNone/>
                </a:pPr>
                <a:r>
                  <a:rPr lang="en-GB" dirty="0"/>
                  <a:t>The function is often thought of as an "unknown“ for the equation to be solved for, similar to how </a:t>
                </a:r>
                <a14:m>
                  <m:oMath xmlns:m="http://schemas.openxmlformats.org/officeDocument/2006/math">
                    <m:r>
                      <a:rPr lang="en-GB" i="1" dirty="0" smtClean="0">
                        <a:effectLst/>
                        <a:latin typeface="Cambria Math" panose="02040503050406030204" pitchFamily="18" charset="0"/>
                      </a:rPr>
                      <m:t>𝑥</m:t>
                    </m:r>
                  </m:oMath>
                </a14:m>
                <a:r>
                  <a:rPr lang="en-GB" dirty="0"/>
                  <a:t> is thought of as an unknown number to be solved for in an algebraic equation like </a:t>
                </a:r>
                <a14:m>
                  <m:oMath xmlns:m="http://schemas.openxmlformats.org/officeDocument/2006/math">
                    <m:r>
                      <a:rPr lang="en-GB" i="1" dirty="0" smtClean="0">
                        <a:latin typeface="Cambria Math" panose="02040503050406030204" pitchFamily="18" charset="0"/>
                      </a:rPr>
                      <m:t>𝑥</m:t>
                    </m:r>
                    <m:r>
                      <a:rPr lang="en-GB" i="1" baseline="30000" dirty="0" smtClean="0">
                        <a:latin typeface="Cambria Math" panose="02040503050406030204" pitchFamily="18" charset="0"/>
                      </a:rPr>
                      <m:t>2</m:t>
                    </m:r>
                    <m:r>
                      <a:rPr lang="en-GB" i="1" dirty="0" smtClean="0">
                        <a:latin typeface="Cambria Math" panose="02040503050406030204" pitchFamily="18" charset="0"/>
                      </a:rPr>
                      <m:t> </m:t>
                    </m:r>
                    <m:r>
                      <a:rPr lang="en-GB" b="0" i="1" dirty="0" smtClean="0">
                        <a:latin typeface="Cambria Math" panose="02040503050406030204" pitchFamily="18" charset="0"/>
                      </a:rPr>
                      <m:t>−</m:t>
                    </m:r>
                    <m:r>
                      <a:rPr lang="en-GB" i="1" dirty="0" smtClean="0">
                        <a:latin typeface="Cambria Math" panose="02040503050406030204" pitchFamily="18" charset="0"/>
                      </a:rPr>
                      <m:t> 3</m:t>
                    </m:r>
                    <m:r>
                      <a:rPr lang="en-GB" i="1" dirty="0" smtClean="0">
                        <a:latin typeface="Cambria Math" panose="02040503050406030204" pitchFamily="18" charset="0"/>
                      </a:rPr>
                      <m:t>𝑥</m:t>
                    </m:r>
                    <m:r>
                      <a:rPr lang="en-GB" i="1" dirty="0" smtClean="0">
                        <a:latin typeface="Cambria Math" panose="02040503050406030204" pitchFamily="18" charset="0"/>
                      </a:rPr>
                      <m:t> + 2 = 0</m:t>
                    </m:r>
                  </m:oMath>
                </a14:m>
                <a:r>
                  <a:rPr lang="en-GB" dirty="0"/>
                  <a:t>.</a:t>
                </a:r>
              </a:p>
              <a:p>
                <a:pPr marL="0" indent="0">
                  <a:buNone/>
                </a:pPr>
                <a:r>
                  <a:rPr lang="en-GB" dirty="0"/>
                  <a:t>More often than not, it may (but also may not!) include </a:t>
                </a:r>
                <a:r>
                  <a:rPr lang="en-GB" b="1" dirty="0">
                    <a:solidFill>
                      <a:srgbClr val="7030A0"/>
                    </a:solidFill>
                  </a:rPr>
                  <a:t>initial conditions </a:t>
                </a:r>
                <a:r>
                  <a:rPr lang="en-GB" dirty="0"/>
                  <a:t>on top of the partial derivatives equation.</a:t>
                </a:r>
              </a:p>
              <a:p>
                <a:pPr marL="0" indent="0">
                  <a:buNone/>
                </a:pPr>
                <a:r>
                  <a:rPr lang="en-GB" b="1" dirty="0"/>
                  <a:t>In mathematics, PDEs are notoriously hard to solve and have often been used in Physics, Finance, Optimization and many other fields</a:t>
                </a:r>
              </a:p>
              <a:p>
                <a:pPr marL="0" indent="0">
                  <a:buNone/>
                </a:pPr>
                <a:endParaRPr lang="en-GB" dirty="0"/>
              </a:p>
            </p:txBody>
          </p:sp>
        </mc:Choice>
        <mc:Fallback xmlns="">
          <p:sp>
            <p:nvSpPr>
              <p:cNvPr id="3" name="Content Placeholder 2">
                <a:extLst>
                  <a:ext uri="{FF2B5EF4-FFF2-40B4-BE49-F238E27FC236}">
                    <a16:creationId xmlns:a16="http://schemas.microsoft.com/office/drawing/2014/main" id="{29E4A597-46A7-123D-30B3-89121E4C17CC}"/>
                  </a:ext>
                </a:extLst>
              </p:cNvPr>
              <p:cNvSpPr>
                <a:spLocks noGrp="1" noRot="1" noChangeAspect="1" noMove="1" noResize="1" noEditPoints="1" noAdjustHandles="1" noChangeArrowheads="1" noChangeShapeType="1" noTextEdit="1"/>
              </p:cNvSpPr>
              <p:nvPr>
                <p:ph idx="1"/>
              </p:nvPr>
            </p:nvSpPr>
            <p:spPr>
              <a:xfrm>
                <a:off x="838200" y="1825624"/>
                <a:ext cx="11049000" cy="5032375"/>
              </a:xfrm>
              <a:blipFill>
                <a:blip r:embed="rId2"/>
                <a:stretch>
                  <a:fillRect l="-1159" t="-1937"/>
                </a:stretch>
              </a:blipFill>
            </p:spPr>
            <p:txBody>
              <a:bodyPr/>
              <a:lstStyle/>
              <a:p>
                <a:r>
                  <a:rPr lang="en-GB">
                    <a:noFill/>
                  </a:rPr>
                  <a:t> </a:t>
                </a:r>
              </a:p>
            </p:txBody>
          </p:sp>
        </mc:Fallback>
      </mc:AlternateContent>
    </p:spTree>
    <p:extLst>
      <p:ext uri="{BB962C8B-B14F-4D97-AF65-F5344CB8AC3E}">
        <p14:creationId xmlns:p14="http://schemas.microsoft.com/office/powerpoint/2010/main" val="2874253501"/>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CC414F5-B2DE-CCD0-8388-F16117777465}"/>
              </a:ext>
            </a:extLst>
          </p:cNvPr>
          <p:cNvSpPr>
            <a:spLocks noGrp="1"/>
          </p:cNvSpPr>
          <p:nvPr>
            <p:ph type="title"/>
          </p:nvPr>
        </p:nvSpPr>
        <p:spPr/>
        <p:txBody>
          <a:bodyPr/>
          <a:lstStyle/>
          <a:p>
            <a:r>
              <a:rPr lang="en-GB" dirty="0"/>
              <a:t>Analytical Solution of a PDE</a:t>
            </a:r>
          </a:p>
        </p:txBody>
      </p:sp>
      <p:sp>
        <p:nvSpPr>
          <p:cNvPr id="3" name="Content Placeholder 2">
            <a:extLst>
              <a:ext uri="{FF2B5EF4-FFF2-40B4-BE49-F238E27FC236}">
                <a16:creationId xmlns:a16="http://schemas.microsoft.com/office/drawing/2014/main" id="{29E4A597-46A7-123D-30B3-89121E4C17CC}"/>
              </a:ext>
            </a:extLst>
          </p:cNvPr>
          <p:cNvSpPr>
            <a:spLocks noGrp="1"/>
          </p:cNvSpPr>
          <p:nvPr>
            <p:ph idx="1"/>
          </p:nvPr>
        </p:nvSpPr>
        <p:spPr/>
        <p:txBody>
          <a:bodyPr/>
          <a:lstStyle/>
          <a:p>
            <a:pPr marL="0" indent="0">
              <a:buNone/>
            </a:pPr>
            <a:r>
              <a:rPr lang="en-GB" b="1" dirty="0"/>
              <a:t>Definition (</a:t>
            </a:r>
            <a:r>
              <a:rPr lang="en-GB" b="1" dirty="0">
                <a:solidFill>
                  <a:srgbClr val="00B050"/>
                </a:solidFill>
              </a:rPr>
              <a:t>Analytical Solution </a:t>
            </a:r>
            <a:r>
              <a:rPr lang="en-GB" b="1" dirty="0"/>
              <a:t>of a </a:t>
            </a:r>
            <a:r>
              <a:rPr lang="en-GB" b="1" dirty="0">
                <a:solidFill>
                  <a:srgbClr val="00B050"/>
                </a:solidFill>
              </a:rPr>
              <a:t>Partial Differential Equation</a:t>
            </a:r>
            <a:r>
              <a:rPr lang="en-GB" b="1" dirty="0"/>
              <a:t>):</a:t>
            </a:r>
          </a:p>
          <a:p>
            <a:pPr marL="0" indent="0">
              <a:buNone/>
            </a:pPr>
            <a:r>
              <a:rPr lang="en-GB" dirty="0"/>
              <a:t>The </a:t>
            </a:r>
            <a:r>
              <a:rPr lang="en-GB" b="1" dirty="0">
                <a:solidFill>
                  <a:srgbClr val="00B050"/>
                </a:solidFill>
              </a:rPr>
              <a:t>Analytical Solution </a:t>
            </a:r>
            <a:r>
              <a:rPr lang="en-GB" dirty="0"/>
              <a:t>of a </a:t>
            </a:r>
            <a:r>
              <a:rPr lang="en-GB" b="1" dirty="0">
                <a:solidFill>
                  <a:srgbClr val="00B050"/>
                </a:solidFill>
              </a:rPr>
              <a:t>PDE </a:t>
            </a:r>
            <a:r>
              <a:rPr lang="en-GB" dirty="0"/>
              <a:t>is a </a:t>
            </a:r>
            <a:r>
              <a:rPr lang="en-GB" b="1" dirty="0"/>
              <a:t>function</a:t>
            </a:r>
            <a:r>
              <a:rPr lang="en-GB" dirty="0"/>
              <a:t> (or a </a:t>
            </a:r>
            <a:r>
              <a:rPr lang="en-GB" b="1" dirty="0"/>
              <a:t>set</a:t>
            </a:r>
            <a:r>
              <a:rPr lang="en-GB" dirty="0"/>
              <a:t> </a:t>
            </a:r>
            <a:r>
              <a:rPr lang="en-GB" b="1" dirty="0"/>
              <a:t>of</a:t>
            </a:r>
            <a:r>
              <a:rPr lang="en-GB" dirty="0"/>
              <a:t> </a:t>
            </a:r>
            <a:r>
              <a:rPr lang="en-GB" b="1" dirty="0"/>
              <a:t>functions</a:t>
            </a:r>
            <a:r>
              <a:rPr lang="en-GB" dirty="0"/>
              <a:t>), written in a closed-form expression, which solve the PDE, along with any additional </a:t>
            </a:r>
            <a:r>
              <a:rPr lang="en-GB" b="1" dirty="0">
                <a:solidFill>
                  <a:srgbClr val="7030A0"/>
                </a:solidFill>
              </a:rPr>
              <a:t>initial conditions </a:t>
            </a:r>
            <a:r>
              <a:rPr lang="en-GB" dirty="0"/>
              <a:t>that exist on top of the PDE.</a:t>
            </a:r>
          </a:p>
          <a:p>
            <a:pPr marL="0" indent="0">
              <a:buNone/>
            </a:pPr>
            <a:endParaRPr lang="en-GB" dirty="0"/>
          </a:p>
          <a:p>
            <a:pPr marL="0" indent="0">
              <a:buNone/>
            </a:pPr>
            <a:r>
              <a:rPr lang="en-GB" b="1" dirty="0"/>
              <a:t>Important note: In most scenarios, except for a few favourable scenarios where certain conditions are met on the PDE, it is simply </a:t>
            </a:r>
            <a:r>
              <a:rPr lang="en-GB" b="1" u="sng" dirty="0"/>
              <a:t>impossible</a:t>
            </a:r>
            <a:r>
              <a:rPr lang="en-GB" b="1" dirty="0"/>
              <a:t> to find an analytical solution, and we have no other choice but to resort to approximation mechanisms for solving these PDEs.</a:t>
            </a:r>
          </a:p>
        </p:txBody>
      </p:sp>
    </p:spTree>
    <p:extLst>
      <p:ext uri="{BB962C8B-B14F-4D97-AF65-F5344CB8AC3E}">
        <p14:creationId xmlns:p14="http://schemas.microsoft.com/office/powerpoint/2010/main" val="543531126"/>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4D790BB-5886-E18A-8027-1194C34D4FAA}"/>
              </a:ext>
            </a:extLst>
          </p:cNvPr>
          <p:cNvSpPr>
            <a:spLocks noGrp="1"/>
          </p:cNvSpPr>
          <p:nvPr>
            <p:ph type="title"/>
          </p:nvPr>
        </p:nvSpPr>
        <p:spPr/>
        <p:txBody>
          <a:bodyPr/>
          <a:lstStyle/>
          <a:p>
            <a:r>
              <a:rPr lang="en-GB" dirty="0"/>
              <a:t>The Navier-Stokes example</a:t>
            </a:r>
          </a:p>
        </p:txBody>
      </p:sp>
      <p:sp>
        <p:nvSpPr>
          <p:cNvPr id="3" name="Content Placeholder 2">
            <a:extLst>
              <a:ext uri="{FF2B5EF4-FFF2-40B4-BE49-F238E27FC236}">
                <a16:creationId xmlns:a16="http://schemas.microsoft.com/office/drawing/2014/main" id="{2EA9A3B8-F604-F77C-9EC3-ACBB4FC51375}"/>
              </a:ext>
            </a:extLst>
          </p:cNvPr>
          <p:cNvSpPr>
            <a:spLocks noGrp="1"/>
          </p:cNvSpPr>
          <p:nvPr>
            <p:ph sz="half" idx="1"/>
          </p:nvPr>
        </p:nvSpPr>
        <p:spPr>
          <a:xfrm>
            <a:off x="838200" y="1825624"/>
            <a:ext cx="5181600" cy="5032375"/>
          </a:xfrm>
        </p:spPr>
        <p:txBody>
          <a:bodyPr>
            <a:normAutofit/>
          </a:bodyPr>
          <a:lstStyle/>
          <a:p>
            <a:pPr marL="0" indent="0">
              <a:buNone/>
            </a:pPr>
            <a:r>
              <a:rPr lang="en-GB" b="1" dirty="0"/>
              <a:t>Definition (</a:t>
            </a:r>
            <a:r>
              <a:rPr lang="en-GB" b="1" dirty="0">
                <a:solidFill>
                  <a:srgbClr val="00B050"/>
                </a:solidFill>
              </a:rPr>
              <a:t>The Navier-Stokes equations</a:t>
            </a:r>
            <a:r>
              <a:rPr lang="en-GB" b="1" dirty="0"/>
              <a:t>): </a:t>
            </a:r>
          </a:p>
          <a:p>
            <a:pPr marL="0" indent="0">
              <a:buNone/>
            </a:pPr>
            <a:r>
              <a:rPr lang="en-GB" b="1" dirty="0">
                <a:solidFill>
                  <a:srgbClr val="00B050"/>
                </a:solidFill>
              </a:rPr>
              <a:t>The Navier-Stokes equations </a:t>
            </a:r>
            <a:r>
              <a:rPr lang="en-GB" dirty="0"/>
              <a:t>are PDEs, which are used to describe the motion of viscous fluid substances in Physics.</a:t>
            </a:r>
          </a:p>
          <a:p>
            <a:pPr marL="0" indent="0">
              <a:buNone/>
            </a:pPr>
            <a:r>
              <a:rPr lang="en-GB" dirty="0"/>
              <a:t>They are notoriously hard to solve, and in fact, finding an analytical solution to these PDEs happens to be one of the </a:t>
            </a:r>
            <a:r>
              <a:rPr lang="en-GB" b="1" dirty="0">
                <a:solidFill>
                  <a:srgbClr val="7030A0"/>
                </a:solidFill>
              </a:rPr>
              <a:t>Millennium Prize Problems</a:t>
            </a:r>
            <a:r>
              <a:rPr lang="en-GB" dirty="0"/>
              <a:t>.</a:t>
            </a:r>
          </a:p>
        </p:txBody>
      </p:sp>
      <p:pic>
        <p:nvPicPr>
          <p:cNvPr id="6" name="Picture 5">
            <a:extLst>
              <a:ext uri="{FF2B5EF4-FFF2-40B4-BE49-F238E27FC236}">
                <a16:creationId xmlns:a16="http://schemas.microsoft.com/office/drawing/2014/main" id="{FF357E18-AD93-373D-61DA-199F09CD3ED0}"/>
              </a:ext>
            </a:extLst>
          </p:cNvPr>
          <p:cNvPicPr>
            <a:picLocks noChangeAspect="1"/>
          </p:cNvPicPr>
          <p:nvPr/>
        </p:nvPicPr>
        <p:blipFill>
          <a:blip r:embed="rId2"/>
          <a:stretch>
            <a:fillRect/>
          </a:stretch>
        </p:blipFill>
        <p:spPr>
          <a:xfrm>
            <a:off x="6495765" y="1685681"/>
            <a:ext cx="5431601" cy="4644781"/>
          </a:xfrm>
          <a:prstGeom prst="rect">
            <a:avLst/>
          </a:prstGeom>
        </p:spPr>
      </p:pic>
    </p:spTree>
    <p:extLst>
      <p:ext uri="{BB962C8B-B14F-4D97-AF65-F5344CB8AC3E}">
        <p14:creationId xmlns:p14="http://schemas.microsoft.com/office/powerpoint/2010/main" val="4278395485"/>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B1CC4ED-5D86-861E-2465-31B9BE6A78DF}"/>
              </a:ext>
            </a:extLst>
          </p:cNvPr>
          <p:cNvSpPr>
            <a:spLocks noGrp="1"/>
          </p:cNvSpPr>
          <p:nvPr>
            <p:ph type="title"/>
          </p:nvPr>
        </p:nvSpPr>
        <p:spPr/>
        <p:txBody>
          <a:bodyPr/>
          <a:lstStyle/>
          <a:p>
            <a:r>
              <a:rPr lang="en-GB" dirty="0"/>
              <a:t>The Millenium Prize Problems</a:t>
            </a:r>
          </a:p>
        </p:txBody>
      </p:sp>
      <p:sp>
        <p:nvSpPr>
          <p:cNvPr id="4" name="Content Placeholder 3">
            <a:extLst>
              <a:ext uri="{FF2B5EF4-FFF2-40B4-BE49-F238E27FC236}">
                <a16:creationId xmlns:a16="http://schemas.microsoft.com/office/drawing/2014/main" id="{54081D3F-E0EC-96DE-9BFB-0A9BEF1640F3}"/>
              </a:ext>
            </a:extLst>
          </p:cNvPr>
          <p:cNvSpPr>
            <a:spLocks noGrp="1"/>
          </p:cNvSpPr>
          <p:nvPr>
            <p:ph sz="half" idx="1"/>
          </p:nvPr>
        </p:nvSpPr>
        <p:spPr>
          <a:xfrm>
            <a:off x="838199" y="1825624"/>
            <a:ext cx="6008077" cy="5032375"/>
          </a:xfrm>
        </p:spPr>
        <p:txBody>
          <a:bodyPr>
            <a:normAutofit/>
          </a:bodyPr>
          <a:lstStyle/>
          <a:p>
            <a:pPr marL="0" indent="0">
              <a:buNone/>
            </a:pPr>
            <a:r>
              <a:rPr lang="en-GB" b="1" dirty="0"/>
              <a:t>Definition (</a:t>
            </a:r>
            <a:r>
              <a:rPr lang="en-GB" b="1" dirty="0">
                <a:solidFill>
                  <a:srgbClr val="00B050"/>
                </a:solidFill>
              </a:rPr>
              <a:t>The Millenium Prize Problems</a:t>
            </a:r>
            <a:r>
              <a:rPr lang="en-GB" b="1" dirty="0"/>
              <a:t>):</a:t>
            </a:r>
          </a:p>
          <a:p>
            <a:pPr marL="0" indent="0">
              <a:buNone/>
            </a:pPr>
            <a:r>
              <a:rPr lang="en-GB" dirty="0"/>
              <a:t>The </a:t>
            </a:r>
            <a:r>
              <a:rPr lang="en-GB" b="1" dirty="0">
                <a:solidFill>
                  <a:srgbClr val="00B050"/>
                </a:solidFill>
              </a:rPr>
              <a:t>Millennium Prize Problems </a:t>
            </a:r>
            <a:r>
              <a:rPr lang="en-GB" dirty="0"/>
              <a:t>are seven well-known complex mathematical problems selected by the Clay Mathematics Institute in 2000.</a:t>
            </a:r>
          </a:p>
          <a:p>
            <a:pPr marL="0" indent="0">
              <a:buNone/>
            </a:pPr>
            <a:r>
              <a:rPr lang="en-GB" dirty="0"/>
              <a:t>The Clay Institute has pledged a US$1 million prize for the first correct solution to each problem. </a:t>
            </a:r>
          </a:p>
          <a:p>
            <a:pPr marL="0" indent="0">
              <a:buNone/>
            </a:pPr>
            <a:r>
              <a:rPr lang="en-GB" dirty="0"/>
              <a:t>To this day, only one of them has been solved (The </a:t>
            </a:r>
            <a:r>
              <a:rPr lang="en-GB" dirty="0" err="1"/>
              <a:t>Poincaré</a:t>
            </a:r>
            <a:r>
              <a:rPr lang="en-GB" dirty="0"/>
              <a:t> Conjecture).</a:t>
            </a:r>
          </a:p>
        </p:txBody>
      </p:sp>
      <p:pic>
        <p:nvPicPr>
          <p:cNvPr id="7" name="Picture 6" descr="A close-up of a document&#10;&#10;Description automatically generated">
            <a:extLst>
              <a:ext uri="{FF2B5EF4-FFF2-40B4-BE49-F238E27FC236}">
                <a16:creationId xmlns:a16="http://schemas.microsoft.com/office/drawing/2014/main" id="{4147B3AC-C418-D807-F4CE-A026A21BFC73}"/>
              </a:ext>
            </a:extLst>
          </p:cNvPr>
          <p:cNvPicPr>
            <a:picLocks noChangeAspect="1"/>
          </p:cNvPicPr>
          <p:nvPr/>
        </p:nvPicPr>
        <p:blipFill rotWithShape="1">
          <a:blip r:embed="rId2">
            <a:extLst>
              <a:ext uri="{28A0092B-C50C-407E-A947-70E740481C1C}">
                <a14:useLocalDpi xmlns:a14="http://schemas.microsoft.com/office/drawing/2010/main" val="0"/>
              </a:ext>
            </a:extLst>
          </a:blip>
          <a:srcRect l="4000" t="21728" r="30410" b="11800"/>
          <a:stretch/>
        </p:blipFill>
        <p:spPr>
          <a:xfrm>
            <a:off x="7104184" y="2874716"/>
            <a:ext cx="4935415" cy="2813473"/>
          </a:xfrm>
          <a:prstGeom prst="rect">
            <a:avLst/>
          </a:prstGeom>
        </p:spPr>
      </p:pic>
    </p:spTree>
    <p:extLst>
      <p:ext uri="{BB962C8B-B14F-4D97-AF65-F5344CB8AC3E}">
        <p14:creationId xmlns:p14="http://schemas.microsoft.com/office/powerpoint/2010/main" val="4249816817"/>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B1CC4ED-5D86-861E-2465-31B9BE6A78DF}"/>
              </a:ext>
            </a:extLst>
          </p:cNvPr>
          <p:cNvSpPr>
            <a:spLocks noGrp="1"/>
          </p:cNvSpPr>
          <p:nvPr>
            <p:ph type="title"/>
          </p:nvPr>
        </p:nvSpPr>
        <p:spPr/>
        <p:txBody>
          <a:bodyPr/>
          <a:lstStyle/>
          <a:p>
            <a:r>
              <a:rPr lang="en-GB" dirty="0"/>
              <a:t>The Millenium Prize Problems</a:t>
            </a:r>
          </a:p>
        </p:txBody>
      </p:sp>
      <p:sp>
        <p:nvSpPr>
          <p:cNvPr id="4" name="Content Placeholder 3">
            <a:extLst>
              <a:ext uri="{FF2B5EF4-FFF2-40B4-BE49-F238E27FC236}">
                <a16:creationId xmlns:a16="http://schemas.microsoft.com/office/drawing/2014/main" id="{54081D3F-E0EC-96DE-9BFB-0A9BEF1640F3}"/>
              </a:ext>
            </a:extLst>
          </p:cNvPr>
          <p:cNvSpPr>
            <a:spLocks noGrp="1"/>
          </p:cNvSpPr>
          <p:nvPr>
            <p:ph sz="half" idx="1"/>
          </p:nvPr>
        </p:nvSpPr>
        <p:spPr>
          <a:xfrm>
            <a:off x="838199" y="1825624"/>
            <a:ext cx="6008077" cy="5032375"/>
          </a:xfrm>
        </p:spPr>
        <p:txBody>
          <a:bodyPr>
            <a:normAutofit/>
          </a:bodyPr>
          <a:lstStyle/>
          <a:p>
            <a:pPr marL="0" indent="0">
              <a:buNone/>
            </a:pPr>
            <a:r>
              <a:rPr lang="en-GB" b="1" dirty="0"/>
              <a:t>Definition (</a:t>
            </a:r>
            <a:r>
              <a:rPr lang="en-GB" b="1" dirty="0">
                <a:solidFill>
                  <a:srgbClr val="00B050"/>
                </a:solidFill>
              </a:rPr>
              <a:t>The Millenium Prize Problems</a:t>
            </a:r>
            <a:r>
              <a:rPr lang="en-GB" b="1" dirty="0"/>
              <a:t>):</a:t>
            </a:r>
          </a:p>
          <a:p>
            <a:pPr marL="0" indent="0">
              <a:buNone/>
            </a:pPr>
            <a:r>
              <a:rPr lang="en-GB" dirty="0"/>
              <a:t>The </a:t>
            </a:r>
            <a:r>
              <a:rPr lang="en-GB" b="1" dirty="0">
                <a:solidFill>
                  <a:srgbClr val="00B050"/>
                </a:solidFill>
              </a:rPr>
              <a:t>Millennium Prize Problems </a:t>
            </a:r>
            <a:r>
              <a:rPr lang="en-GB" dirty="0"/>
              <a:t>are seven well-known complex mathematical problems selected by the Clay Mathematics Institute in 2000.</a:t>
            </a:r>
          </a:p>
          <a:p>
            <a:pPr marL="0" indent="0">
              <a:buNone/>
            </a:pPr>
            <a:r>
              <a:rPr lang="en-GB" dirty="0"/>
              <a:t>The Clay Institute has pledged a US$1 million prize for the first correct solution to each problem. </a:t>
            </a:r>
          </a:p>
          <a:p>
            <a:pPr marL="0" indent="0">
              <a:buNone/>
            </a:pPr>
            <a:r>
              <a:rPr lang="en-GB" dirty="0"/>
              <a:t>To this day, only one of them has been solved (The </a:t>
            </a:r>
            <a:r>
              <a:rPr lang="en-GB" dirty="0" err="1"/>
              <a:t>Poincaré</a:t>
            </a:r>
            <a:r>
              <a:rPr lang="en-GB" dirty="0"/>
              <a:t> Conjecture).</a:t>
            </a:r>
          </a:p>
        </p:txBody>
      </p:sp>
      <p:pic>
        <p:nvPicPr>
          <p:cNvPr id="9" name="Picture 8" descr="A close-up of a document&#10;&#10;Description automatically generated">
            <a:extLst>
              <a:ext uri="{FF2B5EF4-FFF2-40B4-BE49-F238E27FC236}">
                <a16:creationId xmlns:a16="http://schemas.microsoft.com/office/drawing/2014/main" id="{34DCE7F4-2B14-6D99-2080-E6D082C28537}"/>
              </a:ext>
            </a:extLst>
          </p:cNvPr>
          <p:cNvPicPr>
            <a:picLocks noChangeAspect="1"/>
          </p:cNvPicPr>
          <p:nvPr/>
        </p:nvPicPr>
        <p:blipFill rotWithShape="1">
          <a:blip r:embed="rId2">
            <a:extLst>
              <a:ext uri="{28A0092B-C50C-407E-A947-70E740481C1C}">
                <a14:useLocalDpi xmlns:a14="http://schemas.microsoft.com/office/drawing/2010/main" val="0"/>
              </a:ext>
            </a:extLst>
          </a:blip>
          <a:srcRect l="4000" t="21728" r="30410" b="11800"/>
          <a:stretch/>
        </p:blipFill>
        <p:spPr>
          <a:xfrm>
            <a:off x="7104184" y="2874716"/>
            <a:ext cx="4935415" cy="2813473"/>
          </a:xfrm>
          <a:prstGeom prst="rect">
            <a:avLst/>
          </a:prstGeom>
        </p:spPr>
      </p:pic>
      <p:pic>
        <p:nvPicPr>
          <p:cNvPr id="10" name="Picture 9">
            <a:extLst>
              <a:ext uri="{FF2B5EF4-FFF2-40B4-BE49-F238E27FC236}">
                <a16:creationId xmlns:a16="http://schemas.microsoft.com/office/drawing/2014/main" id="{FE223D88-982F-072A-931E-54E34402B227}"/>
              </a:ext>
            </a:extLst>
          </p:cNvPr>
          <p:cNvPicPr>
            <a:picLocks noChangeAspect="1"/>
          </p:cNvPicPr>
          <p:nvPr/>
        </p:nvPicPr>
        <p:blipFill>
          <a:blip r:embed="rId3"/>
          <a:stretch>
            <a:fillRect/>
          </a:stretch>
        </p:blipFill>
        <p:spPr>
          <a:xfrm>
            <a:off x="2499810" y="237679"/>
            <a:ext cx="7192379" cy="6382641"/>
          </a:xfrm>
          <a:prstGeom prst="rect">
            <a:avLst/>
          </a:prstGeom>
          <a:ln w="38100" cap="sq">
            <a:solidFill>
              <a:srgbClr val="000000"/>
            </a:solidFill>
            <a:prstDash val="solid"/>
            <a:miter lim="800000"/>
          </a:ln>
          <a:effectLst>
            <a:outerShdw blurRad="50800" dist="38100" dir="2700000" algn="tl" rotWithShape="0">
              <a:srgbClr val="000000">
                <a:alpha val="43000"/>
              </a:srgbClr>
            </a:outerShdw>
          </a:effectLst>
        </p:spPr>
      </p:pic>
    </p:spTree>
    <p:extLst>
      <p:ext uri="{BB962C8B-B14F-4D97-AF65-F5344CB8AC3E}">
        <p14:creationId xmlns:p14="http://schemas.microsoft.com/office/powerpoint/2010/main" val="554846073"/>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6850101-943E-44F4-74ED-F0988172728F}"/>
              </a:ext>
            </a:extLst>
          </p:cNvPr>
          <p:cNvSpPr>
            <a:spLocks noGrp="1"/>
          </p:cNvSpPr>
          <p:nvPr>
            <p:ph type="title"/>
          </p:nvPr>
        </p:nvSpPr>
        <p:spPr/>
        <p:txBody>
          <a:bodyPr/>
          <a:lstStyle/>
          <a:p>
            <a:r>
              <a:rPr lang="en-GB" dirty="0"/>
              <a:t>Quick parenthesis: Why is Navier-Stokes a Millenium Prize Problem anyway?</a:t>
            </a:r>
          </a:p>
        </p:txBody>
      </p:sp>
      <p:sp>
        <p:nvSpPr>
          <p:cNvPr id="5" name="Content Placeholder 4">
            <a:extLst>
              <a:ext uri="{FF2B5EF4-FFF2-40B4-BE49-F238E27FC236}">
                <a16:creationId xmlns:a16="http://schemas.microsoft.com/office/drawing/2014/main" id="{377F84B0-AEB0-550C-29BD-92335EBE11DD}"/>
              </a:ext>
            </a:extLst>
          </p:cNvPr>
          <p:cNvSpPr>
            <a:spLocks noGrp="1"/>
          </p:cNvSpPr>
          <p:nvPr>
            <p:ph idx="1"/>
          </p:nvPr>
        </p:nvSpPr>
        <p:spPr>
          <a:xfrm>
            <a:off x="838200" y="1825624"/>
            <a:ext cx="10515600" cy="5032375"/>
          </a:xfrm>
        </p:spPr>
        <p:txBody>
          <a:bodyPr/>
          <a:lstStyle/>
          <a:p>
            <a:r>
              <a:rPr lang="en-GB" dirty="0"/>
              <a:t>The Navier-Stokes equations are fundamental in physics and engineering. We use them in everything from predicting weather, understanding ocean currents, modelling blood flow patterns to understanding aerodynamics and friction in cars/airplanes.</a:t>
            </a:r>
          </a:p>
          <a:p>
            <a:pPr marL="0" indent="0">
              <a:buNone/>
            </a:pPr>
            <a:r>
              <a:rPr lang="en-GB" dirty="0"/>
              <a:t>But more importantly,</a:t>
            </a:r>
          </a:p>
          <a:p>
            <a:r>
              <a:rPr lang="en-GB" dirty="0"/>
              <a:t>It is a </a:t>
            </a:r>
            <a:r>
              <a:rPr lang="en-GB" b="1" dirty="0"/>
              <a:t>prime example of a PDE that is hard-to-solve</a:t>
            </a:r>
            <a:r>
              <a:rPr lang="en-GB" dirty="0"/>
              <a:t>.</a:t>
            </a:r>
          </a:p>
          <a:p>
            <a:r>
              <a:rPr lang="en-GB" dirty="0"/>
              <a:t>Our understandings of mathematics and PDEs simply are not good enough for solving this type of PDE problems at the moment.</a:t>
            </a:r>
          </a:p>
          <a:p>
            <a:r>
              <a:rPr lang="en-GB" b="1" dirty="0"/>
              <a:t>Being able to solve Navier-Stokes analytically would require new techniques or insights that could be applied to other challenging problems in mathematics or physics.</a:t>
            </a:r>
          </a:p>
        </p:txBody>
      </p:sp>
    </p:spTree>
    <p:extLst>
      <p:ext uri="{BB962C8B-B14F-4D97-AF65-F5344CB8AC3E}">
        <p14:creationId xmlns:p14="http://schemas.microsoft.com/office/powerpoint/2010/main" val="1781579465"/>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0317725-A347-E236-7189-1EA41BF9B6FB}"/>
              </a:ext>
            </a:extLst>
          </p:cNvPr>
          <p:cNvSpPr>
            <a:spLocks noGrp="1"/>
          </p:cNvSpPr>
          <p:nvPr>
            <p:ph type="title"/>
          </p:nvPr>
        </p:nvSpPr>
        <p:spPr/>
        <p:txBody>
          <a:bodyPr/>
          <a:lstStyle/>
          <a:p>
            <a:r>
              <a:rPr lang="en-GB" dirty="0"/>
              <a:t>Finite Element Methods and PDEs</a:t>
            </a:r>
          </a:p>
        </p:txBody>
      </p:sp>
      <p:sp>
        <p:nvSpPr>
          <p:cNvPr id="3" name="Content Placeholder 2">
            <a:extLst>
              <a:ext uri="{FF2B5EF4-FFF2-40B4-BE49-F238E27FC236}">
                <a16:creationId xmlns:a16="http://schemas.microsoft.com/office/drawing/2014/main" id="{C4AD3B69-B70C-B61B-ECD7-9AAE65BF707B}"/>
              </a:ext>
            </a:extLst>
          </p:cNvPr>
          <p:cNvSpPr>
            <a:spLocks noGrp="1"/>
          </p:cNvSpPr>
          <p:nvPr>
            <p:ph sz="half" idx="1"/>
          </p:nvPr>
        </p:nvSpPr>
        <p:spPr>
          <a:xfrm>
            <a:off x="838200" y="1825624"/>
            <a:ext cx="5181600" cy="5032375"/>
          </a:xfrm>
        </p:spPr>
        <p:txBody>
          <a:bodyPr>
            <a:normAutofit/>
          </a:bodyPr>
          <a:lstStyle/>
          <a:p>
            <a:pPr marL="0" indent="0">
              <a:buNone/>
            </a:pPr>
            <a:r>
              <a:rPr lang="en-GB" b="1" dirty="0"/>
              <a:t>Definition (The finite element method – out-of-scope):</a:t>
            </a:r>
          </a:p>
          <a:p>
            <a:pPr marL="0" indent="0">
              <a:buNone/>
            </a:pPr>
            <a:r>
              <a:rPr lang="en-GB" dirty="0"/>
              <a:t>The </a:t>
            </a:r>
            <a:r>
              <a:rPr lang="en-GB" b="1" dirty="0">
                <a:solidFill>
                  <a:srgbClr val="00B050"/>
                </a:solidFill>
              </a:rPr>
              <a:t>Finite Element Method </a:t>
            </a:r>
            <a:r>
              <a:rPr lang="en-GB" b="1" dirty="0"/>
              <a:t>(</a:t>
            </a:r>
            <a:r>
              <a:rPr lang="en-GB" b="1" dirty="0">
                <a:solidFill>
                  <a:srgbClr val="00B050"/>
                </a:solidFill>
              </a:rPr>
              <a:t>FEM</a:t>
            </a:r>
            <a:r>
              <a:rPr lang="en-GB" b="1" dirty="0"/>
              <a:t>) </a:t>
            </a:r>
            <a:r>
              <a:rPr lang="en-GB" dirty="0"/>
              <a:t>is one of the many popular method for numerically solving (i.e. provide an approximation of the analytical solution to) hard-to-solve partial differential equations, for which no analytical solutions have yet been found.</a:t>
            </a:r>
          </a:p>
        </p:txBody>
      </p:sp>
      <p:pic>
        <p:nvPicPr>
          <p:cNvPr id="6" name="Picture 5" descr="A multicolored grid on a metal beam&#10;&#10;Description automatically generated">
            <a:extLst>
              <a:ext uri="{FF2B5EF4-FFF2-40B4-BE49-F238E27FC236}">
                <a16:creationId xmlns:a16="http://schemas.microsoft.com/office/drawing/2014/main" id="{AAE3F010-039D-DB5B-9165-1FD9DDC13E3A}"/>
              </a:ext>
            </a:extLst>
          </p:cNvPr>
          <p:cNvPicPr>
            <a:picLocks noChangeAspect="1"/>
          </p:cNvPicPr>
          <p:nvPr/>
        </p:nvPicPr>
        <p:blipFill rotWithShape="1">
          <a:blip r:embed="rId2">
            <a:extLst>
              <a:ext uri="{28A0092B-C50C-407E-A947-70E740481C1C}">
                <a14:useLocalDpi xmlns:a14="http://schemas.microsoft.com/office/drawing/2010/main" val="0"/>
              </a:ext>
            </a:extLst>
          </a:blip>
          <a:srcRect r="26872"/>
          <a:stretch/>
        </p:blipFill>
        <p:spPr>
          <a:xfrm>
            <a:off x="6488723" y="1523999"/>
            <a:ext cx="5450474" cy="4968875"/>
          </a:xfrm>
          <a:prstGeom prst="rect">
            <a:avLst/>
          </a:prstGeom>
        </p:spPr>
      </p:pic>
    </p:spTree>
    <p:extLst>
      <p:ext uri="{BB962C8B-B14F-4D97-AF65-F5344CB8AC3E}">
        <p14:creationId xmlns:p14="http://schemas.microsoft.com/office/powerpoint/2010/main" val="2542347167"/>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0317725-A347-E236-7189-1EA41BF9B6FB}"/>
              </a:ext>
            </a:extLst>
          </p:cNvPr>
          <p:cNvSpPr>
            <a:spLocks noGrp="1"/>
          </p:cNvSpPr>
          <p:nvPr>
            <p:ph type="title"/>
          </p:nvPr>
        </p:nvSpPr>
        <p:spPr/>
        <p:txBody>
          <a:bodyPr/>
          <a:lstStyle/>
          <a:p>
            <a:r>
              <a:rPr lang="en-GB" dirty="0"/>
              <a:t>Finite Element Methods and PDEs</a:t>
            </a:r>
          </a:p>
        </p:txBody>
      </p:sp>
      <p:sp>
        <p:nvSpPr>
          <p:cNvPr id="3" name="Content Placeholder 2">
            <a:extLst>
              <a:ext uri="{FF2B5EF4-FFF2-40B4-BE49-F238E27FC236}">
                <a16:creationId xmlns:a16="http://schemas.microsoft.com/office/drawing/2014/main" id="{C4AD3B69-B70C-B61B-ECD7-9AAE65BF707B}"/>
              </a:ext>
            </a:extLst>
          </p:cNvPr>
          <p:cNvSpPr>
            <a:spLocks noGrp="1"/>
          </p:cNvSpPr>
          <p:nvPr>
            <p:ph sz="half" idx="1"/>
          </p:nvPr>
        </p:nvSpPr>
        <p:spPr>
          <a:xfrm>
            <a:off x="838200" y="1825624"/>
            <a:ext cx="5802086" cy="5032375"/>
          </a:xfrm>
        </p:spPr>
        <p:txBody>
          <a:bodyPr>
            <a:normAutofit/>
          </a:bodyPr>
          <a:lstStyle/>
          <a:p>
            <a:pPr marL="0" indent="0">
              <a:buNone/>
            </a:pPr>
            <a:r>
              <a:rPr lang="en-GB" b="1" dirty="0"/>
              <a:t>How it works (out-of-scope):</a:t>
            </a:r>
          </a:p>
          <a:p>
            <a:r>
              <a:rPr lang="en-GB" dirty="0"/>
              <a:t>The FEM subdivides a large system into smaller, simpler parts called </a:t>
            </a:r>
            <a:r>
              <a:rPr lang="en-GB" b="1" dirty="0"/>
              <a:t>finite elements</a:t>
            </a:r>
            <a:r>
              <a:rPr lang="en-GB" dirty="0"/>
              <a:t>.</a:t>
            </a:r>
          </a:p>
          <a:p>
            <a:r>
              <a:rPr lang="en-GB" dirty="0"/>
              <a:t>This is achieved by creating a particular space discretization in the space dimensions, called a </a:t>
            </a:r>
            <a:r>
              <a:rPr lang="en-GB" b="1" dirty="0"/>
              <a:t>mesh</a:t>
            </a:r>
            <a:r>
              <a:rPr lang="en-GB" dirty="0"/>
              <a:t>.</a:t>
            </a:r>
          </a:p>
          <a:p>
            <a:r>
              <a:rPr lang="en-GB" dirty="0"/>
              <a:t>The method then approximates the “unknown” analytical solution over the domain using </a:t>
            </a:r>
            <a:r>
              <a:rPr lang="en-GB" b="1" dirty="0"/>
              <a:t>local approximations of derivatives</a:t>
            </a:r>
            <a:r>
              <a:rPr lang="en-GB" dirty="0"/>
              <a:t>.</a:t>
            </a:r>
          </a:p>
        </p:txBody>
      </p:sp>
      <p:pic>
        <p:nvPicPr>
          <p:cNvPr id="6" name="Picture 5" descr="A multicolored grid on a metal beam&#10;&#10;Description automatically generated">
            <a:extLst>
              <a:ext uri="{FF2B5EF4-FFF2-40B4-BE49-F238E27FC236}">
                <a16:creationId xmlns:a16="http://schemas.microsoft.com/office/drawing/2014/main" id="{AAE3F010-039D-DB5B-9165-1FD9DDC13E3A}"/>
              </a:ext>
            </a:extLst>
          </p:cNvPr>
          <p:cNvPicPr>
            <a:picLocks noChangeAspect="1"/>
          </p:cNvPicPr>
          <p:nvPr/>
        </p:nvPicPr>
        <p:blipFill rotWithShape="1">
          <a:blip r:embed="rId2">
            <a:extLst>
              <a:ext uri="{28A0092B-C50C-407E-A947-70E740481C1C}">
                <a14:useLocalDpi xmlns:a14="http://schemas.microsoft.com/office/drawing/2010/main" val="0"/>
              </a:ext>
            </a:extLst>
          </a:blip>
          <a:srcRect r="26872"/>
          <a:stretch/>
        </p:blipFill>
        <p:spPr>
          <a:xfrm>
            <a:off x="6488723" y="1523999"/>
            <a:ext cx="5450474" cy="4968875"/>
          </a:xfrm>
          <a:prstGeom prst="rect">
            <a:avLst/>
          </a:prstGeom>
        </p:spPr>
      </p:pic>
    </p:spTree>
    <p:extLst>
      <p:ext uri="{BB962C8B-B14F-4D97-AF65-F5344CB8AC3E}">
        <p14:creationId xmlns:p14="http://schemas.microsoft.com/office/powerpoint/2010/main" val="1931150838"/>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0317725-A347-E236-7189-1EA41BF9B6FB}"/>
              </a:ext>
            </a:extLst>
          </p:cNvPr>
          <p:cNvSpPr>
            <a:spLocks noGrp="1"/>
          </p:cNvSpPr>
          <p:nvPr>
            <p:ph type="title"/>
          </p:nvPr>
        </p:nvSpPr>
        <p:spPr/>
        <p:txBody>
          <a:bodyPr/>
          <a:lstStyle/>
          <a:p>
            <a:r>
              <a:rPr lang="en-GB" dirty="0"/>
              <a:t>Finite Element Methods and PDEs</a:t>
            </a:r>
          </a:p>
        </p:txBody>
      </p:sp>
      <p:sp>
        <p:nvSpPr>
          <p:cNvPr id="3" name="Content Placeholder 2">
            <a:extLst>
              <a:ext uri="{FF2B5EF4-FFF2-40B4-BE49-F238E27FC236}">
                <a16:creationId xmlns:a16="http://schemas.microsoft.com/office/drawing/2014/main" id="{C4AD3B69-B70C-B61B-ECD7-9AAE65BF707B}"/>
              </a:ext>
            </a:extLst>
          </p:cNvPr>
          <p:cNvSpPr>
            <a:spLocks noGrp="1"/>
          </p:cNvSpPr>
          <p:nvPr>
            <p:ph idx="1"/>
          </p:nvPr>
        </p:nvSpPr>
        <p:spPr>
          <a:xfrm>
            <a:off x="838200" y="1825624"/>
            <a:ext cx="10515600" cy="5032375"/>
          </a:xfrm>
        </p:spPr>
        <p:txBody>
          <a:bodyPr>
            <a:normAutofit lnSpcReduction="10000"/>
          </a:bodyPr>
          <a:lstStyle/>
          <a:p>
            <a:pPr marL="0" indent="0">
              <a:buNone/>
            </a:pPr>
            <a:r>
              <a:rPr lang="en-GB" b="1" dirty="0"/>
              <a:t>While FEM works, it suffers from a few problems:</a:t>
            </a:r>
          </a:p>
          <a:p>
            <a:pPr>
              <a:buFont typeface="+mj-lt"/>
              <a:buAutoNum type="arabicPeriod"/>
            </a:pPr>
            <a:r>
              <a:rPr lang="en-GB" b="1" dirty="0"/>
              <a:t>Complex Geometries</a:t>
            </a:r>
            <a:r>
              <a:rPr lang="en-GB" dirty="0"/>
              <a:t>: FEM requires the domain of interest to be discretized into elements. Challenging mesh generation and may require massive computational costs.</a:t>
            </a:r>
          </a:p>
          <a:p>
            <a:pPr>
              <a:buFont typeface="+mj-lt"/>
              <a:buAutoNum type="arabicPeriod"/>
            </a:pPr>
            <a:r>
              <a:rPr lang="en-GB" b="1" dirty="0"/>
              <a:t>High-dimensional Problems</a:t>
            </a:r>
            <a:r>
              <a:rPr lang="en-GB" dirty="0"/>
              <a:t>: FEM might become computationally expensive for problems with a high number of dimensions due to a problem called the "curse of dimensionality."</a:t>
            </a:r>
          </a:p>
          <a:p>
            <a:pPr>
              <a:buFont typeface="+mj-lt"/>
              <a:buAutoNum type="arabicPeriod"/>
            </a:pPr>
            <a:r>
              <a:rPr lang="en-GB" b="1" dirty="0"/>
              <a:t>Time dependence issues</a:t>
            </a:r>
            <a:r>
              <a:rPr lang="en-GB" dirty="0"/>
              <a:t>: Time-dependent problems might need small time steps for stability, which leads to computational costs.</a:t>
            </a:r>
          </a:p>
          <a:p>
            <a:pPr>
              <a:buFont typeface="+mj-lt"/>
              <a:buAutoNum type="arabicPeriod"/>
            </a:pPr>
            <a:r>
              <a:rPr lang="en-GB" b="1" dirty="0"/>
              <a:t>Parallelization</a:t>
            </a:r>
            <a:r>
              <a:rPr lang="en-GB" dirty="0"/>
              <a:t>: While FEM can be parallelized, it often requires sophisticated algorithms and data structures to do so, especially for adaptive meshing in 3D.</a:t>
            </a:r>
          </a:p>
        </p:txBody>
      </p:sp>
    </p:spTree>
    <p:extLst>
      <p:ext uri="{BB962C8B-B14F-4D97-AF65-F5344CB8AC3E}">
        <p14:creationId xmlns:p14="http://schemas.microsoft.com/office/powerpoint/2010/main" val="3072474516"/>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0317725-A347-E236-7189-1EA41BF9B6FB}"/>
              </a:ext>
            </a:extLst>
          </p:cNvPr>
          <p:cNvSpPr>
            <a:spLocks noGrp="1"/>
          </p:cNvSpPr>
          <p:nvPr>
            <p:ph type="title"/>
          </p:nvPr>
        </p:nvSpPr>
        <p:spPr/>
        <p:txBody>
          <a:bodyPr/>
          <a:lstStyle/>
          <a:p>
            <a:r>
              <a:rPr lang="en-GB" dirty="0"/>
              <a:t>Finite Element Methods and PDEs</a:t>
            </a:r>
          </a:p>
        </p:txBody>
      </p:sp>
      <p:sp>
        <p:nvSpPr>
          <p:cNvPr id="3" name="Content Placeholder 2">
            <a:extLst>
              <a:ext uri="{FF2B5EF4-FFF2-40B4-BE49-F238E27FC236}">
                <a16:creationId xmlns:a16="http://schemas.microsoft.com/office/drawing/2014/main" id="{C4AD3B69-B70C-B61B-ECD7-9AAE65BF707B}"/>
              </a:ext>
            </a:extLst>
          </p:cNvPr>
          <p:cNvSpPr>
            <a:spLocks noGrp="1"/>
          </p:cNvSpPr>
          <p:nvPr>
            <p:ph idx="1"/>
          </p:nvPr>
        </p:nvSpPr>
        <p:spPr>
          <a:xfrm>
            <a:off x="838200" y="1825624"/>
            <a:ext cx="10515600" cy="5032375"/>
          </a:xfrm>
        </p:spPr>
        <p:txBody>
          <a:bodyPr>
            <a:normAutofit lnSpcReduction="10000"/>
          </a:bodyPr>
          <a:lstStyle/>
          <a:p>
            <a:pPr marL="0" indent="0">
              <a:buNone/>
            </a:pPr>
            <a:r>
              <a:rPr lang="en-GB" b="1" dirty="0">
                <a:solidFill>
                  <a:schemeClr val="bg1">
                    <a:lumMod val="75000"/>
                  </a:schemeClr>
                </a:solidFill>
              </a:rPr>
              <a:t>While FEM works, it suffers from a few problems:</a:t>
            </a:r>
          </a:p>
          <a:p>
            <a:pPr>
              <a:buFont typeface="+mj-lt"/>
              <a:buAutoNum type="arabicPeriod"/>
            </a:pPr>
            <a:r>
              <a:rPr lang="en-GB" b="1" dirty="0">
                <a:solidFill>
                  <a:schemeClr val="bg1">
                    <a:lumMod val="75000"/>
                  </a:schemeClr>
                </a:solidFill>
              </a:rPr>
              <a:t>Complex Geometries</a:t>
            </a:r>
            <a:r>
              <a:rPr lang="en-GB" dirty="0">
                <a:solidFill>
                  <a:schemeClr val="bg1">
                    <a:lumMod val="75000"/>
                  </a:schemeClr>
                </a:solidFill>
              </a:rPr>
              <a:t>: FEM requires the domain of interest to be discretized into elements. Challenging mesh generation and may require massive computational costs.</a:t>
            </a:r>
          </a:p>
          <a:p>
            <a:pPr>
              <a:buFont typeface="+mj-lt"/>
              <a:buAutoNum type="arabicPeriod"/>
            </a:pPr>
            <a:r>
              <a:rPr lang="en-GB" b="1" dirty="0">
                <a:solidFill>
                  <a:schemeClr val="bg1">
                    <a:lumMod val="75000"/>
                  </a:schemeClr>
                </a:solidFill>
              </a:rPr>
              <a:t>High-dimensional Problems</a:t>
            </a:r>
            <a:r>
              <a:rPr lang="en-GB" dirty="0">
                <a:solidFill>
                  <a:schemeClr val="bg1">
                    <a:lumMod val="75000"/>
                  </a:schemeClr>
                </a:solidFill>
              </a:rPr>
              <a:t>: FEM might become computationally expensive for problems with a high number of dimensions due to a problem called the "curse of dimensionality."</a:t>
            </a:r>
          </a:p>
          <a:p>
            <a:pPr>
              <a:buFont typeface="+mj-lt"/>
              <a:buAutoNum type="arabicPeriod"/>
            </a:pPr>
            <a:r>
              <a:rPr lang="en-GB" b="1" dirty="0">
                <a:solidFill>
                  <a:schemeClr val="bg1">
                    <a:lumMod val="75000"/>
                  </a:schemeClr>
                </a:solidFill>
              </a:rPr>
              <a:t>Time dependence issues</a:t>
            </a:r>
            <a:r>
              <a:rPr lang="en-GB" dirty="0">
                <a:solidFill>
                  <a:schemeClr val="bg1">
                    <a:lumMod val="75000"/>
                  </a:schemeClr>
                </a:solidFill>
              </a:rPr>
              <a:t>: Time-dependent problems might need small time steps for stability, which leads to computational costs.</a:t>
            </a:r>
          </a:p>
          <a:p>
            <a:pPr>
              <a:buFont typeface="+mj-lt"/>
              <a:buAutoNum type="arabicPeriod"/>
            </a:pPr>
            <a:r>
              <a:rPr lang="en-GB" b="1" dirty="0">
                <a:solidFill>
                  <a:schemeClr val="bg1">
                    <a:lumMod val="75000"/>
                  </a:schemeClr>
                </a:solidFill>
              </a:rPr>
              <a:t>Parallelization</a:t>
            </a:r>
            <a:r>
              <a:rPr lang="en-GB" dirty="0">
                <a:solidFill>
                  <a:schemeClr val="bg1">
                    <a:lumMod val="75000"/>
                  </a:schemeClr>
                </a:solidFill>
              </a:rPr>
              <a:t>: While FEM can be parallelized, it often requires sophisticated algorithms and data structures to do so, especially for adaptive meshing in 3D.</a:t>
            </a:r>
          </a:p>
        </p:txBody>
      </p:sp>
      <p:sp>
        <p:nvSpPr>
          <p:cNvPr id="4" name="TextBox 3">
            <a:extLst>
              <a:ext uri="{FF2B5EF4-FFF2-40B4-BE49-F238E27FC236}">
                <a16:creationId xmlns:a16="http://schemas.microsoft.com/office/drawing/2014/main" id="{D3C5590A-CFE8-8F0F-C55A-503D735D95CE}"/>
              </a:ext>
            </a:extLst>
          </p:cNvPr>
          <p:cNvSpPr txBox="1"/>
          <p:nvPr/>
        </p:nvSpPr>
        <p:spPr>
          <a:xfrm rot="542863">
            <a:off x="574431" y="1809222"/>
            <a:ext cx="11043138" cy="4154984"/>
          </a:xfrm>
          <a:prstGeom prst="rect">
            <a:avLst/>
          </a:prstGeom>
          <a:noFill/>
        </p:spPr>
        <p:txBody>
          <a:bodyPr wrap="square" rtlCol="0">
            <a:spAutoFit/>
          </a:bodyPr>
          <a:lstStyle/>
          <a:p>
            <a:pPr algn="ctr"/>
            <a:r>
              <a:rPr lang="en-GB" sz="4400" b="1" dirty="0">
                <a:ln w="22225">
                  <a:solidFill>
                    <a:schemeClr val="tx1"/>
                  </a:solidFill>
                  <a:prstDash val="solid"/>
                </a:ln>
                <a:solidFill>
                  <a:schemeClr val="accent1">
                    <a:lumMod val="75000"/>
                  </a:schemeClr>
                </a:solidFill>
              </a:rPr>
              <a:t>Overall, FEM is a powerful method to approximate solutions to PDEs, but it is very expensive to implement, and therefore not fit for many applications (e.g. applications with real-time constraints).</a:t>
            </a:r>
          </a:p>
          <a:p>
            <a:pPr algn="ctr"/>
            <a:r>
              <a:rPr lang="en-GB" sz="4400" b="1" dirty="0">
                <a:ln w="22225">
                  <a:solidFill>
                    <a:schemeClr val="tx1"/>
                  </a:solidFill>
                  <a:prstDash val="solid"/>
                </a:ln>
                <a:solidFill>
                  <a:schemeClr val="accent1">
                    <a:lumMod val="75000"/>
                  </a:schemeClr>
                </a:solidFill>
                <a:sym typeface="Wingdings" panose="05000000000000000000" pitchFamily="2" charset="2"/>
              </a:rPr>
              <a:t> Need other solutions!</a:t>
            </a:r>
            <a:endParaRPr lang="en-GB" sz="4400" b="1" dirty="0">
              <a:ln w="22225">
                <a:solidFill>
                  <a:schemeClr val="tx1"/>
                </a:solidFill>
                <a:prstDash val="solid"/>
              </a:ln>
              <a:solidFill>
                <a:schemeClr val="accent1">
                  <a:lumMod val="75000"/>
                </a:schemeClr>
              </a:solidFill>
            </a:endParaRPr>
          </a:p>
        </p:txBody>
      </p:sp>
    </p:spTree>
    <p:extLst>
      <p:ext uri="{BB962C8B-B14F-4D97-AF65-F5344CB8AC3E}">
        <p14:creationId xmlns:p14="http://schemas.microsoft.com/office/powerpoint/2010/main" val="1076786687"/>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3E4A957-BB04-7469-0AB0-2E641651AA6F}"/>
              </a:ext>
            </a:extLst>
          </p:cNvPr>
          <p:cNvSpPr>
            <a:spLocks noGrp="1"/>
          </p:cNvSpPr>
          <p:nvPr>
            <p:ph type="title"/>
          </p:nvPr>
        </p:nvSpPr>
        <p:spPr/>
        <p:txBody>
          <a:bodyPr/>
          <a:lstStyle/>
          <a:p>
            <a:r>
              <a:rPr lang="en-GB" dirty="0"/>
              <a:t>Neural Networks to the rescue! (again?)</a:t>
            </a:r>
          </a:p>
        </p:txBody>
      </p:sp>
      <mc:AlternateContent xmlns:mc="http://schemas.openxmlformats.org/markup-compatibility/2006" xmlns:a14="http://schemas.microsoft.com/office/drawing/2010/main">
        <mc:Choice Requires="a14">
          <p:sp>
            <p:nvSpPr>
              <p:cNvPr id="3" name="Content Placeholder 2">
                <a:extLst>
                  <a:ext uri="{FF2B5EF4-FFF2-40B4-BE49-F238E27FC236}">
                    <a16:creationId xmlns:a16="http://schemas.microsoft.com/office/drawing/2014/main" id="{B82ACD32-741E-996A-10A5-C0E45C1FBDEA}"/>
                  </a:ext>
                </a:extLst>
              </p:cNvPr>
              <p:cNvSpPr>
                <a:spLocks noGrp="1"/>
              </p:cNvSpPr>
              <p:nvPr>
                <p:ph idx="1"/>
              </p:nvPr>
            </p:nvSpPr>
            <p:spPr/>
            <p:txBody>
              <a:bodyPr/>
              <a:lstStyle/>
              <a:p>
                <a:pPr marL="0" indent="0">
                  <a:buNone/>
                </a:pPr>
                <a:r>
                  <a:rPr lang="en-GB" b="1" dirty="0"/>
                  <a:t>Definition (</a:t>
                </a:r>
                <a:r>
                  <a:rPr lang="en-GB" b="1" dirty="0">
                    <a:solidFill>
                      <a:srgbClr val="00B050"/>
                    </a:solidFill>
                  </a:rPr>
                  <a:t>Physics-Informed Neural Networks</a:t>
                </a:r>
                <a:r>
                  <a:rPr lang="en-GB" b="1" dirty="0"/>
                  <a:t>):</a:t>
                </a:r>
              </a:p>
              <a:p>
                <a:pPr marL="0" indent="0">
                  <a:buNone/>
                </a:pPr>
                <a:r>
                  <a:rPr lang="en-GB" dirty="0"/>
                  <a:t>Introduced in [Karniadakis2021] and [Raissi2019], </a:t>
                </a:r>
                <a:r>
                  <a:rPr lang="en-GB" b="1" dirty="0">
                    <a:solidFill>
                      <a:srgbClr val="00B050"/>
                    </a:solidFill>
                  </a:rPr>
                  <a:t>Physics-Informed Neural Networks </a:t>
                </a:r>
                <a:r>
                  <a:rPr lang="en-GB" b="1" dirty="0"/>
                  <a:t>(</a:t>
                </a:r>
                <a:r>
                  <a:rPr lang="en-GB" b="1" dirty="0">
                    <a:solidFill>
                      <a:srgbClr val="00B050"/>
                    </a:solidFill>
                  </a:rPr>
                  <a:t>PINNs</a:t>
                </a:r>
                <a:r>
                  <a:rPr lang="en-GB" b="1" dirty="0"/>
                  <a:t>) </a:t>
                </a:r>
                <a:r>
                  <a:rPr lang="en-GB" dirty="0"/>
                  <a:t>are a type of universal function approximators based on Neural Networks and Deep Learning.</a:t>
                </a:r>
              </a:p>
              <a:p>
                <a:pPr marL="0" indent="0">
                  <a:buNone/>
                </a:pPr>
                <a:r>
                  <a:rPr lang="en-GB" dirty="0"/>
                  <a:t>PINNs can embed the knowledge of any physical laws described by partial differential equations (PDEs).</a:t>
                </a:r>
              </a:p>
              <a:p>
                <a:pPr marL="0" indent="0">
                  <a:buNone/>
                </a:pPr>
                <a:r>
                  <a:rPr lang="en-GB" dirty="0"/>
                  <a:t>After training, the PINN can be used to approximate the analytical function </a:t>
                </a:r>
                <a14:m>
                  <m:oMath xmlns:m="http://schemas.openxmlformats.org/officeDocument/2006/math">
                    <m:r>
                      <a:rPr lang="en-GB" b="0" i="1" smtClean="0">
                        <a:latin typeface="Cambria Math" panose="02040503050406030204" pitchFamily="18" charset="0"/>
                      </a:rPr>
                      <m:t>𝑔</m:t>
                    </m:r>
                  </m:oMath>
                </a14:m>
                <a:r>
                  <a:rPr lang="en-GB" dirty="0"/>
                  <a:t> that would be the solution of a given PDE.</a:t>
                </a:r>
              </a:p>
            </p:txBody>
          </p:sp>
        </mc:Choice>
        <mc:Fallback xmlns="">
          <p:sp>
            <p:nvSpPr>
              <p:cNvPr id="3" name="Content Placeholder 2">
                <a:extLst>
                  <a:ext uri="{FF2B5EF4-FFF2-40B4-BE49-F238E27FC236}">
                    <a16:creationId xmlns:a16="http://schemas.microsoft.com/office/drawing/2014/main" id="{B82ACD32-741E-996A-10A5-C0E45C1FBDEA}"/>
                  </a:ext>
                </a:extLst>
              </p:cNvPr>
              <p:cNvSpPr>
                <a:spLocks noGrp="1" noRot="1" noChangeAspect="1" noMove="1" noResize="1" noEditPoints="1" noAdjustHandles="1" noChangeArrowheads="1" noChangeShapeType="1" noTextEdit="1"/>
              </p:cNvSpPr>
              <p:nvPr>
                <p:ph idx="1"/>
              </p:nvPr>
            </p:nvSpPr>
            <p:spPr>
              <a:blipFill>
                <a:blip r:embed="rId2"/>
                <a:stretch>
                  <a:fillRect l="-1217" t="-2241"/>
                </a:stretch>
              </a:blipFill>
            </p:spPr>
            <p:txBody>
              <a:bodyPr/>
              <a:lstStyle/>
              <a:p>
                <a:r>
                  <a:rPr lang="en-GB">
                    <a:noFill/>
                  </a:rPr>
                  <a:t> </a:t>
                </a:r>
              </a:p>
            </p:txBody>
          </p:sp>
        </mc:Fallback>
      </mc:AlternateContent>
      <mc:AlternateContent xmlns:mc="http://schemas.openxmlformats.org/markup-compatibility/2006" xmlns:a14="http://schemas.microsoft.com/office/drawing/2010/main">
        <mc:Choice Requires="a14">
          <p:sp>
            <p:nvSpPr>
              <p:cNvPr id="4" name="Rectangle: Rounded Corners 3">
                <a:extLst>
                  <a:ext uri="{FF2B5EF4-FFF2-40B4-BE49-F238E27FC236}">
                    <a16:creationId xmlns:a16="http://schemas.microsoft.com/office/drawing/2014/main" id="{599E5051-AEF0-4261-879D-6B631D289668}"/>
                  </a:ext>
                </a:extLst>
              </p:cNvPr>
              <p:cNvSpPr/>
              <p:nvPr/>
            </p:nvSpPr>
            <p:spPr>
              <a:xfrm>
                <a:off x="3012830" y="5538420"/>
                <a:ext cx="4396154" cy="1095131"/>
              </a:xfrm>
              <a:prstGeom prst="roundRect">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GB" dirty="0"/>
                  <a:t>PINN </a:t>
                </a:r>
                <a14:m>
                  <m:oMath xmlns:m="http://schemas.openxmlformats.org/officeDocument/2006/math">
                    <m:r>
                      <a:rPr lang="en-GB" b="0" i="1" smtClean="0">
                        <a:latin typeface="Cambria Math" panose="02040503050406030204" pitchFamily="18" charset="0"/>
                      </a:rPr>
                      <m:t>𝑓</m:t>
                    </m:r>
                  </m:oMath>
                </a14:m>
                <a:r>
                  <a:rPr lang="en-GB" dirty="0"/>
                  <a:t> trained to approximate the analytical solution </a:t>
                </a:r>
                <a14:m>
                  <m:oMath xmlns:m="http://schemas.openxmlformats.org/officeDocument/2006/math">
                    <m:r>
                      <a:rPr lang="en-GB" b="0" i="1" dirty="0" smtClean="0">
                        <a:latin typeface="Cambria Math" panose="02040503050406030204" pitchFamily="18" charset="0"/>
                      </a:rPr>
                      <m:t>𝑔</m:t>
                    </m:r>
                  </m:oMath>
                </a14:m>
                <a:r>
                  <a:rPr lang="en-GB" dirty="0"/>
                  <a:t> of a given PDE.</a:t>
                </a:r>
              </a:p>
            </p:txBody>
          </p:sp>
        </mc:Choice>
        <mc:Fallback xmlns="">
          <p:sp>
            <p:nvSpPr>
              <p:cNvPr id="4" name="Rectangle: Rounded Corners 3">
                <a:extLst>
                  <a:ext uri="{FF2B5EF4-FFF2-40B4-BE49-F238E27FC236}">
                    <a16:creationId xmlns:a16="http://schemas.microsoft.com/office/drawing/2014/main" id="{599E5051-AEF0-4261-879D-6B631D289668}"/>
                  </a:ext>
                </a:extLst>
              </p:cNvPr>
              <p:cNvSpPr>
                <a:spLocks noRot="1" noChangeAspect="1" noMove="1" noResize="1" noEditPoints="1" noAdjustHandles="1" noChangeArrowheads="1" noChangeShapeType="1" noTextEdit="1"/>
              </p:cNvSpPr>
              <p:nvPr/>
            </p:nvSpPr>
            <p:spPr>
              <a:xfrm>
                <a:off x="3012830" y="5538420"/>
                <a:ext cx="4396154" cy="1095131"/>
              </a:xfrm>
              <a:prstGeom prst="roundRect">
                <a:avLst/>
              </a:prstGeom>
              <a:blipFill>
                <a:blip r:embed="rId3"/>
                <a:stretch>
                  <a:fillRect/>
                </a:stretch>
              </a:blipFill>
            </p:spPr>
            <p:txBody>
              <a:bodyPr/>
              <a:lstStyle/>
              <a:p>
                <a:r>
                  <a:rPr lang="en-GB">
                    <a:noFill/>
                  </a:rPr>
                  <a:t> </a:t>
                </a:r>
              </a:p>
            </p:txBody>
          </p:sp>
        </mc:Fallback>
      </mc:AlternateContent>
      <mc:AlternateContent xmlns:mc="http://schemas.openxmlformats.org/markup-compatibility/2006" xmlns:a14="http://schemas.microsoft.com/office/drawing/2010/main">
        <mc:Choice Requires="a14">
          <p:sp>
            <p:nvSpPr>
              <p:cNvPr id="5" name="TextBox 4">
                <a:extLst>
                  <a:ext uri="{FF2B5EF4-FFF2-40B4-BE49-F238E27FC236}">
                    <a16:creationId xmlns:a16="http://schemas.microsoft.com/office/drawing/2014/main" id="{18E2D939-20D7-FD19-958D-4ACFB6C97886}"/>
                  </a:ext>
                </a:extLst>
              </p:cNvPr>
              <p:cNvSpPr txBox="1"/>
              <p:nvPr/>
            </p:nvSpPr>
            <p:spPr>
              <a:xfrm>
                <a:off x="852853" y="5670484"/>
                <a:ext cx="1072662" cy="830997"/>
              </a:xfrm>
              <a:prstGeom prst="rect">
                <a:avLst/>
              </a:prstGeom>
              <a:noFill/>
            </p:spPr>
            <p:txBody>
              <a:bodyPr wrap="square" rtlCol="0">
                <a:spAutoFit/>
              </a:bodyPr>
              <a:lstStyle/>
              <a:p>
                <a:r>
                  <a:rPr lang="en-GB" sz="2400" dirty="0"/>
                  <a:t>Input </a:t>
                </a:r>
                <a14:m>
                  <m:oMath xmlns:m="http://schemas.openxmlformats.org/officeDocument/2006/math">
                    <m:r>
                      <a:rPr lang="en-GB" sz="2400" i="1" dirty="0" smtClean="0">
                        <a:latin typeface="Cambria Math" panose="02040503050406030204" pitchFamily="18" charset="0"/>
                      </a:rPr>
                      <m:t>(</m:t>
                    </m:r>
                    <m:r>
                      <a:rPr lang="en-GB" sz="2400" i="1" dirty="0" smtClean="0">
                        <a:latin typeface="Cambria Math" panose="02040503050406030204" pitchFamily="18" charset="0"/>
                      </a:rPr>
                      <m:t>𝑡</m:t>
                    </m:r>
                    <m:r>
                      <a:rPr lang="en-GB" sz="2400" i="1" dirty="0" smtClean="0">
                        <a:latin typeface="Cambria Math" panose="02040503050406030204" pitchFamily="18" charset="0"/>
                      </a:rPr>
                      <m:t>, </m:t>
                    </m:r>
                    <m:r>
                      <a:rPr lang="en-GB" sz="2400" i="1" dirty="0" smtClean="0">
                        <a:latin typeface="Cambria Math" panose="02040503050406030204" pitchFamily="18" charset="0"/>
                      </a:rPr>
                      <m:t>𝑥</m:t>
                    </m:r>
                    <m:r>
                      <a:rPr lang="en-GB" sz="2400" i="1" dirty="0" smtClean="0">
                        <a:latin typeface="Cambria Math" panose="02040503050406030204" pitchFamily="18" charset="0"/>
                      </a:rPr>
                      <m:t>)</m:t>
                    </m:r>
                  </m:oMath>
                </a14:m>
                <a:endParaRPr lang="en-GB" dirty="0"/>
              </a:p>
            </p:txBody>
          </p:sp>
        </mc:Choice>
        <mc:Fallback xmlns="">
          <p:sp>
            <p:nvSpPr>
              <p:cNvPr id="5" name="TextBox 4">
                <a:extLst>
                  <a:ext uri="{FF2B5EF4-FFF2-40B4-BE49-F238E27FC236}">
                    <a16:creationId xmlns:a16="http://schemas.microsoft.com/office/drawing/2014/main" id="{18E2D939-20D7-FD19-958D-4ACFB6C97886}"/>
                  </a:ext>
                </a:extLst>
              </p:cNvPr>
              <p:cNvSpPr txBox="1">
                <a:spLocks noRot="1" noChangeAspect="1" noMove="1" noResize="1" noEditPoints="1" noAdjustHandles="1" noChangeArrowheads="1" noChangeShapeType="1" noTextEdit="1"/>
              </p:cNvSpPr>
              <p:nvPr/>
            </p:nvSpPr>
            <p:spPr>
              <a:xfrm>
                <a:off x="852853" y="5670484"/>
                <a:ext cx="1072662" cy="830997"/>
              </a:xfrm>
              <a:prstGeom prst="rect">
                <a:avLst/>
              </a:prstGeom>
              <a:blipFill>
                <a:blip r:embed="rId4"/>
                <a:stretch>
                  <a:fillRect l="-9091" t="-5839" b="-8759"/>
                </a:stretch>
              </a:blipFill>
            </p:spPr>
            <p:txBody>
              <a:bodyPr/>
              <a:lstStyle/>
              <a:p>
                <a:r>
                  <a:rPr lang="en-GB">
                    <a:noFill/>
                  </a:rPr>
                  <a:t> </a:t>
                </a:r>
              </a:p>
            </p:txBody>
          </p:sp>
        </mc:Fallback>
      </mc:AlternateContent>
      <mc:AlternateContent xmlns:mc="http://schemas.openxmlformats.org/markup-compatibility/2006" xmlns:a14="http://schemas.microsoft.com/office/drawing/2010/main">
        <mc:Choice Requires="a14">
          <p:sp>
            <p:nvSpPr>
              <p:cNvPr id="6" name="TextBox 5">
                <a:extLst>
                  <a:ext uri="{FF2B5EF4-FFF2-40B4-BE49-F238E27FC236}">
                    <a16:creationId xmlns:a16="http://schemas.microsoft.com/office/drawing/2014/main" id="{0A576B21-CC48-7DA9-F3CE-79B32ECBFDDC}"/>
                  </a:ext>
                </a:extLst>
              </p:cNvPr>
              <p:cNvSpPr txBox="1"/>
              <p:nvPr/>
            </p:nvSpPr>
            <p:spPr>
              <a:xfrm>
                <a:off x="8496299" y="5670484"/>
                <a:ext cx="3604846" cy="1200329"/>
              </a:xfrm>
              <a:prstGeom prst="rect">
                <a:avLst/>
              </a:prstGeom>
              <a:noFill/>
            </p:spPr>
            <p:txBody>
              <a:bodyPr wrap="square" rtlCol="0">
                <a:spAutoFit/>
              </a:bodyPr>
              <a:lstStyle/>
              <a:p>
                <a:r>
                  <a:rPr lang="en-GB" sz="2400" b="0" dirty="0"/>
                  <a:t>Output of NN </a:t>
                </a:r>
                <a14:m>
                  <m:oMath xmlns:m="http://schemas.openxmlformats.org/officeDocument/2006/math">
                    <m:r>
                      <a:rPr lang="en-GB" sz="2400" b="0" i="1" dirty="0" smtClean="0">
                        <a:latin typeface="Cambria Math" panose="02040503050406030204" pitchFamily="18" charset="0"/>
                      </a:rPr>
                      <m:t>𝑓</m:t>
                    </m:r>
                    <m:d>
                      <m:dPr>
                        <m:ctrlPr>
                          <a:rPr lang="en-GB" sz="2400" b="0" i="1" dirty="0" smtClean="0">
                            <a:latin typeface="Cambria Math" panose="02040503050406030204" pitchFamily="18" charset="0"/>
                          </a:rPr>
                        </m:ctrlPr>
                      </m:dPr>
                      <m:e>
                        <m:r>
                          <a:rPr lang="en-GB" sz="2400" i="1" dirty="0" smtClean="0">
                            <a:latin typeface="Cambria Math" panose="02040503050406030204" pitchFamily="18" charset="0"/>
                          </a:rPr>
                          <m:t>𝑡</m:t>
                        </m:r>
                        <m:r>
                          <a:rPr lang="en-GB" sz="2400" i="1" dirty="0" smtClean="0">
                            <a:latin typeface="Cambria Math" panose="02040503050406030204" pitchFamily="18" charset="0"/>
                          </a:rPr>
                          <m:t>, </m:t>
                        </m:r>
                        <m:r>
                          <a:rPr lang="en-GB" sz="2400" i="1" dirty="0" smtClean="0">
                            <a:latin typeface="Cambria Math" panose="02040503050406030204" pitchFamily="18" charset="0"/>
                          </a:rPr>
                          <m:t>𝑥</m:t>
                        </m:r>
                      </m:e>
                    </m:d>
                  </m:oMath>
                </a14:m>
                <a:r>
                  <a:rPr lang="en-GB" dirty="0"/>
                  <a:t> </a:t>
                </a:r>
                <a:r>
                  <a:rPr lang="en-GB" sz="2400" dirty="0"/>
                  <a:t>approximates the</a:t>
                </a:r>
                <a:br>
                  <a:rPr lang="en-GB" sz="2400" dirty="0"/>
                </a:br>
                <a:r>
                  <a:rPr lang="en-GB" sz="2400" dirty="0"/>
                  <a:t>analytical solution </a:t>
                </a:r>
                <a14:m>
                  <m:oMath xmlns:m="http://schemas.openxmlformats.org/officeDocument/2006/math">
                    <m:r>
                      <a:rPr lang="en-GB" sz="2400" b="0" i="1" dirty="0" smtClean="0">
                        <a:latin typeface="Cambria Math" panose="02040503050406030204" pitchFamily="18" charset="0"/>
                      </a:rPr>
                      <m:t>𝑔</m:t>
                    </m:r>
                    <m:r>
                      <a:rPr lang="en-GB" sz="2400" i="1" dirty="0">
                        <a:latin typeface="Cambria Math" panose="02040503050406030204" pitchFamily="18" charset="0"/>
                      </a:rPr>
                      <m:t>(</m:t>
                    </m:r>
                    <m:r>
                      <a:rPr lang="en-GB" sz="2400" i="1" dirty="0">
                        <a:latin typeface="Cambria Math" panose="02040503050406030204" pitchFamily="18" charset="0"/>
                      </a:rPr>
                      <m:t>𝑡</m:t>
                    </m:r>
                    <m:r>
                      <a:rPr lang="en-GB" sz="2400" i="1" dirty="0">
                        <a:latin typeface="Cambria Math" panose="02040503050406030204" pitchFamily="18" charset="0"/>
                      </a:rPr>
                      <m:t>,</m:t>
                    </m:r>
                    <m:r>
                      <a:rPr lang="en-GB" sz="2400" i="1" dirty="0">
                        <a:latin typeface="Cambria Math" panose="02040503050406030204" pitchFamily="18" charset="0"/>
                      </a:rPr>
                      <m:t>𝑥</m:t>
                    </m:r>
                    <m:r>
                      <a:rPr lang="en-GB" sz="2400" i="1" dirty="0">
                        <a:latin typeface="Cambria Math" panose="02040503050406030204" pitchFamily="18" charset="0"/>
                      </a:rPr>
                      <m:t>)</m:t>
                    </m:r>
                  </m:oMath>
                </a14:m>
                <a:endParaRPr lang="en-GB" dirty="0"/>
              </a:p>
            </p:txBody>
          </p:sp>
        </mc:Choice>
        <mc:Fallback xmlns="">
          <p:sp>
            <p:nvSpPr>
              <p:cNvPr id="6" name="TextBox 5">
                <a:extLst>
                  <a:ext uri="{FF2B5EF4-FFF2-40B4-BE49-F238E27FC236}">
                    <a16:creationId xmlns:a16="http://schemas.microsoft.com/office/drawing/2014/main" id="{0A576B21-CC48-7DA9-F3CE-79B32ECBFDDC}"/>
                  </a:ext>
                </a:extLst>
              </p:cNvPr>
              <p:cNvSpPr txBox="1">
                <a:spLocks noRot="1" noChangeAspect="1" noMove="1" noResize="1" noEditPoints="1" noAdjustHandles="1" noChangeArrowheads="1" noChangeShapeType="1" noTextEdit="1"/>
              </p:cNvSpPr>
              <p:nvPr/>
            </p:nvSpPr>
            <p:spPr>
              <a:xfrm>
                <a:off x="8496299" y="5670484"/>
                <a:ext cx="3604846" cy="1200329"/>
              </a:xfrm>
              <a:prstGeom prst="rect">
                <a:avLst/>
              </a:prstGeom>
              <a:blipFill>
                <a:blip r:embed="rId5"/>
                <a:stretch>
                  <a:fillRect l="-2707" t="-4061" b="-10660"/>
                </a:stretch>
              </a:blipFill>
            </p:spPr>
            <p:txBody>
              <a:bodyPr/>
              <a:lstStyle/>
              <a:p>
                <a:r>
                  <a:rPr lang="en-GB">
                    <a:noFill/>
                  </a:rPr>
                  <a:t> </a:t>
                </a:r>
              </a:p>
            </p:txBody>
          </p:sp>
        </mc:Fallback>
      </mc:AlternateContent>
      <p:sp>
        <p:nvSpPr>
          <p:cNvPr id="7" name="Arrow: Right 6">
            <a:extLst>
              <a:ext uri="{FF2B5EF4-FFF2-40B4-BE49-F238E27FC236}">
                <a16:creationId xmlns:a16="http://schemas.microsoft.com/office/drawing/2014/main" id="{D3ED3A80-24E6-C6EF-FB99-B6E089279825}"/>
              </a:ext>
            </a:extLst>
          </p:cNvPr>
          <p:cNvSpPr/>
          <p:nvPr/>
        </p:nvSpPr>
        <p:spPr>
          <a:xfrm>
            <a:off x="2016369" y="5970153"/>
            <a:ext cx="961292" cy="231657"/>
          </a:xfrm>
          <a:prstGeom prst="rightArrow">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8" name="Arrow: Right 7">
            <a:extLst>
              <a:ext uri="{FF2B5EF4-FFF2-40B4-BE49-F238E27FC236}">
                <a16:creationId xmlns:a16="http://schemas.microsoft.com/office/drawing/2014/main" id="{26A91A4E-D158-7E7B-886E-166BA0EA22E4}"/>
              </a:ext>
            </a:extLst>
          </p:cNvPr>
          <p:cNvSpPr/>
          <p:nvPr/>
        </p:nvSpPr>
        <p:spPr>
          <a:xfrm>
            <a:off x="7430965" y="5970153"/>
            <a:ext cx="961292" cy="231657"/>
          </a:xfrm>
          <a:prstGeom prst="rightArrow">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p>
        </p:txBody>
      </p:sp>
    </p:spTree>
    <p:extLst>
      <p:ext uri="{BB962C8B-B14F-4D97-AF65-F5344CB8AC3E}">
        <p14:creationId xmlns:p14="http://schemas.microsoft.com/office/powerpoint/2010/main" val="367579252"/>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BF32040-4825-25BC-87C2-1FFDC6FE1EAC}"/>
              </a:ext>
            </a:extLst>
          </p:cNvPr>
          <p:cNvSpPr>
            <a:spLocks noGrp="1"/>
          </p:cNvSpPr>
          <p:nvPr>
            <p:ph type="title"/>
          </p:nvPr>
        </p:nvSpPr>
        <p:spPr/>
        <p:txBody>
          <a:bodyPr/>
          <a:lstStyle/>
          <a:p>
            <a:r>
              <a:rPr lang="en-GB" dirty="0"/>
              <a:t>PINNs vs FEM</a:t>
            </a:r>
          </a:p>
        </p:txBody>
      </p:sp>
      <p:sp>
        <p:nvSpPr>
          <p:cNvPr id="6" name="Content Placeholder 5">
            <a:extLst>
              <a:ext uri="{FF2B5EF4-FFF2-40B4-BE49-F238E27FC236}">
                <a16:creationId xmlns:a16="http://schemas.microsoft.com/office/drawing/2014/main" id="{CD78CCD0-4ECD-EA47-6B29-C240D661A632}"/>
              </a:ext>
            </a:extLst>
          </p:cNvPr>
          <p:cNvSpPr>
            <a:spLocks noGrp="1"/>
          </p:cNvSpPr>
          <p:nvPr>
            <p:ph idx="1"/>
          </p:nvPr>
        </p:nvSpPr>
        <p:spPr>
          <a:xfrm>
            <a:off x="838200" y="1825624"/>
            <a:ext cx="10515600" cy="5032375"/>
          </a:xfrm>
        </p:spPr>
        <p:txBody>
          <a:bodyPr>
            <a:normAutofit fontScale="92500"/>
          </a:bodyPr>
          <a:lstStyle/>
          <a:p>
            <a:pPr marL="0" indent="0">
              <a:buNone/>
            </a:pPr>
            <a:r>
              <a:rPr lang="en-GB" dirty="0"/>
              <a:t>PINNs have recently gained interest, because of the following advantages:</a:t>
            </a:r>
          </a:p>
          <a:p>
            <a:pPr>
              <a:buFont typeface="+mj-lt"/>
              <a:buAutoNum type="arabicPeriod"/>
            </a:pPr>
            <a:r>
              <a:rPr lang="en-GB" b="1" dirty="0"/>
              <a:t>Geometry Flexibility</a:t>
            </a:r>
            <a:r>
              <a:rPr lang="en-GB" dirty="0"/>
              <a:t>: PINNs do not require a mesh as in FEMs, which can simplify problems with complex geometries.</a:t>
            </a:r>
          </a:p>
          <a:p>
            <a:pPr>
              <a:buFont typeface="+mj-lt"/>
              <a:buAutoNum type="arabicPeriod"/>
            </a:pPr>
            <a:r>
              <a:rPr lang="en-GB" b="1" dirty="0"/>
              <a:t>Universal Approximators</a:t>
            </a:r>
            <a:r>
              <a:rPr lang="en-GB" dirty="0"/>
              <a:t>: Neural networks have the capacity to approximate a wide variety of functions (universal approximation theorem! and [Hornik1989]), which can be used to represent complex PDE solutions.</a:t>
            </a:r>
          </a:p>
          <a:p>
            <a:pPr>
              <a:buFont typeface="+mj-lt"/>
              <a:buAutoNum type="arabicPeriod"/>
            </a:pPr>
            <a:r>
              <a:rPr lang="en-GB" b="1" dirty="0"/>
              <a:t>Easily Adaptable</a:t>
            </a:r>
            <a:r>
              <a:rPr lang="en-GB" dirty="0"/>
              <a:t>: PINNs can easily be updated or trained on new data, making them adaptable to changing conditions or data-driven problems.</a:t>
            </a:r>
          </a:p>
          <a:p>
            <a:pPr>
              <a:buFont typeface="+mj-lt"/>
              <a:buAutoNum type="arabicPeriod"/>
            </a:pPr>
            <a:r>
              <a:rPr lang="en-GB" b="1" dirty="0"/>
              <a:t>Deep Learning Infrastructure</a:t>
            </a:r>
            <a:r>
              <a:rPr lang="en-GB" dirty="0"/>
              <a:t>: The rise of deep learning has led to robust software ecosystems and powerful hardware accelerators, which can be harnessed by PINNs. After training, inference is extremely fast and therefore suitable for applications with real-time constraints.</a:t>
            </a:r>
          </a:p>
          <a:p>
            <a:pPr marL="0" indent="0">
              <a:buNone/>
            </a:pPr>
            <a:endParaRPr lang="en-GB" dirty="0"/>
          </a:p>
        </p:txBody>
      </p:sp>
    </p:spTree>
    <p:extLst>
      <p:ext uri="{BB962C8B-B14F-4D97-AF65-F5344CB8AC3E}">
        <p14:creationId xmlns:p14="http://schemas.microsoft.com/office/powerpoint/2010/main" val="3321911095"/>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BF32040-4825-25BC-87C2-1FFDC6FE1EAC}"/>
              </a:ext>
            </a:extLst>
          </p:cNvPr>
          <p:cNvSpPr>
            <a:spLocks noGrp="1"/>
          </p:cNvSpPr>
          <p:nvPr>
            <p:ph type="title"/>
          </p:nvPr>
        </p:nvSpPr>
        <p:spPr/>
        <p:txBody>
          <a:bodyPr/>
          <a:lstStyle/>
          <a:p>
            <a:r>
              <a:rPr lang="en-GB" dirty="0"/>
              <a:t>PINNs vs FEM</a:t>
            </a:r>
          </a:p>
        </p:txBody>
      </p:sp>
      <p:sp>
        <p:nvSpPr>
          <p:cNvPr id="6" name="Content Placeholder 5">
            <a:extLst>
              <a:ext uri="{FF2B5EF4-FFF2-40B4-BE49-F238E27FC236}">
                <a16:creationId xmlns:a16="http://schemas.microsoft.com/office/drawing/2014/main" id="{CD78CCD0-4ECD-EA47-6B29-C240D661A632}"/>
              </a:ext>
            </a:extLst>
          </p:cNvPr>
          <p:cNvSpPr>
            <a:spLocks noGrp="1"/>
          </p:cNvSpPr>
          <p:nvPr>
            <p:ph idx="1"/>
          </p:nvPr>
        </p:nvSpPr>
        <p:spPr>
          <a:xfrm>
            <a:off x="838200" y="1825624"/>
            <a:ext cx="10515600" cy="5032375"/>
          </a:xfrm>
        </p:spPr>
        <p:txBody>
          <a:bodyPr>
            <a:normAutofit fontScale="92500"/>
          </a:bodyPr>
          <a:lstStyle/>
          <a:p>
            <a:pPr marL="0" indent="0">
              <a:buNone/>
            </a:pPr>
            <a:r>
              <a:rPr lang="en-GB" dirty="0">
                <a:solidFill>
                  <a:schemeClr val="bg1">
                    <a:lumMod val="75000"/>
                  </a:schemeClr>
                </a:solidFill>
              </a:rPr>
              <a:t>PINNs have recently gained interest, because of the following advantages:</a:t>
            </a:r>
          </a:p>
          <a:p>
            <a:pPr>
              <a:buFont typeface="+mj-lt"/>
              <a:buAutoNum type="arabicPeriod"/>
            </a:pPr>
            <a:r>
              <a:rPr lang="en-GB" b="1" dirty="0">
                <a:solidFill>
                  <a:schemeClr val="bg1">
                    <a:lumMod val="75000"/>
                  </a:schemeClr>
                </a:solidFill>
              </a:rPr>
              <a:t>Geometry Flexibility</a:t>
            </a:r>
            <a:r>
              <a:rPr lang="en-GB" dirty="0">
                <a:solidFill>
                  <a:schemeClr val="bg1">
                    <a:lumMod val="75000"/>
                  </a:schemeClr>
                </a:solidFill>
              </a:rPr>
              <a:t>: PINNs do not require a mesh as in FEMs, which can simplify problems with complex geometries.</a:t>
            </a:r>
          </a:p>
          <a:p>
            <a:pPr>
              <a:buFont typeface="+mj-lt"/>
              <a:buAutoNum type="arabicPeriod"/>
            </a:pPr>
            <a:r>
              <a:rPr lang="en-GB" b="1" dirty="0">
                <a:solidFill>
                  <a:schemeClr val="bg1">
                    <a:lumMod val="75000"/>
                  </a:schemeClr>
                </a:solidFill>
              </a:rPr>
              <a:t>Universal Approximators</a:t>
            </a:r>
            <a:r>
              <a:rPr lang="en-GB" dirty="0">
                <a:solidFill>
                  <a:schemeClr val="bg1">
                    <a:lumMod val="75000"/>
                  </a:schemeClr>
                </a:solidFill>
              </a:rPr>
              <a:t>: Neural networks have the capacity to approximate a wide variety of functions (universal approximation theorem!), which can be leveraged to represent complex PDE solutions.</a:t>
            </a:r>
          </a:p>
          <a:p>
            <a:pPr>
              <a:buFont typeface="+mj-lt"/>
              <a:buAutoNum type="arabicPeriod"/>
            </a:pPr>
            <a:r>
              <a:rPr lang="en-GB" b="1" dirty="0">
                <a:solidFill>
                  <a:schemeClr val="bg1">
                    <a:lumMod val="75000"/>
                  </a:schemeClr>
                </a:solidFill>
              </a:rPr>
              <a:t>Easily Adaptable</a:t>
            </a:r>
            <a:r>
              <a:rPr lang="en-GB" dirty="0">
                <a:solidFill>
                  <a:schemeClr val="bg1">
                    <a:lumMod val="75000"/>
                  </a:schemeClr>
                </a:solidFill>
              </a:rPr>
              <a:t>: PINNs can easily be updated or trained on new data, making them adaptable to changing conditions or data-driven problems.</a:t>
            </a:r>
          </a:p>
          <a:p>
            <a:pPr>
              <a:buFont typeface="+mj-lt"/>
              <a:buAutoNum type="arabicPeriod"/>
            </a:pPr>
            <a:r>
              <a:rPr lang="en-GB" b="1" dirty="0">
                <a:solidFill>
                  <a:schemeClr val="bg1">
                    <a:lumMod val="75000"/>
                  </a:schemeClr>
                </a:solidFill>
              </a:rPr>
              <a:t>Deep Learning Infrastructure</a:t>
            </a:r>
            <a:r>
              <a:rPr lang="en-GB" dirty="0">
                <a:solidFill>
                  <a:schemeClr val="bg1">
                    <a:lumMod val="75000"/>
                  </a:schemeClr>
                </a:solidFill>
              </a:rPr>
              <a:t>: The rise of deep learning has led to robust software ecosystems and powerful hardware accelerators, which can be harnessed by PINNs. After training, inference is extremely fast and therefore suitable for applications with real-time constraints.</a:t>
            </a:r>
          </a:p>
          <a:p>
            <a:pPr marL="0" indent="0">
              <a:buNone/>
            </a:pPr>
            <a:endParaRPr lang="en-GB" dirty="0">
              <a:solidFill>
                <a:schemeClr val="bg1">
                  <a:lumMod val="75000"/>
                </a:schemeClr>
              </a:solidFill>
            </a:endParaRPr>
          </a:p>
        </p:txBody>
      </p:sp>
      <p:sp>
        <p:nvSpPr>
          <p:cNvPr id="3" name="TextBox 2">
            <a:extLst>
              <a:ext uri="{FF2B5EF4-FFF2-40B4-BE49-F238E27FC236}">
                <a16:creationId xmlns:a16="http://schemas.microsoft.com/office/drawing/2014/main" id="{24F97C40-AA08-9C36-6EA9-29319757B51C}"/>
              </a:ext>
            </a:extLst>
          </p:cNvPr>
          <p:cNvSpPr txBox="1"/>
          <p:nvPr/>
        </p:nvSpPr>
        <p:spPr>
          <a:xfrm rot="580936">
            <a:off x="715108" y="1926955"/>
            <a:ext cx="11043138" cy="4154984"/>
          </a:xfrm>
          <a:prstGeom prst="rect">
            <a:avLst/>
          </a:prstGeom>
          <a:noFill/>
        </p:spPr>
        <p:txBody>
          <a:bodyPr wrap="square" rtlCol="0">
            <a:spAutoFit/>
          </a:bodyPr>
          <a:lstStyle/>
          <a:p>
            <a:pPr algn="ctr"/>
            <a:r>
              <a:rPr lang="en-GB" sz="4400" b="1" dirty="0">
                <a:ln w="22225">
                  <a:solidFill>
                    <a:schemeClr val="tx1"/>
                  </a:solidFill>
                  <a:prstDash val="solid"/>
                </a:ln>
                <a:solidFill>
                  <a:schemeClr val="accent1">
                    <a:lumMod val="75000"/>
                  </a:schemeClr>
                </a:solidFill>
              </a:rPr>
              <a:t>Of course, the obvious counterpart is that</a:t>
            </a:r>
            <a:br>
              <a:rPr lang="en-GB" sz="4400" b="1" dirty="0">
                <a:ln w="22225">
                  <a:solidFill>
                    <a:schemeClr val="tx1"/>
                  </a:solidFill>
                  <a:prstDash val="solid"/>
                </a:ln>
                <a:solidFill>
                  <a:schemeClr val="accent1">
                    <a:lumMod val="75000"/>
                  </a:schemeClr>
                </a:solidFill>
              </a:rPr>
            </a:br>
            <a:r>
              <a:rPr lang="en-GB" sz="4400" b="1" dirty="0">
                <a:ln w="22225">
                  <a:solidFill>
                    <a:schemeClr val="tx1"/>
                  </a:solidFill>
                  <a:prstDash val="solid"/>
                </a:ln>
                <a:solidFill>
                  <a:schemeClr val="accent1">
                    <a:lumMod val="75000"/>
                  </a:schemeClr>
                </a:solidFill>
              </a:rPr>
              <a:t>we need to properly </a:t>
            </a:r>
            <a:r>
              <a:rPr lang="en-GB" sz="4400" b="1" u="sng" dirty="0">
                <a:ln w="22225">
                  <a:solidFill>
                    <a:schemeClr val="tx1"/>
                  </a:solidFill>
                  <a:prstDash val="solid"/>
                </a:ln>
                <a:solidFill>
                  <a:schemeClr val="accent1">
                    <a:lumMod val="75000"/>
                  </a:schemeClr>
                </a:solidFill>
              </a:rPr>
              <a:t>TRAIN</a:t>
            </a:r>
            <a:r>
              <a:rPr lang="en-GB" sz="4400" b="1" dirty="0">
                <a:ln w="22225">
                  <a:solidFill>
                    <a:schemeClr val="tx1"/>
                  </a:solidFill>
                  <a:prstDash val="solid"/>
                </a:ln>
                <a:solidFill>
                  <a:schemeClr val="accent1">
                    <a:lumMod val="75000"/>
                  </a:schemeClr>
                </a:solidFill>
              </a:rPr>
              <a:t> the said PINN so that it learns to approximate the analytical solution to the given PDE problem!</a:t>
            </a:r>
          </a:p>
          <a:p>
            <a:pPr algn="ctr"/>
            <a:endParaRPr lang="en-GB" sz="4400" b="1" dirty="0">
              <a:ln w="22225">
                <a:solidFill>
                  <a:schemeClr val="tx1"/>
                </a:solidFill>
                <a:prstDash val="solid"/>
              </a:ln>
              <a:solidFill>
                <a:schemeClr val="accent1">
                  <a:lumMod val="75000"/>
                </a:schemeClr>
              </a:solidFill>
            </a:endParaRPr>
          </a:p>
          <a:p>
            <a:pPr algn="ctr"/>
            <a:r>
              <a:rPr lang="en-GB" sz="4400" b="1" dirty="0">
                <a:ln w="22225">
                  <a:solidFill>
                    <a:schemeClr val="tx1"/>
                  </a:solidFill>
                  <a:prstDash val="solid"/>
                </a:ln>
                <a:solidFill>
                  <a:schemeClr val="accent1">
                    <a:lumMod val="75000"/>
                  </a:schemeClr>
                </a:solidFill>
              </a:rPr>
              <a:t>And that is not always easy to do!</a:t>
            </a:r>
          </a:p>
        </p:txBody>
      </p:sp>
    </p:spTree>
    <p:extLst>
      <p:ext uri="{BB962C8B-B14F-4D97-AF65-F5344CB8AC3E}">
        <p14:creationId xmlns:p14="http://schemas.microsoft.com/office/powerpoint/2010/main" val="2277514466"/>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CC414F5-B2DE-CCD0-8388-F16117777465}"/>
              </a:ext>
            </a:extLst>
          </p:cNvPr>
          <p:cNvSpPr>
            <a:spLocks noGrp="1"/>
          </p:cNvSpPr>
          <p:nvPr>
            <p:ph type="title"/>
          </p:nvPr>
        </p:nvSpPr>
        <p:spPr/>
        <p:txBody>
          <a:bodyPr/>
          <a:lstStyle/>
          <a:p>
            <a:r>
              <a:rPr lang="en-GB" dirty="0"/>
              <a:t>A toy example of a PDE (Simpler than Navier-Stokes, for obvious reasons!)</a:t>
            </a:r>
          </a:p>
        </p:txBody>
      </p:sp>
      <p:pic>
        <p:nvPicPr>
          <p:cNvPr id="9" name="Picture 8">
            <a:extLst>
              <a:ext uri="{FF2B5EF4-FFF2-40B4-BE49-F238E27FC236}">
                <a16:creationId xmlns:a16="http://schemas.microsoft.com/office/drawing/2014/main" id="{811989B4-CD07-630B-3D54-86E3E4F22542}"/>
              </a:ext>
            </a:extLst>
          </p:cNvPr>
          <p:cNvPicPr>
            <a:picLocks noChangeAspect="1"/>
          </p:cNvPicPr>
          <p:nvPr/>
        </p:nvPicPr>
        <p:blipFill rotWithShape="1">
          <a:blip r:embed="rId2"/>
          <a:srcRect r="11442"/>
          <a:stretch/>
        </p:blipFill>
        <p:spPr>
          <a:xfrm>
            <a:off x="697523" y="1649657"/>
            <a:ext cx="10796954" cy="4752656"/>
          </a:xfrm>
          <a:prstGeom prst="rect">
            <a:avLst/>
          </a:prstGeom>
        </p:spPr>
      </p:pic>
    </p:spTree>
    <p:extLst>
      <p:ext uri="{BB962C8B-B14F-4D97-AF65-F5344CB8AC3E}">
        <p14:creationId xmlns:p14="http://schemas.microsoft.com/office/powerpoint/2010/main" val="947865964"/>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CC414F5-B2DE-CCD0-8388-F16117777465}"/>
              </a:ext>
            </a:extLst>
          </p:cNvPr>
          <p:cNvSpPr>
            <a:spLocks noGrp="1"/>
          </p:cNvSpPr>
          <p:nvPr>
            <p:ph type="title"/>
          </p:nvPr>
        </p:nvSpPr>
        <p:spPr>
          <a:xfrm>
            <a:off x="838200" y="365125"/>
            <a:ext cx="5972908" cy="1325563"/>
          </a:xfrm>
        </p:spPr>
        <p:txBody>
          <a:bodyPr/>
          <a:lstStyle/>
          <a:p>
            <a:r>
              <a:rPr lang="en-GB" dirty="0"/>
              <a:t>A toy example of a PDE</a:t>
            </a:r>
          </a:p>
        </p:txBody>
      </p:sp>
      <mc:AlternateContent xmlns:mc="http://schemas.openxmlformats.org/markup-compatibility/2006" xmlns:a14="http://schemas.microsoft.com/office/drawing/2010/main">
        <mc:Choice Requires="a14">
          <p:sp>
            <p:nvSpPr>
              <p:cNvPr id="3" name="Content Placeholder 2">
                <a:extLst>
                  <a:ext uri="{FF2B5EF4-FFF2-40B4-BE49-F238E27FC236}">
                    <a16:creationId xmlns:a16="http://schemas.microsoft.com/office/drawing/2014/main" id="{29E4A597-46A7-123D-30B3-89121E4C17CC}"/>
                  </a:ext>
                </a:extLst>
              </p:cNvPr>
              <p:cNvSpPr>
                <a:spLocks noGrp="1"/>
              </p:cNvSpPr>
              <p:nvPr>
                <p:ph idx="1"/>
              </p:nvPr>
            </p:nvSpPr>
            <p:spPr>
              <a:xfrm>
                <a:off x="838200" y="1825624"/>
                <a:ext cx="10515600" cy="5032375"/>
              </a:xfrm>
            </p:spPr>
            <p:txBody>
              <a:bodyPr>
                <a:normAutofit/>
              </a:bodyPr>
              <a:lstStyle/>
              <a:p>
                <a:pPr marL="0" indent="0">
                  <a:buNone/>
                </a:pPr>
                <a:r>
                  <a:rPr lang="en-GB" dirty="0"/>
                  <a:t>Let us consider this toy example of a PDE.</a:t>
                </a:r>
              </a:p>
              <a:p>
                <a:r>
                  <a:rPr lang="en-GB" dirty="0"/>
                  <a:t>Let us denote </a:t>
                </a:r>
                <a14:m>
                  <m:oMath xmlns:m="http://schemas.openxmlformats.org/officeDocument/2006/math">
                    <m:r>
                      <a:rPr lang="en-GB" i="1" dirty="0" smtClean="0">
                        <a:latin typeface="Cambria Math" panose="02040503050406030204" pitchFamily="18" charset="0"/>
                      </a:rPr>
                      <m:t>𝑇</m:t>
                    </m:r>
                    <m:r>
                      <a:rPr lang="en-GB" i="1" dirty="0" smtClean="0">
                        <a:latin typeface="Cambria Math" panose="02040503050406030204" pitchFamily="18" charset="0"/>
                      </a:rPr>
                      <m:t>(</m:t>
                    </m:r>
                    <m:r>
                      <a:rPr lang="en-GB" i="1" dirty="0" smtClean="0">
                        <a:latin typeface="Cambria Math" panose="02040503050406030204" pitchFamily="18" charset="0"/>
                      </a:rPr>
                      <m:t>𝑡</m:t>
                    </m:r>
                    <m:r>
                      <a:rPr lang="en-GB" i="1" dirty="0" smtClean="0">
                        <a:latin typeface="Cambria Math" panose="02040503050406030204" pitchFamily="18" charset="0"/>
                      </a:rPr>
                      <m:t>)</m:t>
                    </m:r>
                  </m:oMath>
                </a14:m>
                <a:r>
                  <a:rPr lang="en-GB" dirty="0"/>
                  <a:t> the </a:t>
                </a:r>
                <a:r>
                  <a:rPr lang="en-GB" b="1" dirty="0"/>
                  <a:t>temperature of my coffee, in °C, at time </a:t>
                </a:r>
                <a14:m>
                  <m:oMath xmlns:m="http://schemas.openxmlformats.org/officeDocument/2006/math">
                    <m:r>
                      <a:rPr lang="en-GB" b="1" i="1" dirty="0" smtClean="0">
                        <a:latin typeface="Cambria Math" panose="02040503050406030204" pitchFamily="18" charset="0"/>
                      </a:rPr>
                      <m:t>𝒕</m:t>
                    </m:r>
                  </m:oMath>
                </a14:m>
                <a:r>
                  <a:rPr lang="en-GB" dirty="0"/>
                  <a:t>.</a:t>
                </a:r>
              </a:p>
              <a:p>
                <a:r>
                  <a:rPr lang="en-GB" dirty="0"/>
                  <a:t>It starts, freshly brewed at 100°C, that is </a:t>
                </a:r>
                <a14:m>
                  <m:oMath xmlns:m="http://schemas.openxmlformats.org/officeDocument/2006/math">
                    <m:r>
                      <a:rPr lang="en-GB" i="1" dirty="0" smtClean="0">
                        <a:latin typeface="Cambria Math" panose="02040503050406030204" pitchFamily="18" charset="0"/>
                      </a:rPr>
                      <m:t>𝑇</m:t>
                    </m:r>
                    <m:r>
                      <a:rPr lang="en-GB" i="1" dirty="0" smtClean="0">
                        <a:latin typeface="Cambria Math" panose="02040503050406030204" pitchFamily="18" charset="0"/>
                      </a:rPr>
                      <m:t>(0) = 100</m:t>
                    </m:r>
                    <m:r>
                      <m:rPr>
                        <m:nor/>
                      </m:rPr>
                      <a:rPr lang="en-GB" b="0" i="0" dirty="0" smtClean="0">
                        <a:latin typeface="Cambria Math" panose="02040503050406030204" pitchFamily="18" charset="0"/>
                      </a:rPr>
                      <m:t> </m:t>
                    </m:r>
                    <m:r>
                      <m:rPr>
                        <m:nor/>
                      </m:rPr>
                      <a:rPr lang="en-GB" b="0" i="0" dirty="0" smtClean="0">
                        <a:latin typeface="Cambria Math" panose="02040503050406030204" pitchFamily="18" charset="0"/>
                      </a:rPr>
                      <m:t>°</m:t>
                    </m:r>
                    <m:r>
                      <m:rPr>
                        <m:nor/>
                      </m:rPr>
                      <a:rPr lang="en-GB" b="0" i="0" dirty="0" smtClean="0">
                        <a:latin typeface="Cambria Math" panose="02040503050406030204" pitchFamily="18" charset="0"/>
                      </a:rPr>
                      <m:t>C</m:t>
                    </m:r>
                  </m:oMath>
                </a14:m>
                <a:r>
                  <a:rPr lang="en-GB" dirty="0"/>
                  <a:t>.</a:t>
                </a:r>
                <a:br>
                  <a:rPr lang="en-GB" dirty="0"/>
                </a:br>
                <a:r>
                  <a:rPr lang="en-GB" dirty="0"/>
                  <a:t>This is the </a:t>
                </a:r>
                <a:r>
                  <a:rPr lang="en-GB" b="1" dirty="0">
                    <a:solidFill>
                      <a:srgbClr val="7030A0"/>
                    </a:solidFill>
                  </a:rPr>
                  <a:t>initial condition </a:t>
                </a:r>
                <a:r>
                  <a:rPr lang="en-GB" dirty="0"/>
                  <a:t>for our PDE.</a:t>
                </a:r>
              </a:p>
              <a:p>
                <a:r>
                  <a:rPr lang="en-GB" dirty="0"/>
                  <a:t>The room temperature is constant, and set to </a:t>
                </a:r>
                <a14:m>
                  <m:oMath xmlns:m="http://schemas.openxmlformats.org/officeDocument/2006/math">
                    <m:sSub>
                      <m:sSubPr>
                        <m:ctrlPr>
                          <a:rPr lang="en-GB" b="0" i="1" smtClean="0">
                            <a:latin typeface="Cambria Math" panose="02040503050406030204" pitchFamily="18" charset="0"/>
                          </a:rPr>
                        </m:ctrlPr>
                      </m:sSubPr>
                      <m:e>
                        <m:r>
                          <a:rPr lang="en-GB" b="0" i="1" smtClean="0">
                            <a:latin typeface="Cambria Math" panose="02040503050406030204" pitchFamily="18" charset="0"/>
                          </a:rPr>
                          <m:t>𝑇</m:t>
                        </m:r>
                      </m:e>
                      <m:sub>
                        <m:r>
                          <a:rPr lang="en-GB" b="0" i="1" smtClean="0">
                            <a:latin typeface="Cambria Math" panose="02040503050406030204" pitchFamily="18" charset="0"/>
                          </a:rPr>
                          <m:t>𝑒𝑛𝑣</m:t>
                        </m:r>
                      </m:sub>
                    </m:sSub>
                    <m:r>
                      <a:rPr lang="en-GB" b="0" i="0" smtClean="0">
                        <a:latin typeface="Cambria Math" panose="02040503050406030204" pitchFamily="18" charset="0"/>
                      </a:rPr>
                      <m:t>=20</m:t>
                    </m:r>
                    <m:r>
                      <m:rPr>
                        <m:nor/>
                      </m:rPr>
                      <a:rPr lang="en-GB" b="0" i="0" smtClean="0">
                        <a:latin typeface="Cambria Math" panose="02040503050406030204" pitchFamily="18" charset="0"/>
                      </a:rPr>
                      <m:t> </m:t>
                    </m:r>
                    <m:r>
                      <m:rPr>
                        <m:nor/>
                      </m:rPr>
                      <a:rPr lang="en-GB" dirty="0">
                        <a:latin typeface="Cambria Math" panose="02040503050406030204" pitchFamily="18" charset="0"/>
                      </a:rPr>
                      <m:t>°</m:t>
                    </m:r>
                    <m:r>
                      <m:rPr>
                        <m:nor/>
                      </m:rPr>
                      <a:rPr lang="en-GB" dirty="0">
                        <a:latin typeface="Cambria Math" panose="02040503050406030204" pitchFamily="18" charset="0"/>
                      </a:rPr>
                      <m:t>C</m:t>
                    </m:r>
                  </m:oMath>
                </a14:m>
                <a:r>
                  <a:rPr lang="en-GB" dirty="0"/>
                  <a:t>.</a:t>
                </a:r>
              </a:p>
              <a:p>
                <a:r>
                  <a:rPr lang="en-GB" dirty="0"/>
                  <a:t>The temperature function </a:t>
                </a:r>
                <a14:m>
                  <m:oMath xmlns:m="http://schemas.openxmlformats.org/officeDocument/2006/math">
                    <m:r>
                      <a:rPr lang="en-GB" i="1" dirty="0" smtClean="0">
                        <a:latin typeface="Cambria Math" panose="02040503050406030204" pitchFamily="18" charset="0"/>
                      </a:rPr>
                      <m:t>𝑇</m:t>
                    </m:r>
                    <m:r>
                      <a:rPr lang="en-GB" i="1" dirty="0" smtClean="0">
                        <a:latin typeface="Cambria Math" panose="02040503050406030204" pitchFamily="18" charset="0"/>
                      </a:rPr>
                      <m:t>(</m:t>
                    </m:r>
                    <m:r>
                      <a:rPr lang="en-GB" i="1" dirty="0" smtClean="0">
                        <a:latin typeface="Cambria Math" panose="02040503050406030204" pitchFamily="18" charset="0"/>
                      </a:rPr>
                      <m:t>𝑡</m:t>
                    </m:r>
                    <m:r>
                      <a:rPr lang="en-GB" i="1" dirty="0" smtClean="0">
                        <a:latin typeface="Cambria Math" panose="02040503050406030204" pitchFamily="18" charset="0"/>
                      </a:rPr>
                      <m:t>)</m:t>
                    </m:r>
                  </m:oMath>
                </a14:m>
                <a:r>
                  <a:rPr lang="en-GB" dirty="0"/>
                  <a:t> will change over time and its evolution follows the </a:t>
                </a:r>
                <a:r>
                  <a:rPr lang="en-GB" b="1" dirty="0">
                    <a:solidFill>
                      <a:srgbClr val="00B050"/>
                    </a:solidFill>
                  </a:rPr>
                  <a:t>PDE</a:t>
                </a:r>
                <a:r>
                  <a:rPr lang="en-GB" dirty="0"/>
                  <a:t> below.</a:t>
                </a:r>
              </a:p>
              <a:p>
                <a:pPr marL="0" indent="0">
                  <a:buNone/>
                </a:pPr>
                <a14:m>
                  <m:oMathPara xmlns:m="http://schemas.openxmlformats.org/officeDocument/2006/math">
                    <m:oMathParaPr>
                      <m:jc m:val="centerGroup"/>
                    </m:oMathParaPr>
                    <m:oMath xmlns:m="http://schemas.openxmlformats.org/officeDocument/2006/math">
                      <m:f>
                        <m:fPr>
                          <m:ctrlPr>
                            <a:rPr lang="en-GB" b="0" i="1" smtClean="0">
                              <a:latin typeface="Cambria Math" panose="02040503050406030204" pitchFamily="18" charset="0"/>
                            </a:rPr>
                          </m:ctrlPr>
                        </m:fPr>
                        <m:num>
                          <m:r>
                            <a:rPr lang="en-GB" b="0" i="1" smtClean="0">
                              <a:latin typeface="Cambria Math" panose="02040503050406030204" pitchFamily="18" charset="0"/>
                            </a:rPr>
                            <m:t>𝜕</m:t>
                          </m:r>
                          <m:r>
                            <a:rPr lang="en-GB" b="0" i="1" smtClean="0">
                              <a:latin typeface="Cambria Math" panose="02040503050406030204" pitchFamily="18" charset="0"/>
                            </a:rPr>
                            <m:t>𝑇</m:t>
                          </m:r>
                          <m:d>
                            <m:dPr>
                              <m:ctrlPr>
                                <a:rPr lang="en-GB" b="0" i="1" smtClean="0">
                                  <a:latin typeface="Cambria Math" panose="02040503050406030204" pitchFamily="18" charset="0"/>
                                </a:rPr>
                              </m:ctrlPr>
                            </m:dPr>
                            <m:e>
                              <m:r>
                                <a:rPr lang="en-GB" b="0" i="1" smtClean="0">
                                  <a:latin typeface="Cambria Math" panose="02040503050406030204" pitchFamily="18" charset="0"/>
                                </a:rPr>
                                <m:t>𝑡</m:t>
                              </m:r>
                            </m:e>
                          </m:d>
                        </m:num>
                        <m:den>
                          <m:r>
                            <a:rPr lang="en-GB" b="0" i="1" smtClean="0">
                              <a:latin typeface="Cambria Math" panose="02040503050406030204" pitchFamily="18" charset="0"/>
                            </a:rPr>
                            <m:t>𝜕</m:t>
                          </m:r>
                          <m:r>
                            <a:rPr lang="en-GB" b="0" i="1" smtClean="0">
                              <a:latin typeface="Cambria Math" panose="02040503050406030204" pitchFamily="18" charset="0"/>
                            </a:rPr>
                            <m:t>𝑡</m:t>
                          </m:r>
                        </m:den>
                      </m:f>
                      <m:r>
                        <a:rPr lang="en-GB" b="0" i="1" smtClean="0">
                          <a:latin typeface="Cambria Math" panose="02040503050406030204" pitchFamily="18" charset="0"/>
                        </a:rPr>
                        <m:t>=</m:t>
                      </m:r>
                      <m:r>
                        <a:rPr lang="en-GB" b="0" i="1" smtClean="0">
                          <a:latin typeface="Cambria Math" panose="02040503050406030204" pitchFamily="18" charset="0"/>
                        </a:rPr>
                        <m:t>𝑅</m:t>
                      </m:r>
                      <m:d>
                        <m:dPr>
                          <m:ctrlPr>
                            <a:rPr lang="en-GB" b="0" i="1" smtClean="0">
                              <a:latin typeface="Cambria Math" panose="02040503050406030204" pitchFamily="18" charset="0"/>
                            </a:rPr>
                          </m:ctrlPr>
                        </m:dPr>
                        <m:e>
                          <m:sSub>
                            <m:sSubPr>
                              <m:ctrlPr>
                                <a:rPr lang="en-GB" b="0" i="1" smtClean="0">
                                  <a:latin typeface="Cambria Math" panose="02040503050406030204" pitchFamily="18" charset="0"/>
                                </a:rPr>
                              </m:ctrlPr>
                            </m:sSubPr>
                            <m:e>
                              <m:r>
                                <a:rPr lang="en-GB" b="0" i="1" smtClean="0">
                                  <a:latin typeface="Cambria Math" panose="02040503050406030204" pitchFamily="18" charset="0"/>
                                </a:rPr>
                                <m:t>𝑇</m:t>
                              </m:r>
                            </m:e>
                            <m:sub>
                              <m:r>
                                <a:rPr lang="en-GB" b="0" i="1" smtClean="0">
                                  <a:latin typeface="Cambria Math" panose="02040503050406030204" pitchFamily="18" charset="0"/>
                                </a:rPr>
                                <m:t>𝑒𝑛𝑣</m:t>
                              </m:r>
                            </m:sub>
                          </m:sSub>
                          <m:r>
                            <a:rPr lang="en-GB" b="0" i="1" smtClean="0">
                              <a:latin typeface="Cambria Math" panose="02040503050406030204" pitchFamily="18" charset="0"/>
                            </a:rPr>
                            <m:t>−</m:t>
                          </m:r>
                          <m:r>
                            <a:rPr lang="en-GB" b="0" i="1" smtClean="0">
                              <a:latin typeface="Cambria Math" panose="02040503050406030204" pitchFamily="18" charset="0"/>
                            </a:rPr>
                            <m:t>𝑇</m:t>
                          </m:r>
                          <m:d>
                            <m:dPr>
                              <m:ctrlPr>
                                <a:rPr lang="en-GB" b="0" i="1" smtClean="0">
                                  <a:latin typeface="Cambria Math" panose="02040503050406030204" pitchFamily="18" charset="0"/>
                                </a:rPr>
                              </m:ctrlPr>
                            </m:dPr>
                            <m:e>
                              <m:r>
                                <a:rPr lang="en-GB" b="0" i="1" smtClean="0">
                                  <a:latin typeface="Cambria Math" panose="02040503050406030204" pitchFamily="18" charset="0"/>
                                </a:rPr>
                                <m:t>𝑡</m:t>
                              </m:r>
                            </m:e>
                          </m:d>
                        </m:e>
                      </m:d>
                    </m:oMath>
                  </m:oMathPara>
                </a14:m>
                <a:endParaRPr lang="en-GB" dirty="0"/>
              </a:p>
              <a:p>
                <a:r>
                  <a:rPr lang="en-GB" dirty="0"/>
                  <a:t>The </a:t>
                </a:r>
                <a14:m>
                  <m:oMath xmlns:m="http://schemas.openxmlformats.org/officeDocument/2006/math">
                    <m:r>
                      <a:rPr lang="en-GB" i="1" dirty="0" smtClean="0">
                        <a:latin typeface="Cambria Math" panose="02040503050406030204" pitchFamily="18" charset="0"/>
                      </a:rPr>
                      <m:t>𝑅</m:t>
                    </m:r>
                  </m:oMath>
                </a14:m>
                <a:r>
                  <a:rPr lang="en-GB" dirty="0"/>
                  <a:t> constant denotes the temperature dissipation factor (i.e. how fast the temperature changes) and is arbitrarily set to 0.1.</a:t>
                </a:r>
              </a:p>
              <a:p>
                <a:pPr marL="0" indent="0">
                  <a:buNone/>
                </a:pPr>
                <a:endParaRPr lang="en-GB" dirty="0"/>
              </a:p>
              <a:p>
                <a:pPr marL="0" indent="0">
                  <a:buNone/>
                </a:pPr>
                <a:endParaRPr lang="en-GB" dirty="0"/>
              </a:p>
            </p:txBody>
          </p:sp>
        </mc:Choice>
        <mc:Fallback xmlns="">
          <p:sp>
            <p:nvSpPr>
              <p:cNvPr id="3" name="Content Placeholder 2">
                <a:extLst>
                  <a:ext uri="{FF2B5EF4-FFF2-40B4-BE49-F238E27FC236}">
                    <a16:creationId xmlns:a16="http://schemas.microsoft.com/office/drawing/2014/main" id="{29E4A597-46A7-123D-30B3-89121E4C17CC}"/>
                  </a:ext>
                </a:extLst>
              </p:cNvPr>
              <p:cNvSpPr>
                <a:spLocks noGrp="1" noRot="1" noChangeAspect="1" noMove="1" noResize="1" noEditPoints="1" noAdjustHandles="1" noChangeArrowheads="1" noChangeShapeType="1" noTextEdit="1"/>
              </p:cNvSpPr>
              <p:nvPr>
                <p:ph idx="1"/>
              </p:nvPr>
            </p:nvSpPr>
            <p:spPr>
              <a:xfrm>
                <a:off x="838200" y="1825624"/>
                <a:ext cx="10515600" cy="5032375"/>
              </a:xfrm>
              <a:blipFill>
                <a:blip r:embed="rId2"/>
                <a:stretch>
                  <a:fillRect l="-1217" t="-1937" b="-1332"/>
                </a:stretch>
              </a:blipFill>
            </p:spPr>
            <p:txBody>
              <a:bodyPr/>
              <a:lstStyle/>
              <a:p>
                <a:r>
                  <a:rPr lang="en-GB">
                    <a:noFill/>
                  </a:rPr>
                  <a:t> </a:t>
                </a:r>
              </a:p>
            </p:txBody>
          </p:sp>
        </mc:Fallback>
      </mc:AlternateContent>
      <p:pic>
        <p:nvPicPr>
          <p:cNvPr id="7" name="Picture 6">
            <a:extLst>
              <a:ext uri="{FF2B5EF4-FFF2-40B4-BE49-F238E27FC236}">
                <a16:creationId xmlns:a16="http://schemas.microsoft.com/office/drawing/2014/main" id="{ED9D0C00-D355-872E-5E09-8D9ED4A31756}"/>
              </a:ext>
            </a:extLst>
          </p:cNvPr>
          <p:cNvPicPr>
            <a:picLocks noChangeAspect="1"/>
          </p:cNvPicPr>
          <p:nvPr/>
        </p:nvPicPr>
        <p:blipFill>
          <a:blip r:embed="rId3"/>
          <a:stretch>
            <a:fillRect/>
          </a:stretch>
        </p:blipFill>
        <p:spPr>
          <a:xfrm>
            <a:off x="7280328" y="103103"/>
            <a:ext cx="4817887" cy="1878097"/>
          </a:xfrm>
          <a:prstGeom prst="rect">
            <a:avLst/>
          </a:prstGeom>
        </p:spPr>
      </p:pic>
    </p:spTree>
    <p:extLst>
      <p:ext uri="{BB962C8B-B14F-4D97-AF65-F5344CB8AC3E}">
        <p14:creationId xmlns:p14="http://schemas.microsoft.com/office/powerpoint/2010/main" val="550388382"/>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CC414F5-B2DE-CCD0-8388-F16117777465}"/>
              </a:ext>
            </a:extLst>
          </p:cNvPr>
          <p:cNvSpPr>
            <a:spLocks noGrp="1"/>
          </p:cNvSpPr>
          <p:nvPr>
            <p:ph type="title"/>
          </p:nvPr>
        </p:nvSpPr>
        <p:spPr/>
        <p:txBody>
          <a:bodyPr/>
          <a:lstStyle/>
          <a:p>
            <a:r>
              <a:rPr lang="en-GB" dirty="0"/>
              <a:t>A toy example of a PDE</a:t>
            </a:r>
          </a:p>
        </p:txBody>
      </p:sp>
      <mc:AlternateContent xmlns:mc="http://schemas.openxmlformats.org/markup-compatibility/2006" xmlns:a14="http://schemas.microsoft.com/office/drawing/2010/main">
        <mc:Choice Requires="a14">
          <p:sp>
            <p:nvSpPr>
              <p:cNvPr id="3" name="Content Placeholder 2">
                <a:extLst>
                  <a:ext uri="{FF2B5EF4-FFF2-40B4-BE49-F238E27FC236}">
                    <a16:creationId xmlns:a16="http://schemas.microsoft.com/office/drawing/2014/main" id="{29E4A597-46A7-123D-30B3-89121E4C17CC}"/>
                  </a:ext>
                </a:extLst>
              </p:cNvPr>
              <p:cNvSpPr>
                <a:spLocks noGrp="1"/>
              </p:cNvSpPr>
              <p:nvPr>
                <p:ph sz="half" idx="1"/>
              </p:nvPr>
            </p:nvSpPr>
            <p:spPr>
              <a:xfrm>
                <a:off x="375139" y="1825624"/>
                <a:ext cx="6213230" cy="5032376"/>
              </a:xfrm>
            </p:spPr>
            <p:txBody>
              <a:bodyPr>
                <a:normAutofit/>
              </a:bodyPr>
              <a:lstStyle/>
              <a:p>
                <a:pPr marL="0" indent="0">
                  <a:buNone/>
                </a:pPr>
                <a:r>
                  <a:rPr lang="en-GB" dirty="0"/>
                  <a:t>The PDE problem</a:t>
                </a:r>
                <a:br>
                  <a:rPr lang="en-GB" dirty="0"/>
                </a:br>
                <a:endParaRPr lang="en-GB" dirty="0"/>
              </a:p>
              <a:p>
                <a:pPr marL="0" indent="0">
                  <a:buNone/>
                </a:pPr>
                <a14:m>
                  <m:oMathPara xmlns:m="http://schemas.openxmlformats.org/officeDocument/2006/math">
                    <m:oMathParaPr>
                      <m:jc m:val="centerGroup"/>
                    </m:oMathParaPr>
                    <m:oMath xmlns:m="http://schemas.openxmlformats.org/officeDocument/2006/math">
                      <m:f>
                        <m:fPr>
                          <m:ctrlPr>
                            <a:rPr lang="en-GB" b="0" i="1" smtClean="0">
                              <a:latin typeface="Cambria Math" panose="02040503050406030204" pitchFamily="18" charset="0"/>
                            </a:rPr>
                          </m:ctrlPr>
                        </m:fPr>
                        <m:num>
                          <m:r>
                            <a:rPr lang="en-GB" b="0" i="1" smtClean="0">
                              <a:latin typeface="Cambria Math" panose="02040503050406030204" pitchFamily="18" charset="0"/>
                            </a:rPr>
                            <m:t>𝜕</m:t>
                          </m:r>
                          <m:r>
                            <a:rPr lang="en-GB" b="0" i="1" smtClean="0">
                              <a:latin typeface="Cambria Math" panose="02040503050406030204" pitchFamily="18" charset="0"/>
                            </a:rPr>
                            <m:t>𝑇</m:t>
                          </m:r>
                          <m:d>
                            <m:dPr>
                              <m:ctrlPr>
                                <a:rPr lang="en-GB" b="0" i="1" smtClean="0">
                                  <a:latin typeface="Cambria Math" panose="02040503050406030204" pitchFamily="18" charset="0"/>
                                </a:rPr>
                              </m:ctrlPr>
                            </m:dPr>
                            <m:e>
                              <m:r>
                                <a:rPr lang="en-GB" b="0" i="1" smtClean="0">
                                  <a:latin typeface="Cambria Math" panose="02040503050406030204" pitchFamily="18" charset="0"/>
                                </a:rPr>
                                <m:t>𝑡</m:t>
                              </m:r>
                            </m:e>
                          </m:d>
                        </m:num>
                        <m:den>
                          <m:r>
                            <a:rPr lang="en-GB" b="0" i="1" smtClean="0">
                              <a:latin typeface="Cambria Math" panose="02040503050406030204" pitchFamily="18" charset="0"/>
                            </a:rPr>
                            <m:t>𝜕</m:t>
                          </m:r>
                          <m:r>
                            <a:rPr lang="en-GB" b="0" i="1" smtClean="0">
                              <a:latin typeface="Cambria Math" panose="02040503050406030204" pitchFamily="18" charset="0"/>
                            </a:rPr>
                            <m:t>𝑡</m:t>
                          </m:r>
                        </m:den>
                      </m:f>
                      <m:r>
                        <a:rPr lang="en-GB" b="0" i="1" smtClean="0">
                          <a:latin typeface="Cambria Math" panose="02040503050406030204" pitchFamily="18" charset="0"/>
                        </a:rPr>
                        <m:t>=</m:t>
                      </m:r>
                      <m:r>
                        <a:rPr lang="en-GB" b="0" i="1" smtClean="0">
                          <a:latin typeface="Cambria Math" panose="02040503050406030204" pitchFamily="18" charset="0"/>
                        </a:rPr>
                        <m:t>𝑅</m:t>
                      </m:r>
                      <m:d>
                        <m:dPr>
                          <m:ctrlPr>
                            <a:rPr lang="en-GB" b="0" i="1" smtClean="0">
                              <a:latin typeface="Cambria Math" panose="02040503050406030204" pitchFamily="18" charset="0"/>
                            </a:rPr>
                          </m:ctrlPr>
                        </m:dPr>
                        <m:e>
                          <m:sSub>
                            <m:sSubPr>
                              <m:ctrlPr>
                                <a:rPr lang="en-GB" b="0" i="1" smtClean="0">
                                  <a:latin typeface="Cambria Math" panose="02040503050406030204" pitchFamily="18" charset="0"/>
                                </a:rPr>
                              </m:ctrlPr>
                            </m:sSubPr>
                            <m:e>
                              <m:r>
                                <a:rPr lang="en-GB" b="0" i="1" smtClean="0">
                                  <a:latin typeface="Cambria Math" panose="02040503050406030204" pitchFamily="18" charset="0"/>
                                </a:rPr>
                                <m:t>𝑇</m:t>
                              </m:r>
                            </m:e>
                            <m:sub>
                              <m:r>
                                <a:rPr lang="en-GB" b="0" i="1" smtClean="0">
                                  <a:latin typeface="Cambria Math" panose="02040503050406030204" pitchFamily="18" charset="0"/>
                                </a:rPr>
                                <m:t>𝑒𝑛𝑣</m:t>
                              </m:r>
                            </m:sub>
                          </m:sSub>
                          <m:r>
                            <a:rPr lang="en-GB" b="0" i="1" smtClean="0">
                              <a:latin typeface="Cambria Math" panose="02040503050406030204" pitchFamily="18" charset="0"/>
                            </a:rPr>
                            <m:t>−</m:t>
                          </m:r>
                          <m:r>
                            <a:rPr lang="en-GB" b="0" i="1" smtClean="0">
                              <a:latin typeface="Cambria Math" panose="02040503050406030204" pitchFamily="18" charset="0"/>
                            </a:rPr>
                            <m:t>𝑇</m:t>
                          </m:r>
                          <m:d>
                            <m:dPr>
                              <m:ctrlPr>
                                <a:rPr lang="en-GB" b="0" i="1" smtClean="0">
                                  <a:latin typeface="Cambria Math" panose="02040503050406030204" pitchFamily="18" charset="0"/>
                                </a:rPr>
                              </m:ctrlPr>
                            </m:dPr>
                            <m:e>
                              <m:r>
                                <a:rPr lang="en-GB" b="0" i="1" smtClean="0">
                                  <a:latin typeface="Cambria Math" panose="02040503050406030204" pitchFamily="18" charset="0"/>
                                </a:rPr>
                                <m:t>𝑡</m:t>
                              </m:r>
                            </m:e>
                          </m:d>
                        </m:e>
                      </m:d>
                    </m:oMath>
                  </m:oMathPara>
                </a14:m>
                <a:endParaRPr lang="en-GB" dirty="0"/>
              </a:p>
              <a:p>
                <a:pPr marL="0" indent="0">
                  <a:buNone/>
                </a:pPr>
                <a14:m>
                  <m:oMathPara xmlns:m="http://schemas.openxmlformats.org/officeDocument/2006/math">
                    <m:oMathParaPr>
                      <m:jc m:val="centerGroup"/>
                    </m:oMathParaPr>
                    <m:oMath xmlns:m="http://schemas.openxmlformats.org/officeDocument/2006/math">
                      <m:r>
                        <a:rPr lang="en-GB" b="0" i="1" smtClean="0">
                          <a:latin typeface="Cambria Math" panose="02040503050406030204" pitchFamily="18" charset="0"/>
                        </a:rPr>
                        <m:t>𝑇</m:t>
                      </m:r>
                      <m:d>
                        <m:dPr>
                          <m:ctrlPr>
                            <a:rPr lang="en-GB" b="0" i="1" smtClean="0">
                              <a:latin typeface="Cambria Math" panose="02040503050406030204" pitchFamily="18" charset="0"/>
                            </a:rPr>
                          </m:ctrlPr>
                        </m:dPr>
                        <m:e>
                          <m:r>
                            <a:rPr lang="en-GB" b="0" i="1" smtClean="0">
                              <a:latin typeface="Cambria Math" panose="02040503050406030204" pitchFamily="18" charset="0"/>
                            </a:rPr>
                            <m:t>0</m:t>
                          </m:r>
                        </m:e>
                      </m:d>
                      <m:r>
                        <a:rPr lang="en-GB" b="0" i="1" smtClean="0">
                          <a:latin typeface="Cambria Math" panose="02040503050406030204" pitchFamily="18" charset="0"/>
                        </a:rPr>
                        <m:t>=</m:t>
                      </m:r>
                      <m:sSub>
                        <m:sSubPr>
                          <m:ctrlPr>
                            <a:rPr lang="en-GB" b="0" i="1" smtClean="0">
                              <a:latin typeface="Cambria Math" panose="02040503050406030204" pitchFamily="18" charset="0"/>
                            </a:rPr>
                          </m:ctrlPr>
                        </m:sSubPr>
                        <m:e>
                          <m:r>
                            <a:rPr lang="en-GB" b="0" i="1" smtClean="0">
                              <a:latin typeface="Cambria Math" panose="02040503050406030204" pitchFamily="18" charset="0"/>
                            </a:rPr>
                            <m:t>𝑇</m:t>
                          </m:r>
                        </m:e>
                        <m:sub>
                          <m:r>
                            <a:rPr lang="en-GB" b="0" i="1" smtClean="0">
                              <a:latin typeface="Cambria Math" panose="02040503050406030204" pitchFamily="18" charset="0"/>
                            </a:rPr>
                            <m:t>0</m:t>
                          </m:r>
                        </m:sub>
                      </m:sSub>
                    </m:oMath>
                  </m:oMathPara>
                </a14:m>
                <a:br>
                  <a:rPr lang="en-GB" dirty="0"/>
                </a:br>
                <a:endParaRPr lang="en-GB" dirty="0"/>
              </a:p>
              <a:p>
                <a:pPr marL="0" indent="0">
                  <a:buNone/>
                </a:pPr>
                <a:br>
                  <a:rPr lang="en-GB" dirty="0"/>
                </a:br>
                <a:r>
                  <a:rPr lang="en-GB" dirty="0"/>
                  <a:t>Is considered easy-to-solve, as it admits an analytical solution, whose closed-form expression has been known for a while.</a:t>
                </a:r>
                <a:br>
                  <a:rPr lang="en-GB" dirty="0"/>
                </a:br>
                <a:r>
                  <a:rPr lang="en-GB" dirty="0"/>
                  <a:t>It is simply given as:</a:t>
                </a:r>
              </a:p>
              <a:p>
                <a:pPr marL="0" indent="0">
                  <a:buNone/>
                </a:pPr>
                <a:endParaRPr lang="en-GB" dirty="0"/>
              </a:p>
              <a:p>
                <a:pPr marL="0" indent="0">
                  <a:buNone/>
                </a:pPr>
                <a14:m>
                  <m:oMathPara xmlns:m="http://schemas.openxmlformats.org/officeDocument/2006/math">
                    <m:oMathParaPr>
                      <m:jc m:val="centerGroup"/>
                    </m:oMathParaPr>
                    <m:oMath xmlns:m="http://schemas.openxmlformats.org/officeDocument/2006/math">
                      <m:r>
                        <a:rPr lang="en-GB" b="0" i="1" smtClean="0">
                          <a:latin typeface="Cambria Math" panose="02040503050406030204" pitchFamily="18" charset="0"/>
                        </a:rPr>
                        <m:t>𝑇</m:t>
                      </m:r>
                      <m:d>
                        <m:dPr>
                          <m:ctrlPr>
                            <a:rPr lang="en-GB" b="0" i="1" smtClean="0">
                              <a:latin typeface="Cambria Math" panose="02040503050406030204" pitchFamily="18" charset="0"/>
                            </a:rPr>
                          </m:ctrlPr>
                        </m:dPr>
                        <m:e>
                          <m:r>
                            <a:rPr lang="en-GB" b="0" i="1" smtClean="0">
                              <a:latin typeface="Cambria Math" panose="02040503050406030204" pitchFamily="18" charset="0"/>
                            </a:rPr>
                            <m:t>𝑡</m:t>
                          </m:r>
                        </m:e>
                      </m:d>
                      <m:r>
                        <a:rPr lang="en-GB" b="0" i="1" smtClean="0">
                          <a:latin typeface="Cambria Math" panose="02040503050406030204" pitchFamily="18" charset="0"/>
                        </a:rPr>
                        <m:t>=</m:t>
                      </m:r>
                      <m:sSub>
                        <m:sSubPr>
                          <m:ctrlPr>
                            <a:rPr lang="en-GB" b="0" i="1" smtClean="0">
                              <a:latin typeface="Cambria Math" panose="02040503050406030204" pitchFamily="18" charset="0"/>
                            </a:rPr>
                          </m:ctrlPr>
                        </m:sSubPr>
                        <m:e>
                          <m:r>
                            <a:rPr lang="en-GB" b="0" i="1" smtClean="0">
                              <a:latin typeface="Cambria Math" panose="02040503050406030204" pitchFamily="18" charset="0"/>
                            </a:rPr>
                            <m:t>𝑇</m:t>
                          </m:r>
                        </m:e>
                        <m:sub>
                          <m:r>
                            <a:rPr lang="en-GB" b="0" i="1" smtClean="0">
                              <a:latin typeface="Cambria Math" panose="02040503050406030204" pitchFamily="18" charset="0"/>
                            </a:rPr>
                            <m:t>𝑒𝑛𝑣</m:t>
                          </m:r>
                        </m:sub>
                      </m:sSub>
                      <m:r>
                        <a:rPr lang="en-GB" b="0" i="1" smtClean="0">
                          <a:latin typeface="Cambria Math" panose="02040503050406030204" pitchFamily="18" charset="0"/>
                        </a:rPr>
                        <m:t>+</m:t>
                      </m:r>
                      <m:d>
                        <m:dPr>
                          <m:ctrlPr>
                            <a:rPr lang="en-GB" b="0" i="1" smtClean="0">
                              <a:latin typeface="Cambria Math" panose="02040503050406030204" pitchFamily="18" charset="0"/>
                            </a:rPr>
                          </m:ctrlPr>
                        </m:dPr>
                        <m:e>
                          <m:sSub>
                            <m:sSubPr>
                              <m:ctrlPr>
                                <a:rPr lang="en-GB" b="0" i="1" smtClean="0">
                                  <a:latin typeface="Cambria Math" panose="02040503050406030204" pitchFamily="18" charset="0"/>
                                </a:rPr>
                              </m:ctrlPr>
                            </m:sSubPr>
                            <m:e>
                              <m:r>
                                <a:rPr lang="en-GB" b="0" i="1" smtClean="0">
                                  <a:latin typeface="Cambria Math" panose="02040503050406030204" pitchFamily="18" charset="0"/>
                                </a:rPr>
                                <m:t>𝑇</m:t>
                              </m:r>
                            </m:e>
                            <m:sub>
                              <m:r>
                                <a:rPr lang="en-GB" b="0" i="1" smtClean="0">
                                  <a:latin typeface="Cambria Math" panose="02040503050406030204" pitchFamily="18" charset="0"/>
                                </a:rPr>
                                <m:t>0</m:t>
                              </m:r>
                            </m:sub>
                          </m:sSub>
                          <m:r>
                            <a:rPr lang="en-GB" b="0" i="1" smtClean="0">
                              <a:latin typeface="Cambria Math" panose="02040503050406030204" pitchFamily="18" charset="0"/>
                            </a:rPr>
                            <m:t>−</m:t>
                          </m:r>
                          <m:sSub>
                            <m:sSubPr>
                              <m:ctrlPr>
                                <a:rPr lang="en-GB" b="0" i="1" smtClean="0">
                                  <a:latin typeface="Cambria Math" panose="02040503050406030204" pitchFamily="18" charset="0"/>
                                </a:rPr>
                              </m:ctrlPr>
                            </m:sSubPr>
                            <m:e>
                              <m:r>
                                <a:rPr lang="en-GB" b="0" i="1" smtClean="0">
                                  <a:latin typeface="Cambria Math" panose="02040503050406030204" pitchFamily="18" charset="0"/>
                                </a:rPr>
                                <m:t>𝑇</m:t>
                              </m:r>
                            </m:e>
                            <m:sub>
                              <m:r>
                                <a:rPr lang="en-GB" b="0" i="1" smtClean="0">
                                  <a:latin typeface="Cambria Math" panose="02040503050406030204" pitchFamily="18" charset="0"/>
                                </a:rPr>
                                <m:t>𝑒𝑛𝑣</m:t>
                              </m:r>
                            </m:sub>
                          </m:sSub>
                        </m:e>
                      </m:d>
                      <m:func>
                        <m:funcPr>
                          <m:ctrlPr>
                            <a:rPr lang="en-GB" b="0" i="1" smtClean="0">
                              <a:latin typeface="Cambria Math" panose="02040503050406030204" pitchFamily="18" charset="0"/>
                            </a:rPr>
                          </m:ctrlPr>
                        </m:funcPr>
                        <m:fName>
                          <m:r>
                            <m:rPr>
                              <m:sty m:val="p"/>
                            </m:rPr>
                            <a:rPr lang="en-GB" b="0" i="0" smtClean="0">
                              <a:latin typeface="Cambria Math" panose="02040503050406030204" pitchFamily="18" charset="0"/>
                            </a:rPr>
                            <m:t>exp</m:t>
                          </m:r>
                        </m:fName>
                        <m:e>
                          <m:d>
                            <m:dPr>
                              <m:ctrlPr>
                                <a:rPr lang="en-GB" b="0" i="1" smtClean="0">
                                  <a:latin typeface="Cambria Math" panose="02040503050406030204" pitchFamily="18" charset="0"/>
                                </a:rPr>
                              </m:ctrlPr>
                            </m:dPr>
                            <m:e>
                              <m:r>
                                <a:rPr lang="en-GB" b="0" i="1" smtClean="0">
                                  <a:latin typeface="Cambria Math" panose="02040503050406030204" pitchFamily="18" charset="0"/>
                                </a:rPr>
                                <m:t>−</m:t>
                              </m:r>
                              <m:r>
                                <a:rPr lang="en-GB" b="0" i="1" smtClean="0">
                                  <a:latin typeface="Cambria Math" panose="02040503050406030204" pitchFamily="18" charset="0"/>
                                </a:rPr>
                                <m:t>𝑅𝑡</m:t>
                              </m:r>
                            </m:e>
                          </m:d>
                        </m:e>
                      </m:func>
                    </m:oMath>
                  </m:oMathPara>
                </a14:m>
                <a:endParaRPr lang="en-GB" dirty="0"/>
              </a:p>
              <a:p>
                <a:pPr marL="0" indent="0">
                  <a:buNone/>
                </a:pPr>
                <a:endParaRPr lang="en-GB" dirty="0"/>
              </a:p>
            </p:txBody>
          </p:sp>
        </mc:Choice>
        <mc:Fallback xmlns="">
          <p:sp>
            <p:nvSpPr>
              <p:cNvPr id="3" name="Content Placeholder 2">
                <a:extLst>
                  <a:ext uri="{FF2B5EF4-FFF2-40B4-BE49-F238E27FC236}">
                    <a16:creationId xmlns:a16="http://schemas.microsoft.com/office/drawing/2014/main" id="{29E4A597-46A7-123D-30B3-89121E4C17CC}"/>
                  </a:ext>
                </a:extLst>
              </p:cNvPr>
              <p:cNvSpPr>
                <a:spLocks noGrp="1" noRot="1" noChangeAspect="1" noMove="1" noResize="1" noEditPoints="1" noAdjustHandles="1" noChangeArrowheads="1" noChangeShapeType="1" noTextEdit="1"/>
              </p:cNvSpPr>
              <p:nvPr>
                <p:ph sz="half" idx="1"/>
              </p:nvPr>
            </p:nvSpPr>
            <p:spPr>
              <a:xfrm>
                <a:off x="375139" y="1825624"/>
                <a:ext cx="6213230" cy="5032376"/>
              </a:xfrm>
              <a:blipFill>
                <a:blip r:embed="rId2"/>
                <a:stretch>
                  <a:fillRect l="-2061" t="-1937" r="-2453"/>
                </a:stretch>
              </a:blipFill>
            </p:spPr>
            <p:txBody>
              <a:bodyPr/>
              <a:lstStyle/>
              <a:p>
                <a:r>
                  <a:rPr lang="en-GB">
                    <a:noFill/>
                  </a:rPr>
                  <a:t> </a:t>
                </a:r>
              </a:p>
            </p:txBody>
          </p:sp>
        </mc:Fallback>
      </mc:AlternateContent>
      <p:pic>
        <p:nvPicPr>
          <p:cNvPr id="7" name="Picture 6">
            <a:extLst>
              <a:ext uri="{FF2B5EF4-FFF2-40B4-BE49-F238E27FC236}">
                <a16:creationId xmlns:a16="http://schemas.microsoft.com/office/drawing/2014/main" id="{ED9D0C00-D355-872E-5E09-8D9ED4A31756}"/>
              </a:ext>
            </a:extLst>
          </p:cNvPr>
          <p:cNvPicPr>
            <a:picLocks noChangeAspect="1"/>
          </p:cNvPicPr>
          <p:nvPr/>
        </p:nvPicPr>
        <p:blipFill>
          <a:blip r:embed="rId3"/>
          <a:stretch>
            <a:fillRect/>
          </a:stretch>
        </p:blipFill>
        <p:spPr>
          <a:xfrm>
            <a:off x="7280328" y="103103"/>
            <a:ext cx="4817887" cy="1878097"/>
          </a:xfrm>
          <a:prstGeom prst="rect">
            <a:avLst/>
          </a:prstGeom>
        </p:spPr>
      </p:pic>
      <p:pic>
        <p:nvPicPr>
          <p:cNvPr id="6" name="Picture 5">
            <a:extLst>
              <a:ext uri="{FF2B5EF4-FFF2-40B4-BE49-F238E27FC236}">
                <a16:creationId xmlns:a16="http://schemas.microsoft.com/office/drawing/2014/main" id="{70F95966-7400-75CC-4DF5-87DF9BF40CFF}"/>
              </a:ext>
            </a:extLst>
          </p:cNvPr>
          <p:cNvPicPr>
            <a:picLocks noChangeAspect="1"/>
          </p:cNvPicPr>
          <p:nvPr/>
        </p:nvPicPr>
        <p:blipFill>
          <a:blip r:embed="rId4"/>
          <a:stretch>
            <a:fillRect/>
          </a:stretch>
        </p:blipFill>
        <p:spPr>
          <a:xfrm>
            <a:off x="6689312" y="2508738"/>
            <a:ext cx="5408903" cy="4107580"/>
          </a:xfrm>
          <a:prstGeom prst="rect">
            <a:avLst/>
          </a:prstGeom>
        </p:spPr>
      </p:pic>
    </p:spTree>
    <p:extLst>
      <p:ext uri="{BB962C8B-B14F-4D97-AF65-F5344CB8AC3E}">
        <p14:creationId xmlns:p14="http://schemas.microsoft.com/office/powerpoint/2010/main" val="3672689450"/>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26BA9B1-6FCE-353A-FA50-CA16D8CF1EA4}"/>
              </a:ext>
            </a:extLst>
          </p:cNvPr>
          <p:cNvSpPr>
            <a:spLocks noGrp="1"/>
          </p:cNvSpPr>
          <p:nvPr>
            <p:ph type="title"/>
          </p:nvPr>
        </p:nvSpPr>
        <p:spPr/>
        <p:txBody>
          <a:bodyPr/>
          <a:lstStyle/>
          <a:p>
            <a:r>
              <a:rPr lang="en-GB" dirty="0"/>
              <a:t>Defining a class for our PINN</a:t>
            </a:r>
          </a:p>
        </p:txBody>
      </p:sp>
      <p:sp>
        <p:nvSpPr>
          <p:cNvPr id="3" name="Content Placeholder 2">
            <a:extLst>
              <a:ext uri="{FF2B5EF4-FFF2-40B4-BE49-F238E27FC236}">
                <a16:creationId xmlns:a16="http://schemas.microsoft.com/office/drawing/2014/main" id="{8794EE67-0ECB-4248-6CAA-7C09C17CA5B0}"/>
              </a:ext>
            </a:extLst>
          </p:cNvPr>
          <p:cNvSpPr>
            <a:spLocks noGrp="1"/>
          </p:cNvSpPr>
          <p:nvPr>
            <p:ph sz="half" idx="1"/>
          </p:nvPr>
        </p:nvSpPr>
        <p:spPr/>
        <p:txBody>
          <a:bodyPr/>
          <a:lstStyle/>
          <a:p>
            <a:pPr marL="0" indent="0">
              <a:buNone/>
            </a:pPr>
            <a:r>
              <a:rPr lang="en-GB" dirty="0"/>
              <a:t>We will train a PINN to solve our toy example PDE.</a:t>
            </a:r>
          </a:p>
        </p:txBody>
      </p:sp>
      <mc:AlternateContent xmlns:mc="http://schemas.openxmlformats.org/markup-compatibility/2006" xmlns:a14="http://schemas.microsoft.com/office/drawing/2010/main">
        <mc:Choice Requires="a14">
          <p:sp>
            <p:nvSpPr>
              <p:cNvPr id="5" name="Rectangle: Rounded Corners 4">
                <a:extLst>
                  <a:ext uri="{FF2B5EF4-FFF2-40B4-BE49-F238E27FC236}">
                    <a16:creationId xmlns:a16="http://schemas.microsoft.com/office/drawing/2014/main" id="{84B28B22-F72B-E461-A5F0-82A31F0E5461}"/>
                  </a:ext>
                </a:extLst>
              </p:cNvPr>
              <p:cNvSpPr/>
              <p:nvPr/>
            </p:nvSpPr>
            <p:spPr>
              <a:xfrm>
                <a:off x="2998177" y="2881434"/>
                <a:ext cx="4396154" cy="1095131"/>
              </a:xfrm>
              <a:prstGeom prst="roundRect">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GB" dirty="0"/>
                  <a:t>PINN </a:t>
                </a:r>
                <a14:m>
                  <m:oMath xmlns:m="http://schemas.openxmlformats.org/officeDocument/2006/math">
                    <m:r>
                      <a:rPr lang="en-GB" i="1">
                        <a:latin typeface="Cambria Math" panose="02040503050406030204" pitchFamily="18" charset="0"/>
                      </a:rPr>
                      <m:t>𝑓</m:t>
                    </m:r>
                  </m:oMath>
                </a14:m>
                <a:r>
                  <a:rPr lang="en-GB" dirty="0"/>
                  <a:t> trained to approximate the analytical solution </a:t>
                </a:r>
                <a14:m>
                  <m:oMath xmlns:m="http://schemas.openxmlformats.org/officeDocument/2006/math">
                    <m:r>
                      <a:rPr lang="en-GB" i="1" dirty="0">
                        <a:latin typeface="Cambria Math" panose="02040503050406030204" pitchFamily="18" charset="0"/>
                      </a:rPr>
                      <m:t>𝑔</m:t>
                    </m:r>
                  </m:oMath>
                </a14:m>
                <a:r>
                  <a:rPr lang="en-GB" dirty="0"/>
                  <a:t> of toy example PDE.</a:t>
                </a:r>
              </a:p>
            </p:txBody>
          </p:sp>
        </mc:Choice>
        <mc:Fallback xmlns="">
          <p:sp>
            <p:nvSpPr>
              <p:cNvPr id="5" name="Rectangle: Rounded Corners 4">
                <a:extLst>
                  <a:ext uri="{FF2B5EF4-FFF2-40B4-BE49-F238E27FC236}">
                    <a16:creationId xmlns:a16="http://schemas.microsoft.com/office/drawing/2014/main" id="{84B28B22-F72B-E461-A5F0-82A31F0E5461}"/>
                  </a:ext>
                </a:extLst>
              </p:cNvPr>
              <p:cNvSpPr>
                <a:spLocks noRot="1" noChangeAspect="1" noMove="1" noResize="1" noEditPoints="1" noAdjustHandles="1" noChangeArrowheads="1" noChangeShapeType="1" noTextEdit="1"/>
              </p:cNvSpPr>
              <p:nvPr/>
            </p:nvSpPr>
            <p:spPr>
              <a:xfrm>
                <a:off x="2998177" y="2881434"/>
                <a:ext cx="4396154" cy="1095131"/>
              </a:xfrm>
              <a:prstGeom prst="roundRect">
                <a:avLst/>
              </a:prstGeom>
              <a:blipFill>
                <a:blip r:embed="rId2"/>
                <a:stretch>
                  <a:fillRect/>
                </a:stretch>
              </a:blipFill>
            </p:spPr>
            <p:txBody>
              <a:bodyPr/>
              <a:lstStyle/>
              <a:p>
                <a:r>
                  <a:rPr lang="en-GB">
                    <a:noFill/>
                  </a:rPr>
                  <a:t> </a:t>
                </a:r>
              </a:p>
            </p:txBody>
          </p:sp>
        </mc:Fallback>
      </mc:AlternateContent>
      <mc:AlternateContent xmlns:mc="http://schemas.openxmlformats.org/markup-compatibility/2006" xmlns:a14="http://schemas.microsoft.com/office/drawing/2010/main">
        <mc:Choice Requires="a14">
          <p:sp>
            <p:nvSpPr>
              <p:cNvPr id="6" name="TextBox 5">
                <a:extLst>
                  <a:ext uri="{FF2B5EF4-FFF2-40B4-BE49-F238E27FC236}">
                    <a16:creationId xmlns:a16="http://schemas.microsoft.com/office/drawing/2014/main" id="{6AB754CB-3499-F27D-D435-5A873DFC05BD}"/>
                  </a:ext>
                </a:extLst>
              </p:cNvPr>
              <p:cNvSpPr txBox="1"/>
              <p:nvPr/>
            </p:nvSpPr>
            <p:spPr>
              <a:xfrm>
                <a:off x="734158" y="3198167"/>
                <a:ext cx="1072662" cy="461665"/>
              </a:xfrm>
              <a:prstGeom prst="rect">
                <a:avLst/>
              </a:prstGeom>
              <a:noFill/>
            </p:spPr>
            <p:txBody>
              <a:bodyPr wrap="square" rtlCol="0">
                <a:spAutoFit/>
              </a:bodyPr>
              <a:lstStyle/>
              <a:p>
                <a:r>
                  <a:rPr lang="en-GB" sz="2400" dirty="0"/>
                  <a:t>Input </a:t>
                </a:r>
                <a14:m>
                  <m:oMath xmlns:m="http://schemas.openxmlformats.org/officeDocument/2006/math">
                    <m:r>
                      <a:rPr lang="en-GB" sz="2400" i="1" dirty="0" smtClean="0">
                        <a:latin typeface="Cambria Math" panose="02040503050406030204" pitchFamily="18" charset="0"/>
                      </a:rPr>
                      <m:t>𝑡</m:t>
                    </m:r>
                  </m:oMath>
                </a14:m>
                <a:endParaRPr lang="en-GB" dirty="0"/>
              </a:p>
            </p:txBody>
          </p:sp>
        </mc:Choice>
        <mc:Fallback xmlns="">
          <p:sp>
            <p:nvSpPr>
              <p:cNvPr id="6" name="TextBox 5">
                <a:extLst>
                  <a:ext uri="{FF2B5EF4-FFF2-40B4-BE49-F238E27FC236}">
                    <a16:creationId xmlns:a16="http://schemas.microsoft.com/office/drawing/2014/main" id="{6AB754CB-3499-F27D-D435-5A873DFC05BD}"/>
                  </a:ext>
                </a:extLst>
              </p:cNvPr>
              <p:cNvSpPr txBox="1">
                <a:spLocks noRot="1" noChangeAspect="1" noMove="1" noResize="1" noEditPoints="1" noAdjustHandles="1" noChangeArrowheads="1" noChangeShapeType="1" noTextEdit="1"/>
              </p:cNvSpPr>
              <p:nvPr/>
            </p:nvSpPr>
            <p:spPr>
              <a:xfrm>
                <a:off x="734158" y="3198167"/>
                <a:ext cx="1072662" cy="461665"/>
              </a:xfrm>
              <a:prstGeom prst="rect">
                <a:avLst/>
              </a:prstGeom>
              <a:blipFill>
                <a:blip r:embed="rId3"/>
                <a:stretch>
                  <a:fillRect l="-8523" t="-10667" b="-30667"/>
                </a:stretch>
              </a:blipFill>
            </p:spPr>
            <p:txBody>
              <a:bodyPr/>
              <a:lstStyle/>
              <a:p>
                <a:r>
                  <a:rPr lang="en-GB">
                    <a:noFill/>
                  </a:rPr>
                  <a:t> </a:t>
                </a:r>
              </a:p>
            </p:txBody>
          </p:sp>
        </mc:Fallback>
      </mc:AlternateContent>
      <mc:AlternateContent xmlns:mc="http://schemas.openxmlformats.org/markup-compatibility/2006" xmlns:a14="http://schemas.microsoft.com/office/drawing/2010/main">
        <mc:Choice Requires="a14">
          <p:sp>
            <p:nvSpPr>
              <p:cNvPr id="7" name="TextBox 6">
                <a:extLst>
                  <a:ext uri="{FF2B5EF4-FFF2-40B4-BE49-F238E27FC236}">
                    <a16:creationId xmlns:a16="http://schemas.microsoft.com/office/drawing/2014/main" id="{F1A72A80-E34D-FE9E-2CCB-4AFB1D57CE07}"/>
                  </a:ext>
                </a:extLst>
              </p:cNvPr>
              <p:cNvSpPr txBox="1"/>
              <p:nvPr/>
            </p:nvSpPr>
            <p:spPr>
              <a:xfrm>
                <a:off x="8481646" y="3013498"/>
                <a:ext cx="3604846" cy="1200329"/>
              </a:xfrm>
              <a:prstGeom prst="rect">
                <a:avLst/>
              </a:prstGeom>
              <a:noFill/>
            </p:spPr>
            <p:txBody>
              <a:bodyPr wrap="square" rtlCol="0">
                <a:spAutoFit/>
              </a:bodyPr>
              <a:lstStyle/>
              <a:p>
                <a:r>
                  <a:rPr lang="en-GB" sz="2400" dirty="0"/>
                  <a:t>Output of NN </a:t>
                </a:r>
                <a14:m>
                  <m:oMath xmlns:m="http://schemas.openxmlformats.org/officeDocument/2006/math">
                    <m:r>
                      <a:rPr lang="en-GB" sz="2400" i="1" dirty="0">
                        <a:latin typeface="Cambria Math" panose="02040503050406030204" pitchFamily="18" charset="0"/>
                      </a:rPr>
                      <m:t>𝑓</m:t>
                    </m:r>
                    <m:d>
                      <m:dPr>
                        <m:ctrlPr>
                          <a:rPr lang="en-GB" sz="2400" i="1" dirty="0">
                            <a:latin typeface="Cambria Math" panose="02040503050406030204" pitchFamily="18" charset="0"/>
                          </a:rPr>
                        </m:ctrlPr>
                      </m:dPr>
                      <m:e>
                        <m:r>
                          <a:rPr lang="en-GB" sz="2400" i="1" dirty="0">
                            <a:latin typeface="Cambria Math" panose="02040503050406030204" pitchFamily="18" charset="0"/>
                          </a:rPr>
                          <m:t>𝑡</m:t>
                        </m:r>
                      </m:e>
                    </m:d>
                  </m:oMath>
                </a14:m>
                <a:r>
                  <a:rPr lang="en-GB" sz="2400" dirty="0"/>
                  <a:t> approximates the</a:t>
                </a:r>
                <a:br>
                  <a:rPr lang="en-GB" sz="2400" dirty="0"/>
                </a:br>
                <a:r>
                  <a:rPr lang="en-GB" sz="2400" dirty="0"/>
                  <a:t>analytical solution </a:t>
                </a:r>
                <a14:m>
                  <m:oMath xmlns:m="http://schemas.openxmlformats.org/officeDocument/2006/math">
                    <m:r>
                      <a:rPr lang="en-GB" sz="2400" i="1" dirty="0">
                        <a:latin typeface="Cambria Math" panose="02040503050406030204" pitchFamily="18" charset="0"/>
                      </a:rPr>
                      <m:t>𝑔</m:t>
                    </m:r>
                    <m:r>
                      <a:rPr lang="en-GB" sz="2400" i="1" dirty="0">
                        <a:latin typeface="Cambria Math" panose="02040503050406030204" pitchFamily="18" charset="0"/>
                      </a:rPr>
                      <m:t>(</m:t>
                    </m:r>
                    <m:r>
                      <a:rPr lang="en-GB" sz="2400" i="1" dirty="0">
                        <a:latin typeface="Cambria Math" panose="02040503050406030204" pitchFamily="18" charset="0"/>
                      </a:rPr>
                      <m:t>𝑡</m:t>
                    </m:r>
                    <m:r>
                      <a:rPr lang="en-GB" sz="2400" i="1" dirty="0">
                        <a:latin typeface="Cambria Math" panose="02040503050406030204" pitchFamily="18" charset="0"/>
                      </a:rPr>
                      <m:t>)</m:t>
                    </m:r>
                  </m:oMath>
                </a14:m>
                <a:endParaRPr lang="en-GB" sz="2400" dirty="0"/>
              </a:p>
            </p:txBody>
          </p:sp>
        </mc:Choice>
        <mc:Fallback xmlns="">
          <p:sp>
            <p:nvSpPr>
              <p:cNvPr id="7" name="TextBox 6">
                <a:extLst>
                  <a:ext uri="{FF2B5EF4-FFF2-40B4-BE49-F238E27FC236}">
                    <a16:creationId xmlns:a16="http://schemas.microsoft.com/office/drawing/2014/main" id="{F1A72A80-E34D-FE9E-2CCB-4AFB1D57CE07}"/>
                  </a:ext>
                </a:extLst>
              </p:cNvPr>
              <p:cNvSpPr txBox="1">
                <a:spLocks noRot="1" noChangeAspect="1" noMove="1" noResize="1" noEditPoints="1" noAdjustHandles="1" noChangeArrowheads="1" noChangeShapeType="1" noTextEdit="1"/>
              </p:cNvSpPr>
              <p:nvPr/>
            </p:nvSpPr>
            <p:spPr>
              <a:xfrm>
                <a:off x="8481646" y="3013498"/>
                <a:ext cx="3604846" cy="1200329"/>
              </a:xfrm>
              <a:prstGeom prst="rect">
                <a:avLst/>
              </a:prstGeom>
              <a:blipFill>
                <a:blip r:embed="rId4"/>
                <a:stretch>
                  <a:fillRect l="-2534" t="-4061" b="-10660"/>
                </a:stretch>
              </a:blipFill>
            </p:spPr>
            <p:txBody>
              <a:bodyPr/>
              <a:lstStyle/>
              <a:p>
                <a:r>
                  <a:rPr lang="en-GB">
                    <a:noFill/>
                  </a:rPr>
                  <a:t> </a:t>
                </a:r>
              </a:p>
            </p:txBody>
          </p:sp>
        </mc:Fallback>
      </mc:AlternateContent>
      <p:sp>
        <p:nvSpPr>
          <p:cNvPr id="8" name="Arrow: Right 7">
            <a:extLst>
              <a:ext uri="{FF2B5EF4-FFF2-40B4-BE49-F238E27FC236}">
                <a16:creationId xmlns:a16="http://schemas.microsoft.com/office/drawing/2014/main" id="{0000A86D-2E5A-EAC6-5B2F-2910D5275D98}"/>
              </a:ext>
            </a:extLst>
          </p:cNvPr>
          <p:cNvSpPr/>
          <p:nvPr/>
        </p:nvSpPr>
        <p:spPr>
          <a:xfrm>
            <a:off x="2001716" y="3313167"/>
            <a:ext cx="961292" cy="231657"/>
          </a:xfrm>
          <a:prstGeom prst="rightArrow">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9" name="Arrow: Right 8">
            <a:extLst>
              <a:ext uri="{FF2B5EF4-FFF2-40B4-BE49-F238E27FC236}">
                <a16:creationId xmlns:a16="http://schemas.microsoft.com/office/drawing/2014/main" id="{3A055949-3979-9BA3-7F21-A63F74676C45}"/>
              </a:ext>
            </a:extLst>
          </p:cNvPr>
          <p:cNvSpPr/>
          <p:nvPr/>
        </p:nvSpPr>
        <p:spPr>
          <a:xfrm>
            <a:off x="7416312" y="3313167"/>
            <a:ext cx="961292" cy="231657"/>
          </a:xfrm>
          <a:prstGeom prst="rightArrow">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p>
        </p:txBody>
      </p:sp>
    </p:spTree>
    <p:extLst>
      <p:ext uri="{BB962C8B-B14F-4D97-AF65-F5344CB8AC3E}">
        <p14:creationId xmlns:p14="http://schemas.microsoft.com/office/powerpoint/2010/main" val="4105919086"/>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26BA9B1-6FCE-353A-FA50-CA16D8CF1EA4}"/>
              </a:ext>
            </a:extLst>
          </p:cNvPr>
          <p:cNvSpPr>
            <a:spLocks noGrp="1"/>
          </p:cNvSpPr>
          <p:nvPr>
            <p:ph type="title"/>
          </p:nvPr>
        </p:nvSpPr>
        <p:spPr/>
        <p:txBody>
          <a:bodyPr/>
          <a:lstStyle/>
          <a:p>
            <a:r>
              <a:rPr lang="en-GB" dirty="0"/>
              <a:t>Defining a class for our PINN</a:t>
            </a:r>
          </a:p>
        </p:txBody>
      </p:sp>
      <p:sp>
        <p:nvSpPr>
          <p:cNvPr id="3" name="Content Placeholder 2">
            <a:extLst>
              <a:ext uri="{FF2B5EF4-FFF2-40B4-BE49-F238E27FC236}">
                <a16:creationId xmlns:a16="http://schemas.microsoft.com/office/drawing/2014/main" id="{8794EE67-0ECB-4248-6CAA-7C09C17CA5B0}"/>
              </a:ext>
            </a:extLst>
          </p:cNvPr>
          <p:cNvSpPr>
            <a:spLocks noGrp="1"/>
          </p:cNvSpPr>
          <p:nvPr>
            <p:ph sz="half" idx="1"/>
          </p:nvPr>
        </p:nvSpPr>
        <p:spPr>
          <a:xfrm>
            <a:off x="838200" y="1825625"/>
            <a:ext cx="5181600" cy="4901746"/>
          </a:xfrm>
        </p:spPr>
        <p:txBody>
          <a:bodyPr>
            <a:normAutofit/>
          </a:bodyPr>
          <a:lstStyle/>
          <a:p>
            <a:pPr marL="0" indent="0">
              <a:buNone/>
            </a:pPr>
            <a:r>
              <a:rPr lang="en-GB" dirty="0"/>
              <a:t>We will train a PINN to solve our toy example PDE.</a:t>
            </a:r>
          </a:p>
          <a:p>
            <a:r>
              <a:rPr lang="en-GB" dirty="0"/>
              <a:t>Define a </a:t>
            </a:r>
            <a:r>
              <a:rPr lang="en-GB" dirty="0" err="1"/>
              <a:t>nn.module</a:t>
            </a:r>
            <a:r>
              <a:rPr lang="en-GB" dirty="0"/>
              <a:t> class,</a:t>
            </a:r>
          </a:p>
          <a:p>
            <a:r>
              <a:rPr lang="en-GB" dirty="0"/>
              <a:t>Consists of a few linear layers, with </a:t>
            </a:r>
            <a:r>
              <a:rPr lang="en-GB" dirty="0" err="1"/>
              <a:t>ReLU</a:t>
            </a:r>
            <a:r>
              <a:rPr lang="en-GB" dirty="0"/>
              <a:t> activation functions,</a:t>
            </a:r>
          </a:p>
          <a:p>
            <a:r>
              <a:rPr lang="en-GB" dirty="0"/>
              <a:t>And a forward method for inference.</a:t>
            </a:r>
          </a:p>
          <a:p>
            <a:pPr marL="0" indent="0">
              <a:buNone/>
            </a:pPr>
            <a:r>
              <a:rPr lang="en-GB" dirty="0"/>
              <a:t>A rather simple model compared to what we have done in the previous lectures.</a:t>
            </a:r>
          </a:p>
        </p:txBody>
      </p:sp>
      <p:pic>
        <p:nvPicPr>
          <p:cNvPr id="10" name="Picture 9">
            <a:extLst>
              <a:ext uri="{FF2B5EF4-FFF2-40B4-BE49-F238E27FC236}">
                <a16:creationId xmlns:a16="http://schemas.microsoft.com/office/drawing/2014/main" id="{F8CF91A4-983D-B889-C45A-996356E7EA8E}"/>
              </a:ext>
            </a:extLst>
          </p:cNvPr>
          <p:cNvPicPr>
            <a:picLocks noChangeAspect="1"/>
          </p:cNvPicPr>
          <p:nvPr/>
        </p:nvPicPr>
        <p:blipFill>
          <a:blip r:embed="rId2"/>
          <a:stretch>
            <a:fillRect/>
          </a:stretch>
        </p:blipFill>
        <p:spPr>
          <a:xfrm>
            <a:off x="6172202" y="1690688"/>
            <a:ext cx="5909564" cy="4486275"/>
          </a:xfrm>
          <a:prstGeom prst="rect">
            <a:avLst/>
          </a:prstGeom>
        </p:spPr>
      </p:pic>
    </p:spTree>
    <p:extLst>
      <p:ext uri="{BB962C8B-B14F-4D97-AF65-F5344CB8AC3E}">
        <p14:creationId xmlns:p14="http://schemas.microsoft.com/office/powerpoint/2010/main" val="1779335773"/>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D0C3DA5-7AA3-A58D-2BEA-B763CF6DDF2F}"/>
              </a:ext>
            </a:extLst>
          </p:cNvPr>
          <p:cNvSpPr>
            <a:spLocks noGrp="1"/>
          </p:cNvSpPr>
          <p:nvPr>
            <p:ph type="title"/>
          </p:nvPr>
        </p:nvSpPr>
        <p:spPr/>
        <p:txBody>
          <a:bodyPr/>
          <a:lstStyle/>
          <a:p>
            <a:r>
              <a:rPr lang="en-GB" dirty="0"/>
              <a:t>How to train the PINN?</a:t>
            </a:r>
          </a:p>
        </p:txBody>
      </p:sp>
      <mc:AlternateContent xmlns:mc="http://schemas.openxmlformats.org/markup-compatibility/2006" xmlns:a14="http://schemas.microsoft.com/office/drawing/2010/main">
        <mc:Choice Requires="a14">
          <p:sp>
            <p:nvSpPr>
              <p:cNvPr id="3" name="Content Placeholder 2">
                <a:extLst>
                  <a:ext uri="{FF2B5EF4-FFF2-40B4-BE49-F238E27FC236}">
                    <a16:creationId xmlns:a16="http://schemas.microsoft.com/office/drawing/2014/main" id="{15BA81A3-C180-A40C-87AA-C44B1CF0F7B7}"/>
                  </a:ext>
                </a:extLst>
              </p:cNvPr>
              <p:cNvSpPr>
                <a:spLocks noGrp="1"/>
              </p:cNvSpPr>
              <p:nvPr>
                <p:ph idx="1"/>
              </p:nvPr>
            </p:nvSpPr>
            <p:spPr>
              <a:xfrm>
                <a:off x="838200" y="1825624"/>
                <a:ext cx="10515600" cy="5032375"/>
              </a:xfrm>
            </p:spPr>
            <p:txBody>
              <a:bodyPr/>
              <a:lstStyle/>
              <a:p>
                <a:pPr marL="0" indent="0">
                  <a:buNone/>
                </a:pPr>
                <a:r>
                  <a:rPr lang="en-GB" dirty="0"/>
                  <a:t>How to train the PINN to approximate the solution of the given PDE?</a:t>
                </a:r>
              </a:p>
              <a:p>
                <a:r>
                  <a:rPr lang="en-GB" dirty="0"/>
                  <a:t>No dataset available.</a:t>
                </a:r>
              </a:p>
              <a:p>
                <a:r>
                  <a:rPr lang="en-GB" dirty="0"/>
                  <a:t>This PDE admits an analytical solution, but if we play fair, we should assume we do not know about this solution.</a:t>
                </a:r>
              </a:p>
              <a:p>
                <a:r>
                  <a:rPr lang="en-GB" dirty="0"/>
                  <a:t>The only information we have is the PDE itself.</a:t>
                </a:r>
              </a:p>
              <a:p>
                <a:pPr marL="0" indent="0">
                  <a:buNone/>
                </a:pPr>
                <a14:m>
                  <m:oMathPara xmlns:m="http://schemas.openxmlformats.org/officeDocument/2006/math">
                    <m:oMathParaPr>
                      <m:jc m:val="centerGroup"/>
                    </m:oMathParaPr>
                    <m:oMath xmlns:m="http://schemas.openxmlformats.org/officeDocument/2006/math">
                      <m:f>
                        <m:fPr>
                          <m:ctrlPr>
                            <a:rPr lang="en-GB" b="0" i="1" smtClean="0">
                              <a:latin typeface="Cambria Math" panose="02040503050406030204" pitchFamily="18" charset="0"/>
                            </a:rPr>
                          </m:ctrlPr>
                        </m:fPr>
                        <m:num>
                          <m:r>
                            <a:rPr lang="en-GB" b="0" i="1" smtClean="0">
                              <a:latin typeface="Cambria Math" panose="02040503050406030204" pitchFamily="18" charset="0"/>
                            </a:rPr>
                            <m:t>𝜕</m:t>
                          </m:r>
                          <m:r>
                            <a:rPr lang="en-GB" b="0" i="1" smtClean="0">
                              <a:latin typeface="Cambria Math" panose="02040503050406030204" pitchFamily="18" charset="0"/>
                            </a:rPr>
                            <m:t>𝑇</m:t>
                          </m:r>
                          <m:d>
                            <m:dPr>
                              <m:ctrlPr>
                                <a:rPr lang="en-GB" b="0" i="1" smtClean="0">
                                  <a:latin typeface="Cambria Math" panose="02040503050406030204" pitchFamily="18" charset="0"/>
                                </a:rPr>
                              </m:ctrlPr>
                            </m:dPr>
                            <m:e>
                              <m:r>
                                <a:rPr lang="en-GB" b="0" i="1" smtClean="0">
                                  <a:latin typeface="Cambria Math" panose="02040503050406030204" pitchFamily="18" charset="0"/>
                                </a:rPr>
                                <m:t>𝑡</m:t>
                              </m:r>
                            </m:e>
                          </m:d>
                        </m:num>
                        <m:den>
                          <m:r>
                            <a:rPr lang="en-GB" b="0" i="1" smtClean="0">
                              <a:latin typeface="Cambria Math" panose="02040503050406030204" pitchFamily="18" charset="0"/>
                            </a:rPr>
                            <m:t>𝜕</m:t>
                          </m:r>
                          <m:r>
                            <a:rPr lang="en-GB" b="0" i="1" smtClean="0">
                              <a:latin typeface="Cambria Math" panose="02040503050406030204" pitchFamily="18" charset="0"/>
                            </a:rPr>
                            <m:t>𝑡</m:t>
                          </m:r>
                        </m:den>
                      </m:f>
                      <m:r>
                        <a:rPr lang="en-GB" b="0" i="1" smtClean="0">
                          <a:latin typeface="Cambria Math" panose="02040503050406030204" pitchFamily="18" charset="0"/>
                        </a:rPr>
                        <m:t>=</m:t>
                      </m:r>
                      <m:r>
                        <a:rPr lang="en-GB" b="0" i="1" smtClean="0">
                          <a:latin typeface="Cambria Math" panose="02040503050406030204" pitchFamily="18" charset="0"/>
                        </a:rPr>
                        <m:t>𝑅</m:t>
                      </m:r>
                      <m:d>
                        <m:dPr>
                          <m:ctrlPr>
                            <a:rPr lang="en-GB" b="0" i="1" smtClean="0">
                              <a:latin typeface="Cambria Math" panose="02040503050406030204" pitchFamily="18" charset="0"/>
                            </a:rPr>
                          </m:ctrlPr>
                        </m:dPr>
                        <m:e>
                          <m:sSub>
                            <m:sSubPr>
                              <m:ctrlPr>
                                <a:rPr lang="en-GB" b="0" i="1" smtClean="0">
                                  <a:latin typeface="Cambria Math" panose="02040503050406030204" pitchFamily="18" charset="0"/>
                                </a:rPr>
                              </m:ctrlPr>
                            </m:sSubPr>
                            <m:e>
                              <m:r>
                                <a:rPr lang="en-GB" b="0" i="1" smtClean="0">
                                  <a:latin typeface="Cambria Math" panose="02040503050406030204" pitchFamily="18" charset="0"/>
                                </a:rPr>
                                <m:t>𝑇</m:t>
                              </m:r>
                            </m:e>
                            <m:sub>
                              <m:r>
                                <a:rPr lang="en-GB" b="0" i="1" smtClean="0">
                                  <a:latin typeface="Cambria Math" panose="02040503050406030204" pitchFamily="18" charset="0"/>
                                </a:rPr>
                                <m:t>𝑒𝑛𝑣</m:t>
                              </m:r>
                            </m:sub>
                          </m:sSub>
                          <m:r>
                            <a:rPr lang="en-GB" b="0" i="1" smtClean="0">
                              <a:latin typeface="Cambria Math" panose="02040503050406030204" pitchFamily="18" charset="0"/>
                            </a:rPr>
                            <m:t>−</m:t>
                          </m:r>
                          <m:r>
                            <a:rPr lang="en-GB" b="0" i="1" smtClean="0">
                              <a:latin typeface="Cambria Math" panose="02040503050406030204" pitchFamily="18" charset="0"/>
                            </a:rPr>
                            <m:t>𝑇</m:t>
                          </m:r>
                          <m:d>
                            <m:dPr>
                              <m:ctrlPr>
                                <a:rPr lang="en-GB" b="0" i="1" smtClean="0">
                                  <a:latin typeface="Cambria Math" panose="02040503050406030204" pitchFamily="18" charset="0"/>
                                </a:rPr>
                              </m:ctrlPr>
                            </m:dPr>
                            <m:e>
                              <m:r>
                                <a:rPr lang="en-GB" b="0" i="1" smtClean="0">
                                  <a:latin typeface="Cambria Math" panose="02040503050406030204" pitchFamily="18" charset="0"/>
                                </a:rPr>
                                <m:t>𝑡</m:t>
                              </m:r>
                            </m:e>
                          </m:d>
                        </m:e>
                      </m:d>
                    </m:oMath>
                  </m:oMathPara>
                </a14:m>
                <a:endParaRPr lang="en-GB" dirty="0"/>
              </a:p>
              <a:p>
                <a:pPr marL="0" indent="0">
                  <a:buNone/>
                </a:pPr>
                <a14:m>
                  <m:oMathPara xmlns:m="http://schemas.openxmlformats.org/officeDocument/2006/math">
                    <m:oMathParaPr>
                      <m:jc m:val="centerGroup"/>
                    </m:oMathParaPr>
                    <m:oMath xmlns:m="http://schemas.openxmlformats.org/officeDocument/2006/math">
                      <m:r>
                        <a:rPr lang="en-GB" b="0" i="1" smtClean="0">
                          <a:latin typeface="Cambria Math" panose="02040503050406030204" pitchFamily="18" charset="0"/>
                        </a:rPr>
                        <m:t>𝑇</m:t>
                      </m:r>
                      <m:d>
                        <m:dPr>
                          <m:ctrlPr>
                            <a:rPr lang="en-GB" b="0" i="1" smtClean="0">
                              <a:latin typeface="Cambria Math" panose="02040503050406030204" pitchFamily="18" charset="0"/>
                            </a:rPr>
                          </m:ctrlPr>
                        </m:dPr>
                        <m:e>
                          <m:r>
                            <a:rPr lang="en-GB" b="0" i="1" smtClean="0">
                              <a:latin typeface="Cambria Math" panose="02040503050406030204" pitchFamily="18" charset="0"/>
                            </a:rPr>
                            <m:t>0</m:t>
                          </m:r>
                        </m:e>
                      </m:d>
                      <m:r>
                        <a:rPr lang="en-GB" b="0" i="1" smtClean="0">
                          <a:latin typeface="Cambria Math" panose="02040503050406030204" pitchFamily="18" charset="0"/>
                        </a:rPr>
                        <m:t>=</m:t>
                      </m:r>
                      <m:sSub>
                        <m:sSubPr>
                          <m:ctrlPr>
                            <a:rPr lang="en-GB" b="0" i="1" smtClean="0">
                              <a:latin typeface="Cambria Math" panose="02040503050406030204" pitchFamily="18" charset="0"/>
                            </a:rPr>
                          </m:ctrlPr>
                        </m:sSubPr>
                        <m:e>
                          <m:r>
                            <a:rPr lang="en-GB" b="0" i="1" smtClean="0">
                              <a:latin typeface="Cambria Math" panose="02040503050406030204" pitchFamily="18" charset="0"/>
                            </a:rPr>
                            <m:t>𝑇</m:t>
                          </m:r>
                        </m:e>
                        <m:sub>
                          <m:r>
                            <a:rPr lang="en-GB" b="0" i="1" smtClean="0">
                              <a:latin typeface="Cambria Math" panose="02040503050406030204" pitchFamily="18" charset="0"/>
                            </a:rPr>
                            <m:t>0</m:t>
                          </m:r>
                        </m:sub>
                      </m:sSub>
                    </m:oMath>
                  </m:oMathPara>
                </a14:m>
                <a:endParaRPr lang="en-GB" dirty="0"/>
              </a:p>
              <a:p>
                <a:pPr marL="0" indent="0">
                  <a:buNone/>
                </a:pPr>
                <a:endParaRPr lang="en-GB" dirty="0">
                  <a:sym typeface="Wingdings" panose="05000000000000000000" pitchFamily="2" charset="2"/>
                </a:endParaRPr>
              </a:p>
              <a:p>
                <a:pPr marL="0" indent="0">
                  <a:buNone/>
                </a:pPr>
                <a:r>
                  <a:rPr lang="en-GB" b="1" dirty="0">
                    <a:sym typeface="Wingdings" panose="05000000000000000000" pitchFamily="2" charset="2"/>
                  </a:rPr>
                  <a:t> Need to come up with a custom loss function, called a </a:t>
                </a:r>
                <a:r>
                  <a:rPr lang="en-GB" b="1" dirty="0">
                    <a:solidFill>
                      <a:srgbClr val="00B050"/>
                    </a:solidFill>
                    <a:sym typeface="Wingdings" panose="05000000000000000000" pitchFamily="2" charset="2"/>
                  </a:rPr>
                  <a:t>physics loss </a:t>
                </a:r>
                <a:r>
                  <a:rPr lang="en-GB" b="1" dirty="0">
                    <a:sym typeface="Wingdings" panose="05000000000000000000" pitchFamily="2" charset="2"/>
                  </a:rPr>
                  <a:t>function, to quantify how good the model is at solving the PDE above!</a:t>
                </a:r>
                <a:endParaRPr lang="en-GB" b="1" dirty="0"/>
              </a:p>
            </p:txBody>
          </p:sp>
        </mc:Choice>
        <mc:Fallback xmlns="">
          <p:sp>
            <p:nvSpPr>
              <p:cNvPr id="3" name="Content Placeholder 2">
                <a:extLst>
                  <a:ext uri="{FF2B5EF4-FFF2-40B4-BE49-F238E27FC236}">
                    <a16:creationId xmlns:a16="http://schemas.microsoft.com/office/drawing/2014/main" id="{15BA81A3-C180-A40C-87AA-C44B1CF0F7B7}"/>
                  </a:ext>
                </a:extLst>
              </p:cNvPr>
              <p:cNvSpPr>
                <a:spLocks noGrp="1" noRot="1" noChangeAspect="1" noMove="1" noResize="1" noEditPoints="1" noAdjustHandles="1" noChangeArrowheads="1" noChangeShapeType="1" noTextEdit="1"/>
              </p:cNvSpPr>
              <p:nvPr>
                <p:ph idx="1"/>
              </p:nvPr>
            </p:nvSpPr>
            <p:spPr>
              <a:xfrm>
                <a:off x="838200" y="1825624"/>
                <a:ext cx="10515600" cy="5032375"/>
              </a:xfrm>
              <a:blipFill>
                <a:blip r:embed="rId2"/>
                <a:stretch>
                  <a:fillRect l="-1217" t="-1937" r="-870" b="-1332"/>
                </a:stretch>
              </a:blipFill>
            </p:spPr>
            <p:txBody>
              <a:bodyPr/>
              <a:lstStyle/>
              <a:p>
                <a:r>
                  <a:rPr lang="en-GB">
                    <a:noFill/>
                  </a:rPr>
                  <a:t> </a:t>
                </a:r>
              </a:p>
            </p:txBody>
          </p:sp>
        </mc:Fallback>
      </mc:AlternateContent>
    </p:spTree>
    <p:extLst>
      <p:ext uri="{BB962C8B-B14F-4D97-AF65-F5344CB8AC3E}">
        <p14:creationId xmlns:p14="http://schemas.microsoft.com/office/powerpoint/2010/main" val="615188384"/>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4A7C9B7-C8DD-B062-9AA6-87E547704173}"/>
              </a:ext>
            </a:extLst>
          </p:cNvPr>
          <p:cNvSpPr>
            <a:spLocks noGrp="1"/>
          </p:cNvSpPr>
          <p:nvPr>
            <p:ph type="title"/>
          </p:nvPr>
        </p:nvSpPr>
        <p:spPr/>
        <p:txBody>
          <a:bodyPr/>
          <a:lstStyle/>
          <a:p>
            <a:r>
              <a:rPr lang="en-GB" dirty="0"/>
              <a:t>Physics loss function</a:t>
            </a:r>
          </a:p>
        </p:txBody>
      </p:sp>
      <mc:AlternateContent xmlns:mc="http://schemas.openxmlformats.org/markup-compatibility/2006" xmlns:a14="http://schemas.microsoft.com/office/drawing/2010/main">
        <mc:Choice Requires="a14">
          <p:sp>
            <p:nvSpPr>
              <p:cNvPr id="3" name="Content Placeholder 2">
                <a:extLst>
                  <a:ext uri="{FF2B5EF4-FFF2-40B4-BE49-F238E27FC236}">
                    <a16:creationId xmlns:a16="http://schemas.microsoft.com/office/drawing/2014/main" id="{3F2DB5E0-C728-9019-6656-287AB588F704}"/>
                  </a:ext>
                </a:extLst>
              </p:cNvPr>
              <p:cNvSpPr>
                <a:spLocks noGrp="1"/>
              </p:cNvSpPr>
              <p:nvPr>
                <p:ph idx="1"/>
              </p:nvPr>
            </p:nvSpPr>
            <p:spPr>
              <a:xfrm>
                <a:off x="838200" y="1825624"/>
                <a:ext cx="10515600" cy="5032375"/>
              </a:xfrm>
            </p:spPr>
            <p:txBody>
              <a:bodyPr>
                <a:normAutofit lnSpcReduction="10000"/>
              </a:bodyPr>
              <a:lstStyle/>
              <a:p>
                <a:pPr marL="0" indent="0">
                  <a:buNone/>
                </a:pPr>
                <a:r>
                  <a:rPr lang="en-GB" b="1" dirty="0"/>
                  <a:t>Definition (</a:t>
                </a:r>
                <a:r>
                  <a:rPr lang="en-GB" b="1" dirty="0">
                    <a:solidFill>
                      <a:srgbClr val="00B050"/>
                    </a:solidFill>
                  </a:rPr>
                  <a:t>The physics loss function</a:t>
                </a:r>
                <a:r>
                  <a:rPr lang="en-GB" b="1" dirty="0"/>
                  <a:t>):</a:t>
                </a:r>
              </a:p>
              <a:p>
                <a:pPr marL="0" indent="0">
                  <a:buNone/>
                </a:pPr>
                <a:r>
                  <a:rPr lang="en-GB" dirty="0"/>
                  <a:t>The </a:t>
                </a:r>
                <a:r>
                  <a:rPr lang="en-GB" b="1" dirty="0">
                    <a:solidFill>
                      <a:srgbClr val="00B050"/>
                    </a:solidFill>
                  </a:rPr>
                  <a:t>physics loss function</a:t>
                </a:r>
                <a:r>
                  <a:rPr lang="en-GB" dirty="0"/>
                  <a:t> is a custom loss function, which can be used to quantify how good a given PINN model is at solving a given PDE. It requires no dataset, only information about the given PDE.</a:t>
                </a:r>
              </a:p>
              <a:p>
                <a:pPr marL="0" indent="0">
                  <a:buNone/>
                </a:pPr>
                <a:r>
                  <a:rPr lang="en-GB" dirty="0"/>
                  <a:t>It typically consists of two parts:</a:t>
                </a:r>
              </a:p>
              <a:p>
                <a:r>
                  <a:rPr lang="en-GB" b="1" dirty="0"/>
                  <a:t>A PDE loss function: </a:t>
                </a:r>
                <a:r>
                  <a:rPr lang="en-GB" dirty="0"/>
                  <a:t>quantifies how good the model is at solving the given PDE, with partial derivatives, i.e. </a:t>
                </a:r>
                <a14:m>
                  <m:oMath xmlns:m="http://schemas.openxmlformats.org/officeDocument/2006/math">
                    <m:f>
                      <m:fPr>
                        <m:ctrlPr>
                          <a:rPr lang="en-GB" b="0" i="1" smtClean="0">
                            <a:latin typeface="Cambria Math" panose="02040503050406030204" pitchFamily="18" charset="0"/>
                          </a:rPr>
                        </m:ctrlPr>
                      </m:fPr>
                      <m:num>
                        <m:r>
                          <a:rPr lang="en-GB" b="0" i="1" smtClean="0">
                            <a:latin typeface="Cambria Math" panose="02040503050406030204" pitchFamily="18" charset="0"/>
                          </a:rPr>
                          <m:t>𝜕</m:t>
                        </m:r>
                        <m:r>
                          <a:rPr lang="en-GB" b="0" i="1" smtClean="0">
                            <a:latin typeface="Cambria Math" panose="02040503050406030204" pitchFamily="18" charset="0"/>
                          </a:rPr>
                          <m:t>𝑇</m:t>
                        </m:r>
                        <m:d>
                          <m:dPr>
                            <m:ctrlPr>
                              <a:rPr lang="en-GB" b="0" i="1" smtClean="0">
                                <a:latin typeface="Cambria Math" panose="02040503050406030204" pitchFamily="18" charset="0"/>
                              </a:rPr>
                            </m:ctrlPr>
                          </m:dPr>
                          <m:e>
                            <m:r>
                              <a:rPr lang="en-GB" b="0" i="1" smtClean="0">
                                <a:latin typeface="Cambria Math" panose="02040503050406030204" pitchFamily="18" charset="0"/>
                              </a:rPr>
                              <m:t>𝑡</m:t>
                            </m:r>
                          </m:e>
                        </m:d>
                      </m:num>
                      <m:den>
                        <m:r>
                          <a:rPr lang="en-GB" b="0" i="1" smtClean="0">
                            <a:latin typeface="Cambria Math" panose="02040503050406030204" pitchFamily="18" charset="0"/>
                          </a:rPr>
                          <m:t>𝜕</m:t>
                        </m:r>
                        <m:r>
                          <a:rPr lang="en-GB" b="0" i="1" smtClean="0">
                            <a:latin typeface="Cambria Math" panose="02040503050406030204" pitchFamily="18" charset="0"/>
                          </a:rPr>
                          <m:t>𝑡</m:t>
                        </m:r>
                      </m:den>
                    </m:f>
                    <m:r>
                      <a:rPr lang="en-GB" b="0" i="1" smtClean="0">
                        <a:latin typeface="Cambria Math" panose="02040503050406030204" pitchFamily="18" charset="0"/>
                      </a:rPr>
                      <m:t>=</m:t>
                    </m:r>
                    <m:r>
                      <a:rPr lang="en-GB" b="0" i="1" smtClean="0">
                        <a:latin typeface="Cambria Math" panose="02040503050406030204" pitchFamily="18" charset="0"/>
                      </a:rPr>
                      <m:t>𝑅</m:t>
                    </m:r>
                    <m:d>
                      <m:dPr>
                        <m:ctrlPr>
                          <a:rPr lang="en-GB" b="0" i="1" smtClean="0">
                            <a:latin typeface="Cambria Math" panose="02040503050406030204" pitchFamily="18" charset="0"/>
                          </a:rPr>
                        </m:ctrlPr>
                      </m:dPr>
                      <m:e>
                        <m:sSub>
                          <m:sSubPr>
                            <m:ctrlPr>
                              <a:rPr lang="en-GB" b="0" i="1" smtClean="0">
                                <a:latin typeface="Cambria Math" panose="02040503050406030204" pitchFamily="18" charset="0"/>
                              </a:rPr>
                            </m:ctrlPr>
                          </m:sSubPr>
                          <m:e>
                            <m:r>
                              <a:rPr lang="en-GB" b="0" i="1" smtClean="0">
                                <a:latin typeface="Cambria Math" panose="02040503050406030204" pitchFamily="18" charset="0"/>
                              </a:rPr>
                              <m:t>𝑇</m:t>
                            </m:r>
                          </m:e>
                          <m:sub>
                            <m:r>
                              <a:rPr lang="en-GB" b="0" i="1" smtClean="0">
                                <a:latin typeface="Cambria Math" panose="02040503050406030204" pitchFamily="18" charset="0"/>
                              </a:rPr>
                              <m:t>𝑒𝑛𝑣</m:t>
                            </m:r>
                          </m:sub>
                        </m:sSub>
                        <m:r>
                          <a:rPr lang="en-GB" b="0" i="1" smtClean="0">
                            <a:latin typeface="Cambria Math" panose="02040503050406030204" pitchFamily="18" charset="0"/>
                          </a:rPr>
                          <m:t>−</m:t>
                        </m:r>
                        <m:r>
                          <a:rPr lang="en-GB" b="0" i="1" smtClean="0">
                            <a:latin typeface="Cambria Math" panose="02040503050406030204" pitchFamily="18" charset="0"/>
                          </a:rPr>
                          <m:t>𝑇</m:t>
                        </m:r>
                        <m:d>
                          <m:dPr>
                            <m:ctrlPr>
                              <a:rPr lang="en-GB" b="0" i="1" smtClean="0">
                                <a:latin typeface="Cambria Math" panose="02040503050406030204" pitchFamily="18" charset="0"/>
                              </a:rPr>
                            </m:ctrlPr>
                          </m:dPr>
                          <m:e>
                            <m:r>
                              <a:rPr lang="en-GB" b="0" i="1" smtClean="0">
                                <a:latin typeface="Cambria Math" panose="02040503050406030204" pitchFamily="18" charset="0"/>
                              </a:rPr>
                              <m:t>𝑡</m:t>
                            </m:r>
                          </m:e>
                        </m:d>
                      </m:e>
                    </m:d>
                  </m:oMath>
                </a14:m>
                <a:r>
                  <a:rPr lang="en-GB" dirty="0"/>
                  <a:t>.</a:t>
                </a:r>
              </a:p>
              <a:p>
                <a:r>
                  <a:rPr lang="en-GB" b="1" dirty="0"/>
                  <a:t>An initial condition loss function: </a:t>
                </a:r>
                <a:r>
                  <a:rPr lang="en-GB" dirty="0"/>
                  <a:t>quantifies whether the model satisfies the given initial conditions for the PDE, i.e. </a:t>
                </a:r>
                <a14:m>
                  <m:oMath xmlns:m="http://schemas.openxmlformats.org/officeDocument/2006/math">
                    <m:r>
                      <a:rPr lang="en-GB" b="0" i="1" smtClean="0">
                        <a:latin typeface="Cambria Math" panose="02040503050406030204" pitchFamily="18" charset="0"/>
                      </a:rPr>
                      <m:t>𝑇</m:t>
                    </m:r>
                    <m:d>
                      <m:dPr>
                        <m:ctrlPr>
                          <a:rPr lang="en-GB" b="0" i="1" smtClean="0">
                            <a:latin typeface="Cambria Math" panose="02040503050406030204" pitchFamily="18" charset="0"/>
                          </a:rPr>
                        </m:ctrlPr>
                      </m:dPr>
                      <m:e>
                        <m:r>
                          <a:rPr lang="en-GB" b="0" i="1" smtClean="0">
                            <a:latin typeface="Cambria Math" panose="02040503050406030204" pitchFamily="18" charset="0"/>
                          </a:rPr>
                          <m:t>0</m:t>
                        </m:r>
                      </m:e>
                    </m:d>
                    <m:r>
                      <a:rPr lang="en-GB" b="0" i="1" smtClean="0">
                        <a:latin typeface="Cambria Math" panose="02040503050406030204" pitchFamily="18" charset="0"/>
                      </a:rPr>
                      <m:t>=</m:t>
                    </m:r>
                    <m:sSub>
                      <m:sSubPr>
                        <m:ctrlPr>
                          <a:rPr lang="en-GB" b="0" i="1" smtClean="0">
                            <a:latin typeface="Cambria Math" panose="02040503050406030204" pitchFamily="18" charset="0"/>
                          </a:rPr>
                        </m:ctrlPr>
                      </m:sSubPr>
                      <m:e>
                        <m:r>
                          <a:rPr lang="en-GB" b="0" i="1" smtClean="0">
                            <a:latin typeface="Cambria Math" panose="02040503050406030204" pitchFamily="18" charset="0"/>
                          </a:rPr>
                          <m:t>𝑇</m:t>
                        </m:r>
                      </m:e>
                      <m:sub>
                        <m:r>
                          <a:rPr lang="en-GB" b="0" i="1" smtClean="0">
                            <a:latin typeface="Cambria Math" panose="02040503050406030204" pitchFamily="18" charset="0"/>
                          </a:rPr>
                          <m:t>0</m:t>
                        </m:r>
                      </m:sub>
                    </m:sSub>
                  </m:oMath>
                </a14:m>
                <a:r>
                  <a:rPr lang="en-GB" dirty="0"/>
                  <a:t>.</a:t>
                </a:r>
              </a:p>
              <a:p>
                <a:pPr marL="0" indent="0">
                  <a:buNone/>
                </a:pPr>
                <a:r>
                  <a:rPr lang="en-GB" dirty="0"/>
                  <a:t>These two losses components are then </a:t>
                </a:r>
                <a:r>
                  <a:rPr lang="en-GB" b="1" dirty="0"/>
                  <a:t>assembled into a </a:t>
                </a:r>
                <a:r>
                  <a:rPr lang="en-GB" b="1" dirty="0">
                    <a:solidFill>
                      <a:srgbClr val="00B050"/>
                    </a:solidFill>
                  </a:rPr>
                  <a:t>physics loss</a:t>
                </a:r>
                <a:r>
                  <a:rPr lang="en-GB" dirty="0"/>
                  <a:t> </a:t>
                </a:r>
                <a:r>
                  <a:rPr lang="en-GB" b="1" dirty="0">
                    <a:solidFill>
                      <a:srgbClr val="00B050"/>
                    </a:solidFill>
                  </a:rPr>
                  <a:t>function</a:t>
                </a:r>
                <a:r>
                  <a:rPr lang="en-GB" dirty="0"/>
                  <a:t>, which is then used to train the PINN.</a:t>
                </a:r>
              </a:p>
            </p:txBody>
          </p:sp>
        </mc:Choice>
        <mc:Fallback xmlns="">
          <p:sp>
            <p:nvSpPr>
              <p:cNvPr id="3" name="Content Placeholder 2">
                <a:extLst>
                  <a:ext uri="{FF2B5EF4-FFF2-40B4-BE49-F238E27FC236}">
                    <a16:creationId xmlns:a16="http://schemas.microsoft.com/office/drawing/2014/main" id="{3F2DB5E0-C728-9019-6656-287AB588F704}"/>
                  </a:ext>
                </a:extLst>
              </p:cNvPr>
              <p:cNvSpPr>
                <a:spLocks noGrp="1" noRot="1" noChangeAspect="1" noMove="1" noResize="1" noEditPoints="1" noAdjustHandles="1" noChangeArrowheads="1" noChangeShapeType="1" noTextEdit="1"/>
              </p:cNvSpPr>
              <p:nvPr>
                <p:ph idx="1"/>
              </p:nvPr>
            </p:nvSpPr>
            <p:spPr>
              <a:xfrm>
                <a:off x="838200" y="1825624"/>
                <a:ext cx="10515600" cy="5032375"/>
              </a:xfrm>
              <a:blipFill>
                <a:blip r:embed="rId2"/>
                <a:stretch>
                  <a:fillRect l="-1217" t="-2663"/>
                </a:stretch>
              </a:blipFill>
            </p:spPr>
            <p:txBody>
              <a:bodyPr/>
              <a:lstStyle/>
              <a:p>
                <a:r>
                  <a:rPr lang="en-GB">
                    <a:noFill/>
                  </a:rPr>
                  <a:t> </a:t>
                </a:r>
              </a:p>
            </p:txBody>
          </p:sp>
        </mc:Fallback>
      </mc:AlternateContent>
    </p:spTree>
    <p:extLst>
      <p:ext uri="{BB962C8B-B14F-4D97-AF65-F5344CB8AC3E}">
        <p14:creationId xmlns:p14="http://schemas.microsoft.com/office/powerpoint/2010/main" val="430604310"/>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2104505-2C3F-0900-9537-5574A04243EF}"/>
              </a:ext>
            </a:extLst>
          </p:cNvPr>
          <p:cNvSpPr>
            <a:spLocks noGrp="1"/>
          </p:cNvSpPr>
          <p:nvPr>
            <p:ph type="title"/>
          </p:nvPr>
        </p:nvSpPr>
        <p:spPr/>
        <p:txBody>
          <a:bodyPr/>
          <a:lstStyle/>
          <a:p>
            <a:r>
              <a:rPr lang="en-GB" dirty="0"/>
              <a:t>Part 1: The PDE loss</a:t>
            </a:r>
          </a:p>
        </p:txBody>
      </p:sp>
      <mc:AlternateContent xmlns:mc="http://schemas.openxmlformats.org/markup-compatibility/2006" xmlns:a14="http://schemas.microsoft.com/office/drawing/2010/main">
        <mc:Choice Requires="a14">
          <p:sp>
            <p:nvSpPr>
              <p:cNvPr id="3" name="Content Placeholder 2">
                <a:extLst>
                  <a:ext uri="{FF2B5EF4-FFF2-40B4-BE49-F238E27FC236}">
                    <a16:creationId xmlns:a16="http://schemas.microsoft.com/office/drawing/2014/main" id="{1BA32315-2B3E-CF90-9E25-1BE84329BF53}"/>
                  </a:ext>
                </a:extLst>
              </p:cNvPr>
              <p:cNvSpPr>
                <a:spLocks noGrp="1"/>
              </p:cNvSpPr>
              <p:nvPr>
                <p:ph idx="1"/>
              </p:nvPr>
            </p:nvSpPr>
            <p:spPr/>
            <p:txBody>
              <a:bodyPr/>
              <a:lstStyle/>
              <a:p>
                <a:pPr marL="0" indent="0">
                  <a:buNone/>
                </a:pPr>
                <a:r>
                  <a:rPr lang="en-GB" b="1" dirty="0"/>
                  <a:t>Important observation: </a:t>
                </a:r>
                <a:r>
                  <a:rPr lang="en-GB" dirty="0"/>
                  <a:t>If the PINN model </a:t>
                </a:r>
                <a14:m>
                  <m:oMath xmlns:m="http://schemas.openxmlformats.org/officeDocument/2006/math">
                    <m:r>
                      <a:rPr lang="en-GB" i="1" dirty="0" smtClean="0">
                        <a:latin typeface="Cambria Math" panose="02040503050406030204" pitchFamily="18" charset="0"/>
                      </a:rPr>
                      <m:t>𝑓</m:t>
                    </m:r>
                  </m:oMath>
                </a14:m>
                <a:r>
                  <a:rPr lang="en-GB" dirty="0"/>
                  <a:t> is supposed to act as the solution to the PDE, then the partial derivative of </a:t>
                </a:r>
                <a14:m>
                  <m:oMath xmlns:m="http://schemas.openxmlformats.org/officeDocument/2006/math">
                    <m:r>
                      <a:rPr lang="en-GB" i="1" dirty="0" smtClean="0">
                        <a:latin typeface="Cambria Math" panose="02040503050406030204" pitchFamily="18" charset="0"/>
                      </a:rPr>
                      <m:t>𝑓</m:t>
                    </m:r>
                  </m:oMath>
                </a14:m>
                <a:r>
                  <a:rPr lang="en-GB" dirty="0"/>
                  <a:t> with respect to </a:t>
                </a:r>
                <a14:m>
                  <m:oMath xmlns:m="http://schemas.openxmlformats.org/officeDocument/2006/math">
                    <m:r>
                      <a:rPr lang="en-GB" i="1" dirty="0" smtClean="0">
                        <a:latin typeface="Cambria Math" panose="02040503050406030204" pitchFamily="18" charset="0"/>
                      </a:rPr>
                      <m:t>𝑡</m:t>
                    </m:r>
                  </m:oMath>
                </a14:m>
                <a:r>
                  <a:rPr lang="en-GB" dirty="0"/>
                  <a:t> is simply the gradient of the model with respect to its inputs!</a:t>
                </a:r>
              </a:p>
              <a:p>
                <a:pPr marL="0" indent="0">
                  <a:buNone/>
                </a:pPr>
                <a:r>
                  <a:rPr lang="en-GB" dirty="0"/>
                  <a:t>This derivative can be computed using </a:t>
                </a:r>
                <a:r>
                  <a:rPr lang="en-GB" b="1" dirty="0" err="1"/>
                  <a:t>autograd</a:t>
                </a:r>
                <a:r>
                  <a:rPr lang="en-GB" b="1" dirty="0"/>
                  <a:t> (very nice!), along with the inputs and outputs produced by the model!</a:t>
                </a:r>
              </a:p>
              <a:p>
                <a:pPr marL="0" indent="0">
                  <a:buNone/>
                </a:pPr>
                <a:endParaRPr lang="en-GB" b="1" dirty="0"/>
              </a:p>
            </p:txBody>
          </p:sp>
        </mc:Choice>
        <mc:Fallback xmlns="">
          <p:sp>
            <p:nvSpPr>
              <p:cNvPr id="3" name="Content Placeholder 2">
                <a:extLst>
                  <a:ext uri="{FF2B5EF4-FFF2-40B4-BE49-F238E27FC236}">
                    <a16:creationId xmlns:a16="http://schemas.microsoft.com/office/drawing/2014/main" id="{1BA32315-2B3E-CF90-9E25-1BE84329BF53}"/>
                  </a:ext>
                </a:extLst>
              </p:cNvPr>
              <p:cNvSpPr>
                <a:spLocks noGrp="1" noRot="1" noChangeAspect="1" noMove="1" noResize="1" noEditPoints="1" noAdjustHandles="1" noChangeArrowheads="1" noChangeShapeType="1" noTextEdit="1"/>
              </p:cNvSpPr>
              <p:nvPr>
                <p:ph idx="1"/>
              </p:nvPr>
            </p:nvSpPr>
            <p:spPr>
              <a:blipFill>
                <a:blip r:embed="rId2"/>
                <a:stretch>
                  <a:fillRect l="-1217" t="-2241" r="-116"/>
                </a:stretch>
              </a:blipFill>
            </p:spPr>
            <p:txBody>
              <a:bodyPr/>
              <a:lstStyle/>
              <a:p>
                <a:r>
                  <a:rPr lang="en-GB">
                    <a:noFill/>
                  </a:rPr>
                  <a:t> </a:t>
                </a:r>
              </a:p>
            </p:txBody>
          </p:sp>
        </mc:Fallback>
      </mc:AlternateContent>
      <p:pic>
        <p:nvPicPr>
          <p:cNvPr id="8" name="Picture 7">
            <a:extLst>
              <a:ext uri="{FF2B5EF4-FFF2-40B4-BE49-F238E27FC236}">
                <a16:creationId xmlns:a16="http://schemas.microsoft.com/office/drawing/2014/main" id="{EBC4E4D5-C6FD-5587-F88A-A75C38CA3B47}"/>
              </a:ext>
            </a:extLst>
          </p:cNvPr>
          <p:cNvPicPr>
            <a:picLocks noChangeAspect="1"/>
          </p:cNvPicPr>
          <p:nvPr/>
        </p:nvPicPr>
        <p:blipFill>
          <a:blip r:embed="rId3"/>
          <a:stretch>
            <a:fillRect/>
          </a:stretch>
        </p:blipFill>
        <p:spPr>
          <a:xfrm>
            <a:off x="199014" y="4217864"/>
            <a:ext cx="11793972" cy="2115511"/>
          </a:xfrm>
          <a:prstGeom prst="rect">
            <a:avLst/>
          </a:prstGeom>
        </p:spPr>
      </p:pic>
    </p:spTree>
    <p:extLst>
      <p:ext uri="{BB962C8B-B14F-4D97-AF65-F5344CB8AC3E}">
        <p14:creationId xmlns:p14="http://schemas.microsoft.com/office/powerpoint/2010/main" val="2733147439"/>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2104505-2C3F-0900-9537-5574A04243EF}"/>
              </a:ext>
            </a:extLst>
          </p:cNvPr>
          <p:cNvSpPr>
            <a:spLocks noGrp="1"/>
          </p:cNvSpPr>
          <p:nvPr>
            <p:ph type="title"/>
          </p:nvPr>
        </p:nvSpPr>
        <p:spPr/>
        <p:txBody>
          <a:bodyPr/>
          <a:lstStyle/>
          <a:p>
            <a:r>
              <a:rPr lang="en-GB" dirty="0"/>
              <a:t>Part 1: The PDE loss</a:t>
            </a:r>
          </a:p>
        </p:txBody>
      </p:sp>
      <mc:AlternateContent xmlns:mc="http://schemas.openxmlformats.org/markup-compatibility/2006" xmlns:a14="http://schemas.microsoft.com/office/drawing/2010/main">
        <mc:Choice Requires="a14">
          <p:sp>
            <p:nvSpPr>
              <p:cNvPr id="3" name="Content Placeholder 2">
                <a:extLst>
                  <a:ext uri="{FF2B5EF4-FFF2-40B4-BE49-F238E27FC236}">
                    <a16:creationId xmlns:a16="http://schemas.microsoft.com/office/drawing/2014/main" id="{1BA32315-2B3E-CF90-9E25-1BE84329BF53}"/>
                  </a:ext>
                </a:extLst>
              </p:cNvPr>
              <p:cNvSpPr>
                <a:spLocks noGrp="1"/>
              </p:cNvSpPr>
              <p:nvPr>
                <p:ph idx="1"/>
              </p:nvPr>
            </p:nvSpPr>
            <p:spPr>
              <a:xfrm>
                <a:off x="838199" y="1825625"/>
                <a:ext cx="10685585" cy="4351338"/>
              </a:xfrm>
            </p:spPr>
            <p:txBody>
              <a:bodyPr/>
              <a:lstStyle/>
              <a:p>
                <a:pPr marL="0" indent="0">
                  <a:buNone/>
                </a:pPr>
                <a:r>
                  <a:rPr lang="en-GB" dirty="0"/>
                  <a:t>Next, we can</a:t>
                </a:r>
              </a:p>
              <a:p>
                <a:r>
                  <a:rPr lang="en-GB" dirty="0"/>
                  <a:t>Define an array </a:t>
                </a:r>
                <a14:m>
                  <m:oMath xmlns:m="http://schemas.openxmlformats.org/officeDocument/2006/math">
                    <m:r>
                      <a:rPr lang="en-GB" i="1" dirty="0" smtClean="0">
                        <a:latin typeface="Cambria Math" panose="02040503050406030204" pitchFamily="18" charset="0"/>
                      </a:rPr>
                      <m:t>𝑡</m:t>
                    </m:r>
                  </m:oMath>
                </a14:m>
                <a:r>
                  <a:rPr lang="en-GB" dirty="0"/>
                  <a:t> of time values, using a </a:t>
                </a:r>
                <a:r>
                  <a:rPr lang="en-GB" dirty="0" err="1"/>
                  <a:t>linspace</a:t>
                </a:r>
                <a:r>
                  <a:rPr lang="en-GB" dirty="0"/>
                  <a:t> of some sort.</a:t>
                </a:r>
              </a:p>
              <a:p>
                <a:r>
                  <a:rPr lang="en-GB" dirty="0"/>
                  <a:t>Compute the outputs </a:t>
                </a:r>
                <a14:m>
                  <m:oMath xmlns:m="http://schemas.openxmlformats.org/officeDocument/2006/math">
                    <m:r>
                      <a:rPr lang="en-GB" i="1" dirty="0" smtClean="0">
                        <a:latin typeface="Cambria Math" panose="02040503050406030204" pitchFamily="18" charset="0"/>
                      </a:rPr>
                      <m:t>𝑓</m:t>
                    </m:r>
                    <m:r>
                      <a:rPr lang="en-GB" i="1" dirty="0" smtClean="0">
                        <a:latin typeface="Cambria Math" panose="02040503050406030204" pitchFamily="18" charset="0"/>
                      </a:rPr>
                      <m:t>(</m:t>
                    </m:r>
                    <m:r>
                      <a:rPr lang="en-GB" i="1" dirty="0" smtClean="0">
                        <a:latin typeface="Cambria Math" panose="02040503050406030204" pitchFamily="18" charset="0"/>
                      </a:rPr>
                      <m:t>𝑡</m:t>
                    </m:r>
                    <m:r>
                      <a:rPr lang="en-GB" i="1" dirty="0" smtClean="0">
                        <a:latin typeface="Cambria Math" panose="02040503050406030204" pitchFamily="18" charset="0"/>
                      </a:rPr>
                      <m:t>) </m:t>
                    </m:r>
                  </m:oMath>
                </a14:m>
                <a:r>
                  <a:rPr lang="en-GB" dirty="0"/>
                  <a:t>for said time values, using our PINN model,</a:t>
                </a:r>
              </a:p>
              <a:p>
                <a:r>
                  <a:rPr lang="en-GB" dirty="0"/>
                  <a:t>Compute the derivatives values </a:t>
                </a:r>
                <a14:m>
                  <m:oMath xmlns:m="http://schemas.openxmlformats.org/officeDocument/2006/math">
                    <m:f>
                      <m:fPr>
                        <m:ctrlPr>
                          <a:rPr lang="en-GB" b="0" i="1" smtClean="0">
                            <a:latin typeface="Cambria Math" panose="02040503050406030204" pitchFamily="18" charset="0"/>
                          </a:rPr>
                        </m:ctrlPr>
                      </m:fPr>
                      <m:num>
                        <m:r>
                          <a:rPr lang="en-GB" b="0" i="1" smtClean="0">
                            <a:latin typeface="Cambria Math" panose="02040503050406030204" pitchFamily="18" charset="0"/>
                          </a:rPr>
                          <m:t>𝜕</m:t>
                        </m:r>
                        <m:r>
                          <a:rPr lang="en-GB" b="0" i="1" smtClean="0">
                            <a:latin typeface="Cambria Math" panose="02040503050406030204" pitchFamily="18" charset="0"/>
                          </a:rPr>
                          <m:t>𝑓</m:t>
                        </m:r>
                        <m:d>
                          <m:dPr>
                            <m:ctrlPr>
                              <a:rPr lang="en-GB" b="0" i="1" smtClean="0">
                                <a:latin typeface="Cambria Math" panose="02040503050406030204" pitchFamily="18" charset="0"/>
                              </a:rPr>
                            </m:ctrlPr>
                          </m:dPr>
                          <m:e>
                            <m:r>
                              <a:rPr lang="en-GB" b="0" i="1" smtClean="0">
                                <a:latin typeface="Cambria Math" panose="02040503050406030204" pitchFamily="18" charset="0"/>
                              </a:rPr>
                              <m:t>𝑡</m:t>
                            </m:r>
                          </m:e>
                        </m:d>
                      </m:num>
                      <m:den>
                        <m:r>
                          <a:rPr lang="en-GB" b="0" i="1" smtClean="0">
                            <a:latin typeface="Cambria Math" panose="02040503050406030204" pitchFamily="18" charset="0"/>
                          </a:rPr>
                          <m:t>𝜕</m:t>
                        </m:r>
                        <m:r>
                          <a:rPr lang="en-GB" b="0" i="1" smtClean="0">
                            <a:latin typeface="Cambria Math" panose="02040503050406030204" pitchFamily="18" charset="0"/>
                          </a:rPr>
                          <m:t>𝑡</m:t>
                        </m:r>
                      </m:den>
                    </m:f>
                  </m:oMath>
                </a14:m>
                <a:r>
                  <a:rPr lang="en-GB" dirty="0"/>
                  <a:t> using our </a:t>
                </a:r>
                <a:r>
                  <a:rPr lang="en-GB" dirty="0" err="1"/>
                  <a:t>autograd</a:t>
                </a:r>
                <a:r>
                  <a:rPr lang="en-GB" dirty="0"/>
                  <a:t> function for said times values,</a:t>
                </a:r>
              </a:p>
              <a:p>
                <a:r>
                  <a:rPr lang="en-GB" dirty="0"/>
                  <a:t>And then check if the PDE equation </a:t>
                </a:r>
                <a14:m>
                  <m:oMath xmlns:m="http://schemas.openxmlformats.org/officeDocument/2006/math">
                    <m:f>
                      <m:fPr>
                        <m:ctrlPr>
                          <a:rPr lang="en-GB" b="0" i="1" smtClean="0">
                            <a:latin typeface="Cambria Math" panose="02040503050406030204" pitchFamily="18" charset="0"/>
                          </a:rPr>
                        </m:ctrlPr>
                      </m:fPr>
                      <m:num>
                        <m:r>
                          <a:rPr lang="en-GB" b="0" i="1" smtClean="0">
                            <a:latin typeface="Cambria Math" panose="02040503050406030204" pitchFamily="18" charset="0"/>
                          </a:rPr>
                          <m:t>𝜕</m:t>
                        </m:r>
                        <m:r>
                          <a:rPr lang="en-GB" b="0" i="1" smtClean="0">
                            <a:latin typeface="Cambria Math" panose="02040503050406030204" pitchFamily="18" charset="0"/>
                          </a:rPr>
                          <m:t>𝑇</m:t>
                        </m:r>
                        <m:d>
                          <m:dPr>
                            <m:ctrlPr>
                              <a:rPr lang="en-GB" b="0" i="1" smtClean="0">
                                <a:latin typeface="Cambria Math" panose="02040503050406030204" pitchFamily="18" charset="0"/>
                              </a:rPr>
                            </m:ctrlPr>
                          </m:dPr>
                          <m:e>
                            <m:r>
                              <a:rPr lang="en-GB" b="0" i="1" smtClean="0">
                                <a:latin typeface="Cambria Math" panose="02040503050406030204" pitchFamily="18" charset="0"/>
                              </a:rPr>
                              <m:t>𝑡</m:t>
                            </m:r>
                          </m:e>
                        </m:d>
                      </m:num>
                      <m:den>
                        <m:r>
                          <a:rPr lang="en-GB" b="0" i="1" smtClean="0">
                            <a:latin typeface="Cambria Math" panose="02040503050406030204" pitchFamily="18" charset="0"/>
                          </a:rPr>
                          <m:t>𝜕</m:t>
                        </m:r>
                        <m:r>
                          <a:rPr lang="en-GB" b="0" i="1" smtClean="0">
                            <a:latin typeface="Cambria Math" panose="02040503050406030204" pitchFamily="18" charset="0"/>
                          </a:rPr>
                          <m:t>𝑡</m:t>
                        </m:r>
                      </m:den>
                    </m:f>
                    <m:r>
                      <a:rPr lang="en-GB" b="0" i="1" smtClean="0">
                        <a:latin typeface="Cambria Math" panose="02040503050406030204" pitchFamily="18" charset="0"/>
                      </a:rPr>
                      <m:t>=</m:t>
                    </m:r>
                    <m:r>
                      <a:rPr lang="en-GB" b="0" i="1" smtClean="0">
                        <a:latin typeface="Cambria Math" panose="02040503050406030204" pitchFamily="18" charset="0"/>
                      </a:rPr>
                      <m:t>𝑅</m:t>
                    </m:r>
                    <m:d>
                      <m:dPr>
                        <m:ctrlPr>
                          <a:rPr lang="en-GB" b="0" i="1" smtClean="0">
                            <a:latin typeface="Cambria Math" panose="02040503050406030204" pitchFamily="18" charset="0"/>
                          </a:rPr>
                        </m:ctrlPr>
                      </m:dPr>
                      <m:e>
                        <m:sSub>
                          <m:sSubPr>
                            <m:ctrlPr>
                              <a:rPr lang="en-GB" b="0" i="1" smtClean="0">
                                <a:latin typeface="Cambria Math" panose="02040503050406030204" pitchFamily="18" charset="0"/>
                              </a:rPr>
                            </m:ctrlPr>
                          </m:sSubPr>
                          <m:e>
                            <m:r>
                              <a:rPr lang="en-GB" b="0" i="1" smtClean="0">
                                <a:latin typeface="Cambria Math" panose="02040503050406030204" pitchFamily="18" charset="0"/>
                              </a:rPr>
                              <m:t>𝑇</m:t>
                            </m:r>
                          </m:e>
                          <m:sub>
                            <m:r>
                              <a:rPr lang="en-GB" b="0" i="1" smtClean="0">
                                <a:latin typeface="Cambria Math" panose="02040503050406030204" pitchFamily="18" charset="0"/>
                              </a:rPr>
                              <m:t>𝑒𝑛𝑣</m:t>
                            </m:r>
                          </m:sub>
                        </m:sSub>
                        <m:r>
                          <a:rPr lang="en-GB" b="0" i="1" smtClean="0">
                            <a:latin typeface="Cambria Math" panose="02040503050406030204" pitchFamily="18" charset="0"/>
                          </a:rPr>
                          <m:t>−</m:t>
                        </m:r>
                        <m:r>
                          <a:rPr lang="en-GB" b="0" i="1" smtClean="0">
                            <a:latin typeface="Cambria Math" panose="02040503050406030204" pitchFamily="18" charset="0"/>
                          </a:rPr>
                          <m:t>𝑇</m:t>
                        </m:r>
                        <m:d>
                          <m:dPr>
                            <m:ctrlPr>
                              <a:rPr lang="en-GB" b="0" i="1" smtClean="0">
                                <a:latin typeface="Cambria Math" panose="02040503050406030204" pitchFamily="18" charset="0"/>
                              </a:rPr>
                            </m:ctrlPr>
                          </m:dPr>
                          <m:e>
                            <m:r>
                              <a:rPr lang="en-GB" b="0" i="1" smtClean="0">
                                <a:latin typeface="Cambria Math" panose="02040503050406030204" pitchFamily="18" charset="0"/>
                              </a:rPr>
                              <m:t>𝑡</m:t>
                            </m:r>
                          </m:e>
                        </m:d>
                      </m:e>
                    </m:d>
                    <m:r>
                      <a:rPr lang="en-GB" b="0" i="1" smtClean="0">
                        <a:latin typeface="Cambria Math" panose="02040503050406030204" pitchFamily="18" charset="0"/>
                      </a:rPr>
                      <m:t> </m:t>
                    </m:r>
                  </m:oMath>
                </a14:m>
                <a:r>
                  <a:rPr lang="en-GB" dirty="0"/>
                  <a:t>is met for said time values!</a:t>
                </a:r>
              </a:p>
              <a:p>
                <a:pPr marL="0" indent="0">
                  <a:buNone/>
                </a:pPr>
                <a:endParaRPr lang="en-GB" b="1" dirty="0"/>
              </a:p>
            </p:txBody>
          </p:sp>
        </mc:Choice>
        <mc:Fallback xmlns="">
          <p:sp>
            <p:nvSpPr>
              <p:cNvPr id="3" name="Content Placeholder 2">
                <a:extLst>
                  <a:ext uri="{FF2B5EF4-FFF2-40B4-BE49-F238E27FC236}">
                    <a16:creationId xmlns:a16="http://schemas.microsoft.com/office/drawing/2014/main" id="{1BA32315-2B3E-CF90-9E25-1BE84329BF53}"/>
                  </a:ext>
                </a:extLst>
              </p:cNvPr>
              <p:cNvSpPr>
                <a:spLocks noGrp="1" noRot="1" noChangeAspect="1" noMove="1" noResize="1" noEditPoints="1" noAdjustHandles="1" noChangeArrowheads="1" noChangeShapeType="1" noTextEdit="1"/>
              </p:cNvSpPr>
              <p:nvPr>
                <p:ph idx="1"/>
              </p:nvPr>
            </p:nvSpPr>
            <p:spPr>
              <a:xfrm>
                <a:off x="838199" y="1825625"/>
                <a:ext cx="10685585" cy="4351338"/>
              </a:xfrm>
              <a:blipFill>
                <a:blip r:embed="rId2"/>
                <a:stretch>
                  <a:fillRect l="-1141" t="-2241"/>
                </a:stretch>
              </a:blipFill>
            </p:spPr>
            <p:txBody>
              <a:bodyPr/>
              <a:lstStyle/>
              <a:p>
                <a:r>
                  <a:rPr lang="en-GB">
                    <a:noFill/>
                  </a:rPr>
                  <a:t> </a:t>
                </a:r>
              </a:p>
            </p:txBody>
          </p:sp>
        </mc:Fallback>
      </mc:AlternateContent>
    </p:spTree>
    <p:extLst>
      <p:ext uri="{BB962C8B-B14F-4D97-AF65-F5344CB8AC3E}">
        <p14:creationId xmlns:p14="http://schemas.microsoft.com/office/powerpoint/2010/main" val="4265516213"/>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2104505-2C3F-0900-9537-5574A04243EF}"/>
              </a:ext>
            </a:extLst>
          </p:cNvPr>
          <p:cNvSpPr>
            <a:spLocks noGrp="1"/>
          </p:cNvSpPr>
          <p:nvPr>
            <p:ph type="title"/>
          </p:nvPr>
        </p:nvSpPr>
        <p:spPr/>
        <p:txBody>
          <a:bodyPr/>
          <a:lstStyle/>
          <a:p>
            <a:r>
              <a:rPr lang="en-GB" dirty="0"/>
              <a:t>Part 1: The PDE loss</a:t>
            </a:r>
          </a:p>
        </p:txBody>
      </p:sp>
      <mc:AlternateContent xmlns:mc="http://schemas.openxmlformats.org/markup-compatibility/2006" xmlns:a14="http://schemas.microsoft.com/office/drawing/2010/main">
        <mc:Choice Requires="a14">
          <p:sp>
            <p:nvSpPr>
              <p:cNvPr id="3" name="Content Placeholder 2">
                <a:extLst>
                  <a:ext uri="{FF2B5EF4-FFF2-40B4-BE49-F238E27FC236}">
                    <a16:creationId xmlns:a16="http://schemas.microsoft.com/office/drawing/2014/main" id="{1BA32315-2B3E-CF90-9E25-1BE84329BF53}"/>
                  </a:ext>
                </a:extLst>
              </p:cNvPr>
              <p:cNvSpPr>
                <a:spLocks noGrp="1"/>
              </p:cNvSpPr>
              <p:nvPr>
                <p:ph idx="1"/>
              </p:nvPr>
            </p:nvSpPr>
            <p:spPr/>
            <p:txBody>
              <a:bodyPr/>
              <a:lstStyle/>
              <a:p>
                <a:r>
                  <a:rPr lang="en-GB" b="1" dirty="0"/>
                  <a:t>Step 2: </a:t>
                </a:r>
                <a:r>
                  <a:rPr lang="en-GB" dirty="0"/>
                  <a:t>Define our </a:t>
                </a:r>
                <a:r>
                  <a:rPr lang="en-GB" dirty="0" err="1"/>
                  <a:t>linspace</a:t>
                </a:r>
                <a:r>
                  <a:rPr lang="en-GB" dirty="0"/>
                  <a:t> array of time values </a:t>
                </a:r>
                <a14:m>
                  <m:oMath xmlns:m="http://schemas.openxmlformats.org/officeDocument/2006/math">
                    <m:r>
                      <a:rPr lang="en-GB" i="1" dirty="0" smtClean="0">
                        <a:latin typeface="Cambria Math" panose="02040503050406030204" pitchFamily="18" charset="0"/>
                      </a:rPr>
                      <m:t>𝑡</m:t>
                    </m:r>
                  </m:oMath>
                </a14:m>
                <a:r>
                  <a:rPr lang="en-GB" dirty="0"/>
                  <a:t> (here values of </a:t>
                </a:r>
                <a14:m>
                  <m:oMath xmlns:m="http://schemas.openxmlformats.org/officeDocument/2006/math">
                    <m:r>
                      <a:rPr lang="en-GB" i="1" dirty="0" smtClean="0">
                        <a:latin typeface="Cambria Math" panose="02040503050406030204" pitchFamily="18" charset="0"/>
                      </a:rPr>
                      <m:t>𝑡</m:t>
                    </m:r>
                  </m:oMath>
                </a14:m>
                <a:r>
                  <a:rPr lang="en-GB" dirty="0"/>
                  <a:t> will range from 0 to 100, with 1000 points in array). So </a:t>
                </a:r>
                <a14:m>
                  <m:oMath xmlns:m="http://schemas.openxmlformats.org/officeDocument/2006/math">
                    <m:r>
                      <a:rPr lang="en-GB" b="0" i="1" smtClean="0">
                        <a:latin typeface="Cambria Math" panose="02040503050406030204" pitchFamily="18" charset="0"/>
                      </a:rPr>
                      <m:t>𝑡</m:t>
                    </m:r>
                    <m:r>
                      <a:rPr lang="en-GB" b="0" i="1" smtClean="0">
                        <a:latin typeface="Cambria Math" panose="02040503050406030204" pitchFamily="18" charset="0"/>
                      </a:rPr>
                      <m:t>=(</m:t>
                    </m:r>
                    <m:sSub>
                      <m:sSubPr>
                        <m:ctrlPr>
                          <a:rPr lang="en-GB" b="0" i="1" smtClean="0">
                            <a:latin typeface="Cambria Math" panose="02040503050406030204" pitchFamily="18" charset="0"/>
                          </a:rPr>
                        </m:ctrlPr>
                      </m:sSubPr>
                      <m:e>
                        <m:r>
                          <a:rPr lang="en-GB" b="0" i="1" smtClean="0">
                            <a:latin typeface="Cambria Math" panose="02040503050406030204" pitchFamily="18" charset="0"/>
                          </a:rPr>
                          <m:t>𝑡</m:t>
                        </m:r>
                      </m:e>
                      <m:sub>
                        <m:r>
                          <a:rPr lang="en-GB" b="0" i="1" smtClean="0">
                            <a:latin typeface="Cambria Math" panose="02040503050406030204" pitchFamily="18" charset="0"/>
                          </a:rPr>
                          <m:t>1</m:t>
                        </m:r>
                      </m:sub>
                    </m:sSub>
                    <m:r>
                      <a:rPr lang="en-GB" b="0" i="1" smtClean="0">
                        <a:latin typeface="Cambria Math" panose="02040503050406030204" pitchFamily="18" charset="0"/>
                      </a:rPr>
                      <m:t>, …</m:t>
                    </m:r>
                    <m:sSub>
                      <m:sSubPr>
                        <m:ctrlPr>
                          <a:rPr lang="en-GB" b="0" i="1" smtClean="0">
                            <a:latin typeface="Cambria Math" panose="02040503050406030204" pitchFamily="18" charset="0"/>
                          </a:rPr>
                        </m:ctrlPr>
                      </m:sSubPr>
                      <m:e>
                        <m:r>
                          <a:rPr lang="en-GB" b="0" i="1" smtClean="0">
                            <a:latin typeface="Cambria Math" panose="02040503050406030204" pitchFamily="18" charset="0"/>
                          </a:rPr>
                          <m:t>𝑡</m:t>
                        </m:r>
                      </m:e>
                      <m:sub>
                        <m:r>
                          <a:rPr lang="en-GB" b="0" i="1" smtClean="0">
                            <a:latin typeface="Cambria Math" panose="02040503050406030204" pitchFamily="18" charset="0"/>
                          </a:rPr>
                          <m:t>1000</m:t>
                        </m:r>
                      </m:sub>
                    </m:sSub>
                    <m:r>
                      <a:rPr lang="en-GB" b="0" i="1" smtClean="0">
                        <a:latin typeface="Cambria Math" panose="02040503050406030204" pitchFamily="18" charset="0"/>
                      </a:rPr>
                      <m:t>)</m:t>
                    </m:r>
                  </m:oMath>
                </a14:m>
                <a:endParaRPr lang="en-GB" dirty="0"/>
              </a:p>
              <a:p>
                <a:pPr marL="0" indent="0">
                  <a:buNone/>
                </a:pPr>
                <a:endParaRPr lang="en-GB" b="1" dirty="0"/>
              </a:p>
            </p:txBody>
          </p:sp>
        </mc:Choice>
        <mc:Fallback xmlns="">
          <p:sp>
            <p:nvSpPr>
              <p:cNvPr id="3" name="Content Placeholder 2">
                <a:extLst>
                  <a:ext uri="{FF2B5EF4-FFF2-40B4-BE49-F238E27FC236}">
                    <a16:creationId xmlns:a16="http://schemas.microsoft.com/office/drawing/2014/main" id="{1BA32315-2B3E-CF90-9E25-1BE84329BF53}"/>
                  </a:ext>
                </a:extLst>
              </p:cNvPr>
              <p:cNvSpPr>
                <a:spLocks noGrp="1" noRot="1" noChangeAspect="1" noMove="1" noResize="1" noEditPoints="1" noAdjustHandles="1" noChangeArrowheads="1" noChangeShapeType="1" noTextEdit="1"/>
              </p:cNvSpPr>
              <p:nvPr>
                <p:ph idx="1"/>
              </p:nvPr>
            </p:nvSpPr>
            <p:spPr>
              <a:blipFill>
                <a:blip r:embed="rId2"/>
                <a:stretch>
                  <a:fillRect l="-1043" t="-2241" r="-1391"/>
                </a:stretch>
              </a:blipFill>
            </p:spPr>
            <p:txBody>
              <a:bodyPr/>
              <a:lstStyle/>
              <a:p>
                <a:r>
                  <a:rPr lang="en-GB">
                    <a:noFill/>
                  </a:rPr>
                  <a:t> </a:t>
                </a:r>
              </a:p>
            </p:txBody>
          </p:sp>
        </mc:Fallback>
      </mc:AlternateContent>
      <p:pic>
        <p:nvPicPr>
          <p:cNvPr id="6" name="Picture 5">
            <a:extLst>
              <a:ext uri="{FF2B5EF4-FFF2-40B4-BE49-F238E27FC236}">
                <a16:creationId xmlns:a16="http://schemas.microsoft.com/office/drawing/2014/main" id="{4E7971FE-EE43-9989-B141-98B822097EED}"/>
              </a:ext>
            </a:extLst>
          </p:cNvPr>
          <p:cNvPicPr>
            <a:picLocks noChangeAspect="1"/>
          </p:cNvPicPr>
          <p:nvPr/>
        </p:nvPicPr>
        <p:blipFill rotWithShape="1">
          <a:blip r:embed="rId3"/>
          <a:srcRect b="76770"/>
          <a:stretch/>
        </p:blipFill>
        <p:spPr>
          <a:xfrm>
            <a:off x="2509337" y="2950725"/>
            <a:ext cx="7173326" cy="847552"/>
          </a:xfrm>
          <a:prstGeom prst="rect">
            <a:avLst/>
          </a:prstGeom>
        </p:spPr>
      </p:pic>
    </p:spTree>
    <p:extLst>
      <p:ext uri="{BB962C8B-B14F-4D97-AF65-F5344CB8AC3E}">
        <p14:creationId xmlns:p14="http://schemas.microsoft.com/office/powerpoint/2010/main" val="3567778314"/>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2104505-2C3F-0900-9537-5574A04243EF}"/>
              </a:ext>
            </a:extLst>
          </p:cNvPr>
          <p:cNvSpPr>
            <a:spLocks noGrp="1"/>
          </p:cNvSpPr>
          <p:nvPr>
            <p:ph type="title"/>
          </p:nvPr>
        </p:nvSpPr>
        <p:spPr/>
        <p:txBody>
          <a:bodyPr/>
          <a:lstStyle/>
          <a:p>
            <a:r>
              <a:rPr lang="en-GB" dirty="0"/>
              <a:t>Part 1: The PDE loss</a:t>
            </a:r>
          </a:p>
        </p:txBody>
      </p:sp>
      <mc:AlternateContent xmlns:mc="http://schemas.openxmlformats.org/markup-compatibility/2006" xmlns:a14="http://schemas.microsoft.com/office/drawing/2010/main">
        <mc:Choice Requires="a14">
          <p:sp>
            <p:nvSpPr>
              <p:cNvPr id="3" name="Content Placeholder 2">
                <a:extLst>
                  <a:ext uri="{FF2B5EF4-FFF2-40B4-BE49-F238E27FC236}">
                    <a16:creationId xmlns:a16="http://schemas.microsoft.com/office/drawing/2014/main" id="{1BA32315-2B3E-CF90-9E25-1BE84329BF53}"/>
                  </a:ext>
                </a:extLst>
              </p:cNvPr>
              <p:cNvSpPr>
                <a:spLocks noGrp="1"/>
              </p:cNvSpPr>
              <p:nvPr>
                <p:ph idx="1"/>
              </p:nvPr>
            </p:nvSpPr>
            <p:spPr/>
            <p:txBody>
              <a:bodyPr/>
              <a:lstStyle/>
              <a:p>
                <a:r>
                  <a:rPr lang="en-GB" b="1" dirty="0"/>
                  <a:t>Step 3: </a:t>
                </a:r>
                <a:r>
                  <a:rPr lang="en-GB" dirty="0"/>
                  <a:t>Forward pass in the PINN model to compute </a:t>
                </a:r>
                <a14:m>
                  <m:oMath xmlns:m="http://schemas.openxmlformats.org/officeDocument/2006/math">
                    <m:r>
                      <a:rPr lang="en-GB" i="1" dirty="0" smtClean="0">
                        <a:latin typeface="Cambria Math" panose="02040503050406030204" pitchFamily="18" charset="0"/>
                      </a:rPr>
                      <m:t>𝑓</m:t>
                    </m:r>
                    <m:r>
                      <a:rPr lang="en-GB" i="1" dirty="0" smtClean="0">
                        <a:latin typeface="Cambria Math" panose="02040503050406030204" pitchFamily="18" charset="0"/>
                      </a:rPr>
                      <m:t>(</m:t>
                    </m:r>
                    <m:r>
                      <a:rPr lang="en-GB" i="1" dirty="0" smtClean="0">
                        <a:latin typeface="Cambria Math" panose="02040503050406030204" pitchFamily="18" charset="0"/>
                      </a:rPr>
                      <m:t>𝑡</m:t>
                    </m:r>
                    <m:r>
                      <a:rPr lang="en-GB" i="1" dirty="0" smtClean="0">
                        <a:latin typeface="Cambria Math" panose="02040503050406030204" pitchFamily="18" charset="0"/>
                      </a:rPr>
                      <m:t>) </m:t>
                    </m:r>
                  </m:oMath>
                </a14:m>
                <a:r>
                  <a:rPr lang="en-GB" dirty="0"/>
                  <a:t>for all values in the </a:t>
                </a:r>
                <a:r>
                  <a:rPr lang="en-GB" dirty="0" err="1"/>
                  <a:t>linspace</a:t>
                </a:r>
                <a:r>
                  <a:rPr lang="en-GB" dirty="0"/>
                  <a:t> array </a:t>
                </a:r>
                <a14:m>
                  <m:oMath xmlns:m="http://schemas.openxmlformats.org/officeDocument/2006/math">
                    <m:r>
                      <a:rPr lang="en-GB" i="1" dirty="0" smtClean="0">
                        <a:latin typeface="Cambria Math" panose="02040503050406030204" pitchFamily="18" charset="0"/>
                      </a:rPr>
                      <m:t>𝑡</m:t>
                    </m:r>
                  </m:oMath>
                </a14:m>
                <a:r>
                  <a:rPr lang="en-GB" dirty="0"/>
                  <a:t>.</a:t>
                </a:r>
              </a:p>
              <a:p>
                <a:pPr marL="0" indent="0">
                  <a:buNone/>
                </a:pPr>
                <a:endParaRPr lang="en-GB" b="1" dirty="0"/>
              </a:p>
            </p:txBody>
          </p:sp>
        </mc:Choice>
        <mc:Fallback xmlns="">
          <p:sp>
            <p:nvSpPr>
              <p:cNvPr id="3" name="Content Placeholder 2">
                <a:extLst>
                  <a:ext uri="{FF2B5EF4-FFF2-40B4-BE49-F238E27FC236}">
                    <a16:creationId xmlns:a16="http://schemas.microsoft.com/office/drawing/2014/main" id="{1BA32315-2B3E-CF90-9E25-1BE84329BF53}"/>
                  </a:ext>
                </a:extLst>
              </p:cNvPr>
              <p:cNvSpPr>
                <a:spLocks noGrp="1" noRot="1" noChangeAspect="1" noMove="1" noResize="1" noEditPoints="1" noAdjustHandles="1" noChangeArrowheads="1" noChangeShapeType="1" noTextEdit="1"/>
              </p:cNvSpPr>
              <p:nvPr>
                <p:ph idx="1"/>
              </p:nvPr>
            </p:nvSpPr>
            <p:spPr>
              <a:blipFill>
                <a:blip r:embed="rId2"/>
                <a:stretch>
                  <a:fillRect l="-1043" t="-2241"/>
                </a:stretch>
              </a:blipFill>
            </p:spPr>
            <p:txBody>
              <a:bodyPr/>
              <a:lstStyle/>
              <a:p>
                <a:r>
                  <a:rPr lang="en-GB">
                    <a:noFill/>
                  </a:rPr>
                  <a:t> </a:t>
                </a:r>
              </a:p>
            </p:txBody>
          </p:sp>
        </mc:Fallback>
      </mc:AlternateContent>
      <p:pic>
        <p:nvPicPr>
          <p:cNvPr id="6" name="Picture 5">
            <a:extLst>
              <a:ext uri="{FF2B5EF4-FFF2-40B4-BE49-F238E27FC236}">
                <a16:creationId xmlns:a16="http://schemas.microsoft.com/office/drawing/2014/main" id="{4E7971FE-EE43-9989-B141-98B822097EED}"/>
              </a:ext>
            </a:extLst>
          </p:cNvPr>
          <p:cNvPicPr>
            <a:picLocks noChangeAspect="1"/>
          </p:cNvPicPr>
          <p:nvPr/>
        </p:nvPicPr>
        <p:blipFill rotWithShape="1">
          <a:blip r:embed="rId3"/>
          <a:srcRect b="61991"/>
          <a:stretch/>
        </p:blipFill>
        <p:spPr>
          <a:xfrm>
            <a:off x="2509337" y="2950725"/>
            <a:ext cx="7173326" cy="1386813"/>
          </a:xfrm>
          <a:prstGeom prst="rect">
            <a:avLst/>
          </a:prstGeom>
        </p:spPr>
      </p:pic>
    </p:spTree>
    <p:extLst>
      <p:ext uri="{BB962C8B-B14F-4D97-AF65-F5344CB8AC3E}">
        <p14:creationId xmlns:p14="http://schemas.microsoft.com/office/powerpoint/2010/main" val="3665945732"/>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2104505-2C3F-0900-9537-5574A04243EF}"/>
              </a:ext>
            </a:extLst>
          </p:cNvPr>
          <p:cNvSpPr>
            <a:spLocks noGrp="1"/>
          </p:cNvSpPr>
          <p:nvPr>
            <p:ph type="title"/>
          </p:nvPr>
        </p:nvSpPr>
        <p:spPr/>
        <p:txBody>
          <a:bodyPr/>
          <a:lstStyle/>
          <a:p>
            <a:r>
              <a:rPr lang="en-GB" dirty="0"/>
              <a:t>Part 1: The PDE loss</a:t>
            </a:r>
          </a:p>
        </p:txBody>
      </p:sp>
      <mc:AlternateContent xmlns:mc="http://schemas.openxmlformats.org/markup-compatibility/2006" xmlns:a14="http://schemas.microsoft.com/office/drawing/2010/main">
        <mc:Choice Requires="a14">
          <p:sp>
            <p:nvSpPr>
              <p:cNvPr id="3" name="Content Placeholder 2">
                <a:extLst>
                  <a:ext uri="{FF2B5EF4-FFF2-40B4-BE49-F238E27FC236}">
                    <a16:creationId xmlns:a16="http://schemas.microsoft.com/office/drawing/2014/main" id="{1BA32315-2B3E-CF90-9E25-1BE84329BF53}"/>
                  </a:ext>
                </a:extLst>
              </p:cNvPr>
              <p:cNvSpPr>
                <a:spLocks noGrp="1"/>
              </p:cNvSpPr>
              <p:nvPr>
                <p:ph idx="1"/>
              </p:nvPr>
            </p:nvSpPr>
            <p:spPr/>
            <p:txBody>
              <a:bodyPr/>
              <a:lstStyle/>
              <a:p>
                <a:r>
                  <a:rPr lang="en-GB" b="1" dirty="0"/>
                  <a:t>Step 4:</a:t>
                </a:r>
                <a:r>
                  <a:rPr lang="en-GB" dirty="0"/>
                  <a:t> Use </a:t>
                </a:r>
                <a:r>
                  <a:rPr lang="en-GB" dirty="0" err="1"/>
                  <a:t>autograd</a:t>
                </a:r>
                <a:r>
                  <a:rPr lang="en-GB" dirty="0"/>
                  <a:t> to compute </a:t>
                </a:r>
                <a14:m>
                  <m:oMath xmlns:m="http://schemas.openxmlformats.org/officeDocument/2006/math">
                    <m:f>
                      <m:fPr>
                        <m:ctrlPr>
                          <a:rPr lang="en-GB" b="0" i="1" dirty="0" smtClean="0">
                            <a:latin typeface="Cambria Math" panose="02040503050406030204" pitchFamily="18" charset="0"/>
                          </a:rPr>
                        </m:ctrlPr>
                      </m:fPr>
                      <m:num>
                        <m:r>
                          <a:rPr lang="en-GB" b="0" i="1" dirty="0" smtClean="0">
                            <a:latin typeface="Cambria Math" panose="02040503050406030204" pitchFamily="18" charset="0"/>
                          </a:rPr>
                          <m:t>𝜕</m:t>
                        </m:r>
                        <m:r>
                          <a:rPr lang="en-GB" i="1" dirty="0" smtClean="0">
                            <a:latin typeface="Cambria Math" panose="02040503050406030204" pitchFamily="18" charset="0"/>
                          </a:rPr>
                          <m:t>𝑓</m:t>
                        </m:r>
                        <m:d>
                          <m:dPr>
                            <m:ctrlPr>
                              <a:rPr lang="en-GB" i="1" dirty="0" smtClean="0">
                                <a:latin typeface="Cambria Math" panose="02040503050406030204" pitchFamily="18" charset="0"/>
                              </a:rPr>
                            </m:ctrlPr>
                          </m:dPr>
                          <m:e>
                            <m:r>
                              <a:rPr lang="en-GB" i="1" dirty="0" smtClean="0">
                                <a:latin typeface="Cambria Math" panose="02040503050406030204" pitchFamily="18" charset="0"/>
                              </a:rPr>
                              <m:t>𝑡</m:t>
                            </m:r>
                          </m:e>
                        </m:d>
                      </m:num>
                      <m:den>
                        <m:r>
                          <a:rPr lang="en-GB" b="0" i="1" dirty="0" smtClean="0">
                            <a:latin typeface="Cambria Math" panose="02040503050406030204" pitchFamily="18" charset="0"/>
                          </a:rPr>
                          <m:t>𝜕</m:t>
                        </m:r>
                        <m:r>
                          <a:rPr lang="en-GB" b="0" i="1" dirty="0" smtClean="0">
                            <a:latin typeface="Cambria Math" panose="02040503050406030204" pitchFamily="18" charset="0"/>
                          </a:rPr>
                          <m:t>𝑡</m:t>
                        </m:r>
                      </m:den>
                    </m:f>
                    <m:r>
                      <a:rPr lang="en-GB" i="1" dirty="0" smtClean="0">
                        <a:latin typeface="Cambria Math" panose="02040503050406030204" pitchFamily="18" charset="0"/>
                      </a:rPr>
                      <m:t> </m:t>
                    </m:r>
                  </m:oMath>
                </a14:m>
                <a:r>
                  <a:rPr lang="en-GB" dirty="0"/>
                  <a:t>for all values in the array </a:t>
                </a:r>
                <a14:m>
                  <m:oMath xmlns:m="http://schemas.openxmlformats.org/officeDocument/2006/math">
                    <m:r>
                      <a:rPr lang="en-GB" i="1" dirty="0" smtClean="0">
                        <a:latin typeface="Cambria Math" panose="02040503050406030204" pitchFamily="18" charset="0"/>
                      </a:rPr>
                      <m:t>𝑡</m:t>
                    </m:r>
                  </m:oMath>
                </a14:m>
                <a:r>
                  <a:rPr lang="en-GB" dirty="0"/>
                  <a:t>.</a:t>
                </a:r>
              </a:p>
              <a:p>
                <a:pPr marL="0" indent="0">
                  <a:buNone/>
                </a:pPr>
                <a:endParaRPr lang="en-GB" b="1" dirty="0"/>
              </a:p>
            </p:txBody>
          </p:sp>
        </mc:Choice>
        <mc:Fallback xmlns="">
          <p:sp>
            <p:nvSpPr>
              <p:cNvPr id="3" name="Content Placeholder 2">
                <a:extLst>
                  <a:ext uri="{FF2B5EF4-FFF2-40B4-BE49-F238E27FC236}">
                    <a16:creationId xmlns:a16="http://schemas.microsoft.com/office/drawing/2014/main" id="{1BA32315-2B3E-CF90-9E25-1BE84329BF53}"/>
                  </a:ext>
                </a:extLst>
              </p:cNvPr>
              <p:cNvSpPr>
                <a:spLocks noGrp="1" noRot="1" noChangeAspect="1" noMove="1" noResize="1" noEditPoints="1" noAdjustHandles="1" noChangeArrowheads="1" noChangeShapeType="1" noTextEdit="1"/>
              </p:cNvSpPr>
              <p:nvPr>
                <p:ph idx="1"/>
              </p:nvPr>
            </p:nvSpPr>
            <p:spPr>
              <a:blipFill>
                <a:blip r:embed="rId2"/>
                <a:stretch>
                  <a:fillRect l="-1043"/>
                </a:stretch>
              </a:blipFill>
            </p:spPr>
            <p:txBody>
              <a:bodyPr/>
              <a:lstStyle/>
              <a:p>
                <a:r>
                  <a:rPr lang="en-GB">
                    <a:noFill/>
                  </a:rPr>
                  <a:t> </a:t>
                </a:r>
              </a:p>
            </p:txBody>
          </p:sp>
        </mc:Fallback>
      </mc:AlternateContent>
      <p:pic>
        <p:nvPicPr>
          <p:cNvPr id="6" name="Picture 5">
            <a:extLst>
              <a:ext uri="{FF2B5EF4-FFF2-40B4-BE49-F238E27FC236}">
                <a16:creationId xmlns:a16="http://schemas.microsoft.com/office/drawing/2014/main" id="{4E7971FE-EE43-9989-B141-98B822097EED}"/>
              </a:ext>
            </a:extLst>
          </p:cNvPr>
          <p:cNvPicPr>
            <a:picLocks noChangeAspect="1"/>
          </p:cNvPicPr>
          <p:nvPr/>
        </p:nvPicPr>
        <p:blipFill rotWithShape="1">
          <a:blip r:embed="rId3"/>
          <a:srcRect b="49460"/>
          <a:stretch/>
        </p:blipFill>
        <p:spPr>
          <a:xfrm>
            <a:off x="2509337" y="2950725"/>
            <a:ext cx="7173326" cy="1844013"/>
          </a:xfrm>
          <a:prstGeom prst="rect">
            <a:avLst/>
          </a:prstGeom>
        </p:spPr>
      </p:pic>
    </p:spTree>
    <p:extLst>
      <p:ext uri="{BB962C8B-B14F-4D97-AF65-F5344CB8AC3E}">
        <p14:creationId xmlns:p14="http://schemas.microsoft.com/office/powerpoint/2010/main" val="3369119701"/>
      </p:ext>
    </p:ext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2104505-2C3F-0900-9537-5574A04243EF}"/>
              </a:ext>
            </a:extLst>
          </p:cNvPr>
          <p:cNvSpPr>
            <a:spLocks noGrp="1"/>
          </p:cNvSpPr>
          <p:nvPr>
            <p:ph type="title"/>
          </p:nvPr>
        </p:nvSpPr>
        <p:spPr/>
        <p:txBody>
          <a:bodyPr/>
          <a:lstStyle/>
          <a:p>
            <a:r>
              <a:rPr lang="en-GB" dirty="0"/>
              <a:t>Part 1: The PDE loss</a:t>
            </a:r>
          </a:p>
        </p:txBody>
      </p:sp>
      <mc:AlternateContent xmlns:mc="http://schemas.openxmlformats.org/markup-compatibility/2006" xmlns:a14="http://schemas.microsoft.com/office/drawing/2010/main">
        <mc:Choice Requires="a14">
          <p:sp>
            <p:nvSpPr>
              <p:cNvPr id="3" name="Content Placeholder 2">
                <a:extLst>
                  <a:ext uri="{FF2B5EF4-FFF2-40B4-BE49-F238E27FC236}">
                    <a16:creationId xmlns:a16="http://schemas.microsoft.com/office/drawing/2014/main" id="{1BA32315-2B3E-CF90-9E25-1BE84329BF53}"/>
                  </a:ext>
                </a:extLst>
              </p:cNvPr>
              <p:cNvSpPr>
                <a:spLocks noGrp="1"/>
              </p:cNvSpPr>
              <p:nvPr>
                <p:ph idx="1"/>
              </p:nvPr>
            </p:nvSpPr>
            <p:spPr/>
            <p:txBody>
              <a:bodyPr/>
              <a:lstStyle/>
              <a:p>
                <a:r>
                  <a:rPr lang="en-GB" b="1" dirty="0"/>
                  <a:t>Step 5:</a:t>
                </a:r>
                <a:r>
                  <a:rPr lang="en-GB" dirty="0"/>
                  <a:t> Compute </a:t>
                </a:r>
                <a14:m>
                  <m:oMath xmlns:m="http://schemas.openxmlformats.org/officeDocument/2006/math">
                    <m:f>
                      <m:fPr>
                        <m:ctrlPr>
                          <a:rPr lang="en-GB" b="0" i="1" dirty="0" smtClean="0">
                            <a:latin typeface="Cambria Math" panose="02040503050406030204" pitchFamily="18" charset="0"/>
                          </a:rPr>
                        </m:ctrlPr>
                      </m:fPr>
                      <m:num>
                        <m:r>
                          <a:rPr lang="en-GB" b="0" i="1" dirty="0" smtClean="0">
                            <a:latin typeface="Cambria Math" panose="02040503050406030204" pitchFamily="18" charset="0"/>
                          </a:rPr>
                          <m:t>𝜕</m:t>
                        </m:r>
                        <m:r>
                          <a:rPr lang="en-GB" i="1" dirty="0" smtClean="0">
                            <a:latin typeface="Cambria Math" panose="02040503050406030204" pitchFamily="18" charset="0"/>
                          </a:rPr>
                          <m:t>𝑓</m:t>
                        </m:r>
                        <m:d>
                          <m:dPr>
                            <m:ctrlPr>
                              <a:rPr lang="en-GB" i="1" dirty="0" smtClean="0">
                                <a:latin typeface="Cambria Math" panose="02040503050406030204" pitchFamily="18" charset="0"/>
                              </a:rPr>
                            </m:ctrlPr>
                          </m:dPr>
                          <m:e>
                            <m:r>
                              <a:rPr lang="en-GB" i="1" dirty="0" smtClean="0">
                                <a:latin typeface="Cambria Math" panose="02040503050406030204" pitchFamily="18" charset="0"/>
                              </a:rPr>
                              <m:t>𝑡</m:t>
                            </m:r>
                          </m:e>
                        </m:d>
                      </m:num>
                      <m:den>
                        <m:r>
                          <a:rPr lang="en-GB" b="0" i="1" dirty="0" smtClean="0">
                            <a:latin typeface="Cambria Math" panose="02040503050406030204" pitchFamily="18" charset="0"/>
                          </a:rPr>
                          <m:t>𝜕</m:t>
                        </m:r>
                        <m:r>
                          <a:rPr lang="en-GB" b="0" i="1" dirty="0" smtClean="0">
                            <a:latin typeface="Cambria Math" panose="02040503050406030204" pitchFamily="18" charset="0"/>
                          </a:rPr>
                          <m:t>𝑡</m:t>
                        </m:r>
                      </m:den>
                    </m:f>
                    <m:r>
                      <a:rPr lang="fr-FR" b="0" i="1" dirty="0" smtClean="0">
                        <a:latin typeface="Cambria Math" panose="02040503050406030204" pitchFamily="18" charset="0"/>
                      </a:rPr>
                      <m:t>=</m:t>
                    </m:r>
                    <m:r>
                      <a:rPr lang="en-GB" b="0" i="1" dirty="0" smtClean="0">
                        <a:latin typeface="Cambria Math" panose="02040503050406030204" pitchFamily="18" charset="0"/>
                      </a:rPr>
                      <m:t>𝑅</m:t>
                    </m:r>
                    <m:d>
                      <m:dPr>
                        <m:ctrlPr>
                          <a:rPr lang="en-GB" b="0" i="1" dirty="0" smtClean="0">
                            <a:latin typeface="Cambria Math" panose="02040503050406030204" pitchFamily="18" charset="0"/>
                          </a:rPr>
                        </m:ctrlPr>
                      </m:dPr>
                      <m:e>
                        <m:sSub>
                          <m:sSubPr>
                            <m:ctrlPr>
                              <a:rPr lang="en-GB" b="0" i="1" dirty="0" smtClean="0">
                                <a:latin typeface="Cambria Math" panose="02040503050406030204" pitchFamily="18" charset="0"/>
                              </a:rPr>
                            </m:ctrlPr>
                          </m:sSubPr>
                          <m:e>
                            <m:r>
                              <a:rPr lang="en-GB" b="0" i="1" dirty="0" smtClean="0">
                                <a:latin typeface="Cambria Math" panose="02040503050406030204" pitchFamily="18" charset="0"/>
                              </a:rPr>
                              <m:t>𝑇</m:t>
                            </m:r>
                          </m:e>
                          <m:sub>
                            <m:r>
                              <a:rPr lang="en-GB" b="0" i="1" dirty="0" smtClean="0">
                                <a:latin typeface="Cambria Math" panose="02040503050406030204" pitchFamily="18" charset="0"/>
                              </a:rPr>
                              <m:t>𝑒𝑛𝑣</m:t>
                            </m:r>
                          </m:sub>
                        </m:sSub>
                        <m:r>
                          <a:rPr lang="en-GB" b="0" i="1" dirty="0" smtClean="0">
                            <a:latin typeface="Cambria Math" panose="02040503050406030204" pitchFamily="18" charset="0"/>
                          </a:rPr>
                          <m:t>−</m:t>
                        </m:r>
                        <m:r>
                          <a:rPr lang="en-GB" b="0" i="1" dirty="0" smtClean="0">
                            <a:latin typeface="Cambria Math" panose="02040503050406030204" pitchFamily="18" charset="0"/>
                          </a:rPr>
                          <m:t>𝑓</m:t>
                        </m:r>
                        <m:d>
                          <m:dPr>
                            <m:ctrlPr>
                              <a:rPr lang="en-GB" b="0" i="1" dirty="0" smtClean="0">
                                <a:latin typeface="Cambria Math" panose="02040503050406030204" pitchFamily="18" charset="0"/>
                              </a:rPr>
                            </m:ctrlPr>
                          </m:dPr>
                          <m:e>
                            <m:r>
                              <a:rPr lang="en-GB" b="0" i="1" dirty="0" smtClean="0">
                                <a:latin typeface="Cambria Math" panose="02040503050406030204" pitchFamily="18" charset="0"/>
                              </a:rPr>
                              <m:t>𝑡</m:t>
                            </m:r>
                          </m:e>
                        </m:d>
                      </m:e>
                    </m:d>
                  </m:oMath>
                </a14:m>
                <a:r>
                  <a:rPr lang="en-GB" dirty="0"/>
                  <a:t> for all values in the array </a:t>
                </a:r>
                <a14:m>
                  <m:oMath xmlns:m="http://schemas.openxmlformats.org/officeDocument/2006/math">
                    <m:r>
                      <a:rPr lang="en-GB" i="1" dirty="0" smtClean="0">
                        <a:latin typeface="Cambria Math" panose="02040503050406030204" pitchFamily="18" charset="0"/>
                      </a:rPr>
                      <m:t>𝑡</m:t>
                    </m:r>
                  </m:oMath>
                </a14:m>
                <a:r>
                  <a:rPr lang="en-GB" dirty="0"/>
                  <a:t>. Ideally, we want this quantity to be as close to 0 as possible.</a:t>
                </a:r>
              </a:p>
              <a:p>
                <a:pPr marL="0" indent="0">
                  <a:buNone/>
                </a:pPr>
                <a:endParaRPr lang="en-GB" b="1" dirty="0"/>
              </a:p>
            </p:txBody>
          </p:sp>
        </mc:Choice>
        <mc:Fallback xmlns="">
          <p:sp>
            <p:nvSpPr>
              <p:cNvPr id="3" name="Content Placeholder 2">
                <a:extLst>
                  <a:ext uri="{FF2B5EF4-FFF2-40B4-BE49-F238E27FC236}">
                    <a16:creationId xmlns:a16="http://schemas.microsoft.com/office/drawing/2014/main" id="{1BA32315-2B3E-CF90-9E25-1BE84329BF53}"/>
                  </a:ext>
                </a:extLst>
              </p:cNvPr>
              <p:cNvSpPr>
                <a:spLocks noGrp="1" noRot="1" noChangeAspect="1" noMove="1" noResize="1" noEditPoints="1" noAdjustHandles="1" noChangeArrowheads="1" noChangeShapeType="1" noTextEdit="1"/>
              </p:cNvSpPr>
              <p:nvPr>
                <p:ph idx="1"/>
              </p:nvPr>
            </p:nvSpPr>
            <p:spPr>
              <a:blipFill>
                <a:blip r:embed="rId2"/>
                <a:stretch>
                  <a:fillRect l="-1043"/>
                </a:stretch>
              </a:blipFill>
            </p:spPr>
            <p:txBody>
              <a:bodyPr/>
              <a:lstStyle/>
              <a:p>
                <a:r>
                  <a:rPr lang="en-GB">
                    <a:noFill/>
                  </a:rPr>
                  <a:t> </a:t>
                </a:r>
              </a:p>
            </p:txBody>
          </p:sp>
        </mc:Fallback>
      </mc:AlternateContent>
      <p:pic>
        <p:nvPicPr>
          <p:cNvPr id="6" name="Picture 5">
            <a:extLst>
              <a:ext uri="{FF2B5EF4-FFF2-40B4-BE49-F238E27FC236}">
                <a16:creationId xmlns:a16="http://schemas.microsoft.com/office/drawing/2014/main" id="{4E7971FE-EE43-9989-B141-98B822097EED}"/>
              </a:ext>
            </a:extLst>
          </p:cNvPr>
          <p:cNvPicPr>
            <a:picLocks noChangeAspect="1"/>
          </p:cNvPicPr>
          <p:nvPr/>
        </p:nvPicPr>
        <p:blipFill rotWithShape="1">
          <a:blip r:embed="rId3"/>
          <a:srcRect b="4571"/>
          <a:stretch/>
        </p:blipFill>
        <p:spPr>
          <a:xfrm>
            <a:off x="2509337" y="2950724"/>
            <a:ext cx="7173326" cy="3481825"/>
          </a:xfrm>
          <a:prstGeom prst="rect">
            <a:avLst/>
          </a:prstGeom>
        </p:spPr>
      </p:pic>
    </p:spTree>
    <p:extLst>
      <p:ext uri="{BB962C8B-B14F-4D97-AF65-F5344CB8AC3E}">
        <p14:creationId xmlns:p14="http://schemas.microsoft.com/office/powerpoint/2010/main" val="1483603211"/>
      </p:ext>
    </p:extLst>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2104505-2C3F-0900-9537-5574A04243EF}"/>
              </a:ext>
            </a:extLst>
          </p:cNvPr>
          <p:cNvSpPr>
            <a:spLocks noGrp="1"/>
          </p:cNvSpPr>
          <p:nvPr>
            <p:ph type="title"/>
          </p:nvPr>
        </p:nvSpPr>
        <p:spPr/>
        <p:txBody>
          <a:bodyPr/>
          <a:lstStyle/>
          <a:p>
            <a:r>
              <a:rPr lang="en-GB" dirty="0"/>
              <a:t>Part 1: The PDE loss</a:t>
            </a:r>
          </a:p>
        </p:txBody>
      </p:sp>
      <mc:AlternateContent xmlns:mc="http://schemas.openxmlformats.org/markup-compatibility/2006" xmlns:a14="http://schemas.microsoft.com/office/drawing/2010/main">
        <mc:Choice Requires="a14">
          <p:sp>
            <p:nvSpPr>
              <p:cNvPr id="3" name="Content Placeholder 2">
                <a:extLst>
                  <a:ext uri="{FF2B5EF4-FFF2-40B4-BE49-F238E27FC236}">
                    <a16:creationId xmlns:a16="http://schemas.microsoft.com/office/drawing/2014/main" id="{1BA32315-2B3E-CF90-9E25-1BE84329BF53}"/>
                  </a:ext>
                </a:extLst>
              </p:cNvPr>
              <p:cNvSpPr>
                <a:spLocks noGrp="1"/>
              </p:cNvSpPr>
              <p:nvPr>
                <p:ph idx="1"/>
              </p:nvPr>
            </p:nvSpPr>
            <p:spPr>
              <a:xfrm>
                <a:off x="838200" y="1383324"/>
                <a:ext cx="10515600" cy="4793640"/>
              </a:xfrm>
            </p:spPr>
            <p:txBody>
              <a:bodyPr/>
              <a:lstStyle/>
              <a:p>
                <a:r>
                  <a:rPr lang="en-GB" b="1" dirty="0"/>
                  <a:t>Step 6:</a:t>
                </a:r>
                <a:r>
                  <a:rPr lang="en-GB" dirty="0"/>
                  <a:t> To do so, we will attempt to minimize the loss </a:t>
                </a:r>
                <a14:m>
                  <m:oMath xmlns:m="http://schemas.openxmlformats.org/officeDocument/2006/math">
                    <m:sSub>
                      <m:sSubPr>
                        <m:ctrlPr>
                          <a:rPr lang="en-GB" i="1" dirty="0" smtClean="0">
                            <a:latin typeface="Cambria Math" panose="02040503050406030204" pitchFamily="18" charset="0"/>
                          </a:rPr>
                        </m:ctrlPr>
                      </m:sSubPr>
                      <m:e>
                        <m:r>
                          <a:rPr lang="en-GB" i="1" dirty="0" smtClean="0">
                            <a:latin typeface="Cambria Math" panose="02040503050406030204" pitchFamily="18" charset="0"/>
                          </a:rPr>
                          <m:t>𝑉</m:t>
                        </m:r>
                      </m:e>
                      <m:sub>
                        <m:r>
                          <a:rPr lang="en-GB" i="1" dirty="0" smtClean="0">
                            <a:latin typeface="Cambria Math" panose="02040503050406030204" pitchFamily="18" charset="0"/>
                          </a:rPr>
                          <m:t>1</m:t>
                        </m:r>
                      </m:sub>
                    </m:sSub>
                  </m:oMath>
                </a14:m>
                <a:r>
                  <a:rPr lang="en-GB" dirty="0"/>
                  <a:t>, below.</a:t>
                </a:r>
              </a:p>
              <a:p>
                <a:pPr marL="0" indent="0">
                  <a:buNone/>
                </a:pPr>
                <a14:m>
                  <m:oMathPara xmlns:m="http://schemas.openxmlformats.org/officeDocument/2006/math">
                    <m:oMathParaPr>
                      <m:jc m:val="centerGroup"/>
                    </m:oMathParaPr>
                    <m:oMath xmlns:m="http://schemas.openxmlformats.org/officeDocument/2006/math">
                      <m:sSub>
                        <m:sSubPr>
                          <m:ctrlPr>
                            <a:rPr lang="en-GB" sz="2600" b="0" i="1" dirty="0" smtClean="0">
                              <a:latin typeface="Cambria Math" panose="02040503050406030204" pitchFamily="18" charset="0"/>
                            </a:rPr>
                          </m:ctrlPr>
                        </m:sSubPr>
                        <m:e>
                          <m:r>
                            <a:rPr lang="en-GB" sz="2600" b="0" i="1" dirty="0" smtClean="0">
                              <a:latin typeface="Cambria Math" panose="02040503050406030204" pitchFamily="18" charset="0"/>
                            </a:rPr>
                            <m:t>𝑉</m:t>
                          </m:r>
                        </m:e>
                        <m:sub>
                          <m:r>
                            <a:rPr lang="en-GB" sz="2600" b="0" i="1" dirty="0" smtClean="0">
                              <a:latin typeface="Cambria Math" panose="02040503050406030204" pitchFamily="18" charset="0"/>
                            </a:rPr>
                            <m:t>1</m:t>
                          </m:r>
                        </m:sub>
                      </m:sSub>
                      <m:r>
                        <a:rPr lang="en-GB" sz="2600" b="0" i="0" dirty="0" smtClean="0">
                          <a:latin typeface="Cambria Math" panose="02040503050406030204" pitchFamily="18" charset="0"/>
                        </a:rPr>
                        <m:t>=</m:t>
                      </m:r>
                      <m:f>
                        <m:fPr>
                          <m:ctrlPr>
                            <a:rPr lang="en-GB" sz="2600" i="1" dirty="0" smtClean="0">
                              <a:latin typeface="Cambria Math" panose="02040503050406030204" pitchFamily="18" charset="0"/>
                            </a:rPr>
                          </m:ctrlPr>
                        </m:fPr>
                        <m:num>
                          <m:r>
                            <a:rPr lang="en-GB" sz="2600" b="0" i="1" dirty="0" smtClean="0">
                              <a:latin typeface="Cambria Math" panose="02040503050406030204" pitchFamily="18" charset="0"/>
                            </a:rPr>
                            <m:t>1</m:t>
                          </m:r>
                        </m:num>
                        <m:den>
                          <m:r>
                            <a:rPr lang="en-GB" sz="2600" b="0" i="1" dirty="0" smtClean="0">
                              <a:latin typeface="Cambria Math" panose="02040503050406030204" pitchFamily="18" charset="0"/>
                            </a:rPr>
                            <m:t>𝑁</m:t>
                          </m:r>
                        </m:den>
                      </m:f>
                      <m:nary>
                        <m:naryPr>
                          <m:chr m:val="∑"/>
                          <m:ctrlPr>
                            <a:rPr lang="en-GB" sz="2600" b="0" i="1" dirty="0" smtClean="0">
                              <a:latin typeface="Cambria Math" panose="02040503050406030204" pitchFamily="18" charset="0"/>
                            </a:rPr>
                          </m:ctrlPr>
                        </m:naryPr>
                        <m:sub>
                          <m:r>
                            <a:rPr lang="en-GB" sz="2600" b="0" i="1" dirty="0" smtClean="0">
                              <a:latin typeface="Cambria Math" panose="02040503050406030204" pitchFamily="18" charset="0"/>
                            </a:rPr>
                            <m:t>𝑖</m:t>
                          </m:r>
                          <m:r>
                            <a:rPr lang="en-GB" sz="2600" b="0" i="1" dirty="0" smtClean="0">
                              <a:latin typeface="Cambria Math" panose="02040503050406030204" pitchFamily="18" charset="0"/>
                            </a:rPr>
                            <m:t>=1</m:t>
                          </m:r>
                        </m:sub>
                        <m:sup>
                          <m:r>
                            <a:rPr lang="en-GB" sz="2600" b="0" i="1" dirty="0" smtClean="0">
                              <a:latin typeface="Cambria Math" panose="02040503050406030204" pitchFamily="18" charset="0"/>
                            </a:rPr>
                            <m:t>𝑁</m:t>
                          </m:r>
                        </m:sup>
                        <m:e>
                          <m:sSup>
                            <m:sSupPr>
                              <m:ctrlPr>
                                <a:rPr lang="en-GB" sz="2600" b="0" i="1" dirty="0" smtClean="0">
                                  <a:latin typeface="Cambria Math" panose="02040503050406030204" pitchFamily="18" charset="0"/>
                                </a:rPr>
                              </m:ctrlPr>
                            </m:sSupPr>
                            <m:e>
                              <m:d>
                                <m:dPr>
                                  <m:ctrlPr>
                                    <a:rPr lang="en-GB" sz="2600" b="0" i="1" dirty="0" smtClean="0">
                                      <a:latin typeface="Cambria Math" panose="02040503050406030204" pitchFamily="18" charset="0"/>
                                    </a:rPr>
                                  </m:ctrlPr>
                                </m:dPr>
                                <m:e>
                                  <m:f>
                                    <m:fPr>
                                      <m:ctrlPr>
                                        <a:rPr lang="en-GB" sz="2600" i="1" dirty="0">
                                          <a:latin typeface="Cambria Math" panose="02040503050406030204" pitchFamily="18" charset="0"/>
                                        </a:rPr>
                                      </m:ctrlPr>
                                    </m:fPr>
                                    <m:num>
                                      <m:r>
                                        <a:rPr lang="en-GB" sz="2600" i="1" dirty="0">
                                          <a:latin typeface="Cambria Math" panose="02040503050406030204" pitchFamily="18" charset="0"/>
                                        </a:rPr>
                                        <m:t>𝜕</m:t>
                                      </m:r>
                                      <m:r>
                                        <a:rPr lang="en-GB" sz="2600" i="1" dirty="0">
                                          <a:latin typeface="Cambria Math" panose="02040503050406030204" pitchFamily="18" charset="0"/>
                                        </a:rPr>
                                        <m:t>𝑓</m:t>
                                      </m:r>
                                      <m:d>
                                        <m:dPr>
                                          <m:ctrlPr>
                                            <a:rPr lang="en-GB" sz="2600" i="1" dirty="0">
                                              <a:latin typeface="Cambria Math" panose="02040503050406030204" pitchFamily="18" charset="0"/>
                                            </a:rPr>
                                          </m:ctrlPr>
                                        </m:dPr>
                                        <m:e>
                                          <m:sSub>
                                            <m:sSubPr>
                                              <m:ctrlPr>
                                                <a:rPr lang="en-GB" sz="2600" b="0" i="1" dirty="0" smtClean="0">
                                                  <a:latin typeface="Cambria Math" panose="02040503050406030204" pitchFamily="18" charset="0"/>
                                                </a:rPr>
                                              </m:ctrlPr>
                                            </m:sSubPr>
                                            <m:e>
                                              <m:r>
                                                <a:rPr lang="en-GB" sz="2600" i="1" dirty="0">
                                                  <a:latin typeface="Cambria Math" panose="02040503050406030204" pitchFamily="18" charset="0"/>
                                                </a:rPr>
                                                <m:t>𝑡</m:t>
                                              </m:r>
                                            </m:e>
                                            <m:sub>
                                              <m:r>
                                                <a:rPr lang="en-GB" sz="2600" b="0" i="1" dirty="0" smtClean="0">
                                                  <a:latin typeface="Cambria Math" panose="02040503050406030204" pitchFamily="18" charset="0"/>
                                                </a:rPr>
                                                <m:t>𝑖</m:t>
                                              </m:r>
                                            </m:sub>
                                          </m:sSub>
                                        </m:e>
                                      </m:d>
                                    </m:num>
                                    <m:den>
                                      <m:r>
                                        <a:rPr lang="en-GB" sz="2600" i="1" dirty="0">
                                          <a:latin typeface="Cambria Math" panose="02040503050406030204" pitchFamily="18" charset="0"/>
                                        </a:rPr>
                                        <m:t>𝜕</m:t>
                                      </m:r>
                                      <m:r>
                                        <a:rPr lang="en-GB" sz="2600" i="1" dirty="0">
                                          <a:latin typeface="Cambria Math" panose="02040503050406030204" pitchFamily="18" charset="0"/>
                                        </a:rPr>
                                        <m:t>𝑡</m:t>
                                      </m:r>
                                    </m:den>
                                  </m:f>
                                  <m:r>
                                    <a:rPr lang="en-GB" sz="2600" i="1" dirty="0">
                                      <a:latin typeface="Cambria Math" panose="02040503050406030204" pitchFamily="18" charset="0"/>
                                    </a:rPr>
                                    <m:t> −</m:t>
                                  </m:r>
                                  <m:r>
                                    <a:rPr lang="en-GB" sz="2600" i="1" dirty="0">
                                      <a:latin typeface="Cambria Math" panose="02040503050406030204" pitchFamily="18" charset="0"/>
                                    </a:rPr>
                                    <m:t>𝑅</m:t>
                                  </m:r>
                                  <m:d>
                                    <m:dPr>
                                      <m:ctrlPr>
                                        <a:rPr lang="en-GB" sz="2600" i="1" dirty="0">
                                          <a:latin typeface="Cambria Math" panose="02040503050406030204" pitchFamily="18" charset="0"/>
                                        </a:rPr>
                                      </m:ctrlPr>
                                    </m:dPr>
                                    <m:e>
                                      <m:sSub>
                                        <m:sSubPr>
                                          <m:ctrlPr>
                                            <a:rPr lang="en-GB" sz="2600" i="1" dirty="0">
                                              <a:latin typeface="Cambria Math" panose="02040503050406030204" pitchFamily="18" charset="0"/>
                                            </a:rPr>
                                          </m:ctrlPr>
                                        </m:sSubPr>
                                        <m:e>
                                          <m:r>
                                            <a:rPr lang="en-GB" sz="2600" i="1" dirty="0">
                                              <a:latin typeface="Cambria Math" panose="02040503050406030204" pitchFamily="18" charset="0"/>
                                            </a:rPr>
                                            <m:t>𝑇</m:t>
                                          </m:r>
                                        </m:e>
                                        <m:sub>
                                          <m:r>
                                            <a:rPr lang="en-GB" sz="2600" i="1" dirty="0">
                                              <a:latin typeface="Cambria Math" panose="02040503050406030204" pitchFamily="18" charset="0"/>
                                            </a:rPr>
                                            <m:t>𝑒𝑛𝑣</m:t>
                                          </m:r>
                                        </m:sub>
                                      </m:sSub>
                                      <m:r>
                                        <a:rPr lang="en-GB" sz="2600" i="1" dirty="0">
                                          <a:latin typeface="Cambria Math" panose="02040503050406030204" pitchFamily="18" charset="0"/>
                                        </a:rPr>
                                        <m:t>−</m:t>
                                      </m:r>
                                      <m:r>
                                        <a:rPr lang="en-GB" sz="2600" i="1" dirty="0">
                                          <a:latin typeface="Cambria Math" panose="02040503050406030204" pitchFamily="18" charset="0"/>
                                        </a:rPr>
                                        <m:t>𝑓</m:t>
                                      </m:r>
                                      <m:d>
                                        <m:dPr>
                                          <m:ctrlPr>
                                            <a:rPr lang="en-GB" sz="2600" i="1" dirty="0">
                                              <a:latin typeface="Cambria Math" panose="02040503050406030204" pitchFamily="18" charset="0"/>
                                            </a:rPr>
                                          </m:ctrlPr>
                                        </m:dPr>
                                        <m:e>
                                          <m:sSub>
                                            <m:sSubPr>
                                              <m:ctrlPr>
                                                <a:rPr lang="en-GB" sz="2600" b="0" i="1" dirty="0" smtClean="0">
                                                  <a:latin typeface="Cambria Math" panose="02040503050406030204" pitchFamily="18" charset="0"/>
                                                </a:rPr>
                                              </m:ctrlPr>
                                            </m:sSubPr>
                                            <m:e>
                                              <m:r>
                                                <a:rPr lang="en-GB" sz="2600" i="1" dirty="0">
                                                  <a:latin typeface="Cambria Math" panose="02040503050406030204" pitchFamily="18" charset="0"/>
                                                </a:rPr>
                                                <m:t>𝑡</m:t>
                                              </m:r>
                                            </m:e>
                                            <m:sub>
                                              <m:r>
                                                <a:rPr lang="en-GB" sz="2600" b="0" i="1" dirty="0" smtClean="0">
                                                  <a:latin typeface="Cambria Math" panose="02040503050406030204" pitchFamily="18" charset="0"/>
                                                </a:rPr>
                                                <m:t>𝑖</m:t>
                                              </m:r>
                                            </m:sub>
                                          </m:sSub>
                                        </m:e>
                                      </m:d>
                                    </m:e>
                                  </m:d>
                                </m:e>
                              </m:d>
                            </m:e>
                            <m:sup>
                              <m:r>
                                <a:rPr lang="en-GB" sz="2600" b="0" i="1" dirty="0" smtClean="0">
                                  <a:latin typeface="Cambria Math" panose="02040503050406030204" pitchFamily="18" charset="0"/>
                                </a:rPr>
                                <m:t>2</m:t>
                              </m:r>
                            </m:sup>
                          </m:sSup>
                        </m:e>
                      </m:nary>
                    </m:oMath>
                  </m:oMathPara>
                </a14:m>
                <a:endParaRPr lang="en-GB" sz="2600" dirty="0"/>
              </a:p>
            </p:txBody>
          </p:sp>
        </mc:Choice>
        <mc:Fallback xmlns="">
          <p:sp>
            <p:nvSpPr>
              <p:cNvPr id="3" name="Content Placeholder 2">
                <a:extLst>
                  <a:ext uri="{FF2B5EF4-FFF2-40B4-BE49-F238E27FC236}">
                    <a16:creationId xmlns:a16="http://schemas.microsoft.com/office/drawing/2014/main" id="{1BA32315-2B3E-CF90-9E25-1BE84329BF53}"/>
                  </a:ext>
                </a:extLst>
              </p:cNvPr>
              <p:cNvSpPr>
                <a:spLocks noGrp="1" noRot="1" noChangeAspect="1" noMove="1" noResize="1" noEditPoints="1" noAdjustHandles="1" noChangeArrowheads="1" noChangeShapeType="1" noTextEdit="1"/>
              </p:cNvSpPr>
              <p:nvPr>
                <p:ph idx="1"/>
              </p:nvPr>
            </p:nvSpPr>
            <p:spPr>
              <a:xfrm>
                <a:off x="838200" y="1383324"/>
                <a:ext cx="10515600" cy="4793640"/>
              </a:xfrm>
              <a:blipFill>
                <a:blip r:embed="rId2"/>
                <a:stretch>
                  <a:fillRect l="-1043" t="-2163"/>
                </a:stretch>
              </a:blipFill>
            </p:spPr>
            <p:txBody>
              <a:bodyPr/>
              <a:lstStyle/>
              <a:p>
                <a:r>
                  <a:rPr lang="en-GB">
                    <a:noFill/>
                  </a:rPr>
                  <a:t> </a:t>
                </a:r>
              </a:p>
            </p:txBody>
          </p:sp>
        </mc:Fallback>
      </mc:AlternateContent>
      <p:pic>
        <p:nvPicPr>
          <p:cNvPr id="6" name="Picture 5">
            <a:extLst>
              <a:ext uri="{FF2B5EF4-FFF2-40B4-BE49-F238E27FC236}">
                <a16:creationId xmlns:a16="http://schemas.microsoft.com/office/drawing/2014/main" id="{4E7971FE-EE43-9989-B141-98B822097EED}"/>
              </a:ext>
            </a:extLst>
          </p:cNvPr>
          <p:cNvPicPr>
            <a:picLocks noChangeAspect="1"/>
          </p:cNvPicPr>
          <p:nvPr/>
        </p:nvPicPr>
        <p:blipFill>
          <a:blip r:embed="rId3"/>
          <a:stretch>
            <a:fillRect/>
          </a:stretch>
        </p:blipFill>
        <p:spPr>
          <a:xfrm>
            <a:off x="2509337" y="2950725"/>
            <a:ext cx="7173326" cy="3648584"/>
          </a:xfrm>
          <a:prstGeom prst="rect">
            <a:avLst/>
          </a:prstGeom>
        </p:spPr>
      </p:pic>
    </p:spTree>
    <p:extLst>
      <p:ext uri="{BB962C8B-B14F-4D97-AF65-F5344CB8AC3E}">
        <p14:creationId xmlns:p14="http://schemas.microsoft.com/office/powerpoint/2010/main" val="1394641164"/>
      </p:ext>
    </p:extLst>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DCDFE6A-A341-0450-BA15-5D2D68869071}"/>
              </a:ext>
            </a:extLst>
          </p:cNvPr>
          <p:cNvSpPr>
            <a:spLocks noGrp="1"/>
          </p:cNvSpPr>
          <p:nvPr>
            <p:ph type="title"/>
          </p:nvPr>
        </p:nvSpPr>
        <p:spPr/>
        <p:txBody>
          <a:bodyPr/>
          <a:lstStyle/>
          <a:p>
            <a:r>
              <a:rPr lang="en-GB" dirty="0"/>
              <a:t>Part 2: The initial condition loss</a:t>
            </a:r>
          </a:p>
        </p:txBody>
      </p:sp>
      <mc:AlternateContent xmlns:mc="http://schemas.openxmlformats.org/markup-compatibility/2006" xmlns:a14="http://schemas.microsoft.com/office/drawing/2010/main">
        <mc:Choice Requires="a14">
          <p:sp>
            <p:nvSpPr>
              <p:cNvPr id="3" name="Content Placeholder 2">
                <a:extLst>
                  <a:ext uri="{FF2B5EF4-FFF2-40B4-BE49-F238E27FC236}">
                    <a16:creationId xmlns:a16="http://schemas.microsoft.com/office/drawing/2014/main" id="{7E710B3A-4218-CB0F-29B7-5DE0B007154B}"/>
                  </a:ext>
                </a:extLst>
              </p:cNvPr>
              <p:cNvSpPr>
                <a:spLocks noGrp="1"/>
              </p:cNvSpPr>
              <p:nvPr>
                <p:ph idx="1"/>
              </p:nvPr>
            </p:nvSpPr>
            <p:spPr/>
            <p:txBody>
              <a:bodyPr/>
              <a:lstStyle/>
              <a:p>
                <a:pPr marL="0" indent="0">
                  <a:buNone/>
                </a:pPr>
                <a:r>
                  <a:rPr lang="en-GB" dirty="0"/>
                  <a:t>The initial condition loss is much simpler to compute.</a:t>
                </a:r>
              </a:p>
              <a:p>
                <a:r>
                  <a:rPr lang="en-GB" b="1" dirty="0"/>
                  <a:t>Step 1: </a:t>
                </a:r>
                <a:r>
                  <a:rPr lang="en-GB" dirty="0"/>
                  <a:t>Forward pass on the model with a single value corresponding to our initial condition. In pour case, that is </a:t>
                </a:r>
                <a14:m>
                  <m:oMath xmlns:m="http://schemas.openxmlformats.org/officeDocument/2006/math">
                    <m:r>
                      <a:rPr lang="en-GB" i="1" dirty="0" smtClean="0">
                        <a:latin typeface="Cambria Math" panose="02040503050406030204" pitchFamily="18" charset="0"/>
                      </a:rPr>
                      <m:t>𝑡</m:t>
                    </m:r>
                    <m:r>
                      <a:rPr lang="en-GB" i="1" dirty="0" smtClean="0">
                        <a:latin typeface="Cambria Math" panose="02040503050406030204" pitchFamily="18" charset="0"/>
                      </a:rPr>
                      <m:t> = 0</m:t>
                    </m:r>
                  </m:oMath>
                </a14:m>
                <a:r>
                  <a:rPr lang="en-GB" dirty="0"/>
                  <a:t>, and we get </a:t>
                </a:r>
                <a14:m>
                  <m:oMath xmlns:m="http://schemas.openxmlformats.org/officeDocument/2006/math">
                    <m:r>
                      <a:rPr lang="en-GB" i="1" dirty="0" smtClean="0">
                        <a:latin typeface="Cambria Math" panose="02040503050406030204" pitchFamily="18" charset="0"/>
                      </a:rPr>
                      <m:t>𝑓</m:t>
                    </m:r>
                    <m:r>
                      <a:rPr lang="en-GB" i="1" dirty="0" smtClean="0">
                        <a:latin typeface="Cambria Math" panose="02040503050406030204" pitchFamily="18" charset="0"/>
                      </a:rPr>
                      <m:t>(0)</m:t>
                    </m:r>
                  </m:oMath>
                </a14:m>
                <a:r>
                  <a:rPr lang="en-GB" dirty="0"/>
                  <a:t>.</a:t>
                </a:r>
              </a:p>
              <a:p>
                <a:r>
                  <a:rPr lang="en-GB" b="1" dirty="0"/>
                  <a:t>Step 2: </a:t>
                </a:r>
                <a:r>
                  <a:rPr lang="en-GB" dirty="0"/>
                  <a:t>Check if </a:t>
                </a:r>
                <a14:m>
                  <m:oMath xmlns:m="http://schemas.openxmlformats.org/officeDocument/2006/math">
                    <m:r>
                      <a:rPr lang="en-GB" i="1" dirty="0" smtClean="0">
                        <a:latin typeface="Cambria Math" panose="02040503050406030204" pitchFamily="18" charset="0"/>
                      </a:rPr>
                      <m:t>𝑓</m:t>
                    </m:r>
                    <m:r>
                      <a:rPr lang="en-GB" i="1" dirty="0" smtClean="0">
                        <a:latin typeface="Cambria Math" panose="02040503050406030204" pitchFamily="18" charset="0"/>
                      </a:rPr>
                      <m:t>(0) </m:t>
                    </m:r>
                  </m:oMath>
                </a14:m>
                <a:r>
                  <a:rPr lang="en-GB" dirty="0"/>
                  <a:t>matches the initial temperature </a:t>
                </a:r>
                <a14:m>
                  <m:oMath xmlns:m="http://schemas.openxmlformats.org/officeDocument/2006/math">
                    <m:sSub>
                      <m:sSubPr>
                        <m:ctrlPr>
                          <a:rPr lang="en-GB" i="1" dirty="0" smtClean="0">
                            <a:latin typeface="Cambria Math" panose="02040503050406030204" pitchFamily="18" charset="0"/>
                          </a:rPr>
                        </m:ctrlPr>
                      </m:sSubPr>
                      <m:e>
                        <m:r>
                          <a:rPr lang="en-GB" i="1" dirty="0" smtClean="0">
                            <a:latin typeface="Cambria Math" panose="02040503050406030204" pitchFamily="18" charset="0"/>
                          </a:rPr>
                          <m:t>𝑇</m:t>
                        </m:r>
                      </m:e>
                      <m:sub>
                        <m:r>
                          <a:rPr lang="en-GB" i="1" dirty="0" smtClean="0">
                            <a:latin typeface="Cambria Math" panose="02040503050406030204" pitchFamily="18" charset="0"/>
                          </a:rPr>
                          <m:t>0</m:t>
                        </m:r>
                      </m:sub>
                    </m:sSub>
                  </m:oMath>
                </a14:m>
                <a:r>
                  <a:rPr lang="en-GB" dirty="0"/>
                  <a:t>.</a:t>
                </a:r>
              </a:p>
              <a:p>
                <a:r>
                  <a:rPr lang="en-GB" b="1" dirty="0"/>
                  <a:t>Step 3: </a:t>
                </a:r>
                <a:r>
                  <a:rPr lang="en-GB" dirty="0"/>
                  <a:t>To encourage the model to meet this initial condition, we will define the loss </a:t>
                </a:r>
                <a14:m>
                  <m:oMath xmlns:m="http://schemas.openxmlformats.org/officeDocument/2006/math">
                    <m:sSub>
                      <m:sSubPr>
                        <m:ctrlPr>
                          <a:rPr lang="en-GB" i="1" dirty="0" smtClean="0">
                            <a:latin typeface="Cambria Math" panose="02040503050406030204" pitchFamily="18" charset="0"/>
                          </a:rPr>
                        </m:ctrlPr>
                      </m:sSubPr>
                      <m:e>
                        <m:r>
                          <a:rPr lang="en-GB" i="1" dirty="0" smtClean="0">
                            <a:latin typeface="Cambria Math" panose="02040503050406030204" pitchFamily="18" charset="0"/>
                          </a:rPr>
                          <m:t>𝑉</m:t>
                        </m:r>
                      </m:e>
                      <m:sub>
                        <m:r>
                          <a:rPr lang="en-GB" i="1" dirty="0" smtClean="0">
                            <a:latin typeface="Cambria Math" panose="02040503050406030204" pitchFamily="18" charset="0"/>
                          </a:rPr>
                          <m:t>2</m:t>
                        </m:r>
                      </m:sub>
                    </m:sSub>
                  </m:oMath>
                </a14:m>
                <a:r>
                  <a:rPr lang="en-GB" dirty="0"/>
                  <a:t> as </a:t>
                </a:r>
                <a14:m>
                  <m:oMath xmlns:m="http://schemas.openxmlformats.org/officeDocument/2006/math">
                    <m:sSup>
                      <m:sSupPr>
                        <m:ctrlPr>
                          <a:rPr lang="en-GB" b="0" i="1" dirty="0" smtClean="0">
                            <a:latin typeface="Cambria Math" panose="02040503050406030204" pitchFamily="18" charset="0"/>
                          </a:rPr>
                        </m:ctrlPr>
                      </m:sSupPr>
                      <m:e>
                        <m:sSub>
                          <m:sSubPr>
                            <m:ctrlPr>
                              <a:rPr lang="en-GB" b="0" i="1" dirty="0" smtClean="0">
                                <a:latin typeface="Cambria Math" panose="02040503050406030204" pitchFamily="18" charset="0"/>
                              </a:rPr>
                            </m:ctrlPr>
                          </m:sSubPr>
                          <m:e>
                            <m:r>
                              <a:rPr lang="en-GB" b="0" i="1" dirty="0" smtClean="0">
                                <a:latin typeface="Cambria Math" panose="02040503050406030204" pitchFamily="18" charset="0"/>
                              </a:rPr>
                              <m:t>𝑉</m:t>
                            </m:r>
                          </m:e>
                          <m:sub>
                            <m:r>
                              <a:rPr lang="en-GB" b="0" i="1" dirty="0" smtClean="0">
                                <a:latin typeface="Cambria Math" panose="02040503050406030204" pitchFamily="18" charset="0"/>
                              </a:rPr>
                              <m:t>2</m:t>
                            </m:r>
                          </m:sub>
                        </m:sSub>
                        <m:r>
                          <a:rPr lang="en-GB" b="0" i="1" dirty="0" smtClean="0">
                            <a:latin typeface="Cambria Math" panose="02040503050406030204" pitchFamily="18" charset="0"/>
                          </a:rPr>
                          <m:t>=</m:t>
                        </m:r>
                        <m:d>
                          <m:dPr>
                            <m:ctrlPr>
                              <a:rPr lang="en-GB" b="0" i="1" dirty="0" smtClean="0">
                                <a:latin typeface="Cambria Math" panose="02040503050406030204" pitchFamily="18" charset="0"/>
                              </a:rPr>
                            </m:ctrlPr>
                          </m:dPr>
                          <m:e>
                            <m:r>
                              <a:rPr lang="en-GB" b="0" i="1" dirty="0" smtClean="0">
                                <a:latin typeface="Cambria Math" panose="02040503050406030204" pitchFamily="18" charset="0"/>
                              </a:rPr>
                              <m:t>𝑓</m:t>
                            </m:r>
                            <m:d>
                              <m:dPr>
                                <m:ctrlPr>
                                  <a:rPr lang="en-GB" b="0" i="1" dirty="0" smtClean="0">
                                    <a:latin typeface="Cambria Math" panose="02040503050406030204" pitchFamily="18" charset="0"/>
                                  </a:rPr>
                                </m:ctrlPr>
                              </m:dPr>
                              <m:e>
                                <m:r>
                                  <a:rPr lang="en-GB" b="0" i="1" dirty="0" smtClean="0">
                                    <a:latin typeface="Cambria Math" panose="02040503050406030204" pitchFamily="18" charset="0"/>
                                  </a:rPr>
                                  <m:t>0</m:t>
                                </m:r>
                              </m:e>
                            </m:d>
                            <m:r>
                              <a:rPr lang="en-GB" b="0" i="1" dirty="0" smtClean="0">
                                <a:latin typeface="Cambria Math" panose="02040503050406030204" pitchFamily="18" charset="0"/>
                              </a:rPr>
                              <m:t> −</m:t>
                            </m:r>
                            <m:sSub>
                              <m:sSubPr>
                                <m:ctrlPr>
                                  <a:rPr lang="en-GB" b="0" i="1" dirty="0" smtClean="0">
                                    <a:latin typeface="Cambria Math" panose="02040503050406030204" pitchFamily="18" charset="0"/>
                                  </a:rPr>
                                </m:ctrlPr>
                              </m:sSubPr>
                              <m:e>
                                <m:r>
                                  <a:rPr lang="en-GB" b="0" i="1" dirty="0" smtClean="0">
                                    <a:latin typeface="Cambria Math" panose="02040503050406030204" pitchFamily="18" charset="0"/>
                                  </a:rPr>
                                  <m:t>𝑇</m:t>
                                </m:r>
                              </m:e>
                              <m:sub>
                                <m:r>
                                  <a:rPr lang="en-GB" b="0" i="1" dirty="0" smtClean="0">
                                    <a:latin typeface="Cambria Math" panose="02040503050406030204" pitchFamily="18" charset="0"/>
                                  </a:rPr>
                                  <m:t>0</m:t>
                                </m:r>
                              </m:sub>
                            </m:sSub>
                          </m:e>
                        </m:d>
                      </m:e>
                      <m:sup>
                        <m:r>
                          <a:rPr lang="en-GB" b="0" i="1" dirty="0" smtClean="0">
                            <a:latin typeface="Cambria Math" panose="02040503050406030204" pitchFamily="18" charset="0"/>
                          </a:rPr>
                          <m:t>2</m:t>
                        </m:r>
                      </m:sup>
                    </m:sSup>
                  </m:oMath>
                </a14:m>
                <a:r>
                  <a:rPr lang="en-GB" dirty="0"/>
                  <a:t>. Minimizing </a:t>
                </a:r>
                <a14:m>
                  <m:oMath xmlns:m="http://schemas.openxmlformats.org/officeDocument/2006/math">
                    <m:sSub>
                      <m:sSubPr>
                        <m:ctrlPr>
                          <a:rPr lang="en-GB" i="1" dirty="0" smtClean="0">
                            <a:latin typeface="Cambria Math" panose="02040503050406030204" pitchFamily="18" charset="0"/>
                          </a:rPr>
                        </m:ctrlPr>
                      </m:sSubPr>
                      <m:e>
                        <m:r>
                          <a:rPr lang="en-GB" i="1" dirty="0" smtClean="0">
                            <a:latin typeface="Cambria Math" panose="02040503050406030204" pitchFamily="18" charset="0"/>
                          </a:rPr>
                          <m:t>𝑉</m:t>
                        </m:r>
                      </m:e>
                      <m:sub>
                        <m:r>
                          <a:rPr lang="en-GB" i="1" dirty="0" smtClean="0">
                            <a:latin typeface="Cambria Math" panose="02040503050406030204" pitchFamily="18" charset="0"/>
                          </a:rPr>
                          <m:t>2</m:t>
                        </m:r>
                      </m:sub>
                    </m:sSub>
                    <m:r>
                      <a:rPr lang="en-GB" i="1" dirty="0" smtClean="0">
                        <a:latin typeface="Cambria Math" panose="02040503050406030204" pitchFamily="18" charset="0"/>
                      </a:rPr>
                      <m:t> </m:t>
                    </m:r>
                  </m:oMath>
                </a14:m>
                <a:r>
                  <a:rPr lang="en-GB" dirty="0"/>
                  <a:t>and bringing it to 0 is equivalent to having the model satisfy the initial condition!</a:t>
                </a:r>
              </a:p>
              <a:p>
                <a:endParaRPr lang="en-GB" dirty="0"/>
              </a:p>
              <a:p>
                <a:pPr marL="0" indent="0">
                  <a:buNone/>
                </a:pPr>
                <a:endParaRPr lang="en-GB" dirty="0"/>
              </a:p>
            </p:txBody>
          </p:sp>
        </mc:Choice>
        <mc:Fallback xmlns="">
          <p:sp>
            <p:nvSpPr>
              <p:cNvPr id="3" name="Content Placeholder 2">
                <a:extLst>
                  <a:ext uri="{FF2B5EF4-FFF2-40B4-BE49-F238E27FC236}">
                    <a16:creationId xmlns:a16="http://schemas.microsoft.com/office/drawing/2014/main" id="{7E710B3A-4218-CB0F-29B7-5DE0B007154B}"/>
                  </a:ext>
                </a:extLst>
              </p:cNvPr>
              <p:cNvSpPr>
                <a:spLocks noGrp="1" noRot="1" noChangeAspect="1" noMove="1" noResize="1" noEditPoints="1" noAdjustHandles="1" noChangeArrowheads="1" noChangeShapeType="1" noTextEdit="1"/>
              </p:cNvSpPr>
              <p:nvPr>
                <p:ph idx="1"/>
              </p:nvPr>
            </p:nvSpPr>
            <p:spPr>
              <a:blipFill>
                <a:blip r:embed="rId2"/>
                <a:stretch>
                  <a:fillRect l="-1217" t="-2241" r="-290"/>
                </a:stretch>
              </a:blipFill>
            </p:spPr>
            <p:txBody>
              <a:bodyPr/>
              <a:lstStyle/>
              <a:p>
                <a:r>
                  <a:rPr lang="en-GB">
                    <a:noFill/>
                  </a:rPr>
                  <a:t> </a:t>
                </a:r>
              </a:p>
            </p:txBody>
          </p:sp>
        </mc:Fallback>
      </mc:AlternateContent>
      <p:pic>
        <p:nvPicPr>
          <p:cNvPr id="5" name="Picture 4">
            <a:extLst>
              <a:ext uri="{FF2B5EF4-FFF2-40B4-BE49-F238E27FC236}">
                <a16:creationId xmlns:a16="http://schemas.microsoft.com/office/drawing/2014/main" id="{4B0B60A8-FA71-0046-9F39-50021E5B0255}"/>
              </a:ext>
            </a:extLst>
          </p:cNvPr>
          <p:cNvPicPr>
            <a:picLocks noChangeAspect="1"/>
          </p:cNvPicPr>
          <p:nvPr/>
        </p:nvPicPr>
        <p:blipFill>
          <a:blip r:embed="rId3"/>
          <a:stretch>
            <a:fillRect/>
          </a:stretch>
        </p:blipFill>
        <p:spPr>
          <a:xfrm>
            <a:off x="1644161" y="5252719"/>
            <a:ext cx="8903677" cy="1240156"/>
          </a:xfrm>
          <a:prstGeom prst="rect">
            <a:avLst/>
          </a:prstGeom>
        </p:spPr>
      </p:pic>
    </p:spTree>
    <p:extLst>
      <p:ext uri="{BB962C8B-B14F-4D97-AF65-F5344CB8AC3E}">
        <p14:creationId xmlns:p14="http://schemas.microsoft.com/office/powerpoint/2010/main" val="1818636486"/>
      </p:ext>
    </p:extLst>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DCDFE6A-A341-0450-BA15-5D2D68869071}"/>
              </a:ext>
            </a:extLst>
          </p:cNvPr>
          <p:cNvSpPr>
            <a:spLocks noGrp="1"/>
          </p:cNvSpPr>
          <p:nvPr>
            <p:ph type="title"/>
          </p:nvPr>
        </p:nvSpPr>
        <p:spPr/>
        <p:txBody>
          <a:bodyPr/>
          <a:lstStyle/>
          <a:p>
            <a:r>
              <a:rPr lang="en-GB" dirty="0"/>
              <a:t>Part 3: Assembling the physics loss</a:t>
            </a:r>
          </a:p>
        </p:txBody>
      </p:sp>
      <mc:AlternateContent xmlns:mc="http://schemas.openxmlformats.org/markup-compatibility/2006" xmlns:a14="http://schemas.microsoft.com/office/drawing/2010/main">
        <mc:Choice Requires="a14">
          <p:sp>
            <p:nvSpPr>
              <p:cNvPr id="3" name="Content Placeholder 2">
                <a:extLst>
                  <a:ext uri="{FF2B5EF4-FFF2-40B4-BE49-F238E27FC236}">
                    <a16:creationId xmlns:a16="http://schemas.microsoft.com/office/drawing/2014/main" id="{7E710B3A-4218-CB0F-29B7-5DE0B007154B}"/>
                  </a:ext>
                </a:extLst>
              </p:cNvPr>
              <p:cNvSpPr>
                <a:spLocks noGrp="1"/>
              </p:cNvSpPr>
              <p:nvPr>
                <p:ph idx="1"/>
              </p:nvPr>
            </p:nvSpPr>
            <p:spPr>
              <a:xfrm>
                <a:off x="838200" y="1825624"/>
                <a:ext cx="10515600" cy="5032375"/>
              </a:xfrm>
            </p:spPr>
            <p:txBody>
              <a:bodyPr>
                <a:normAutofit/>
              </a:bodyPr>
              <a:lstStyle/>
              <a:p>
                <a:pPr marL="0" indent="0">
                  <a:buNone/>
                </a:pPr>
                <a:r>
                  <a:rPr lang="en-GB" dirty="0"/>
                  <a:t>We have two losses </a:t>
                </a:r>
                <a14:m>
                  <m:oMath xmlns:m="http://schemas.openxmlformats.org/officeDocument/2006/math">
                    <m:sSub>
                      <m:sSubPr>
                        <m:ctrlPr>
                          <a:rPr lang="en-GB" i="1" dirty="0" smtClean="0">
                            <a:latin typeface="Cambria Math" panose="02040503050406030204" pitchFamily="18" charset="0"/>
                          </a:rPr>
                        </m:ctrlPr>
                      </m:sSubPr>
                      <m:e>
                        <m:r>
                          <a:rPr lang="en-GB" i="1" dirty="0" smtClean="0">
                            <a:latin typeface="Cambria Math" panose="02040503050406030204" pitchFamily="18" charset="0"/>
                          </a:rPr>
                          <m:t>𝑉</m:t>
                        </m:r>
                      </m:e>
                      <m:sub>
                        <m:r>
                          <a:rPr lang="en-GB" i="1" dirty="0" smtClean="0">
                            <a:latin typeface="Cambria Math" panose="02040503050406030204" pitchFamily="18" charset="0"/>
                          </a:rPr>
                          <m:t>1</m:t>
                        </m:r>
                      </m:sub>
                    </m:sSub>
                    <m:r>
                      <a:rPr lang="en-GB" i="1" dirty="0">
                        <a:latin typeface="Cambria Math" panose="02040503050406030204" pitchFamily="18" charset="0"/>
                      </a:rPr>
                      <m:t> </m:t>
                    </m:r>
                  </m:oMath>
                </a14:m>
                <a:r>
                  <a:rPr lang="en-GB" dirty="0"/>
                  <a:t>and </a:t>
                </a:r>
                <a14:m>
                  <m:oMath xmlns:m="http://schemas.openxmlformats.org/officeDocument/2006/math">
                    <m:sSub>
                      <m:sSubPr>
                        <m:ctrlPr>
                          <a:rPr lang="en-GB" i="1" dirty="0" smtClean="0">
                            <a:latin typeface="Cambria Math" panose="02040503050406030204" pitchFamily="18" charset="0"/>
                          </a:rPr>
                        </m:ctrlPr>
                      </m:sSubPr>
                      <m:e>
                        <m:r>
                          <a:rPr lang="en-GB" i="1" dirty="0" smtClean="0">
                            <a:latin typeface="Cambria Math" panose="02040503050406030204" pitchFamily="18" charset="0"/>
                          </a:rPr>
                          <m:t>𝑉</m:t>
                        </m:r>
                      </m:e>
                      <m:sub>
                        <m:r>
                          <a:rPr lang="en-GB" i="1" dirty="0" smtClean="0">
                            <a:latin typeface="Cambria Math" panose="02040503050406030204" pitchFamily="18" charset="0"/>
                          </a:rPr>
                          <m:t>2</m:t>
                        </m:r>
                      </m:sub>
                    </m:sSub>
                  </m:oMath>
                </a14:m>
                <a:r>
                  <a:rPr lang="en-GB" dirty="0"/>
                  <a:t>, that must both be brought to a minimum for the model to act as a good approximator for the analytical solution of the PDE.</a:t>
                </a:r>
              </a:p>
              <a:p>
                <a:pPr marL="0" indent="0">
                  <a:buNone/>
                </a:pPr>
                <a:r>
                  <a:rPr lang="en-GB" dirty="0"/>
                  <a:t>Let us assemble them into a </a:t>
                </a:r>
                <a:r>
                  <a:rPr lang="en-GB" b="1" dirty="0">
                    <a:solidFill>
                      <a:srgbClr val="00B050"/>
                    </a:solidFill>
                  </a:rPr>
                  <a:t>physics loss </a:t>
                </a:r>
                <a:r>
                  <a:rPr lang="en-GB" dirty="0"/>
                  <a:t>function </a:t>
                </a:r>
                <a14:m>
                  <m:oMath xmlns:m="http://schemas.openxmlformats.org/officeDocument/2006/math">
                    <m:r>
                      <a:rPr lang="en-GB" i="1" dirty="0" smtClean="0">
                        <a:latin typeface="Cambria Math" panose="02040503050406030204" pitchFamily="18" charset="0"/>
                      </a:rPr>
                      <m:t>𝐿</m:t>
                    </m:r>
                  </m:oMath>
                </a14:m>
                <a:r>
                  <a:rPr lang="en-GB" dirty="0"/>
                  <a:t>.</a:t>
                </a:r>
              </a:p>
              <a:p>
                <a:pPr marL="0" indent="0">
                  <a:buNone/>
                </a:pPr>
                <a:endParaRPr lang="en-GB" dirty="0"/>
              </a:p>
              <a:p>
                <a:pPr marL="0" indent="0">
                  <a:buNone/>
                </a:pPr>
                <a14:m>
                  <m:oMathPara xmlns:m="http://schemas.openxmlformats.org/officeDocument/2006/math">
                    <m:oMathParaPr>
                      <m:jc m:val="centerGroup"/>
                    </m:oMathParaPr>
                    <m:oMath xmlns:m="http://schemas.openxmlformats.org/officeDocument/2006/math">
                      <m:r>
                        <a:rPr lang="en-GB" b="0" i="1" smtClean="0">
                          <a:latin typeface="Cambria Math" panose="02040503050406030204" pitchFamily="18" charset="0"/>
                        </a:rPr>
                        <m:t>𝐿</m:t>
                      </m:r>
                      <m:r>
                        <a:rPr lang="en-GB" b="0" i="1" smtClean="0">
                          <a:latin typeface="Cambria Math" panose="02040503050406030204" pitchFamily="18" charset="0"/>
                        </a:rPr>
                        <m:t>=1+</m:t>
                      </m:r>
                      <m:sSub>
                        <m:sSubPr>
                          <m:ctrlPr>
                            <a:rPr lang="en-GB" b="0" i="1" smtClean="0">
                              <a:latin typeface="Cambria Math" panose="02040503050406030204" pitchFamily="18" charset="0"/>
                            </a:rPr>
                          </m:ctrlPr>
                        </m:sSubPr>
                        <m:e>
                          <m:r>
                            <a:rPr lang="en-GB" b="0" i="1" smtClean="0">
                              <a:latin typeface="Cambria Math" panose="02040503050406030204" pitchFamily="18" charset="0"/>
                            </a:rPr>
                            <m:t>𝜆</m:t>
                          </m:r>
                        </m:e>
                        <m:sub>
                          <m:r>
                            <a:rPr lang="en-GB" b="0" i="1" smtClean="0">
                              <a:latin typeface="Cambria Math" panose="02040503050406030204" pitchFamily="18" charset="0"/>
                            </a:rPr>
                            <m:t>1</m:t>
                          </m:r>
                        </m:sub>
                      </m:sSub>
                      <m:sSub>
                        <m:sSubPr>
                          <m:ctrlPr>
                            <a:rPr lang="en-GB" b="0" i="1" smtClean="0">
                              <a:latin typeface="Cambria Math" panose="02040503050406030204" pitchFamily="18" charset="0"/>
                            </a:rPr>
                          </m:ctrlPr>
                        </m:sSubPr>
                        <m:e>
                          <m:r>
                            <a:rPr lang="en-GB" b="0" i="1" smtClean="0">
                              <a:latin typeface="Cambria Math" panose="02040503050406030204" pitchFamily="18" charset="0"/>
                            </a:rPr>
                            <m:t>𝑉</m:t>
                          </m:r>
                        </m:e>
                        <m:sub>
                          <m:r>
                            <a:rPr lang="en-GB" b="0" i="1" smtClean="0">
                              <a:latin typeface="Cambria Math" panose="02040503050406030204" pitchFamily="18" charset="0"/>
                            </a:rPr>
                            <m:t>1</m:t>
                          </m:r>
                        </m:sub>
                      </m:sSub>
                      <m:r>
                        <a:rPr lang="en-GB" b="0" i="1" smtClean="0">
                          <a:latin typeface="Cambria Math" panose="02040503050406030204" pitchFamily="18" charset="0"/>
                        </a:rPr>
                        <m:t>+</m:t>
                      </m:r>
                      <m:sSub>
                        <m:sSubPr>
                          <m:ctrlPr>
                            <a:rPr lang="en-GB" b="0" i="1" smtClean="0">
                              <a:latin typeface="Cambria Math" panose="02040503050406030204" pitchFamily="18" charset="0"/>
                            </a:rPr>
                          </m:ctrlPr>
                        </m:sSubPr>
                        <m:e>
                          <m:r>
                            <a:rPr lang="en-GB" b="0" i="1" smtClean="0">
                              <a:latin typeface="Cambria Math" panose="02040503050406030204" pitchFamily="18" charset="0"/>
                            </a:rPr>
                            <m:t>𝜆</m:t>
                          </m:r>
                        </m:e>
                        <m:sub>
                          <m:r>
                            <a:rPr lang="en-GB" b="0" i="1" smtClean="0">
                              <a:latin typeface="Cambria Math" panose="02040503050406030204" pitchFamily="18" charset="0"/>
                            </a:rPr>
                            <m:t>2</m:t>
                          </m:r>
                        </m:sub>
                      </m:sSub>
                      <m:sSub>
                        <m:sSubPr>
                          <m:ctrlPr>
                            <a:rPr lang="en-GB" b="0" i="1" smtClean="0">
                              <a:latin typeface="Cambria Math" panose="02040503050406030204" pitchFamily="18" charset="0"/>
                            </a:rPr>
                          </m:ctrlPr>
                        </m:sSubPr>
                        <m:e>
                          <m:r>
                            <a:rPr lang="en-GB" b="0" i="1" smtClean="0">
                              <a:latin typeface="Cambria Math" panose="02040503050406030204" pitchFamily="18" charset="0"/>
                            </a:rPr>
                            <m:t>𝑉</m:t>
                          </m:r>
                        </m:e>
                        <m:sub>
                          <m:r>
                            <a:rPr lang="en-GB" b="0" i="1" smtClean="0">
                              <a:latin typeface="Cambria Math" panose="02040503050406030204" pitchFamily="18" charset="0"/>
                            </a:rPr>
                            <m:t>2</m:t>
                          </m:r>
                        </m:sub>
                      </m:sSub>
                    </m:oMath>
                  </m:oMathPara>
                </a14:m>
                <a:endParaRPr lang="en-GB" dirty="0"/>
              </a:p>
              <a:p>
                <a:pPr marL="0" indent="0">
                  <a:buNone/>
                </a:pPr>
                <a:r>
                  <a:rPr lang="en-GB" dirty="0"/>
                  <a:t>Here </a:t>
                </a:r>
                <a14:m>
                  <m:oMath xmlns:m="http://schemas.openxmlformats.org/officeDocument/2006/math">
                    <m:sSub>
                      <m:sSubPr>
                        <m:ctrlPr>
                          <a:rPr lang="en-GB" b="0" i="1" smtClean="0">
                            <a:latin typeface="Cambria Math" panose="02040503050406030204" pitchFamily="18" charset="0"/>
                          </a:rPr>
                        </m:ctrlPr>
                      </m:sSubPr>
                      <m:e>
                        <m:r>
                          <a:rPr lang="en-GB" b="0" i="1" smtClean="0">
                            <a:latin typeface="Cambria Math" panose="02040503050406030204" pitchFamily="18" charset="0"/>
                          </a:rPr>
                          <m:t>𝜆</m:t>
                        </m:r>
                      </m:e>
                      <m:sub>
                        <m:r>
                          <a:rPr lang="en-GB" b="0" i="1" smtClean="0">
                            <a:latin typeface="Cambria Math" panose="02040503050406030204" pitchFamily="18" charset="0"/>
                          </a:rPr>
                          <m:t>1</m:t>
                        </m:r>
                      </m:sub>
                    </m:sSub>
                  </m:oMath>
                </a14:m>
                <a:r>
                  <a:rPr lang="en-GB" dirty="0"/>
                  <a:t> and </a:t>
                </a:r>
                <a14:m>
                  <m:oMath xmlns:m="http://schemas.openxmlformats.org/officeDocument/2006/math">
                    <m:sSub>
                      <m:sSubPr>
                        <m:ctrlPr>
                          <a:rPr lang="en-GB" i="1">
                            <a:latin typeface="Cambria Math" panose="02040503050406030204" pitchFamily="18" charset="0"/>
                          </a:rPr>
                        </m:ctrlPr>
                      </m:sSubPr>
                      <m:e>
                        <m:r>
                          <a:rPr lang="en-GB" i="1">
                            <a:latin typeface="Cambria Math" panose="02040503050406030204" pitchFamily="18" charset="0"/>
                          </a:rPr>
                          <m:t>𝜆</m:t>
                        </m:r>
                      </m:e>
                      <m:sub>
                        <m:r>
                          <a:rPr lang="en-GB" b="0" i="1" smtClean="0">
                            <a:latin typeface="Cambria Math" panose="02040503050406030204" pitchFamily="18" charset="0"/>
                          </a:rPr>
                          <m:t>2</m:t>
                        </m:r>
                      </m:sub>
                    </m:sSub>
                  </m:oMath>
                </a14:m>
                <a:r>
                  <a:rPr lang="en-GB" dirty="0"/>
                  <a:t> are hyperparameters, weighting the contributions of </a:t>
                </a:r>
                <a14:m>
                  <m:oMath xmlns:m="http://schemas.openxmlformats.org/officeDocument/2006/math">
                    <m:sSub>
                      <m:sSubPr>
                        <m:ctrlPr>
                          <a:rPr lang="en-GB" i="1" dirty="0" smtClean="0">
                            <a:latin typeface="Cambria Math" panose="02040503050406030204" pitchFamily="18" charset="0"/>
                          </a:rPr>
                        </m:ctrlPr>
                      </m:sSubPr>
                      <m:e>
                        <m:r>
                          <a:rPr lang="en-GB" i="1" dirty="0" smtClean="0">
                            <a:latin typeface="Cambria Math" panose="02040503050406030204" pitchFamily="18" charset="0"/>
                          </a:rPr>
                          <m:t>𝑉</m:t>
                        </m:r>
                      </m:e>
                      <m:sub>
                        <m:r>
                          <a:rPr lang="en-GB" i="1" dirty="0" smtClean="0">
                            <a:latin typeface="Cambria Math" panose="02040503050406030204" pitchFamily="18" charset="0"/>
                          </a:rPr>
                          <m:t>1</m:t>
                        </m:r>
                      </m:sub>
                    </m:sSub>
                    <m:r>
                      <a:rPr lang="en-GB" i="1" dirty="0" smtClean="0">
                        <a:latin typeface="Cambria Math" panose="02040503050406030204" pitchFamily="18" charset="0"/>
                      </a:rPr>
                      <m:t> </m:t>
                    </m:r>
                  </m:oMath>
                </a14:m>
                <a:r>
                  <a:rPr lang="en-GB" dirty="0"/>
                  <a:t>and </a:t>
                </a:r>
                <a14:m>
                  <m:oMath xmlns:m="http://schemas.openxmlformats.org/officeDocument/2006/math">
                    <m:sSub>
                      <m:sSubPr>
                        <m:ctrlPr>
                          <a:rPr lang="en-GB" i="1" dirty="0" smtClean="0">
                            <a:latin typeface="Cambria Math" panose="02040503050406030204" pitchFamily="18" charset="0"/>
                          </a:rPr>
                        </m:ctrlPr>
                      </m:sSubPr>
                      <m:e>
                        <m:r>
                          <a:rPr lang="en-GB" i="1" dirty="0" smtClean="0">
                            <a:latin typeface="Cambria Math" panose="02040503050406030204" pitchFamily="18" charset="0"/>
                          </a:rPr>
                          <m:t>𝑉</m:t>
                        </m:r>
                      </m:e>
                      <m:sub>
                        <m:r>
                          <a:rPr lang="en-GB" i="1" dirty="0" smtClean="0">
                            <a:latin typeface="Cambria Math" panose="02040503050406030204" pitchFamily="18" charset="0"/>
                          </a:rPr>
                          <m:t>2</m:t>
                        </m:r>
                      </m:sub>
                    </m:sSub>
                    <m:r>
                      <a:rPr lang="en-GB" i="1" dirty="0" smtClean="0">
                        <a:latin typeface="Cambria Math" panose="02040503050406030204" pitchFamily="18" charset="0"/>
                      </a:rPr>
                      <m:t> </m:t>
                    </m:r>
                  </m:oMath>
                </a14:m>
                <a:r>
                  <a:rPr lang="en-GB" dirty="0"/>
                  <a:t>respectively. We will arbitrarily set them to 1 for now.</a:t>
                </a:r>
              </a:p>
              <a:p>
                <a:pPr marL="0" indent="0">
                  <a:buNone/>
                </a:pPr>
                <a:r>
                  <a:rPr lang="en-GB" dirty="0"/>
                  <a:t>The constant 1 value in </a:t>
                </a:r>
                <a14:m>
                  <m:oMath xmlns:m="http://schemas.openxmlformats.org/officeDocument/2006/math">
                    <m:r>
                      <a:rPr lang="en-GB" i="1" dirty="0" smtClean="0">
                        <a:latin typeface="Cambria Math" panose="02040503050406030204" pitchFamily="18" charset="0"/>
                      </a:rPr>
                      <m:t>𝐿</m:t>
                    </m:r>
                  </m:oMath>
                </a14:m>
                <a:r>
                  <a:rPr lang="en-GB" dirty="0"/>
                  <a:t>, only serves to prevent the loss function to go to zero and make later visuals easier to read, as our training curves will be shown in logarithmic scale later on. It could be removed.</a:t>
                </a:r>
              </a:p>
            </p:txBody>
          </p:sp>
        </mc:Choice>
        <mc:Fallback xmlns="">
          <p:sp>
            <p:nvSpPr>
              <p:cNvPr id="3" name="Content Placeholder 2">
                <a:extLst>
                  <a:ext uri="{FF2B5EF4-FFF2-40B4-BE49-F238E27FC236}">
                    <a16:creationId xmlns:a16="http://schemas.microsoft.com/office/drawing/2014/main" id="{7E710B3A-4218-CB0F-29B7-5DE0B007154B}"/>
                  </a:ext>
                </a:extLst>
              </p:cNvPr>
              <p:cNvSpPr>
                <a:spLocks noGrp="1" noRot="1" noChangeAspect="1" noMove="1" noResize="1" noEditPoints="1" noAdjustHandles="1" noChangeArrowheads="1" noChangeShapeType="1" noTextEdit="1"/>
              </p:cNvSpPr>
              <p:nvPr>
                <p:ph idx="1"/>
              </p:nvPr>
            </p:nvSpPr>
            <p:spPr>
              <a:xfrm>
                <a:off x="838200" y="1825624"/>
                <a:ext cx="10515600" cy="5032375"/>
              </a:xfrm>
              <a:blipFill>
                <a:blip r:embed="rId2"/>
                <a:stretch>
                  <a:fillRect l="-1217" t="-1937" r="-1275"/>
                </a:stretch>
              </a:blipFill>
            </p:spPr>
            <p:txBody>
              <a:bodyPr/>
              <a:lstStyle/>
              <a:p>
                <a:r>
                  <a:rPr lang="en-GB">
                    <a:noFill/>
                  </a:rPr>
                  <a:t> </a:t>
                </a:r>
              </a:p>
            </p:txBody>
          </p:sp>
        </mc:Fallback>
      </mc:AlternateContent>
    </p:spTree>
    <p:extLst>
      <p:ext uri="{BB962C8B-B14F-4D97-AF65-F5344CB8AC3E}">
        <p14:creationId xmlns:p14="http://schemas.microsoft.com/office/powerpoint/2010/main" val="158048208"/>
      </p:ext>
    </p:extLst>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9" name="Picture 8">
            <a:extLst>
              <a:ext uri="{FF2B5EF4-FFF2-40B4-BE49-F238E27FC236}">
                <a16:creationId xmlns:a16="http://schemas.microsoft.com/office/drawing/2014/main" id="{8F8B8AB1-8549-C332-B777-29D4E10FA48F}"/>
              </a:ext>
            </a:extLst>
          </p:cNvPr>
          <p:cNvPicPr>
            <a:picLocks noChangeAspect="1"/>
          </p:cNvPicPr>
          <p:nvPr/>
        </p:nvPicPr>
        <p:blipFill>
          <a:blip r:embed="rId2"/>
          <a:stretch>
            <a:fillRect/>
          </a:stretch>
        </p:blipFill>
        <p:spPr>
          <a:xfrm>
            <a:off x="1699847" y="64835"/>
            <a:ext cx="8792306" cy="6728330"/>
          </a:xfrm>
          <a:prstGeom prst="rect">
            <a:avLst/>
          </a:prstGeom>
        </p:spPr>
      </p:pic>
    </p:spTree>
    <p:extLst>
      <p:ext uri="{BB962C8B-B14F-4D97-AF65-F5344CB8AC3E}">
        <p14:creationId xmlns:p14="http://schemas.microsoft.com/office/powerpoint/2010/main" val="2742649527"/>
      </p:ext>
    </p:extLst>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43978FF-B323-3884-497F-21EF6653AB36}"/>
              </a:ext>
            </a:extLst>
          </p:cNvPr>
          <p:cNvSpPr>
            <a:spLocks noGrp="1"/>
          </p:cNvSpPr>
          <p:nvPr>
            <p:ph type="title"/>
          </p:nvPr>
        </p:nvSpPr>
        <p:spPr/>
        <p:txBody>
          <a:bodyPr/>
          <a:lstStyle/>
          <a:p>
            <a:r>
              <a:rPr lang="en-GB" dirty="0"/>
              <a:t>Training the PINN</a:t>
            </a:r>
          </a:p>
        </p:txBody>
      </p:sp>
      <mc:AlternateContent xmlns:mc="http://schemas.openxmlformats.org/markup-compatibility/2006" xmlns:a14="http://schemas.microsoft.com/office/drawing/2010/main">
        <mc:Choice Requires="a14">
          <p:sp>
            <p:nvSpPr>
              <p:cNvPr id="4" name="Content Placeholder 3">
                <a:extLst>
                  <a:ext uri="{FF2B5EF4-FFF2-40B4-BE49-F238E27FC236}">
                    <a16:creationId xmlns:a16="http://schemas.microsoft.com/office/drawing/2014/main" id="{2511474E-8CE9-C6A2-5FC1-ECE427228E9F}"/>
                  </a:ext>
                </a:extLst>
              </p:cNvPr>
              <p:cNvSpPr>
                <a:spLocks noGrp="1"/>
              </p:cNvSpPr>
              <p:nvPr>
                <p:ph idx="1"/>
              </p:nvPr>
            </p:nvSpPr>
            <p:spPr/>
            <p:txBody>
              <a:bodyPr/>
              <a:lstStyle/>
              <a:p>
                <a:pPr marL="0" indent="0">
                  <a:buNone/>
                </a:pPr>
                <a:r>
                  <a:rPr lang="en-GB" dirty="0"/>
                  <a:t>Training the PINN is almost the same procedure as before.</a:t>
                </a:r>
              </a:p>
              <a:p>
                <a:r>
                  <a:rPr lang="en-GB" dirty="0"/>
                  <a:t>Forward pass on model (happens in the physics loss function),</a:t>
                </a:r>
              </a:p>
              <a:p>
                <a:r>
                  <a:rPr lang="en-GB" dirty="0"/>
                  <a:t>Compute </a:t>
                </a:r>
                <a14:m>
                  <m:oMath xmlns:m="http://schemas.openxmlformats.org/officeDocument/2006/math">
                    <m:sSub>
                      <m:sSubPr>
                        <m:ctrlPr>
                          <a:rPr lang="en-GB" i="1" dirty="0" smtClean="0">
                            <a:latin typeface="Cambria Math" panose="02040503050406030204" pitchFamily="18" charset="0"/>
                          </a:rPr>
                        </m:ctrlPr>
                      </m:sSubPr>
                      <m:e>
                        <m:r>
                          <a:rPr lang="en-GB" i="1" dirty="0" smtClean="0">
                            <a:latin typeface="Cambria Math" panose="02040503050406030204" pitchFamily="18" charset="0"/>
                          </a:rPr>
                          <m:t>𝑉</m:t>
                        </m:r>
                      </m:e>
                      <m:sub>
                        <m:r>
                          <a:rPr lang="en-GB" i="1" dirty="0" smtClean="0">
                            <a:latin typeface="Cambria Math" panose="02040503050406030204" pitchFamily="18" charset="0"/>
                          </a:rPr>
                          <m:t>1</m:t>
                        </m:r>
                      </m:sub>
                    </m:sSub>
                  </m:oMath>
                </a14:m>
                <a:r>
                  <a:rPr lang="en-GB" dirty="0"/>
                  <a:t>, </a:t>
                </a:r>
                <a14:m>
                  <m:oMath xmlns:m="http://schemas.openxmlformats.org/officeDocument/2006/math">
                    <m:sSub>
                      <m:sSubPr>
                        <m:ctrlPr>
                          <a:rPr lang="en-GB" i="1" dirty="0" smtClean="0">
                            <a:latin typeface="Cambria Math" panose="02040503050406030204" pitchFamily="18" charset="0"/>
                          </a:rPr>
                        </m:ctrlPr>
                      </m:sSubPr>
                      <m:e>
                        <m:r>
                          <a:rPr lang="en-GB" i="1" dirty="0" smtClean="0">
                            <a:latin typeface="Cambria Math" panose="02040503050406030204" pitchFamily="18" charset="0"/>
                          </a:rPr>
                          <m:t>𝑉</m:t>
                        </m:r>
                      </m:e>
                      <m:sub>
                        <m:r>
                          <a:rPr lang="en-GB" i="1" dirty="0" smtClean="0">
                            <a:latin typeface="Cambria Math" panose="02040503050406030204" pitchFamily="18" charset="0"/>
                          </a:rPr>
                          <m:t>2</m:t>
                        </m:r>
                      </m:sub>
                    </m:sSub>
                    <m:r>
                      <a:rPr lang="en-GB" i="1" dirty="0" smtClean="0">
                        <a:latin typeface="Cambria Math" panose="02040503050406030204" pitchFamily="18" charset="0"/>
                      </a:rPr>
                      <m:t> </m:t>
                    </m:r>
                  </m:oMath>
                </a14:m>
                <a:r>
                  <a:rPr lang="en-GB" dirty="0"/>
                  <a:t>and </a:t>
                </a:r>
                <a14:m>
                  <m:oMath xmlns:m="http://schemas.openxmlformats.org/officeDocument/2006/math">
                    <m:r>
                      <a:rPr lang="en-GB" i="1" dirty="0" smtClean="0">
                        <a:latin typeface="Cambria Math" panose="02040503050406030204" pitchFamily="18" charset="0"/>
                      </a:rPr>
                      <m:t>𝐿</m:t>
                    </m:r>
                  </m:oMath>
                </a14:m>
                <a:r>
                  <a:rPr lang="en-GB" dirty="0"/>
                  <a:t> as explained earlier.</a:t>
                </a:r>
              </a:p>
              <a:p>
                <a:r>
                  <a:rPr lang="en-GB" dirty="0"/>
                  <a:t>Do note that the physics loss does not require a dataset,</a:t>
                </a:r>
              </a:p>
              <a:p>
                <a:r>
                  <a:rPr lang="en-GB" dirty="0"/>
                  <a:t>Backprop on </a:t>
                </a:r>
                <a14:m>
                  <m:oMath xmlns:m="http://schemas.openxmlformats.org/officeDocument/2006/math">
                    <m:r>
                      <a:rPr lang="en-GB" i="1" dirty="0" smtClean="0">
                        <a:latin typeface="Cambria Math" panose="02040503050406030204" pitchFamily="18" charset="0"/>
                      </a:rPr>
                      <m:t>𝐿</m:t>
                    </m:r>
                  </m:oMath>
                </a14:m>
                <a:r>
                  <a:rPr lang="en-GB" dirty="0"/>
                  <a:t> as before, using </a:t>
                </a:r>
                <a:r>
                  <a:rPr lang="en-GB" dirty="0" err="1"/>
                  <a:t>autograd</a:t>
                </a:r>
                <a:r>
                  <a:rPr lang="en-GB" dirty="0"/>
                  <a:t>.</a:t>
                </a:r>
              </a:p>
              <a:p>
                <a:r>
                  <a:rPr lang="en-GB" dirty="0"/>
                  <a:t>Using basic Adam optimizer as before (how original!).</a:t>
                </a:r>
              </a:p>
              <a:p>
                <a:r>
                  <a:rPr lang="en-GB" dirty="0"/>
                  <a:t>Learning rate decay.</a:t>
                </a:r>
              </a:p>
              <a:p>
                <a:r>
                  <a:rPr lang="en-GB" dirty="0"/>
                  <a:t>Keep track of values for training curves later.</a:t>
                </a:r>
              </a:p>
            </p:txBody>
          </p:sp>
        </mc:Choice>
        <mc:Fallback xmlns="">
          <p:sp>
            <p:nvSpPr>
              <p:cNvPr id="4" name="Content Placeholder 3">
                <a:extLst>
                  <a:ext uri="{FF2B5EF4-FFF2-40B4-BE49-F238E27FC236}">
                    <a16:creationId xmlns:a16="http://schemas.microsoft.com/office/drawing/2014/main" id="{2511474E-8CE9-C6A2-5FC1-ECE427228E9F}"/>
                  </a:ext>
                </a:extLst>
              </p:cNvPr>
              <p:cNvSpPr>
                <a:spLocks noGrp="1" noRot="1" noChangeAspect="1" noMove="1" noResize="1" noEditPoints="1" noAdjustHandles="1" noChangeArrowheads="1" noChangeShapeType="1" noTextEdit="1"/>
              </p:cNvSpPr>
              <p:nvPr>
                <p:ph idx="1"/>
              </p:nvPr>
            </p:nvSpPr>
            <p:spPr>
              <a:blipFill>
                <a:blip r:embed="rId2"/>
                <a:stretch>
                  <a:fillRect l="-1217" t="-2241"/>
                </a:stretch>
              </a:blipFill>
            </p:spPr>
            <p:txBody>
              <a:bodyPr/>
              <a:lstStyle/>
              <a:p>
                <a:r>
                  <a:rPr lang="en-GB">
                    <a:noFill/>
                  </a:rPr>
                  <a:t> </a:t>
                </a:r>
              </a:p>
            </p:txBody>
          </p:sp>
        </mc:Fallback>
      </mc:AlternateContent>
    </p:spTree>
    <p:extLst>
      <p:ext uri="{BB962C8B-B14F-4D97-AF65-F5344CB8AC3E}">
        <p14:creationId xmlns:p14="http://schemas.microsoft.com/office/powerpoint/2010/main" val="929341915"/>
      </p:ext>
    </p:extLst>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9" name="Picture 8">
            <a:extLst>
              <a:ext uri="{FF2B5EF4-FFF2-40B4-BE49-F238E27FC236}">
                <a16:creationId xmlns:a16="http://schemas.microsoft.com/office/drawing/2014/main" id="{43463427-5ADA-5DB1-63EC-6EAE88D4FDBC}"/>
              </a:ext>
            </a:extLst>
          </p:cNvPr>
          <p:cNvPicPr>
            <a:picLocks noChangeAspect="1"/>
          </p:cNvPicPr>
          <p:nvPr/>
        </p:nvPicPr>
        <p:blipFill>
          <a:blip r:embed="rId2"/>
          <a:stretch>
            <a:fillRect/>
          </a:stretch>
        </p:blipFill>
        <p:spPr>
          <a:xfrm>
            <a:off x="778589" y="108965"/>
            <a:ext cx="10634822" cy="6640070"/>
          </a:xfrm>
          <a:prstGeom prst="rect">
            <a:avLst/>
          </a:prstGeom>
        </p:spPr>
      </p:pic>
    </p:spTree>
    <p:extLst>
      <p:ext uri="{BB962C8B-B14F-4D97-AF65-F5344CB8AC3E}">
        <p14:creationId xmlns:p14="http://schemas.microsoft.com/office/powerpoint/2010/main" val="1213534871"/>
      </p:ext>
    </p:extLst>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Picture 2">
            <a:extLst>
              <a:ext uri="{FF2B5EF4-FFF2-40B4-BE49-F238E27FC236}">
                <a16:creationId xmlns:a16="http://schemas.microsoft.com/office/drawing/2014/main" id="{D60B50DA-08C4-F24F-F4B5-96A307AC3381}"/>
              </a:ext>
            </a:extLst>
          </p:cNvPr>
          <p:cNvPicPr>
            <a:picLocks noChangeAspect="1"/>
          </p:cNvPicPr>
          <p:nvPr/>
        </p:nvPicPr>
        <p:blipFill>
          <a:blip r:embed="rId2"/>
          <a:stretch>
            <a:fillRect/>
          </a:stretch>
        </p:blipFill>
        <p:spPr>
          <a:xfrm>
            <a:off x="357553" y="1690688"/>
            <a:ext cx="11714965" cy="4802187"/>
          </a:xfrm>
          <a:prstGeom prst="rect">
            <a:avLst/>
          </a:prstGeom>
        </p:spPr>
      </p:pic>
      <mc:AlternateContent xmlns:mc="http://schemas.openxmlformats.org/markup-compatibility/2006" xmlns:a14="http://schemas.microsoft.com/office/drawing/2010/main">
        <mc:Choice Requires="a14">
          <p:sp>
            <p:nvSpPr>
              <p:cNvPr id="4" name="Title 3">
                <a:extLst>
                  <a:ext uri="{FF2B5EF4-FFF2-40B4-BE49-F238E27FC236}">
                    <a16:creationId xmlns:a16="http://schemas.microsoft.com/office/drawing/2014/main" id="{F40D078E-6986-7B28-E774-C44DDA4CA4EF}"/>
                  </a:ext>
                </a:extLst>
              </p:cNvPr>
              <p:cNvSpPr>
                <a:spLocks noGrp="1"/>
              </p:cNvSpPr>
              <p:nvPr>
                <p:ph type="title"/>
              </p:nvPr>
            </p:nvSpPr>
            <p:spPr/>
            <p:txBody>
              <a:bodyPr/>
              <a:lstStyle/>
              <a:p>
                <a:r>
                  <a:rPr lang="en-GB" dirty="0"/>
                  <a:t>It trains? (</a:t>
                </a:r>
                <a14:m>
                  <m:oMath xmlns:m="http://schemas.openxmlformats.org/officeDocument/2006/math">
                    <m:sSub>
                      <m:sSubPr>
                        <m:ctrlPr>
                          <a:rPr lang="en-GB" i="1" dirty="0" smtClean="0">
                            <a:latin typeface="Cambria Math" panose="02040503050406030204" pitchFamily="18" charset="0"/>
                          </a:rPr>
                        </m:ctrlPr>
                      </m:sSubPr>
                      <m:e>
                        <m:r>
                          <a:rPr lang="en-GB" i="1" dirty="0" smtClean="0">
                            <a:latin typeface="Cambria Math" panose="02040503050406030204" pitchFamily="18" charset="0"/>
                          </a:rPr>
                          <m:t>𝑉</m:t>
                        </m:r>
                      </m:e>
                      <m:sub>
                        <m:r>
                          <a:rPr lang="en-GB" i="1" dirty="0" smtClean="0">
                            <a:latin typeface="Cambria Math" panose="02040503050406030204" pitchFamily="18" charset="0"/>
                          </a:rPr>
                          <m:t>1</m:t>
                        </m:r>
                      </m:sub>
                    </m:sSub>
                    <m:r>
                      <a:rPr lang="en-GB" i="1" dirty="0" smtClean="0">
                        <a:latin typeface="Cambria Math" panose="02040503050406030204" pitchFamily="18" charset="0"/>
                      </a:rPr>
                      <m:t> </m:t>
                    </m:r>
                  </m:oMath>
                </a14:m>
                <a:r>
                  <a:rPr lang="en-GB" dirty="0"/>
                  <a:t>and </a:t>
                </a:r>
                <a14:m>
                  <m:oMath xmlns:m="http://schemas.openxmlformats.org/officeDocument/2006/math">
                    <m:sSub>
                      <m:sSubPr>
                        <m:ctrlPr>
                          <a:rPr lang="en-GB" i="1" dirty="0" smtClean="0">
                            <a:latin typeface="Cambria Math" panose="02040503050406030204" pitchFamily="18" charset="0"/>
                          </a:rPr>
                        </m:ctrlPr>
                      </m:sSubPr>
                      <m:e>
                        <m:r>
                          <a:rPr lang="en-GB" i="1" dirty="0" smtClean="0">
                            <a:latin typeface="Cambria Math" panose="02040503050406030204" pitchFamily="18" charset="0"/>
                          </a:rPr>
                          <m:t>𝑉</m:t>
                        </m:r>
                      </m:e>
                      <m:sub>
                        <m:r>
                          <a:rPr lang="en-GB" i="1" dirty="0" smtClean="0">
                            <a:latin typeface="Cambria Math" panose="02040503050406030204" pitchFamily="18" charset="0"/>
                          </a:rPr>
                          <m:t>2</m:t>
                        </m:r>
                      </m:sub>
                    </m:sSub>
                    <m:r>
                      <a:rPr lang="en-GB" i="1" dirty="0" smtClean="0">
                        <a:latin typeface="Cambria Math" panose="02040503050406030204" pitchFamily="18" charset="0"/>
                      </a:rPr>
                      <m:t> </m:t>
                    </m:r>
                  </m:oMath>
                </a14:m>
                <a:r>
                  <a:rPr lang="en-GB" dirty="0"/>
                  <a:t>go to 0, </a:t>
                </a:r>
                <a14:m>
                  <m:oMath xmlns:m="http://schemas.openxmlformats.org/officeDocument/2006/math">
                    <m:r>
                      <a:rPr lang="en-GB" i="1" dirty="0" smtClean="0">
                        <a:latin typeface="Cambria Math" panose="02040503050406030204" pitchFamily="18" charset="0"/>
                      </a:rPr>
                      <m:t>𝐿</m:t>
                    </m:r>
                  </m:oMath>
                </a14:m>
                <a:r>
                  <a:rPr lang="en-GB" dirty="0"/>
                  <a:t> goes to 1)</a:t>
                </a:r>
              </a:p>
            </p:txBody>
          </p:sp>
        </mc:Choice>
        <mc:Fallback xmlns="">
          <p:sp>
            <p:nvSpPr>
              <p:cNvPr id="4" name="Title 3">
                <a:extLst>
                  <a:ext uri="{FF2B5EF4-FFF2-40B4-BE49-F238E27FC236}">
                    <a16:creationId xmlns:a16="http://schemas.microsoft.com/office/drawing/2014/main" id="{F40D078E-6986-7B28-E774-C44DDA4CA4EF}"/>
                  </a:ext>
                </a:extLst>
              </p:cNvPr>
              <p:cNvSpPr>
                <a:spLocks noGrp="1" noRot="1" noChangeAspect="1" noMove="1" noResize="1" noEditPoints="1" noAdjustHandles="1" noChangeArrowheads="1" noChangeShapeType="1" noTextEdit="1"/>
              </p:cNvSpPr>
              <p:nvPr>
                <p:ph type="title"/>
              </p:nvPr>
            </p:nvSpPr>
            <p:spPr>
              <a:blipFill>
                <a:blip r:embed="rId3"/>
                <a:stretch>
                  <a:fillRect l="-2377"/>
                </a:stretch>
              </a:blipFill>
            </p:spPr>
            <p:txBody>
              <a:bodyPr/>
              <a:lstStyle/>
              <a:p>
                <a:r>
                  <a:rPr lang="en-GB">
                    <a:noFill/>
                  </a:rPr>
                  <a:t> </a:t>
                </a:r>
              </a:p>
            </p:txBody>
          </p:sp>
        </mc:Fallback>
      </mc:AlternateContent>
    </p:spTree>
    <p:extLst>
      <p:ext uri="{BB962C8B-B14F-4D97-AF65-F5344CB8AC3E}">
        <p14:creationId xmlns:p14="http://schemas.microsoft.com/office/powerpoint/2010/main" val="754201406"/>
      </p:ext>
    </p:extLst>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mc:AlternateContent xmlns:mc="http://schemas.openxmlformats.org/markup-compatibility/2006" xmlns:a14="http://schemas.microsoft.com/office/drawing/2010/main">
        <mc:Choice Requires="a14">
          <p:sp>
            <p:nvSpPr>
              <p:cNvPr id="4" name="Title 3">
                <a:extLst>
                  <a:ext uri="{FF2B5EF4-FFF2-40B4-BE49-F238E27FC236}">
                    <a16:creationId xmlns:a16="http://schemas.microsoft.com/office/drawing/2014/main" id="{F40D078E-6986-7B28-E774-C44DDA4CA4EF}"/>
                  </a:ext>
                </a:extLst>
              </p:cNvPr>
              <p:cNvSpPr>
                <a:spLocks noGrp="1"/>
              </p:cNvSpPr>
              <p:nvPr>
                <p:ph type="title"/>
              </p:nvPr>
            </p:nvSpPr>
            <p:spPr/>
            <p:txBody>
              <a:bodyPr/>
              <a:lstStyle/>
              <a:p>
                <a:r>
                  <a:rPr lang="en-GB" dirty="0"/>
                  <a:t>It trains? (</a:t>
                </a:r>
                <a14:m>
                  <m:oMath xmlns:m="http://schemas.openxmlformats.org/officeDocument/2006/math">
                    <m:sSub>
                      <m:sSubPr>
                        <m:ctrlPr>
                          <a:rPr lang="en-GB" i="1" dirty="0" smtClean="0">
                            <a:latin typeface="Cambria Math" panose="02040503050406030204" pitchFamily="18" charset="0"/>
                          </a:rPr>
                        </m:ctrlPr>
                      </m:sSubPr>
                      <m:e>
                        <m:r>
                          <a:rPr lang="en-GB" i="1" dirty="0" smtClean="0">
                            <a:latin typeface="Cambria Math" panose="02040503050406030204" pitchFamily="18" charset="0"/>
                          </a:rPr>
                          <m:t>𝑉</m:t>
                        </m:r>
                      </m:e>
                      <m:sub>
                        <m:r>
                          <a:rPr lang="en-GB" i="1" dirty="0" smtClean="0">
                            <a:latin typeface="Cambria Math" panose="02040503050406030204" pitchFamily="18" charset="0"/>
                          </a:rPr>
                          <m:t>1</m:t>
                        </m:r>
                      </m:sub>
                    </m:sSub>
                    <m:r>
                      <a:rPr lang="en-GB" i="1" dirty="0" smtClean="0">
                        <a:latin typeface="Cambria Math" panose="02040503050406030204" pitchFamily="18" charset="0"/>
                      </a:rPr>
                      <m:t> </m:t>
                    </m:r>
                  </m:oMath>
                </a14:m>
                <a:r>
                  <a:rPr lang="en-GB" dirty="0"/>
                  <a:t>and </a:t>
                </a:r>
                <a14:m>
                  <m:oMath xmlns:m="http://schemas.openxmlformats.org/officeDocument/2006/math">
                    <m:sSub>
                      <m:sSubPr>
                        <m:ctrlPr>
                          <a:rPr lang="en-GB" i="1" dirty="0" smtClean="0">
                            <a:latin typeface="Cambria Math" panose="02040503050406030204" pitchFamily="18" charset="0"/>
                          </a:rPr>
                        </m:ctrlPr>
                      </m:sSubPr>
                      <m:e>
                        <m:r>
                          <a:rPr lang="en-GB" i="1" dirty="0" smtClean="0">
                            <a:latin typeface="Cambria Math" panose="02040503050406030204" pitchFamily="18" charset="0"/>
                          </a:rPr>
                          <m:t>𝑉</m:t>
                        </m:r>
                      </m:e>
                      <m:sub>
                        <m:r>
                          <a:rPr lang="en-GB" i="1" dirty="0" smtClean="0">
                            <a:latin typeface="Cambria Math" panose="02040503050406030204" pitchFamily="18" charset="0"/>
                          </a:rPr>
                          <m:t>2</m:t>
                        </m:r>
                      </m:sub>
                    </m:sSub>
                    <m:r>
                      <a:rPr lang="en-GB" i="1" dirty="0" smtClean="0">
                        <a:latin typeface="Cambria Math" panose="02040503050406030204" pitchFamily="18" charset="0"/>
                      </a:rPr>
                      <m:t> </m:t>
                    </m:r>
                  </m:oMath>
                </a14:m>
                <a:r>
                  <a:rPr lang="en-GB" dirty="0"/>
                  <a:t>go to 0, </a:t>
                </a:r>
                <a14:m>
                  <m:oMath xmlns:m="http://schemas.openxmlformats.org/officeDocument/2006/math">
                    <m:r>
                      <a:rPr lang="en-GB" i="1" dirty="0" smtClean="0">
                        <a:latin typeface="Cambria Math" panose="02040503050406030204" pitchFamily="18" charset="0"/>
                      </a:rPr>
                      <m:t>𝐿</m:t>
                    </m:r>
                  </m:oMath>
                </a14:m>
                <a:r>
                  <a:rPr lang="en-GB" dirty="0"/>
                  <a:t> goes to 1)</a:t>
                </a:r>
              </a:p>
            </p:txBody>
          </p:sp>
        </mc:Choice>
        <mc:Fallback xmlns="">
          <p:sp>
            <p:nvSpPr>
              <p:cNvPr id="4" name="Title 3">
                <a:extLst>
                  <a:ext uri="{FF2B5EF4-FFF2-40B4-BE49-F238E27FC236}">
                    <a16:creationId xmlns:a16="http://schemas.microsoft.com/office/drawing/2014/main" id="{F40D078E-6986-7B28-E774-C44DDA4CA4EF}"/>
                  </a:ext>
                </a:extLst>
              </p:cNvPr>
              <p:cNvSpPr>
                <a:spLocks noGrp="1" noRot="1" noChangeAspect="1" noMove="1" noResize="1" noEditPoints="1" noAdjustHandles="1" noChangeArrowheads="1" noChangeShapeType="1" noTextEdit="1"/>
              </p:cNvSpPr>
              <p:nvPr>
                <p:ph type="title"/>
              </p:nvPr>
            </p:nvSpPr>
            <p:spPr>
              <a:blipFill>
                <a:blip r:embed="rId2"/>
                <a:stretch>
                  <a:fillRect l="-2377"/>
                </a:stretch>
              </a:blipFill>
            </p:spPr>
            <p:txBody>
              <a:bodyPr/>
              <a:lstStyle/>
              <a:p>
                <a:r>
                  <a:rPr lang="en-GB">
                    <a:noFill/>
                  </a:rPr>
                  <a:t> </a:t>
                </a:r>
              </a:p>
            </p:txBody>
          </p:sp>
        </mc:Fallback>
      </mc:AlternateContent>
      <p:pic>
        <p:nvPicPr>
          <p:cNvPr id="5" name="Picture 4">
            <a:extLst>
              <a:ext uri="{FF2B5EF4-FFF2-40B4-BE49-F238E27FC236}">
                <a16:creationId xmlns:a16="http://schemas.microsoft.com/office/drawing/2014/main" id="{B10A1380-5A3D-4542-C62F-F1660B159443}"/>
              </a:ext>
            </a:extLst>
          </p:cNvPr>
          <p:cNvPicPr>
            <a:picLocks noChangeAspect="1"/>
          </p:cNvPicPr>
          <p:nvPr/>
        </p:nvPicPr>
        <p:blipFill>
          <a:blip r:embed="rId3"/>
          <a:stretch>
            <a:fillRect/>
          </a:stretch>
        </p:blipFill>
        <p:spPr>
          <a:xfrm>
            <a:off x="308755" y="1773678"/>
            <a:ext cx="11574490" cy="4725059"/>
          </a:xfrm>
          <a:prstGeom prst="rect">
            <a:avLst/>
          </a:prstGeom>
        </p:spPr>
      </p:pic>
      <p:sp>
        <p:nvSpPr>
          <p:cNvPr id="6" name="TextBox 5">
            <a:extLst>
              <a:ext uri="{FF2B5EF4-FFF2-40B4-BE49-F238E27FC236}">
                <a16:creationId xmlns:a16="http://schemas.microsoft.com/office/drawing/2014/main" id="{65DD5689-20D6-4E73-B38C-D31259E10CFA}"/>
              </a:ext>
            </a:extLst>
          </p:cNvPr>
          <p:cNvSpPr txBox="1"/>
          <p:nvPr/>
        </p:nvSpPr>
        <p:spPr>
          <a:xfrm>
            <a:off x="8206154" y="3024554"/>
            <a:ext cx="3470031" cy="1938992"/>
          </a:xfrm>
          <a:prstGeom prst="rect">
            <a:avLst/>
          </a:prstGeom>
          <a:noFill/>
        </p:spPr>
        <p:txBody>
          <a:bodyPr wrap="square" rtlCol="0">
            <a:spAutoFit/>
          </a:bodyPr>
          <a:lstStyle/>
          <a:p>
            <a:pPr algn="ctr"/>
            <a:r>
              <a:rPr lang="en-GB" sz="2400" b="1" dirty="0">
                <a:solidFill>
                  <a:schemeClr val="accent2"/>
                </a:solidFill>
              </a:rPr>
              <a:t>Model nicely approximates the expected analytical solution we computed earlier!</a:t>
            </a:r>
          </a:p>
        </p:txBody>
      </p:sp>
    </p:spTree>
    <p:extLst>
      <p:ext uri="{BB962C8B-B14F-4D97-AF65-F5344CB8AC3E}">
        <p14:creationId xmlns:p14="http://schemas.microsoft.com/office/powerpoint/2010/main" val="2384509114"/>
      </p:ext>
    </p:extLst>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22C20D1-C894-BA52-389C-4185A54583AA}"/>
              </a:ext>
            </a:extLst>
          </p:cNvPr>
          <p:cNvSpPr>
            <a:spLocks noGrp="1"/>
          </p:cNvSpPr>
          <p:nvPr>
            <p:ph type="title"/>
          </p:nvPr>
        </p:nvSpPr>
        <p:spPr/>
        <p:txBody>
          <a:bodyPr/>
          <a:lstStyle/>
          <a:p>
            <a:r>
              <a:rPr lang="en-GB" dirty="0"/>
              <a:t>Feature engineering in PINNs</a:t>
            </a:r>
          </a:p>
        </p:txBody>
      </p:sp>
      <mc:AlternateContent xmlns:mc="http://schemas.openxmlformats.org/markup-compatibility/2006" xmlns:a14="http://schemas.microsoft.com/office/drawing/2010/main">
        <mc:Choice Requires="a14">
          <p:sp>
            <p:nvSpPr>
              <p:cNvPr id="3" name="Content Placeholder 2">
                <a:extLst>
                  <a:ext uri="{FF2B5EF4-FFF2-40B4-BE49-F238E27FC236}">
                    <a16:creationId xmlns:a16="http://schemas.microsoft.com/office/drawing/2014/main" id="{470D4165-E5EC-28F8-4CC9-013CCA3192B3}"/>
                  </a:ext>
                </a:extLst>
              </p:cNvPr>
              <p:cNvSpPr>
                <a:spLocks noGrp="1"/>
              </p:cNvSpPr>
              <p:nvPr>
                <p:ph idx="1"/>
              </p:nvPr>
            </p:nvSpPr>
            <p:spPr>
              <a:xfrm>
                <a:off x="838200" y="1825624"/>
                <a:ext cx="10515600" cy="5032375"/>
              </a:xfrm>
            </p:spPr>
            <p:txBody>
              <a:bodyPr>
                <a:normAutofit/>
              </a:bodyPr>
              <a:lstStyle/>
              <a:p>
                <a:pPr marL="0" indent="0">
                  <a:buNone/>
                </a:pPr>
                <a:r>
                  <a:rPr lang="en-GB" dirty="0"/>
                  <a:t>When it comes to PINN, </a:t>
                </a:r>
                <a:r>
                  <a:rPr lang="en-GB" b="1" dirty="0"/>
                  <a:t>feature engineering is king</a:t>
                </a:r>
                <a:r>
                  <a:rPr lang="en-GB" dirty="0"/>
                  <a:t>.</a:t>
                </a:r>
              </a:p>
              <a:p>
                <a:r>
                  <a:rPr lang="en-GB" dirty="0"/>
                  <a:t>If you suspect that the analytical solution has a certain </a:t>
                </a:r>
                <a:r>
                  <a:rPr lang="en-GB" dirty="0" err="1"/>
                  <a:t>behavior</a:t>
                </a:r>
                <a:r>
                  <a:rPr lang="en-GB" dirty="0"/>
                  <a:t>, for instance exponential, cosine, logarithm, etc.</a:t>
                </a:r>
              </a:p>
              <a:p>
                <a:r>
                  <a:rPr lang="en-GB" dirty="0"/>
                  <a:t>Then you can perform feature engineering and provide additional inputs to the PINN.</a:t>
                </a:r>
              </a:p>
              <a:p>
                <a:r>
                  <a:rPr lang="en-GB" dirty="0"/>
                  <a:t>For instance, let us pretend that we strongly suspect that the analytical solution of our PDE has a negative exponential </a:t>
                </a:r>
                <a:r>
                  <a:rPr lang="en-GB" dirty="0" err="1"/>
                  <a:t>behavior</a:t>
                </a:r>
                <a:r>
                  <a:rPr lang="en-GB" dirty="0"/>
                  <a:t>.</a:t>
                </a:r>
              </a:p>
              <a:p>
                <a:r>
                  <a:rPr lang="en-GB" dirty="0"/>
                  <a:t>We will rework our model so that it takes two inputs, instead of just one, being the time </a:t>
                </a:r>
                <a14:m>
                  <m:oMath xmlns:m="http://schemas.openxmlformats.org/officeDocument/2006/math">
                    <m:r>
                      <a:rPr lang="en-GB" i="1" dirty="0" smtClean="0">
                        <a:latin typeface="Cambria Math" panose="02040503050406030204" pitchFamily="18" charset="0"/>
                      </a:rPr>
                      <m:t>𝑡</m:t>
                    </m:r>
                  </m:oMath>
                </a14:m>
                <a:r>
                  <a:rPr lang="en-GB" dirty="0"/>
                  <a:t> and </a:t>
                </a:r>
                <a14:m>
                  <m:oMath xmlns:m="http://schemas.openxmlformats.org/officeDocument/2006/math">
                    <m:r>
                      <m:rPr>
                        <m:sty m:val="p"/>
                      </m:rPr>
                      <a:rPr lang="en-GB" i="1" dirty="0" smtClean="0">
                        <a:latin typeface="Cambria Math" panose="02040503050406030204" pitchFamily="18" charset="0"/>
                      </a:rPr>
                      <m:t>exp</m:t>
                    </m:r>
                    <m:r>
                      <a:rPr lang="en-GB" i="1" dirty="0" smtClean="0">
                        <a:latin typeface="Cambria Math" panose="02040503050406030204" pitchFamily="18" charset="0"/>
                      </a:rPr>
                      <m:t>⁡(−</m:t>
                    </m:r>
                    <m:r>
                      <a:rPr lang="en-GB" i="1" dirty="0" smtClean="0">
                        <a:latin typeface="Cambria Math" panose="02040503050406030204" pitchFamily="18" charset="0"/>
                      </a:rPr>
                      <m:t>𝑡</m:t>
                    </m:r>
                    <m:r>
                      <a:rPr lang="en-GB" i="1" dirty="0" smtClean="0">
                        <a:latin typeface="Cambria Math" panose="02040503050406030204" pitchFamily="18" charset="0"/>
                      </a:rPr>
                      <m:t>)</m:t>
                    </m:r>
                  </m:oMath>
                </a14:m>
                <a:r>
                  <a:rPr lang="en-GB" dirty="0"/>
                  <a:t>.</a:t>
                </a:r>
              </a:p>
              <a:p>
                <a:r>
                  <a:rPr lang="en-GB" dirty="0"/>
                  <a:t>Also, amend the physics loss function accordingly.</a:t>
                </a:r>
              </a:p>
            </p:txBody>
          </p:sp>
        </mc:Choice>
        <mc:Fallback xmlns="">
          <p:sp>
            <p:nvSpPr>
              <p:cNvPr id="3" name="Content Placeholder 2">
                <a:extLst>
                  <a:ext uri="{FF2B5EF4-FFF2-40B4-BE49-F238E27FC236}">
                    <a16:creationId xmlns:a16="http://schemas.microsoft.com/office/drawing/2014/main" id="{470D4165-E5EC-28F8-4CC9-013CCA3192B3}"/>
                  </a:ext>
                </a:extLst>
              </p:cNvPr>
              <p:cNvSpPr>
                <a:spLocks noGrp="1" noRot="1" noChangeAspect="1" noMove="1" noResize="1" noEditPoints="1" noAdjustHandles="1" noChangeArrowheads="1" noChangeShapeType="1" noTextEdit="1"/>
              </p:cNvSpPr>
              <p:nvPr>
                <p:ph idx="1"/>
              </p:nvPr>
            </p:nvSpPr>
            <p:spPr>
              <a:xfrm>
                <a:off x="838200" y="1825624"/>
                <a:ext cx="10515600" cy="5032375"/>
              </a:xfrm>
              <a:blipFill>
                <a:blip r:embed="rId2"/>
                <a:stretch>
                  <a:fillRect l="-1217" t="-1937"/>
                </a:stretch>
              </a:blipFill>
            </p:spPr>
            <p:txBody>
              <a:bodyPr/>
              <a:lstStyle/>
              <a:p>
                <a:r>
                  <a:rPr lang="en-GB">
                    <a:noFill/>
                  </a:rPr>
                  <a:t> </a:t>
                </a:r>
              </a:p>
            </p:txBody>
          </p:sp>
        </mc:Fallback>
      </mc:AlternateContent>
    </p:spTree>
    <p:extLst>
      <p:ext uri="{BB962C8B-B14F-4D97-AF65-F5344CB8AC3E}">
        <p14:creationId xmlns:p14="http://schemas.microsoft.com/office/powerpoint/2010/main" val="50560222"/>
      </p:ext>
    </p:extLst>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Picture 4">
            <a:extLst>
              <a:ext uri="{FF2B5EF4-FFF2-40B4-BE49-F238E27FC236}">
                <a16:creationId xmlns:a16="http://schemas.microsoft.com/office/drawing/2014/main" id="{29642F88-ECC4-5C7B-3AF7-6A9850AF74A2}"/>
              </a:ext>
            </a:extLst>
          </p:cNvPr>
          <p:cNvPicPr>
            <a:picLocks noChangeAspect="1"/>
          </p:cNvPicPr>
          <p:nvPr/>
        </p:nvPicPr>
        <p:blipFill>
          <a:blip r:embed="rId2"/>
          <a:stretch>
            <a:fillRect/>
          </a:stretch>
        </p:blipFill>
        <p:spPr>
          <a:xfrm>
            <a:off x="1462214" y="236837"/>
            <a:ext cx="9267571" cy="6384326"/>
          </a:xfrm>
          <a:prstGeom prst="rect">
            <a:avLst/>
          </a:prstGeom>
        </p:spPr>
      </p:pic>
      <p:sp>
        <p:nvSpPr>
          <p:cNvPr id="6" name="Rectangle 5">
            <a:extLst>
              <a:ext uri="{FF2B5EF4-FFF2-40B4-BE49-F238E27FC236}">
                <a16:creationId xmlns:a16="http://schemas.microsoft.com/office/drawing/2014/main" id="{546929B0-CBE0-915E-2451-64BFB917A44D}"/>
              </a:ext>
            </a:extLst>
          </p:cNvPr>
          <p:cNvSpPr/>
          <p:nvPr/>
        </p:nvSpPr>
        <p:spPr>
          <a:xfrm>
            <a:off x="4689231" y="2836985"/>
            <a:ext cx="504092" cy="433753"/>
          </a:xfrm>
          <a:prstGeom prst="rect">
            <a:avLst/>
          </a:prstGeom>
          <a:noFill/>
          <a:ln w="38100">
            <a:solidFill>
              <a:schemeClr val="accent2"/>
            </a:solidFill>
            <a:prstDash val="sysDash"/>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p>
        </p:txBody>
      </p:sp>
    </p:spTree>
    <p:extLst>
      <p:ext uri="{BB962C8B-B14F-4D97-AF65-F5344CB8AC3E}">
        <p14:creationId xmlns:p14="http://schemas.microsoft.com/office/powerpoint/2010/main" val="3961474222"/>
      </p:ext>
    </p:extLst>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Picture 4">
            <a:extLst>
              <a:ext uri="{FF2B5EF4-FFF2-40B4-BE49-F238E27FC236}">
                <a16:creationId xmlns:a16="http://schemas.microsoft.com/office/drawing/2014/main" id="{45EFE1D1-48A1-95EE-6754-B80E069F3402}"/>
              </a:ext>
            </a:extLst>
          </p:cNvPr>
          <p:cNvPicPr>
            <a:picLocks noChangeAspect="1"/>
          </p:cNvPicPr>
          <p:nvPr/>
        </p:nvPicPr>
        <p:blipFill>
          <a:blip r:embed="rId2"/>
          <a:stretch>
            <a:fillRect/>
          </a:stretch>
        </p:blipFill>
        <p:spPr>
          <a:xfrm>
            <a:off x="1441149" y="198443"/>
            <a:ext cx="9309701" cy="6461114"/>
          </a:xfrm>
          <a:prstGeom prst="rect">
            <a:avLst/>
          </a:prstGeom>
        </p:spPr>
      </p:pic>
      <p:sp>
        <p:nvSpPr>
          <p:cNvPr id="10" name="Rectangle 9">
            <a:extLst>
              <a:ext uri="{FF2B5EF4-FFF2-40B4-BE49-F238E27FC236}">
                <a16:creationId xmlns:a16="http://schemas.microsoft.com/office/drawing/2014/main" id="{5D46FDE6-5350-23FD-3C8D-9513B09E5432}"/>
              </a:ext>
            </a:extLst>
          </p:cNvPr>
          <p:cNvSpPr/>
          <p:nvPr/>
        </p:nvSpPr>
        <p:spPr>
          <a:xfrm>
            <a:off x="1934308" y="1125416"/>
            <a:ext cx="8932984" cy="1301262"/>
          </a:xfrm>
          <a:prstGeom prst="rect">
            <a:avLst/>
          </a:prstGeom>
          <a:noFill/>
          <a:ln w="38100">
            <a:solidFill>
              <a:schemeClr val="accent2"/>
            </a:solidFill>
            <a:prstDash val="sysDash"/>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12" name="Rectangle 11">
            <a:extLst>
              <a:ext uri="{FF2B5EF4-FFF2-40B4-BE49-F238E27FC236}">
                <a16:creationId xmlns:a16="http://schemas.microsoft.com/office/drawing/2014/main" id="{545169BF-F0DE-3D39-D80A-4C560E757CC1}"/>
              </a:ext>
            </a:extLst>
          </p:cNvPr>
          <p:cNvSpPr/>
          <p:nvPr/>
        </p:nvSpPr>
        <p:spPr>
          <a:xfrm flipV="1">
            <a:off x="1934308" y="3669321"/>
            <a:ext cx="7467600" cy="1055077"/>
          </a:xfrm>
          <a:prstGeom prst="rect">
            <a:avLst/>
          </a:prstGeom>
          <a:noFill/>
          <a:ln w="38100">
            <a:solidFill>
              <a:schemeClr val="accent2"/>
            </a:solidFill>
            <a:prstDash val="sysDash"/>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13" name="TextBox 12">
            <a:extLst>
              <a:ext uri="{FF2B5EF4-FFF2-40B4-BE49-F238E27FC236}">
                <a16:creationId xmlns:a16="http://schemas.microsoft.com/office/drawing/2014/main" id="{7392F3EB-B64D-94BE-2B3D-7273ADF3D0E1}"/>
              </a:ext>
            </a:extLst>
          </p:cNvPr>
          <p:cNvSpPr txBox="1"/>
          <p:nvPr/>
        </p:nvSpPr>
        <p:spPr>
          <a:xfrm>
            <a:off x="9373782" y="2828835"/>
            <a:ext cx="2754135" cy="3046988"/>
          </a:xfrm>
          <a:prstGeom prst="rect">
            <a:avLst/>
          </a:prstGeom>
          <a:noFill/>
        </p:spPr>
        <p:txBody>
          <a:bodyPr wrap="square" rtlCol="0">
            <a:spAutoFit/>
          </a:bodyPr>
          <a:lstStyle/>
          <a:p>
            <a:pPr algn="ctr"/>
            <a:r>
              <a:rPr lang="en-GB" sz="2400" b="1" dirty="0">
                <a:solidFill>
                  <a:schemeClr val="accent2"/>
                </a:solidFill>
              </a:rPr>
              <a:t>Amend both forward calls accordingly</a:t>
            </a:r>
          </a:p>
          <a:p>
            <a:pPr algn="ctr"/>
            <a:r>
              <a:rPr lang="en-GB" sz="2400" b="1" dirty="0">
                <a:solidFill>
                  <a:schemeClr val="accent2"/>
                </a:solidFill>
              </a:rPr>
              <a:t>(forward pass for PDE loss calculation and forward pass for initial condition loss calculation)</a:t>
            </a:r>
          </a:p>
        </p:txBody>
      </p:sp>
    </p:spTree>
    <p:extLst>
      <p:ext uri="{BB962C8B-B14F-4D97-AF65-F5344CB8AC3E}">
        <p14:creationId xmlns:p14="http://schemas.microsoft.com/office/powerpoint/2010/main" val="3062785468"/>
      </p:ext>
    </p:extLst>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Picture 4">
            <a:extLst>
              <a:ext uri="{FF2B5EF4-FFF2-40B4-BE49-F238E27FC236}">
                <a16:creationId xmlns:a16="http://schemas.microsoft.com/office/drawing/2014/main" id="{45EFE1D1-48A1-95EE-6754-B80E069F3402}"/>
              </a:ext>
            </a:extLst>
          </p:cNvPr>
          <p:cNvPicPr>
            <a:picLocks noChangeAspect="1"/>
          </p:cNvPicPr>
          <p:nvPr/>
        </p:nvPicPr>
        <p:blipFill>
          <a:blip r:embed="rId2"/>
          <a:stretch>
            <a:fillRect/>
          </a:stretch>
        </p:blipFill>
        <p:spPr>
          <a:xfrm>
            <a:off x="1441149" y="198443"/>
            <a:ext cx="9309701" cy="6461114"/>
          </a:xfrm>
          <a:prstGeom prst="rect">
            <a:avLst/>
          </a:prstGeom>
        </p:spPr>
      </p:pic>
      <p:sp>
        <p:nvSpPr>
          <p:cNvPr id="11" name="Rectangle 10">
            <a:extLst>
              <a:ext uri="{FF2B5EF4-FFF2-40B4-BE49-F238E27FC236}">
                <a16:creationId xmlns:a16="http://schemas.microsoft.com/office/drawing/2014/main" id="{F3A5558D-A23A-DA78-32CA-88E9A1498952}"/>
              </a:ext>
            </a:extLst>
          </p:cNvPr>
          <p:cNvSpPr/>
          <p:nvPr/>
        </p:nvSpPr>
        <p:spPr>
          <a:xfrm flipV="1">
            <a:off x="1934308" y="2579075"/>
            <a:ext cx="2508738" cy="410307"/>
          </a:xfrm>
          <a:prstGeom prst="rect">
            <a:avLst/>
          </a:prstGeom>
          <a:noFill/>
          <a:ln w="38100">
            <a:solidFill>
              <a:schemeClr val="accent2"/>
            </a:solidFill>
            <a:prstDash val="sysDash"/>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p>
        </p:txBody>
      </p:sp>
      <mc:AlternateContent xmlns:mc="http://schemas.openxmlformats.org/markup-compatibility/2006" xmlns:a14="http://schemas.microsoft.com/office/drawing/2010/main">
        <mc:Choice Requires="a14">
          <p:sp>
            <p:nvSpPr>
              <p:cNvPr id="2" name="TextBox 1">
                <a:extLst>
                  <a:ext uri="{FF2B5EF4-FFF2-40B4-BE49-F238E27FC236}">
                    <a16:creationId xmlns:a16="http://schemas.microsoft.com/office/drawing/2014/main" id="{A3F856B3-6D9A-0473-FC3F-E9CEC71AE04C}"/>
                  </a:ext>
                </a:extLst>
              </p:cNvPr>
              <p:cNvSpPr txBox="1"/>
              <p:nvPr/>
            </p:nvSpPr>
            <p:spPr>
              <a:xfrm>
                <a:off x="7996715" y="1633082"/>
                <a:ext cx="2754135" cy="1569660"/>
              </a:xfrm>
              <a:prstGeom prst="rect">
                <a:avLst/>
              </a:prstGeom>
              <a:noFill/>
            </p:spPr>
            <p:txBody>
              <a:bodyPr wrap="square" rtlCol="0">
                <a:spAutoFit/>
              </a:bodyPr>
              <a:lstStyle/>
              <a:p>
                <a:pPr algn="ctr"/>
                <a:r>
                  <a:rPr lang="en-GB" sz="2400" b="1" dirty="0">
                    <a:solidFill>
                      <a:schemeClr val="accent2"/>
                    </a:solidFill>
                  </a:rPr>
                  <a:t>Important note: Gradients are only calculated </a:t>
                </a:r>
                <a:r>
                  <a:rPr lang="en-GB" sz="2400" b="1" dirty="0" err="1">
                    <a:solidFill>
                      <a:schemeClr val="accent2"/>
                    </a:solidFill>
                  </a:rPr>
                  <a:t>wrt</a:t>
                </a:r>
                <a:r>
                  <a:rPr lang="en-GB" sz="2400" b="1" dirty="0">
                    <a:solidFill>
                      <a:schemeClr val="accent2"/>
                    </a:solidFill>
                  </a:rPr>
                  <a:t> to </a:t>
                </a:r>
                <a14:m>
                  <m:oMath xmlns:m="http://schemas.openxmlformats.org/officeDocument/2006/math">
                    <m:r>
                      <a:rPr lang="en-GB" sz="2400" b="1" i="1" dirty="0" smtClean="0">
                        <a:solidFill>
                          <a:schemeClr val="accent2"/>
                        </a:solidFill>
                        <a:latin typeface="Cambria Math" panose="02040503050406030204" pitchFamily="18" charset="0"/>
                      </a:rPr>
                      <m:t>𝒕</m:t>
                    </m:r>
                  </m:oMath>
                </a14:m>
                <a:r>
                  <a:rPr lang="en-GB" sz="2400" b="1" dirty="0">
                    <a:solidFill>
                      <a:schemeClr val="accent2"/>
                    </a:solidFill>
                  </a:rPr>
                  <a:t>, not </a:t>
                </a:r>
                <a14:m>
                  <m:oMath xmlns:m="http://schemas.openxmlformats.org/officeDocument/2006/math">
                    <m:r>
                      <m:rPr>
                        <m:sty m:val="p"/>
                      </m:rPr>
                      <a:rPr lang="en-GB" sz="2400" b="1" i="1" dirty="0" smtClean="0">
                        <a:solidFill>
                          <a:schemeClr val="accent2"/>
                        </a:solidFill>
                        <a:latin typeface="Cambria Math" panose="02040503050406030204" pitchFamily="18" charset="0"/>
                      </a:rPr>
                      <m:t>exp</m:t>
                    </m:r>
                    <m:r>
                      <a:rPr lang="en-GB" sz="2400" b="1" i="1" dirty="0" smtClean="0">
                        <a:solidFill>
                          <a:schemeClr val="accent2"/>
                        </a:solidFill>
                        <a:latin typeface="Cambria Math" panose="02040503050406030204" pitchFamily="18" charset="0"/>
                      </a:rPr>
                      <m:t>⁡(−</m:t>
                    </m:r>
                    <m:r>
                      <a:rPr lang="en-GB" sz="2400" b="1" i="1" dirty="0" smtClean="0">
                        <a:solidFill>
                          <a:schemeClr val="accent2"/>
                        </a:solidFill>
                        <a:latin typeface="Cambria Math" panose="02040503050406030204" pitchFamily="18" charset="0"/>
                      </a:rPr>
                      <m:t>𝒕</m:t>
                    </m:r>
                    <m:r>
                      <a:rPr lang="en-GB" sz="2400" b="1" i="1" dirty="0" smtClean="0">
                        <a:solidFill>
                          <a:schemeClr val="accent2"/>
                        </a:solidFill>
                        <a:latin typeface="Cambria Math" panose="02040503050406030204" pitchFamily="18" charset="0"/>
                      </a:rPr>
                      <m:t>)</m:t>
                    </m:r>
                  </m:oMath>
                </a14:m>
                <a:r>
                  <a:rPr lang="en-GB" sz="2400" b="1" dirty="0">
                    <a:solidFill>
                      <a:schemeClr val="accent2"/>
                    </a:solidFill>
                  </a:rPr>
                  <a:t>!</a:t>
                </a:r>
              </a:p>
            </p:txBody>
          </p:sp>
        </mc:Choice>
        <mc:Fallback xmlns="">
          <p:sp>
            <p:nvSpPr>
              <p:cNvPr id="2" name="TextBox 1">
                <a:extLst>
                  <a:ext uri="{FF2B5EF4-FFF2-40B4-BE49-F238E27FC236}">
                    <a16:creationId xmlns:a16="http://schemas.microsoft.com/office/drawing/2014/main" id="{A3F856B3-6D9A-0473-FC3F-E9CEC71AE04C}"/>
                  </a:ext>
                </a:extLst>
              </p:cNvPr>
              <p:cNvSpPr txBox="1">
                <a:spLocks noRot="1" noChangeAspect="1" noMove="1" noResize="1" noEditPoints="1" noAdjustHandles="1" noChangeArrowheads="1" noChangeShapeType="1" noTextEdit="1"/>
              </p:cNvSpPr>
              <p:nvPr/>
            </p:nvSpPr>
            <p:spPr>
              <a:xfrm>
                <a:off x="7996715" y="1633082"/>
                <a:ext cx="2754135" cy="1569660"/>
              </a:xfrm>
              <a:prstGeom prst="rect">
                <a:avLst/>
              </a:prstGeom>
              <a:blipFill>
                <a:blip r:embed="rId3"/>
                <a:stretch>
                  <a:fillRect l="-442" t="-3113" r="-2876" b="-8171"/>
                </a:stretch>
              </a:blipFill>
            </p:spPr>
            <p:txBody>
              <a:bodyPr/>
              <a:lstStyle/>
              <a:p>
                <a:r>
                  <a:rPr lang="en-GB">
                    <a:noFill/>
                  </a:rPr>
                  <a:t> </a:t>
                </a:r>
              </a:p>
            </p:txBody>
          </p:sp>
        </mc:Fallback>
      </mc:AlternateContent>
    </p:spTree>
    <p:extLst>
      <p:ext uri="{BB962C8B-B14F-4D97-AF65-F5344CB8AC3E}">
        <p14:creationId xmlns:p14="http://schemas.microsoft.com/office/powerpoint/2010/main" val="3898279777"/>
      </p:ext>
    </p:extLst>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F20DDBF-6854-D7B2-53D6-3FB028CF4037}"/>
              </a:ext>
            </a:extLst>
          </p:cNvPr>
          <p:cNvSpPr>
            <a:spLocks noGrp="1"/>
          </p:cNvSpPr>
          <p:nvPr>
            <p:ph type="title"/>
          </p:nvPr>
        </p:nvSpPr>
        <p:spPr/>
        <p:txBody>
          <a:bodyPr/>
          <a:lstStyle/>
          <a:p>
            <a:r>
              <a:rPr lang="en-GB" dirty="0"/>
              <a:t>Training loop does not change, but much </a:t>
            </a:r>
            <a:r>
              <a:rPr lang="en-GB"/>
              <a:t>faster (only 300 iterations </a:t>
            </a:r>
            <a:r>
              <a:rPr lang="en-GB" dirty="0"/>
              <a:t>instead of 30000!)</a:t>
            </a:r>
          </a:p>
        </p:txBody>
      </p:sp>
      <p:pic>
        <p:nvPicPr>
          <p:cNvPr id="5" name="Picture 4">
            <a:extLst>
              <a:ext uri="{FF2B5EF4-FFF2-40B4-BE49-F238E27FC236}">
                <a16:creationId xmlns:a16="http://schemas.microsoft.com/office/drawing/2014/main" id="{C3CC8DEC-D3F1-A985-95F9-878458726B4B}"/>
              </a:ext>
            </a:extLst>
          </p:cNvPr>
          <p:cNvPicPr>
            <a:picLocks noChangeAspect="1"/>
          </p:cNvPicPr>
          <p:nvPr/>
        </p:nvPicPr>
        <p:blipFill>
          <a:blip r:embed="rId2"/>
          <a:stretch>
            <a:fillRect/>
          </a:stretch>
        </p:blipFill>
        <p:spPr>
          <a:xfrm>
            <a:off x="303991" y="1942765"/>
            <a:ext cx="11584017" cy="4801270"/>
          </a:xfrm>
          <a:prstGeom prst="rect">
            <a:avLst/>
          </a:prstGeom>
        </p:spPr>
      </p:pic>
    </p:spTree>
    <p:extLst>
      <p:ext uri="{BB962C8B-B14F-4D97-AF65-F5344CB8AC3E}">
        <p14:creationId xmlns:p14="http://schemas.microsoft.com/office/powerpoint/2010/main" val="339181501"/>
      </p:ext>
    </p:extLst>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a:extLst>
              <a:ext uri="{FF2B5EF4-FFF2-40B4-BE49-F238E27FC236}">
                <a16:creationId xmlns:a16="http://schemas.microsoft.com/office/drawing/2014/main" id="{1EC346AE-3D31-4948-C654-E0884231E05C}"/>
              </a:ext>
            </a:extLst>
          </p:cNvPr>
          <p:cNvSpPr>
            <a:spLocks noGrp="1"/>
          </p:cNvSpPr>
          <p:nvPr>
            <p:ph type="title"/>
          </p:nvPr>
        </p:nvSpPr>
        <p:spPr/>
        <p:txBody>
          <a:bodyPr/>
          <a:lstStyle/>
          <a:p>
            <a:r>
              <a:rPr lang="en-GB" dirty="0"/>
              <a:t>More advanced stuff on PINNs</a:t>
            </a:r>
          </a:p>
        </p:txBody>
      </p:sp>
      <p:sp>
        <p:nvSpPr>
          <p:cNvPr id="5" name="Content Placeholder 4">
            <a:extLst>
              <a:ext uri="{FF2B5EF4-FFF2-40B4-BE49-F238E27FC236}">
                <a16:creationId xmlns:a16="http://schemas.microsoft.com/office/drawing/2014/main" id="{AF8C1DA2-5152-B9F4-19F6-9ACAA9275A7F}"/>
              </a:ext>
            </a:extLst>
          </p:cNvPr>
          <p:cNvSpPr>
            <a:spLocks noGrp="1"/>
          </p:cNvSpPr>
          <p:nvPr>
            <p:ph sz="half" idx="1"/>
          </p:nvPr>
        </p:nvSpPr>
        <p:spPr/>
        <p:txBody>
          <a:bodyPr/>
          <a:lstStyle/>
          <a:p>
            <a:pPr marL="0" indent="0">
              <a:buNone/>
            </a:pPr>
            <a:r>
              <a:rPr lang="en-GB" dirty="0"/>
              <a:t>This PINN approach can be complexified by</a:t>
            </a:r>
          </a:p>
          <a:p>
            <a:r>
              <a:rPr lang="en-GB" dirty="0"/>
              <a:t>Taking into account </a:t>
            </a:r>
            <a:r>
              <a:rPr lang="en-GB" b="1" dirty="0"/>
              <a:t>different types of boundary/initial conditions</a:t>
            </a:r>
            <a:r>
              <a:rPr lang="en-GB" dirty="0"/>
              <a:t>.</a:t>
            </a:r>
          </a:p>
          <a:p>
            <a:pPr marL="0" indent="0">
              <a:buNone/>
            </a:pPr>
            <a:endParaRPr lang="en-GB" dirty="0"/>
          </a:p>
          <a:p>
            <a:pPr marL="0" indent="0">
              <a:buNone/>
            </a:pPr>
            <a:r>
              <a:rPr lang="en-GB" dirty="0"/>
              <a:t>(Some of them might require to use the </a:t>
            </a:r>
            <a:r>
              <a:rPr lang="en-GB" dirty="0" err="1"/>
              <a:t>autograd</a:t>
            </a:r>
            <a:r>
              <a:rPr lang="en-GB" dirty="0"/>
              <a:t> function to calculate partial derivatives but we have seen how to do that!)</a:t>
            </a:r>
          </a:p>
        </p:txBody>
      </p:sp>
      <p:pic>
        <p:nvPicPr>
          <p:cNvPr id="8" name="Picture 7" descr="A table of different types of conditions&#10;&#10;Description automatically generated with medium confidence">
            <a:extLst>
              <a:ext uri="{FF2B5EF4-FFF2-40B4-BE49-F238E27FC236}">
                <a16:creationId xmlns:a16="http://schemas.microsoft.com/office/drawing/2014/main" id="{B7454667-DF67-BE70-F95A-FEA9179C35D7}"/>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6019800" y="1825625"/>
            <a:ext cx="6125806" cy="4053620"/>
          </a:xfrm>
          <a:prstGeom prst="rect">
            <a:avLst/>
          </a:prstGeom>
        </p:spPr>
      </p:pic>
    </p:spTree>
    <p:extLst>
      <p:ext uri="{BB962C8B-B14F-4D97-AF65-F5344CB8AC3E}">
        <p14:creationId xmlns:p14="http://schemas.microsoft.com/office/powerpoint/2010/main" val="3527338206"/>
      </p:ext>
    </p:extLst>
  </p:cSld>
  <p:clrMapOvr>
    <a:masterClrMapping/>
  </p:clrMapOvr>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a:extLst>
              <a:ext uri="{FF2B5EF4-FFF2-40B4-BE49-F238E27FC236}">
                <a16:creationId xmlns:a16="http://schemas.microsoft.com/office/drawing/2014/main" id="{1EC346AE-3D31-4948-C654-E0884231E05C}"/>
              </a:ext>
            </a:extLst>
          </p:cNvPr>
          <p:cNvSpPr>
            <a:spLocks noGrp="1"/>
          </p:cNvSpPr>
          <p:nvPr>
            <p:ph type="title"/>
          </p:nvPr>
        </p:nvSpPr>
        <p:spPr/>
        <p:txBody>
          <a:bodyPr/>
          <a:lstStyle/>
          <a:p>
            <a:r>
              <a:rPr lang="en-GB" dirty="0"/>
              <a:t>More advanced stuff on PINNs</a:t>
            </a:r>
          </a:p>
        </p:txBody>
      </p:sp>
      <p:sp>
        <p:nvSpPr>
          <p:cNvPr id="5" name="Content Placeholder 4">
            <a:extLst>
              <a:ext uri="{FF2B5EF4-FFF2-40B4-BE49-F238E27FC236}">
                <a16:creationId xmlns:a16="http://schemas.microsoft.com/office/drawing/2014/main" id="{AF8C1DA2-5152-B9F4-19F6-9ACAA9275A7F}"/>
              </a:ext>
            </a:extLst>
          </p:cNvPr>
          <p:cNvSpPr>
            <a:spLocks noGrp="1"/>
          </p:cNvSpPr>
          <p:nvPr>
            <p:ph idx="1"/>
          </p:nvPr>
        </p:nvSpPr>
        <p:spPr/>
        <p:txBody>
          <a:bodyPr>
            <a:normAutofit/>
          </a:bodyPr>
          <a:lstStyle/>
          <a:p>
            <a:pPr marL="0" indent="0">
              <a:buNone/>
            </a:pPr>
            <a:r>
              <a:rPr lang="en-GB" dirty="0"/>
              <a:t>This PINN approach can be complexified by</a:t>
            </a:r>
          </a:p>
          <a:p>
            <a:r>
              <a:rPr lang="en-GB" dirty="0"/>
              <a:t>Using higher order and/or mixed derivatives.</a:t>
            </a:r>
          </a:p>
          <a:p>
            <a:pPr marL="0" indent="0">
              <a:buNone/>
            </a:pPr>
            <a:r>
              <a:rPr lang="en-GB" dirty="0"/>
              <a:t>(If the PDE requires it, use the </a:t>
            </a:r>
            <a:r>
              <a:rPr lang="en-GB" dirty="0" err="1"/>
              <a:t>grad_fun</a:t>
            </a:r>
            <a:r>
              <a:rPr lang="en-GB" dirty="0"/>
              <a:t> multiple times to compute higher order derivatives!)</a:t>
            </a:r>
          </a:p>
        </p:txBody>
      </p:sp>
      <p:pic>
        <p:nvPicPr>
          <p:cNvPr id="3" name="Picture 2">
            <a:extLst>
              <a:ext uri="{FF2B5EF4-FFF2-40B4-BE49-F238E27FC236}">
                <a16:creationId xmlns:a16="http://schemas.microsoft.com/office/drawing/2014/main" id="{B755F26F-8117-2691-E3A3-1198927B6D5B}"/>
              </a:ext>
            </a:extLst>
          </p:cNvPr>
          <p:cNvPicPr>
            <a:picLocks noChangeAspect="1"/>
          </p:cNvPicPr>
          <p:nvPr/>
        </p:nvPicPr>
        <p:blipFill>
          <a:blip r:embed="rId2"/>
          <a:stretch>
            <a:fillRect/>
          </a:stretch>
        </p:blipFill>
        <p:spPr>
          <a:xfrm>
            <a:off x="588879" y="3922935"/>
            <a:ext cx="11014241" cy="2846521"/>
          </a:xfrm>
          <a:prstGeom prst="rect">
            <a:avLst/>
          </a:prstGeom>
        </p:spPr>
      </p:pic>
    </p:spTree>
    <p:extLst>
      <p:ext uri="{BB962C8B-B14F-4D97-AF65-F5344CB8AC3E}">
        <p14:creationId xmlns:p14="http://schemas.microsoft.com/office/powerpoint/2010/main" val="586362090"/>
      </p:ext>
    </p:extLst>
  </p:cSld>
  <p:clrMapOvr>
    <a:masterClrMapping/>
  </p:clrMapOvr>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a:extLst>
              <a:ext uri="{FF2B5EF4-FFF2-40B4-BE49-F238E27FC236}">
                <a16:creationId xmlns:a16="http://schemas.microsoft.com/office/drawing/2014/main" id="{1EC346AE-3D31-4948-C654-E0884231E05C}"/>
              </a:ext>
            </a:extLst>
          </p:cNvPr>
          <p:cNvSpPr>
            <a:spLocks noGrp="1"/>
          </p:cNvSpPr>
          <p:nvPr>
            <p:ph type="title"/>
          </p:nvPr>
        </p:nvSpPr>
        <p:spPr/>
        <p:txBody>
          <a:bodyPr/>
          <a:lstStyle/>
          <a:p>
            <a:r>
              <a:rPr lang="en-GB" dirty="0"/>
              <a:t>More advanced stuff on PINNs</a:t>
            </a:r>
          </a:p>
        </p:txBody>
      </p:sp>
      <mc:AlternateContent xmlns:mc="http://schemas.openxmlformats.org/markup-compatibility/2006" xmlns:a14="http://schemas.microsoft.com/office/drawing/2010/main">
        <mc:Choice Requires="a14">
          <p:sp>
            <p:nvSpPr>
              <p:cNvPr id="5" name="Content Placeholder 4">
                <a:extLst>
                  <a:ext uri="{FF2B5EF4-FFF2-40B4-BE49-F238E27FC236}">
                    <a16:creationId xmlns:a16="http://schemas.microsoft.com/office/drawing/2014/main" id="{AF8C1DA2-5152-B9F4-19F6-9ACAA9275A7F}"/>
                  </a:ext>
                </a:extLst>
              </p:cNvPr>
              <p:cNvSpPr>
                <a:spLocks noGrp="1"/>
              </p:cNvSpPr>
              <p:nvPr>
                <p:ph sz="half" idx="1"/>
              </p:nvPr>
            </p:nvSpPr>
            <p:spPr>
              <a:xfrm>
                <a:off x="838200" y="1825624"/>
                <a:ext cx="5181600" cy="5032375"/>
              </a:xfrm>
            </p:spPr>
            <p:txBody>
              <a:bodyPr>
                <a:normAutofit/>
              </a:bodyPr>
              <a:lstStyle/>
              <a:p>
                <a:pPr marL="0" indent="0">
                  <a:buNone/>
                </a:pPr>
                <a:r>
                  <a:rPr lang="en-GB" dirty="0"/>
                  <a:t>This PINN approach can be complexified by</a:t>
                </a:r>
              </a:p>
              <a:p>
                <a:r>
                  <a:rPr lang="en-GB" dirty="0"/>
                  <a:t>Using a dataset!</a:t>
                </a:r>
              </a:p>
              <a:p>
                <a:pPr marL="0" indent="0">
                  <a:buNone/>
                </a:pPr>
                <a:r>
                  <a:rPr lang="en-GB" dirty="0"/>
                  <a:t>(If you know some values of the analytical function in certain locations, not just the initial conditions, you may use that to help the model train! It will simply require to amend the </a:t>
                </a:r>
                <a14:m>
                  <m:oMath xmlns:m="http://schemas.openxmlformats.org/officeDocument/2006/math">
                    <m:sSub>
                      <m:sSubPr>
                        <m:ctrlPr>
                          <a:rPr lang="en-GB" i="1" dirty="0" smtClean="0">
                            <a:latin typeface="Cambria Math" panose="02040503050406030204" pitchFamily="18" charset="0"/>
                          </a:rPr>
                        </m:ctrlPr>
                      </m:sSubPr>
                      <m:e>
                        <m:r>
                          <a:rPr lang="en-GB" i="1" dirty="0" smtClean="0">
                            <a:latin typeface="Cambria Math" panose="02040503050406030204" pitchFamily="18" charset="0"/>
                          </a:rPr>
                          <m:t>𝑉</m:t>
                        </m:r>
                      </m:e>
                      <m:sub>
                        <m:r>
                          <a:rPr lang="en-GB" i="1" dirty="0" smtClean="0">
                            <a:latin typeface="Cambria Math" panose="02040503050406030204" pitchFamily="18" charset="0"/>
                          </a:rPr>
                          <m:t>2</m:t>
                        </m:r>
                      </m:sub>
                    </m:sSub>
                    <m:r>
                      <a:rPr lang="en-GB" i="1" dirty="0" smtClean="0">
                        <a:latin typeface="Cambria Math" panose="02040503050406030204" pitchFamily="18" charset="0"/>
                      </a:rPr>
                      <m:t> </m:t>
                    </m:r>
                  </m:oMath>
                </a14:m>
                <a:r>
                  <a:rPr lang="en-GB" dirty="0"/>
                  <a:t>definition in the physics loss function to include these additional points!)</a:t>
                </a:r>
              </a:p>
            </p:txBody>
          </p:sp>
        </mc:Choice>
        <mc:Fallback xmlns="">
          <p:sp>
            <p:nvSpPr>
              <p:cNvPr id="5" name="Content Placeholder 4">
                <a:extLst>
                  <a:ext uri="{FF2B5EF4-FFF2-40B4-BE49-F238E27FC236}">
                    <a16:creationId xmlns:a16="http://schemas.microsoft.com/office/drawing/2014/main" id="{AF8C1DA2-5152-B9F4-19F6-9ACAA9275A7F}"/>
                  </a:ext>
                </a:extLst>
              </p:cNvPr>
              <p:cNvSpPr>
                <a:spLocks noGrp="1" noRot="1" noChangeAspect="1" noMove="1" noResize="1" noEditPoints="1" noAdjustHandles="1" noChangeArrowheads="1" noChangeShapeType="1" noTextEdit="1"/>
              </p:cNvSpPr>
              <p:nvPr>
                <p:ph sz="half" idx="1"/>
              </p:nvPr>
            </p:nvSpPr>
            <p:spPr>
              <a:xfrm>
                <a:off x="838200" y="1825624"/>
                <a:ext cx="5181600" cy="5032375"/>
              </a:xfrm>
              <a:blipFill>
                <a:blip r:embed="rId2"/>
                <a:stretch>
                  <a:fillRect l="-2471" t="-1937" r="-3412"/>
                </a:stretch>
              </a:blipFill>
            </p:spPr>
            <p:txBody>
              <a:bodyPr/>
              <a:lstStyle/>
              <a:p>
                <a:r>
                  <a:rPr lang="en-GB">
                    <a:noFill/>
                  </a:rPr>
                  <a:t> </a:t>
                </a:r>
              </a:p>
            </p:txBody>
          </p:sp>
        </mc:Fallback>
      </mc:AlternateContent>
      <p:pic>
        <p:nvPicPr>
          <p:cNvPr id="3" name="Picture 2" descr="A graph of a graph showing the function of a training&#10;&#10;Description automatically generated with medium confidence">
            <a:extLst>
              <a:ext uri="{FF2B5EF4-FFF2-40B4-BE49-F238E27FC236}">
                <a16:creationId xmlns:a16="http://schemas.microsoft.com/office/drawing/2014/main" id="{A15BF3E7-2009-5D61-3E3D-14B504E638C7}"/>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6375809" y="1825624"/>
            <a:ext cx="5757743" cy="4375884"/>
          </a:xfrm>
          <a:prstGeom prst="rect">
            <a:avLst/>
          </a:prstGeom>
        </p:spPr>
      </p:pic>
    </p:spTree>
    <p:extLst>
      <p:ext uri="{BB962C8B-B14F-4D97-AF65-F5344CB8AC3E}">
        <p14:creationId xmlns:p14="http://schemas.microsoft.com/office/powerpoint/2010/main" val="1859486824"/>
      </p:ext>
    </p:extLst>
  </p:cSld>
  <p:clrMapOvr>
    <a:masterClrMapping/>
  </p:clrMapOvr>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39C518E-0BF3-EECA-EA0B-B31DCB944099}"/>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47256AD8-E923-2947-CC03-9CC182784763}"/>
              </a:ext>
            </a:extLst>
          </p:cNvPr>
          <p:cNvSpPr>
            <a:spLocks noGrp="1"/>
          </p:cNvSpPr>
          <p:nvPr>
            <p:ph type="title"/>
          </p:nvPr>
        </p:nvSpPr>
        <p:spPr/>
        <p:txBody>
          <a:bodyPr/>
          <a:lstStyle/>
          <a:p>
            <a:r>
              <a:rPr lang="en-GB" dirty="0"/>
              <a:t>Applications of PINNs</a:t>
            </a:r>
          </a:p>
        </p:txBody>
      </p:sp>
      <p:sp>
        <p:nvSpPr>
          <p:cNvPr id="3" name="Content Placeholder 2">
            <a:extLst>
              <a:ext uri="{FF2B5EF4-FFF2-40B4-BE49-F238E27FC236}">
                <a16:creationId xmlns:a16="http://schemas.microsoft.com/office/drawing/2014/main" id="{C3EDA9F6-D6C8-E45A-A401-7BEDD316ACA2}"/>
              </a:ext>
            </a:extLst>
          </p:cNvPr>
          <p:cNvSpPr>
            <a:spLocks noGrp="1"/>
          </p:cNvSpPr>
          <p:nvPr>
            <p:ph sz="half" idx="1"/>
          </p:nvPr>
        </p:nvSpPr>
        <p:spPr>
          <a:xfrm>
            <a:off x="838199" y="1825624"/>
            <a:ext cx="6509658" cy="5032375"/>
          </a:xfrm>
        </p:spPr>
        <p:txBody>
          <a:bodyPr>
            <a:normAutofit fontScale="92500"/>
          </a:bodyPr>
          <a:lstStyle/>
          <a:p>
            <a:r>
              <a:rPr lang="en-GB" b="1" dirty="0"/>
              <a:t>Engineering and Fluid Dynamics: </a:t>
            </a:r>
            <a:r>
              <a:rPr lang="en-GB" dirty="0"/>
              <a:t>Solving Navier-Stokes equations for simulating fluid flows. Applications in designing aircraft, ships, and automobiles. Modelling heat transfer and energy systems.</a:t>
            </a:r>
          </a:p>
          <a:p>
            <a:r>
              <a:rPr lang="en-GB" b="1" dirty="0"/>
              <a:t>Environmental Science: </a:t>
            </a:r>
            <a:r>
              <a:rPr lang="en-GB" dirty="0"/>
              <a:t>Predicting climate patterns and weather forecasting. Modelling ocean currents and wave dynamics. Groundwater flow and pollutant transport.</a:t>
            </a:r>
          </a:p>
          <a:p>
            <a:r>
              <a:rPr lang="en-GB" b="1" dirty="0"/>
              <a:t>Medicine and Biology: </a:t>
            </a:r>
            <a:r>
              <a:rPr lang="en-GB" dirty="0"/>
              <a:t>Simulating blood flow in arteries (</a:t>
            </a:r>
            <a:r>
              <a:rPr lang="en-GB" dirty="0" err="1"/>
              <a:t>hemodynamics</a:t>
            </a:r>
            <a:r>
              <a:rPr lang="en-GB" dirty="0"/>
              <a:t>). Modelling </a:t>
            </a:r>
            <a:r>
              <a:rPr lang="en-GB" dirty="0" err="1"/>
              <a:t>tumor</a:t>
            </a:r>
            <a:r>
              <a:rPr lang="en-GB" dirty="0"/>
              <a:t> growth and drug transport. Bio-mechanics of tissues and organs.</a:t>
            </a:r>
          </a:p>
          <a:p>
            <a:endParaRPr lang="en-GB" dirty="0"/>
          </a:p>
        </p:txBody>
      </p:sp>
      <p:pic>
        <p:nvPicPr>
          <p:cNvPr id="8" name="Picture 7" descr="A car with a rainbow colored tail&#10;&#10;Description automatically generated with medium confidence">
            <a:extLst>
              <a:ext uri="{FF2B5EF4-FFF2-40B4-BE49-F238E27FC236}">
                <a16:creationId xmlns:a16="http://schemas.microsoft.com/office/drawing/2014/main" id="{86E45D8F-6CD8-4266-63CB-F5772D6B6340}"/>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7878333" y="87086"/>
            <a:ext cx="3692236" cy="2264228"/>
          </a:xfrm>
          <a:prstGeom prst="rect">
            <a:avLst/>
          </a:prstGeom>
        </p:spPr>
      </p:pic>
      <p:pic>
        <p:nvPicPr>
          <p:cNvPr id="10" name="Picture 9" descr="A screen shot of a computer screen&#10;&#10;Description automatically generated">
            <a:extLst>
              <a:ext uri="{FF2B5EF4-FFF2-40B4-BE49-F238E27FC236}">
                <a16:creationId xmlns:a16="http://schemas.microsoft.com/office/drawing/2014/main" id="{7FC025EA-1FBE-B8A8-7F87-75705833C5FE}"/>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8290257" y="2460172"/>
            <a:ext cx="3280312" cy="2264228"/>
          </a:xfrm>
          <a:prstGeom prst="rect">
            <a:avLst/>
          </a:prstGeom>
        </p:spPr>
      </p:pic>
      <p:pic>
        <p:nvPicPr>
          <p:cNvPr id="12" name="Picture 11" descr="A collage of images of neurons&#10;&#10;Description automatically generated">
            <a:extLst>
              <a:ext uri="{FF2B5EF4-FFF2-40B4-BE49-F238E27FC236}">
                <a16:creationId xmlns:a16="http://schemas.microsoft.com/office/drawing/2014/main" id="{4E6DB9F8-ACF7-9D5F-A6B0-02A61918A9BA}"/>
              </a:ext>
            </a:extLst>
          </p:cNvPr>
          <p:cNvPicPr>
            <a:picLocks noChangeAspect="1"/>
          </p:cNvPicPr>
          <p:nvPr/>
        </p:nvPicPr>
        <p:blipFill>
          <a:blip r:embed="rId4">
            <a:extLst>
              <a:ext uri="{28A0092B-C50C-407E-A947-70E740481C1C}">
                <a14:useLocalDpi xmlns:a14="http://schemas.microsoft.com/office/drawing/2010/main" val="0"/>
              </a:ext>
            </a:extLst>
          </a:blip>
          <a:srcRect t="2699" b="73380"/>
          <a:stretch/>
        </p:blipFill>
        <p:spPr>
          <a:xfrm>
            <a:off x="7761513" y="5047413"/>
            <a:ext cx="4214965" cy="1535269"/>
          </a:xfrm>
          <a:prstGeom prst="rect">
            <a:avLst/>
          </a:prstGeom>
        </p:spPr>
      </p:pic>
    </p:spTree>
    <p:extLst>
      <p:ext uri="{BB962C8B-B14F-4D97-AF65-F5344CB8AC3E}">
        <p14:creationId xmlns:p14="http://schemas.microsoft.com/office/powerpoint/2010/main" val="2100092643"/>
      </p:ext>
    </p:extLst>
  </p:cSld>
  <p:clrMapOvr>
    <a:masterClrMapping/>
  </p:clrMapOvr>
</p:sld>
</file>

<file path=ppt/slides/slide4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8F41505-24F6-37C7-EF04-DE9E5E460863}"/>
              </a:ext>
            </a:extLst>
          </p:cNvPr>
          <p:cNvSpPr>
            <a:spLocks noGrp="1"/>
          </p:cNvSpPr>
          <p:nvPr>
            <p:ph type="title"/>
          </p:nvPr>
        </p:nvSpPr>
        <p:spPr/>
        <p:txBody>
          <a:bodyPr/>
          <a:lstStyle/>
          <a:p>
            <a:r>
              <a:rPr lang="en-GB" dirty="0"/>
              <a:t>Applications of PINNs</a:t>
            </a:r>
          </a:p>
        </p:txBody>
      </p:sp>
      <p:sp>
        <p:nvSpPr>
          <p:cNvPr id="3" name="Content Placeholder 2">
            <a:extLst>
              <a:ext uri="{FF2B5EF4-FFF2-40B4-BE49-F238E27FC236}">
                <a16:creationId xmlns:a16="http://schemas.microsoft.com/office/drawing/2014/main" id="{A57DFC6D-D71D-4F84-B8F2-26B40FE2D861}"/>
              </a:ext>
            </a:extLst>
          </p:cNvPr>
          <p:cNvSpPr>
            <a:spLocks noGrp="1"/>
          </p:cNvSpPr>
          <p:nvPr>
            <p:ph sz="half" idx="1"/>
          </p:nvPr>
        </p:nvSpPr>
        <p:spPr>
          <a:xfrm>
            <a:off x="838199" y="1825624"/>
            <a:ext cx="6052458" cy="5032375"/>
          </a:xfrm>
        </p:spPr>
        <p:txBody>
          <a:bodyPr>
            <a:normAutofit/>
          </a:bodyPr>
          <a:lstStyle/>
          <a:p>
            <a:r>
              <a:rPr lang="en-GB" b="1" dirty="0"/>
              <a:t>Finance: </a:t>
            </a:r>
            <a:r>
              <a:rPr lang="en-GB" dirty="0"/>
              <a:t>Solving partial differential equations like the Black-Scholes. Pricing complex financial derivatives.</a:t>
            </a:r>
            <a:br>
              <a:rPr lang="en-GB" dirty="0"/>
            </a:br>
            <a:r>
              <a:rPr lang="en-GB" dirty="0"/>
              <a:t>Risk management and portfolio optimization.</a:t>
            </a:r>
          </a:p>
          <a:p>
            <a:r>
              <a:rPr lang="en-GB" b="1" dirty="0"/>
              <a:t>Structural Mechanics: </a:t>
            </a:r>
            <a:r>
              <a:rPr lang="en-GB" dirty="0" err="1"/>
              <a:t>Analyzing</a:t>
            </a:r>
            <a:r>
              <a:rPr lang="en-GB" dirty="0"/>
              <a:t> stress-strain relationships in materials. Solving elasticity and plasticity equations. Simulating failure mechanics and crack propagation.</a:t>
            </a:r>
          </a:p>
        </p:txBody>
      </p:sp>
      <p:pic>
        <p:nvPicPr>
          <p:cNvPr id="6" name="Picture 5" descr="A collage of math equations&#10;&#10;Description automatically generated">
            <a:extLst>
              <a:ext uri="{FF2B5EF4-FFF2-40B4-BE49-F238E27FC236}">
                <a16:creationId xmlns:a16="http://schemas.microsoft.com/office/drawing/2014/main" id="{EB701865-3437-861E-0DD8-5A291B3EE481}"/>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7206343" y="97971"/>
            <a:ext cx="4615544" cy="4615544"/>
          </a:xfrm>
          <a:prstGeom prst="rect">
            <a:avLst/>
          </a:prstGeom>
        </p:spPr>
      </p:pic>
      <p:pic>
        <p:nvPicPr>
          <p:cNvPr id="10" name="Picture 9" descr="Several different colored bars&#10;&#10;Description automatically generated with medium confidence">
            <a:extLst>
              <a:ext uri="{FF2B5EF4-FFF2-40B4-BE49-F238E27FC236}">
                <a16:creationId xmlns:a16="http://schemas.microsoft.com/office/drawing/2014/main" id="{97F587B1-B549-2086-70AD-1CFCF556E1D7}"/>
              </a:ext>
            </a:extLst>
          </p:cNvPr>
          <p:cNvPicPr>
            <a:picLocks noChangeAspect="1"/>
          </p:cNvPicPr>
          <p:nvPr/>
        </p:nvPicPr>
        <p:blipFill>
          <a:blip r:embed="rId3">
            <a:extLst>
              <a:ext uri="{28A0092B-C50C-407E-A947-70E740481C1C}">
                <a14:useLocalDpi xmlns:a14="http://schemas.microsoft.com/office/drawing/2010/main" val="0"/>
              </a:ext>
            </a:extLst>
          </a:blip>
          <a:srcRect t="56337"/>
          <a:stretch/>
        </p:blipFill>
        <p:spPr>
          <a:xfrm>
            <a:off x="6847113" y="5111297"/>
            <a:ext cx="5324860" cy="1512206"/>
          </a:xfrm>
          <a:prstGeom prst="rect">
            <a:avLst/>
          </a:prstGeom>
        </p:spPr>
      </p:pic>
    </p:spTree>
    <p:extLst>
      <p:ext uri="{BB962C8B-B14F-4D97-AF65-F5344CB8AC3E}">
        <p14:creationId xmlns:p14="http://schemas.microsoft.com/office/powerpoint/2010/main" val="784104973"/>
      </p:ext>
    </p:extLst>
  </p:cSld>
  <p:clrMapOvr>
    <a:masterClrMapping/>
  </p:clrMapOvr>
</p:sld>
</file>

<file path=ppt/slides/slide4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76AC4C6-898A-B3E6-3DFE-F6B04AFFC851}"/>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D5D9461D-0C44-FBC4-BB41-D3742FFBADF2}"/>
              </a:ext>
            </a:extLst>
          </p:cNvPr>
          <p:cNvSpPr>
            <a:spLocks noGrp="1"/>
          </p:cNvSpPr>
          <p:nvPr>
            <p:ph type="title"/>
          </p:nvPr>
        </p:nvSpPr>
        <p:spPr/>
        <p:txBody>
          <a:bodyPr/>
          <a:lstStyle/>
          <a:p>
            <a:r>
              <a:rPr lang="en-GB" dirty="0"/>
              <a:t>Applications of PINNs</a:t>
            </a:r>
          </a:p>
        </p:txBody>
      </p:sp>
      <p:sp>
        <p:nvSpPr>
          <p:cNvPr id="3" name="Content Placeholder 2">
            <a:extLst>
              <a:ext uri="{FF2B5EF4-FFF2-40B4-BE49-F238E27FC236}">
                <a16:creationId xmlns:a16="http://schemas.microsoft.com/office/drawing/2014/main" id="{C24525DD-FC25-560A-BAB3-1B167ED90BE8}"/>
              </a:ext>
            </a:extLst>
          </p:cNvPr>
          <p:cNvSpPr>
            <a:spLocks noGrp="1"/>
          </p:cNvSpPr>
          <p:nvPr>
            <p:ph sz="half" idx="1"/>
          </p:nvPr>
        </p:nvSpPr>
        <p:spPr>
          <a:xfrm>
            <a:off x="838199" y="1825624"/>
            <a:ext cx="6509658" cy="5032375"/>
          </a:xfrm>
        </p:spPr>
        <p:txBody>
          <a:bodyPr>
            <a:normAutofit/>
          </a:bodyPr>
          <a:lstStyle/>
          <a:p>
            <a:r>
              <a:rPr lang="en-GB" b="1" dirty="0"/>
              <a:t>Astrophysics and Cosmology: </a:t>
            </a:r>
            <a:r>
              <a:rPr lang="en-GB" dirty="0" err="1"/>
              <a:t>Modeling</a:t>
            </a:r>
            <a:r>
              <a:rPr lang="en-GB" dirty="0"/>
              <a:t> gravitational waves and black hole dynamics. Studying the evolution of the universe using Einstein’s field equations.</a:t>
            </a:r>
          </a:p>
          <a:p>
            <a:r>
              <a:rPr lang="en-GB" b="1" dirty="0"/>
              <a:t>Quantum Mechanics: </a:t>
            </a:r>
            <a:r>
              <a:rPr lang="en-GB" dirty="0"/>
              <a:t>Solving the Schrödinger equation for complex quantum systems. </a:t>
            </a:r>
            <a:r>
              <a:rPr lang="en-GB" dirty="0" err="1"/>
              <a:t>Modeling</a:t>
            </a:r>
            <a:r>
              <a:rPr lang="en-GB" dirty="0"/>
              <a:t> quantum transport and materials.</a:t>
            </a:r>
          </a:p>
          <a:p>
            <a:r>
              <a:rPr lang="en-GB" b="1" dirty="0"/>
              <a:t>Electromagnetics and acoustics: </a:t>
            </a:r>
            <a:r>
              <a:rPr lang="en-GB" dirty="0"/>
              <a:t>Simulating electromagnetic and sound wave propagation. Optimizing wireless communication and acoustics.</a:t>
            </a:r>
          </a:p>
        </p:txBody>
      </p:sp>
      <p:pic>
        <p:nvPicPr>
          <p:cNvPr id="5" name="Picture 4" descr="A diagram of a graphing of a wave&#10;&#10;Description automatically generated with medium confidence">
            <a:extLst>
              <a:ext uri="{FF2B5EF4-FFF2-40B4-BE49-F238E27FC236}">
                <a16:creationId xmlns:a16="http://schemas.microsoft.com/office/drawing/2014/main" id="{74F4994D-4E10-6AE3-3961-6281D6A9A4D7}"/>
              </a:ext>
            </a:extLst>
          </p:cNvPr>
          <p:cNvPicPr>
            <a:picLocks noChangeAspect="1"/>
          </p:cNvPicPr>
          <p:nvPr/>
        </p:nvPicPr>
        <p:blipFill>
          <a:blip r:embed="rId2">
            <a:extLst>
              <a:ext uri="{28A0092B-C50C-407E-A947-70E740481C1C}">
                <a14:useLocalDpi xmlns:a14="http://schemas.microsoft.com/office/drawing/2010/main" val="0"/>
              </a:ext>
            </a:extLst>
          </a:blip>
          <a:srcRect t="10306"/>
          <a:stretch/>
        </p:blipFill>
        <p:spPr>
          <a:xfrm>
            <a:off x="8146233" y="128816"/>
            <a:ext cx="3464741" cy="3300184"/>
          </a:xfrm>
          <a:prstGeom prst="rect">
            <a:avLst/>
          </a:prstGeom>
        </p:spPr>
      </p:pic>
      <p:pic>
        <p:nvPicPr>
          <p:cNvPr id="9" name="Picture 8" descr="A collage of black and white artwork&#10;&#10;Description automatically generated">
            <a:extLst>
              <a:ext uri="{FF2B5EF4-FFF2-40B4-BE49-F238E27FC236}">
                <a16:creationId xmlns:a16="http://schemas.microsoft.com/office/drawing/2014/main" id="{2375014A-9334-85A9-4B39-17D7BF3DC20D}"/>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7894590" y="3584378"/>
            <a:ext cx="3968025" cy="3273621"/>
          </a:xfrm>
          <a:prstGeom prst="rect">
            <a:avLst/>
          </a:prstGeom>
        </p:spPr>
      </p:pic>
    </p:spTree>
    <p:extLst>
      <p:ext uri="{BB962C8B-B14F-4D97-AF65-F5344CB8AC3E}">
        <p14:creationId xmlns:p14="http://schemas.microsoft.com/office/powerpoint/2010/main" val="2148788484"/>
      </p:ext>
    </p:extLst>
  </p:cSld>
  <p:clrMapOvr>
    <a:masterClrMapping/>
  </p:clrMapOvr>
</p:sld>
</file>

<file path=ppt/slides/slide4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a:extLst>
              <a:ext uri="{FF2B5EF4-FFF2-40B4-BE49-F238E27FC236}">
                <a16:creationId xmlns:a16="http://schemas.microsoft.com/office/drawing/2014/main" id="{D5AD6D5A-A376-1E42-DAFA-9FE70D4C6B2D}"/>
              </a:ext>
            </a:extLst>
          </p:cNvPr>
          <p:cNvSpPr>
            <a:spLocks noGrp="1"/>
          </p:cNvSpPr>
          <p:nvPr>
            <p:ph type="title"/>
          </p:nvPr>
        </p:nvSpPr>
        <p:spPr/>
        <p:txBody>
          <a:bodyPr/>
          <a:lstStyle/>
          <a:p>
            <a:r>
              <a:rPr lang="en-GB" dirty="0"/>
              <a:t>So, what’s next after ChatGPT/LLMs?</a:t>
            </a:r>
          </a:p>
        </p:txBody>
      </p:sp>
      <p:sp>
        <p:nvSpPr>
          <p:cNvPr id="6" name="Content Placeholder 5">
            <a:extLst>
              <a:ext uri="{FF2B5EF4-FFF2-40B4-BE49-F238E27FC236}">
                <a16:creationId xmlns:a16="http://schemas.microsoft.com/office/drawing/2014/main" id="{8574C0B5-69AD-2904-B6CB-C076B82C68B1}"/>
              </a:ext>
            </a:extLst>
          </p:cNvPr>
          <p:cNvSpPr>
            <a:spLocks noGrp="1"/>
          </p:cNvSpPr>
          <p:nvPr>
            <p:ph sz="half" idx="1"/>
          </p:nvPr>
        </p:nvSpPr>
        <p:spPr>
          <a:xfrm>
            <a:off x="838199" y="1825624"/>
            <a:ext cx="6710465" cy="5032375"/>
          </a:xfrm>
        </p:spPr>
        <p:txBody>
          <a:bodyPr>
            <a:normAutofit/>
          </a:bodyPr>
          <a:lstStyle/>
          <a:p>
            <a:pPr marL="0" indent="0">
              <a:buNone/>
            </a:pPr>
            <a:r>
              <a:rPr lang="en-GB" b="1" dirty="0"/>
              <a:t>Definition (</a:t>
            </a:r>
            <a:r>
              <a:rPr lang="en-GB" b="1" dirty="0">
                <a:solidFill>
                  <a:srgbClr val="00B050"/>
                </a:solidFill>
              </a:rPr>
              <a:t>world models</a:t>
            </a:r>
            <a:r>
              <a:rPr lang="en-GB" b="1" dirty="0"/>
              <a:t>):</a:t>
            </a:r>
          </a:p>
          <a:p>
            <a:pPr marL="0" indent="0">
              <a:buNone/>
            </a:pPr>
            <a:r>
              <a:rPr lang="en-GB" b="1" dirty="0">
                <a:solidFill>
                  <a:srgbClr val="00B050"/>
                </a:solidFill>
              </a:rPr>
              <a:t>World models </a:t>
            </a:r>
            <a:r>
              <a:rPr lang="en-GB" dirty="0"/>
              <a:t>are models designed to understand basic physical and spatial principles, requiring multimodal, real-time data for training.</a:t>
            </a:r>
          </a:p>
          <a:p>
            <a:pPr marL="0" indent="0">
              <a:buNone/>
            </a:pPr>
            <a:r>
              <a:rPr lang="en-GB" dirty="0"/>
              <a:t>World models can then equip AI systems with an understanding of how the physical world works. This is currently seen as a key limitation of LLMs, and </a:t>
            </a:r>
            <a:r>
              <a:rPr lang="en-GB"/>
              <a:t>a fundamental limitation </a:t>
            </a:r>
            <a:r>
              <a:rPr lang="en-GB" dirty="0"/>
              <a:t>for reaching the holy grail of AI, called </a:t>
            </a:r>
            <a:r>
              <a:rPr lang="en-GB" b="1" dirty="0">
                <a:solidFill>
                  <a:srgbClr val="7030A0"/>
                </a:solidFill>
              </a:rPr>
              <a:t>Artificial General Intelligence (AGI)</a:t>
            </a:r>
            <a:r>
              <a:rPr lang="en-GB" dirty="0"/>
              <a:t>.</a:t>
            </a:r>
          </a:p>
          <a:p>
            <a:pPr marL="0" indent="0">
              <a:buNone/>
            </a:pPr>
            <a:endParaRPr lang="en-GB" dirty="0"/>
          </a:p>
        </p:txBody>
      </p:sp>
      <p:pic>
        <p:nvPicPr>
          <p:cNvPr id="10" name="Picture 9">
            <a:extLst>
              <a:ext uri="{FF2B5EF4-FFF2-40B4-BE49-F238E27FC236}">
                <a16:creationId xmlns:a16="http://schemas.microsoft.com/office/drawing/2014/main" id="{B40EA2C6-A4A4-DA95-B06D-7850F1824E45}"/>
              </a:ext>
            </a:extLst>
          </p:cNvPr>
          <p:cNvPicPr>
            <a:picLocks noChangeAspect="1"/>
          </p:cNvPicPr>
          <p:nvPr/>
        </p:nvPicPr>
        <p:blipFill>
          <a:blip r:embed="rId2"/>
          <a:stretch>
            <a:fillRect/>
          </a:stretch>
        </p:blipFill>
        <p:spPr>
          <a:xfrm>
            <a:off x="8163262" y="1575881"/>
            <a:ext cx="3451120" cy="4401428"/>
          </a:xfrm>
          <a:prstGeom prst="rect">
            <a:avLst/>
          </a:prstGeom>
        </p:spPr>
      </p:pic>
      <p:sp>
        <p:nvSpPr>
          <p:cNvPr id="11" name="TextBox 10">
            <a:extLst>
              <a:ext uri="{FF2B5EF4-FFF2-40B4-BE49-F238E27FC236}">
                <a16:creationId xmlns:a16="http://schemas.microsoft.com/office/drawing/2014/main" id="{E40048F3-273A-92CE-2671-CBB452062DAB}"/>
              </a:ext>
            </a:extLst>
          </p:cNvPr>
          <p:cNvSpPr txBox="1"/>
          <p:nvPr/>
        </p:nvSpPr>
        <p:spPr>
          <a:xfrm>
            <a:off x="7937770" y="5996764"/>
            <a:ext cx="3881336" cy="738664"/>
          </a:xfrm>
          <a:prstGeom prst="rect">
            <a:avLst/>
          </a:prstGeom>
          <a:noFill/>
        </p:spPr>
        <p:txBody>
          <a:bodyPr wrap="square" rtlCol="0">
            <a:spAutoFit/>
          </a:bodyPr>
          <a:lstStyle/>
          <a:p>
            <a:r>
              <a:rPr lang="en-GB" sz="1400" dirty="0">
                <a:hlinkClick r:id="rId3"/>
              </a:rPr>
              <a:t>https://techcrunch.com/2025/12/19/yann-lecun-confirms-his-new-world-model-startup-reportedly-seeks-5b-valuation/</a:t>
            </a:r>
            <a:r>
              <a:rPr lang="en-GB" sz="1400" dirty="0"/>
              <a:t> </a:t>
            </a:r>
          </a:p>
        </p:txBody>
      </p:sp>
    </p:spTree>
    <p:extLst>
      <p:ext uri="{BB962C8B-B14F-4D97-AF65-F5344CB8AC3E}">
        <p14:creationId xmlns:p14="http://schemas.microsoft.com/office/powerpoint/2010/main" val="3143901571"/>
      </p:ext>
    </p:extLst>
  </p:cSld>
  <p:clrMapOvr>
    <a:masterClrMapping/>
  </p:clrMapOvr>
</p:sld>
</file>

<file path=ppt/slides/slide4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ECEEA00-60D5-430D-9FCC-42B58A474C32}"/>
            </a:ext>
          </a:extLst>
        </p:cNvPr>
        <p:cNvGrpSpPr/>
        <p:nvPr/>
      </p:nvGrpSpPr>
      <p:grpSpPr>
        <a:xfrm>
          <a:off x="0" y="0"/>
          <a:ext cx="0" cy="0"/>
          <a:chOff x="0" y="0"/>
          <a:chExt cx="0" cy="0"/>
        </a:xfrm>
      </p:grpSpPr>
      <p:sp>
        <p:nvSpPr>
          <p:cNvPr id="4" name="Title 3">
            <a:extLst>
              <a:ext uri="{FF2B5EF4-FFF2-40B4-BE49-F238E27FC236}">
                <a16:creationId xmlns:a16="http://schemas.microsoft.com/office/drawing/2014/main" id="{197D4E05-7F3F-F269-D458-DD75E19CE9D0}"/>
              </a:ext>
            </a:extLst>
          </p:cNvPr>
          <p:cNvSpPr>
            <a:spLocks noGrp="1"/>
          </p:cNvSpPr>
          <p:nvPr>
            <p:ph type="title"/>
          </p:nvPr>
        </p:nvSpPr>
        <p:spPr/>
        <p:txBody>
          <a:bodyPr/>
          <a:lstStyle/>
          <a:p>
            <a:r>
              <a:rPr lang="en-GB" dirty="0"/>
              <a:t>So, what’s next after ChatGPT/LLMs?</a:t>
            </a:r>
          </a:p>
        </p:txBody>
      </p:sp>
      <p:sp>
        <p:nvSpPr>
          <p:cNvPr id="6" name="Content Placeholder 5">
            <a:extLst>
              <a:ext uri="{FF2B5EF4-FFF2-40B4-BE49-F238E27FC236}">
                <a16:creationId xmlns:a16="http://schemas.microsoft.com/office/drawing/2014/main" id="{012CFFDC-0DBF-6B2D-458D-21DD426000FF}"/>
              </a:ext>
            </a:extLst>
          </p:cNvPr>
          <p:cNvSpPr>
            <a:spLocks noGrp="1"/>
          </p:cNvSpPr>
          <p:nvPr>
            <p:ph sz="half" idx="1"/>
          </p:nvPr>
        </p:nvSpPr>
        <p:spPr>
          <a:xfrm>
            <a:off x="838199" y="1825624"/>
            <a:ext cx="6710465" cy="5032375"/>
          </a:xfrm>
        </p:spPr>
        <p:txBody>
          <a:bodyPr>
            <a:normAutofit/>
          </a:bodyPr>
          <a:lstStyle/>
          <a:p>
            <a:pPr marL="0" indent="0">
              <a:buNone/>
            </a:pPr>
            <a:r>
              <a:rPr lang="en-GB" b="1" dirty="0"/>
              <a:t>Definition (</a:t>
            </a:r>
            <a:r>
              <a:rPr lang="en-GB" b="1" dirty="0">
                <a:solidFill>
                  <a:srgbClr val="00B050"/>
                </a:solidFill>
              </a:rPr>
              <a:t>world models</a:t>
            </a:r>
            <a:r>
              <a:rPr lang="en-GB" b="1" dirty="0"/>
              <a:t>):</a:t>
            </a:r>
          </a:p>
          <a:p>
            <a:pPr marL="0" indent="0">
              <a:buNone/>
            </a:pPr>
            <a:r>
              <a:rPr lang="en-GB" b="1" dirty="0">
                <a:solidFill>
                  <a:srgbClr val="00B050"/>
                </a:solidFill>
              </a:rPr>
              <a:t>World models </a:t>
            </a:r>
            <a:r>
              <a:rPr lang="en-GB" dirty="0"/>
              <a:t>are models designed to understand basic physical and spatial principles, requiring multimodal, real-time data for training.</a:t>
            </a:r>
          </a:p>
          <a:p>
            <a:pPr marL="0" indent="0">
              <a:buNone/>
            </a:pPr>
            <a:r>
              <a:rPr lang="en-GB" dirty="0"/>
              <a:t>World models can then equip AI systems with an understanding of how the physical world works. This is currently seen as a key limitation of LLMs, and </a:t>
            </a:r>
            <a:r>
              <a:rPr lang="en-GB"/>
              <a:t>a fundamental limitation </a:t>
            </a:r>
            <a:r>
              <a:rPr lang="en-GB" dirty="0"/>
              <a:t>for reaching the holy grail of AI, called </a:t>
            </a:r>
            <a:r>
              <a:rPr lang="en-GB" b="1" dirty="0">
                <a:solidFill>
                  <a:srgbClr val="7030A0"/>
                </a:solidFill>
              </a:rPr>
              <a:t>Artificial General Intelligence (AGI)</a:t>
            </a:r>
            <a:r>
              <a:rPr lang="en-GB" dirty="0"/>
              <a:t>.</a:t>
            </a:r>
          </a:p>
          <a:p>
            <a:pPr marL="0" indent="0">
              <a:buNone/>
            </a:pPr>
            <a:endParaRPr lang="en-GB" dirty="0"/>
          </a:p>
        </p:txBody>
      </p:sp>
      <p:pic>
        <p:nvPicPr>
          <p:cNvPr id="10" name="Picture 9">
            <a:extLst>
              <a:ext uri="{FF2B5EF4-FFF2-40B4-BE49-F238E27FC236}">
                <a16:creationId xmlns:a16="http://schemas.microsoft.com/office/drawing/2014/main" id="{1D5F1B3D-C6DD-AAA7-EFA8-43D85BF74440}"/>
              </a:ext>
            </a:extLst>
          </p:cNvPr>
          <p:cNvPicPr>
            <a:picLocks noChangeAspect="1"/>
          </p:cNvPicPr>
          <p:nvPr/>
        </p:nvPicPr>
        <p:blipFill>
          <a:blip r:embed="rId2"/>
          <a:stretch>
            <a:fillRect/>
          </a:stretch>
        </p:blipFill>
        <p:spPr>
          <a:xfrm>
            <a:off x="8163262" y="1575881"/>
            <a:ext cx="3451120" cy="4401428"/>
          </a:xfrm>
          <a:prstGeom prst="rect">
            <a:avLst/>
          </a:prstGeom>
        </p:spPr>
      </p:pic>
      <p:sp>
        <p:nvSpPr>
          <p:cNvPr id="11" name="TextBox 10">
            <a:extLst>
              <a:ext uri="{FF2B5EF4-FFF2-40B4-BE49-F238E27FC236}">
                <a16:creationId xmlns:a16="http://schemas.microsoft.com/office/drawing/2014/main" id="{E979B3F0-FB61-8865-2F9F-D1EE40B653F7}"/>
              </a:ext>
            </a:extLst>
          </p:cNvPr>
          <p:cNvSpPr txBox="1"/>
          <p:nvPr/>
        </p:nvSpPr>
        <p:spPr>
          <a:xfrm>
            <a:off x="7937770" y="5996764"/>
            <a:ext cx="3881336" cy="738664"/>
          </a:xfrm>
          <a:prstGeom prst="rect">
            <a:avLst/>
          </a:prstGeom>
          <a:noFill/>
        </p:spPr>
        <p:txBody>
          <a:bodyPr wrap="square" rtlCol="0">
            <a:spAutoFit/>
          </a:bodyPr>
          <a:lstStyle/>
          <a:p>
            <a:r>
              <a:rPr lang="en-GB" sz="1400" dirty="0">
                <a:hlinkClick r:id="rId3"/>
              </a:rPr>
              <a:t>https://techcrunch.com/2025/12/19/yann-lecun-confirms-his-new-world-model-startup-reportedly-seeks-5b-valuation/</a:t>
            </a:r>
            <a:r>
              <a:rPr lang="en-GB" sz="1400" dirty="0"/>
              <a:t> </a:t>
            </a:r>
          </a:p>
        </p:txBody>
      </p:sp>
      <p:pic>
        <p:nvPicPr>
          <p:cNvPr id="3" name="Picture 2">
            <a:extLst>
              <a:ext uri="{FF2B5EF4-FFF2-40B4-BE49-F238E27FC236}">
                <a16:creationId xmlns:a16="http://schemas.microsoft.com/office/drawing/2014/main" id="{93EA9DCC-C90C-BBF6-CDA7-AE904A4FE348}"/>
              </a:ext>
            </a:extLst>
          </p:cNvPr>
          <p:cNvPicPr>
            <a:picLocks noChangeAspect="1"/>
          </p:cNvPicPr>
          <p:nvPr/>
        </p:nvPicPr>
        <p:blipFill>
          <a:blip r:embed="rId4"/>
          <a:stretch>
            <a:fillRect/>
          </a:stretch>
        </p:blipFill>
        <p:spPr>
          <a:xfrm>
            <a:off x="372894" y="1017701"/>
            <a:ext cx="11713029" cy="5475174"/>
          </a:xfrm>
          <a:prstGeom prst="rect">
            <a:avLst/>
          </a:prstGeom>
          <a:ln w="38100" cap="sq">
            <a:solidFill>
              <a:srgbClr val="000000"/>
            </a:solidFill>
            <a:prstDash val="solid"/>
            <a:miter lim="800000"/>
          </a:ln>
          <a:effectLst>
            <a:outerShdw blurRad="50800" dist="38100" dir="2700000" algn="tl" rotWithShape="0">
              <a:srgbClr val="000000">
                <a:alpha val="43000"/>
              </a:srgbClr>
            </a:outerShdw>
          </a:effectLst>
        </p:spPr>
      </p:pic>
    </p:spTree>
    <p:extLst>
      <p:ext uri="{BB962C8B-B14F-4D97-AF65-F5344CB8AC3E}">
        <p14:creationId xmlns:p14="http://schemas.microsoft.com/office/powerpoint/2010/main" val="708083991"/>
      </p:ext>
    </p:extLst>
  </p:cSld>
  <p:clrMapOvr>
    <a:masterClrMapping/>
  </p:clrMapOvr>
</p:sld>
</file>

<file path=ppt/slides/slide5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B92EFD1-C5FA-4040-ADB8-C1A60FA9FEE9}"/>
              </a:ext>
            </a:extLst>
          </p:cNvPr>
          <p:cNvSpPr>
            <a:spLocks noGrp="1"/>
          </p:cNvSpPr>
          <p:nvPr>
            <p:ph type="title"/>
          </p:nvPr>
        </p:nvSpPr>
        <p:spPr/>
        <p:txBody>
          <a:bodyPr/>
          <a:lstStyle/>
          <a:p>
            <a:r>
              <a:rPr lang="en-US" dirty="0"/>
              <a:t>Conclusion</a:t>
            </a:r>
          </a:p>
        </p:txBody>
      </p:sp>
      <p:sp>
        <p:nvSpPr>
          <p:cNvPr id="3" name="Content Placeholder 2">
            <a:extLst>
              <a:ext uri="{FF2B5EF4-FFF2-40B4-BE49-F238E27FC236}">
                <a16:creationId xmlns:a16="http://schemas.microsoft.com/office/drawing/2014/main" id="{78053446-C600-4EAD-8161-EB9D925C5227}"/>
              </a:ext>
            </a:extLst>
          </p:cNvPr>
          <p:cNvSpPr>
            <a:spLocks noGrp="1"/>
          </p:cNvSpPr>
          <p:nvPr>
            <p:ph idx="1"/>
          </p:nvPr>
        </p:nvSpPr>
        <p:spPr>
          <a:xfrm>
            <a:off x="838200" y="1825624"/>
            <a:ext cx="10515600" cy="5032375"/>
          </a:xfrm>
        </p:spPr>
        <p:txBody>
          <a:bodyPr>
            <a:normAutofit/>
          </a:bodyPr>
          <a:lstStyle/>
          <a:p>
            <a:pPr marL="514350" indent="-514350">
              <a:buFont typeface="+mj-lt"/>
              <a:buAutoNum type="arabicPeriod"/>
            </a:pPr>
            <a:r>
              <a:rPr lang="en-US" dirty="0"/>
              <a:t>What is a </a:t>
            </a:r>
            <a:r>
              <a:rPr lang="en-US" b="1" dirty="0"/>
              <a:t>Partial Differential Equation (PDE) </a:t>
            </a:r>
            <a:r>
              <a:rPr lang="en-US" dirty="0"/>
              <a:t>and what are </a:t>
            </a:r>
            <a:r>
              <a:rPr lang="en-US" b="1" dirty="0"/>
              <a:t>typical uses </a:t>
            </a:r>
            <a:r>
              <a:rPr lang="en-US" dirty="0"/>
              <a:t>of PDEs?</a:t>
            </a:r>
          </a:p>
          <a:p>
            <a:pPr marL="514350" indent="-514350">
              <a:buFont typeface="+mj-lt"/>
              <a:buAutoNum type="arabicPeriod"/>
            </a:pPr>
            <a:r>
              <a:rPr lang="en-US" dirty="0"/>
              <a:t>Why are PDEs </a:t>
            </a:r>
            <a:r>
              <a:rPr lang="en-US" b="1" dirty="0"/>
              <a:t>hard to solve </a:t>
            </a:r>
            <a:r>
              <a:rPr lang="en-US" dirty="0"/>
              <a:t>in practice?</a:t>
            </a:r>
          </a:p>
          <a:p>
            <a:pPr marL="514350" indent="-514350">
              <a:buFont typeface="+mj-lt"/>
              <a:buAutoNum type="arabicPeriod"/>
            </a:pPr>
            <a:r>
              <a:rPr lang="en-US" dirty="0"/>
              <a:t>What are </a:t>
            </a:r>
            <a:r>
              <a:rPr lang="en-US" b="1" dirty="0"/>
              <a:t>Physics-Informed Neural Networks (PINNs)</a:t>
            </a:r>
            <a:r>
              <a:rPr lang="en-US" dirty="0"/>
              <a:t>?</a:t>
            </a:r>
          </a:p>
          <a:p>
            <a:pPr marL="514350" indent="-514350">
              <a:buFont typeface="+mj-lt"/>
              <a:buAutoNum type="arabicPeriod"/>
            </a:pPr>
            <a:r>
              <a:rPr lang="en-US" dirty="0"/>
              <a:t>What is a </a:t>
            </a:r>
            <a:r>
              <a:rPr lang="en-US" b="1" dirty="0"/>
              <a:t>Physics Loss</a:t>
            </a:r>
            <a:r>
              <a:rPr lang="en-US" dirty="0"/>
              <a:t> function and how to write a custom one?</a:t>
            </a:r>
          </a:p>
          <a:p>
            <a:pPr marL="514350" indent="-514350">
              <a:buFont typeface="+mj-lt"/>
              <a:buAutoNum type="arabicPeriod"/>
            </a:pPr>
            <a:r>
              <a:rPr lang="en-US" dirty="0"/>
              <a:t>How to </a:t>
            </a:r>
            <a:r>
              <a:rPr lang="en-US" b="1" dirty="0"/>
              <a:t>train a PINN to solve a given</a:t>
            </a:r>
            <a:r>
              <a:rPr lang="en-US" dirty="0"/>
              <a:t> </a:t>
            </a:r>
            <a:r>
              <a:rPr lang="en-US" b="1" dirty="0"/>
              <a:t>PDE</a:t>
            </a:r>
            <a:r>
              <a:rPr lang="en-US" dirty="0"/>
              <a:t>?</a:t>
            </a:r>
          </a:p>
          <a:p>
            <a:pPr marL="514350" indent="-514350">
              <a:buFont typeface="+mj-lt"/>
              <a:buAutoNum type="arabicPeriod"/>
            </a:pPr>
            <a:r>
              <a:rPr lang="en-US" dirty="0"/>
              <a:t>Is </a:t>
            </a:r>
            <a:r>
              <a:rPr lang="en-US" b="1" dirty="0"/>
              <a:t>Feature Engineering</a:t>
            </a:r>
            <a:r>
              <a:rPr lang="en-US" dirty="0"/>
              <a:t> a good thing to have in PINNs?</a:t>
            </a:r>
          </a:p>
          <a:p>
            <a:pPr marL="514350" indent="-514350">
              <a:buFont typeface="+mj-lt"/>
              <a:buAutoNum type="arabicPeriod"/>
            </a:pPr>
            <a:r>
              <a:rPr lang="en-US" dirty="0"/>
              <a:t>What are </a:t>
            </a:r>
            <a:r>
              <a:rPr lang="en-US" b="1" dirty="0"/>
              <a:t>interesting applications </a:t>
            </a:r>
            <a:r>
              <a:rPr lang="en-US" dirty="0"/>
              <a:t>for PINNs?</a:t>
            </a:r>
          </a:p>
        </p:txBody>
      </p:sp>
    </p:spTree>
    <p:extLst>
      <p:ext uri="{BB962C8B-B14F-4D97-AF65-F5344CB8AC3E}">
        <p14:creationId xmlns:p14="http://schemas.microsoft.com/office/powerpoint/2010/main" val="1607593377"/>
      </p:ext>
    </p:extLst>
  </p:cSld>
  <p:clrMapOvr>
    <a:masterClrMapping/>
  </p:clrMapOvr>
</p:sld>
</file>

<file path=ppt/slides/slide5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6E33F64-ACBF-414C-8E71-06E4F9517B15}"/>
              </a:ext>
            </a:extLst>
          </p:cNvPr>
          <p:cNvSpPr>
            <a:spLocks noGrp="1"/>
          </p:cNvSpPr>
          <p:nvPr>
            <p:ph type="title"/>
          </p:nvPr>
        </p:nvSpPr>
        <p:spPr/>
        <p:txBody>
          <a:bodyPr/>
          <a:lstStyle/>
          <a:p>
            <a:r>
              <a:rPr lang="en-US" dirty="0"/>
              <a:t>Learn more about these topics</a:t>
            </a:r>
            <a:endParaRPr lang="en-GB" dirty="0"/>
          </a:p>
        </p:txBody>
      </p:sp>
      <p:sp>
        <p:nvSpPr>
          <p:cNvPr id="3" name="Content Placeholder 2">
            <a:extLst>
              <a:ext uri="{FF2B5EF4-FFF2-40B4-BE49-F238E27FC236}">
                <a16:creationId xmlns:a16="http://schemas.microsoft.com/office/drawing/2014/main" id="{C71C8DD6-14D1-44DF-9843-EFEDF44E39A2}"/>
              </a:ext>
            </a:extLst>
          </p:cNvPr>
          <p:cNvSpPr>
            <a:spLocks noGrp="1"/>
          </p:cNvSpPr>
          <p:nvPr>
            <p:ph idx="1"/>
          </p:nvPr>
        </p:nvSpPr>
        <p:spPr>
          <a:xfrm>
            <a:off x="838200" y="1825624"/>
            <a:ext cx="10515600" cy="5032375"/>
          </a:xfrm>
        </p:spPr>
        <p:txBody>
          <a:bodyPr>
            <a:normAutofit/>
          </a:bodyPr>
          <a:lstStyle/>
          <a:p>
            <a:pPr marL="0" indent="0">
              <a:buNone/>
            </a:pPr>
            <a:r>
              <a:rPr lang="en-US" dirty="0"/>
              <a:t>Out of class, for those of you who are curious</a:t>
            </a:r>
          </a:p>
          <a:p>
            <a:r>
              <a:rPr lang="en-GB" dirty="0"/>
              <a:t>[Raissi2019] M. </a:t>
            </a:r>
            <a:r>
              <a:rPr lang="en-GB" dirty="0" err="1"/>
              <a:t>Raissi</a:t>
            </a:r>
            <a:r>
              <a:rPr lang="en-GB" dirty="0"/>
              <a:t>, P. </a:t>
            </a:r>
            <a:r>
              <a:rPr lang="en-GB" dirty="0" err="1"/>
              <a:t>Perdikaris</a:t>
            </a:r>
            <a:r>
              <a:rPr lang="en-GB" dirty="0"/>
              <a:t>, G.E. </a:t>
            </a:r>
            <a:r>
              <a:rPr lang="en-GB" dirty="0" err="1"/>
              <a:t>Karniadakis</a:t>
            </a:r>
            <a:r>
              <a:rPr lang="en-GB" dirty="0"/>
              <a:t>, “Physics-informed neural networks: A deep learning framework for solving forward and inverse problems involving nonlinear partial differential equations”, 2019.</a:t>
            </a:r>
          </a:p>
          <a:p>
            <a:r>
              <a:rPr lang="en-GB" dirty="0"/>
              <a:t>[Karniadakis2021] G. E. </a:t>
            </a:r>
            <a:r>
              <a:rPr lang="en-GB" dirty="0" err="1"/>
              <a:t>Karniadakis</a:t>
            </a:r>
            <a:r>
              <a:rPr lang="en-GB" dirty="0"/>
              <a:t>, et al., “Physics informed machine learning”, 2021.</a:t>
            </a:r>
          </a:p>
          <a:p>
            <a:r>
              <a:rPr lang="en-GB" dirty="0"/>
              <a:t>[Hornik1989] K. </a:t>
            </a:r>
            <a:r>
              <a:rPr lang="en-GB" dirty="0" err="1"/>
              <a:t>Hornik</a:t>
            </a:r>
            <a:r>
              <a:rPr lang="en-GB" dirty="0"/>
              <a:t>, M. Stinchcombe and H. White, “Multilayer feedforward networks are universal approximators”, 1989.</a:t>
            </a:r>
          </a:p>
          <a:p>
            <a:endParaRPr lang="en-GB" dirty="0"/>
          </a:p>
        </p:txBody>
      </p:sp>
    </p:spTree>
    <p:extLst>
      <p:ext uri="{BB962C8B-B14F-4D97-AF65-F5344CB8AC3E}">
        <p14:creationId xmlns:p14="http://schemas.microsoft.com/office/powerpoint/2010/main" val="3880949074"/>
      </p:ext>
    </p:extLst>
  </p:cSld>
  <p:clrMapOvr>
    <a:masterClrMapping/>
  </p:clrMapOvr>
</p:sld>
</file>

<file path=ppt/slides/slide5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6E33F64-ACBF-414C-8E71-06E4F9517B15}"/>
              </a:ext>
            </a:extLst>
          </p:cNvPr>
          <p:cNvSpPr>
            <a:spLocks noGrp="1"/>
          </p:cNvSpPr>
          <p:nvPr>
            <p:ph type="title"/>
          </p:nvPr>
        </p:nvSpPr>
        <p:spPr/>
        <p:txBody>
          <a:bodyPr/>
          <a:lstStyle/>
          <a:p>
            <a:r>
              <a:rPr lang="en-US" dirty="0"/>
              <a:t>Learn more about these topics</a:t>
            </a:r>
            <a:endParaRPr lang="en-GB" dirty="0"/>
          </a:p>
        </p:txBody>
      </p:sp>
      <p:sp>
        <p:nvSpPr>
          <p:cNvPr id="3" name="Content Placeholder 2">
            <a:extLst>
              <a:ext uri="{FF2B5EF4-FFF2-40B4-BE49-F238E27FC236}">
                <a16:creationId xmlns:a16="http://schemas.microsoft.com/office/drawing/2014/main" id="{C71C8DD6-14D1-44DF-9843-EFEDF44E39A2}"/>
              </a:ext>
            </a:extLst>
          </p:cNvPr>
          <p:cNvSpPr>
            <a:spLocks noGrp="1"/>
          </p:cNvSpPr>
          <p:nvPr>
            <p:ph idx="1"/>
          </p:nvPr>
        </p:nvSpPr>
        <p:spPr>
          <a:xfrm>
            <a:off x="838200" y="1825624"/>
            <a:ext cx="10515600" cy="5032375"/>
          </a:xfrm>
        </p:spPr>
        <p:txBody>
          <a:bodyPr>
            <a:normAutofit/>
          </a:bodyPr>
          <a:lstStyle/>
          <a:p>
            <a:pPr marL="0" indent="0">
              <a:buNone/>
            </a:pPr>
            <a:r>
              <a:rPr lang="en-US" dirty="0"/>
              <a:t>Out of class, for those of you who are curious</a:t>
            </a:r>
          </a:p>
          <a:p>
            <a:r>
              <a:rPr lang="en-GB" dirty="0"/>
              <a:t>A good tutorial on PINNs by Ben Moseley, “So, what is a physics-informed neural network?”, 2021.</a:t>
            </a:r>
          </a:p>
          <a:p>
            <a:pPr marL="0" indent="0">
              <a:buNone/>
            </a:pPr>
            <a:r>
              <a:rPr lang="en-GB" dirty="0">
                <a:hlinkClick r:id="rId2"/>
              </a:rPr>
              <a:t>https://benmoseley.blog/my-research/so-what-is-a-physics-informed-neural-network/</a:t>
            </a:r>
            <a:endParaRPr lang="en-GB" dirty="0"/>
          </a:p>
          <a:p>
            <a:r>
              <a:rPr lang="en-GB" dirty="0"/>
              <a:t>Predicting the market by resolving the Black-Scholes-Merton PDE using </a:t>
            </a:r>
            <a:r>
              <a:rPr lang="en-GB"/>
              <a:t>Machine Learning?</a:t>
            </a:r>
            <a:br>
              <a:rPr lang="en-GB" dirty="0"/>
            </a:br>
            <a:r>
              <a:rPr lang="en-GB" dirty="0">
                <a:hlinkClick r:id="rId3"/>
              </a:rPr>
              <a:t>https://www.youtube.com/watch?v=A5w-dEgIU1M</a:t>
            </a:r>
            <a:endParaRPr lang="en-GB" dirty="0"/>
          </a:p>
          <a:p>
            <a:endParaRPr lang="en-GB" dirty="0"/>
          </a:p>
          <a:p>
            <a:pPr marL="0" indent="0">
              <a:buNone/>
            </a:pPr>
            <a:endParaRPr lang="en-GB" dirty="0"/>
          </a:p>
          <a:p>
            <a:endParaRPr lang="en-US" dirty="0"/>
          </a:p>
          <a:p>
            <a:endParaRPr lang="en-GB" dirty="0"/>
          </a:p>
        </p:txBody>
      </p:sp>
    </p:spTree>
    <p:extLst>
      <p:ext uri="{BB962C8B-B14F-4D97-AF65-F5344CB8AC3E}">
        <p14:creationId xmlns:p14="http://schemas.microsoft.com/office/powerpoint/2010/main" val="3168452983"/>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4908</TotalTime>
  <Words>3629</Words>
  <Application>Microsoft Office PowerPoint</Application>
  <PresentationFormat>Widescreen</PresentationFormat>
  <Paragraphs>239</Paragraphs>
  <Slides>52</Slides>
  <Notes>0</Notes>
  <HiddenSlides>0</HiddenSlides>
  <MMClips>0</MMClips>
  <ScaleCrop>false</ScaleCrop>
  <HeadingPairs>
    <vt:vector size="6" baseType="variant">
      <vt:variant>
        <vt:lpstr>Fonts Used</vt:lpstr>
      </vt:variant>
      <vt:variant>
        <vt:i4>5</vt:i4>
      </vt:variant>
      <vt:variant>
        <vt:lpstr>Theme</vt:lpstr>
      </vt:variant>
      <vt:variant>
        <vt:i4>1</vt:i4>
      </vt:variant>
      <vt:variant>
        <vt:lpstr>Slide Titles</vt:lpstr>
      </vt:variant>
      <vt:variant>
        <vt:i4>52</vt:i4>
      </vt:variant>
    </vt:vector>
  </HeadingPairs>
  <TitlesOfParts>
    <vt:vector size="58" baseType="lpstr">
      <vt:lpstr>Arial</vt:lpstr>
      <vt:lpstr>Calibri</vt:lpstr>
      <vt:lpstr>Calibri Light</vt:lpstr>
      <vt:lpstr>Cambria Math</vt:lpstr>
      <vt:lpstr>Wingdings</vt:lpstr>
      <vt:lpstr>Office Theme</vt:lpstr>
      <vt:lpstr>50.039 Theory and Practice of Deep Learning W12-S1 About Physics-Informed Neural Networks</vt:lpstr>
      <vt:lpstr>About this week (Week 12, an informative lecture about physics-informed neural networks)</vt:lpstr>
      <vt:lpstr>A reminder on PDEs</vt:lpstr>
      <vt:lpstr>Analytical Solution of a PDE</vt:lpstr>
      <vt:lpstr>The Navier-Stokes example</vt:lpstr>
      <vt:lpstr>The Millenium Prize Problems</vt:lpstr>
      <vt:lpstr>The Millenium Prize Problems</vt:lpstr>
      <vt:lpstr>Quick parenthesis: Why is Navier-Stokes a Millenium Prize Problem anyway?</vt:lpstr>
      <vt:lpstr>Finite Element Methods and PDEs</vt:lpstr>
      <vt:lpstr>Finite Element Methods and PDEs</vt:lpstr>
      <vt:lpstr>Finite Element Methods and PDEs</vt:lpstr>
      <vt:lpstr>Finite Element Methods and PDEs</vt:lpstr>
      <vt:lpstr>Neural Networks to the rescue! (again?)</vt:lpstr>
      <vt:lpstr>PINNs vs FEM</vt:lpstr>
      <vt:lpstr>PINNs vs FEM</vt:lpstr>
      <vt:lpstr>A toy example of a PDE (Simpler than Navier-Stokes, for obvious reasons!)</vt:lpstr>
      <vt:lpstr>A toy example of a PDE</vt:lpstr>
      <vt:lpstr>A toy example of a PDE</vt:lpstr>
      <vt:lpstr>Defining a class for our PINN</vt:lpstr>
      <vt:lpstr>Defining a class for our PINN</vt:lpstr>
      <vt:lpstr>How to train the PINN?</vt:lpstr>
      <vt:lpstr>Physics loss function</vt:lpstr>
      <vt:lpstr>Part 1: The PDE loss</vt:lpstr>
      <vt:lpstr>Part 1: The PDE loss</vt:lpstr>
      <vt:lpstr>Part 1: The PDE loss</vt:lpstr>
      <vt:lpstr>Part 1: The PDE loss</vt:lpstr>
      <vt:lpstr>Part 1: The PDE loss</vt:lpstr>
      <vt:lpstr>Part 1: The PDE loss</vt:lpstr>
      <vt:lpstr>Part 1: The PDE loss</vt:lpstr>
      <vt:lpstr>Part 2: The initial condition loss</vt:lpstr>
      <vt:lpstr>Part 3: Assembling the physics loss</vt:lpstr>
      <vt:lpstr>PowerPoint Presentation</vt:lpstr>
      <vt:lpstr>Training the PINN</vt:lpstr>
      <vt:lpstr>PowerPoint Presentation</vt:lpstr>
      <vt:lpstr>It trains? (V_1  and V_2  go to 0, L goes to 1)</vt:lpstr>
      <vt:lpstr>It trains? (V_1  and V_2  go to 0, L goes to 1)</vt:lpstr>
      <vt:lpstr>Feature engineering in PINNs</vt:lpstr>
      <vt:lpstr>PowerPoint Presentation</vt:lpstr>
      <vt:lpstr>PowerPoint Presentation</vt:lpstr>
      <vt:lpstr>PowerPoint Presentation</vt:lpstr>
      <vt:lpstr>Training loop does not change, but much faster (only 300 iterations instead of 30000!)</vt:lpstr>
      <vt:lpstr>More advanced stuff on PINNs</vt:lpstr>
      <vt:lpstr>More advanced stuff on PINNs</vt:lpstr>
      <vt:lpstr>More advanced stuff on PINNs</vt:lpstr>
      <vt:lpstr>Applications of PINNs</vt:lpstr>
      <vt:lpstr>Applications of PINNs</vt:lpstr>
      <vt:lpstr>Applications of PINNs</vt:lpstr>
      <vt:lpstr>So, what’s next after ChatGPT/LLMs?</vt:lpstr>
      <vt:lpstr>So, what’s next after ChatGPT/LLMs?</vt:lpstr>
      <vt:lpstr>Conclusion</vt:lpstr>
      <vt:lpstr>Learn more about these topics</vt:lpstr>
      <vt:lpstr>Learn more about these topics</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50.039 Theory and Practice of Deep Learning W8 S1-2-3</dc:title>
  <dc:creator>Matthieu DE MARI</dc:creator>
  <cp:lastModifiedBy>Matthieu De Mari</cp:lastModifiedBy>
  <cp:revision>216</cp:revision>
  <dcterms:created xsi:type="dcterms:W3CDTF">2021-03-10T09:35:15Z</dcterms:created>
  <dcterms:modified xsi:type="dcterms:W3CDTF">2026-04-13T05:31:56Z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MSIP_Label_7fde23a9-9a05-4714-826f-57380a17bd9d_Enabled">
    <vt:lpwstr>true</vt:lpwstr>
  </property>
  <property fmtid="{D5CDD505-2E9C-101B-9397-08002B2CF9AE}" pid="3" name="MSIP_Label_7fde23a9-9a05-4714-826f-57380a17bd9d_SetDate">
    <vt:lpwstr>2023-02-13T01:55:24Z</vt:lpwstr>
  </property>
  <property fmtid="{D5CDD505-2E9C-101B-9397-08002B2CF9AE}" pid="4" name="MSIP_Label_7fde23a9-9a05-4714-826f-57380a17bd9d_Method">
    <vt:lpwstr>Privileged</vt:lpwstr>
  </property>
  <property fmtid="{D5CDD505-2E9C-101B-9397-08002B2CF9AE}" pid="5" name="MSIP_Label_7fde23a9-9a05-4714-826f-57380a17bd9d_Name">
    <vt:lpwstr>Restricted</vt:lpwstr>
  </property>
  <property fmtid="{D5CDD505-2E9C-101B-9397-08002B2CF9AE}" pid="6" name="MSIP_Label_7fde23a9-9a05-4714-826f-57380a17bd9d_SiteId">
    <vt:lpwstr>3476b776-e990-4f72-b950-62489831623d</vt:lpwstr>
  </property>
  <property fmtid="{D5CDD505-2E9C-101B-9397-08002B2CF9AE}" pid="7" name="MSIP_Label_7fde23a9-9a05-4714-826f-57380a17bd9d_ActionId">
    <vt:lpwstr>aa47e622-c396-4768-a78d-68b133434a1e</vt:lpwstr>
  </property>
  <property fmtid="{D5CDD505-2E9C-101B-9397-08002B2CF9AE}" pid="8" name="MSIP_Label_7fde23a9-9a05-4714-826f-57380a17bd9d_ContentBits">
    <vt:lpwstr>3</vt:lpwstr>
  </property>
  <property fmtid="{D5CDD505-2E9C-101B-9397-08002B2CF9AE}" pid="9" name="ClassificationContentMarkingFooterLocations">
    <vt:lpwstr>Office Theme:10</vt:lpwstr>
  </property>
  <property fmtid="{D5CDD505-2E9C-101B-9397-08002B2CF9AE}" pid="10" name="ClassificationContentMarkingFooterText">
    <vt:lpwstr>Restricted</vt:lpwstr>
  </property>
  <property fmtid="{D5CDD505-2E9C-101B-9397-08002B2CF9AE}" pid="11" name="ClassificationContentMarkingHeaderLocations">
    <vt:lpwstr>Office Theme:9</vt:lpwstr>
  </property>
  <property fmtid="{D5CDD505-2E9C-101B-9397-08002B2CF9AE}" pid="12" name="ClassificationContentMarkingHeaderText">
    <vt:lpwstr>Restricted</vt:lpwstr>
  </property>
</Properties>
</file>