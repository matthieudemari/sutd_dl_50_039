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377" r:id="rId2"/>
    <p:sldId id="257" r:id="rId3"/>
    <p:sldId id="490" r:id="rId4"/>
    <p:sldId id="491" r:id="rId5"/>
    <p:sldId id="498" r:id="rId6"/>
    <p:sldId id="499" r:id="rId7"/>
    <p:sldId id="502" r:id="rId8"/>
    <p:sldId id="503" r:id="rId9"/>
    <p:sldId id="504" r:id="rId10"/>
    <p:sldId id="507" r:id="rId11"/>
    <p:sldId id="512" r:id="rId12"/>
    <p:sldId id="509" r:id="rId13"/>
    <p:sldId id="510" r:id="rId14"/>
    <p:sldId id="513" r:id="rId15"/>
    <p:sldId id="511" r:id="rId16"/>
    <p:sldId id="517" r:id="rId17"/>
    <p:sldId id="514" r:id="rId18"/>
    <p:sldId id="493" r:id="rId19"/>
    <p:sldId id="519" r:id="rId20"/>
    <p:sldId id="650" r:id="rId21"/>
    <p:sldId id="649" r:id="rId22"/>
    <p:sldId id="520" r:id="rId23"/>
    <p:sldId id="521" r:id="rId24"/>
    <p:sldId id="668" r:id="rId25"/>
    <p:sldId id="523" r:id="rId26"/>
    <p:sldId id="522" r:id="rId27"/>
    <p:sldId id="525" r:id="rId28"/>
    <p:sldId id="526" r:id="rId29"/>
    <p:sldId id="527" r:id="rId30"/>
    <p:sldId id="528" r:id="rId31"/>
    <p:sldId id="534" r:id="rId32"/>
    <p:sldId id="535" r:id="rId33"/>
    <p:sldId id="554" r:id="rId34"/>
    <p:sldId id="530" r:id="rId35"/>
    <p:sldId id="531" r:id="rId36"/>
    <p:sldId id="536" r:id="rId37"/>
    <p:sldId id="532" r:id="rId38"/>
    <p:sldId id="538" r:id="rId39"/>
    <p:sldId id="539" r:id="rId40"/>
    <p:sldId id="540" r:id="rId41"/>
    <p:sldId id="655" r:id="rId42"/>
    <p:sldId id="666" r:id="rId43"/>
    <p:sldId id="541" r:id="rId44"/>
    <p:sldId id="542" r:id="rId45"/>
    <p:sldId id="555" r:id="rId46"/>
    <p:sldId id="662" r:id="rId47"/>
    <p:sldId id="656" r:id="rId48"/>
    <p:sldId id="556" r:id="rId49"/>
    <p:sldId id="563" r:id="rId50"/>
    <p:sldId id="557" r:id="rId51"/>
    <p:sldId id="657" r:id="rId52"/>
    <p:sldId id="549" r:id="rId53"/>
    <p:sldId id="547" r:id="rId54"/>
    <p:sldId id="544" r:id="rId55"/>
    <p:sldId id="573" r:id="rId56"/>
    <p:sldId id="574" r:id="rId57"/>
    <p:sldId id="575" r:id="rId58"/>
    <p:sldId id="576" r:id="rId59"/>
    <p:sldId id="545" r:id="rId60"/>
    <p:sldId id="546" r:id="rId61"/>
    <p:sldId id="548" r:id="rId62"/>
    <p:sldId id="577" r:id="rId63"/>
    <p:sldId id="578" r:id="rId64"/>
    <p:sldId id="579" r:id="rId65"/>
    <p:sldId id="580" r:id="rId66"/>
    <p:sldId id="560" r:id="rId67"/>
    <p:sldId id="562" r:id="rId68"/>
    <p:sldId id="669" r:id="rId69"/>
    <p:sldId id="670" r:id="rId70"/>
    <p:sldId id="564" r:id="rId71"/>
    <p:sldId id="581" r:id="rId72"/>
    <p:sldId id="566" r:id="rId73"/>
    <p:sldId id="568" r:id="rId74"/>
    <p:sldId id="567" r:id="rId75"/>
    <p:sldId id="582" r:id="rId76"/>
    <p:sldId id="584" r:id="rId77"/>
    <p:sldId id="583" r:id="rId78"/>
    <p:sldId id="586" r:id="rId79"/>
    <p:sldId id="570" r:id="rId80"/>
    <p:sldId id="569" r:id="rId81"/>
    <p:sldId id="587" r:id="rId82"/>
    <p:sldId id="588" r:id="rId83"/>
    <p:sldId id="590" r:id="rId84"/>
    <p:sldId id="537" r:id="rId85"/>
    <p:sldId id="589" r:id="rId86"/>
    <p:sldId id="495" r:id="rId87"/>
    <p:sldId id="496" r:id="rId88"/>
    <p:sldId id="571" r:id="rId89"/>
    <p:sldId id="596" r:id="rId90"/>
    <p:sldId id="671" r:id="rId91"/>
    <p:sldId id="672" r:id="rId92"/>
    <p:sldId id="673" r:id="rId93"/>
    <p:sldId id="675" r:id="rId94"/>
    <p:sldId id="346" r:id="rId95"/>
    <p:sldId id="489" r:id="rId96"/>
    <p:sldId id="594" r:id="rId97"/>
    <p:sldId id="524" r:id="rId98"/>
    <p:sldId id="572" r:id="rId99"/>
    <p:sldId id="599" r:id="rId100"/>
    <p:sldId id="665" r:id="rId101"/>
    <p:sldId id="595" r:id="rId102"/>
    <p:sldId id="494" r:id="rId103"/>
    <p:sldId id="598" r:id="rId104"/>
    <p:sldId id="600" r:id="rId105"/>
    <p:sldId id="479" r:id="rId106"/>
    <p:sldId id="488" r:id="rId107"/>
    <p:sldId id="592" r:id="rId108"/>
    <p:sldId id="593" r:id="rId109"/>
    <p:sldId id="497"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ntroduction" id="{2FD0FF71-F5FC-4EB7-B2CB-B31E4CBECD79}">
          <p14:sldIdLst>
            <p14:sldId id="257"/>
            <p14:sldId id="490"/>
          </p14:sldIdLst>
        </p14:section>
        <p14:section name="I.1. Evaluating embeddings" id="{9EC0A8BC-0C90-4E17-9A83-88D253AC86F8}">
          <p14:sldIdLst>
            <p14:sldId id="491"/>
            <p14:sldId id="498"/>
            <p14:sldId id="499"/>
            <p14:sldId id="502"/>
            <p14:sldId id="503"/>
            <p14:sldId id="504"/>
            <p14:sldId id="507"/>
            <p14:sldId id="512"/>
            <p14:sldId id="509"/>
            <p14:sldId id="510"/>
            <p14:sldId id="513"/>
            <p14:sldId id="511"/>
          </p14:sldIdLst>
        </p14:section>
        <p14:section name="I.2. Word Embedding biases and their risks" id="{DF0BC02B-DD3C-43AA-9EA4-BF1F6C3FE6B8}">
          <p14:sldIdLst>
            <p14:sldId id="517"/>
            <p14:sldId id="514"/>
          </p14:sldIdLst>
        </p14:section>
        <p14:section name="II.0. A quick reminder about Seq2Seq" id="{E7C3D045-13E9-4359-A002-340E41F3BC0F}">
          <p14:sldIdLst>
            <p14:sldId id="493"/>
            <p14:sldId id="519"/>
            <p14:sldId id="650"/>
            <p14:sldId id="649"/>
            <p14:sldId id="520"/>
            <p14:sldId id="521"/>
            <p14:sldId id="668"/>
            <p14:sldId id="523"/>
            <p14:sldId id="522"/>
            <p14:sldId id="525"/>
            <p14:sldId id="526"/>
            <p14:sldId id="527"/>
            <p14:sldId id="528"/>
          </p14:sldIdLst>
        </p14:section>
        <p14:section name="II.1. Attention in Neural Networks" id="{5667F1E7-BDBC-4C2A-9A6F-210563991C98}">
          <p14:sldIdLst>
            <p14:sldId id="534"/>
            <p14:sldId id="535"/>
            <p14:sldId id="554"/>
            <p14:sldId id="530"/>
          </p14:sldIdLst>
        </p14:section>
        <p14:section name="II.2. The attention layer" id="{57D361E6-8AC2-4154-B849-E5BD335FC2F3}">
          <p14:sldIdLst>
            <p14:sldId id="531"/>
            <p14:sldId id="536"/>
            <p14:sldId id="532"/>
            <p14:sldId id="538"/>
            <p14:sldId id="539"/>
            <p14:sldId id="540"/>
            <p14:sldId id="655"/>
            <p14:sldId id="666"/>
            <p14:sldId id="541"/>
            <p14:sldId id="542"/>
            <p14:sldId id="555"/>
            <p14:sldId id="662"/>
            <p14:sldId id="656"/>
            <p14:sldId id="556"/>
            <p14:sldId id="563"/>
            <p14:sldId id="557"/>
            <p14:sldId id="657"/>
            <p14:sldId id="549"/>
            <p14:sldId id="547"/>
            <p14:sldId id="544"/>
            <p14:sldId id="573"/>
            <p14:sldId id="574"/>
            <p14:sldId id="575"/>
            <p14:sldId id="576"/>
            <p14:sldId id="545"/>
            <p14:sldId id="546"/>
            <p14:sldId id="548"/>
            <p14:sldId id="577"/>
            <p14:sldId id="578"/>
            <p14:sldId id="579"/>
            <p14:sldId id="580"/>
            <p14:sldId id="560"/>
            <p14:sldId id="562"/>
            <p14:sldId id="669"/>
            <p14:sldId id="670"/>
            <p14:sldId id="564"/>
            <p14:sldId id="581"/>
            <p14:sldId id="566"/>
            <p14:sldId id="568"/>
            <p14:sldId id="567"/>
            <p14:sldId id="582"/>
            <p14:sldId id="584"/>
            <p14:sldId id="583"/>
            <p14:sldId id="586"/>
            <p14:sldId id="570"/>
            <p14:sldId id="569"/>
            <p14:sldId id="587"/>
            <p14:sldId id="588"/>
            <p14:sldId id="590"/>
            <p14:sldId id="537"/>
            <p14:sldId id="589"/>
          </p14:sldIdLst>
        </p14:section>
        <p14:section name="II.2. Uses for Attention in NLP" id="{B3FC2072-FA22-4307-94E3-6B43766F9F60}">
          <p14:sldIdLst>
            <p14:sldId id="495"/>
            <p14:sldId id="496"/>
            <p14:sldId id="571"/>
            <p14:sldId id="596"/>
          </p14:sldIdLst>
        </p14:section>
        <p14:section name="Implementing a transformer on huggingface" id="{CE387DA3-4E9E-417F-BFBC-E51FF2A70D4B}">
          <p14:sldIdLst>
            <p14:sldId id="671"/>
            <p14:sldId id="672"/>
            <p14:sldId id="673"/>
            <p14:sldId id="675"/>
          </p14:sldIdLst>
        </p14:section>
        <p14:section name="Conclusion" id="{09807B6E-2B76-45C8-B103-96D5021B68A6}">
          <p14:sldIdLst>
            <p14:sldId id="346"/>
          </p14:sldIdLst>
        </p14:section>
        <p14:section name="References and watchlist" id="{217B8593-1CA5-408D-B198-A5E6ACAB5948}">
          <p14:sldIdLst>
            <p14:sldId id="489"/>
            <p14:sldId id="594"/>
            <p14:sldId id="524"/>
            <p14:sldId id="572"/>
            <p14:sldId id="599"/>
            <p14:sldId id="665"/>
            <p14:sldId id="595"/>
            <p14:sldId id="494"/>
            <p14:sldId id="598"/>
            <p14:sldId id="600"/>
          </p14:sldIdLst>
        </p14:section>
        <p14:section name="Extra. A quick word on supervised embeddings" id="{EC8062BC-6809-40D5-92E3-7298801259BA}">
          <p14:sldIdLst>
            <p14:sldId id="479"/>
            <p14:sldId id="488"/>
            <p14:sldId id="592"/>
            <p14:sldId id="593"/>
          </p14:sldIdLst>
        </p14:section>
        <p14:section name="Extra. On the limits of attention?" id="{22D3043B-B1C7-409D-BE4A-FEEEA59F9199}">
          <p14:sldIdLst>
            <p14:sldId id="4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F3483-777D-46EF-A26A-B870FD4AEF80}" v="4" dt="2025-12-19T17:13:13.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microsoft.com/office/2015/10/relationships/revisionInfo" Target="revisionInfo.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delSld modSld modSection">
      <pc:chgData name="Matthieu De Mari" userId="dfb708c9-d8dc-439f-9a3b-c772bf4a311c" providerId="ADAL" clId="{81E9B007-0C2C-493E-9B93-55A62C9C1F12}" dt="2025-12-19T17:19:53.406" v="202" actId="20577"/>
      <pc:docMkLst>
        <pc:docMk/>
      </pc:docMkLst>
      <pc:sldChg chg="modSp mod">
        <pc:chgData name="Matthieu De Mari" userId="dfb708c9-d8dc-439f-9a3b-c772bf4a311c" providerId="ADAL" clId="{81E9B007-0C2C-493E-9B93-55A62C9C1F12}" dt="2025-12-19T17:08:39.323" v="0" actId="207"/>
        <pc:sldMkLst>
          <pc:docMk/>
          <pc:sldMk cId="3442501962" sldId="257"/>
        </pc:sldMkLst>
        <pc:spChg chg="mod">
          <ac:chgData name="Matthieu De Mari" userId="dfb708c9-d8dc-439f-9a3b-c772bf4a311c" providerId="ADAL" clId="{81E9B007-0C2C-493E-9B93-55A62C9C1F12}" dt="2025-12-19T17:08:39.323" v="0" actId="207"/>
          <ac:spMkLst>
            <pc:docMk/>
            <pc:sldMk cId="3442501962" sldId="257"/>
            <ac:spMk id="3" creationId="{35995840-A9D9-479A-A34F-EA7DC229D38E}"/>
          </ac:spMkLst>
        </pc:spChg>
      </pc:sldChg>
      <pc:sldChg chg="modSp mod">
        <pc:chgData name="Matthieu De Mari" userId="dfb708c9-d8dc-439f-9a3b-c772bf4a311c" providerId="ADAL" clId="{81E9B007-0C2C-493E-9B93-55A62C9C1F12}" dt="2025-12-19T17:19:53.406" v="202" actId="20577"/>
        <pc:sldMkLst>
          <pc:docMk/>
          <pc:sldMk cId="1036081419" sldId="346"/>
        </pc:sldMkLst>
        <pc:spChg chg="mod">
          <ac:chgData name="Matthieu De Mari" userId="dfb708c9-d8dc-439f-9a3b-c772bf4a311c" providerId="ADAL" clId="{81E9B007-0C2C-493E-9B93-55A62C9C1F12}" dt="2025-12-19T17:19:53.406" v="202" actId="20577"/>
          <ac:spMkLst>
            <pc:docMk/>
            <pc:sldMk cId="1036081419" sldId="346"/>
            <ac:spMk id="2" creationId="{11A08BA8-9DEC-4471-8590-434E8D8BB4A0}"/>
          </ac:spMkLst>
        </pc:spChg>
      </pc:sldChg>
      <pc:sldChg chg="modSp mod">
        <pc:chgData name="Matthieu De Mari" userId="dfb708c9-d8dc-439f-9a3b-c772bf4a311c" providerId="ADAL" clId="{81E9B007-0C2C-493E-9B93-55A62C9C1F12}" dt="2025-12-19T17:09:54.831" v="22" actId="20577"/>
        <pc:sldMkLst>
          <pc:docMk/>
          <pc:sldMk cId="3326941930" sldId="493"/>
        </pc:sldMkLst>
        <pc:spChg chg="mod">
          <ac:chgData name="Matthieu De Mari" userId="dfb708c9-d8dc-439f-9a3b-c772bf4a311c" providerId="ADAL" clId="{81E9B007-0C2C-493E-9B93-55A62C9C1F12}" dt="2025-12-19T17:09:54.831" v="22" actId="20577"/>
          <ac:spMkLst>
            <pc:docMk/>
            <pc:sldMk cId="3326941930" sldId="493"/>
            <ac:spMk id="2" creationId="{905A0B04-0582-4EAE-A35C-6C857C9010E1}"/>
          </ac:spMkLst>
        </pc:spChg>
      </pc:sldChg>
      <pc:sldChg chg="modSp mod">
        <pc:chgData name="Matthieu De Mari" userId="dfb708c9-d8dc-439f-9a3b-c772bf4a311c" providerId="ADAL" clId="{81E9B007-0C2C-493E-9B93-55A62C9C1F12}" dt="2025-12-19T17:17:55.098" v="154" actId="1076"/>
        <pc:sldMkLst>
          <pc:docMk/>
          <pc:sldMk cId="3344749658" sldId="496"/>
        </pc:sldMkLst>
        <pc:spChg chg="mod">
          <ac:chgData name="Matthieu De Mari" userId="dfb708c9-d8dc-439f-9a3b-c772bf4a311c" providerId="ADAL" clId="{81E9B007-0C2C-493E-9B93-55A62C9C1F12}" dt="2025-12-19T17:17:50.926" v="153" actId="20577"/>
          <ac:spMkLst>
            <pc:docMk/>
            <pc:sldMk cId="3344749658" sldId="496"/>
            <ac:spMk id="4" creationId="{14831169-49E0-42B5-98BE-D1F03F482290}"/>
          </ac:spMkLst>
        </pc:spChg>
        <pc:picChg chg="mod">
          <ac:chgData name="Matthieu De Mari" userId="dfb708c9-d8dc-439f-9a3b-c772bf4a311c" providerId="ADAL" clId="{81E9B007-0C2C-493E-9B93-55A62C9C1F12}" dt="2025-12-19T17:17:55.098" v="154" actId="1076"/>
          <ac:picMkLst>
            <pc:docMk/>
            <pc:sldMk cId="3344749658" sldId="496"/>
            <ac:picMk id="8" creationId="{056CB2C6-F1CD-406C-B7AE-93FC2D43F135}"/>
          </ac:picMkLst>
        </pc:picChg>
      </pc:sldChg>
      <pc:sldChg chg="modSp mod">
        <pc:chgData name="Matthieu De Mari" userId="dfb708c9-d8dc-439f-9a3b-c772bf4a311c" providerId="ADAL" clId="{81E9B007-0C2C-493E-9B93-55A62C9C1F12}" dt="2025-12-19T17:09:10.733" v="2" actId="20577"/>
        <pc:sldMkLst>
          <pc:docMk/>
          <pc:sldMk cId="3552463697" sldId="511"/>
        </pc:sldMkLst>
        <pc:spChg chg="mod">
          <ac:chgData name="Matthieu De Mari" userId="dfb708c9-d8dc-439f-9a3b-c772bf4a311c" providerId="ADAL" clId="{81E9B007-0C2C-493E-9B93-55A62C9C1F12}" dt="2025-12-19T17:09:10.733" v="2" actId="20577"/>
          <ac:spMkLst>
            <pc:docMk/>
            <pc:sldMk cId="3552463697" sldId="511"/>
            <ac:spMk id="3" creationId="{F964C286-5C88-490B-9164-E9E991103B88}"/>
          </ac:spMkLst>
        </pc:spChg>
      </pc:sldChg>
      <pc:sldChg chg="modSp">
        <pc:chgData name="Matthieu De Mari" userId="dfb708c9-d8dc-439f-9a3b-c772bf4a311c" providerId="ADAL" clId="{81E9B007-0C2C-493E-9B93-55A62C9C1F12}" dt="2025-12-19T17:10:01.306" v="23"/>
        <pc:sldMkLst>
          <pc:docMk/>
          <pc:sldMk cId="486637623" sldId="519"/>
        </pc:sldMkLst>
        <pc:spChg chg="mod">
          <ac:chgData name="Matthieu De Mari" userId="dfb708c9-d8dc-439f-9a3b-c772bf4a311c" providerId="ADAL" clId="{81E9B007-0C2C-493E-9B93-55A62C9C1F12}" dt="2025-12-19T17:10:01.306" v="23"/>
          <ac:spMkLst>
            <pc:docMk/>
            <pc:sldMk cId="486637623" sldId="519"/>
            <ac:spMk id="2" creationId="{905A0B04-0582-4EAE-A35C-6C857C9010E1}"/>
          </ac:spMkLst>
        </pc:spChg>
      </pc:sldChg>
      <pc:sldChg chg="modSp mod">
        <pc:chgData name="Matthieu De Mari" userId="dfb708c9-d8dc-439f-9a3b-c772bf4a311c" providerId="ADAL" clId="{81E9B007-0C2C-493E-9B93-55A62C9C1F12}" dt="2025-12-19T17:13:52.207" v="113" actId="114"/>
        <pc:sldMkLst>
          <pc:docMk/>
          <pc:sldMk cId="4058294980" sldId="531"/>
        </pc:sldMkLst>
        <pc:spChg chg="mod">
          <ac:chgData name="Matthieu De Mari" userId="dfb708c9-d8dc-439f-9a3b-c772bf4a311c" providerId="ADAL" clId="{81E9B007-0C2C-493E-9B93-55A62C9C1F12}" dt="2025-12-19T17:13:52.207" v="113" actId="114"/>
          <ac:spMkLst>
            <pc:docMk/>
            <pc:sldMk cId="4058294980" sldId="531"/>
            <ac:spMk id="6" creationId="{85B1929D-82FA-4071-8E1D-278C2672193B}"/>
          </ac:spMkLst>
        </pc:spChg>
      </pc:sldChg>
      <pc:sldChg chg="modSp mod">
        <pc:chgData name="Matthieu De Mari" userId="dfb708c9-d8dc-439f-9a3b-c772bf4a311c" providerId="ADAL" clId="{81E9B007-0C2C-493E-9B93-55A62C9C1F12}" dt="2025-12-19T17:18:36.551" v="198" actId="27636"/>
        <pc:sldMkLst>
          <pc:docMk/>
          <pc:sldMk cId="3481224821" sldId="571"/>
        </pc:sldMkLst>
        <pc:spChg chg="mod">
          <ac:chgData name="Matthieu De Mari" userId="dfb708c9-d8dc-439f-9a3b-c772bf4a311c" providerId="ADAL" clId="{81E9B007-0C2C-493E-9B93-55A62C9C1F12}" dt="2025-12-19T17:18:36.551" v="198" actId="27636"/>
          <ac:spMkLst>
            <pc:docMk/>
            <pc:sldMk cId="3481224821" sldId="571"/>
            <ac:spMk id="3" creationId="{F07EF62C-B4DE-43C0-841C-F8E6E677B5F8}"/>
          </ac:spMkLst>
        </pc:spChg>
      </pc:sldChg>
      <pc:sldChg chg="modSp mod">
        <pc:chgData name="Matthieu De Mari" userId="dfb708c9-d8dc-439f-9a3b-c772bf4a311c" providerId="ADAL" clId="{81E9B007-0C2C-493E-9B93-55A62C9C1F12}" dt="2025-12-19T17:18:58.129" v="200" actId="20577"/>
        <pc:sldMkLst>
          <pc:docMk/>
          <pc:sldMk cId="1080115495" sldId="596"/>
        </pc:sldMkLst>
        <pc:spChg chg="mod">
          <ac:chgData name="Matthieu De Mari" userId="dfb708c9-d8dc-439f-9a3b-c772bf4a311c" providerId="ADAL" clId="{81E9B007-0C2C-493E-9B93-55A62C9C1F12}" dt="2025-12-19T17:18:58.129" v="200" actId="20577"/>
          <ac:spMkLst>
            <pc:docMk/>
            <pc:sldMk cId="1080115495" sldId="596"/>
            <ac:spMk id="6" creationId="{87F40458-D650-758C-390E-C9497852469F}"/>
          </ac:spMkLst>
        </pc:spChg>
      </pc:sldChg>
      <pc:sldChg chg="modSp mod">
        <pc:chgData name="Matthieu De Mari" userId="dfb708c9-d8dc-439f-9a3b-c772bf4a311c" providerId="ADAL" clId="{81E9B007-0C2C-493E-9B93-55A62C9C1F12}" dt="2025-12-19T17:10:10.935" v="25" actId="20577"/>
        <pc:sldMkLst>
          <pc:docMk/>
          <pc:sldMk cId="1952442680" sldId="649"/>
        </pc:sldMkLst>
        <pc:spChg chg="mod">
          <ac:chgData name="Matthieu De Mari" userId="dfb708c9-d8dc-439f-9a3b-c772bf4a311c" providerId="ADAL" clId="{81E9B007-0C2C-493E-9B93-55A62C9C1F12}" dt="2025-12-19T17:10:10.935" v="25" actId="20577"/>
          <ac:spMkLst>
            <pc:docMk/>
            <pc:sldMk cId="1952442680" sldId="649"/>
            <ac:spMk id="3" creationId="{888778C6-A734-C28B-5DEA-DC9DD854857F}"/>
          </ac:spMkLst>
        </pc:spChg>
      </pc:sldChg>
      <pc:sldChg chg="modSp">
        <pc:chgData name="Matthieu De Mari" userId="dfb708c9-d8dc-439f-9a3b-c772bf4a311c" providerId="ADAL" clId="{81E9B007-0C2C-493E-9B93-55A62C9C1F12}" dt="2025-12-19T17:10:04.256" v="24"/>
        <pc:sldMkLst>
          <pc:docMk/>
          <pc:sldMk cId="3215884619" sldId="650"/>
        </pc:sldMkLst>
        <pc:spChg chg="mod">
          <ac:chgData name="Matthieu De Mari" userId="dfb708c9-d8dc-439f-9a3b-c772bf4a311c" providerId="ADAL" clId="{81E9B007-0C2C-493E-9B93-55A62C9C1F12}" dt="2025-12-19T17:10:04.256" v="24"/>
          <ac:spMkLst>
            <pc:docMk/>
            <pc:sldMk cId="3215884619" sldId="650"/>
            <ac:spMk id="2" creationId="{72D148CD-0DB0-160F-EFF4-D432FC0E5275}"/>
          </ac:spMkLst>
        </pc:spChg>
      </pc:sldChg>
      <pc:sldChg chg="del">
        <pc:chgData name="Matthieu De Mari" userId="dfb708c9-d8dc-439f-9a3b-c772bf4a311c" providerId="ADAL" clId="{81E9B007-0C2C-493E-9B93-55A62C9C1F12}" dt="2025-12-19T17:15:52.655" v="116" actId="47"/>
        <pc:sldMkLst>
          <pc:docMk/>
          <pc:sldMk cId="2648986442" sldId="664"/>
        </pc:sldMkLst>
      </pc:sldChg>
      <pc:sldChg chg="modSp mod">
        <pc:chgData name="Matthieu De Mari" userId="dfb708c9-d8dc-439f-9a3b-c772bf4a311c" providerId="ADAL" clId="{81E9B007-0C2C-493E-9B93-55A62C9C1F12}" dt="2025-12-19T17:13:13.930" v="112" actId="20577"/>
        <pc:sldMkLst>
          <pc:docMk/>
          <pc:sldMk cId="3318862819" sldId="665"/>
        </pc:sldMkLst>
        <pc:spChg chg="mod">
          <ac:chgData name="Matthieu De Mari" userId="dfb708c9-d8dc-439f-9a3b-c772bf4a311c" providerId="ADAL" clId="{81E9B007-0C2C-493E-9B93-55A62C9C1F12}" dt="2025-12-19T17:13:13.930" v="112" actId="20577"/>
          <ac:spMkLst>
            <pc:docMk/>
            <pc:sldMk cId="3318862819" sldId="665"/>
            <ac:spMk id="3" creationId="{C71C8DD6-14D1-44DF-9843-EFEDF44E39A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19/12/2025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14DF365-F842-4E76-AC24-5BC5382A0823}" type="slidenum">
              <a:rPr lang="en-GB" smtClean="0"/>
              <a:t>34</a:t>
            </a:fld>
            <a:endParaRPr lang="en-GB"/>
          </a:p>
        </p:txBody>
      </p:sp>
    </p:spTree>
    <p:extLst>
      <p:ext uri="{BB962C8B-B14F-4D97-AF65-F5344CB8AC3E}">
        <p14:creationId xmlns:p14="http://schemas.microsoft.com/office/powerpoint/2010/main" val="1830754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14DF365-F842-4E76-AC24-5BC5382A0823}" type="slidenum">
              <a:rPr lang="en-GB" smtClean="0"/>
              <a:t>88</a:t>
            </a:fld>
            <a:endParaRPr lang="en-GB"/>
          </a:p>
        </p:txBody>
      </p:sp>
    </p:spTree>
    <p:extLst>
      <p:ext uri="{BB962C8B-B14F-4D97-AF65-F5344CB8AC3E}">
        <p14:creationId xmlns:p14="http://schemas.microsoft.com/office/powerpoint/2010/main" val="1252653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95990870-7B64-C8F1-10BD-1F234FE65470}"/>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7C8FB0A7-FE4F-1951-03CC-1758894FF0D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fasttext.cc/docs/en/unsupervised-tutorial.html" TargetMode="External"/><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hyperlink" Target="https://fasttext.cc/docs/en/unsupervised-tutorial.html" TargetMode="External"/><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fasttext.cc/docs/en/unsupervised-tutorial.html" TargetMode="External"/><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hyperlink" Target="https://fasttext.cc/docs/en/unsupervised-tutorial.html" TargetMode="External"/><Relationship Id="rId2" Type="http://schemas.openxmlformats.org/officeDocument/2006/relationships/image" Target="../media/image10.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fasttext.cc/docs/en/unsupervised-tutorial.html"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8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kaggle.com/sarthakvajpayee/attention-mechanism-japanese-english/notebook"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pytorch.org/docs/stable/generated/torch.nn.Transformer.html"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hyperlink" Target="https://pypi.org/project/bert-embedding/" TargetMode="Externa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hyperlink" Target="https://arxiv.org/abs/1607.06520" TargetMode="External"/><Relationship Id="rId2" Type="http://schemas.openxmlformats.org/officeDocument/2006/relationships/hyperlink" Target="https://www.aclweb.org/anthology/D15-1036/" TargetMode="External"/><Relationship Id="rId1" Type="http://schemas.openxmlformats.org/officeDocument/2006/relationships/slideLayout" Target="../slideLayouts/slideLayout2.xml"/><Relationship Id="rId4" Type="http://schemas.openxmlformats.org/officeDocument/2006/relationships/hyperlink" Target="https://arxiv.org/abs/1706.03762" TargetMode="External"/></Relationships>
</file>

<file path=ppt/slides/_rels/slide96.xml.rels><?xml version="1.0" encoding="UTF-8" standalone="yes"?>
<Relationships xmlns="http://schemas.openxmlformats.org/package/2006/relationships"><Relationship Id="rId3" Type="http://schemas.openxmlformats.org/officeDocument/2006/relationships/hyperlink" Target="https://arxiv.org/abs/1803.11175" TargetMode="External"/><Relationship Id="rId2" Type="http://schemas.openxmlformats.org/officeDocument/2006/relationships/hyperlink" Target="https://arxiv.org/abs/1705.02364" TargetMode="External"/><Relationship Id="rId1" Type="http://schemas.openxmlformats.org/officeDocument/2006/relationships/slideLayout" Target="../slideLayouts/slideLayout2.xml"/><Relationship Id="rId4" Type="http://schemas.openxmlformats.org/officeDocument/2006/relationships/hyperlink" Target="https://arxiv.org/abs/1804.07461" TargetMode="External"/></Relationships>
</file>

<file path=ppt/slides/_rels/slide97.xml.rels><?xml version="1.0" encoding="UTF-8" standalone="yes"?>
<Relationships xmlns="http://schemas.openxmlformats.org/package/2006/relationships"><Relationship Id="rId3" Type="http://schemas.openxmlformats.org/officeDocument/2006/relationships/hyperlink" Target="https://arxiv.org/abs/2005.14165" TargetMode="External"/><Relationship Id="rId2" Type="http://schemas.openxmlformats.org/officeDocument/2006/relationships/hyperlink" Target="https://arxiv.org/abs/1810.04805"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arxiv.org/abs/2102.08602" TargetMode="External"/><Relationship Id="rId2" Type="http://schemas.openxmlformats.org/officeDocument/2006/relationships/hyperlink" Target="https://arxiv.org/abs/2103.03404"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www.technologyreview.com/2020/07/20/1005454/openai-machine-learning-language-generator-gpt-3-nlp/" TargetMode="External"/><Relationship Id="rId2" Type="http://schemas.openxmlformats.org/officeDocument/2006/relationships/hyperlink" Target="https://www.vox.com/future-perfect/21355768/gpt-3-ai-openai-turing-test-language" TargetMode="External"/><Relationship Id="rId1" Type="http://schemas.openxmlformats.org/officeDocument/2006/relationships/slideLayout" Target="../slideLayouts/slideLayout2.xml"/><Relationship Id="rId4" Type="http://schemas.openxmlformats.org/officeDocument/2006/relationships/hyperlink" Target="https://www.forbes.com/sites/bernardmarr/2023/02/24/gpt-4-is-coming--what-we-know-so-far/" TargetMode="External"/></Relationships>
</file>

<file path=ppt/slides/_rels/slide100.xml.rels><?xml version="1.0" encoding="UTF-8" standalone="yes"?>
<Relationships xmlns="http://schemas.openxmlformats.org/package/2006/relationships"><Relationship Id="rId3" Type="http://schemas.openxmlformats.org/officeDocument/2006/relationships/hyperlink" Target="https://txt.cohere.ai/sentence-word-embeddings/" TargetMode="External"/><Relationship Id="rId2" Type="http://schemas.openxmlformats.org/officeDocument/2006/relationships/hyperlink" Target="https://openai.com/research/gpt-4" TargetMode="External"/><Relationship Id="rId1" Type="http://schemas.openxmlformats.org/officeDocument/2006/relationships/slideLayout" Target="../slideLayouts/slideLayout2.xml"/><Relationship Id="rId4" Type="http://schemas.openxmlformats.org/officeDocument/2006/relationships/hyperlink" Target="https://levelup.gitconnected.com/cosine-similarity-and-embeddings-are-still-in-love-f9aec98396a4" TargetMode="External"/></Relationships>
</file>

<file path=ppt/slides/_rels/slide101.xml.rels><?xml version="1.0" encoding="UTF-8" standalone="yes"?>
<Relationships xmlns="http://schemas.openxmlformats.org/package/2006/relationships"><Relationship Id="rId3" Type="http://schemas.openxmlformats.org/officeDocument/2006/relationships/hyperlink" Target="https://scholar.google.com/citations?user=BrT1NW8AAAAJ&amp;hl=en" TargetMode="External"/><Relationship Id="rId2" Type="http://schemas.openxmlformats.org/officeDocument/2006/relationships/hyperlink" Target="https://scholar.google.fr/citations?user=45KfCpgAAAAJ&amp;hl=fr" TargetMode="External"/><Relationship Id="rId1" Type="http://schemas.openxmlformats.org/officeDocument/2006/relationships/slideLayout" Target="../slideLayouts/slideLayout2.xml"/><Relationship Id="rId5" Type="http://schemas.openxmlformats.org/officeDocument/2006/relationships/hyperlink" Target="https://www.ischool.berkeley.edu/courses/datasci/266" TargetMode="External"/><Relationship Id="rId4" Type="http://schemas.openxmlformats.org/officeDocument/2006/relationships/hyperlink" Target="https://www.ischool.berkeley.edu/user/4406" TargetMode="External"/></Relationships>
</file>

<file path=ppt/slides/_rels/slide102.xml.rels><?xml version="1.0" encoding="UTF-8" standalone="yes"?>
<Relationships xmlns="http://schemas.openxmlformats.org/package/2006/relationships"><Relationship Id="rId3" Type="http://schemas.openxmlformats.org/officeDocument/2006/relationships/hyperlink" Target="https://www.microsoft.com/en-us/research/people/toschnab" TargetMode="External"/><Relationship Id="rId2" Type="http://schemas.openxmlformats.org/officeDocument/2006/relationships/hyperlink" Target="https://scholar.google.com/citations?user=o_i419UAAAAJ&amp;hl=en" TargetMode="External"/><Relationship Id="rId1" Type="http://schemas.openxmlformats.org/officeDocument/2006/relationships/slideLayout" Target="../slideLayouts/slideLayout2.xml"/><Relationship Id="rId6" Type="http://schemas.openxmlformats.org/officeDocument/2006/relationships/hyperlink" Target="https://research.google/people/106320/" TargetMode="External"/><Relationship Id="rId5" Type="http://schemas.openxmlformats.org/officeDocument/2006/relationships/hyperlink" Target="https://scholar.google.com/citations?user=oR9sCGYAAAAJ&amp;hl=en" TargetMode="External"/><Relationship Id="rId4" Type="http://schemas.openxmlformats.org/officeDocument/2006/relationships/hyperlink" Target="https://scholar.google.com/citations?user=3rF9gtAAAAAJ&amp;hl=en" TargetMode="External"/></Relationships>
</file>

<file path=ppt/slides/_rels/slide103.xml.rels><?xml version="1.0" encoding="UTF-8" standalone="yes"?>
<Relationships xmlns="http://schemas.openxmlformats.org/package/2006/relationships"><Relationship Id="rId3" Type="http://schemas.openxmlformats.org/officeDocument/2006/relationships/hyperlink" Target="https://dblp.org/pid/74/10715.html" TargetMode="External"/><Relationship Id="rId2" Type="http://schemas.openxmlformats.org/officeDocument/2006/relationships/hyperlink" Target="https://gregbrockman.com/" TargetMode="External"/><Relationship Id="rId1" Type="http://schemas.openxmlformats.org/officeDocument/2006/relationships/slideLayout" Target="../slideLayouts/slideLayout2.xml"/><Relationship Id="rId4" Type="http://schemas.openxmlformats.org/officeDocument/2006/relationships/hyperlink" Target="https://blog.samaltman.com/" TargetMode="External"/></Relationships>
</file>

<file path=ppt/slides/_rels/slide104.xml.rels><?xml version="1.0" encoding="UTF-8" standalone="yes"?>
<Relationships xmlns="http://schemas.openxmlformats.org/package/2006/relationships"><Relationship Id="rId3" Type="http://schemas.openxmlformats.org/officeDocument/2006/relationships/hyperlink" Target="https://openai.com/blog/authors/alec/" TargetMode="External"/><Relationship Id="rId2" Type="http://schemas.openxmlformats.org/officeDocument/2006/relationships/hyperlink" Target="https://scholar.google.com/citations?user=dOad5HoAAAAJ&amp;hl=en" TargetMode="External"/><Relationship Id="rId1" Type="http://schemas.openxmlformats.org/officeDocument/2006/relationships/slideLayout" Target="../slideLayouts/slideLayout2.xml"/><Relationship Id="rId4" Type="http://schemas.openxmlformats.org/officeDocument/2006/relationships/hyperlink" Target="https://openai.com/"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hyperlink" Target="https://www.tensorflow.org/hub/tutorials/semantic_similarity_with_tf_hub_universal_encoder"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W8-S3 Word Embedding Biases, Evaluation, Attention and Transformers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a:p>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8)</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a:pPr>
            <a:r>
              <a:rPr lang="en-US" dirty="0">
                <a:solidFill>
                  <a:schemeClr val="bg1">
                    <a:lumMod val="65000"/>
                  </a:schemeClr>
                </a:solidFill>
              </a:rPr>
              <a:t>Why are </a:t>
            </a:r>
            <a:r>
              <a:rPr lang="en-US" b="1" dirty="0">
                <a:solidFill>
                  <a:schemeClr val="bg1">
                    <a:lumMod val="65000"/>
                  </a:schemeClr>
                </a:solidFill>
              </a:rPr>
              <a:t>embeddings</a:t>
            </a:r>
            <a:r>
              <a:rPr lang="en-US" dirty="0">
                <a:solidFill>
                  <a:schemeClr val="bg1">
                    <a:lumMod val="65000"/>
                  </a:schemeClr>
                </a:solidFill>
              </a:rPr>
              <a:t> an essential component of Neural Networks (NNs)?</a:t>
            </a:r>
          </a:p>
          <a:p>
            <a:pPr marL="514350" indent="-514350">
              <a:buFont typeface="+mj-lt"/>
              <a:buAutoNum type="arabicPeriod"/>
            </a:pPr>
            <a:r>
              <a:rPr lang="en-US" dirty="0">
                <a:solidFill>
                  <a:schemeClr val="bg1">
                    <a:lumMod val="65000"/>
                  </a:schemeClr>
                </a:solidFill>
              </a:rPr>
              <a:t>Why are </a:t>
            </a:r>
            <a:r>
              <a:rPr lang="en-US" b="1" dirty="0">
                <a:solidFill>
                  <a:schemeClr val="bg1">
                    <a:lumMod val="65000"/>
                  </a:schemeClr>
                </a:solidFill>
              </a:rPr>
              <a:t>good embeddings </a:t>
            </a:r>
            <a:r>
              <a:rPr lang="en-US" dirty="0">
                <a:solidFill>
                  <a:schemeClr val="bg1">
                    <a:lumMod val="65000"/>
                  </a:schemeClr>
                </a:solidFill>
              </a:rPr>
              <a:t>difficult to produce?</a:t>
            </a:r>
          </a:p>
          <a:p>
            <a:pPr marL="514350" indent="-514350">
              <a:buFont typeface="+mj-lt"/>
              <a:buAutoNum type="arabicPeriod"/>
            </a:pPr>
            <a:r>
              <a:rPr lang="en-US" dirty="0">
                <a:solidFill>
                  <a:schemeClr val="bg1">
                    <a:lumMod val="65000"/>
                  </a:schemeClr>
                </a:solidFill>
              </a:rPr>
              <a:t>What are the </a:t>
            </a:r>
            <a:r>
              <a:rPr lang="en-US" b="1" dirty="0">
                <a:solidFill>
                  <a:schemeClr val="bg1">
                    <a:lumMod val="65000"/>
                  </a:schemeClr>
                </a:solidFill>
              </a:rPr>
              <a:t>conventional approaches to embeddings in NLP? </a:t>
            </a:r>
            <a:br>
              <a:rPr lang="en-US" dirty="0">
                <a:solidFill>
                  <a:schemeClr val="bg1">
                    <a:lumMod val="65000"/>
                  </a:schemeClr>
                </a:solidFill>
              </a:rPr>
            </a:br>
            <a:r>
              <a:rPr lang="en-US" dirty="0">
                <a:solidFill>
                  <a:schemeClr val="bg1">
                    <a:lumMod val="65000"/>
                  </a:schemeClr>
                </a:solidFill>
              </a:rPr>
              <a:t>What can we </a:t>
            </a:r>
            <a:r>
              <a:rPr lang="en-US" b="1" dirty="0">
                <a:solidFill>
                  <a:schemeClr val="bg1">
                    <a:lumMod val="65000"/>
                  </a:schemeClr>
                </a:solidFill>
              </a:rPr>
              <a:t>learn from these approaches?</a:t>
            </a:r>
          </a:p>
          <a:p>
            <a:pPr marL="514350" indent="-514350">
              <a:buFont typeface="+mj-lt"/>
              <a:buAutoNum type="arabicPeriod"/>
            </a:pPr>
            <a:r>
              <a:rPr lang="en-US" dirty="0">
                <a:solidFill>
                  <a:schemeClr val="bg1">
                    <a:lumMod val="65000"/>
                  </a:schemeClr>
                </a:solidFill>
              </a:rPr>
              <a:t>What are the </a:t>
            </a:r>
            <a:r>
              <a:rPr lang="en-US" b="1" dirty="0">
                <a:solidFill>
                  <a:schemeClr val="bg1">
                    <a:lumMod val="65000"/>
                  </a:schemeClr>
                </a:solidFill>
              </a:rPr>
              <a:t>typical issues with embeddings </a:t>
            </a:r>
            <a:r>
              <a:rPr lang="en-US" dirty="0">
                <a:solidFill>
                  <a:schemeClr val="bg1">
                    <a:lumMod val="65000"/>
                  </a:schemeClr>
                </a:solidFill>
              </a:rPr>
              <a:t>and how do we address them?</a:t>
            </a:r>
          </a:p>
          <a:p>
            <a:pPr marL="514350" indent="-514350">
              <a:buFont typeface="+mj-lt"/>
              <a:buAutoNum type="arabicPeriod"/>
            </a:pPr>
            <a:r>
              <a:rPr lang="en-US" b="1" dirty="0">
                <a:solidFill>
                  <a:schemeClr val="bg1">
                    <a:lumMod val="65000"/>
                  </a:schemeClr>
                </a:solidFill>
              </a:rPr>
              <a:t>State-of-the-art</a:t>
            </a:r>
            <a:r>
              <a:rPr lang="en-US" dirty="0">
                <a:solidFill>
                  <a:schemeClr val="bg1">
                    <a:lumMod val="65000"/>
                  </a:schemeClr>
                </a:solidFill>
              </a:rPr>
              <a:t> of current embedding problems, and </a:t>
            </a:r>
            <a:r>
              <a:rPr lang="en-US" b="1" dirty="0">
                <a:solidFill>
                  <a:schemeClr val="bg1">
                    <a:lumMod val="65000"/>
                  </a:schemeClr>
                </a:solidFill>
              </a:rPr>
              <a:t>open questions</a:t>
            </a:r>
            <a:r>
              <a:rPr lang="en-US" dirty="0">
                <a:solidFill>
                  <a:schemeClr val="bg1">
                    <a:lumMod val="65000"/>
                  </a:schemeClr>
                </a:solidFill>
              </a:rPr>
              <a:t> in research.</a:t>
            </a:r>
            <a:endParaRPr lang="en-GB" dirty="0">
              <a:solidFill>
                <a:schemeClr val="bg1">
                  <a:lumMod val="65000"/>
                </a:schemeClr>
              </a:solidFill>
            </a:endParaRPr>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8)</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6"/>
            </a:pPr>
            <a:r>
              <a:rPr lang="en-US" dirty="0"/>
              <a:t>How do we evaluate the </a:t>
            </a:r>
            <a:r>
              <a:rPr lang="en-US" b="1" dirty="0"/>
              <a:t>quality/performance</a:t>
            </a:r>
            <a:r>
              <a:rPr lang="en-US" dirty="0"/>
              <a:t> of an embedding?</a:t>
            </a:r>
          </a:p>
          <a:p>
            <a:pPr marL="514350" indent="-514350">
              <a:buFont typeface="+mj-lt"/>
              <a:buAutoNum type="arabicPeriod" startAt="6"/>
            </a:pPr>
            <a:r>
              <a:rPr lang="en-US" dirty="0"/>
              <a:t>Can embeddings be </a:t>
            </a:r>
            <a:r>
              <a:rPr lang="en-US" b="1" dirty="0"/>
              <a:t>biased</a:t>
            </a:r>
            <a:r>
              <a:rPr lang="en-US" dirty="0"/>
              <a:t>?</a:t>
            </a:r>
          </a:p>
          <a:p>
            <a:pPr marL="514350" indent="-514350">
              <a:buFont typeface="+mj-lt"/>
              <a:buAutoNum type="arabicPeriod" startAt="6"/>
            </a:pPr>
            <a:r>
              <a:rPr lang="en-US" dirty="0"/>
              <a:t>Can we help the neural networks </a:t>
            </a:r>
            <a:r>
              <a:rPr lang="en-US" b="1" dirty="0"/>
              <a:t>identify the important parts of the context</a:t>
            </a:r>
            <a:r>
              <a:rPr lang="en-US" dirty="0"/>
              <a:t> to focus on?</a:t>
            </a:r>
          </a:p>
          <a:p>
            <a:pPr marL="514350" indent="-514350">
              <a:buFont typeface="+mj-lt"/>
              <a:buAutoNum type="arabicPeriod" startAt="6"/>
            </a:pPr>
            <a:r>
              <a:rPr lang="en-US" dirty="0"/>
              <a:t>What is </a:t>
            </a:r>
            <a:r>
              <a:rPr lang="en-US" b="1" dirty="0"/>
              <a:t>attention</a:t>
            </a:r>
            <a:r>
              <a:rPr lang="en-US" dirty="0"/>
              <a:t> in Neural Networks? What are </a:t>
            </a:r>
            <a:r>
              <a:rPr lang="en-US" b="1" dirty="0"/>
              <a:t>transformers</a:t>
            </a:r>
            <a:r>
              <a:rPr lang="en-US" dirty="0"/>
              <a:t> in Neural Networks?</a:t>
            </a:r>
          </a:p>
          <a:p>
            <a:pPr marL="514350" indent="-514350">
              <a:buFont typeface="+mj-lt"/>
              <a:buAutoNum type="arabicPeriod" startAt="6"/>
            </a:pPr>
            <a:r>
              <a:rPr lang="en-US" dirty="0"/>
              <a:t>What are the typical </a:t>
            </a:r>
            <a:r>
              <a:rPr lang="en-US" b="1" dirty="0"/>
              <a:t>uses for attention </a:t>
            </a:r>
            <a:r>
              <a:rPr lang="en-US" dirty="0"/>
              <a:t>these days?</a:t>
            </a:r>
          </a:p>
          <a:p>
            <a:pPr marL="514350" indent="-514350">
              <a:buFont typeface="+mj-lt"/>
              <a:buAutoNum type="arabicPeriod" startAt="6"/>
            </a:pPr>
            <a:r>
              <a:rPr lang="en-US" dirty="0"/>
              <a:t>What are the </a:t>
            </a:r>
            <a:r>
              <a:rPr lang="en-US" b="1" dirty="0"/>
              <a:t>limits of attention </a:t>
            </a:r>
            <a:r>
              <a:rPr lang="en-US" dirty="0"/>
              <a:t>and the </a:t>
            </a:r>
            <a:r>
              <a:rPr lang="en-US" b="1" dirty="0"/>
              <a:t>current research directions </a:t>
            </a:r>
            <a:r>
              <a:rPr lang="en-US" dirty="0"/>
              <a:t>on this topic?</a:t>
            </a:r>
            <a:endParaRPr lang="en-GB" dirty="0"/>
          </a:p>
        </p:txBody>
      </p:sp>
    </p:spTree>
    <p:extLst>
      <p:ext uri="{BB962C8B-B14F-4D97-AF65-F5344CB8AC3E}">
        <p14:creationId xmlns:p14="http://schemas.microsoft.com/office/powerpoint/2010/main" val="884260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EFB82-7C4E-4C24-A8CA-8084E6DBAE46}"/>
              </a:ext>
            </a:extLst>
          </p:cNvPr>
          <p:cNvSpPr>
            <a:spLocks noGrp="1"/>
          </p:cNvSpPr>
          <p:nvPr>
            <p:ph type="title"/>
          </p:nvPr>
        </p:nvSpPr>
        <p:spPr/>
        <p:txBody>
          <a:bodyPr/>
          <a:lstStyle/>
          <a:p>
            <a:r>
              <a:rPr lang="en-US" dirty="0"/>
              <a:t>In the last episode…</a:t>
            </a:r>
            <a:endParaRPr lang="en-GB" dirty="0"/>
          </a:p>
        </p:txBody>
      </p:sp>
      <p:sp>
        <p:nvSpPr>
          <p:cNvPr id="3" name="Content Placeholder 2">
            <a:extLst>
              <a:ext uri="{FF2B5EF4-FFF2-40B4-BE49-F238E27FC236}">
                <a16:creationId xmlns:a16="http://schemas.microsoft.com/office/drawing/2014/main" id="{03978489-EFA9-4C69-BCA1-54D19F68B5C0}"/>
              </a:ext>
            </a:extLst>
          </p:cNvPr>
          <p:cNvSpPr>
            <a:spLocks noGrp="1"/>
          </p:cNvSpPr>
          <p:nvPr>
            <p:ph idx="1"/>
          </p:nvPr>
        </p:nvSpPr>
        <p:spPr>
          <a:xfrm>
            <a:off x="838200" y="1825624"/>
            <a:ext cx="10515600" cy="5032375"/>
          </a:xfrm>
        </p:spPr>
        <p:txBody>
          <a:bodyPr/>
          <a:lstStyle/>
          <a:p>
            <a:pPr marL="0" indent="0">
              <a:buNone/>
            </a:pPr>
            <a:r>
              <a:rPr lang="en-US" dirty="0"/>
              <a:t>We have discussed the </a:t>
            </a:r>
            <a:r>
              <a:rPr lang="en-US" b="1" dirty="0"/>
              <a:t>embedding</a:t>
            </a:r>
            <a:r>
              <a:rPr lang="en-US" dirty="0"/>
              <a:t> problem, and its aspects in Natural Language Processing. Many approaches have been used to improve the quality of word embeddings.</a:t>
            </a:r>
          </a:p>
          <a:p>
            <a:r>
              <a:rPr lang="en-US" dirty="0" err="1"/>
              <a:t>CBoW</a:t>
            </a:r>
            <a:r>
              <a:rPr lang="en-US" dirty="0"/>
              <a:t> &amp; </a:t>
            </a:r>
            <a:r>
              <a:rPr lang="en-US" dirty="0" err="1"/>
              <a:t>SkipGram</a:t>
            </a:r>
            <a:r>
              <a:rPr lang="en-US" dirty="0"/>
              <a:t> (2013),</a:t>
            </a:r>
          </a:p>
          <a:p>
            <a:r>
              <a:rPr lang="en-US" dirty="0" err="1"/>
              <a:t>GloVe</a:t>
            </a:r>
            <a:r>
              <a:rPr lang="en-US" dirty="0"/>
              <a:t> (2014),</a:t>
            </a:r>
          </a:p>
          <a:p>
            <a:r>
              <a:rPr lang="en-US" dirty="0" err="1"/>
              <a:t>FastText</a:t>
            </a:r>
            <a:r>
              <a:rPr lang="en-US" dirty="0"/>
              <a:t> (2018),</a:t>
            </a:r>
          </a:p>
          <a:p>
            <a:r>
              <a:rPr lang="en-US" dirty="0" err="1"/>
              <a:t>ELMo</a:t>
            </a:r>
            <a:r>
              <a:rPr lang="en-US" dirty="0"/>
              <a:t> (2018).</a:t>
            </a:r>
          </a:p>
          <a:p>
            <a:pPr marL="0" indent="0">
              <a:buNone/>
            </a:pPr>
            <a:endParaRPr lang="en-GB" dirty="0"/>
          </a:p>
          <a:p>
            <a:pPr marL="0" indent="0">
              <a:buNone/>
            </a:pPr>
            <a:r>
              <a:rPr lang="en-GB" b="1" dirty="0"/>
              <a:t>Question: </a:t>
            </a:r>
            <a:r>
              <a:rPr lang="en-GB" dirty="0"/>
              <a:t>What makes a word embedding better than another? How do we measure the performance of an embedding?</a:t>
            </a:r>
          </a:p>
        </p:txBody>
      </p:sp>
    </p:spTree>
    <p:extLst>
      <p:ext uri="{BB962C8B-B14F-4D97-AF65-F5344CB8AC3E}">
        <p14:creationId xmlns:p14="http://schemas.microsoft.com/office/powerpoint/2010/main" val="885284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p:sp>
        <p:nvSpPr>
          <p:cNvPr id="4" name="Content Placeholder 3">
            <a:extLst>
              <a:ext uri="{FF2B5EF4-FFF2-40B4-BE49-F238E27FC236}">
                <a16:creationId xmlns:a16="http://schemas.microsoft.com/office/drawing/2014/main" id="{6D20BC72-C14C-4C91-A7A3-C03EA6DBED97}"/>
              </a:ext>
            </a:extLst>
          </p:cNvPr>
          <p:cNvSpPr>
            <a:spLocks noGrp="1"/>
          </p:cNvSpPr>
          <p:nvPr>
            <p:ph idx="1"/>
          </p:nvPr>
        </p:nvSpPr>
        <p:spPr>
          <a:xfrm>
            <a:off x="838200" y="1825624"/>
            <a:ext cx="10515600" cy="5032375"/>
          </a:xfrm>
        </p:spPr>
        <p:txBody>
          <a:bodyPr>
            <a:normAutofit/>
          </a:bodyPr>
          <a:lstStyle/>
          <a:p>
            <a:pPr marL="0" indent="0">
              <a:buNone/>
            </a:pPr>
            <a:r>
              <a:rPr lang="en-US" dirty="0"/>
              <a:t>Evaluating the performance of an embedding is a difficult task and still an open question in research [Schnabel2015].</a:t>
            </a:r>
          </a:p>
          <a:p>
            <a:endParaRPr lang="en-US" dirty="0"/>
          </a:p>
          <a:p>
            <a:r>
              <a:rPr lang="en-US" b="1" dirty="0"/>
              <a:t>Reason: </a:t>
            </a:r>
            <a:r>
              <a:rPr lang="en-US" dirty="0"/>
              <a:t>it is very difficult to come up with a performance </a:t>
            </a:r>
            <a:r>
              <a:rPr lang="en-US" b="1" dirty="0"/>
              <a:t>measure</a:t>
            </a:r>
            <a:r>
              <a:rPr lang="en-US" dirty="0"/>
              <a:t> to objectively evaluate the quality of a word embedding.</a:t>
            </a:r>
          </a:p>
          <a:p>
            <a:endParaRPr lang="en-US" dirty="0"/>
          </a:p>
          <a:p>
            <a:pPr marL="0" indent="0">
              <a:buNone/>
            </a:pPr>
            <a:r>
              <a:rPr lang="en-US" dirty="0"/>
              <a:t>Overall, </a:t>
            </a:r>
            <a:r>
              <a:rPr lang="en-US" b="1" dirty="0"/>
              <a:t>two big families of approaches</a:t>
            </a:r>
            <a:r>
              <a:rPr lang="en-US" dirty="0"/>
              <a:t>:</a:t>
            </a:r>
          </a:p>
          <a:p>
            <a:r>
              <a:rPr lang="en-GB" b="1" dirty="0"/>
              <a:t>Extrinsic methods</a:t>
            </a:r>
          </a:p>
          <a:p>
            <a:r>
              <a:rPr lang="en-GB" b="1" dirty="0"/>
              <a:t>Intrinsic Methods</a:t>
            </a:r>
          </a:p>
        </p:txBody>
      </p:sp>
    </p:spTree>
    <p:extLst>
      <p:ext uri="{BB962C8B-B14F-4D97-AF65-F5344CB8AC3E}">
        <p14:creationId xmlns:p14="http://schemas.microsoft.com/office/powerpoint/2010/main" val="144315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p:txBody>
          <a:bodyPr/>
          <a:lstStyle/>
          <a:p>
            <a:pPr marL="0" indent="0">
              <a:buNone/>
            </a:pPr>
            <a:r>
              <a:rPr lang="en-US" b="1" dirty="0"/>
              <a:t>Method #1 (Extrinsic Evaluation): </a:t>
            </a:r>
          </a:p>
          <a:p>
            <a:pPr marL="0" indent="0">
              <a:buNone/>
            </a:pPr>
            <a:r>
              <a:rPr lang="en-US" dirty="0"/>
              <a:t>Methods of </a:t>
            </a:r>
            <a:r>
              <a:rPr lang="en-US" b="1" dirty="0"/>
              <a:t>extrinsic</a:t>
            </a:r>
            <a:r>
              <a:rPr lang="en-US" dirty="0"/>
              <a:t> </a:t>
            </a:r>
            <a:r>
              <a:rPr lang="en-US" b="1" dirty="0"/>
              <a:t>evaluation</a:t>
            </a:r>
            <a:r>
              <a:rPr lang="en-US" dirty="0"/>
              <a:t> are based on the ability of word embeddings to be used as the feature vectors of supervised machine learning algorithms.</a:t>
            </a:r>
          </a:p>
          <a:p>
            <a:pPr marL="0" indent="0">
              <a:buNone/>
            </a:pPr>
            <a:endParaRPr lang="en-US" dirty="0"/>
          </a:p>
          <a:p>
            <a:pPr marL="0" indent="0">
              <a:buNone/>
            </a:pPr>
            <a:r>
              <a:rPr lang="en-US" dirty="0"/>
              <a:t>The more able a word embedding is on a given (complex) task, the better it might be.</a:t>
            </a:r>
            <a:endParaRPr lang="en-GB" dirty="0"/>
          </a:p>
        </p:txBody>
      </p:sp>
      <p:sp>
        <p:nvSpPr>
          <p:cNvPr id="5" name="Content Placeholder 4">
            <a:extLst>
              <a:ext uri="{FF2B5EF4-FFF2-40B4-BE49-F238E27FC236}">
                <a16:creationId xmlns:a16="http://schemas.microsoft.com/office/drawing/2014/main" id="{22E7BD34-46D9-44C1-9390-0E45402A6ABC}"/>
              </a:ext>
            </a:extLst>
          </p:cNvPr>
          <p:cNvSpPr>
            <a:spLocks noGrp="1"/>
          </p:cNvSpPr>
          <p:nvPr>
            <p:ph sz="half" idx="2"/>
          </p:nvPr>
        </p:nvSpPr>
        <p:spPr>
          <a:xfrm>
            <a:off x="6172200" y="1825624"/>
            <a:ext cx="5181600" cy="5032375"/>
          </a:xfrm>
        </p:spPr>
        <p:txBody>
          <a:bodyPr/>
          <a:lstStyle/>
          <a:p>
            <a:pPr marL="0" indent="0">
              <a:buNone/>
            </a:pPr>
            <a:r>
              <a:rPr lang="en-US" dirty="0"/>
              <a:t>Typically, training a </a:t>
            </a:r>
            <a:r>
              <a:rPr lang="en-US" dirty="0" err="1"/>
              <a:t>CBoW</a:t>
            </a:r>
            <a:r>
              <a:rPr lang="en-US" dirty="0"/>
              <a:t> requires to predict a missing word, in the middle of a given sentence.</a:t>
            </a:r>
          </a:p>
          <a:p>
            <a:pPr marL="0" indent="0">
              <a:buNone/>
            </a:pPr>
            <a:endParaRPr lang="en-US" dirty="0"/>
          </a:p>
          <a:p>
            <a:pPr marL="0" indent="0">
              <a:buNone/>
            </a:pPr>
            <a:r>
              <a:rPr lang="en-GB" dirty="0"/>
              <a:t>This is an easier task to train on, compared to predicting the possible context words for a given single word (</a:t>
            </a:r>
            <a:r>
              <a:rPr lang="en-GB" dirty="0" err="1"/>
              <a:t>SkipGram</a:t>
            </a:r>
            <a:r>
              <a:rPr lang="en-GB" dirty="0"/>
              <a:t>)</a:t>
            </a:r>
          </a:p>
          <a:p>
            <a:pPr marL="0" indent="0">
              <a:buNone/>
            </a:pPr>
            <a:endParaRPr lang="en-GB" dirty="0"/>
          </a:p>
          <a:p>
            <a:pPr marL="0" indent="0">
              <a:buNone/>
            </a:pPr>
            <a:r>
              <a:rPr lang="en-GB" dirty="0"/>
              <a:t>For this reason, we often assume that </a:t>
            </a:r>
            <a:r>
              <a:rPr lang="en-GB" b="1" dirty="0" err="1"/>
              <a:t>SkipGram</a:t>
            </a:r>
            <a:r>
              <a:rPr lang="en-GB" b="1" dirty="0"/>
              <a:t> &gt; </a:t>
            </a:r>
            <a:r>
              <a:rPr lang="en-GB" b="1" dirty="0" err="1"/>
              <a:t>CBoW</a:t>
            </a:r>
            <a:r>
              <a:rPr lang="en-GB" b="1" dirty="0"/>
              <a:t>.</a:t>
            </a:r>
          </a:p>
        </p:txBody>
      </p:sp>
    </p:spTree>
    <p:extLst>
      <p:ext uri="{BB962C8B-B14F-4D97-AF65-F5344CB8AC3E}">
        <p14:creationId xmlns:p14="http://schemas.microsoft.com/office/powerpoint/2010/main" val="317985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p:txBody>
          <a:bodyPr>
            <a:normAutofit/>
          </a:bodyPr>
          <a:lstStyle/>
          <a:p>
            <a:pPr marL="0" indent="0">
              <a:buNone/>
            </a:pPr>
            <a:r>
              <a:rPr lang="en-US" dirty="0"/>
              <a:t>In general, we train an embedding on a task and extract a layer from our Neural Network, corresponding to the embedding.</a:t>
            </a:r>
            <a:endParaRPr lang="en-US" b="1" dirty="0"/>
          </a:p>
          <a:p>
            <a:pPr marL="0" indent="0">
              <a:buNone/>
            </a:pPr>
            <a:endParaRPr lang="en-US" b="1" dirty="0"/>
          </a:p>
          <a:p>
            <a:pPr marL="0" indent="0">
              <a:buNone/>
            </a:pPr>
            <a:r>
              <a:rPr lang="en-US" b="1" dirty="0"/>
              <a:t>Extrinsic Evaluation: Evaluate the embedding by reusing it on another NLP benchmark task (using transfer learning).</a:t>
            </a:r>
          </a:p>
        </p:txBody>
      </p:sp>
      <p:sp>
        <p:nvSpPr>
          <p:cNvPr id="5" name="Content Placeholder 4">
            <a:extLst>
              <a:ext uri="{FF2B5EF4-FFF2-40B4-BE49-F238E27FC236}">
                <a16:creationId xmlns:a16="http://schemas.microsoft.com/office/drawing/2014/main" id="{22E7BD34-46D9-44C1-9390-0E45402A6ABC}"/>
              </a:ext>
            </a:extLst>
          </p:cNvPr>
          <p:cNvSpPr>
            <a:spLocks noGrp="1"/>
          </p:cNvSpPr>
          <p:nvPr>
            <p:ph sz="half" idx="2"/>
          </p:nvPr>
        </p:nvSpPr>
        <p:spPr>
          <a:xfrm>
            <a:off x="6172200" y="1825624"/>
            <a:ext cx="5181600" cy="5032375"/>
          </a:xfrm>
        </p:spPr>
        <p:txBody>
          <a:bodyPr>
            <a:normAutofit/>
          </a:bodyPr>
          <a:lstStyle/>
          <a:p>
            <a:pPr marL="0" indent="0">
              <a:buNone/>
            </a:pPr>
            <a:r>
              <a:rPr lang="en-US" dirty="0"/>
              <a:t>Researchers have identified a set of typical NLP tasks and datasets on which we need word embeddings [Schnabel2015], e.g.</a:t>
            </a:r>
          </a:p>
          <a:p>
            <a:r>
              <a:rPr lang="en-US" dirty="0"/>
              <a:t>Sentiment Analysis</a:t>
            </a:r>
          </a:p>
          <a:p>
            <a:r>
              <a:rPr lang="en-US" dirty="0"/>
              <a:t>Translation</a:t>
            </a:r>
          </a:p>
          <a:p>
            <a:r>
              <a:rPr lang="en-US" dirty="0"/>
              <a:t>Etc.</a:t>
            </a:r>
            <a:endParaRPr lang="en-US" b="1" dirty="0"/>
          </a:p>
          <a:p>
            <a:pPr marL="0" indent="0">
              <a:buNone/>
            </a:pPr>
            <a:r>
              <a:rPr lang="en-US" b="1" dirty="0"/>
              <a:t>These have often been used as reference for measuring the performance of a given word embedding.</a:t>
            </a:r>
            <a:endParaRPr lang="en-GB" b="1" dirty="0"/>
          </a:p>
        </p:txBody>
      </p:sp>
    </p:spTree>
    <p:extLst>
      <p:ext uri="{BB962C8B-B14F-4D97-AF65-F5344CB8AC3E}">
        <p14:creationId xmlns:p14="http://schemas.microsoft.com/office/powerpoint/2010/main" val="2220253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4"/>
            <a:ext cx="5181600" cy="5032375"/>
          </a:xfrm>
        </p:spPr>
        <p:txBody>
          <a:bodyPr/>
          <a:lstStyle/>
          <a:p>
            <a:pPr marL="0" indent="0">
              <a:buNone/>
            </a:pPr>
            <a:r>
              <a:rPr lang="en-US" b="1" dirty="0"/>
              <a:t>Method #2 (Intrinsic Evaluation): </a:t>
            </a:r>
          </a:p>
          <a:p>
            <a:pPr marL="0" indent="0">
              <a:buNone/>
            </a:pPr>
            <a:r>
              <a:rPr lang="en-US" dirty="0"/>
              <a:t>Methods of </a:t>
            </a:r>
            <a:r>
              <a:rPr lang="en-US" b="1" dirty="0"/>
              <a:t>intrinsic</a:t>
            </a:r>
            <a:r>
              <a:rPr lang="en-US" dirty="0"/>
              <a:t> </a:t>
            </a:r>
            <a:r>
              <a:rPr lang="en-US" b="1" dirty="0"/>
              <a:t>evaluation</a:t>
            </a:r>
            <a:r>
              <a:rPr lang="en-US" dirty="0"/>
              <a:t> are experiments in which word embeddings are compared with human judgments on words relations.</a:t>
            </a:r>
          </a:p>
          <a:p>
            <a:pPr marL="0" indent="0">
              <a:buNone/>
            </a:pPr>
            <a:endParaRPr lang="en-US" dirty="0"/>
          </a:p>
          <a:p>
            <a:pPr marL="0" indent="0">
              <a:buNone/>
            </a:pPr>
            <a:r>
              <a:rPr lang="en-US" dirty="0"/>
              <a:t>Typically, we will rely on </a:t>
            </a:r>
            <a:r>
              <a:rPr lang="en-US" b="1" dirty="0"/>
              <a:t>a human expert to judge</a:t>
            </a:r>
            <a:r>
              <a:rPr lang="en-US" dirty="0"/>
              <a:t> whether the word embedding is good or not.</a:t>
            </a:r>
          </a:p>
        </p:txBody>
      </p:sp>
    </p:spTree>
    <p:extLst>
      <p:ext uri="{BB962C8B-B14F-4D97-AF65-F5344CB8AC3E}">
        <p14:creationId xmlns:p14="http://schemas.microsoft.com/office/powerpoint/2010/main" val="3750189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4"/>
                <a:ext cx="5181600" cy="5032375"/>
              </a:xfrm>
            </p:spPr>
            <p:txBody>
              <a:bodyPr>
                <a:normAutofit lnSpcReduction="10000"/>
              </a:bodyPr>
              <a:lstStyle/>
              <a:p>
                <a:pPr marL="0" indent="0">
                  <a:buNone/>
                </a:pPr>
                <a:r>
                  <a:rPr lang="en-US" b="1" dirty="0"/>
                  <a:t>Definition (</a:t>
                </a:r>
                <a:r>
                  <a:rPr lang="en-US" b="1" dirty="0">
                    <a:solidFill>
                      <a:srgbClr val="00B050"/>
                    </a:solidFill>
                  </a:rPr>
                  <a:t>cosine</a:t>
                </a:r>
                <a:r>
                  <a:rPr lang="en-US" b="1" dirty="0"/>
                  <a:t> </a:t>
                </a:r>
                <a:r>
                  <a:rPr lang="en-US" b="1" dirty="0">
                    <a:solidFill>
                      <a:srgbClr val="00B050"/>
                    </a:solidFill>
                  </a:rPr>
                  <a:t>angle</a:t>
                </a:r>
                <a:r>
                  <a:rPr lang="en-US" b="1" dirty="0"/>
                  <a:t> between two vectors):</a:t>
                </a:r>
              </a:p>
              <a:p>
                <a:pPr marL="0" indent="0">
                  <a:buNone/>
                </a:pPr>
                <a:r>
                  <a:rPr lang="en-US" dirty="0"/>
                  <a:t>Researchers have tried to come up with an </a:t>
                </a:r>
                <a:r>
                  <a:rPr lang="en-US" b="1" dirty="0"/>
                  <a:t>“objective” metric </a:t>
                </a:r>
                <a:r>
                  <a:rPr lang="en-US" dirty="0"/>
                  <a:t>to compute the </a:t>
                </a:r>
                <a:r>
                  <a:rPr lang="en-US" b="1" dirty="0"/>
                  <a:t>similarity</a:t>
                </a:r>
                <a:r>
                  <a:rPr lang="en-US" dirty="0"/>
                  <a:t> between two word embeddings vectors.</a:t>
                </a:r>
                <a:endParaRPr lang="en-US" b="1" dirty="0"/>
              </a:p>
              <a:p>
                <a:pPr marL="0" indent="0">
                  <a:buNone/>
                </a:pPr>
                <a:endParaRPr lang="en-US" dirty="0"/>
              </a:p>
              <a:p>
                <a:pPr marL="0" indent="0">
                  <a:buNone/>
                </a:pPr>
                <a:r>
                  <a:rPr lang="en-US" dirty="0"/>
                  <a:t>For two vectors </a:t>
                </a:r>
                <a14:m>
                  <m:oMath xmlns:m="http://schemas.openxmlformats.org/officeDocument/2006/math">
                    <m:r>
                      <a:rPr lang="en-US" i="1" dirty="0">
                        <a:latin typeface="Cambria Math" panose="02040503050406030204" pitchFamily="18" charset="0"/>
                      </a:rPr>
                      <m:t>𝑢</m:t>
                    </m:r>
                  </m:oMath>
                </a14:m>
                <a:r>
                  <a:rPr lang="en-US" dirty="0"/>
                  <a:t>, </a:t>
                </a:r>
                <a14:m>
                  <m:oMath xmlns:m="http://schemas.openxmlformats.org/officeDocument/2006/math">
                    <m:r>
                      <a:rPr lang="en-US" i="1" dirty="0">
                        <a:latin typeface="Cambria Math" panose="02040503050406030204" pitchFamily="18" charset="0"/>
                      </a:rPr>
                      <m:t>𝑣</m:t>
                    </m:r>
                  </m:oMath>
                </a14:m>
                <a:r>
                  <a:rPr lang="en-US" dirty="0"/>
                  <a:t>, we define the </a:t>
                </a:r>
                <a:r>
                  <a:rPr lang="en-US" b="1" dirty="0">
                    <a:solidFill>
                      <a:srgbClr val="00B050"/>
                    </a:solidFill>
                  </a:rPr>
                  <a:t>cosine</a:t>
                </a:r>
                <a:r>
                  <a:rPr lang="en-US" dirty="0">
                    <a:solidFill>
                      <a:srgbClr val="00B050"/>
                    </a:solidFill>
                  </a:rPr>
                  <a:t> </a:t>
                </a:r>
                <a:r>
                  <a:rPr lang="en-US" b="1" dirty="0">
                    <a:solidFill>
                      <a:srgbClr val="00B050"/>
                    </a:solidFill>
                  </a:rPr>
                  <a:t>angle</a:t>
                </a:r>
                <a:r>
                  <a:rPr lang="en-US" dirty="0">
                    <a:solidFill>
                      <a:srgbClr val="00B050"/>
                    </a:solidFill>
                  </a:rPr>
                  <a:t> </a:t>
                </a:r>
                <a:r>
                  <a:rPr lang="en-US" dirty="0"/>
                  <a:t>between both vectors as:</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i="1">
                                  <a:latin typeface="Cambria Math" panose="02040503050406030204" pitchFamily="18" charset="0"/>
                                </a:rPr>
                                <m:t>𝑢</m:t>
                              </m:r>
                              <m:r>
                                <a:rPr lang="en-US" i="1">
                                  <a:latin typeface="Cambria Math" panose="02040503050406030204" pitchFamily="18" charset="0"/>
                                </a:rPr>
                                <m:t>, </m:t>
                              </m:r>
                              <m:r>
                                <a:rPr lang="en-US" i="1">
                                  <a:latin typeface="Cambria Math" panose="02040503050406030204" pitchFamily="18" charset="0"/>
                                </a:rPr>
                                <m:t>𝑣</m:t>
                              </m:r>
                            </m:e>
                          </m:d>
                        </m:e>
                      </m:func>
                      <m:r>
                        <a:rPr lang="en-US" i="1">
                          <a:latin typeface="Cambria Math" panose="02040503050406030204" pitchFamily="18" charset="0"/>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𝑣</m:t>
                              </m:r>
                            </m:e>
                          </m:d>
                        </m:num>
                        <m:den>
                          <m:d>
                            <m:dPr>
                              <m:begChr m:val="‖"/>
                              <m:endChr m:val="‖"/>
                              <m:ctrlPr>
                                <a:rPr lang="en-US" i="1">
                                  <a:latin typeface="Cambria Math" panose="02040503050406030204" pitchFamily="18" charset="0"/>
                                </a:rPr>
                              </m:ctrlPr>
                            </m:dPr>
                            <m:e>
                              <m:r>
                                <a:rPr lang="en-US" i="1">
                                  <a:latin typeface="Cambria Math" panose="02040503050406030204" pitchFamily="18" charset="0"/>
                                </a:rPr>
                                <m:t>𝑢</m:t>
                              </m:r>
                            </m:e>
                          </m:d>
                          <m:d>
                            <m:dPr>
                              <m:begChr m:val="‖"/>
                              <m:endChr m:val="‖"/>
                              <m:ctrlPr>
                                <a:rPr lang="en-US" i="1">
                                  <a:latin typeface="Cambria Math" panose="02040503050406030204" pitchFamily="18" charset="0"/>
                                </a:rPr>
                              </m:ctrlPr>
                            </m:dPr>
                            <m:e>
                              <m:r>
                                <a:rPr lang="en-US" i="1">
                                  <a:latin typeface="Cambria Math" panose="02040503050406030204" pitchFamily="18" charset="0"/>
                                </a:rPr>
                                <m:t>𝑣</m:t>
                              </m:r>
                            </m:e>
                          </m:d>
                        </m:den>
                      </m:f>
                    </m:oMath>
                  </m:oMathPara>
                </a14:m>
                <a:endParaRPr lang="en-GB" dirty="0"/>
              </a:p>
            </p:txBody>
          </p:sp>
        </mc:Choice>
        <mc:Fallback xmlns="">
          <p:sp>
            <p:nvSpPr>
              <p:cNvPr id="4" name="Content Placeholder 3">
                <a:extLst>
                  <a:ext uri="{FF2B5EF4-FFF2-40B4-BE49-F238E27FC236}">
                    <a16:creationId xmlns:a16="http://schemas.microsoft.com/office/drawing/2014/main" id="{6D20BC72-C14C-4C91-A7A3-C03EA6DBED9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3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44B809-7EF6-4B19-934F-990D3CDA14EF}"/>
                  </a:ext>
                </a:extLst>
              </p:cNvPr>
              <p:cNvSpPr>
                <a:spLocks noGrp="1"/>
              </p:cNvSpPr>
              <p:nvPr>
                <p:ph sz="half" idx="2"/>
              </p:nvPr>
            </p:nvSpPr>
            <p:spPr>
              <a:xfrm>
                <a:off x="6172200" y="1825624"/>
                <a:ext cx="6019800" cy="5032375"/>
              </a:xfrm>
            </p:spPr>
            <p:txBody>
              <a:bodyPr>
                <a:normAutofit lnSpcReduction="10000"/>
              </a:bodyPr>
              <a:lstStyle/>
              <a:p>
                <a:pPr marL="0" indent="0">
                  <a:buNone/>
                </a:pPr>
                <a:r>
                  <a:rPr lang="en-US" dirty="0"/>
                  <a:t>The cosine angle formula verifies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e>
                          </m:d>
                        </m:e>
                      </m:func>
                      <m:r>
                        <a:rPr lang="en-US" b="0" i="1" dirty="0" smtClean="0">
                          <a:latin typeface="Cambria Math" panose="02040503050406030204" pitchFamily="18" charset="0"/>
                        </a:rPr>
                        <m:t>= </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latin typeface="Cambria Math" panose="02040503050406030204" pitchFamily="18" charset="0"/>
                                  </a:rPr>
                                  <m:t>𝑖𝑓</m:t>
                                </m:r>
                                <m:r>
                                  <a:rPr lang="en-US" b="0" i="1" dirty="0" smtClean="0">
                                    <a:latin typeface="Cambria Math" panose="02040503050406030204" pitchFamily="18" charset="0"/>
                                  </a:rPr>
                                  <m:t> </m:t>
                                </m:r>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𝑖𝑓</m:t>
                                </m:r>
                                <m:r>
                                  <a:rPr lang="en-US" b="0" i="1" dirty="0" smtClean="0">
                                    <a:latin typeface="Cambria Math" panose="02040503050406030204" pitchFamily="18" charset="0"/>
                                  </a:rPr>
                                  <m:t> </m:t>
                                </m:r>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e>
                            </m:mr>
                            <m:mr>
                              <m:e>
                                <m:r>
                                  <a:rPr lang="en-US" b="0" i="1" dirty="0" smtClean="0">
                                    <a:latin typeface="Cambria Math" panose="02040503050406030204" pitchFamily="18" charset="0"/>
                                  </a:rPr>
                                  <m:t>0</m:t>
                                </m:r>
                              </m:e>
                              <m:e>
                                <m:eqArr>
                                  <m:eqArrPr>
                                    <m:ctrlPr>
                                      <a:rPr lang="en-US" b="0" i="1" dirty="0" smtClean="0">
                                        <a:latin typeface="Cambria Math" panose="02040503050406030204" pitchFamily="18" charset="0"/>
                                      </a:rPr>
                                    </m:ctrlPr>
                                  </m:eqArrPr>
                                  <m:e>
                                    <m:r>
                                      <a:rPr lang="en-US" b="0" i="1" dirty="0" smtClean="0">
                                        <a:latin typeface="Cambria Math" panose="02040503050406030204" pitchFamily="18" charset="0"/>
                                      </a:rPr>
                                      <m:t>𝑖𝑓</m:t>
                                    </m:r>
                                    <m:r>
                                      <a:rPr lang="en-US" b="0" i="1" dirty="0" smtClean="0">
                                        <a:latin typeface="Cambria Math" panose="02040503050406030204" pitchFamily="18" charset="0"/>
                                      </a:rPr>
                                      <m:t> </m:t>
                                    </m:r>
                                    <m:r>
                                      <a:rPr lang="en-US" b="0" i="1" dirty="0" smtClean="0">
                                        <a:latin typeface="Cambria Math" panose="02040503050406030204" pitchFamily="18" charset="0"/>
                                      </a:rPr>
                                      <m:t>𝑢</m:t>
                                    </m:r>
                                    <m:r>
                                      <a:rPr lang="en-US" b="0" i="1" dirty="0" smtClean="0">
                                        <a:latin typeface="Cambria Math" panose="02040503050406030204" pitchFamily="18" charset="0"/>
                                      </a:rPr>
                                      <m:t> </m:t>
                                    </m:r>
                                    <m:r>
                                      <a:rPr lang="en-US" b="0" i="1" dirty="0" smtClean="0">
                                        <a:latin typeface="Cambria Math" panose="02040503050406030204" pitchFamily="18" charset="0"/>
                                      </a:rPr>
                                      <m:t>𝑎𝑛𝑑</m:t>
                                    </m:r>
                                    <m:r>
                                      <a:rPr lang="en-US" b="0" i="1" dirty="0" smtClean="0">
                                        <a:latin typeface="Cambria Math" panose="02040503050406030204" pitchFamily="18" charset="0"/>
                                      </a:rPr>
                                      <m:t> </m:t>
                                    </m:r>
                                    <m:r>
                                      <a:rPr lang="en-US" b="0" i="1" dirty="0" smtClean="0">
                                        <a:latin typeface="Cambria Math" panose="02040503050406030204" pitchFamily="18" charset="0"/>
                                      </a:rPr>
                                      <m:t>𝑣</m:t>
                                    </m:r>
                                    <m:r>
                                      <a:rPr lang="en-US" b="0" i="1" dirty="0" smtClean="0">
                                        <a:latin typeface="Cambria Math" panose="02040503050406030204" pitchFamily="18" charset="0"/>
                                      </a:rPr>
                                      <m:t> </m:t>
                                    </m:r>
                                    <m:r>
                                      <a:rPr lang="en-US" b="0" i="1" dirty="0" smtClean="0">
                                        <a:latin typeface="Cambria Math" panose="02040503050406030204" pitchFamily="18" charset="0"/>
                                      </a:rPr>
                                      <m:t>𝑎𝑟𝑒</m:t>
                                    </m:r>
                                  </m:e>
                                  <m:e>
                                    <m:r>
                                      <a:rPr lang="en-US" b="0" i="1" dirty="0" smtClean="0">
                                        <a:latin typeface="Cambria Math" panose="02040503050406030204" pitchFamily="18" charset="0"/>
                                      </a:rPr>
                                      <m:t>𝑜𝑟𝑡h𝑜𝑔𝑜𝑛𝑎𝑙</m:t>
                                    </m:r>
                                  </m:e>
                                </m:eqArr>
                              </m:e>
                            </m:mr>
                          </m:m>
                        </m:e>
                      </m:d>
                    </m:oMath>
                  </m:oMathPara>
                </a14:m>
                <a:endParaRPr lang="en-GB" dirty="0"/>
              </a:p>
              <a:p>
                <a:pPr marL="0" indent="0">
                  <a:buNone/>
                </a:pPr>
                <a:endParaRPr lang="en-GB" dirty="0"/>
              </a:p>
              <a:p>
                <a:pPr marL="0" indent="0">
                  <a:buNone/>
                </a:pPr>
                <a:r>
                  <a:rPr lang="en-GB" dirty="0"/>
                  <a:t>A value close to 1 (resp. -1) indicate two vectors carrying a similar (resp. opposite) semantic meaning. A value 0 indicates two uncorrelated words.</a:t>
                </a:r>
              </a:p>
            </p:txBody>
          </p:sp>
        </mc:Choice>
        <mc:Fallback xmlns="">
          <p:sp>
            <p:nvSpPr>
              <p:cNvPr id="3" name="Content Placeholder 2">
                <a:extLst>
                  <a:ext uri="{FF2B5EF4-FFF2-40B4-BE49-F238E27FC236}">
                    <a16:creationId xmlns:a16="http://schemas.microsoft.com/office/drawing/2014/main" id="{7944B809-7EF6-4B19-934F-990D3CDA14EF}"/>
                  </a:ext>
                </a:extLst>
              </p:cNvPr>
              <p:cNvSpPr>
                <a:spLocks noGrp="1" noRot="1" noChangeAspect="1" noMove="1" noResize="1" noEditPoints="1" noAdjustHandles="1" noChangeArrowheads="1" noChangeShapeType="1" noTextEdit="1"/>
              </p:cNvSpPr>
              <p:nvPr>
                <p:ph sz="half" idx="2"/>
              </p:nvPr>
            </p:nvSpPr>
            <p:spPr>
              <a:xfrm>
                <a:off x="6172200" y="1825624"/>
                <a:ext cx="6019800" cy="5032375"/>
              </a:xfrm>
              <a:blipFill>
                <a:blip r:embed="rId3"/>
                <a:stretch>
                  <a:fillRect l="-2128" t="-2663" r="-2128"/>
                </a:stretch>
              </a:blipFill>
            </p:spPr>
            <p:txBody>
              <a:bodyPr/>
              <a:lstStyle/>
              <a:p>
                <a:r>
                  <a:rPr lang="en-GB">
                    <a:noFill/>
                  </a:rPr>
                  <a:t> </a:t>
                </a:r>
              </a:p>
            </p:txBody>
          </p:sp>
        </mc:Fallback>
      </mc:AlternateContent>
    </p:spTree>
    <p:extLst>
      <p:ext uri="{BB962C8B-B14F-4D97-AF65-F5344CB8AC3E}">
        <p14:creationId xmlns:p14="http://schemas.microsoft.com/office/powerpoint/2010/main" val="306361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5"/>
                <a:ext cx="5181600" cy="5032374"/>
              </a:xfrm>
            </p:spPr>
            <p:txBody>
              <a:bodyPr/>
              <a:lstStyle/>
              <a:p>
                <a:r>
                  <a:rPr lang="en-US" b="1" dirty="0"/>
                  <a:t>Rule #1: A “good” word embedding should model semantic proximity.</a:t>
                </a:r>
              </a:p>
              <a:p>
                <a:pPr marL="0" indent="0">
                  <a:buNone/>
                </a:pPr>
                <a:r>
                  <a:rPr lang="en-US" dirty="0"/>
                  <a:t>One can check that word analogies are preserved by the word embedding, by e.g. looking for the top 10 words </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𝑢</m:t>
                        </m:r>
                      </m:e>
                      <m:sub>
                        <m:r>
                          <a:rPr lang="en-US" b="0" i="1" dirty="0" smtClean="0">
                            <a:latin typeface="Cambria Math" panose="02040503050406030204" pitchFamily="18" charset="0"/>
                          </a:rPr>
                          <m:t>10</m:t>
                        </m:r>
                      </m:sub>
                    </m:sSub>
                    <m:r>
                      <a:rPr lang="en-US" i="1" dirty="0" smtClean="0">
                        <a:latin typeface="Cambria Math" panose="02040503050406030204" pitchFamily="18" charset="0"/>
                      </a:rPr>
                      <m:t>)</m:t>
                    </m:r>
                  </m:oMath>
                </a14:m>
                <a:r>
                  <a:rPr lang="en-US" dirty="0"/>
                  <a:t> with the largest cosine distance for any given word </a:t>
                </a:r>
                <a14:m>
                  <m:oMath xmlns:m="http://schemas.openxmlformats.org/officeDocument/2006/math">
                    <m:r>
                      <a:rPr lang="en-US" i="1" dirty="0" smtClean="0">
                        <a:latin typeface="Cambria Math" panose="02040503050406030204" pitchFamily="18" charset="0"/>
                      </a:rPr>
                      <m:t>𝑣</m:t>
                    </m:r>
                  </m:oMath>
                </a14:m>
                <a:r>
                  <a:rPr lang="en-GB" dirty="0"/>
                  <a:t>.</a:t>
                </a:r>
              </a:p>
              <a:p>
                <a:pPr marL="0" indent="0">
                  <a:buNone/>
                </a:pPr>
                <a:r>
                  <a:rPr lang="en-GB" dirty="0"/>
                  <a:t>These should make sense (somewhat)</a:t>
                </a:r>
              </a:p>
            </p:txBody>
          </p:sp>
        </mc:Choice>
        <mc:Fallback xmlns="">
          <p:sp>
            <p:nvSpPr>
              <p:cNvPr id="4" name="Content Placeholder 3">
                <a:extLst>
                  <a:ext uri="{FF2B5EF4-FFF2-40B4-BE49-F238E27FC236}">
                    <a16:creationId xmlns:a16="http://schemas.microsoft.com/office/drawing/2014/main" id="{6D20BC72-C14C-4C91-A7A3-C03EA6DBED97}"/>
                  </a:ext>
                </a:extLst>
              </p:cNvPr>
              <p:cNvSpPr>
                <a:spLocks noGrp="1" noRot="1" noChangeAspect="1" noMove="1" noResize="1" noEditPoints="1" noAdjustHandles="1" noChangeArrowheads="1" noChangeShapeType="1" noTextEdit="1"/>
              </p:cNvSpPr>
              <p:nvPr>
                <p:ph sz="half" idx="1"/>
              </p:nvPr>
            </p:nvSpPr>
            <p:spPr>
              <a:xfrm>
                <a:off x="838200" y="1825625"/>
                <a:ext cx="5181600" cy="5032374"/>
              </a:xfrm>
              <a:blipFill>
                <a:blip r:embed="rId2"/>
                <a:stretch>
                  <a:fillRect l="-2471" t="-1937"/>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F5F6AF1B-813F-44D9-8D2C-7045EA51F7BB}"/>
              </a:ext>
            </a:extLst>
          </p:cNvPr>
          <p:cNvSpPr>
            <a:spLocks noGrp="1"/>
          </p:cNvSpPr>
          <p:nvPr>
            <p:ph sz="half" idx="2"/>
          </p:nvPr>
        </p:nvSpPr>
        <p:spPr>
          <a:xfrm>
            <a:off x="6172200" y="1825624"/>
            <a:ext cx="6019800" cy="5032375"/>
          </a:xfrm>
        </p:spPr>
        <p:txBody>
          <a:bodyPr/>
          <a:lstStyle/>
          <a:p>
            <a:r>
              <a:rPr lang="en-US" dirty="0"/>
              <a:t>For instance (from the </a:t>
            </a:r>
            <a:r>
              <a:rPr lang="en-US" dirty="0" err="1"/>
              <a:t>FastText</a:t>
            </a:r>
            <a:r>
              <a:rPr lang="en-US" dirty="0"/>
              <a:t> tutorial  </a:t>
            </a:r>
            <a:r>
              <a:rPr lang="en-US" dirty="0">
                <a:hlinkClick r:id="rId3"/>
              </a:rPr>
              <a:t>https://fasttext.cc/docs/en/unsupervised-tutorial.html</a:t>
            </a:r>
            <a:r>
              <a:rPr lang="en-US" dirty="0"/>
              <a:t>)</a:t>
            </a:r>
          </a:p>
          <a:p>
            <a:endParaRPr lang="en-GB" dirty="0"/>
          </a:p>
        </p:txBody>
      </p:sp>
      <p:pic>
        <p:nvPicPr>
          <p:cNvPr id="5" name="Picture 4">
            <a:extLst>
              <a:ext uri="{FF2B5EF4-FFF2-40B4-BE49-F238E27FC236}">
                <a16:creationId xmlns:a16="http://schemas.microsoft.com/office/drawing/2014/main" id="{71890F38-AB04-4ECD-B5D9-D0970D1FD156}"/>
              </a:ext>
            </a:extLst>
          </p:cNvPr>
          <p:cNvPicPr>
            <a:picLocks noChangeAspect="1"/>
          </p:cNvPicPr>
          <p:nvPr/>
        </p:nvPicPr>
        <p:blipFill rotWithShape="1">
          <a:blip r:embed="rId4"/>
          <a:srcRect l="62564" t="50000" r="31539" b="23897"/>
          <a:stretch/>
        </p:blipFill>
        <p:spPr>
          <a:xfrm>
            <a:off x="6794907" y="3319584"/>
            <a:ext cx="2414141" cy="3339123"/>
          </a:xfrm>
          <a:prstGeom prst="rect">
            <a:avLst/>
          </a:prstGeom>
        </p:spPr>
      </p:pic>
      <p:pic>
        <p:nvPicPr>
          <p:cNvPr id="6" name="Picture 5">
            <a:extLst>
              <a:ext uri="{FF2B5EF4-FFF2-40B4-BE49-F238E27FC236}">
                <a16:creationId xmlns:a16="http://schemas.microsoft.com/office/drawing/2014/main" id="{F053ED3F-60BA-4225-B6E5-10664BCBC07E}"/>
              </a:ext>
            </a:extLst>
          </p:cNvPr>
          <p:cNvPicPr>
            <a:picLocks noChangeAspect="1"/>
          </p:cNvPicPr>
          <p:nvPr/>
        </p:nvPicPr>
        <p:blipFill rotWithShape="1">
          <a:blip r:embed="rId5"/>
          <a:srcRect l="62500" t="36611" r="32244" b="38257"/>
          <a:stretch/>
        </p:blipFill>
        <p:spPr>
          <a:xfrm>
            <a:off x="9329615" y="3319112"/>
            <a:ext cx="2235200" cy="3339595"/>
          </a:xfrm>
          <a:prstGeom prst="rect">
            <a:avLst/>
          </a:prstGeom>
        </p:spPr>
      </p:pic>
    </p:spTree>
    <p:extLst>
      <p:ext uri="{BB962C8B-B14F-4D97-AF65-F5344CB8AC3E}">
        <p14:creationId xmlns:p14="http://schemas.microsoft.com/office/powerpoint/2010/main" val="233234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5"/>
                <a:ext cx="5181600" cy="5032374"/>
              </a:xfrm>
            </p:spPr>
            <p:txBody>
              <a:bodyPr/>
              <a:lstStyle/>
              <a:p>
                <a:r>
                  <a:rPr lang="en-US" b="1" dirty="0">
                    <a:solidFill>
                      <a:schemeClr val="accent3"/>
                    </a:solidFill>
                  </a:rPr>
                  <a:t>Rule #1: A “good” word embedding should model semantic proximity.</a:t>
                </a:r>
              </a:p>
              <a:p>
                <a:pPr marL="0" indent="0">
                  <a:buNone/>
                </a:pPr>
                <a:r>
                  <a:rPr lang="en-US" dirty="0">
                    <a:solidFill>
                      <a:schemeClr val="accent3"/>
                    </a:solidFill>
                  </a:rPr>
                  <a:t>One can check that word analogies are preserved by the word embedding, by e.g. looking for the top 10 words </a:t>
                </a:r>
                <a14:m>
                  <m:oMath xmlns:m="http://schemas.openxmlformats.org/officeDocument/2006/math">
                    <m:r>
                      <a:rPr lang="en-US" i="1" dirty="0" smtClean="0">
                        <a:solidFill>
                          <a:schemeClr val="accent3"/>
                        </a:solidFill>
                        <a:latin typeface="Cambria Math" panose="02040503050406030204" pitchFamily="18" charset="0"/>
                      </a:rPr>
                      <m:t>(</m:t>
                    </m:r>
                    <m:sSub>
                      <m:sSubPr>
                        <m:ctrlPr>
                          <a:rPr lang="en-US" i="1" dirty="0" smtClean="0">
                            <a:solidFill>
                              <a:schemeClr val="accent3"/>
                            </a:solidFill>
                            <a:latin typeface="Cambria Math" panose="02040503050406030204" pitchFamily="18" charset="0"/>
                          </a:rPr>
                        </m:ctrlPr>
                      </m:sSubPr>
                      <m:e>
                        <m:r>
                          <a:rPr lang="en-US" i="1" dirty="0" smtClean="0">
                            <a:solidFill>
                              <a:schemeClr val="accent3"/>
                            </a:solidFill>
                            <a:latin typeface="Cambria Math" panose="02040503050406030204" pitchFamily="18" charset="0"/>
                          </a:rPr>
                          <m:t>𝑢</m:t>
                        </m:r>
                      </m:e>
                      <m:sub>
                        <m:r>
                          <a:rPr lang="en-US" i="1" dirty="0" smtClean="0">
                            <a:solidFill>
                              <a:schemeClr val="accent3"/>
                            </a:solidFill>
                            <a:latin typeface="Cambria Math" panose="02040503050406030204" pitchFamily="18" charset="0"/>
                          </a:rPr>
                          <m:t>1</m:t>
                        </m:r>
                      </m:sub>
                    </m:sSub>
                    <m:r>
                      <a:rPr lang="en-US" b="0" i="1" dirty="0" smtClean="0">
                        <a:solidFill>
                          <a:schemeClr val="accent3"/>
                        </a:solidFill>
                        <a:latin typeface="Cambria Math" panose="02040503050406030204" pitchFamily="18" charset="0"/>
                      </a:rPr>
                      <m:t>,…,</m:t>
                    </m:r>
                    <m:sSub>
                      <m:sSubPr>
                        <m:ctrlPr>
                          <a:rPr lang="en-US" b="0" i="1" dirty="0" smtClean="0">
                            <a:solidFill>
                              <a:schemeClr val="accent3"/>
                            </a:solidFill>
                            <a:latin typeface="Cambria Math" panose="02040503050406030204" pitchFamily="18" charset="0"/>
                          </a:rPr>
                        </m:ctrlPr>
                      </m:sSubPr>
                      <m:e>
                        <m:r>
                          <a:rPr lang="en-US" b="0" i="1" dirty="0" smtClean="0">
                            <a:solidFill>
                              <a:schemeClr val="accent3"/>
                            </a:solidFill>
                            <a:latin typeface="Cambria Math" panose="02040503050406030204" pitchFamily="18" charset="0"/>
                          </a:rPr>
                          <m:t>𝑢</m:t>
                        </m:r>
                      </m:e>
                      <m:sub>
                        <m:r>
                          <a:rPr lang="en-US" b="0" i="1" dirty="0" smtClean="0">
                            <a:solidFill>
                              <a:schemeClr val="accent3"/>
                            </a:solidFill>
                            <a:latin typeface="Cambria Math" panose="02040503050406030204" pitchFamily="18" charset="0"/>
                          </a:rPr>
                          <m:t>10</m:t>
                        </m:r>
                      </m:sub>
                    </m:sSub>
                    <m:r>
                      <a:rPr lang="en-US" i="1" dirty="0" smtClean="0">
                        <a:solidFill>
                          <a:schemeClr val="accent3"/>
                        </a:solidFill>
                        <a:latin typeface="Cambria Math" panose="02040503050406030204" pitchFamily="18" charset="0"/>
                      </a:rPr>
                      <m:t>)</m:t>
                    </m:r>
                  </m:oMath>
                </a14:m>
                <a:r>
                  <a:rPr lang="en-US" dirty="0">
                    <a:solidFill>
                      <a:schemeClr val="accent3"/>
                    </a:solidFill>
                  </a:rPr>
                  <a:t> with the largest cosine distance for any given word </a:t>
                </a:r>
                <a14:m>
                  <m:oMath xmlns:m="http://schemas.openxmlformats.org/officeDocument/2006/math">
                    <m:r>
                      <a:rPr lang="en-US" i="1" dirty="0" smtClean="0">
                        <a:solidFill>
                          <a:schemeClr val="accent3"/>
                        </a:solidFill>
                        <a:latin typeface="Cambria Math" panose="02040503050406030204" pitchFamily="18" charset="0"/>
                      </a:rPr>
                      <m:t>𝑣</m:t>
                    </m:r>
                  </m:oMath>
                </a14:m>
                <a:r>
                  <a:rPr lang="en-GB" dirty="0">
                    <a:solidFill>
                      <a:schemeClr val="accent3"/>
                    </a:solidFill>
                  </a:rPr>
                  <a:t>.</a:t>
                </a:r>
              </a:p>
              <a:p>
                <a:pPr marL="0" indent="0">
                  <a:buNone/>
                </a:pPr>
                <a:r>
                  <a:rPr lang="en-GB" dirty="0">
                    <a:solidFill>
                      <a:schemeClr val="accent3"/>
                    </a:solidFill>
                  </a:rPr>
                  <a:t>These should make sense (somewhat)</a:t>
                </a:r>
              </a:p>
            </p:txBody>
          </p:sp>
        </mc:Choice>
        <mc:Fallback xmlns="">
          <p:sp>
            <p:nvSpPr>
              <p:cNvPr id="4" name="Content Placeholder 3">
                <a:extLst>
                  <a:ext uri="{FF2B5EF4-FFF2-40B4-BE49-F238E27FC236}">
                    <a16:creationId xmlns:a16="http://schemas.microsoft.com/office/drawing/2014/main" id="{6D20BC72-C14C-4C91-A7A3-C03EA6DBED97}"/>
                  </a:ext>
                </a:extLst>
              </p:cNvPr>
              <p:cNvSpPr>
                <a:spLocks noGrp="1" noRot="1" noChangeAspect="1" noMove="1" noResize="1" noEditPoints="1" noAdjustHandles="1" noChangeArrowheads="1" noChangeShapeType="1" noTextEdit="1"/>
              </p:cNvSpPr>
              <p:nvPr>
                <p:ph sz="half" idx="1"/>
              </p:nvPr>
            </p:nvSpPr>
            <p:spPr>
              <a:xfrm>
                <a:off x="838200" y="1825625"/>
                <a:ext cx="5181600" cy="5032374"/>
              </a:xfrm>
              <a:blipFill>
                <a:blip r:embed="rId2"/>
                <a:stretch>
                  <a:fillRect l="-2471" t="-1937"/>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F5F6AF1B-813F-44D9-8D2C-7045EA51F7BB}"/>
              </a:ext>
            </a:extLst>
          </p:cNvPr>
          <p:cNvSpPr>
            <a:spLocks noGrp="1"/>
          </p:cNvSpPr>
          <p:nvPr>
            <p:ph sz="half" idx="2"/>
          </p:nvPr>
        </p:nvSpPr>
        <p:spPr>
          <a:xfrm>
            <a:off x="6172200" y="1825624"/>
            <a:ext cx="6019800" cy="5032375"/>
          </a:xfrm>
        </p:spPr>
        <p:txBody>
          <a:bodyPr/>
          <a:lstStyle/>
          <a:p>
            <a:r>
              <a:rPr lang="en-US" dirty="0"/>
              <a:t>For instance (from the </a:t>
            </a:r>
            <a:r>
              <a:rPr lang="en-US" dirty="0" err="1"/>
              <a:t>FastText</a:t>
            </a:r>
            <a:r>
              <a:rPr lang="en-US" dirty="0"/>
              <a:t> tutorial  </a:t>
            </a:r>
            <a:r>
              <a:rPr lang="en-US" dirty="0">
                <a:hlinkClick r:id="rId3"/>
              </a:rPr>
              <a:t>https://fasttext.cc/docs/en/unsupervised-tutorial.html</a:t>
            </a:r>
            <a:r>
              <a:rPr lang="en-US" dirty="0"/>
              <a:t>)</a:t>
            </a:r>
          </a:p>
          <a:p>
            <a:endParaRPr lang="en-GB" dirty="0"/>
          </a:p>
        </p:txBody>
      </p:sp>
      <p:pic>
        <p:nvPicPr>
          <p:cNvPr id="5" name="Picture 4">
            <a:extLst>
              <a:ext uri="{FF2B5EF4-FFF2-40B4-BE49-F238E27FC236}">
                <a16:creationId xmlns:a16="http://schemas.microsoft.com/office/drawing/2014/main" id="{71890F38-AB04-4ECD-B5D9-D0970D1FD156}"/>
              </a:ext>
            </a:extLst>
          </p:cNvPr>
          <p:cNvPicPr>
            <a:picLocks noChangeAspect="1"/>
          </p:cNvPicPr>
          <p:nvPr/>
        </p:nvPicPr>
        <p:blipFill rotWithShape="1">
          <a:blip r:embed="rId4"/>
          <a:srcRect l="62564" t="50000" r="31539" b="23897"/>
          <a:stretch/>
        </p:blipFill>
        <p:spPr>
          <a:xfrm>
            <a:off x="6794907" y="3319584"/>
            <a:ext cx="2414141" cy="3339123"/>
          </a:xfrm>
          <a:prstGeom prst="rect">
            <a:avLst/>
          </a:prstGeom>
        </p:spPr>
      </p:pic>
      <p:pic>
        <p:nvPicPr>
          <p:cNvPr id="6" name="Picture 5">
            <a:extLst>
              <a:ext uri="{FF2B5EF4-FFF2-40B4-BE49-F238E27FC236}">
                <a16:creationId xmlns:a16="http://schemas.microsoft.com/office/drawing/2014/main" id="{F053ED3F-60BA-4225-B6E5-10664BCBC07E}"/>
              </a:ext>
            </a:extLst>
          </p:cNvPr>
          <p:cNvPicPr>
            <a:picLocks noChangeAspect="1"/>
          </p:cNvPicPr>
          <p:nvPr/>
        </p:nvPicPr>
        <p:blipFill rotWithShape="1">
          <a:blip r:embed="rId5"/>
          <a:srcRect l="62500" t="36611" r="32244" b="38257"/>
          <a:stretch/>
        </p:blipFill>
        <p:spPr>
          <a:xfrm>
            <a:off x="9329615" y="3319112"/>
            <a:ext cx="2235200" cy="3339595"/>
          </a:xfrm>
          <a:prstGeom prst="rect">
            <a:avLst/>
          </a:prstGeom>
        </p:spPr>
      </p:pic>
      <p:sp>
        <p:nvSpPr>
          <p:cNvPr id="7" name="TextBox 6">
            <a:extLst>
              <a:ext uri="{FF2B5EF4-FFF2-40B4-BE49-F238E27FC236}">
                <a16:creationId xmlns:a16="http://schemas.microsoft.com/office/drawing/2014/main" id="{508F6574-7519-4581-AE26-BDB7C7470415}"/>
              </a:ext>
            </a:extLst>
          </p:cNvPr>
          <p:cNvSpPr txBox="1"/>
          <p:nvPr/>
        </p:nvSpPr>
        <p:spPr>
          <a:xfrm>
            <a:off x="466683" y="3595077"/>
            <a:ext cx="5496455" cy="2677656"/>
          </a:xfrm>
          <a:prstGeom prst="rect">
            <a:avLst/>
          </a:prstGeom>
          <a:solidFill>
            <a:schemeClr val="bg1"/>
          </a:solidFill>
          <a:ln w="38100">
            <a:solidFill>
              <a:schemeClr val="tx1"/>
            </a:solidFill>
          </a:ln>
        </p:spPr>
        <p:txBody>
          <a:bodyPr wrap="square" rtlCol="0">
            <a:spAutoFit/>
          </a:bodyPr>
          <a:lstStyle/>
          <a:p>
            <a:r>
              <a:rPr lang="en-US" sz="2800" b="1" dirty="0"/>
              <a:t>Are these top10 lists good or bad answers?</a:t>
            </a:r>
          </a:p>
          <a:p>
            <a:r>
              <a:rPr lang="en-US" sz="2800" dirty="0"/>
              <a:t>Your answer to this question will probably be very subjective and not a reliable performance evaluation metric...!</a:t>
            </a:r>
            <a:endParaRPr lang="en-GB" sz="2800" dirty="0"/>
          </a:p>
        </p:txBody>
      </p:sp>
      <p:sp>
        <p:nvSpPr>
          <p:cNvPr id="8" name="Arrow: Right 7">
            <a:extLst>
              <a:ext uri="{FF2B5EF4-FFF2-40B4-BE49-F238E27FC236}">
                <a16:creationId xmlns:a16="http://schemas.microsoft.com/office/drawing/2014/main" id="{9BD7D63E-81C1-44E5-8095-C0518A60C344}"/>
              </a:ext>
            </a:extLst>
          </p:cNvPr>
          <p:cNvSpPr/>
          <p:nvPr/>
        </p:nvSpPr>
        <p:spPr>
          <a:xfrm>
            <a:off x="6096000" y="4712677"/>
            <a:ext cx="578340" cy="476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59163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5"/>
                <a:ext cx="5181600" cy="5032374"/>
              </a:xfrm>
            </p:spPr>
            <p:txBody>
              <a:bodyPr/>
              <a:lstStyle/>
              <a:p>
                <a:r>
                  <a:rPr lang="en-US" b="1" dirty="0"/>
                  <a:t>Rule #2: A “good” word embedding should preserve word analogies.</a:t>
                </a:r>
              </a:p>
              <a:p>
                <a:pPr marL="0" indent="0">
                  <a:buNone/>
                </a:pPr>
                <a:r>
                  <a:rPr lang="en-US" dirty="0"/>
                  <a:t>Word analogies are sentences reading as “A is to B, what C is to D”, with A, B, C and D being four words.</a:t>
                </a:r>
              </a:p>
              <a:p>
                <a:pPr marL="0" indent="0">
                  <a:buNone/>
                </a:pPr>
                <a:r>
                  <a:rPr lang="en-US" dirty="0"/>
                  <a:t>Analogies are typically modeled  by relations such as: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𝐵</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𝐶</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𝐷</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𝐴</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𝐶</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𝐵</m:t>
                          </m:r>
                        </m:sub>
                      </m:sSub>
                    </m:oMath>
                  </m:oMathPara>
                </a14:m>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6D20BC72-C14C-4C91-A7A3-C03EA6DBED97}"/>
                  </a:ext>
                </a:extLst>
              </p:cNvPr>
              <p:cNvSpPr>
                <a:spLocks noGrp="1" noRot="1" noChangeAspect="1" noMove="1" noResize="1" noEditPoints="1" noAdjustHandles="1" noChangeArrowheads="1" noChangeShapeType="1" noTextEdit="1"/>
              </p:cNvSpPr>
              <p:nvPr>
                <p:ph sz="half" idx="1"/>
              </p:nvPr>
            </p:nvSpPr>
            <p:spPr>
              <a:xfrm>
                <a:off x="838200" y="1825625"/>
                <a:ext cx="5181600" cy="5032374"/>
              </a:xfrm>
              <a:blipFill>
                <a:blip r:embed="rId2"/>
                <a:stretch>
                  <a:fillRect l="-2471" t="-1937"/>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C41D94D9-958D-4CD3-8D23-0B4FABE33B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2" y="1825624"/>
            <a:ext cx="5920383" cy="2285267"/>
          </a:xfrm>
          <a:prstGeom prst="rect">
            <a:avLst/>
          </a:prstGeom>
          <a:ln w="38100">
            <a:solidFill>
              <a:schemeClr val="tx1"/>
            </a:solidFill>
          </a:ln>
        </p:spPr>
      </p:pic>
    </p:spTree>
    <p:extLst>
      <p:ext uri="{BB962C8B-B14F-4D97-AF65-F5344CB8AC3E}">
        <p14:creationId xmlns:p14="http://schemas.microsoft.com/office/powerpoint/2010/main" val="3750204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4"/>
                <a:ext cx="5181600" cy="5032375"/>
              </a:xfrm>
            </p:spPr>
            <p:txBody>
              <a:bodyPr>
                <a:normAutofit/>
              </a:bodyPr>
              <a:lstStyle/>
              <a:p>
                <a:r>
                  <a:rPr lang="en-US" b="1" dirty="0">
                    <a:solidFill>
                      <a:schemeClr val="accent3"/>
                    </a:solidFill>
                  </a:rPr>
                  <a:t>Rule #2: A “good” word embedding should preserve word analogies.</a:t>
                </a:r>
              </a:p>
              <a:p>
                <a:pPr marL="0" indent="0">
                  <a:buNone/>
                </a:pPr>
                <a:r>
                  <a:rPr lang="en-US" dirty="0">
                    <a:solidFill>
                      <a:schemeClr val="accent3"/>
                    </a:solidFill>
                  </a:rPr>
                  <a:t>Word analogies are sentences reading as “A is to B, what C is to D”, with A, B, C and D being four words.</a:t>
                </a:r>
              </a:p>
              <a:p>
                <a:pPr marL="0" indent="0">
                  <a:buNone/>
                </a:pPr>
                <a:r>
                  <a:rPr lang="en-US" dirty="0">
                    <a:solidFill>
                      <a:schemeClr val="accent3"/>
                    </a:solidFill>
                  </a:rPr>
                  <a:t>Analogies are typically modeled  by relations such as: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𝐴</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𝐵</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𝐶</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𝐷</m:t>
                          </m:r>
                        </m:sub>
                      </m:sSub>
                    </m:oMath>
                  </m:oMathPara>
                </a14:m>
                <a:endParaRPr lang="en-US" dirty="0">
                  <a:solidFill>
                    <a:schemeClr val="accent3"/>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accent3"/>
                              </a:solidFill>
                              <a:latin typeface="Cambria Math" panose="02040503050406030204" pitchFamily="18" charset="0"/>
                            </a:rPr>
                          </m:ctrlPr>
                        </m:sSubPr>
                        <m:e>
                          <m:r>
                            <a:rPr lang="en-US" i="1">
                              <a:solidFill>
                                <a:schemeClr val="accent3"/>
                              </a:solidFill>
                              <a:latin typeface="Cambria Math" panose="02040503050406030204" pitchFamily="18" charset="0"/>
                            </a:rPr>
                            <m:t>𝑤</m:t>
                          </m:r>
                        </m:e>
                        <m:sub>
                          <m:r>
                            <a:rPr lang="en-US" i="1">
                              <a:solidFill>
                                <a:schemeClr val="accent3"/>
                              </a:solidFill>
                              <a:latin typeface="Cambria Math" panose="02040503050406030204" pitchFamily="18" charset="0"/>
                            </a:rPr>
                            <m:t>𝐴</m:t>
                          </m:r>
                        </m:sub>
                      </m:sSub>
                      <m:r>
                        <a:rPr lang="en-US" i="1">
                          <a:solidFill>
                            <a:schemeClr val="accent3"/>
                          </a:solidFill>
                          <a:latin typeface="Cambria Math" panose="02040503050406030204" pitchFamily="18" charset="0"/>
                        </a:rPr>
                        <m:t>=</m:t>
                      </m:r>
                      <m:sSub>
                        <m:sSubPr>
                          <m:ctrlPr>
                            <a:rPr lang="en-US" i="1">
                              <a:solidFill>
                                <a:schemeClr val="accent3"/>
                              </a:solidFill>
                              <a:latin typeface="Cambria Math" panose="02040503050406030204" pitchFamily="18" charset="0"/>
                            </a:rPr>
                          </m:ctrlPr>
                        </m:sSubPr>
                        <m:e>
                          <m:r>
                            <a:rPr lang="en-US" i="1">
                              <a:solidFill>
                                <a:schemeClr val="accent3"/>
                              </a:solidFill>
                              <a:latin typeface="Cambria Math" panose="02040503050406030204" pitchFamily="18" charset="0"/>
                            </a:rPr>
                            <m:t>𝑤</m:t>
                          </m:r>
                        </m:e>
                        <m:sub>
                          <m:r>
                            <a:rPr lang="en-US" i="1">
                              <a:solidFill>
                                <a:schemeClr val="accent3"/>
                              </a:solidFill>
                              <a:latin typeface="Cambria Math" panose="02040503050406030204" pitchFamily="18" charset="0"/>
                            </a:rPr>
                            <m:t>𝐶</m:t>
                          </m:r>
                        </m:sub>
                      </m:sSub>
                      <m:r>
                        <a:rPr lang="en-US" i="1">
                          <a:solidFill>
                            <a:schemeClr val="accent3"/>
                          </a:solidFill>
                          <a:latin typeface="Cambria Math" panose="02040503050406030204" pitchFamily="18" charset="0"/>
                        </a:rPr>
                        <m:t>−</m:t>
                      </m:r>
                      <m:sSub>
                        <m:sSubPr>
                          <m:ctrlPr>
                            <a:rPr lang="en-US" i="1">
                              <a:solidFill>
                                <a:schemeClr val="accent3"/>
                              </a:solidFill>
                              <a:latin typeface="Cambria Math" panose="02040503050406030204" pitchFamily="18" charset="0"/>
                            </a:rPr>
                          </m:ctrlPr>
                        </m:sSubPr>
                        <m:e>
                          <m:r>
                            <a:rPr lang="en-US" i="1">
                              <a:solidFill>
                                <a:schemeClr val="accent3"/>
                              </a:solidFill>
                              <a:latin typeface="Cambria Math" panose="02040503050406030204" pitchFamily="18" charset="0"/>
                            </a:rPr>
                            <m:t>𝑤</m:t>
                          </m:r>
                        </m:e>
                        <m:sub>
                          <m:r>
                            <a:rPr lang="en-US" i="1">
                              <a:solidFill>
                                <a:schemeClr val="accent3"/>
                              </a:solidFill>
                              <a:latin typeface="Cambria Math" panose="02040503050406030204" pitchFamily="18" charset="0"/>
                            </a:rPr>
                            <m:t>𝐷</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𝐵</m:t>
                          </m:r>
                        </m:sub>
                      </m:sSub>
                    </m:oMath>
                  </m:oMathPara>
                </a14:m>
                <a:endParaRPr lang="en-US" dirty="0">
                  <a:solidFill>
                    <a:schemeClr val="accent3"/>
                  </a:solidFill>
                </a:endParaRPr>
              </a:p>
              <a:p>
                <a:pPr marL="0" indent="0">
                  <a:buNone/>
                </a:pPr>
                <a:endParaRPr lang="en-US" dirty="0">
                  <a:solidFill>
                    <a:schemeClr val="accent3"/>
                  </a:solidFill>
                </a:endParaRPr>
              </a:p>
            </p:txBody>
          </p:sp>
        </mc:Choice>
        <mc:Fallback xmlns="">
          <p:sp>
            <p:nvSpPr>
              <p:cNvPr id="4" name="Content Placeholder 3">
                <a:extLst>
                  <a:ext uri="{FF2B5EF4-FFF2-40B4-BE49-F238E27FC236}">
                    <a16:creationId xmlns:a16="http://schemas.microsoft.com/office/drawing/2014/main" id="{6D20BC72-C14C-4C91-A7A3-C03EA6DBED9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F964C286-5C88-490B-9164-E9E991103B88}"/>
              </a:ext>
            </a:extLst>
          </p:cNvPr>
          <p:cNvSpPr>
            <a:spLocks noGrp="1"/>
          </p:cNvSpPr>
          <p:nvPr>
            <p:ph sz="half" idx="2"/>
          </p:nvPr>
        </p:nvSpPr>
        <p:spPr>
          <a:xfrm>
            <a:off x="6172200" y="1825624"/>
            <a:ext cx="5181600" cy="5032375"/>
          </a:xfrm>
        </p:spPr>
        <p:txBody>
          <a:bodyPr>
            <a:normAutofit/>
          </a:bodyPr>
          <a:lstStyle/>
          <a:p>
            <a:r>
              <a:rPr lang="en-US" dirty="0"/>
              <a:t>For instance (from the </a:t>
            </a:r>
            <a:r>
              <a:rPr lang="en-US" dirty="0" err="1"/>
              <a:t>FastText</a:t>
            </a:r>
            <a:r>
              <a:rPr lang="en-US" dirty="0"/>
              <a:t> tutorial  </a:t>
            </a:r>
            <a:r>
              <a:rPr lang="en-US" dirty="0">
                <a:hlinkClick r:id="rId3"/>
              </a:rPr>
              <a:t>https://fasttext.cc/docs/en/unsupervised-tutorial.html</a:t>
            </a:r>
            <a:r>
              <a:rPr lang="en-US" dirty="0"/>
              <a:t>)</a:t>
            </a:r>
          </a:p>
          <a:p>
            <a:endParaRPr lang="en-GB" dirty="0"/>
          </a:p>
        </p:txBody>
      </p:sp>
      <p:pic>
        <p:nvPicPr>
          <p:cNvPr id="6" name="Picture 5">
            <a:extLst>
              <a:ext uri="{FF2B5EF4-FFF2-40B4-BE49-F238E27FC236}">
                <a16:creationId xmlns:a16="http://schemas.microsoft.com/office/drawing/2014/main" id="{B4F74039-33E8-4C7A-A00F-6F317F08D274}"/>
              </a:ext>
            </a:extLst>
          </p:cNvPr>
          <p:cNvPicPr>
            <a:picLocks noChangeAspect="1"/>
          </p:cNvPicPr>
          <p:nvPr/>
        </p:nvPicPr>
        <p:blipFill rotWithShape="1">
          <a:blip r:embed="rId4"/>
          <a:srcRect l="62628" t="43282" r="25321" b="28616"/>
          <a:stretch/>
        </p:blipFill>
        <p:spPr>
          <a:xfrm>
            <a:off x="6760308" y="3509107"/>
            <a:ext cx="4517292" cy="3291858"/>
          </a:xfrm>
          <a:prstGeom prst="rect">
            <a:avLst/>
          </a:prstGeom>
        </p:spPr>
      </p:pic>
      <p:sp>
        <p:nvSpPr>
          <p:cNvPr id="7" name="TextBox 6">
            <a:extLst>
              <a:ext uri="{FF2B5EF4-FFF2-40B4-BE49-F238E27FC236}">
                <a16:creationId xmlns:a16="http://schemas.microsoft.com/office/drawing/2014/main" id="{8E49B0A8-9BF4-45B3-8C57-979C183B6F85}"/>
              </a:ext>
            </a:extLst>
          </p:cNvPr>
          <p:cNvSpPr txBox="1"/>
          <p:nvPr/>
        </p:nvSpPr>
        <p:spPr>
          <a:xfrm>
            <a:off x="466683" y="3595077"/>
            <a:ext cx="5496455" cy="2677656"/>
          </a:xfrm>
          <a:prstGeom prst="rect">
            <a:avLst/>
          </a:prstGeom>
          <a:solidFill>
            <a:schemeClr val="bg1"/>
          </a:solidFill>
          <a:ln w="38100">
            <a:solidFill>
              <a:schemeClr val="tx1"/>
            </a:solidFill>
          </a:ln>
        </p:spPr>
        <p:txBody>
          <a:bodyPr wrap="square" rtlCol="0">
            <a:spAutoFit/>
          </a:bodyPr>
          <a:lstStyle/>
          <a:p>
            <a:r>
              <a:rPr lang="en-US" sz="2800" b="1" dirty="0"/>
              <a:t>Is this top10 list containing good or bad answers?</a:t>
            </a:r>
          </a:p>
          <a:p>
            <a:r>
              <a:rPr lang="en-US" sz="2800" dirty="0"/>
              <a:t>Your answer to this question will (again!) probably be very subjective and not a reliable performance evaluation metric...!</a:t>
            </a:r>
            <a:endParaRPr lang="en-GB" sz="2800" dirty="0"/>
          </a:p>
        </p:txBody>
      </p:sp>
      <p:sp>
        <p:nvSpPr>
          <p:cNvPr id="8" name="Arrow: Right 7">
            <a:extLst>
              <a:ext uri="{FF2B5EF4-FFF2-40B4-BE49-F238E27FC236}">
                <a16:creationId xmlns:a16="http://schemas.microsoft.com/office/drawing/2014/main" id="{7182122B-A8B4-49F2-9AF5-110FC5A27576}"/>
              </a:ext>
            </a:extLst>
          </p:cNvPr>
          <p:cNvSpPr/>
          <p:nvPr/>
        </p:nvSpPr>
        <p:spPr>
          <a:xfrm>
            <a:off x="6096000" y="4712677"/>
            <a:ext cx="578340" cy="476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87705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4"/>
                <a:ext cx="5181600" cy="5032375"/>
              </a:xfrm>
            </p:spPr>
            <p:txBody>
              <a:bodyPr>
                <a:normAutofit/>
              </a:bodyPr>
              <a:lstStyle/>
              <a:p>
                <a:r>
                  <a:rPr lang="en-US" b="1" dirty="0">
                    <a:solidFill>
                      <a:schemeClr val="accent3"/>
                    </a:solidFill>
                  </a:rPr>
                  <a:t>Rule #2: A “good” word embedding should preserve word analogies.</a:t>
                </a:r>
              </a:p>
              <a:p>
                <a:pPr marL="0" indent="0">
                  <a:buNone/>
                </a:pPr>
                <a:r>
                  <a:rPr lang="en-US" dirty="0">
                    <a:solidFill>
                      <a:schemeClr val="accent3"/>
                    </a:solidFill>
                  </a:rPr>
                  <a:t>Word analogies are sentences reading as “A is to B, what C is to D”, with A, B, C and D being four words.</a:t>
                </a:r>
              </a:p>
              <a:p>
                <a:pPr marL="0" indent="0">
                  <a:buNone/>
                </a:pPr>
                <a:r>
                  <a:rPr lang="en-US" dirty="0">
                    <a:solidFill>
                      <a:schemeClr val="accent3"/>
                    </a:solidFill>
                  </a:rPr>
                  <a:t>Analogies are typically modeled  by relations such as: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𝐴</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𝐵</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𝐶</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𝐷</m:t>
                          </m:r>
                        </m:sub>
                      </m:sSub>
                    </m:oMath>
                  </m:oMathPara>
                </a14:m>
                <a:endParaRPr lang="en-US" dirty="0">
                  <a:solidFill>
                    <a:schemeClr val="accent3"/>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accent3"/>
                              </a:solidFill>
                              <a:latin typeface="Cambria Math" panose="02040503050406030204" pitchFamily="18" charset="0"/>
                            </a:rPr>
                          </m:ctrlPr>
                        </m:sSubPr>
                        <m:e>
                          <m:r>
                            <a:rPr lang="en-US" i="1">
                              <a:solidFill>
                                <a:schemeClr val="accent3"/>
                              </a:solidFill>
                              <a:latin typeface="Cambria Math" panose="02040503050406030204" pitchFamily="18" charset="0"/>
                            </a:rPr>
                            <m:t>𝑤</m:t>
                          </m:r>
                        </m:e>
                        <m:sub>
                          <m:r>
                            <a:rPr lang="en-US" i="1">
                              <a:solidFill>
                                <a:schemeClr val="accent3"/>
                              </a:solidFill>
                              <a:latin typeface="Cambria Math" panose="02040503050406030204" pitchFamily="18" charset="0"/>
                            </a:rPr>
                            <m:t>𝐴</m:t>
                          </m:r>
                        </m:sub>
                      </m:sSub>
                      <m:r>
                        <a:rPr lang="en-US" i="1">
                          <a:solidFill>
                            <a:schemeClr val="accent3"/>
                          </a:solidFill>
                          <a:latin typeface="Cambria Math" panose="02040503050406030204" pitchFamily="18" charset="0"/>
                        </a:rPr>
                        <m:t>=</m:t>
                      </m:r>
                      <m:sSub>
                        <m:sSubPr>
                          <m:ctrlPr>
                            <a:rPr lang="en-US" i="1">
                              <a:solidFill>
                                <a:schemeClr val="accent3"/>
                              </a:solidFill>
                              <a:latin typeface="Cambria Math" panose="02040503050406030204" pitchFamily="18" charset="0"/>
                            </a:rPr>
                          </m:ctrlPr>
                        </m:sSubPr>
                        <m:e>
                          <m:r>
                            <a:rPr lang="en-US" i="1">
                              <a:solidFill>
                                <a:schemeClr val="accent3"/>
                              </a:solidFill>
                              <a:latin typeface="Cambria Math" panose="02040503050406030204" pitchFamily="18" charset="0"/>
                            </a:rPr>
                            <m:t>𝑤</m:t>
                          </m:r>
                        </m:e>
                        <m:sub>
                          <m:r>
                            <a:rPr lang="en-US" i="1">
                              <a:solidFill>
                                <a:schemeClr val="accent3"/>
                              </a:solidFill>
                              <a:latin typeface="Cambria Math" panose="02040503050406030204" pitchFamily="18" charset="0"/>
                            </a:rPr>
                            <m:t>𝐶</m:t>
                          </m:r>
                        </m:sub>
                      </m:sSub>
                      <m:r>
                        <a:rPr lang="en-US" i="1">
                          <a:solidFill>
                            <a:schemeClr val="accent3"/>
                          </a:solidFill>
                          <a:latin typeface="Cambria Math" panose="02040503050406030204" pitchFamily="18" charset="0"/>
                        </a:rPr>
                        <m:t>−</m:t>
                      </m:r>
                      <m:sSub>
                        <m:sSubPr>
                          <m:ctrlPr>
                            <a:rPr lang="en-US" i="1">
                              <a:solidFill>
                                <a:schemeClr val="accent3"/>
                              </a:solidFill>
                              <a:latin typeface="Cambria Math" panose="02040503050406030204" pitchFamily="18" charset="0"/>
                            </a:rPr>
                          </m:ctrlPr>
                        </m:sSubPr>
                        <m:e>
                          <m:r>
                            <a:rPr lang="en-US" i="1">
                              <a:solidFill>
                                <a:schemeClr val="accent3"/>
                              </a:solidFill>
                              <a:latin typeface="Cambria Math" panose="02040503050406030204" pitchFamily="18" charset="0"/>
                            </a:rPr>
                            <m:t>𝑤</m:t>
                          </m:r>
                        </m:e>
                        <m:sub>
                          <m:r>
                            <a:rPr lang="en-US" i="1">
                              <a:solidFill>
                                <a:schemeClr val="accent3"/>
                              </a:solidFill>
                              <a:latin typeface="Cambria Math" panose="02040503050406030204" pitchFamily="18" charset="0"/>
                            </a:rPr>
                            <m:t>𝐷</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𝑤</m:t>
                          </m:r>
                        </m:e>
                        <m:sub>
                          <m:r>
                            <a:rPr lang="en-US" b="0" i="1" smtClean="0">
                              <a:solidFill>
                                <a:schemeClr val="accent3"/>
                              </a:solidFill>
                              <a:latin typeface="Cambria Math" panose="02040503050406030204" pitchFamily="18" charset="0"/>
                            </a:rPr>
                            <m:t>𝐵</m:t>
                          </m:r>
                        </m:sub>
                      </m:sSub>
                    </m:oMath>
                  </m:oMathPara>
                </a14:m>
                <a:endParaRPr lang="en-US" dirty="0">
                  <a:solidFill>
                    <a:schemeClr val="accent3"/>
                  </a:solidFill>
                </a:endParaRPr>
              </a:p>
              <a:p>
                <a:pPr marL="0" indent="0">
                  <a:buNone/>
                </a:pPr>
                <a:endParaRPr lang="en-US" dirty="0">
                  <a:solidFill>
                    <a:schemeClr val="accent3"/>
                  </a:solidFill>
                </a:endParaRPr>
              </a:p>
            </p:txBody>
          </p:sp>
        </mc:Choice>
        <mc:Fallback xmlns="">
          <p:sp>
            <p:nvSpPr>
              <p:cNvPr id="4" name="Content Placeholder 3">
                <a:extLst>
                  <a:ext uri="{FF2B5EF4-FFF2-40B4-BE49-F238E27FC236}">
                    <a16:creationId xmlns:a16="http://schemas.microsoft.com/office/drawing/2014/main" id="{6D20BC72-C14C-4C91-A7A3-C03EA6DBED9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F964C286-5C88-490B-9164-E9E991103B88}"/>
              </a:ext>
            </a:extLst>
          </p:cNvPr>
          <p:cNvSpPr>
            <a:spLocks noGrp="1"/>
          </p:cNvSpPr>
          <p:nvPr>
            <p:ph sz="half" idx="2"/>
          </p:nvPr>
        </p:nvSpPr>
        <p:spPr>
          <a:xfrm>
            <a:off x="6172200" y="1825624"/>
            <a:ext cx="5181600" cy="5032375"/>
          </a:xfrm>
        </p:spPr>
        <p:txBody>
          <a:bodyPr>
            <a:normAutofit/>
          </a:bodyPr>
          <a:lstStyle/>
          <a:p>
            <a:r>
              <a:rPr lang="en-US" dirty="0"/>
              <a:t>For instance (from the </a:t>
            </a:r>
            <a:r>
              <a:rPr lang="en-US" dirty="0" err="1"/>
              <a:t>FastText</a:t>
            </a:r>
            <a:r>
              <a:rPr lang="en-US" dirty="0"/>
              <a:t> tutorial  </a:t>
            </a:r>
            <a:r>
              <a:rPr lang="en-US" dirty="0">
                <a:hlinkClick r:id="rId3"/>
              </a:rPr>
              <a:t>https://fasttext.cc/docs/en/unsupervised-tutorial.html</a:t>
            </a:r>
            <a:r>
              <a:rPr lang="en-US" dirty="0"/>
              <a:t>)</a:t>
            </a:r>
          </a:p>
          <a:p>
            <a:endParaRPr lang="en-GB" dirty="0"/>
          </a:p>
        </p:txBody>
      </p:sp>
      <p:pic>
        <p:nvPicPr>
          <p:cNvPr id="6" name="Picture 5">
            <a:extLst>
              <a:ext uri="{FF2B5EF4-FFF2-40B4-BE49-F238E27FC236}">
                <a16:creationId xmlns:a16="http://schemas.microsoft.com/office/drawing/2014/main" id="{B4F74039-33E8-4C7A-A00F-6F317F08D274}"/>
              </a:ext>
            </a:extLst>
          </p:cNvPr>
          <p:cNvPicPr>
            <a:picLocks noChangeAspect="1"/>
          </p:cNvPicPr>
          <p:nvPr/>
        </p:nvPicPr>
        <p:blipFill rotWithShape="1">
          <a:blip r:embed="rId4"/>
          <a:srcRect l="62628" t="43282" r="25321" b="28616"/>
          <a:stretch/>
        </p:blipFill>
        <p:spPr>
          <a:xfrm>
            <a:off x="6760308" y="3509107"/>
            <a:ext cx="4517292" cy="3291858"/>
          </a:xfrm>
          <a:prstGeom prst="rect">
            <a:avLst/>
          </a:prstGeom>
        </p:spPr>
      </p:pic>
      <p:sp>
        <p:nvSpPr>
          <p:cNvPr id="7" name="TextBox 6">
            <a:extLst>
              <a:ext uri="{FF2B5EF4-FFF2-40B4-BE49-F238E27FC236}">
                <a16:creationId xmlns:a16="http://schemas.microsoft.com/office/drawing/2014/main" id="{8E49B0A8-9BF4-45B3-8C57-979C183B6F85}"/>
              </a:ext>
            </a:extLst>
          </p:cNvPr>
          <p:cNvSpPr txBox="1"/>
          <p:nvPr/>
        </p:nvSpPr>
        <p:spPr>
          <a:xfrm>
            <a:off x="466683" y="3595077"/>
            <a:ext cx="5496455" cy="2677656"/>
          </a:xfrm>
          <a:prstGeom prst="rect">
            <a:avLst/>
          </a:prstGeom>
          <a:solidFill>
            <a:schemeClr val="bg1"/>
          </a:solidFill>
          <a:ln w="38100">
            <a:solidFill>
              <a:schemeClr val="tx1"/>
            </a:solidFill>
          </a:ln>
        </p:spPr>
        <p:txBody>
          <a:bodyPr wrap="square" rtlCol="0">
            <a:spAutoFit/>
          </a:bodyPr>
          <a:lstStyle/>
          <a:p>
            <a:r>
              <a:rPr lang="en-US" sz="2800" b="1" dirty="0"/>
              <a:t>Is this top10 list containing good or bad answers?</a:t>
            </a:r>
          </a:p>
          <a:p>
            <a:r>
              <a:rPr lang="en-US" sz="2800" dirty="0"/>
              <a:t>Your answer to this question will (again!) probably be very subjective and not a reliable performance evaluation metric...!</a:t>
            </a:r>
            <a:endParaRPr lang="en-GB" sz="28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81C42AF-6835-4B4B-94A0-53826EBF5001}"/>
                  </a:ext>
                </a:extLst>
              </p:cNvPr>
              <p:cNvSpPr txBox="1"/>
              <p:nvPr/>
            </p:nvSpPr>
            <p:spPr>
              <a:xfrm>
                <a:off x="6270726" y="1465945"/>
                <a:ext cx="5496455" cy="5303760"/>
              </a:xfrm>
              <a:prstGeom prst="rect">
                <a:avLst/>
              </a:prstGeom>
              <a:solidFill>
                <a:schemeClr val="bg1"/>
              </a:solidFill>
              <a:ln w="38100">
                <a:solidFill>
                  <a:schemeClr val="tx1"/>
                </a:solidFill>
              </a:ln>
            </p:spPr>
            <p:txBody>
              <a:bodyPr wrap="square" rtlCol="0">
                <a:spAutoFit/>
              </a:bodyPr>
              <a:lstStyle/>
              <a:p>
                <a:r>
                  <a:rPr lang="en-US" sz="2800" dirty="0"/>
                  <a:t>More specifically, because we are unsure </a:t>
                </a:r>
                <a:r>
                  <a:rPr lang="en-US" sz="2800" b="1" dirty="0"/>
                  <a:t>what the word embedding values represent in terms of semantics.</a:t>
                </a:r>
              </a:p>
              <a:p>
                <a:r>
                  <a:rPr lang="en-US" sz="2800" dirty="0"/>
                  <a:t>There have been observed cases where the word embedding understands some “sort of relationship” but cannot properly distinguish between the different types of relationships, e.g.</a:t>
                </a:r>
              </a:p>
              <a:p>
                <a:endParaRPr lang="en-US" sz="2800" b="1" dirty="0"/>
              </a:p>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𝒘</m:t>
                          </m:r>
                        </m:e>
                        <m:sub>
                          <m:r>
                            <a:rPr lang="en-US" sz="2800" b="1" i="1" smtClean="0">
                              <a:latin typeface="Cambria Math" panose="02040503050406030204" pitchFamily="18" charset="0"/>
                            </a:rPr>
                            <m:t>𝒅𝒓𝒊𝒗𝒆𝒓</m:t>
                          </m:r>
                        </m:sub>
                      </m:sSub>
                      <m:r>
                        <a:rPr lang="en-US" sz="2800" b="1" i="1" smtClean="0">
                          <a:latin typeface="Cambria Math" panose="02040503050406030204" pitchFamily="18" charset="0"/>
                        </a:rPr>
                        <m:t>−</m:t>
                      </m:r>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𝒘</m:t>
                          </m:r>
                        </m:e>
                        <m:sub>
                          <m:r>
                            <a:rPr lang="en-US" sz="2800" b="1" i="1" smtClean="0">
                              <a:latin typeface="Cambria Math" panose="02040503050406030204" pitchFamily="18" charset="0"/>
                            </a:rPr>
                            <m:t>𝒄𝒂𝒓</m:t>
                          </m:r>
                        </m:sub>
                      </m:sSub>
                      <m:r>
                        <a:rPr lang="en-US" sz="2800" b="1" i="1" smtClean="0">
                          <a:latin typeface="Cambria Math" panose="02040503050406030204" pitchFamily="18" charset="0"/>
                        </a:rPr>
                        <m:t>=</m:t>
                      </m:r>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𝒘</m:t>
                          </m:r>
                        </m:e>
                        <m:sub>
                          <m:r>
                            <a:rPr lang="en-US" sz="2800" b="1" i="1" smtClean="0">
                              <a:latin typeface="Cambria Math" panose="02040503050406030204" pitchFamily="18" charset="0"/>
                            </a:rPr>
                            <m:t>𝒌𝒊𝒏𝒈</m:t>
                          </m:r>
                        </m:sub>
                      </m:sSub>
                      <m:r>
                        <a:rPr lang="en-US" sz="2800" b="1" i="1" smtClean="0">
                          <a:latin typeface="Cambria Math" panose="02040503050406030204" pitchFamily="18" charset="0"/>
                        </a:rPr>
                        <m:t>−</m:t>
                      </m:r>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𝒘</m:t>
                          </m:r>
                        </m:e>
                        <m:sub>
                          <m:r>
                            <a:rPr lang="en-US" sz="2800" b="1" i="1" smtClean="0">
                              <a:latin typeface="Cambria Math" panose="02040503050406030204" pitchFamily="18" charset="0"/>
                            </a:rPr>
                            <m:t>𝒒𝒖𝒆𝒆𝒏</m:t>
                          </m:r>
                        </m:sub>
                      </m:sSub>
                    </m:oMath>
                  </m:oMathPara>
                </a14:m>
                <a:endParaRPr lang="en-US" sz="2800" b="1" dirty="0"/>
              </a:p>
            </p:txBody>
          </p:sp>
        </mc:Choice>
        <mc:Fallback xmlns="">
          <p:sp>
            <p:nvSpPr>
              <p:cNvPr id="9" name="TextBox 8">
                <a:extLst>
                  <a:ext uri="{FF2B5EF4-FFF2-40B4-BE49-F238E27FC236}">
                    <a16:creationId xmlns:a16="http://schemas.microsoft.com/office/drawing/2014/main" id="{681C42AF-6835-4B4B-94A0-53826EBF5001}"/>
                  </a:ext>
                </a:extLst>
              </p:cNvPr>
              <p:cNvSpPr txBox="1">
                <a:spLocks noRot="1" noChangeAspect="1" noMove="1" noResize="1" noEditPoints="1" noAdjustHandles="1" noChangeArrowheads="1" noChangeShapeType="1" noTextEdit="1"/>
              </p:cNvSpPr>
              <p:nvPr/>
            </p:nvSpPr>
            <p:spPr>
              <a:xfrm>
                <a:off x="6270726" y="1465945"/>
                <a:ext cx="5496455" cy="5303760"/>
              </a:xfrm>
              <a:prstGeom prst="rect">
                <a:avLst/>
              </a:prstGeom>
              <a:blipFill>
                <a:blip r:embed="rId5"/>
                <a:stretch>
                  <a:fillRect l="-1985" t="-684"/>
                </a:stretch>
              </a:blipFill>
              <a:ln w="38100">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2582296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6FDE-648E-4FBA-BDD9-6F3AD2CBBCD0}"/>
              </a:ext>
            </a:extLst>
          </p:cNvPr>
          <p:cNvSpPr>
            <a:spLocks noGrp="1"/>
          </p:cNvSpPr>
          <p:nvPr>
            <p:ph type="title"/>
          </p:nvPr>
        </p:nvSpPr>
        <p:spPr/>
        <p:txBody>
          <a:bodyPr/>
          <a:lstStyle/>
          <a:p>
            <a:r>
              <a:rPr lang="en-US" dirty="0"/>
              <a:t>Measuring Embeddings Performance </a:t>
            </a:r>
            <a:endParaRPr lang="en-GB" dirty="0"/>
          </a:p>
        </p:txBody>
      </p:sp>
      <p:sp>
        <p:nvSpPr>
          <p:cNvPr id="4" name="Content Placeholder 3">
            <a:extLst>
              <a:ext uri="{FF2B5EF4-FFF2-40B4-BE49-F238E27FC236}">
                <a16:creationId xmlns:a16="http://schemas.microsoft.com/office/drawing/2014/main" id="{6D20BC72-C14C-4C91-A7A3-C03EA6DBED97}"/>
              </a:ext>
            </a:extLst>
          </p:cNvPr>
          <p:cNvSpPr>
            <a:spLocks noGrp="1"/>
          </p:cNvSpPr>
          <p:nvPr>
            <p:ph sz="half" idx="1"/>
          </p:nvPr>
        </p:nvSpPr>
        <p:spPr>
          <a:xfrm>
            <a:off x="838200" y="1825624"/>
            <a:ext cx="5181600" cy="5032375"/>
          </a:xfrm>
        </p:spPr>
        <p:txBody>
          <a:bodyPr>
            <a:normAutofit/>
          </a:bodyPr>
          <a:lstStyle/>
          <a:p>
            <a:r>
              <a:rPr lang="en-US" b="1" dirty="0"/>
              <a:t>Rule #3: A “good” word embedding should be able to operate on variations on the words (color/</a:t>
            </a:r>
            <a:r>
              <a:rPr lang="en-US" b="1" dirty="0" err="1"/>
              <a:t>colour</a:t>
            </a:r>
            <a:r>
              <a:rPr lang="en-US" b="1" dirty="0"/>
              <a:t>, typos, plural forms, conjugation, etc.).</a:t>
            </a:r>
          </a:p>
          <a:p>
            <a:pPr marL="0" indent="0">
              <a:buNone/>
            </a:pPr>
            <a:endParaRPr lang="en-US" dirty="0"/>
          </a:p>
          <a:p>
            <a:pPr marL="0" indent="0">
              <a:buNone/>
            </a:pPr>
            <a:endParaRPr lang="en-US" dirty="0"/>
          </a:p>
        </p:txBody>
      </p:sp>
      <p:sp>
        <p:nvSpPr>
          <p:cNvPr id="3" name="Content Placeholder 2">
            <a:extLst>
              <a:ext uri="{FF2B5EF4-FFF2-40B4-BE49-F238E27FC236}">
                <a16:creationId xmlns:a16="http://schemas.microsoft.com/office/drawing/2014/main" id="{F964C286-5C88-490B-9164-E9E991103B88}"/>
              </a:ext>
            </a:extLst>
          </p:cNvPr>
          <p:cNvSpPr>
            <a:spLocks noGrp="1"/>
          </p:cNvSpPr>
          <p:nvPr>
            <p:ph sz="half" idx="2"/>
          </p:nvPr>
        </p:nvSpPr>
        <p:spPr>
          <a:xfrm>
            <a:off x="6172200" y="1825624"/>
            <a:ext cx="5181600" cy="5032375"/>
          </a:xfrm>
        </p:spPr>
        <p:txBody>
          <a:bodyPr>
            <a:normAutofit/>
          </a:bodyPr>
          <a:lstStyle/>
          <a:p>
            <a:pPr marL="0" indent="0">
              <a:buNone/>
            </a:pPr>
            <a:r>
              <a:rPr lang="en-US" dirty="0"/>
              <a:t>For instance (from the </a:t>
            </a:r>
            <a:r>
              <a:rPr lang="en-US" dirty="0" err="1"/>
              <a:t>FastText</a:t>
            </a:r>
            <a:r>
              <a:rPr lang="en-US" dirty="0"/>
              <a:t> tutorial):  </a:t>
            </a:r>
            <a:r>
              <a:rPr lang="en-US" dirty="0">
                <a:hlinkClick r:id="rId2"/>
              </a:rPr>
              <a:t>https://fasttext.cc/docs/en/unsupervised-tutorial.html</a:t>
            </a:r>
            <a:r>
              <a:rPr lang="en-US" dirty="0"/>
              <a:t>)</a:t>
            </a:r>
          </a:p>
          <a:p>
            <a:pPr marL="0" indent="0">
              <a:buNone/>
            </a:pPr>
            <a:endParaRPr lang="en-GB" dirty="0"/>
          </a:p>
        </p:txBody>
      </p:sp>
      <p:sp>
        <p:nvSpPr>
          <p:cNvPr id="7" name="TextBox 6">
            <a:extLst>
              <a:ext uri="{FF2B5EF4-FFF2-40B4-BE49-F238E27FC236}">
                <a16:creationId xmlns:a16="http://schemas.microsoft.com/office/drawing/2014/main" id="{85F4A571-E43E-4836-84DC-DA24C7A37BE4}"/>
              </a:ext>
            </a:extLst>
          </p:cNvPr>
          <p:cNvSpPr txBox="1"/>
          <p:nvPr/>
        </p:nvSpPr>
        <p:spPr>
          <a:xfrm>
            <a:off x="263483" y="4064000"/>
            <a:ext cx="5496455" cy="2677656"/>
          </a:xfrm>
          <a:prstGeom prst="rect">
            <a:avLst/>
          </a:prstGeom>
          <a:solidFill>
            <a:schemeClr val="bg1"/>
          </a:solidFill>
          <a:ln w="38100">
            <a:solidFill>
              <a:schemeClr val="tx1"/>
            </a:solidFill>
          </a:ln>
        </p:spPr>
        <p:txBody>
          <a:bodyPr wrap="square" rtlCol="0">
            <a:spAutoFit/>
          </a:bodyPr>
          <a:lstStyle/>
          <a:p>
            <a:r>
              <a:rPr lang="en-US" sz="2800" b="1" dirty="0"/>
              <a:t>Is this top10 list containing good or bad answers?</a:t>
            </a:r>
          </a:p>
          <a:p>
            <a:r>
              <a:rPr lang="en-US" sz="2800" dirty="0"/>
              <a:t>Your answer to this question will (again!) probably be very subjective and not a reliable performance evaluation metric...!</a:t>
            </a:r>
            <a:endParaRPr lang="en-GB" sz="2800" dirty="0"/>
          </a:p>
        </p:txBody>
      </p:sp>
      <p:pic>
        <p:nvPicPr>
          <p:cNvPr id="5" name="Picture 4">
            <a:extLst>
              <a:ext uri="{FF2B5EF4-FFF2-40B4-BE49-F238E27FC236}">
                <a16:creationId xmlns:a16="http://schemas.microsoft.com/office/drawing/2014/main" id="{EF6E3444-6110-457F-9E8A-8279863C17A9}"/>
              </a:ext>
            </a:extLst>
          </p:cNvPr>
          <p:cNvPicPr>
            <a:picLocks noChangeAspect="1"/>
          </p:cNvPicPr>
          <p:nvPr/>
        </p:nvPicPr>
        <p:blipFill rotWithShape="1">
          <a:blip r:embed="rId3"/>
          <a:srcRect l="62500" t="34872" r="30897" b="40718"/>
          <a:stretch/>
        </p:blipFill>
        <p:spPr>
          <a:xfrm>
            <a:off x="7104185" y="3509120"/>
            <a:ext cx="2797907" cy="3232536"/>
          </a:xfrm>
          <a:prstGeom prst="rect">
            <a:avLst/>
          </a:prstGeom>
        </p:spPr>
      </p:pic>
    </p:spTree>
    <p:extLst>
      <p:ext uri="{BB962C8B-B14F-4D97-AF65-F5344CB8AC3E}">
        <p14:creationId xmlns:p14="http://schemas.microsoft.com/office/powerpoint/2010/main" val="3552463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ECC4A1-06A0-47FC-A8DD-C405C54EAA63}"/>
              </a:ext>
            </a:extLst>
          </p:cNvPr>
          <p:cNvSpPr>
            <a:spLocks noGrp="1"/>
          </p:cNvSpPr>
          <p:nvPr>
            <p:ph type="title"/>
          </p:nvPr>
        </p:nvSpPr>
        <p:spPr/>
        <p:txBody>
          <a:bodyPr/>
          <a:lstStyle/>
          <a:p>
            <a:r>
              <a:rPr lang="en-US" dirty="0"/>
              <a:t>Word embedding biases</a:t>
            </a:r>
            <a:endParaRPr lang="en-GB" dirty="0"/>
          </a:p>
        </p:txBody>
      </p:sp>
      <p:sp>
        <p:nvSpPr>
          <p:cNvPr id="5" name="Content Placeholder 4">
            <a:extLst>
              <a:ext uri="{FF2B5EF4-FFF2-40B4-BE49-F238E27FC236}">
                <a16:creationId xmlns:a16="http://schemas.microsoft.com/office/drawing/2014/main" id="{3C384BEE-81F7-4783-BC71-85BC8A987079}"/>
              </a:ext>
            </a:extLst>
          </p:cNvPr>
          <p:cNvSpPr>
            <a:spLocks noGrp="1"/>
          </p:cNvSpPr>
          <p:nvPr>
            <p:ph sz="half" idx="1"/>
          </p:nvPr>
        </p:nvSpPr>
        <p:spPr>
          <a:xfrm>
            <a:off x="838200" y="1825624"/>
            <a:ext cx="5181600" cy="5032375"/>
          </a:xfrm>
        </p:spPr>
        <p:txBody>
          <a:bodyPr>
            <a:normAutofit/>
          </a:bodyPr>
          <a:lstStyle/>
          <a:p>
            <a:pPr marL="0" indent="0">
              <a:buNone/>
            </a:pPr>
            <a:r>
              <a:rPr lang="en-US" b="1" dirty="0"/>
              <a:t>Important: </a:t>
            </a:r>
            <a:r>
              <a:rPr lang="en-US" dirty="0"/>
              <a:t>A quick note on word embeddings </a:t>
            </a:r>
            <a:r>
              <a:rPr lang="en-US" b="1" dirty="0"/>
              <a:t>biases</a:t>
            </a:r>
            <a:r>
              <a:rPr lang="en-US" dirty="0"/>
              <a:t>.</a:t>
            </a:r>
          </a:p>
          <a:p>
            <a:r>
              <a:rPr lang="en-US" dirty="0"/>
              <a:t>As mentioned before, we value the quality of a word embedding by how good it manages to capture similarities and analogies between words, by extracting it from a given corpus.</a:t>
            </a:r>
          </a:p>
          <a:p>
            <a:r>
              <a:rPr lang="en-US" b="1" dirty="0"/>
              <a:t>Problem: </a:t>
            </a:r>
            <a:r>
              <a:rPr lang="en-US" dirty="0"/>
              <a:t>if the corpus is </a:t>
            </a:r>
            <a:r>
              <a:rPr lang="en-US" b="1" dirty="0"/>
              <a:t>biased</a:t>
            </a:r>
            <a:r>
              <a:rPr lang="en-US" dirty="0"/>
              <a:t> (sexist, racist, etc.), it will catch these </a:t>
            </a:r>
            <a:r>
              <a:rPr lang="en-US" b="1" dirty="0"/>
              <a:t>biases</a:t>
            </a:r>
            <a:r>
              <a:rPr lang="en-US" dirty="0"/>
              <a:t> as well! (See [Bolukbasi2016]).</a:t>
            </a:r>
          </a:p>
          <a:p>
            <a:endParaRPr lang="en-GB" dirty="0"/>
          </a:p>
        </p:txBody>
      </p:sp>
      <p:pic>
        <p:nvPicPr>
          <p:cNvPr id="7" name="Picture 6">
            <a:extLst>
              <a:ext uri="{FF2B5EF4-FFF2-40B4-BE49-F238E27FC236}">
                <a16:creationId xmlns:a16="http://schemas.microsoft.com/office/drawing/2014/main" id="{FDD50283-1DF5-437F-AB91-6182381ECDC1}"/>
              </a:ext>
            </a:extLst>
          </p:cNvPr>
          <p:cNvPicPr>
            <a:picLocks noChangeAspect="1"/>
          </p:cNvPicPr>
          <p:nvPr/>
        </p:nvPicPr>
        <p:blipFill rotWithShape="1">
          <a:blip r:embed="rId2"/>
          <a:srcRect l="4359" t="25641" r="62308" b="23898"/>
          <a:stretch/>
        </p:blipFill>
        <p:spPr>
          <a:xfrm>
            <a:off x="6319719" y="3985846"/>
            <a:ext cx="5666467" cy="2680677"/>
          </a:xfrm>
          <a:prstGeom prst="rect">
            <a:avLst/>
          </a:prstGeom>
        </p:spPr>
      </p:pic>
      <p:sp>
        <p:nvSpPr>
          <p:cNvPr id="8" name="Rectangle 7">
            <a:extLst>
              <a:ext uri="{FF2B5EF4-FFF2-40B4-BE49-F238E27FC236}">
                <a16:creationId xmlns:a16="http://schemas.microsoft.com/office/drawing/2014/main" id="{A4A0295A-51BD-4456-9CEC-429ACAB5F876}"/>
              </a:ext>
            </a:extLst>
          </p:cNvPr>
          <p:cNvSpPr/>
          <p:nvPr/>
        </p:nvSpPr>
        <p:spPr>
          <a:xfrm>
            <a:off x="11566769" y="6557108"/>
            <a:ext cx="523631" cy="2266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4C3D086C-2ABB-41BC-9008-EA4FC10D497D}"/>
              </a:ext>
            </a:extLst>
          </p:cNvPr>
          <p:cNvPicPr>
            <a:picLocks noChangeAspect="1"/>
          </p:cNvPicPr>
          <p:nvPr/>
        </p:nvPicPr>
        <p:blipFill rotWithShape="1">
          <a:blip r:embed="rId3"/>
          <a:srcRect l="19487" t="28103" r="69744" b="56102"/>
          <a:stretch/>
        </p:blipFill>
        <p:spPr>
          <a:xfrm>
            <a:off x="6753596" y="1177925"/>
            <a:ext cx="5336804" cy="2446032"/>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1B4BB75-8FC2-41C4-804D-59A4BD7DAF18}"/>
                  </a:ext>
                </a:extLst>
              </p:cNvPr>
              <p:cNvSpPr txBox="1"/>
              <p:nvPr/>
            </p:nvSpPr>
            <p:spPr>
              <a:xfrm>
                <a:off x="6837326" y="492570"/>
                <a:ext cx="5169344"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𝑤</m:t>
                          </m:r>
                        </m:e>
                        <m:sub>
                          <m:r>
                            <a:rPr lang="en-US" sz="2800" b="0" i="1" dirty="0" smtClean="0">
                              <a:latin typeface="Cambria Math" panose="02040503050406030204" pitchFamily="18" charset="0"/>
                            </a:rPr>
                            <m:t>𝑚𝑎𝑛</m:t>
                          </m:r>
                          <m:r>
                            <a:rPr lang="en-US" sz="2800" b="0" i="1" dirty="0" smtClean="0">
                              <a:latin typeface="Cambria Math" panose="02040503050406030204" pitchFamily="18" charset="0"/>
                            </a:rPr>
                            <m:t>_</m:t>
                          </m:r>
                          <m:r>
                            <a:rPr lang="en-US" sz="2800" b="0" i="1" dirty="0" smtClean="0">
                              <a:latin typeface="Cambria Math" panose="02040503050406030204" pitchFamily="18" charset="0"/>
                            </a:rPr>
                            <m:t>𝑗𝑜𝑏</m:t>
                          </m:r>
                        </m:sub>
                      </m:sSub>
                      <m:r>
                        <a:rPr lang="en-US" sz="2800" b="0" i="1" dirty="0" smtClean="0">
                          <a:latin typeface="Cambria Math" panose="02040503050406030204" pitchFamily="18" charset="0"/>
                        </a:rPr>
                        <m:t>−</m:t>
                      </m:r>
                      <m:sSub>
                        <m:sSubPr>
                          <m:ctrlPr>
                            <a:rPr lang="en-US" sz="2800" i="1" dirty="0">
                              <a:latin typeface="Cambria Math" panose="02040503050406030204" pitchFamily="18" charset="0"/>
                            </a:rPr>
                          </m:ctrlPr>
                        </m:sSubPr>
                        <m:e>
                          <m:r>
                            <a:rPr lang="en-US" sz="2800" i="1" dirty="0">
                              <a:latin typeface="Cambria Math" panose="02040503050406030204" pitchFamily="18" charset="0"/>
                            </a:rPr>
                            <m:t>𝑤</m:t>
                          </m:r>
                        </m:e>
                        <m:sub>
                          <m:r>
                            <a:rPr lang="en-US" sz="2800" i="1" dirty="0">
                              <a:latin typeface="Cambria Math" panose="02040503050406030204" pitchFamily="18" charset="0"/>
                            </a:rPr>
                            <m:t>𝑚𝑎𝑛</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𝑤</m:t>
                          </m:r>
                        </m:e>
                        <m:sub>
                          <m:r>
                            <a:rPr lang="en-US" sz="2800" b="0" i="1" dirty="0" smtClean="0">
                              <a:latin typeface="Cambria Math" panose="02040503050406030204" pitchFamily="18" charset="0"/>
                            </a:rPr>
                            <m:t>𝑤𝑜𝑚𝑎𝑛</m:t>
                          </m:r>
                        </m:sub>
                      </m:sSub>
                      <m:r>
                        <a:rPr lang="en-US" sz="2800" b="0" i="1" dirty="0" smtClean="0">
                          <a:latin typeface="Cambria Math" panose="02040503050406030204" pitchFamily="18" charset="0"/>
                        </a:rPr>
                        <m:t>= ?</m:t>
                      </m:r>
                    </m:oMath>
                  </m:oMathPara>
                </a14:m>
                <a:endParaRPr lang="en-GB" sz="2800" dirty="0"/>
              </a:p>
            </p:txBody>
          </p:sp>
        </mc:Choice>
        <mc:Fallback xmlns="">
          <p:sp>
            <p:nvSpPr>
              <p:cNvPr id="11" name="TextBox 10">
                <a:extLst>
                  <a:ext uri="{FF2B5EF4-FFF2-40B4-BE49-F238E27FC236}">
                    <a16:creationId xmlns:a16="http://schemas.microsoft.com/office/drawing/2014/main" id="{11B4BB75-8FC2-41C4-804D-59A4BD7DAF18}"/>
                  </a:ext>
                </a:extLst>
              </p:cNvPr>
              <p:cNvSpPr txBox="1">
                <a:spLocks noRot="1" noChangeAspect="1" noMove="1" noResize="1" noEditPoints="1" noAdjustHandles="1" noChangeArrowheads="1" noChangeShapeType="1" noTextEdit="1"/>
              </p:cNvSpPr>
              <p:nvPr/>
            </p:nvSpPr>
            <p:spPr>
              <a:xfrm>
                <a:off x="6837326" y="492570"/>
                <a:ext cx="5169344" cy="557910"/>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225905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EFB82-7C4E-4C24-A8CA-8084E6DBAE46}"/>
              </a:ext>
            </a:extLst>
          </p:cNvPr>
          <p:cNvSpPr>
            <a:spLocks noGrp="1"/>
          </p:cNvSpPr>
          <p:nvPr>
            <p:ph type="title"/>
          </p:nvPr>
        </p:nvSpPr>
        <p:spPr/>
        <p:txBody>
          <a:bodyPr/>
          <a:lstStyle/>
          <a:p>
            <a:r>
              <a:rPr lang="en-US" dirty="0"/>
              <a:t>Word embeddings evaluation</a:t>
            </a:r>
            <a:endParaRPr lang="en-GB" dirty="0"/>
          </a:p>
        </p:txBody>
      </p:sp>
      <p:sp>
        <p:nvSpPr>
          <p:cNvPr id="3" name="Content Placeholder 2">
            <a:extLst>
              <a:ext uri="{FF2B5EF4-FFF2-40B4-BE49-F238E27FC236}">
                <a16:creationId xmlns:a16="http://schemas.microsoft.com/office/drawing/2014/main" id="{03978489-EFA9-4C69-BCA1-54D19F68B5C0}"/>
              </a:ext>
            </a:extLst>
          </p:cNvPr>
          <p:cNvSpPr>
            <a:spLocks noGrp="1"/>
          </p:cNvSpPr>
          <p:nvPr>
            <p:ph idx="1"/>
          </p:nvPr>
        </p:nvSpPr>
        <p:spPr>
          <a:xfrm>
            <a:off x="838200" y="1825624"/>
            <a:ext cx="10515600" cy="5032375"/>
          </a:xfrm>
        </p:spPr>
        <p:txBody>
          <a:bodyPr>
            <a:normAutofit/>
          </a:bodyPr>
          <a:lstStyle/>
          <a:p>
            <a:pPr marL="0" indent="0">
              <a:buNone/>
            </a:pPr>
            <a:r>
              <a:rPr lang="en-GB" b="1" dirty="0"/>
              <a:t>Question: </a:t>
            </a:r>
            <a:r>
              <a:rPr lang="en-GB" dirty="0"/>
              <a:t>What makes a word embedding better than another?</a:t>
            </a:r>
          </a:p>
          <a:p>
            <a:pPr marL="0" indent="0">
              <a:buNone/>
            </a:pPr>
            <a:r>
              <a:rPr lang="en-GB" dirty="0"/>
              <a:t>How do we measure the performance of an embedding?</a:t>
            </a:r>
          </a:p>
          <a:p>
            <a:pPr marL="0" indent="0">
              <a:buNone/>
            </a:pPr>
            <a:r>
              <a:rPr lang="en-GB" dirty="0"/>
              <a:t>How do we decide on the best word embedding to use?</a:t>
            </a:r>
          </a:p>
          <a:p>
            <a:pPr marL="0" indent="0">
              <a:buNone/>
            </a:pPr>
            <a:endParaRPr lang="en-GB" dirty="0"/>
          </a:p>
          <a:p>
            <a:pPr marL="0" indent="0">
              <a:buNone/>
            </a:pPr>
            <a:r>
              <a:rPr lang="en-GB" b="1" dirty="0"/>
              <a:t>Answer: </a:t>
            </a:r>
            <a:r>
              <a:rPr lang="en-GB" dirty="0"/>
              <a:t>Still an open question at the moment…</a:t>
            </a:r>
          </a:p>
          <a:p>
            <a:pPr marL="0" indent="0">
              <a:buNone/>
            </a:pPr>
            <a:r>
              <a:rPr lang="en-GB" dirty="0"/>
              <a:t>No perfect qualitative method for evaluating Word Embeddings.</a:t>
            </a:r>
          </a:p>
          <a:p>
            <a:pPr marL="0" indent="0">
              <a:buNone/>
            </a:pPr>
            <a:r>
              <a:rPr lang="en-GB" dirty="0"/>
              <a:t>More of a “consensus”, which changes over the years.</a:t>
            </a:r>
          </a:p>
          <a:p>
            <a:pPr marL="0" indent="0">
              <a:buNone/>
            </a:pPr>
            <a:r>
              <a:rPr lang="en-GB" dirty="0"/>
              <a:t>Still a lot of work needed to come up with a </a:t>
            </a:r>
            <a:r>
              <a:rPr lang="en-GB" b="1" dirty="0"/>
              <a:t>“perfect” universal embedding</a:t>
            </a:r>
            <a:r>
              <a:rPr lang="en-GB" dirty="0"/>
              <a:t> (if that is even possible?)</a:t>
            </a:r>
          </a:p>
        </p:txBody>
      </p:sp>
    </p:spTree>
    <p:extLst>
      <p:ext uri="{BB962C8B-B14F-4D97-AF65-F5344CB8AC3E}">
        <p14:creationId xmlns:p14="http://schemas.microsoft.com/office/powerpoint/2010/main" val="3361364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0B04-0582-4EAE-A35C-6C857C9010E1}"/>
              </a:ext>
            </a:extLst>
          </p:cNvPr>
          <p:cNvSpPr>
            <a:spLocks noGrp="1"/>
          </p:cNvSpPr>
          <p:nvPr>
            <p:ph type="title"/>
          </p:nvPr>
        </p:nvSpPr>
        <p:spPr/>
        <p:txBody>
          <a:bodyPr/>
          <a:lstStyle/>
          <a:p>
            <a:r>
              <a:rPr lang="en-US" dirty="0"/>
              <a:t>A reminder on sequence to sequence tasks</a:t>
            </a:r>
            <a:endParaRPr lang="en-GB" dirty="0"/>
          </a:p>
        </p:txBody>
      </p:sp>
      <p:sp>
        <p:nvSpPr>
          <p:cNvPr id="4" name="Content Placeholder 3">
            <a:extLst>
              <a:ext uri="{FF2B5EF4-FFF2-40B4-BE49-F238E27FC236}">
                <a16:creationId xmlns:a16="http://schemas.microsoft.com/office/drawing/2014/main" id="{13A11DCE-8294-4BE8-B44C-32168DB009B3}"/>
              </a:ext>
            </a:extLst>
          </p:cNvPr>
          <p:cNvSpPr>
            <a:spLocks noGrp="1"/>
          </p:cNvSpPr>
          <p:nvPr>
            <p:ph sz="half" idx="1"/>
          </p:nvPr>
        </p:nvSpPr>
        <p:spPr>
          <a:xfrm>
            <a:off x="838200" y="1825624"/>
            <a:ext cx="5181600" cy="5032375"/>
          </a:xfrm>
        </p:spPr>
        <p:txBody>
          <a:bodyPr/>
          <a:lstStyle/>
          <a:p>
            <a:pPr marL="0" indent="0">
              <a:buNone/>
            </a:pPr>
            <a:r>
              <a:rPr lang="en-US" b="1" dirty="0"/>
              <a:t>Definition (</a:t>
            </a:r>
            <a:r>
              <a:rPr lang="en-US" b="1" dirty="0">
                <a:solidFill>
                  <a:srgbClr val="00B050"/>
                </a:solidFill>
              </a:rPr>
              <a:t>Seq2Seq</a:t>
            </a:r>
            <a:r>
              <a:rPr lang="en-US" b="1" dirty="0"/>
              <a:t>):</a:t>
            </a:r>
          </a:p>
          <a:p>
            <a:pPr marL="0" indent="0">
              <a:buNone/>
            </a:pPr>
            <a:r>
              <a:rPr lang="en-GB" dirty="0"/>
              <a:t>A </a:t>
            </a:r>
            <a:r>
              <a:rPr lang="en-GB" b="1" dirty="0"/>
              <a:t>Sequence-to-Sequence task </a:t>
            </a:r>
            <a:r>
              <a:rPr lang="en-US" b="1" dirty="0"/>
              <a:t>(</a:t>
            </a:r>
            <a:r>
              <a:rPr lang="en-US" b="1" dirty="0">
                <a:solidFill>
                  <a:srgbClr val="00B050"/>
                </a:solidFill>
              </a:rPr>
              <a:t>Seq2Seq</a:t>
            </a:r>
            <a:r>
              <a:rPr lang="en-US" b="1" dirty="0"/>
              <a:t>)</a:t>
            </a:r>
            <a:r>
              <a:rPr lang="en-US" dirty="0"/>
              <a:t> is a family of machine learning tasks which turns an input sequence into another output sequence.</a:t>
            </a:r>
          </a:p>
          <a:p>
            <a:pPr marL="0" indent="0">
              <a:buNone/>
            </a:pPr>
            <a:endParaRPr lang="en-US" dirty="0"/>
          </a:p>
          <a:p>
            <a:pPr marL="0" indent="0">
              <a:buNone/>
            </a:pPr>
            <a:r>
              <a:rPr lang="en-US" dirty="0"/>
              <a:t>For instance, language to language translation (French sentence into an English sentence), answers to questions Chatbots, etc.</a:t>
            </a:r>
            <a:endParaRPr lang="en-GB" dirty="0"/>
          </a:p>
        </p:txBody>
      </p:sp>
      <p:pic>
        <p:nvPicPr>
          <p:cNvPr id="12" name="Picture 11">
            <a:extLst>
              <a:ext uri="{FF2B5EF4-FFF2-40B4-BE49-F238E27FC236}">
                <a16:creationId xmlns:a16="http://schemas.microsoft.com/office/drawing/2014/main" id="{2E57E361-42B0-4C80-A63F-CCE87CC5E8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489" y="2227385"/>
            <a:ext cx="5828158" cy="4371118"/>
          </a:xfrm>
          <a:prstGeom prst="rect">
            <a:avLst/>
          </a:prstGeom>
        </p:spPr>
      </p:pic>
    </p:spTree>
    <p:extLst>
      <p:ext uri="{BB962C8B-B14F-4D97-AF65-F5344CB8AC3E}">
        <p14:creationId xmlns:p14="http://schemas.microsoft.com/office/powerpoint/2010/main" val="3326941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0B04-0582-4EAE-A35C-6C857C9010E1}"/>
              </a:ext>
            </a:extLst>
          </p:cNvPr>
          <p:cNvSpPr>
            <a:spLocks noGrp="1"/>
          </p:cNvSpPr>
          <p:nvPr>
            <p:ph type="title"/>
          </p:nvPr>
        </p:nvSpPr>
        <p:spPr/>
        <p:txBody>
          <a:bodyPr/>
          <a:lstStyle/>
          <a:p>
            <a:r>
              <a:rPr lang="en-US" dirty="0"/>
              <a:t>A reminder on sequence to sequence tasks</a:t>
            </a:r>
            <a:endParaRPr lang="en-GB" dirty="0"/>
          </a:p>
        </p:txBody>
      </p:sp>
      <p:sp>
        <p:nvSpPr>
          <p:cNvPr id="4" name="Content Placeholder 3">
            <a:extLst>
              <a:ext uri="{FF2B5EF4-FFF2-40B4-BE49-F238E27FC236}">
                <a16:creationId xmlns:a16="http://schemas.microsoft.com/office/drawing/2014/main" id="{13A11DCE-8294-4BE8-B44C-32168DB009B3}"/>
              </a:ext>
            </a:extLst>
          </p:cNvPr>
          <p:cNvSpPr>
            <a:spLocks noGrp="1"/>
          </p:cNvSpPr>
          <p:nvPr>
            <p:ph idx="1"/>
          </p:nvPr>
        </p:nvSpPr>
        <p:spPr/>
        <p:txBody>
          <a:bodyPr>
            <a:normAutofit/>
          </a:bodyPr>
          <a:lstStyle/>
          <a:p>
            <a:pPr marL="0" indent="0">
              <a:buNone/>
            </a:pPr>
            <a:r>
              <a:rPr lang="en-US" b="1" dirty="0"/>
              <a:t>Definition (</a:t>
            </a:r>
            <a:r>
              <a:rPr lang="en-US" b="1" dirty="0">
                <a:solidFill>
                  <a:srgbClr val="00B050"/>
                </a:solidFill>
              </a:rPr>
              <a:t>Encoder-Decoder</a:t>
            </a:r>
            <a:r>
              <a:rPr lang="en-US" b="1" dirty="0"/>
              <a:t> architecture):</a:t>
            </a:r>
          </a:p>
          <a:p>
            <a:pPr marL="0" indent="0">
              <a:buNone/>
            </a:pPr>
            <a:r>
              <a:rPr lang="en-GB" dirty="0"/>
              <a:t>An </a:t>
            </a:r>
            <a:r>
              <a:rPr lang="en-US" b="1" dirty="0">
                <a:solidFill>
                  <a:srgbClr val="00B050"/>
                </a:solidFill>
              </a:rPr>
              <a:t>Encoder-Decoder</a:t>
            </a:r>
            <a:r>
              <a:rPr lang="en-US" b="1" dirty="0"/>
              <a:t> architecture</a:t>
            </a:r>
            <a:r>
              <a:rPr lang="en-US" dirty="0"/>
              <a:t> typically consists of two parts:</a:t>
            </a:r>
          </a:p>
          <a:p>
            <a:r>
              <a:rPr lang="en-US" dirty="0"/>
              <a:t>An </a:t>
            </a:r>
            <a:r>
              <a:rPr lang="en-US" b="1" dirty="0"/>
              <a:t>encoder</a:t>
            </a:r>
            <a:r>
              <a:rPr lang="en-US" dirty="0"/>
              <a:t>, which converts a sequence into an embedding vector, presumably encapsulating the </a:t>
            </a:r>
            <a:r>
              <a:rPr lang="en-US" b="1" dirty="0"/>
              <a:t>context</a:t>
            </a:r>
            <a:r>
              <a:rPr lang="en-US" dirty="0"/>
              <a:t> of the sequence.</a:t>
            </a:r>
          </a:p>
          <a:p>
            <a:r>
              <a:rPr lang="en-US" dirty="0"/>
              <a:t>A </a:t>
            </a:r>
            <a:r>
              <a:rPr lang="en-US" b="1" dirty="0"/>
              <a:t>decoder</a:t>
            </a:r>
            <a:r>
              <a:rPr lang="en-US" dirty="0"/>
              <a:t>, which reads the embedding vector for </a:t>
            </a:r>
            <a:r>
              <a:rPr lang="en-US" b="1" dirty="0"/>
              <a:t>context</a:t>
            </a:r>
            <a:r>
              <a:rPr lang="en-US" dirty="0"/>
              <a:t> and constructs an output sequence.</a:t>
            </a:r>
          </a:p>
          <a:p>
            <a:r>
              <a:rPr lang="en-US" dirty="0"/>
              <a:t>Both the encoder and the decoder will be modeled as RNNs as they both operate on sequences.</a:t>
            </a:r>
            <a:endParaRPr lang="en-GB" dirty="0"/>
          </a:p>
        </p:txBody>
      </p:sp>
    </p:spTree>
    <p:extLst>
      <p:ext uri="{BB962C8B-B14F-4D97-AF65-F5344CB8AC3E}">
        <p14:creationId xmlns:p14="http://schemas.microsoft.com/office/powerpoint/2010/main" val="486637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FDCF22-7B26-2ED3-4862-FEA8A4C01A84}"/>
              </a:ext>
            </a:extLst>
          </p:cNvPr>
          <p:cNvPicPr>
            <a:picLocks noChangeAspect="1"/>
          </p:cNvPicPr>
          <p:nvPr/>
        </p:nvPicPr>
        <p:blipFill rotWithShape="1">
          <a:blip r:embed="rId2"/>
          <a:srcRect l="42369"/>
          <a:stretch/>
        </p:blipFill>
        <p:spPr>
          <a:xfrm>
            <a:off x="6172200" y="3429000"/>
            <a:ext cx="5791201" cy="2217860"/>
          </a:xfrm>
          <a:prstGeom prst="rect">
            <a:avLst/>
          </a:prstGeom>
        </p:spPr>
      </p:pic>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US" dirty="0"/>
              <a:t>A reminder on sequence to sequence tasks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encoder and decoder</a:t>
            </a:r>
            <a:r>
              <a:rPr lang="en-GB" b="1" dirty="0"/>
              <a:t> models):</a:t>
            </a:r>
          </a:p>
          <a:p>
            <a:pPr marL="0" indent="0">
              <a:buNone/>
            </a:pPr>
            <a:r>
              <a:rPr lang="en-GB" dirty="0"/>
              <a:t>In general, the first part of the model will focus on analysing the input, eventually producing a final memory vector output after having seen all inputs. </a:t>
            </a:r>
            <a:r>
              <a:rPr lang="en-GB" b="1" dirty="0"/>
              <a:t>This is called an </a:t>
            </a:r>
            <a:r>
              <a:rPr lang="en-GB" b="1" dirty="0">
                <a:solidFill>
                  <a:srgbClr val="7030A0"/>
                </a:solidFill>
              </a:rPr>
              <a:t>encoder</a:t>
            </a:r>
            <a:r>
              <a:rPr lang="en-GB" b="1" dirty="0"/>
              <a:t>.</a:t>
            </a:r>
          </a:p>
          <a:p>
            <a:pPr marL="0" indent="0">
              <a:buNone/>
            </a:pPr>
            <a:r>
              <a:rPr lang="en-GB" dirty="0"/>
              <a:t>Can be done with a RNN of some sort, where the final memory state consists of the </a:t>
            </a:r>
            <a:r>
              <a:rPr lang="en-GB" b="1" dirty="0">
                <a:solidFill>
                  <a:schemeClr val="accent2"/>
                </a:solidFill>
              </a:rPr>
              <a:t>encoding</a:t>
            </a:r>
            <a:r>
              <a:rPr lang="en-GB" dirty="0"/>
              <a:t> </a:t>
            </a:r>
            <a:r>
              <a:rPr lang="en-GB" b="1" dirty="0">
                <a:solidFill>
                  <a:schemeClr val="accent2"/>
                </a:solidFill>
              </a:rPr>
              <a:t>vector</a:t>
            </a:r>
            <a:r>
              <a:rPr lang="en-GB" dirty="0"/>
              <a:t>.</a:t>
            </a:r>
            <a:endParaRPr lang="en-SG" dirty="0"/>
          </a:p>
        </p:txBody>
      </p:sp>
      <p:sp>
        <p:nvSpPr>
          <p:cNvPr id="4" name="Content Placeholder 3">
            <a:extLst>
              <a:ext uri="{FF2B5EF4-FFF2-40B4-BE49-F238E27FC236}">
                <a16:creationId xmlns:a16="http://schemas.microsoft.com/office/drawing/2014/main" id="{1886C0B2-CF62-D4D9-1DFA-3DEEFBBD201C}"/>
              </a:ext>
            </a:extLst>
          </p:cNvPr>
          <p:cNvSpPr>
            <a:spLocks noGrp="1"/>
          </p:cNvSpPr>
          <p:nvPr>
            <p:ph sz="half" idx="2"/>
          </p:nvPr>
        </p:nvSpPr>
        <p:spPr>
          <a:xfrm>
            <a:off x="6172199" y="1825625"/>
            <a:ext cx="6019801" cy="5032374"/>
          </a:xfrm>
        </p:spPr>
        <p:txBody>
          <a:bodyPr>
            <a:normAutofit/>
          </a:bodyPr>
          <a:lstStyle/>
          <a:p>
            <a:pPr marL="0" indent="0">
              <a:buNone/>
            </a:pPr>
            <a:r>
              <a:rPr lang="en-GB" dirty="0"/>
              <a:t>E.g. read an English sentence, progressively encoding each word’s meaning, to obtain the entire sentence meaning in a single encoding vector.</a:t>
            </a:r>
          </a:p>
        </p:txBody>
      </p:sp>
      <p:sp>
        <p:nvSpPr>
          <p:cNvPr id="6" name="Rectangle 5">
            <a:extLst>
              <a:ext uri="{FF2B5EF4-FFF2-40B4-BE49-F238E27FC236}">
                <a16:creationId xmlns:a16="http://schemas.microsoft.com/office/drawing/2014/main" id="{4CF5984D-2203-E9FF-A8B5-89E4F5762647}"/>
              </a:ext>
            </a:extLst>
          </p:cNvPr>
          <p:cNvSpPr/>
          <p:nvPr/>
        </p:nvSpPr>
        <p:spPr>
          <a:xfrm>
            <a:off x="6096000" y="4251569"/>
            <a:ext cx="3548185" cy="1594339"/>
          </a:xfrm>
          <a:prstGeom prst="rect">
            <a:avLst/>
          </a:pr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C4C9C7A2-E56E-E167-071C-721818B66243}"/>
              </a:ext>
            </a:extLst>
          </p:cNvPr>
          <p:cNvSpPr/>
          <p:nvPr/>
        </p:nvSpPr>
        <p:spPr>
          <a:xfrm>
            <a:off x="8339015" y="4329723"/>
            <a:ext cx="1227016" cy="5705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15884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Encoder and Decoder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encoder and decoder</a:t>
            </a:r>
            <a:r>
              <a:rPr lang="en-GB" b="1" dirty="0"/>
              <a:t> models):</a:t>
            </a:r>
          </a:p>
          <a:p>
            <a:pPr marL="0" indent="0">
              <a:buNone/>
            </a:pPr>
            <a:r>
              <a:rPr lang="en-GB" dirty="0"/>
              <a:t>In general, the second part of the model will focus on analysing the produced </a:t>
            </a:r>
            <a:r>
              <a:rPr lang="en-GB" b="1" dirty="0">
                <a:solidFill>
                  <a:schemeClr val="accent2"/>
                </a:solidFill>
              </a:rPr>
              <a:t>encoding</a:t>
            </a:r>
            <a:r>
              <a:rPr lang="en-GB" dirty="0"/>
              <a:t> </a:t>
            </a:r>
            <a:r>
              <a:rPr lang="en-GB" b="1" dirty="0">
                <a:solidFill>
                  <a:schemeClr val="accent2"/>
                </a:solidFill>
              </a:rPr>
              <a:t>vector</a:t>
            </a:r>
            <a:r>
              <a:rPr lang="en-GB" dirty="0"/>
              <a:t> and producing a sequence of some sort as output. </a:t>
            </a:r>
            <a:r>
              <a:rPr lang="en-GB" b="1" dirty="0"/>
              <a:t>This is called a </a:t>
            </a:r>
            <a:r>
              <a:rPr lang="en-GB" b="1" dirty="0">
                <a:solidFill>
                  <a:schemeClr val="accent2">
                    <a:lumMod val="50000"/>
                  </a:schemeClr>
                </a:solidFill>
              </a:rPr>
              <a:t>decoder</a:t>
            </a:r>
            <a:r>
              <a:rPr lang="en-GB" b="1" dirty="0"/>
              <a:t>.</a:t>
            </a:r>
          </a:p>
          <a:p>
            <a:pPr marL="0" indent="0">
              <a:buNone/>
            </a:pPr>
            <a:r>
              <a:rPr lang="en-GB" dirty="0"/>
              <a:t>Can be done with the same (or another) RNN of some sort, where the first memory state consists of the </a:t>
            </a:r>
            <a:r>
              <a:rPr lang="en-GB" b="1" dirty="0">
                <a:solidFill>
                  <a:schemeClr val="accent2"/>
                </a:solidFill>
              </a:rPr>
              <a:t>encoding</a:t>
            </a:r>
            <a:r>
              <a:rPr lang="en-GB" dirty="0"/>
              <a:t> </a:t>
            </a:r>
            <a:r>
              <a:rPr lang="en-GB" b="1" dirty="0">
                <a:solidFill>
                  <a:schemeClr val="accent2"/>
                </a:solidFill>
              </a:rPr>
              <a:t>vector</a:t>
            </a:r>
            <a:r>
              <a:rPr lang="en-GB" dirty="0"/>
              <a:t>.</a:t>
            </a:r>
            <a:endParaRPr lang="en-SG" dirty="0"/>
          </a:p>
        </p:txBody>
      </p:sp>
      <p:sp>
        <p:nvSpPr>
          <p:cNvPr id="4" name="Content Placeholder 3">
            <a:extLst>
              <a:ext uri="{FF2B5EF4-FFF2-40B4-BE49-F238E27FC236}">
                <a16:creationId xmlns:a16="http://schemas.microsoft.com/office/drawing/2014/main" id="{1886C0B2-CF62-D4D9-1DFA-3DEEFBBD201C}"/>
              </a:ext>
            </a:extLst>
          </p:cNvPr>
          <p:cNvSpPr>
            <a:spLocks noGrp="1"/>
          </p:cNvSpPr>
          <p:nvPr>
            <p:ph sz="half" idx="2"/>
          </p:nvPr>
        </p:nvSpPr>
        <p:spPr>
          <a:xfrm>
            <a:off x="6172199" y="1825625"/>
            <a:ext cx="5879123" cy="5032374"/>
          </a:xfrm>
        </p:spPr>
        <p:txBody>
          <a:bodyPr>
            <a:normAutofit/>
          </a:bodyPr>
          <a:lstStyle/>
          <a:p>
            <a:pPr marL="0" indent="0">
              <a:buNone/>
            </a:pPr>
            <a:r>
              <a:rPr lang="en-GB" dirty="0"/>
              <a:t>E.g. read an </a:t>
            </a:r>
            <a:r>
              <a:rPr lang="en-GB" b="1" dirty="0">
                <a:solidFill>
                  <a:schemeClr val="accent2"/>
                </a:solidFill>
              </a:rPr>
              <a:t>encoding</a:t>
            </a:r>
            <a:r>
              <a:rPr lang="en-GB" dirty="0"/>
              <a:t> </a:t>
            </a:r>
            <a:r>
              <a:rPr lang="en-GB" b="1" dirty="0">
                <a:solidFill>
                  <a:schemeClr val="accent2"/>
                </a:solidFill>
              </a:rPr>
              <a:t>vector</a:t>
            </a:r>
            <a:r>
              <a:rPr lang="en-GB" dirty="0"/>
              <a:t> describing an English sentence and produce an output sequence being the French translation.</a:t>
            </a:r>
          </a:p>
        </p:txBody>
      </p:sp>
      <p:pic>
        <p:nvPicPr>
          <p:cNvPr id="5" name="Picture 4">
            <a:extLst>
              <a:ext uri="{FF2B5EF4-FFF2-40B4-BE49-F238E27FC236}">
                <a16:creationId xmlns:a16="http://schemas.microsoft.com/office/drawing/2014/main" id="{6AFDCF22-7B26-2ED3-4862-FEA8A4C01A84}"/>
              </a:ext>
            </a:extLst>
          </p:cNvPr>
          <p:cNvPicPr>
            <a:picLocks noChangeAspect="1"/>
          </p:cNvPicPr>
          <p:nvPr/>
        </p:nvPicPr>
        <p:blipFill rotWithShape="1">
          <a:blip r:embed="rId2"/>
          <a:srcRect l="42369"/>
          <a:stretch/>
        </p:blipFill>
        <p:spPr>
          <a:xfrm>
            <a:off x="6172200" y="3429000"/>
            <a:ext cx="5791201" cy="2217860"/>
          </a:xfrm>
          <a:prstGeom prst="rect">
            <a:avLst/>
          </a:prstGeom>
        </p:spPr>
      </p:pic>
      <p:sp>
        <p:nvSpPr>
          <p:cNvPr id="6" name="Rectangle 5">
            <a:extLst>
              <a:ext uri="{FF2B5EF4-FFF2-40B4-BE49-F238E27FC236}">
                <a16:creationId xmlns:a16="http://schemas.microsoft.com/office/drawing/2014/main" id="{4CF5984D-2203-E9FF-A8B5-89E4F5762647}"/>
              </a:ext>
            </a:extLst>
          </p:cNvPr>
          <p:cNvSpPr/>
          <p:nvPr/>
        </p:nvSpPr>
        <p:spPr>
          <a:xfrm flipH="1" flipV="1">
            <a:off x="8253046" y="3532553"/>
            <a:ext cx="3556000" cy="1445846"/>
          </a:xfrm>
          <a:prstGeom prst="rect">
            <a:avLst/>
          </a:prstGeom>
          <a:noFill/>
          <a:ln w="38100">
            <a:solidFill>
              <a:schemeClr val="accent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C4C9C7A2-E56E-E167-071C-721818B66243}"/>
              </a:ext>
            </a:extLst>
          </p:cNvPr>
          <p:cNvSpPr/>
          <p:nvPr/>
        </p:nvSpPr>
        <p:spPr>
          <a:xfrm>
            <a:off x="8339015" y="4329723"/>
            <a:ext cx="1227016" cy="5705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952442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a:xfrm>
            <a:off x="838200" y="1825624"/>
            <a:ext cx="5181600" cy="5032375"/>
          </a:xfrm>
        </p:spPr>
        <p:txBody>
          <a:bodyPr/>
          <a:lstStyle/>
          <a:p>
            <a:pPr marL="0" indent="0">
              <a:buNone/>
            </a:pPr>
            <a:r>
              <a:rPr lang="en-US" dirty="0"/>
              <a:t>In the classical Seq2Seq architecture,</a:t>
            </a:r>
          </a:p>
          <a:p>
            <a:r>
              <a:rPr lang="en-US" dirty="0"/>
              <a:t>a </a:t>
            </a:r>
            <a:r>
              <a:rPr lang="en-US" b="1" dirty="0"/>
              <a:t>word embedding </a:t>
            </a:r>
            <a:r>
              <a:rPr lang="en-US" dirty="0"/>
              <a:t>is used for each word of the sentence,</a:t>
            </a:r>
          </a:p>
          <a:p>
            <a:r>
              <a:rPr lang="en-US" dirty="0"/>
              <a:t>An (often bi-directional RNN) </a:t>
            </a:r>
            <a:r>
              <a:rPr lang="en-US" b="1" dirty="0"/>
              <a:t>encoder</a:t>
            </a:r>
            <a:r>
              <a:rPr lang="en-US" dirty="0"/>
              <a:t> is used to propagate and encode context among words in the sentence,</a:t>
            </a:r>
          </a:p>
          <a:p>
            <a:r>
              <a:rPr lang="en-US" dirty="0"/>
              <a:t>A </a:t>
            </a:r>
            <a:r>
              <a:rPr lang="en-US" b="1" dirty="0"/>
              <a:t>decoder</a:t>
            </a:r>
            <a:r>
              <a:rPr lang="en-US" dirty="0"/>
              <a:t> RNN reads the context vector and produces a new sentence.</a:t>
            </a:r>
            <a:endParaRPr lang="en-GB" dirty="0"/>
          </a:p>
        </p:txBody>
      </p:sp>
      <p:pic>
        <p:nvPicPr>
          <p:cNvPr id="14" name="Picture 13">
            <a:extLst>
              <a:ext uri="{FF2B5EF4-FFF2-40B4-BE49-F238E27FC236}">
                <a16:creationId xmlns:a16="http://schemas.microsoft.com/office/drawing/2014/main" id="{81686900-923B-4E38-9174-613526BA92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489" y="2227385"/>
            <a:ext cx="5828158" cy="4371118"/>
          </a:xfrm>
          <a:prstGeom prst="rect">
            <a:avLst/>
          </a:prstGeom>
        </p:spPr>
      </p:pic>
    </p:spTree>
    <p:extLst>
      <p:ext uri="{BB962C8B-B14F-4D97-AF65-F5344CB8AC3E}">
        <p14:creationId xmlns:p14="http://schemas.microsoft.com/office/powerpoint/2010/main" val="1021501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a:xfrm>
                <a:off x="838200" y="1825624"/>
                <a:ext cx="5181600" cy="5032375"/>
              </a:xfrm>
            </p:spPr>
            <p:txBody>
              <a:bodyPr>
                <a:normAutofit/>
              </a:bodyPr>
              <a:lstStyle/>
              <a:p>
                <a:pPr marL="0" indent="0">
                  <a:buNone/>
                </a:pPr>
                <a:r>
                  <a:rPr lang="en-US" b="1" dirty="0"/>
                  <a:t>How is our context vector modeled again?</a:t>
                </a:r>
                <a:endParaRPr lang="en-US" dirty="0"/>
              </a:p>
              <a:p>
                <a:r>
                  <a:rPr lang="en-US" b="1" dirty="0"/>
                  <a:t>Averaging</a:t>
                </a:r>
                <a:r>
                  <a:rPr lang="en-US" dirty="0"/>
                  <a:t> the words embedding vectors for the words in the context (</a:t>
                </a:r>
                <a:r>
                  <a:rPr lang="en-US" dirty="0" err="1"/>
                  <a:t>CBoW</a:t>
                </a:r>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sub>
                          </m:sSub>
                        </m:e>
                      </m:nary>
                    </m:oMath>
                  </m:oMathPara>
                </a14:m>
                <a:endParaRPr lang="en-US" dirty="0"/>
              </a:p>
              <a:p>
                <a:pPr marL="0" indent="0">
                  <a:buNone/>
                </a:pPr>
                <a:r>
                  <a:rPr lang="en-US" dirty="0"/>
                  <a:t>Simple, but words might cancel each other out. Averaging effect if large number of words.</a:t>
                </a:r>
              </a:p>
              <a:p>
                <a:pPr marL="0" indent="0">
                  <a:buNone/>
                </a:pPr>
                <a:endParaRPr lang="en-US" dirty="0"/>
              </a:p>
              <a:p>
                <a:pPr marL="0" indent="0">
                  <a:buNone/>
                </a:pPr>
                <a:endParaRPr lang="en-US" dirty="0"/>
              </a:p>
              <a:p>
                <a:endParaRPr lang="en-US" dirty="0"/>
              </a:p>
            </p:txBody>
          </p:sp>
        </mc:Choice>
        <mc:Fallback xmlns="">
          <p:sp>
            <p:nvSpPr>
              <p:cNvPr id="5" name="Content Placeholder 4">
                <a:extLst>
                  <a:ext uri="{FF2B5EF4-FFF2-40B4-BE49-F238E27FC236}">
                    <a16:creationId xmlns:a16="http://schemas.microsoft.com/office/drawing/2014/main" id="{9DB6DDAE-2B6C-4195-80AB-CCE46D6BC74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GB">
                    <a:noFill/>
                  </a:rPr>
                  <a:t> </a:t>
                </a:r>
              </a:p>
            </p:txBody>
          </p:sp>
        </mc:Fallback>
      </mc:AlternateContent>
      <p:pic>
        <p:nvPicPr>
          <p:cNvPr id="14" name="Picture 13">
            <a:extLst>
              <a:ext uri="{FF2B5EF4-FFF2-40B4-BE49-F238E27FC236}">
                <a16:creationId xmlns:a16="http://schemas.microsoft.com/office/drawing/2014/main" id="{5A840331-E4C3-4FEB-8526-462F21B04E72}"/>
              </a:ext>
            </a:extLst>
          </p:cNvPr>
          <p:cNvPicPr>
            <a:picLocks noChangeAspect="1"/>
          </p:cNvPicPr>
          <p:nvPr/>
        </p:nvPicPr>
        <p:blipFill rotWithShape="1">
          <a:blip r:embed="rId3"/>
          <a:srcRect l="14680" t="28513" r="65064" b="25948"/>
          <a:stretch/>
        </p:blipFill>
        <p:spPr>
          <a:xfrm>
            <a:off x="6294573" y="2078891"/>
            <a:ext cx="5840416" cy="4103077"/>
          </a:xfrm>
          <a:prstGeom prst="rect">
            <a:avLst/>
          </a:prstGeom>
        </p:spPr>
      </p:pic>
    </p:spTree>
    <p:extLst>
      <p:ext uri="{BB962C8B-B14F-4D97-AF65-F5344CB8AC3E}">
        <p14:creationId xmlns:p14="http://schemas.microsoft.com/office/powerpoint/2010/main" val="3887322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a:xfrm>
                <a:off x="838200" y="1825625"/>
                <a:ext cx="5181600" cy="5032374"/>
              </a:xfrm>
            </p:spPr>
            <p:txBody>
              <a:bodyPr>
                <a:normAutofit/>
              </a:bodyPr>
              <a:lstStyle/>
              <a:p>
                <a:pPr marL="0" indent="0">
                  <a:buNone/>
                </a:pPr>
                <a:r>
                  <a:rPr lang="en-US" b="1" dirty="0"/>
                  <a:t>How is our context vector modeled again?</a:t>
                </a:r>
                <a:endParaRPr lang="en-US" dirty="0"/>
              </a:p>
              <a:p>
                <a:r>
                  <a:rPr lang="en-US" b="1" dirty="0"/>
                  <a:t>Concatenating</a:t>
                </a:r>
                <a:r>
                  <a:rPr lang="en-US" dirty="0"/>
                  <a:t> the hidden states of the bi-RNN gives surrounding context to word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𝑘</m:t>
                        </m:r>
                      </m:sub>
                    </m:sSub>
                  </m:oMath>
                </a14:m>
                <a:r>
                  <a:rPr lang="en-US" dirty="0"/>
                  <a:t> (</a:t>
                </a:r>
                <a:r>
                  <a:rPr lang="en-US" dirty="0" err="1"/>
                  <a:t>ELMo</a:t>
                </a:r>
                <a:r>
                  <a:rPr lang="en-US" dirty="0"/>
                  <a: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𝑘</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𝑘</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𝑘</m:t>
                              </m:r>
                            </m:sub>
                          </m:sSub>
                        </m:e>
                      </m:acc>
                      <m:r>
                        <a:rPr lang="en-US" b="0" i="1" smtClean="0">
                          <a:latin typeface="Cambria Math" panose="02040503050406030204" pitchFamily="18" charset="0"/>
                        </a:rPr>
                        <m:t>]</m:t>
                      </m:r>
                    </m:oMath>
                  </m:oMathPara>
                </a14:m>
                <a:endParaRPr lang="en-US" dirty="0"/>
              </a:p>
              <a:p>
                <a:pPr marL="0" indent="0">
                  <a:buNone/>
                </a:pPr>
                <a:r>
                  <a:rPr lang="en-US" dirty="0"/>
                  <a:t>Preserves and propagates meaning of all surrounding words. </a:t>
                </a:r>
              </a:p>
              <a:p>
                <a:pPr marL="0" indent="0">
                  <a:buNone/>
                </a:pPr>
                <a:endParaRPr lang="en-US" dirty="0"/>
              </a:p>
              <a:p>
                <a:pPr marL="0" indent="0">
                  <a:buNone/>
                </a:pPr>
                <a:r>
                  <a:rPr lang="en-US" b="1" dirty="0">
                    <a:solidFill>
                      <a:srgbClr val="7030A0"/>
                    </a:solidFill>
                  </a:rPr>
                  <a:t>Question, though: What is the memory span of RNNs anyway?</a:t>
                </a:r>
              </a:p>
              <a:p>
                <a:pPr marL="0" indent="0">
                  <a:buNone/>
                </a:pPr>
                <a:endParaRPr lang="en-US" dirty="0"/>
              </a:p>
              <a:p>
                <a:endParaRPr lang="en-US" dirty="0"/>
              </a:p>
            </p:txBody>
          </p:sp>
        </mc:Choice>
        <mc:Fallback xmlns="">
          <p:sp>
            <p:nvSpPr>
              <p:cNvPr id="5" name="Content Placeholder 4">
                <a:extLst>
                  <a:ext uri="{FF2B5EF4-FFF2-40B4-BE49-F238E27FC236}">
                    <a16:creationId xmlns:a16="http://schemas.microsoft.com/office/drawing/2014/main" id="{9DB6DDAE-2B6C-4195-80AB-CCE46D6BC747}"/>
                  </a:ext>
                </a:extLst>
              </p:cNvPr>
              <p:cNvSpPr>
                <a:spLocks noGrp="1" noRot="1" noChangeAspect="1" noMove="1" noResize="1" noEditPoints="1" noAdjustHandles="1" noChangeArrowheads="1" noChangeShapeType="1" noTextEdit="1"/>
              </p:cNvSpPr>
              <p:nvPr>
                <p:ph sz="half" idx="1"/>
              </p:nvPr>
            </p:nvSpPr>
            <p:spPr>
              <a:xfrm>
                <a:off x="838200" y="1825625"/>
                <a:ext cx="5181600" cy="5032374"/>
              </a:xfrm>
              <a:blipFill>
                <a:blip r:embed="rId2"/>
                <a:stretch>
                  <a:fillRect l="-2471" t="-1937" r="-2706" b="-363"/>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DE029E0F-7E99-41D9-B3B3-233765948389}"/>
              </a:ext>
            </a:extLst>
          </p:cNvPr>
          <p:cNvPicPr>
            <a:picLocks noChangeAspect="1"/>
          </p:cNvPicPr>
          <p:nvPr/>
        </p:nvPicPr>
        <p:blipFill rotWithShape="1">
          <a:blip r:embed="rId3"/>
          <a:srcRect l="17757" t="25435" r="67500" b="36000"/>
          <a:stretch/>
        </p:blipFill>
        <p:spPr>
          <a:xfrm>
            <a:off x="6287002" y="1825624"/>
            <a:ext cx="5803398" cy="4743647"/>
          </a:xfrm>
          <a:prstGeom prst="rect">
            <a:avLst/>
          </a:prstGeom>
        </p:spPr>
      </p:pic>
      <p:pic>
        <p:nvPicPr>
          <p:cNvPr id="2" name="Picture 1">
            <a:extLst>
              <a:ext uri="{FF2B5EF4-FFF2-40B4-BE49-F238E27FC236}">
                <a16:creationId xmlns:a16="http://schemas.microsoft.com/office/drawing/2014/main" id="{43FEC816-BE25-6D0F-4425-479F0D611F27}"/>
              </a:ext>
            </a:extLst>
          </p:cNvPr>
          <p:cNvPicPr>
            <a:picLocks noChangeAspect="1"/>
          </p:cNvPicPr>
          <p:nvPr/>
        </p:nvPicPr>
        <p:blipFill>
          <a:blip r:embed="rId4"/>
          <a:stretch>
            <a:fillRect/>
          </a:stretch>
        </p:blipFill>
        <p:spPr>
          <a:xfrm>
            <a:off x="6387761" y="1434212"/>
            <a:ext cx="5601880" cy="52178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9467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a:xfrm>
                <a:off x="838200" y="1825625"/>
                <a:ext cx="5181600" cy="5032374"/>
              </a:xfrm>
            </p:spPr>
            <p:txBody>
              <a:bodyPr>
                <a:normAutofit/>
              </a:bodyPr>
              <a:lstStyle/>
              <a:p>
                <a:pPr marL="0" indent="0">
                  <a:buNone/>
                </a:pPr>
                <a:r>
                  <a:rPr lang="en-US" b="1" dirty="0"/>
                  <a:t>How is our context vector modeled again?</a:t>
                </a:r>
                <a:endParaRPr lang="en-US" dirty="0"/>
              </a:p>
              <a:p>
                <a:r>
                  <a:rPr lang="en-US" b="1" dirty="0"/>
                  <a:t>Concatenating</a:t>
                </a:r>
                <a:r>
                  <a:rPr lang="en-US" dirty="0"/>
                  <a:t> the hidden states of the bi-RNN gives surrounding context to word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𝑘</m:t>
                        </m:r>
                      </m:sub>
                    </m:sSub>
                  </m:oMath>
                </a14:m>
                <a:r>
                  <a:rPr lang="en-US" dirty="0"/>
                  <a:t> (</a:t>
                </a:r>
                <a:r>
                  <a:rPr lang="en-US" dirty="0" err="1"/>
                  <a:t>ELMo</a:t>
                </a:r>
                <a:r>
                  <a:rPr lang="en-US" dirty="0"/>
                  <a: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𝑘</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𝑘</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𝑘</m:t>
                              </m:r>
                            </m:sub>
                          </m:sSub>
                        </m:e>
                      </m:acc>
                      <m:r>
                        <a:rPr lang="en-US" b="0" i="1" smtClean="0">
                          <a:latin typeface="Cambria Math" panose="02040503050406030204" pitchFamily="18" charset="0"/>
                        </a:rPr>
                        <m:t>]</m:t>
                      </m:r>
                    </m:oMath>
                  </m:oMathPara>
                </a14:m>
                <a:endParaRPr lang="en-US" dirty="0"/>
              </a:p>
              <a:p>
                <a:pPr marL="0" indent="0">
                  <a:buNone/>
                </a:pPr>
                <a:r>
                  <a:rPr lang="en-US" dirty="0"/>
                  <a:t>Preserves and propagates meaning of all surrounding words. </a:t>
                </a:r>
              </a:p>
              <a:p>
                <a:pPr marL="0" indent="0">
                  <a:buNone/>
                </a:pPr>
                <a:endParaRPr lang="en-US" dirty="0"/>
              </a:p>
              <a:p>
                <a:pPr marL="0" indent="0">
                  <a:buNone/>
                </a:pPr>
                <a:r>
                  <a:rPr lang="en-US" b="1" dirty="0">
                    <a:solidFill>
                      <a:srgbClr val="7030A0"/>
                    </a:solidFill>
                  </a:rPr>
                  <a:t>Question, though: What is the memory span of RNNs anyway?</a:t>
                </a:r>
              </a:p>
              <a:p>
                <a:pPr marL="0" indent="0">
                  <a:buNone/>
                </a:pPr>
                <a:endParaRPr lang="en-US" dirty="0"/>
              </a:p>
              <a:p>
                <a:endParaRPr lang="en-US" dirty="0"/>
              </a:p>
            </p:txBody>
          </p:sp>
        </mc:Choice>
        <mc:Fallback xmlns="">
          <p:sp>
            <p:nvSpPr>
              <p:cNvPr id="5" name="Content Placeholder 4">
                <a:extLst>
                  <a:ext uri="{FF2B5EF4-FFF2-40B4-BE49-F238E27FC236}">
                    <a16:creationId xmlns:a16="http://schemas.microsoft.com/office/drawing/2014/main" id="{9DB6DDAE-2B6C-4195-80AB-CCE46D6BC747}"/>
                  </a:ext>
                </a:extLst>
              </p:cNvPr>
              <p:cNvSpPr>
                <a:spLocks noGrp="1" noRot="1" noChangeAspect="1" noMove="1" noResize="1" noEditPoints="1" noAdjustHandles="1" noChangeArrowheads="1" noChangeShapeType="1" noTextEdit="1"/>
              </p:cNvSpPr>
              <p:nvPr>
                <p:ph sz="half" idx="1"/>
              </p:nvPr>
            </p:nvSpPr>
            <p:spPr>
              <a:xfrm>
                <a:off x="838200" y="1825625"/>
                <a:ext cx="5181600" cy="5032374"/>
              </a:xfrm>
              <a:blipFill>
                <a:blip r:embed="rId2"/>
                <a:stretch>
                  <a:fillRect l="-2471" t="-1937" r="-2706" b="-363"/>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DE029E0F-7E99-41D9-B3B3-233765948389}"/>
              </a:ext>
            </a:extLst>
          </p:cNvPr>
          <p:cNvPicPr>
            <a:picLocks noChangeAspect="1"/>
          </p:cNvPicPr>
          <p:nvPr/>
        </p:nvPicPr>
        <p:blipFill rotWithShape="1">
          <a:blip r:embed="rId3"/>
          <a:srcRect l="17757" t="25435" r="67500" b="36000"/>
          <a:stretch/>
        </p:blipFill>
        <p:spPr>
          <a:xfrm>
            <a:off x="6287002" y="1825624"/>
            <a:ext cx="5803398" cy="4743647"/>
          </a:xfrm>
          <a:prstGeom prst="rect">
            <a:avLst/>
          </a:prstGeom>
        </p:spPr>
      </p:pic>
    </p:spTree>
    <p:extLst>
      <p:ext uri="{BB962C8B-B14F-4D97-AF65-F5344CB8AC3E}">
        <p14:creationId xmlns:p14="http://schemas.microsoft.com/office/powerpoint/2010/main" val="3212237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a:xfrm>
            <a:off x="838200" y="1825625"/>
            <a:ext cx="5181600" cy="5032374"/>
          </a:xfrm>
        </p:spPr>
        <p:txBody>
          <a:bodyPr>
            <a:normAutofit/>
          </a:bodyPr>
          <a:lstStyle/>
          <a:p>
            <a:pPr marL="0" indent="0">
              <a:buNone/>
            </a:pPr>
            <a:r>
              <a:rPr lang="en-US" b="1" dirty="0">
                <a:solidFill>
                  <a:srgbClr val="7030A0"/>
                </a:solidFill>
              </a:rPr>
              <a:t>Question: What is the memory span of RNNs anyway?</a:t>
            </a:r>
            <a:endParaRPr lang="en-US" b="1" dirty="0"/>
          </a:p>
          <a:p>
            <a:pPr marL="0" indent="0">
              <a:buNone/>
            </a:pPr>
            <a:endParaRPr lang="en-US" b="1" dirty="0"/>
          </a:p>
          <a:p>
            <a:pPr marL="0" indent="0">
              <a:buNone/>
            </a:pPr>
            <a:r>
              <a:rPr lang="en-US" b="1" dirty="0"/>
              <a:t>Vanishing</a:t>
            </a:r>
            <a:r>
              <a:rPr lang="en-US" dirty="0"/>
              <a:t> </a:t>
            </a:r>
            <a:r>
              <a:rPr lang="en-US" b="1" dirty="0"/>
              <a:t>effect</a:t>
            </a:r>
            <a:r>
              <a:rPr lang="en-US" dirty="0"/>
              <a:t> </a:t>
            </a:r>
            <a:r>
              <a:rPr lang="en-US" b="1" dirty="0"/>
              <a:t>in memory </a:t>
            </a:r>
            <a:r>
              <a:rPr lang="en-US" dirty="0"/>
              <a:t>between the successive hidden LSTM states if large number of words in sentence [Vaswani2017].</a:t>
            </a:r>
          </a:p>
          <a:p>
            <a:pPr marL="0" indent="0">
              <a:buNone/>
            </a:pPr>
            <a:r>
              <a:rPr lang="en-US" dirty="0"/>
              <a:t>Your RNN will have forgotten about word #1 by the time you reach word #70.</a:t>
            </a:r>
          </a:p>
          <a:p>
            <a:pPr marL="0" indent="0">
              <a:buNone/>
            </a:pPr>
            <a:r>
              <a:rPr lang="en-US" dirty="0">
                <a:sym typeface="Wingdings" panose="05000000000000000000" pitchFamily="2" charset="2"/>
              </a:rPr>
              <a:t> </a:t>
            </a:r>
            <a:r>
              <a:rPr lang="en-US" dirty="0"/>
              <a:t>Loss of context!</a:t>
            </a:r>
          </a:p>
        </p:txBody>
      </p:sp>
      <p:sp>
        <p:nvSpPr>
          <p:cNvPr id="20" name="TextBox 19">
            <a:extLst>
              <a:ext uri="{FF2B5EF4-FFF2-40B4-BE49-F238E27FC236}">
                <a16:creationId xmlns:a16="http://schemas.microsoft.com/office/drawing/2014/main" id="{9C157079-2B11-436B-A877-94E449CF5986}"/>
              </a:ext>
            </a:extLst>
          </p:cNvPr>
          <p:cNvSpPr txBox="1"/>
          <p:nvPr/>
        </p:nvSpPr>
        <p:spPr>
          <a:xfrm>
            <a:off x="6408615" y="6119446"/>
            <a:ext cx="5758703" cy="923330"/>
          </a:xfrm>
          <a:prstGeom prst="rect">
            <a:avLst/>
          </a:prstGeom>
          <a:noFill/>
        </p:spPr>
        <p:txBody>
          <a:bodyPr wrap="square" rtlCol="0">
            <a:spAutoFit/>
          </a:bodyPr>
          <a:lstStyle/>
          <a:p>
            <a:r>
              <a:rPr lang="en-US" dirty="0"/>
              <a:t>From: </a:t>
            </a:r>
            <a:r>
              <a:rPr lang="en-US" dirty="0">
                <a:hlinkClick r:id="rId2"/>
              </a:rPr>
              <a:t>https://www.kaggle.com/sarthakvajpayee/attention-mechanism-japanese-english/notebook</a:t>
            </a:r>
            <a:endParaRPr lang="en-US" dirty="0"/>
          </a:p>
          <a:p>
            <a:endParaRPr lang="en-GB" dirty="0"/>
          </a:p>
        </p:txBody>
      </p:sp>
      <p:pic>
        <p:nvPicPr>
          <p:cNvPr id="2" name="Picture 1">
            <a:extLst>
              <a:ext uri="{FF2B5EF4-FFF2-40B4-BE49-F238E27FC236}">
                <a16:creationId xmlns:a16="http://schemas.microsoft.com/office/drawing/2014/main" id="{C95F8501-B725-F106-4E0C-76E346CA2F20}"/>
              </a:ext>
            </a:extLst>
          </p:cNvPr>
          <p:cNvPicPr>
            <a:picLocks noChangeAspect="1"/>
          </p:cNvPicPr>
          <p:nvPr/>
        </p:nvPicPr>
        <p:blipFill>
          <a:blip r:embed="rId3"/>
          <a:stretch>
            <a:fillRect/>
          </a:stretch>
        </p:blipFill>
        <p:spPr>
          <a:xfrm>
            <a:off x="6417578" y="1414158"/>
            <a:ext cx="5741415" cy="4209591"/>
          </a:xfrm>
          <a:prstGeom prst="rect">
            <a:avLst/>
          </a:prstGeom>
        </p:spPr>
      </p:pic>
    </p:spTree>
    <p:extLst>
      <p:ext uri="{BB962C8B-B14F-4D97-AF65-F5344CB8AC3E}">
        <p14:creationId xmlns:p14="http://schemas.microsoft.com/office/powerpoint/2010/main" val="1747566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p:txBody>
          <a:bodyPr>
            <a:normAutofit lnSpcReduction="10000"/>
          </a:bodyPr>
          <a:lstStyle/>
          <a:p>
            <a:pPr marL="0" indent="0">
              <a:buNone/>
            </a:pPr>
            <a:r>
              <a:rPr lang="en-US" dirty="0"/>
              <a:t>What is the reason for the loss of context meaning in large sentences?</a:t>
            </a:r>
            <a:endParaRPr lang="en-US" b="1" dirty="0"/>
          </a:p>
          <a:p>
            <a:pPr marL="0" indent="0">
              <a:buNone/>
            </a:pPr>
            <a:r>
              <a:rPr lang="en-US" b="1" dirty="0"/>
              <a:t>Words that are far away from each other will have their context lost by the hidden state of the LSTM RNN.</a:t>
            </a:r>
            <a:endParaRPr lang="en-US" dirty="0"/>
          </a:p>
        </p:txBody>
      </p:sp>
      <p:sp>
        <p:nvSpPr>
          <p:cNvPr id="2" name="Content Placeholder 1">
            <a:extLst>
              <a:ext uri="{FF2B5EF4-FFF2-40B4-BE49-F238E27FC236}">
                <a16:creationId xmlns:a16="http://schemas.microsoft.com/office/drawing/2014/main" id="{0E60314B-0048-413F-8538-1C895D656E72}"/>
              </a:ext>
            </a:extLst>
          </p:cNvPr>
          <p:cNvSpPr>
            <a:spLocks noGrp="1"/>
          </p:cNvSpPr>
          <p:nvPr>
            <p:ph sz="half" idx="2"/>
          </p:nvPr>
        </p:nvSpPr>
        <p:spPr>
          <a:xfrm>
            <a:off x="6172200" y="1825624"/>
            <a:ext cx="5181600" cy="5032375"/>
          </a:xfrm>
        </p:spPr>
        <p:txBody>
          <a:bodyPr>
            <a:normAutofit lnSpcReduction="10000"/>
          </a:bodyPr>
          <a:lstStyle/>
          <a:p>
            <a:r>
              <a:rPr lang="en-US" dirty="0"/>
              <a:t>For instance,</a:t>
            </a:r>
          </a:p>
          <a:p>
            <a:pPr marL="0" indent="0">
              <a:buNone/>
            </a:pPr>
            <a:r>
              <a:rPr lang="en-US" sz="2200" i="1" dirty="0"/>
              <a:t>“Paris was a universe whole and entire unto herself, hollowed and fashioned by history; so she seemed in this age of Napoleon III with her towering buildings, her massive cathedrals, her grand boulevards, and ancient winding medieval streets–as vast and indestructible as nature itself. All was embraced by her, by her volatile and enchanted populace thronging the galleries, the theaters, the cafes, giving birth over and over to genius and sanctity, philosophy and war, frivolity and the finest art; so it seemed that if all the world outside her were to sink into darkness, what was fine, what was beautiful, what was essential might there still come to its finest flower.“</a:t>
            </a:r>
          </a:p>
          <a:p>
            <a:pPr marL="0" indent="0">
              <a:buNone/>
            </a:pPr>
            <a:endParaRPr lang="en-GB" dirty="0"/>
          </a:p>
        </p:txBody>
      </p:sp>
      <p:pic>
        <p:nvPicPr>
          <p:cNvPr id="9" name="Picture 8">
            <a:extLst>
              <a:ext uri="{FF2B5EF4-FFF2-40B4-BE49-F238E27FC236}">
                <a16:creationId xmlns:a16="http://schemas.microsoft.com/office/drawing/2014/main" id="{5199E7AE-9D8B-48AA-9840-07230B584AAD}"/>
              </a:ext>
            </a:extLst>
          </p:cNvPr>
          <p:cNvPicPr>
            <a:picLocks noChangeAspect="1"/>
          </p:cNvPicPr>
          <p:nvPr/>
        </p:nvPicPr>
        <p:blipFill rotWithShape="1">
          <a:blip r:embed="rId2">
            <a:extLst>
              <a:ext uri="{28A0092B-C50C-407E-A947-70E740481C1C}">
                <a14:useLocalDpi xmlns:a14="http://schemas.microsoft.com/office/drawing/2010/main" val="0"/>
              </a:ext>
            </a:extLst>
          </a:blip>
          <a:srcRect r="30547" b="63273"/>
          <a:stretch/>
        </p:blipFill>
        <p:spPr>
          <a:xfrm>
            <a:off x="773722" y="4798463"/>
            <a:ext cx="4769232" cy="1891506"/>
          </a:xfrm>
          <a:prstGeom prst="rect">
            <a:avLst/>
          </a:prstGeom>
        </p:spPr>
      </p:pic>
    </p:spTree>
    <p:extLst>
      <p:ext uri="{BB962C8B-B14F-4D97-AF65-F5344CB8AC3E}">
        <p14:creationId xmlns:p14="http://schemas.microsoft.com/office/powerpoint/2010/main" val="3320630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p:txBody>
          <a:bodyPr>
            <a:normAutofit lnSpcReduction="10000"/>
          </a:bodyPr>
          <a:lstStyle/>
          <a:p>
            <a:pPr marL="0" indent="0">
              <a:buNone/>
            </a:pPr>
            <a:r>
              <a:rPr lang="en-US" dirty="0"/>
              <a:t>What is the reason for the loss of context meaning in large sentences?</a:t>
            </a:r>
            <a:endParaRPr lang="en-US" b="1" dirty="0"/>
          </a:p>
          <a:p>
            <a:pPr marL="0" indent="0">
              <a:buNone/>
            </a:pPr>
            <a:r>
              <a:rPr lang="en-US" b="1" dirty="0"/>
              <a:t>Words that are far away from each other will have their context lost by the hidden state of the LSTM RNN.</a:t>
            </a:r>
            <a:endParaRPr lang="en-US" dirty="0"/>
          </a:p>
        </p:txBody>
      </p:sp>
      <p:sp>
        <p:nvSpPr>
          <p:cNvPr id="2" name="Content Placeholder 1">
            <a:extLst>
              <a:ext uri="{FF2B5EF4-FFF2-40B4-BE49-F238E27FC236}">
                <a16:creationId xmlns:a16="http://schemas.microsoft.com/office/drawing/2014/main" id="{0E60314B-0048-413F-8538-1C895D656E72}"/>
              </a:ext>
            </a:extLst>
          </p:cNvPr>
          <p:cNvSpPr>
            <a:spLocks noGrp="1"/>
          </p:cNvSpPr>
          <p:nvPr>
            <p:ph sz="half" idx="2"/>
          </p:nvPr>
        </p:nvSpPr>
        <p:spPr>
          <a:xfrm>
            <a:off x="6172200" y="1825624"/>
            <a:ext cx="5181600" cy="5032375"/>
          </a:xfrm>
        </p:spPr>
        <p:txBody>
          <a:bodyPr>
            <a:normAutofit lnSpcReduction="10000"/>
          </a:bodyPr>
          <a:lstStyle/>
          <a:p>
            <a:r>
              <a:rPr lang="en-US" dirty="0"/>
              <a:t>For instance,</a:t>
            </a:r>
          </a:p>
          <a:p>
            <a:pPr marL="0" indent="0">
              <a:buNone/>
            </a:pPr>
            <a:r>
              <a:rPr lang="en-US" sz="2200" i="1" dirty="0"/>
              <a:t>“Paris was a universe whole and entire unto herself, hollowed and fashioned by history; so she seemed in this age of Napoleon III with her towering buildings, her massive cathedrals, her grand boulevards, and ancient winding medieval streets–as vast and indestructible as nature itself. All was embraced by her, by her volatile and enchanted </a:t>
            </a:r>
            <a:r>
              <a:rPr lang="en-US" sz="2200" b="1" i="1" dirty="0">
                <a:solidFill>
                  <a:srgbClr val="00B050"/>
                </a:solidFill>
              </a:rPr>
              <a:t>populace</a:t>
            </a:r>
            <a:r>
              <a:rPr lang="en-US" sz="2200" i="1" dirty="0"/>
              <a:t> thronging the galleries, the theaters, the cafes, giving birth over and over to genius and sanctity, philosophy and war, frivolity and the finest art; so it seemed that if all the world outside her were to sink into darkness, what was fine, what was beautiful, what was essential might there still come to its finest flower.“</a:t>
            </a:r>
          </a:p>
          <a:p>
            <a:pPr marL="0" indent="0">
              <a:buNone/>
            </a:pPr>
            <a:endParaRPr lang="en-GB" dirty="0"/>
          </a:p>
        </p:txBody>
      </p:sp>
      <p:pic>
        <p:nvPicPr>
          <p:cNvPr id="9" name="Picture 8">
            <a:extLst>
              <a:ext uri="{FF2B5EF4-FFF2-40B4-BE49-F238E27FC236}">
                <a16:creationId xmlns:a16="http://schemas.microsoft.com/office/drawing/2014/main" id="{5199E7AE-9D8B-48AA-9840-07230B584AAD}"/>
              </a:ext>
            </a:extLst>
          </p:cNvPr>
          <p:cNvPicPr>
            <a:picLocks noChangeAspect="1"/>
          </p:cNvPicPr>
          <p:nvPr/>
        </p:nvPicPr>
        <p:blipFill rotWithShape="1">
          <a:blip r:embed="rId2">
            <a:extLst>
              <a:ext uri="{28A0092B-C50C-407E-A947-70E740481C1C}">
                <a14:useLocalDpi xmlns:a14="http://schemas.microsoft.com/office/drawing/2010/main" val="0"/>
              </a:ext>
            </a:extLst>
          </a:blip>
          <a:srcRect r="30547" b="63273"/>
          <a:stretch/>
        </p:blipFill>
        <p:spPr>
          <a:xfrm>
            <a:off x="773722" y="4798463"/>
            <a:ext cx="4769232" cy="1891506"/>
          </a:xfrm>
          <a:prstGeom prst="rect">
            <a:avLst/>
          </a:prstGeom>
        </p:spPr>
      </p:pic>
    </p:spTree>
    <p:extLst>
      <p:ext uri="{BB962C8B-B14F-4D97-AF65-F5344CB8AC3E}">
        <p14:creationId xmlns:p14="http://schemas.microsoft.com/office/powerpoint/2010/main" val="4253859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p:txBody>
          <a:bodyPr>
            <a:normAutofit lnSpcReduction="10000"/>
          </a:bodyPr>
          <a:lstStyle/>
          <a:p>
            <a:pPr marL="0" indent="0">
              <a:buNone/>
            </a:pPr>
            <a:r>
              <a:rPr lang="en-US" dirty="0"/>
              <a:t>What is the reason for the loss of context meaning in large sentences?</a:t>
            </a:r>
            <a:endParaRPr lang="en-US" b="1" dirty="0"/>
          </a:p>
          <a:p>
            <a:pPr marL="0" indent="0">
              <a:buNone/>
            </a:pPr>
            <a:r>
              <a:rPr lang="en-US" b="1" dirty="0"/>
              <a:t>Words that are far away from each other will have their context lost by the hidden state of the LSTM RNN.</a:t>
            </a:r>
            <a:endParaRPr lang="en-US" dirty="0"/>
          </a:p>
        </p:txBody>
      </p:sp>
      <p:sp>
        <p:nvSpPr>
          <p:cNvPr id="2" name="Content Placeholder 1">
            <a:extLst>
              <a:ext uri="{FF2B5EF4-FFF2-40B4-BE49-F238E27FC236}">
                <a16:creationId xmlns:a16="http://schemas.microsoft.com/office/drawing/2014/main" id="{0E60314B-0048-413F-8538-1C895D656E72}"/>
              </a:ext>
            </a:extLst>
          </p:cNvPr>
          <p:cNvSpPr>
            <a:spLocks noGrp="1"/>
          </p:cNvSpPr>
          <p:nvPr>
            <p:ph sz="half" idx="2"/>
          </p:nvPr>
        </p:nvSpPr>
        <p:spPr>
          <a:xfrm>
            <a:off x="6172200" y="1825624"/>
            <a:ext cx="5181600" cy="5032375"/>
          </a:xfrm>
        </p:spPr>
        <p:txBody>
          <a:bodyPr>
            <a:normAutofit lnSpcReduction="10000"/>
          </a:bodyPr>
          <a:lstStyle/>
          <a:p>
            <a:r>
              <a:rPr lang="en-US" dirty="0"/>
              <a:t>For instance,</a:t>
            </a:r>
          </a:p>
          <a:p>
            <a:pPr marL="0" indent="0">
              <a:buNone/>
            </a:pPr>
            <a:r>
              <a:rPr lang="en-US" sz="2200" i="1" dirty="0"/>
              <a:t>“</a:t>
            </a:r>
            <a:r>
              <a:rPr lang="en-US" sz="2200" b="1" i="1" dirty="0">
                <a:solidFill>
                  <a:srgbClr val="7030A0"/>
                </a:solidFill>
              </a:rPr>
              <a:t>Paris</a:t>
            </a:r>
            <a:r>
              <a:rPr lang="en-US" sz="2200" i="1" dirty="0"/>
              <a:t> was a universe whole and entire unto herself, hollowed and fashioned by history; so she seemed in this age of Napoleon III with her towering buildings, her massive cathedrals, her grand boulevards, and ancient winding medieval streets–as vast and indestructible as nature itself. All was embraced by her, by her volatile and enchanted </a:t>
            </a:r>
            <a:r>
              <a:rPr lang="en-US" sz="2200" b="1" i="1" dirty="0">
                <a:solidFill>
                  <a:srgbClr val="00B050"/>
                </a:solidFill>
              </a:rPr>
              <a:t>populace</a:t>
            </a:r>
            <a:r>
              <a:rPr lang="en-US" sz="2200" i="1" dirty="0"/>
              <a:t> thronging the galleries, the theaters, the cafes, giving birth over and over to genius and sanctity, philosophy and war, frivolity and the finest art; so it seemed that if all the world outside her were to sink into darkness, what was fine, what was beautiful, what was essential might there still come to its finest flower.“</a:t>
            </a:r>
          </a:p>
          <a:p>
            <a:pPr marL="0" indent="0">
              <a:buNone/>
            </a:pPr>
            <a:endParaRPr lang="en-GB" dirty="0"/>
          </a:p>
        </p:txBody>
      </p:sp>
      <p:pic>
        <p:nvPicPr>
          <p:cNvPr id="9" name="Picture 8">
            <a:extLst>
              <a:ext uri="{FF2B5EF4-FFF2-40B4-BE49-F238E27FC236}">
                <a16:creationId xmlns:a16="http://schemas.microsoft.com/office/drawing/2014/main" id="{5199E7AE-9D8B-48AA-9840-07230B584AAD}"/>
              </a:ext>
            </a:extLst>
          </p:cNvPr>
          <p:cNvPicPr>
            <a:picLocks noChangeAspect="1"/>
          </p:cNvPicPr>
          <p:nvPr/>
        </p:nvPicPr>
        <p:blipFill rotWithShape="1">
          <a:blip r:embed="rId2">
            <a:extLst>
              <a:ext uri="{28A0092B-C50C-407E-A947-70E740481C1C}">
                <a14:useLocalDpi xmlns:a14="http://schemas.microsoft.com/office/drawing/2010/main" val="0"/>
              </a:ext>
            </a:extLst>
          </a:blip>
          <a:srcRect r="30547" b="63273"/>
          <a:stretch/>
        </p:blipFill>
        <p:spPr>
          <a:xfrm>
            <a:off x="773722" y="4798463"/>
            <a:ext cx="4769232" cy="1891506"/>
          </a:xfrm>
          <a:prstGeom prst="rect">
            <a:avLst/>
          </a:prstGeom>
        </p:spPr>
      </p:pic>
    </p:spTree>
    <p:extLst>
      <p:ext uri="{BB962C8B-B14F-4D97-AF65-F5344CB8AC3E}">
        <p14:creationId xmlns:p14="http://schemas.microsoft.com/office/powerpoint/2010/main" val="4224219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63DB5E-029C-4FAA-A759-7CEABCA1090C}"/>
              </a:ext>
            </a:extLst>
          </p:cNvPr>
          <p:cNvSpPr>
            <a:spLocks noGrp="1"/>
          </p:cNvSpPr>
          <p:nvPr>
            <p:ph type="title"/>
          </p:nvPr>
        </p:nvSpPr>
        <p:spPr/>
        <p:txBody>
          <a:bodyPr/>
          <a:lstStyle/>
          <a:p>
            <a:r>
              <a:rPr lang="en-US" dirty="0"/>
              <a:t>Sequence to sequence tasks</a:t>
            </a:r>
            <a:endParaRPr lang="en-GB" dirty="0"/>
          </a:p>
        </p:txBody>
      </p:sp>
      <p:sp>
        <p:nvSpPr>
          <p:cNvPr id="5" name="Content Placeholder 4">
            <a:extLst>
              <a:ext uri="{FF2B5EF4-FFF2-40B4-BE49-F238E27FC236}">
                <a16:creationId xmlns:a16="http://schemas.microsoft.com/office/drawing/2014/main" id="{9DB6DDAE-2B6C-4195-80AB-CCE46D6BC747}"/>
              </a:ext>
            </a:extLst>
          </p:cNvPr>
          <p:cNvSpPr>
            <a:spLocks noGrp="1"/>
          </p:cNvSpPr>
          <p:nvPr>
            <p:ph sz="half" idx="1"/>
          </p:nvPr>
        </p:nvSpPr>
        <p:spPr/>
        <p:txBody>
          <a:bodyPr>
            <a:normAutofit/>
          </a:bodyPr>
          <a:lstStyle/>
          <a:p>
            <a:pPr marL="0" indent="0">
              <a:buNone/>
            </a:pPr>
            <a:r>
              <a:rPr lang="en-US" dirty="0"/>
              <a:t>What is the reason for the loss of context meaning in large sentences?</a:t>
            </a:r>
            <a:endParaRPr lang="en-US" b="1" dirty="0"/>
          </a:p>
          <a:p>
            <a:pPr marL="0" indent="0">
              <a:buNone/>
            </a:pPr>
            <a:r>
              <a:rPr lang="en-US" b="1" dirty="0"/>
              <a:t>Words that are far away from each other will have their context lost by the hidden state of the LSTM RNN.</a:t>
            </a:r>
            <a:endParaRPr lang="en-US" dirty="0"/>
          </a:p>
        </p:txBody>
      </p:sp>
      <p:sp>
        <p:nvSpPr>
          <p:cNvPr id="2" name="Content Placeholder 1">
            <a:extLst>
              <a:ext uri="{FF2B5EF4-FFF2-40B4-BE49-F238E27FC236}">
                <a16:creationId xmlns:a16="http://schemas.microsoft.com/office/drawing/2014/main" id="{0E60314B-0048-413F-8538-1C895D656E72}"/>
              </a:ext>
            </a:extLst>
          </p:cNvPr>
          <p:cNvSpPr>
            <a:spLocks noGrp="1"/>
          </p:cNvSpPr>
          <p:nvPr>
            <p:ph sz="half" idx="2"/>
          </p:nvPr>
        </p:nvSpPr>
        <p:spPr>
          <a:xfrm>
            <a:off x="6172200" y="1825624"/>
            <a:ext cx="5181600" cy="5032375"/>
          </a:xfrm>
        </p:spPr>
        <p:txBody>
          <a:bodyPr>
            <a:normAutofit/>
          </a:bodyPr>
          <a:lstStyle/>
          <a:p>
            <a:pPr marL="0" indent="0">
              <a:buNone/>
            </a:pPr>
            <a:r>
              <a:rPr lang="en-US" b="1" dirty="0"/>
              <a:t>Question: </a:t>
            </a:r>
            <a:r>
              <a:rPr lang="en-US" dirty="0"/>
              <a:t>Can we train our Neural Networks to get a better grasp of the important words that matter in the sequence and how to connect them, even when far away from each other?</a:t>
            </a:r>
          </a:p>
          <a:p>
            <a:endParaRPr lang="en-US" dirty="0"/>
          </a:p>
          <a:p>
            <a:r>
              <a:rPr lang="en-US" dirty="0"/>
              <a:t>Yes!</a:t>
            </a:r>
          </a:p>
          <a:p>
            <a:r>
              <a:rPr lang="en-US" dirty="0"/>
              <a:t>That is exactly what the </a:t>
            </a:r>
            <a:r>
              <a:rPr lang="en-US" b="1" dirty="0"/>
              <a:t>attention</a:t>
            </a:r>
            <a:r>
              <a:rPr lang="en-US" dirty="0"/>
              <a:t> </a:t>
            </a:r>
            <a:r>
              <a:rPr lang="en-US" b="1" dirty="0"/>
              <a:t>layer</a:t>
            </a:r>
            <a:r>
              <a:rPr lang="en-US" dirty="0"/>
              <a:t> does!</a:t>
            </a:r>
            <a:endParaRPr lang="en-GB" dirty="0"/>
          </a:p>
        </p:txBody>
      </p:sp>
      <p:pic>
        <p:nvPicPr>
          <p:cNvPr id="9" name="Picture 8">
            <a:extLst>
              <a:ext uri="{FF2B5EF4-FFF2-40B4-BE49-F238E27FC236}">
                <a16:creationId xmlns:a16="http://schemas.microsoft.com/office/drawing/2014/main" id="{5199E7AE-9D8B-48AA-9840-07230B584AAD}"/>
              </a:ext>
            </a:extLst>
          </p:cNvPr>
          <p:cNvPicPr>
            <a:picLocks noChangeAspect="1"/>
          </p:cNvPicPr>
          <p:nvPr/>
        </p:nvPicPr>
        <p:blipFill rotWithShape="1">
          <a:blip r:embed="rId2">
            <a:extLst>
              <a:ext uri="{28A0092B-C50C-407E-A947-70E740481C1C}">
                <a14:useLocalDpi xmlns:a14="http://schemas.microsoft.com/office/drawing/2010/main" val="0"/>
              </a:ext>
            </a:extLst>
          </a:blip>
          <a:srcRect r="30547" b="63273"/>
          <a:stretch/>
        </p:blipFill>
        <p:spPr>
          <a:xfrm>
            <a:off x="773722" y="4798463"/>
            <a:ext cx="4769232" cy="1891506"/>
          </a:xfrm>
          <a:prstGeom prst="rect">
            <a:avLst/>
          </a:prstGeom>
        </p:spPr>
      </p:pic>
    </p:spTree>
    <p:extLst>
      <p:ext uri="{BB962C8B-B14F-4D97-AF65-F5344CB8AC3E}">
        <p14:creationId xmlns:p14="http://schemas.microsoft.com/office/powerpoint/2010/main" val="1136750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271CB-BA26-4470-8DE3-7BBB79BC7C82}"/>
              </a:ext>
            </a:extLst>
          </p:cNvPr>
          <p:cNvSpPr>
            <a:spLocks noGrp="1"/>
          </p:cNvSpPr>
          <p:nvPr>
            <p:ph type="title"/>
          </p:nvPr>
        </p:nvSpPr>
        <p:spPr/>
        <p:txBody>
          <a:bodyPr/>
          <a:lstStyle/>
          <a:p>
            <a:r>
              <a:rPr lang="en-US" dirty="0"/>
              <a:t>Attention: definition and motivation</a:t>
            </a:r>
            <a:endParaRPr lang="en-GB" dirty="0"/>
          </a:p>
        </p:txBody>
      </p:sp>
      <p:sp>
        <p:nvSpPr>
          <p:cNvPr id="3" name="Content Placeholder 2">
            <a:extLst>
              <a:ext uri="{FF2B5EF4-FFF2-40B4-BE49-F238E27FC236}">
                <a16:creationId xmlns:a16="http://schemas.microsoft.com/office/drawing/2014/main" id="{3FC9DC26-EBE2-4E69-8320-3A2B73D08142}"/>
              </a:ext>
            </a:extLst>
          </p:cNvPr>
          <p:cNvSpPr>
            <a:spLocks noGrp="1"/>
          </p:cNvSpPr>
          <p:nvPr>
            <p:ph sz="half" idx="1"/>
          </p:nvPr>
        </p:nvSpPr>
        <p:spPr>
          <a:xfrm>
            <a:off x="838200" y="1825624"/>
            <a:ext cx="6329516" cy="5032375"/>
          </a:xfrm>
        </p:spPr>
        <p:txBody>
          <a:bodyPr>
            <a:normAutofit/>
          </a:bodyPr>
          <a:lstStyle/>
          <a:p>
            <a:pPr marL="0" indent="0">
              <a:buNone/>
            </a:pPr>
            <a:r>
              <a:rPr lang="en-US" b="1" dirty="0"/>
              <a:t>Definition (</a:t>
            </a:r>
            <a:r>
              <a:rPr lang="en-US" b="1" dirty="0">
                <a:solidFill>
                  <a:srgbClr val="00B050"/>
                </a:solidFill>
              </a:rPr>
              <a:t>attention</a:t>
            </a:r>
            <a:r>
              <a:rPr lang="en-US" b="1" dirty="0"/>
              <a:t>):</a:t>
            </a:r>
          </a:p>
          <a:p>
            <a:pPr marL="0" indent="0">
              <a:buNone/>
            </a:pPr>
            <a:r>
              <a:rPr lang="en-US" dirty="0"/>
              <a:t>In the context of neural networks, </a:t>
            </a:r>
            <a:r>
              <a:rPr lang="en-US" b="1" dirty="0">
                <a:solidFill>
                  <a:srgbClr val="00B050"/>
                </a:solidFill>
              </a:rPr>
              <a:t>attention</a:t>
            </a:r>
            <a:r>
              <a:rPr lang="en-US" dirty="0"/>
              <a:t> (as introduced in [Vaswani2017, Devlin2019]) is a technique that mimics cognitive attention.</a:t>
            </a:r>
          </a:p>
          <a:p>
            <a:pPr marL="0" indent="0">
              <a:buNone/>
            </a:pPr>
            <a:r>
              <a:rPr lang="en-US" dirty="0"/>
              <a:t>The effect </a:t>
            </a:r>
            <a:r>
              <a:rPr lang="en-US" b="1" dirty="0"/>
              <a:t>enhances the important parts of the input data </a:t>
            </a:r>
            <a:r>
              <a:rPr lang="en-US" dirty="0"/>
              <a:t>and </a:t>
            </a:r>
            <a:r>
              <a:rPr lang="en-US" b="1" dirty="0"/>
              <a:t>fades out the rest</a:t>
            </a:r>
            <a:r>
              <a:rPr lang="en-US" dirty="0"/>
              <a:t>.</a:t>
            </a:r>
          </a:p>
          <a:p>
            <a:pPr marL="0" indent="0">
              <a:buNone/>
            </a:pPr>
            <a:r>
              <a:rPr lang="en-US" dirty="0"/>
              <a:t>The thought being that </a:t>
            </a:r>
            <a:r>
              <a:rPr lang="en-US" b="1" dirty="0"/>
              <a:t>the network should devote more computing power on that small but important part </a:t>
            </a:r>
            <a:r>
              <a:rPr lang="en-US" dirty="0"/>
              <a:t>of the data. </a:t>
            </a:r>
          </a:p>
        </p:txBody>
      </p:sp>
      <p:pic>
        <p:nvPicPr>
          <p:cNvPr id="6" name="Picture 5">
            <a:extLst>
              <a:ext uri="{FF2B5EF4-FFF2-40B4-BE49-F238E27FC236}">
                <a16:creationId xmlns:a16="http://schemas.microsoft.com/office/drawing/2014/main" id="{C94DFBB5-3E82-4E74-9176-14907AA008FB}"/>
              </a:ext>
            </a:extLst>
          </p:cNvPr>
          <p:cNvPicPr>
            <a:picLocks noChangeAspect="1"/>
          </p:cNvPicPr>
          <p:nvPr/>
        </p:nvPicPr>
        <p:blipFill rotWithShape="1">
          <a:blip r:embed="rId2">
            <a:extLst>
              <a:ext uri="{28A0092B-C50C-407E-A947-70E740481C1C}">
                <a14:useLocalDpi xmlns:a14="http://schemas.microsoft.com/office/drawing/2010/main" val="0"/>
              </a:ext>
            </a:extLst>
          </a:blip>
          <a:srcRect r="54744"/>
          <a:stretch/>
        </p:blipFill>
        <p:spPr>
          <a:xfrm>
            <a:off x="7641148" y="1385154"/>
            <a:ext cx="3050184" cy="2784373"/>
          </a:xfrm>
          <a:prstGeom prst="rect">
            <a:avLst/>
          </a:prstGeom>
        </p:spPr>
      </p:pic>
      <p:pic>
        <p:nvPicPr>
          <p:cNvPr id="7" name="Picture 6">
            <a:extLst>
              <a:ext uri="{FF2B5EF4-FFF2-40B4-BE49-F238E27FC236}">
                <a16:creationId xmlns:a16="http://schemas.microsoft.com/office/drawing/2014/main" id="{309502DA-AF74-4191-A406-154EF6DBD60B}"/>
              </a:ext>
            </a:extLst>
          </p:cNvPr>
          <p:cNvPicPr>
            <a:picLocks noChangeAspect="1"/>
          </p:cNvPicPr>
          <p:nvPr/>
        </p:nvPicPr>
        <p:blipFill rotWithShape="1">
          <a:blip r:embed="rId2">
            <a:extLst>
              <a:ext uri="{28A0092B-C50C-407E-A947-70E740481C1C}">
                <a14:useLocalDpi xmlns:a14="http://schemas.microsoft.com/office/drawing/2010/main" val="0"/>
              </a:ext>
            </a:extLst>
          </a:blip>
          <a:srcRect l="54423"/>
          <a:stretch/>
        </p:blipFill>
        <p:spPr>
          <a:xfrm>
            <a:off x="7752861" y="3963428"/>
            <a:ext cx="3071785" cy="2784373"/>
          </a:xfrm>
          <a:prstGeom prst="rect">
            <a:avLst/>
          </a:prstGeom>
        </p:spPr>
      </p:pic>
    </p:spTree>
    <p:extLst>
      <p:ext uri="{BB962C8B-B14F-4D97-AF65-F5344CB8AC3E}">
        <p14:creationId xmlns:p14="http://schemas.microsoft.com/office/powerpoint/2010/main" val="822679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419AB-CBEF-417D-B061-80DC1E2E8DAB}"/>
              </a:ext>
            </a:extLst>
          </p:cNvPr>
          <p:cNvSpPr>
            <a:spLocks noGrp="1"/>
          </p:cNvSpPr>
          <p:nvPr>
            <p:ph type="title"/>
          </p:nvPr>
        </p:nvSpPr>
        <p:spPr/>
        <p:txBody>
          <a:bodyPr/>
          <a:lstStyle/>
          <a:p>
            <a:r>
              <a:rPr lang="en-US" dirty="0"/>
              <a:t>Attention coefficients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66E765-8C34-4AE9-ADE1-5180829B902B}"/>
                  </a:ext>
                </a:extLst>
              </p:cNvPr>
              <p:cNvSpPr>
                <a:spLocks noGrp="1"/>
              </p:cNvSpPr>
              <p:nvPr>
                <p:ph sz="half" idx="1"/>
              </p:nvPr>
            </p:nvSpPr>
            <p:spPr>
              <a:xfrm>
                <a:off x="234462" y="1825624"/>
                <a:ext cx="6346092" cy="5032375"/>
              </a:xfrm>
            </p:spPr>
            <p:txBody>
              <a:bodyPr>
                <a:normAutofit lnSpcReduction="10000"/>
              </a:bodyPr>
              <a:lstStyle/>
              <a:p>
                <a:pPr marL="0" indent="0">
                  <a:buNone/>
                </a:pPr>
                <a:r>
                  <a:rPr lang="en-US" b="1" dirty="0"/>
                  <a:t>Definition (</a:t>
                </a:r>
                <a:r>
                  <a:rPr lang="en-US" b="1" dirty="0">
                    <a:solidFill>
                      <a:srgbClr val="00B050"/>
                    </a:solidFill>
                  </a:rPr>
                  <a:t>attention</a:t>
                </a:r>
                <a:r>
                  <a:rPr lang="en-US" b="1" dirty="0"/>
                  <a:t> </a:t>
                </a:r>
                <a:r>
                  <a:rPr lang="en-US" b="1" dirty="0">
                    <a:solidFill>
                      <a:srgbClr val="00B050"/>
                    </a:solidFill>
                  </a:rPr>
                  <a:t>coefficients</a:t>
                </a:r>
                <a:r>
                  <a:rPr lang="en-US" b="1" dirty="0"/>
                  <a:t>):</a:t>
                </a:r>
              </a:p>
              <a:p>
                <a:pPr marL="0" indent="0">
                  <a:buNone/>
                </a:pPr>
                <a:r>
                  <a:rPr lang="en-US" b="1" dirty="0">
                    <a:solidFill>
                      <a:srgbClr val="00B050"/>
                    </a:solidFill>
                  </a:rPr>
                  <a:t>Attention</a:t>
                </a:r>
                <a:r>
                  <a:rPr lang="en-US" dirty="0"/>
                  <a:t> </a:t>
                </a:r>
                <a:r>
                  <a:rPr lang="en-US" b="1" dirty="0">
                    <a:solidFill>
                      <a:srgbClr val="00B050"/>
                    </a:solidFill>
                  </a:rPr>
                  <a:t>coefficients</a:t>
                </a:r>
                <a:r>
                  <a:rPr lang="en-US" dirty="0"/>
                  <a:t> identify which elements of the input sequence </a:t>
                </a:r>
                <a:br>
                  <a:rPr lang="en-US" dirty="0"/>
                </a:b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𝑁</m:t>
                        </m:r>
                      </m:sub>
                    </m:sSub>
                    <m:r>
                      <a:rPr lang="en-US" b="0" i="1" smtClean="0">
                        <a:latin typeface="Cambria Math" panose="02040503050406030204" pitchFamily="18" charset="0"/>
                      </a:rPr>
                      <m:t>)</m:t>
                    </m:r>
                  </m:oMath>
                </a14:m>
                <a:r>
                  <a:rPr lang="en-GB" dirty="0"/>
                  <a:t> is relevant to compute an element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𝑘</m:t>
                        </m:r>
                      </m:sub>
                    </m:sSub>
                  </m:oMath>
                </a14:m>
                <a:r>
                  <a:rPr lang="en-GB" dirty="0"/>
                  <a:t> in the output sequence</a:t>
                </a:r>
                <a:br>
                  <a:rPr lang="en-GB" dirty="0"/>
                </a:b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𝑀</m:t>
                            </m:r>
                          </m:sub>
                        </m:sSub>
                      </m:e>
                    </m:d>
                  </m:oMath>
                </a14:m>
                <a:r>
                  <a:rPr lang="en-GB" dirty="0"/>
                  <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𝑖𝑚𝑝𝑜𝑟𝑡𝑎𝑛𝑐𝑒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GB" b="0" i="1" smtClean="0">
                          <a:latin typeface="Cambria Math" panose="02040503050406030204" pitchFamily="18" charset="0"/>
                        </a:rPr>
                        <m:t>𝑤𝑟𝑡</m:t>
                      </m:r>
                      <m:r>
                        <a:rPr lang="en-GB"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oMath>
                  </m:oMathPara>
                </a14:m>
                <a:endParaRPr lang="en-GB" dirty="0"/>
              </a:p>
              <a:p>
                <a:pPr marL="0" indent="0">
                  <a:buNone/>
                </a:pPr>
                <a:br>
                  <a:rPr lang="en-GB" dirty="0"/>
                </a:br>
                <a:r>
                  <a:rPr lang="en-GB" dirty="0"/>
                  <a:t>For instance, attention helps with shenanigans such as adjective-noun placement in English and French.</a:t>
                </a:r>
              </a:p>
            </p:txBody>
          </p:sp>
        </mc:Choice>
        <mc:Fallback xmlns="">
          <p:sp>
            <p:nvSpPr>
              <p:cNvPr id="3" name="Content Placeholder 2">
                <a:extLst>
                  <a:ext uri="{FF2B5EF4-FFF2-40B4-BE49-F238E27FC236}">
                    <a16:creationId xmlns:a16="http://schemas.microsoft.com/office/drawing/2014/main" id="{6766E765-8C34-4AE9-ADE1-5180829B902B}"/>
                  </a:ext>
                </a:extLst>
              </p:cNvPr>
              <p:cNvSpPr>
                <a:spLocks noGrp="1" noRot="1" noChangeAspect="1" noMove="1" noResize="1" noEditPoints="1" noAdjustHandles="1" noChangeArrowheads="1" noChangeShapeType="1" noTextEdit="1"/>
              </p:cNvSpPr>
              <p:nvPr>
                <p:ph sz="half" idx="1"/>
              </p:nvPr>
            </p:nvSpPr>
            <p:spPr>
              <a:xfrm>
                <a:off x="234462" y="1825624"/>
                <a:ext cx="6346092" cy="5032375"/>
              </a:xfrm>
              <a:blipFill>
                <a:blip r:embed="rId2"/>
                <a:stretch>
                  <a:fillRect l="-1921" t="-2663" r="-1345"/>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B8C1B889-4F7E-4325-B207-A58C1D1B4F6C}"/>
              </a:ext>
            </a:extLst>
          </p:cNvPr>
          <p:cNvPicPr>
            <a:picLocks noChangeAspect="1"/>
          </p:cNvPicPr>
          <p:nvPr/>
        </p:nvPicPr>
        <p:blipFill rotWithShape="1">
          <a:blip r:embed="rId3"/>
          <a:srcRect l="64294" t="13333" r="14616" b="19795"/>
          <a:stretch/>
        </p:blipFill>
        <p:spPr>
          <a:xfrm>
            <a:off x="6861908" y="2247035"/>
            <a:ext cx="4653396" cy="4610964"/>
          </a:xfrm>
          <a:prstGeom prst="rect">
            <a:avLst/>
          </a:prstGeom>
        </p:spPr>
      </p:pic>
      <p:pic>
        <p:nvPicPr>
          <p:cNvPr id="6" name="Picture 5">
            <a:extLst>
              <a:ext uri="{FF2B5EF4-FFF2-40B4-BE49-F238E27FC236}">
                <a16:creationId xmlns:a16="http://schemas.microsoft.com/office/drawing/2014/main" id="{F04ABBEA-02CF-4CE9-AD64-97FF60F9EE1C}"/>
              </a:ext>
            </a:extLst>
          </p:cNvPr>
          <p:cNvPicPr>
            <a:picLocks noChangeAspect="1"/>
          </p:cNvPicPr>
          <p:nvPr/>
        </p:nvPicPr>
        <p:blipFill rotWithShape="1">
          <a:blip r:embed="rId4">
            <a:extLst>
              <a:ext uri="{28A0092B-C50C-407E-A947-70E740481C1C}">
                <a14:useLocalDpi xmlns:a14="http://schemas.microsoft.com/office/drawing/2010/main" val="0"/>
              </a:ext>
            </a:extLst>
          </a:blip>
          <a:srcRect r="54744"/>
          <a:stretch/>
        </p:blipFill>
        <p:spPr>
          <a:xfrm>
            <a:off x="8422687" y="255378"/>
            <a:ext cx="2104636" cy="1921226"/>
          </a:xfrm>
          <a:prstGeom prst="rect">
            <a:avLst/>
          </a:prstGeom>
        </p:spPr>
      </p:pic>
    </p:spTree>
    <p:extLst>
      <p:ext uri="{BB962C8B-B14F-4D97-AF65-F5344CB8AC3E}">
        <p14:creationId xmlns:p14="http://schemas.microsoft.com/office/powerpoint/2010/main" val="2939684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419AB-CBEF-417D-B061-80DC1E2E8DAB}"/>
              </a:ext>
            </a:extLst>
          </p:cNvPr>
          <p:cNvSpPr>
            <a:spLocks noGrp="1"/>
          </p:cNvSpPr>
          <p:nvPr>
            <p:ph type="title"/>
          </p:nvPr>
        </p:nvSpPr>
        <p:spPr/>
        <p:txBody>
          <a:bodyPr/>
          <a:lstStyle/>
          <a:p>
            <a:r>
              <a:rPr lang="en-US" dirty="0"/>
              <a:t>Attention coefficients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66E765-8C34-4AE9-ADE1-5180829B902B}"/>
                  </a:ext>
                </a:extLst>
              </p:cNvPr>
              <p:cNvSpPr>
                <a:spLocks noGrp="1"/>
              </p:cNvSpPr>
              <p:nvPr>
                <p:ph sz="half" idx="1"/>
              </p:nvPr>
            </p:nvSpPr>
            <p:spPr>
              <a:xfrm>
                <a:off x="234462" y="1825624"/>
                <a:ext cx="6346092" cy="5032375"/>
              </a:xfrm>
            </p:spPr>
            <p:txBody>
              <a:bodyPr>
                <a:normAutofit lnSpcReduction="10000"/>
              </a:bodyPr>
              <a:lstStyle/>
              <a:p>
                <a:pPr marL="0" indent="0">
                  <a:buNone/>
                </a:pPr>
                <a:r>
                  <a:rPr lang="en-US" b="1" dirty="0"/>
                  <a:t>Definition (</a:t>
                </a:r>
                <a:r>
                  <a:rPr lang="en-US" b="1" dirty="0">
                    <a:solidFill>
                      <a:srgbClr val="00B050"/>
                    </a:solidFill>
                  </a:rPr>
                  <a:t>attention</a:t>
                </a:r>
                <a:r>
                  <a:rPr lang="en-US" b="1" dirty="0"/>
                  <a:t> </a:t>
                </a:r>
                <a:r>
                  <a:rPr lang="en-US" b="1" dirty="0">
                    <a:solidFill>
                      <a:srgbClr val="00B050"/>
                    </a:solidFill>
                  </a:rPr>
                  <a:t>coefficients</a:t>
                </a:r>
                <a:r>
                  <a:rPr lang="en-US" b="1" dirty="0"/>
                  <a:t>):</a:t>
                </a:r>
              </a:p>
              <a:p>
                <a:pPr marL="0" indent="0">
                  <a:buNone/>
                </a:pPr>
                <a:r>
                  <a:rPr lang="en-US" b="1" dirty="0">
                    <a:solidFill>
                      <a:srgbClr val="00B050"/>
                    </a:solidFill>
                  </a:rPr>
                  <a:t>Attention</a:t>
                </a:r>
                <a:r>
                  <a:rPr lang="en-US" dirty="0"/>
                  <a:t> </a:t>
                </a:r>
                <a:r>
                  <a:rPr lang="en-US" b="1" dirty="0">
                    <a:solidFill>
                      <a:srgbClr val="00B050"/>
                    </a:solidFill>
                  </a:rPr>
                  <a:t>coefficients</a:t>
                </a:r>
                <a:r>
                  <a:rPr lang="en-US" dirty="0"/>
                  <a:t> identify which elements of the input sequence </a:t>
                </a:r>
                <a:br>
                  <a:rPr lang="en-US" dirty="0"/>
                </a:b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𝑁</m:t>
                        </m:r>
                      </m:sub>
                    </m:sSub>
                    <m:r>
                      <a:rPr lang="en-US" b="0" i="1" smtClean="0">
                        <a:latin typeface="Cambria Math" panose="02040503050406030204" pitchFamily="18" charset="0"/>
                      </a:rPr>
                      <m:t>)</m:t>
                    </m:r>
                  </m:oMath>
                </a14:m>
                <a:r>
                  <a:rPr lang="en-GB" dirty="0"/>
                  <a:t> is relevant to compute an element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𝑘</m:t>
                        </m:r>
                      </m:sub>
                    </m:sSub>
                  </m:oMath>
                </a14:m>
                <a:r>
                  <a:rPr lang="en-GB" dirty="0"/>
                  <a:t> in the output sequence</a:t>
                </a:r>
                <a:br>
                  <a:rPr lang="en-GB" dirty="0"/>
                </a:b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𝑀</m:t>
                            </m:r>
                          </m:sub>
                        </m:sSub>
                      </m:e>
                    </m:d>
                  </m:oMath>
                </a14:m>
                <a:r>
                  <a:rPr lang="en-GB" dirty="0"/>
                  <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𝑖𝑚𝑝𝑜𝑟𝑡𝑎𝑛𝑐𝑒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GB" b="0" i="1" smtClean="0">
                          <a:latin typeface="Cambria Math" panose="02040503050406030204" pitchFamily="18" charset="0"/>
                        </a:rPr>
                        <m:t>𝑤𝑟𝑡</m:t>
                      </m:r>
                      <m:r>
                        <a:rPr lang="en-GB"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oMath>
                  </m:oMathPara>
                </a14:m>
                <a:endParaRPr lang="en-GB" dirty="0"/>
              </a:p>
              <a:p>
                <a:pPr marL="0" indent="0">
                  <a:buNone/>
                </a:pPr>
                <a:br>
                  <a:rPr lang="en-GB" dirty="0"/>
                </a:br>
                <a:r>
                  <a:rPr lang="en-GB" dirty="0"/>
                  <a:t>For instance, attention helps with shenanigans such as adjective-noun placement in English and French.</a:t>
                </a:r>
              </a:p>
            </p:txBody>
          </p:sp>
        </mc:Choice>
        <mc:Fallback xmlns="">
          <p:sp>
            <p:nvSpPr>
              <p:cNvPr id="3" name="Content Placeholder 2">
                <a:extLst>
                  <a:ext uri="{FF2B5EF4-FFF2-40B4-BE49-F238E27FC236}">
                    <a16:creationId xmlns:a16="http://schemas.microsoft.com/office/drawing/2014/main" id="{6766E765-8C34-4AE9-ADE1-5180829B902B}"/>
                  </a:ext>
                </a:extLst>
              </p:cNvPr>
              <p:cNvSpPr>
                <a:spLocks noGrp="1" noRot="1" noChangeAspect="1" noMove="1" noResize="1" noEditPoints="1" noAdjustHandles="1" noChangeArrowheads="1" noChangeShapeType="1" noTextEdit="1"/>
              </p:cNvSpPr>
              <p:nvPr>
                <p:ph sz="half" idx="1"/>
              </p:nvPr>
            </p:nvSpPr>
            <p:spPr>
              <a:xfrm>
                <a:off x="234462" y="1825624"/>
                <a:ext cx="6346092" cy="5032375"/>
              </a:xfrm>
              <a:blipFill>
                <a:blip r:embed="rId2"/>
                <a:stretch>
                  <a:fillRect l="-1921" t="-2663" r="-1345"/>
                </a:stretch>
              </a:blipFill>
            </p:spPr>
            <p:txBody>
              <a:bodyPr/>
              <a:lstStyle/>
              <a:p>
                <a:r>
                  <a:rPr lang="en-SG">
                    <a:noFill/>
                  </a:rPr>
                  <a:t> </a:t>
                </a:r>
              </a:p>
            </p:txBody>
          </p:sp>
        </mc:Fallback>
      </mc:AlternateContent>
      <p:sp>
        <p:nvSpPr>
          <p:cNvPr id="4" name="Rectangle 3">
            <a:extLst>
              <a:ext uri="{FF2B5EF4-FFF2-40B4-BE49-F238E27FC236}">
                <a16:creationId xmlns:a16="http://schemas.microsoft.com/office/drawing/2014/main" id="{0740B1B9-86D9-4FEF-8DCE-015403CA56C6}"/>
              </a:ext>
            </a:extLst>
          </p:cNvPr>
          <p:cNvSpPr/>
          <p:nvPr/>
        </p:nvSpPr>
        <p:spPr>
          <a:xfrm>
            <a:off x="6783754" y="89602"/>
            <a:ext cx="5259754" cy="7109639"/>
          </a:xfrm>
          <a:prstGeom prst="rect">
            <a:avLst/>
          </a:prstGeom>
        </p:spPr>
        <p:txBody>
          <a:bodyPr wrap="square">
            <a:spAutoFit/>
          </a:bodyPr>
          <a:lstStyle/>
          <a:p>
            <a:r>
              <a:rPr lang="en-US" sz="2400" i="1" dirty="0"/>
              <a:t>“</a:t>
            </a:r>
            <a:r>
              <a:rPr lang="en-US" sz="2400" b="1" i="1" dirty="0">
                <a:solidFill>
                  <a:srgbClr val="7030A0"/>
                </a:solidFill>
              </a:rPr>
              <a:t>Paris</a:t>
            </a:r>
            <a:r>
              <a:rPr lang="en-US" sz="2400" i="1" dirty="0"/>
              <a:t> was a universe whole and entire unto herself, hollowed and fashioned by history; so she seemed in this age of Napoleon III with her towering buildings, her massive cathedrals, her grand boulevards, and ancient winding medieval streets–as vast and indestructible as nature itself. All was embraced by her, by her volatile and enchanted </a:t>
            </a:r>
            <a:r>
              <a:rPr lang="en-US" sz="2400" b="1" i="1" dirty="0">
                <a:solidFill>
                  <a:srgbClr val="00B050"/>
                </a:solidFill>
              </a:rPr>
              <a:t>populace</a:t>
            </a:r>
            <a:r>
              <a:rPr lang="en-US" sz="2400" i="1" dirty="0"/>
              <a:t> thronging the galleries, the theaters, the cafes, giving birth over and over to genius and sanctity, philosophy and war, frivolity and the finest art; so it seemed that if all the world outside her were to sink into darkness, what was fine, what was beautiful, what was essential might there still come to its finest flower.“</a:t>
            </a:r>
          </a:p>
          <a:p>
            <a:endParaRPr lang="en-GB" sz="2400" dirty="0"/>
          </a:p>
        </p:txBody>
      </p:sp>
    </p:spTree>
    <p:extLst>
      <p:ext uri="{BB962C8B-B14F-4D97-AF65-F5344CB8AC3E}">
        <p14:creationId xmlns:p14="http://schemas.microsoft.com/office/powerpoint/2010/main" val="270860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271CB-BA26-4470-8DE3-7BBB79BC7C82}"/>
              </a:ext>
            </a:extLst>
          </p:cNvPr>
          <p:cNvSpPr>
            <a:spLocks noGrp="1"/>
          </p:cNvSpPr>
          <p:nvPr>
            <p:ph type="title"/>
          </p:nvPr>
        </p:nvSpPr>
        <p:spPr/>
        <p:txBody>
          <a:bodyPr/>
          <a:lstStyle/>
          <a:p>
            <a:r>
              <a:rPr lang="en-US" dirty="0"/>
              <a:t>Attention: definition and motivation</a:t>
            </a:r>
            <a:endParaRPr lang="en-GB" dirty="0"/>
          </a:p>
        </p:txBody>
      </p:sp>
      <p:sp>
        <p:nvSpPr>
          <p:cNvPr id="3" name="Content Placeholder 2">
            <a:extLst>
              <a:ext uri="{FF2B5EF4-FFF2-40B4-BE49-F238E27FC236}">
                <a16:creationId xmlns:a16="http://schemas.microsoft.com/office/drawing/2014/main" id="{3FC9DC26-EBE2-4E69-8320-3A2B73D08142}"/>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transformer</a:t>
            </a:r>
            <a:r>
              <a:rPr lang="en-US" b="1" dirty="0"/>
              <a:t>):</a:t>
            </a:r>
          </a:p>
          <a:p>
            <a:pPr marL="0" indent="0">
              <a:buNone/>
            </a:pPr>
            <a:r>
              <a:rPr lang="en-US" dirty="0"/>
              <a:t>A </a:t>
            </a:r>
            <a:r>
              <a:rPr lang="en-US" b="1" dirty="0">
                <a:solidFill>
                  <a:srgbClr val="00B050"/>
                </a:solidFill>
              </a:rPr>
              <a:t>transformer</a:t>
            </a:r>
            <a:r>
              <a:rPr lang="en-US" dirty="0"/>
              <a:t> network make extensive use of </a:t>
            </a:r>
            <a:r>
              <a:rPr lang="en-US" b="1" dirty="0"/>
              <a:t>attention</a:t>
            </a:r>
            <a:r>
              <a:rPr lang="en-US" dirty="0"/>
              <a:t> </a:t>
            </a:r>
            <a:r>
              <a:rPr lang="en-US" b="1" dirty="0"/>
              <a:t>mechanisms </a:t>
            </a:r>
            <a:r>
              <a:rPr lang="en-US" dirty="0"/>
              <a:t>and more specifically</a:t>
            </a:r>
            <a:r>
              <a:rPr lang="en-US" b="1" dirty="0"/>
              <a:t> attention layers</a:t>
            </a:r>
            <a:r>
              <a:rPr lang="en-US" dirty="0"/>
              <a:t> to achieve their expressive power.</a:t>
            </a:r>
          </a:p>
          <a:p>
            <a:pPr marL="0" indent="0">
              <a:buNone/>
            </a:pPr>
            <a:r>
              <a:rPr lang="en-US" b="1" dirty="0"/>
              <a:t>Transformers</a:t>
            </a:r>
            <a:r>
              <a:rPr lang="en-US" dirty="0"/>
              <a:t> </a:t>
            </a:r>
            <a:r>
              <a:rPr lang="en-US" b="1" dirty="0"/>
              <a:t>are currently considered as</a:t>
            </a:r>
            <a:r>
              <a:rPr lang="en-US" dirty="0"/>
              <a:t> </a:t>
            </a:r>
            <a:r>
              <a:rPr lang="en-US" b="1" dirty="0"/>
              <a:t>one of the most promising directions for Computer Vision, and Natural Language Processing.</a:t>
            </a:r>
            <a:endParaRPr lang="en-GB" b="1" dirty="0"/>
          </a:p>
        </p:txBody>
      </p:sp>
      <p:pic>
        <p:nvPicPr>
          <p:cNvPr id="5" name="Picture 4">
            <a:extLst>
              <a:ext uri="{FF2B5EF4-FFF2-40B4-BE49-F238E27FC236}">
                <a16:creationId xmlns:a16="http://schemas.microsoft.com/office/drawing/2014/main" id="{22C3BB57-5946-4495-9EA6-723874605136}"/>
              </a:ext>
            </a:extLst>
          </p:cNvPr>
          <p:cNvPicPr>
            <a:picLocks noChangeAspect="1"/>
          </p:cNvPicPr>
          <p:nvPr/>
        </p:nvPicPr>
        <p:blipFill rotWithShape="1">
          <a:blip r:embed="rId3">
            <a:extLst>
              <a:ext uri="{28A0092B-C50C-407E-A947-70E740481C1C}">
                <a14:useLocalDpi xmlns:a14="http://schemas.microsoft.com/office/drawing/2010/main" val="0"/>
              </a:ext>
            </a:extLst>
          </a:blip>
          <a:srcRect l="2253" t="2605" r="2119" b="2915"/>
          <a:stretch/>
        </p:blipFill>
        <p:spPr>
          <a:xfrm>
            <a:off x="6172202" y="1690688"/>
            <a:ext cx="5642708" cy="4181231"/>
          </a:xfrm>
          <a:prstGeom prst="rect">
            <a:avLst/>
          </a:prstGeom>
        </p:spPr>
      </p:pic>
      <p:sp>
        <p:nvSpPr>
          <p:cNvPr id="6" name="TextBox 5">
            <a:extLst>
              <a:ext uri="{FF2B5EF4-FFF2-40B4-BE49-F238E27FC236}">
                <a16:creationId xmlns:a16="http://schemas.microsoft.com/office/drawing/2014/main" id="{4E63213F-FAD0-4017-9E3A-C3E1BB4BB9B1}"/>
              </a:ext>
            </a:extLst>
          </p:cNvPr>
          <p:cNvSpPr txBox="1"/>
          <p:nvPr/>
        </p:nvSpPr>
        <p:spPr>
          <a:xfrm>
            <a:off x="6885354" y="5958226"/>
            <a:ext cx="4468446" cy="646331"/>
          </a:xfrm>
          <a:prstGeom prst="rect">
            <a:avLst/>
          </a:prstGeom>
          <a:noFill/>
        </p:spPr>
        <p:txBody>
          <a:bodyPr wrap="square" rtlCol="0">
            <a:spAutoFit/>
          </a:bodyPr>
          <a:lstStyle/>
          <a:p>
            <a:pPr algn="ctr"/>
            <a:r>
              <a:rPr lang="en-US" dirty="0"/>
              <a:t>Don’t you even think about it.</a:t>
            </a:r>
          </a:p>
          <a:p>
            <a:pPr algn="ctr"/>
            <a:r>
              <a:rPr lang="en-US" dirty="0"/>
              <a:t>Seriously, don’t.</a:t>
            </a:r>
            <a:endParaRPr lang="en-GB" dirty="0"/>
          </a:p>
        </p:txBody>
      </p:sp>
      <p:sp>
        <p:nvSpPr>
          <p:cNvPr id="4" name="&quot;Not Allowed&quot; Symbol 3">
            <a:extLst>
              <a:ext uri="{FF2B5EF4-FFF2-40B4-BE49-F238E27FC236}">
                <a16:creationId xmlns:a16="http://schemas.microsoft.com/office/drawing/2014/main" id="{543110E6-FD34-4167-B920-C3AD692F23BD}"/>
              </a:ext>
            </a:extLst>
          </p:cNvPr>
          <p:cNvSpPr/>
          <p:nvPr/>
        </p:nvSpPr>
        <p:spPr>
          <a:xfrm>
            <a:off x="7004298" y="2603240"/>
            <a:ext cx="3697915" cy="3125899"/>
          </a:xfrm>
          <a:prstGeom prst="noSmoking">
            <a:avLst/>
          </a:prstGeom>
          <a:solidFill>
            <a:srgbClr val="FF0000">
              <a:alpha val="50000"/>
            </a:srgb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4752511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p:txBody>
          <a:bodyPr/>
          <a:lstStyle/>
          <a:p>
            <a:pPr marL="0" indent="0">
              <a:buNone/>
            </a:pPr>
            <a:r>
              <a:rPr lang="en-US" b="1" dirty="0"/>
              <a:t>Definition (the </a:t>
            </a:r>
            <a:r>
              <a:rPr lang="en-US" b="1" dirty="0">
                <a:solidFill>
                  <a:srgbClr val="00B050"/>
                </a:solidFill>
              </a:rPr>
              <a:t>transformer architecture</a:t>
            </a:r>
            <a:r>
              <a:rPr lang="en-US" b="1" dirty="0"/>
              <a:t>):</a:t>
            </a:r>
          </a:p>
          <a:p>
            <a:pPr marL="0" indent="0">
              <a:buNone/>
            </a:pPr>
            <a:endParaRPr lang="en-GB" dirty="0"/>
          </a:p>
        </p:txBody>
      </p:sp>
      <p:pic>
        <p:nvPicPr>
          <p:cNvPr id="5" name="Picture 4">
            <a:extLst>
              <a:ext uri="{FF2B5EF4-FFF2-40B4-BE49-F238E27FC236}">
                <a16:creationId xmlns:a16="http://schemas.microsoft.com/office/drawing/2014/main" id="{8350FDF4-8080-497B-BA52-3433D1951965}"/>
              </a:ext>
            </a:extLst>
          </p:cNvPr>
          <p:cNvPicPr>
            <a:picLocks noChangeAspect="1"/>
          </p:cNvPicPr>
          <p:nvPr/>
        </p:nvPicPr>
        <p:blipFill rotWithShape="1">
          <a:blip r:embed="rId2"/>
          <a:srcRect l="67243" t="36513" r="18398" b="33128"/>
          <a:stretch/>
        </p:blipFill>
        <p:spPr>
          <a:xfrm>
            <a:off x="6429527" y="2719754"/>
            <a:ext cx="5618629" cy="3712307"/>
          </a:xfrm>
          <a:prstGeom prst="rect">
            <a:avLst/>
          </a:prstGeom>
        </p:spPr>
      </p:pic>
      <p:sp>
        <p:nvSpPr>
          <p:cNvPr id="6" name="TextBox 5">
            <a:extLst>
              <a:ext uri="{FF2B5EF4-FFF2-40B4-BE49-F238E27FC236}">
                <a16:creationId xmlns:a16="http://schemas.microsoft.com/office/drawing/2014/main" id="{85B1929D-82FA-4071-8E1D-278C2672193B}"/>
              </a:ext>
            </a:extLst>
          </p:cNvPr>
          <p:cNvSpPr txBox="1"/>
          <p:nvPr/>
        </p:nvSpPr>
        <p:spPr>
          <a:xfrm>
            <a:off x="5762474" y="782747"/>
            <a:ext cx="6285682" cy="1815882"/>
          </a:xfrm>
          <a:prstGeom prst="rect">
            <a:avLst/>
          </a:prstGeom>
          <a:noFill/>
        </p:spPr>
        <p:txBody>
          <a:bodyPr wrap="square" rtlCol="0">
            <a:spAutoFit/>
          </a:bodyPr>
          <a:lstStyle/>
          <a:p>
            <a:pPr algn="ctr"/>
            <a:r>
              <a:rPr lang="en-US" sz="2800" i="1" dirty="0"/>
              <a:t>But first, a disclaimer from our</a:t>
            </a:r>
            <a:br>
              <a:rPr lang="en-US" sz="2800" i="1" dirty="0"/>
            </a:br>
            <a:r>
              <a:rPr lang="en-US" sz="2800" i="1" dirty="0"/>
              <a:t>beloved SUTD sponsor because transformers are, by far, the most difficult architecture we will see this term.</a:t>
            </a:r>
            <a:endParaRPr lang="en-GB" sz="2800" i="1" dirty="0"/>
          </a:p>
        </p:txBody>
      </p:sp>
    </p:spTree>
    <p:extLst>
      <p:ext uri="{BB962C8B-B14F-4D97-AF65-F5344CB8AC3E}">
        <p14:creationId xmlns:p14="http://schemas.microsoft.com/office/powerpoint/2010/main" val="4058294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8B543A-7328-4317-99ED-F4AAFD0E6C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7" name="Rectangle 6">
            <a:extLst>
              <a:ext uri="{FF2B5EF4-FFF2-40B4-BE49-F238E27FC236}">
                <a16:creationId xmlns:a16="http://schemas.microsoft.com/office/drawing/2014/main" id="{47649503-9890-480A-BDDC-A0225D3A75AF}"/>
              </a:ext>
            </a:extLst>
          </p:cNvPr>
          <p:cNvSpPr/>
          <p:nvPr/>
        </p:nvSpPr>
        <p:spPr>
          <a:xfrm>
            <a:off x="2790092" y="6572736"/>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6F5792A-112D-4E21-97E9-D4F650D6A729}"/>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8FCFCA55-291F-4339-9474-293C82AC13A2}"/>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94039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a:t>
                </a:r>
                <a:r>
                  <a:rPr lang="en-US" b="1" dirty="0">
                    <a:solidFill>
                      <a:srgbClr val="00B050"/>
                    </a:solidFill>
                  </a:rPr>
                  <a:t>transformer architecture</a:t>
                </a:r>
                <a:r>
                  <a:rPr lang="en-US" b="1" dirty="0"/>
                  <a:t>):</a:t>
                </a:r>
              </a:p>
              <a:p>
                <a:pPr marL="514350" indent="-514350">
                  <a:buFont typeface="+mj-lt"/>
                  <a:buAutoNum type="arabicPeriod"/>
                </a:pPr>
                <a:r>
                  <a:rPr lang="en-GB" dirty="0"/>
                  <a:t>It starts with an input embedding, which is used to propagate context between words of an input sequence.</a:t>
                </a:r>
              </a:p>
              <a:p>
                <a:pPr marL="0" indent="0">
                  <a:buNone/>
                </a:pPr>
                <a:r>
                  <a:rPr lang="en-GB" dirty="0"/>
                  <a:t>Use a first </a:t>
                </a:r>
                <a:r>
                  <a:rPr lang="en-GB" b="1" dirty="0"/>
                  <a:t>embedding vector</a:t>
                </a:r>
                <a:r>
                  <a:rPr lang="en-GB" dirty="0"/>
                  <a:t> for any word</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𝑘</m:t>
                        </m:r>
                      </m:sub>
                    </m:sSub>
                  </m:oMath>
                </a14:m>
                <a:r>
                  <a:rPr lang="en-GB" dirty="0"/>
                  <a:t>, using either another word embedding model </a:t>
                </a:r>
                <a:r>
                  <a:rPr lang="en-US" dirty="0"/>
                  <a:t>(e.g. using </a:t>
                </a:r>
                <a:r>
                  <a:rPr lang="en-US" dirty="0" err="1"/>
                  <a:t>ELMo</a:t>
                </a:r>
                <a:r>
                  <a:rPr lang="en-US" dirty="0"/>
                  <a:t>), or by implementing a similar architecture.</a:t>
                </a:r>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059"/>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291B6B87-9F46-4D33-A21E-70AD200A3E43}"/>
              </a:ext>
            </a:extLst>
          </p:cNvPr>
          <p:cNvPicPr>
            <a:picLocks noChangeAspect="1"/>
          </p:cNvPicPr>
          <p:nvPr/>
        </p:nvPicPr>
        <p:blipFill rotWithShape="1">
          <a:blip r:embed="rId3"/>
          <a:srcRect l="17757" t="25435" r="67500" b="36000"/>
          <a:stretch/>
        </p:blipFill>
        <p:spPr>
          <a:xfrm>
            <a:off x="6287002" y="1825624"/>
            <a:ext cx="5803398" cy="4743647"/>
          </a:xfrm>
          <a:prstGeom prst="rect">
            <a:avLst/>
          </a:prstGeom>
        </p:spPr>
      </p:pic>
    </p:spTree>
    <p:extLst>
      <p:ext uri="{BB962C8B-B14F-4D97-AF65-F5344CB8AC3E}">
        <p14:creationId xmlns:p14="http://schemas.microsoft.com/office/powerpoint/2010/main" val="1478531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a:off x="164127" y="5509846"/>
            <a:ext cx="2352426" cy="1148861"/>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77AFDBD-2F0D-44BC-ABF7-0A52D670E65C}"/>
              </a:ext>
            </a:extLst>
          </p:cNvPr>
          <p:cNvSpPr/>
          <p:nvPr/>
        </p:nvSpPr>
        <p:spPr>
          <a:xfrm>
            <a:off x="2622065" y="5513754"/>
            <a:ext cx="2352426" cy="114495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F7B7319D-9BFB-45EB-9D3A-A48C35EA87FC}"/>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A1A0801-B6BA-4381-B376-5A4CF9023039}"/>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66510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a:t>
            </a:r>
            <a:r>
              <a:rPr lang="en-US" b="1" dirty="0">
                <a:solidFill>
                  <a:srgbClr val="00B050"/>
                </a:solidFill>
              </a:rPr>
              <a:t>transformer architecture</a:t>
            </a:r>
            <a:r>
              <a:rPr lang="en-US" b="1" dirty="0"/>
              <a:t>):</a:t>
            </a:r>
          </a:p>
          <a:p>
            <a:pPr marL="514350" indent="-514350">
              <a:buFont typeface="+mj-lt"/>
              <a:buAutoNum type="arabicPeriod" startAt="2"/>
            </a:pPr>
            <a:r>
              <a:rPr lang="en-US" dirty="0"/>
              <a:t>If you observe, the self-attention computations we will define later have no notion of the ordering of words among the sequences.</a:t>
            </a:r>
          </a:p>
          <a:p>
            <a:pPr marL="0" indent="0">
              <a:buNone/>
            </a:pPr>
            <a:r>
              <a:rPr lang="en-US" dirty="0"/>
              <a:t>This is where </a:t>
            </a:r>
            <a:r>
              <a:rPr lang="en-US" b="1" dirty="0"/>
              <a:t>positional encoding </a:t>
            </a:r>
            <a:r>
              <a:rPr lang="en-US" dirty="0"/>
              <a:t>comes into play.</a:t>
            </a:r>
          </a:p>
          <a:p>
            <a:pPr marL="0" indent="0">
              <a:buNone/>
            </a:pPr>
            <a:r>
              <a:rPr lang="en-US" i="1" dirty="0"/>
              <a:t>(However, out-of-scope for this class, will be skipped).</a:t>
            </a:r>
            <a:endParaRPr lang="en-GB" i="1" dirty="0"/>
          </a:p>
        </p:txBody>
      </p:sp>
      <p:sp>
        <p:nvSpPr>
          <p:cNvPr id="4" name="Content Placeholder 3">
            <a:extLst>
              <a:ext uri="{FF2B5EF4-FFF2-40B4-BE49-F238E27FC236}">
                <a16:creationId xmlns:a16="http://schemas.microsoft.com/office/drawing/2014/main" id="{D83AF359-981B-4913-B651-E7BD706B4CF9}"/>
              </a:ext>
            </a:extLst>
          </p:cNvPr>
          <p:cNvSpPr>
            <a:spLocks noGrp="1"/>
          </p:cNvSpPr>
          <p:nvPr>
            <p:ph sz="half" idx="2"/>
          </p:nvPr>
        </p:nvSpPr>
        <p:spPr>
          <a:xfrm>
            <a:off x="6172200" y="1825624"/>
            <a:ext cx="5181600" cy="5032375"/>
          </a:xfrm>
        </p:spPr>
        <p:txBody>
          <a:bodyPr>
            <a:normAutofit/>
          </a:bodyPr>
          <a:lstStyle/>
          <a:p>
            <a:pPr marL="0" indent="0">
              <a:buNone/>
            </a:pPr>
            <a:r>
              <a:rPr lang="en-US" b="1" dirty="0"/>
              <a:t>Core idea:</a:t>
            </a:r>
            <a:r>
              <a:rPr lang="en-US" dirty="0"/>
              <a:t> Some languages have different positioning of words in sentences (Japanese tends to put verbs at the end of sentence, French tends to place adjectives after nouns, etc.)</a:t>
            </a:r>
          </a:p>
          <a:p>
            <a:pPr marL="0" indent="0">
              <a:buNone/>
            </a:pPr>
            <a:r>
              <a:rPr lang="en-US" dirty="0"/>
              <a:t>To elicit this notion of positioning of words in the sequence, positional encoding can be added to the regular input embeddings.</a:t>
            </a:r>
          </a:p>
        </p:txBody>
      </p:sp>
    </p:spTree>
    <p:extLst>
      <p:ext uri="{BB962C8B-B14F-4D97-AF65-F5344CB8AC3E}">
        <p14:creationId xmlns:p14="http://schemas.microsoft.com/office/powerpoint/2010/main" val="1015786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flipV="1">
            <a:off x="164127" y="5040923"/>
            <a:ext cx="2352426" cy="4689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77AFDBD-2F0D-44BC-ABF7-0A52D670E65C}"/>
              </a:ext>
            </a:extLst>
          </p:cNvPr>
          <p:cNvSpPr/>
          <p:nvPr/>
        </p:nvSpPr>
        <p:spPr>
          <a:xfrm flipV="1">
            <a:off x="2622065" y="5040923"/>
            <a:ext cx="2352426" cy="472831"/>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8D110ED-F5F6-4315-8113-6AE16C88962F}"/>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A95D4EA-8693-4F3F-B9C2-D08266D27FEB}"/>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3971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idx="1"/>
              </p:nvPr>
            </p:nvSpPr>
            <p:spPr/>
            <p:txBody>
              <a:bodyPr>
                <a:normAutofit/>
              </a:bodyPr>
              <a:lstStyle/>
              <a:p>
                <a:pPr marL="0" indent="0">
                  <a:buNone/>
                </a:pPr>
                <a:r>
                  <a:rPr lang="en-US" dirty="0"/>
                  <a:t>Basically, we want a matrix </a:t>
                </a:r>
                <a14:m>
                  <m:oMath xmlns:m="http://schemas.openxmlformats.org/officeDocument/2006/math">
                    <m:r>
                      <a:rPr lang="en-GB" b="0" i="1" dirty="0" smtClean="0">
                        <a:latin typeface="Cambria Math" panose="02040503050406030204" pitchFamily="18" charset="0"/>
                      </a:rPr>
                      <m:t>𝐴</m:t>
                    </m:r>
                  </m:oMath>
                </a14:m>
                <a:r>
                  <a:rPr lang="en-US" dirty="0"/>
                  <a:t> that contains coefficients </a:t>
                </a:r>
                <a14:m>
                  <m:oMath xmlns:m="http://schemas.openxmlformats.org/officeDocument/2006/math">
                    <m:sSub>
                      <m:sSubPr>
                        <m:ctrlPr>
                          <a:rPr lang="en-GB"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𝑗</m:t>
                        </m:r>
                        <m:r>
                          <m:rPr>
                            <m:nor/>
                          </m:rPr>
                          <a:rPr lang="en-GB" dirty="0"/>
                          <m:t> </m:t>
                        </m:r>
                      </m:sub>
                    </m:sSub>
                    <m:r>
                      <a:rPr lang="en-GB" b="0" i="1" dirty="0" smtClean="0">
                        <a:latin typeface="Cambria Math" panose="02040503050406030204" pitchFamily="18" charset="0"/>
                      </a:rPr>
                      <m:t>∈[0,1]</m:t>
                    </m:r>
                  </m:oMath>
                </a14:m>
                <a:r>
                  <a:rPr lang="en-GB" dirty="0"/>
                  <a:t>, telling the proportion of the meaning of word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𝑣</m:t>
                        </m:r>
                      </m:e>
                      <m:sub>
                        <m:r>
                          <a:rPr lang="en-GB" b="0" i="1" dirty="0" smtClean="0">
                            <a:latin typeface="Cambria Math" panose="02040503050406030204" pitchFamily="18" charset="0"/>
                          </a:rPr>
                          <m:t>𝑗</m:t>
                        </m:r>
                      </m:sub>
                    </m:sSub>
                  </m:oMath>
                </a14:m>
                <a:r>
                  <a:rPr lang="en-GB" dirty="0"/>
                  <a:t> that needs to be transferred to word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𝑣</m:t>
                        </m:r>
                      </m:e>
                      <m:sub>
                        <m:r>
                          <a:rPr lang="en-GB" i="1" dirty="0" smtClean="0">
                            <a:latin typeface="Cambria Math" panose="02040503050406030204" pitchFamily="18" charset="0"/>
                          </a:rPr>
                          <m:t>𝑖</m:t>
                        </m:r>
                      </m:sub>
                    </m:sSub>
                  </m:oMath>
                </a14:m>
                <a:r>
                  <a:rPr lang="en-GB" dirty="0"/>
                  <a:t> to produce a more relevant embedding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r>
                  <a:rPr lang="en-GB" dirty="0"/>
                  <a:t>.</a:t>
                </a:r>
              </a:p>
              <a:p>
                <a:r>
                  <a:rPr lang="en-GB" b="1" dirty="0"/>
                  <a:t>Before attention layer: </a:t>
                </a:r>
                <a:r>
                  <a:rPr lang="en-GB" dirty="0"/>
                  <a:t>embeddings for word </a:t>
                </a:r>
                <a14:m>
                  <m:oMath xmlns:m="http://schemas.openxmlformats.org/officeDocument/2006/math">
                    <m:r>
                      <a:rPr lang="en-GB" b="0" i="1" dirty="0" smtClean="0">
                        <a:latin typeface="Cambria Math" panose="02040503050406030204" pitchFamily="18" charset="0"/>
                      </a:rPr>
                      <m:t>𝑖</m:t>
                    </m:r>
                  </m:oMath>
                </a14:m>
                <a:r>
                  <a:rPr lang="en-GB" dirty="0"/>
                  <a:t> is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𝑖</m:t>
                        </m:r>
                      </m:sub>
                    </m:sSub>
                  </m:oMath>
                </a14:m>
                <a:endParaRPr lang="en-GB" dirty="0"/>
              </a:p>
              <a:p>
                <a:r>
                  <a:rPr lang="en-GB" b="1" dirty="0"/>
                  <a:t>After attention layer: </a:t>
                </a:r>
                <a:r>
                  <a:rPr lang="en-GB" dirty="0"/>
                  <a:t>new updated embeddings for word </a:t>
                </a:r>
                <a14:m>
                  <m:oMath xmlns:m="http://schemas.openxmlformats.org/officeDocument/2006/math">
                    <m:r>
                      <a:rPr lang="en-GB" i="1" dirty="0">
                        <a:latin typeface="Cambria Math" panose="02040503050406030204" pitchFamily="18" charset="0"/>
                      </a:rPr>
                      <m:t>𝑖</m:t>
                    </m:r>
                  </m:oMath>
                </a14:m>
                <a:r>
                  <a:rPr lang="en-GB" dirty="0"/>
                  <a:t> is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endParaRPr lang="en-GB" dirty="0"/>
              </a:p>
              <a:p>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a:rPr lang="en-GB" b="0" i="1" smtClean="0">
                              <a:latin typeface="Cambria Math" panose="02040503050406030204" pitchFamily="18" charset="0"/>
                            </a:rPr>
                            <m:t>𝑗</m:t>
                          </m: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𝑗</m:t>
                              </m:r>
                            </m:sub>
                          </m:sSub>
                        </m:e>
                      </m:nary>
                    </m:oMath>
                  </m:oMathPara>
                </a14:m>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idx="1"/>
              </p:nvPr>
            </p:nvSpPr>
            <p:spPr>
              <a:blipFill>
                <a:blip r:embed="rId2"/>
                <a:stretch>
                  <a:fillRect l="-1217" t="-1961"/>
                </a:stretch>
              </a:blipFill>
            </p:spPr>
            <p:txBody>
              <a:bodyPr/>
              <a:lstStyle/>
              <a:p>
                <a:r>
                  <a:rPr lang="en-SG">
                    <a:noFill/>
                  </a:rPr>
                  <a:t> </a:t>
                </a:r>
              </a:p>
            </p:txBody>
          </p:sp>
        </mc:Fallback>
      </mc:AlternateContent>
    </p:spTree>
    <p:extLst>
      <p:ext uri="{BB962C8B-B14F-4D97-AF65-F5344CB8AC3E}">
        <p14:creationId xmlns:p14="http://schemas.microsoft.com/office/powerpoint/2010/main" val="3965654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idx="1"/>
              </p:nvPr>
            </p:nvSpPr>
            <p:spPr/>
            <p:txBody>
              <a:bodyPr>
                <a:normAutofit/>
              </a:bodyPr>
              <a:lstStyle/>
              <a:p>
                <a:pPr marL="0" indent="0">
                  <a:buNone/>
                </a:pPr>
                <a:r>
                  <a:rPr lang="en-US" dirty="0"/>
                  <a:t>Basically, we want a matrix </a:t>
                </a:r>
                <a14:m>
                  <m:oMath xmlns:m="http://schemas.openxmlformats.org/officeDocument/2006/math">
                    <m:r>
                      <a:rPr lang="en-GB" b="0" i="1" dirty="0" smtClean="0">
                        <a:latin typeface="Cambria Math" panose="02040503050406030204" pitchFamily="18" charset="0"/>
                      </a:rPr>
                      <m:t>𝐴</m:t>
                    </m:r>
                  </m:oMath>
                </a14:m>
                <a:r>
                  <a:rPr lang="en-US" dirty="0"/>
                  <a:t> that contains coefficients </a:t>
                </a:r>
                <a14:m>
                  <m:oMath xmlns:m="http://schemas.openxmlformats.org/officeDocument/2006/math">
                    <m:sSub>
                      <m:sSubPr>
                        <m:ctrlPr>
                          <a:rPr lang="en-GB"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𝑗</m:t>
                        </m:r>
                        <m:r>
                          <m:rPr>
                            <m:nor/>
                          </m:rPr>
                          <a:rPr lang="en-GB" dirty="0"/>
                          <m:t> </m:t>
                        </m:r>
                      </m:sub>
                    </m:sSub>
                    <m:r>
                      <a:rPr lang="en-GB" b="0" i="1" dirty="0" smtClean="0">
                        <a:latin typeface="Cambria Math" panose="02040503050406030204" pitchFamily="18" charset="0"/>
                      </a:rPr>
                      <m:t>∈[0,1]</m:t>
                    </m:r>
                  </m:oMath>
                </a14:m>
                <a:r>
                  <a:rPr lang="en-GB" dirty="0"/>
                  <a:t>, telling the proportion of the meaning of word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𝑣</m:t>
                        </m:r>
                      </m:e>
                      <m:sub>
                        <m:r>
                          <a:rPr lang="en-GB" b="0" i="1" dirty="0" smtClean="0">
                            <a:latin typeface="Cambria Math" panose="02040503050406030204" pitchFamily="18" charset="0"/>
                          </a:rPr>
                          <m:t>𝑗</m:t>
                        </m:r>
                      </m:sub>
                    </m:sSub>
                  </m:oMath>
                </a14:m>
                <a:r>
                  <a:rPr lang="en-GB" dirty="0"/>
                  <a:t> that needs to be transferred to word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𝑣</m:t>
                        </m:r>
                      </m:e>
                      <m:sub>
                        <m:r>
                          <a:rPr lang="en-GB" i="1" dirty="0" smtClean="0">
                            <a:latin typeface="Cambria Math" panose="02040503050406030204" pitchFamily="18" charset="0"/>
                          </a:rPr>
                          <m:t>𝑖</m:t>
                        </m:r>
                      </m:sub>
                    </m:sSub>
                  </m:oMath>
                </a14:m>
                <a:r>
                  <a:rPr lang="en-GB" dirty="0"/>
                  <a:t> to produce a more relevant embedding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r>
                  <a:rPr lang="en-GB" dirty="0"/>
                  <a:t>.</a:t>
                </a:r>
              </a:p>
              <a:p>
                <a:r>
                  <a:rPr lang="en-GB" b="1" dirty="0"/>
                  <a:t>Before attention layer: </a:t>
                </a:r>
                <a:r>
                  <a:rPr lang="en-GB" dirty="0"/>
                  <a:t>embeddings for word </a:t>
                </a:r>
                <a14:m>
                  <m:oMath xmlns:m="http://schemas.openxmlformats.org/officeDocument/2006/math">
                    <m:r>
                      <a:rPr lang="en-GB" b="0" i="1" dirty="0" smtClean="0">
                        <a:latin typeface="Cambria Math" panose="02040503050406030204" pitchFamily="18" charset="0"/>
                      </a:rPr>
                      <m:t>𝑖</m:t>
                    </m:r>
                  </m:oMath>
                </a14:m>
                <a:r>
                  <a:rPr lang="en-GB" dirty="0"/>
                  <a:t> is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𝑖</m:t>
                        </m:r>
                      </m:sub>
                    </m:sSub>
                  </m:oMath>
                </a14:m>
                <a:endParaRPr lang="en-GB" dirty="0"/>
              </a:p>
              <a:p>
                <a:r>
                  <a:rPr lang="en-GB" b="1" dirty="0"/>
                  <a:t>After attention layer: </a:t>
                </a:r>
                <a:r>
                  <a:rPr lang="en-GB" dirty="0"/>
                  <a:t>new updated embeddings for word </a:t>
                </a:r>
                <a14:m>
                  <m:oMath xmlns:m="http://schemas.openxmlformats.org/officeDocument/2006/math">
                    <m:r>
                      <a:rPr lang="en-GB" i="1" dirty="0">
                        <a:latin typeface="Cambria Math" panose="02040503050406030204" pitchFamily="18" charset="0"/>
                      </a:rPr>
                      <m:t>𝑖</m:t>
                    </m:r>
                  </m:oMath>
                </a14:m>
                <a:r>
                  <a:rPr lang="en-GB" dirty="0"/>
                  <a:t> is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endParaRPr lang="en-GB" dirty="0"/>
              </a:p>
              <a:p>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a:rPr lang="en-GB" b="0" i="1" smtClean="0">
                              <a:latin typeface="Cambria Math" panose="02040503050406030204" pitchFamily="18" charset="0"/>
                            </a:rPr>
                            <m:t>𝑗</m:t>
                          </m: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𝑗</m:t>
                              </m:r>
                            </m:sub>
                          </m:sSub>
                        </m:e>
                      </m:nary>
                    </m:oMath>
                  </m:oMathPara>
                </a14:m>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idx="1"/>
              </p:nvPr>
            </p:nvSpPr>
            <p:spPr>
              <a:blipFill>
                <a:blip r:embed="rId2"/>
                <a:stretch>
                  <a:fillRect l="-1217" t="-1961"/>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B48C3D26-17E9-23F6-70AE-B17936A2A5E0}"/>
              </a:ext>
            </a:extLst>
          </p:cNvPr>
          <p:cNvPicPr>
            <a:picLocks noChangeAspect="1"/>
          </p:cNvPicPr>
          <p:nvPr/>
        </p:nvPicPr>
        <p:blipFill>
          <a:blip r:embed="rId3"/>
          <a:stretch>
            <a:fillRect/>
          </a:stretch>
        </p:blipFill>
        <p:spPr>
          <a:xfrm>
            <a:off x="3483126" y="1395135"/>
            <a:ext cx="5601880" cy="52178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a16="http://schemas.microsoft.com/office/drawing/2014/main" id="{D81B7E74-D389-F4B2-C103-907B1BEB05A5}"/>
              </a:ext>
            </a:extLst>
          </p:cNvPr>
          <p:cNvSpPr/>
          <p:nvPr/>
        </p:nvSpPr>
        <p:spPr>
          <a:xfrm>
            <a:off x="3483126" y="6400800"/>
            <a:ext cx="213803" cy="212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164059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3"/>
                </a:pPr>
                <a:r>
                  <a:rPr lang="en-US" dirty="0"/>
                  <a:t>Getting vectors </a:t>
                </a: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 </m:t>
                    </m:r>
                    <m:r>
                      <a:rPr lang="en-US" i="1" dirty="0" smtClean="0">
                        <a:latin typeface="Cambria Math" panose="02040503050406030204" pitchFamily="18" charset="0"/>
                      </a:rPr>
                      <m:t>𝐾</m:t>
                    </m:r>
                    <m:r>
                      <a:rPr lang="en-US" i="1" dirty="0" smtClean="0">
                        <a:latin typeface="Cambria Math" panose="02040503050406030204" pitchFamily="18" charset="0"/>
                      </a:rPr>
                      <m:t>, </m:t>
                    </m:r>
                    <m:r>
                      <a:rPr lang="en-US" i="1" dirty="0" smtClean="0">
                        <a:latin typeface="Cambria Math" panose="02040503050406030204" pitchFamily="18" charset="0"/>
                      </a:rPr>
                      <m:t>𝑄</m:t>
                    </m:r>
                  </m:oMath>
                </a14:m>
                <a:endParaRPr lang="en-US" dirty="0"/>
              </a:p>
              <a:p>
                <a:pPr marL="0" indent="0">
                  <a:buNone/>
                </a:pPr>
                <a14:m>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𝑞</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r>
                      <a:rPr lang="en-US" i="1" dirty="0" smtClean="0">
                        <a:latin typeface="Cambria Math" panose="02040503050406030204" pitchFamily="18" charset="0"/>
                      </a:rPr>
                      <m:t>𝑄</m:t>
                    </m:r>
                  </m:oMath>
                </a14:m>
                <a:r>
                  <a:rPr lang="en-US" dirty="0"/>
                  <a:t> is the query, i.e. the word I am currently looking at.</a:t>
                </a:r>
              </a:p>
              <a:p>
                <a:pPr marL="0" indent="0">
                  <a:buNone/>
                </a:pPr>
                <a14:m>
                  <m:oMath xmlns:m="http://schemas.openxmlformats.org/officeDocument/2006/math">
                    <m:r>
                      <a:rPr lang="en-US" i="1" dirty="0" smtClean="0">
                        <a:latin typeface="Cambria Math" panose="02040503050406030204" pitchFamily="18" charset="0"/>
                      </a:rPr>
                      <m:t>𝑉</m:t>
                    </m:r>
                  </m:oMath>
                </a14:m>
                <a:r>
                  <a:rPr lang="en-US" dirty="0"/>
                  <a:t> and </a:t>
                </a:r>
                <a14:m>
                  <m:oMath xmlns:m="http://schemas.openxmlformats.org/officeDocument/2006/math">
                    <m:r>
                      <a:rPr lang="en-US" i="1" dirty="0" smtClean="0">
                        <a:latin typeface="Cambria Math" panose="02040503050406030204" pitchFamily="18" charset="0"/>
                      </a:rPr>
                      <m:t>𝐾</m:t>
                    </m:r>
                  </m:oMath>
                </a14:m>
                <a:r>
                  <a:rPr lang="en-US" dirty="0"/>
                  <a:t> refer to values and keys.</a:t>
                </a:r>
              </a:p>
              <a:p>
                <a:pPr marL="0" indent="0">
                  <a:buNone/>
                </a:pPr>
                <a:endParaRPr lang="en-US" dirty="0"/>
              </a:p>
              <a:p>
                <a:pPr marL="0" indent="0">
                  <a:buNone/>
                </a:pPr>
                <a:r>
                  <a:rPr lang="en-US" dirty="0"/>
                  <a:t>For simplicity, we will assume that</a:t>
                </a:r>
              </a:p>
              <a:p>
                <a:pPr marL="0" indent="0" algn="ctr">
                  <a:buNone/>
                </a:pP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 = </m:t>
                    </m:r>
                    <m:r>
                      <a:rPr lang="en-US" i="1" dirty="0" smtClean="0">
                        <a:latin typeface="Cambria Math" panose="02040503050406030204" pitchFamily="18" charset="0"/>
                      </a:rPr>
                      <m:t>𝐾</m:t>
                    </m:r>
                    <m:r>
                      <a:rPr lang="en-US" i="1" dirty="0" smtClean="0">
                        <a:latin typeface="Cambria Math" panose="02040503050406030204" pitchFamily="18" charset="0"/>
                      </a:rPr>
                      <m:t> = </m:t>
                    </m:r>
                    <m:r>
                      <a:rPr lang="en-US" i="1" dirty="0" smtClean="0">
                        <a:latin typeface="Cambria Math" panose="02040503050406030204" pitchFamily="18" charset="0"/>
                      </a:rPr>
                      <m:t>𝑄</m:t>
                    </m:r>
                  </m:oMath>
                </a14:m>
                <a:r>
                  <a:rPr lang="en-GB" dirty="0"/>
                  <a:t> = </a:t>
                </a:r>
                <a14:m>
                  <m:oMath xmlns:m="http://schemas.openxmlformats.org/officeDocument/2006/math">
                    <m:r>
                      <a:rPr lang="en-GB" i="1" dirty="0" smtClean="0">
                        <a:latin typeface="Cambria Math" panose="02040503050406030204" pitchFamily="18" charset="0"/>
                      </a:rPr>
                      <m:t>𝑤𝑜𝑟𝑑𝑠</m:t>
                    </m:r>
                    <m:r>
                      <a:rPr lang="en-GB" i="1" dirty="0" smtClean="0">
                        <a:latin typeface="Cambria Math" panose="02040503050406030204" pitchFamily="18" charset="0"/>
                      </a:rPr>
                      <m:t> </m:t>
                    </m:r>
                    <m:r>
                      <a:rPr lang="en-GB" i="1" dirty="0" smtClean="0">
                        <a:latin typeface="Cambria Math" panose="02040503050406030204" pitchFamily="18" charset="0"/>
                      </a:rPr>
                      <m:t>𝑖𝑛</m:t>
                    </m:r>
                    <m:r>
                      <a:rPr lang="en-GB" i="1" dirty="0" smtClean="0">
                        <a:latin typeface="Cambria Math" panose="02040503050406030204" pitchFamily="18" charset="0"/>
                      </a:rPr>
                      <m:t> </m:t>
                    </m:r>
                    <m:r>
                      <a:rPr lang="en-GB" b="0" i="1" dirty="0" smtClean="0">
                        <a:latin typeface="Cambria Math" panose="02040503050406030204" pitchFamily="18" charset="0"/>
                      </a:rPr>
                      <m:t>𝑠𝑒𝑞</m:t>
                    </m:r>
                    <m:r>
                      <a:rPr lang="en-GB" b="0" i="1" dirty="0" smtClean="0">
                        <a:latin typeface="Cambria Math" panose="02040503050406030204" pitchFamily="18" charset="0"/>
                      </a:rPr>
                      <m:t>.</m:t>
                    </m:r>
                  </m:oMath>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5ADFA7A-5730-4286-B60F-714DB9BCC84F}"/>
                  </a:ext>
                </a:extLst>
              </p:cNvPr>
              <p:cNvSpPr>
                <a:spLocks noGrp="1"/>
              </p:cNvSpPr>
              <p:nvPr>
                <p:ph sz="half" idx="2"/>
              </p:nvPr>
            </p:nvSpPr>
            <p:spPr>
              <a:xfrm>
                <a:off x="6172200" y="226646"/>
                <a:ext cx="5181600" cy="6557108"/>
              </a:xfrm>
            </p:spPr>
            <p:txBody>
              <a:bodyPr>
                <a:normAutofit/>
              </a:bodyPr>
              <a:lstStyle/>
              <a:p>
                <a:pPr marL="0" indent="0">
                  <a:buNone/>
                </a:pPr>
                <a:r>
                  <a:rPr lang="en-US" dirty="0"/>
                  <a:t>Let us consider the sentence</a:t>
                </a:r>
              </a:p>
              <a:p>
                <a:pPr marL="0" indent="0">
                  <a:buNone/>
                </a:pPr>
                <a:r>
                  <a:rPr lang="en-US" i="1" dirty="0"/>
                  <a:t>“Paris is the capital city of France.”</a:t>
                </a:r>
              </a:p>
              <a:p>
                <a:pPr marL="0" indent="0">
                  <a:buNone/>
                </a:pPr>
                <a:r>
                  <a:rPr lang="en-US" dirty="0"/>
                  <a:t>When I multiply</a:t>
                </a:r>
              </a:p>
              <a:p>
                <a:r>
                  <a:rPr lang="en-US" dirty="0"/>
                  <a:t>the context vector of the word “city” (i.e. one query word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𝑞</m:t>
                        </m:r>
                      </m:e>
                      <m:sub>
                        <m:r>
                          <a:rPr lang="en-US" i="1" dirty="0" smtClean="0">
                            <a:latin typeface="Cambria Math" panose="02040503050406030204" pitchFamily="18" charset="0"/>
                          </a:rPr>
                          <m:t>𝑖</m:t>
                        </m:r>
                      </m:sub>
                    </m:sSub>
                  </m:oMath>
                </a14:m>
                <a:r>
                  <a:rPr lang="en-US" dirty="0"/>
                  <a:t>), </a:t>
                </a:r>
              </a:p>
              <a:p>
                <a:r>
                  <a:rPr lang="en-US" dirty="0"/>
                  <a:t>with any other word of the sentence, e.g. “Paris” (as one key word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𝑘</m:t>
                        </m:r>
                      </m:e>
                      <m:sub>
                        <m:r>
                          <a:rPr lang="en-US" i="1" dirty="0" smtClean="0">
                            <a:latin typeface="Cambria Math" panose="02040503050406030204" pitchFamily="18" charset="0"/>
                          </a:rPr>
                          <m:t>𝑗</m:t>
                        </m:r>
                      </m:sub>
                    </m:sSub>
                  </m:oMath>
                </a14:m>
                <a:r>
                  <a:rPr lang="en-US" dirty="0"/>
                  <a:t>),</a:t>
                </a:r>
              </a:p>
              <a:p>
                <a:r>
                  <a:rPr lang="en-US" dirty="0"/>
                  <a:t>we obtain a similarity score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𝑖</m:t>
                        </m:r>
                        <m:r>
                          <a:rPr lang="en-GB" b="0" i="1" dirty="0" smtClean="0">
                            <a:latin typeface="Cambria Math" panose="02040503050406030204" pitchFamily="18" charset="0"/>
                          </a:rPr>
                          <m:t>,</m:t>
                        </m:r>
                        <m:r>
                          <a:rPr lang="en-GB" b="0" i="1" dirty="0" smtClean="0">
                            <a:latin typeface="Cambria Math" panose="02040503050406030204" pitchFamily="18" charset="0"/>
                          </a:rPr>
                          <m:t>𝑗</m:t>
                        </m:r>
                      </m:sub>
                    </m:sSub>
                  </m:oMath>
                </a14:m>
                <a:r>
                  <a:rPr lang="en-US" dirty="0"/>
                  <a:t>, as in the dot-product/cosine angle formula from earlier.</a:t>
                </a:r>
              </a:p>
              <a:p>
                <a:r>
                  <a:rPr lang="en-US" dirty="0"/>
                  <a:t>Repeat for all pairs of query/key words.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𝑄</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𝑇</m:t>
                          </m:r>
                        </m:sup>
                      </m:sSup>
                    </m:oMath>
                  </m:oMathPara>
                </a14:m>
                <a:endParaRPr lang="en-GB" dirty="0"/>
              </a:p>
            </p:txBody>
          </p:sp>
        </mc:Choice>
        <mc:Fallback xmlns="">
          <p:sp>
            <p:nvSpPr>
              <p:cNvPr id="4" name="Content Placeholder 3">
                <a:extLst>
                  <a:ext uri="{FF2B5EF4-FFF2-40B4-BE49-F238E27FC236}">
                    <a16:creationId xmlns:a16="http://schemas.microsoft.com/office/drawing/2014/main" id="{C5ADFA7A-5730-4286-B60F-714DB9BCC84F}"/>
                  </a:ext>
                </a:extLst>
              </p:cNvPr>
              <p:cNvSpPr>
                <a:spLocks noGrp="1" noRot="1" noChangeAspect="1" noMove="1" noResize="1" noEditPoints="1" noAdjustHandles="1" noChangeArrowheads="1" noChangeShapeType="1" noTextEdit="1"/>
              </p:cNvSpPr>
              <p:nvPr>
                <p:ph sz="half" idx="2"/>
              </p:nvPr>
            </p:nvSpPr>
            <p:spPr>
              <a:xfrm>
                <a:off x="6172200" y="226646"/>
                <a:ext cx="5181600" cy="6557108"/>
              </a:xfrm>
              <a:blipFill>
                <a:blip r:embed="rId3"/>
                <a:stretch>
                  <a:fillRect l="-2471" t="-1487" r="-1765"/>
                </a:stretch>
              </a:blipFill>
            </p:spPr>
            <p:txBody>
              <a:bodyPr/>
              <a:lstStyle/>
              <a:p>
                <a:r>
                  <a:rPr lang="en-SG">
                    <a:noFill/>
                  </a:rPr>
                  <a:t> </a:t>
                </a:r>
              </a:p>
            </p:txBody>
          </p:sp>
        </mc:Fallback>
      </mc:AlternateContent>
    </p:spTree>
    <p:extLst>
      <p:ext uri="{BB962C8B-B14F-4D97-AF65-F5344CB8AC3E}">
        <p14:creationId xmlns:p14="http://schemas.microsoft.com/office/powerpoint/2010/main" val="3017934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a:off x="164127" y="4134337"/>
            <a:ext cx="2352426" cy="90658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77AFDBD-2F0D-44BC-ABF7-0A52D670E65C}"/>
              </a:ext>
            </a:extLst>
          </p:cNvPr>
          <p:cNvSpPr/>
          <p:nvPr/>
        </p:nvSpPr>
        <p:spPr>
          <a:xfrm flipH="1">
            <a:off x="5330091" y="3798277"/>
            <a:ext cx="2508739" cy="461107"/>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D3CEF07-79C4-4E44-8C04-D29A205736F8}"/>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8A0871D-32D2-425F-A4D4-60EFF7E642AC}"/>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A978312D-4D12-7A09-DB5E-482AFE9C1BCF}"/>
              </a:ext>
            </a:extLst>
          </p:cNvPr>
          <p:cNvSpPr/>
          <p:nvPr/>
        </p:nvSpPr>
        <p:spPr>
          <a:xfrm flipV="1">
            <a:off x="9347199" y="4783014"/>
            <a:ext cx="1164491" cy="90658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79512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3"/>
                </a:pPr>
                <a:r>
                  <a:rPr lang="en-US" dirty="0"/>
                  <a:t>Getting vectors </a:t>
                </a: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 </m:t>
                    </m:r>
                    <m:r>
                      <a:rPr lang="en-US" i="1" dirty="0" smtClean="0">
                        <a:latin typeface="Cambria Math" panose="02040503050406030204" pitchFamily="18" charset="0"/>
                      </a:rPr>
                      <m:t>𝐾</m:t>
                    </m:r>
                    <m:r>
                      <a:rPr lang="en-US" i="1" dirty="0" smtClean="0">
                        <a:latin typeface="Cambria Math" panose="02040503050406030204" pitchFamily="18" charset="0"/>
                      </a:rPr>
                      <m:t>, </m:t>
                    </m:r>
                    <m:r>
                      <a:rPr lang="en-US" i="1" dirty="0" smtClean="0">
                        <a:latin typeface="Cambria Math" panose="02040503050406030204" pitchFamily="18" charset="0"/>
                      </a:rPr>
                      <m:t>𝑄</m:t>
                    </m:r>
                  </m:oMath>
                </a14:m>
                <a:endParaRPr lang="en-US" dirty="0"/>
              </a:p>
              <a:p>
                <a:pPr marL="0" indent="0">
                  <a:buNone/>
                </a:pPr>
                <a14:m>
                  <m:oMath xmlns:m="http://schemas.openxmlformats.org/officeDocument/2006/math">
                    <m:r>
                      <a:rPr lang="en-US" i="1" dirty="0">
                        <a:latin typeface="Cambria Math" panose="02040503050406030204" pitchFamily="18" charset="0"/>
                      </a:rPr>
                      <m:t>𝑄</m:t>
                    </m:r>
                  </m:oMath>
                </a14:m>
                <a:r>
                  <a:rPr lang="en-US" dirty="0"/>
                  <a:t> is the query, i.e. the words I am currently looking at.</a:t>
                </a:r>
              </a:p>
              <a:p>
                <a:pPr marL="0" indent="0">
                  <a:buNone/>
                </a:pPr>
                <a14:m>
                  <m:oMath xmlns:m="http://schemas.openxmlformats.org/officeDocument/2006/math">
                    <m:r>
                      <a:rPr lang="en-US" i="1" dirty="0">
                        <a:latin typeface="Cambria Math" panose="02040503050406030204" pitchFamily="18" charset="0"/>
                      </a:rPr>
                      <m:t>𝑉</m:t>
                    </m:r>
                  </m:oMath>
                </a14:m>
                <a:r>
                  <a:rPr lang="en-US" dirty="0"/>
                  <a:t> and </a:t>
                </a:r>
                <a14:m>
                  <m:oMath xmlns:m="http://schemas.openxmlformats.org/officeDocument/2006/math">
                    <m:r>
                      <a:rPr lang="en-US" i="1" dirty="0">
                        <a:latin typeface="Cambria Math" panose="02040503050406030204" pitchFamily="18" charset="0"/>
                      </a:rPr>
                      <m:t>𝐾</m:t>
                    </m:r>
                  </m:oMath>
                </a14:m>
                <a:r>
                  <a:rPr lang="en-US" dirty="0"/>
                  <a:t> refer to values and keys.</a:t>
                </a:r>
              </a:p>
              <a:p>
                <a:pPr marL="0" indent="0">
                  <a:buNone/>
                </a:pPr>
                <a:endParaRPr lang="en-US" dirty="0"/>
              </a:p>
              <a:p>
                <a:pPr marL="0" indent="0">
                  <a:buNone/>
                </a:pPr>
                <a:r>
                  <a:rPr lang="en-US" dirty="0"/>
                  <a:t>For simplicity, we will assume that</a:t>
                </a:r>
              </a:p>
              <a:p>
                <a:pPr marL="0" indent="0" algn="ctr">
                  <a:buNone/>
                </a:pPr>
                <a14:m>
                  <m:oMath xmlns:m="http://schemas.openxmlformats.org/officeDocument/2006/math">
                    <m:r>
                      <a:rPr lang="en-US" i="1" dirty="0">
                        <a:latin typeface="Cambria Math" panose="02040503050406030204" pitchFamily="18" charset="0"/>
                      </a:rPr>
                      <m:t>𝑉</m:t>
                    </m:r>
                    <m:r>
                      <a:rPr lang="en-US" i="1" dirty="0">
                        <a:latin typeface="Cambria Math" panose="02040503050406030204" pitchFamily="18" charset="0"/>
                      </a:rPr>
                      <m:t> = </m:t>
                    </m:r>
                    <m:r>
                      <a:rPr lang="en-US" i="1" dirty="0">
                        <a:latin typeface="Cambria Math" panose="02040503050406030204" pitchFamily="18" charset="0"/>
                      </a:rPr>
                      <m:t>𝐾</m:t>
                    </m:r>
                    <m:r>
                      <a:rPr lang="en-US" i="1" dirty="0">
                        <a:latin typeface="Cambria Math" panose="02040503050406030204" pitchFamily="18" charset="0"/>
                      </a:rPr>
                      <m:t> = </m:t>
                    </m:r>
                    <m:r>
                      <a:rPr lang="en-US" i="1" dirty="0">
                        <a:latin typeface="Cambria Math" panose="02040503050406030204" pitchFamily="18" charset="0"/>
                      </a:rPr>
                      <m:t>𝑄</m:t>
                    </m:r>
                  </m:oMath>
                </a14:m>
                <a:r>
                  <a:rPr lang="en-GB" dirty="0"/>
                  <a:t> = </a:t>
                </a:r>
                <a14:m>
                  <m:oMath xmlns:m="http://schemas.openxmlformats.org/officeDocument/2006/math">
                    <m:r>
                      <a:rPr lang="en-GB" i="1" dirty="0">
                        <a:latin typeface="Cambria Math" panose="02040503050406030204" pitchFamily="18" charset="0"/>
                      </a:rPr>
                      <m:t>𝑤𝑜𝑟𝑑𝑠</m:t>
                    </m:r>
                    <m:r>
                      <a:rPr lang="en-GB" i="1" dirty="0">
                        <a:latin typeface="Cambria Math" panose="02040503050406030204" pitchFamily="18" charset="0"/>
                      </a:rPr>
                      <m:t> </m:t>
                    </m:r>
                    <m:r>
                      <a:rPr lang="en-GB" i="1" dirty="0">
                        <a:latin typeface="Cambria Math" panose="02040503050406030204" pitchFamily="18" charset="0"/>
                      </a:rPr>
                      <m:t>𝑖𝑛</m:t>
                    </m:r>
                    <m:r>
                      <a:rPr lang="en-GB" i="1" dirty="0">
                        <a:latin typeface="Cambria Math" panose="02040503050406030204" pitchFamily="18" charset="0"/>
                      </a:rPr>
                      <m:t> </m:t>
                    </m:r>
                    <m:r>
                      <a:rPr lang="en-GB" b="0" i="1" dirty="0" smtClean="0">
                        <a:latin typeface="Cambria Math" panose="02040503050406030204" pitchFamily="18" charset="0"/>
                      </a:rPr>
                      <m:t>𝑠𝑒𝑞</m:t>
                    </m:r>
                    <m:r>
                      <a:rPr lang="en-GB" i="1" dirty="0">
                        <a:latin typeface="Cambria Math" panose="02040503050406030204" pitchFamily="18" charset="0"/>
                      </a:rPr>
                      <m:t>.</m:t>
                    </m:r>
                  </m:oMath>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05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5ADFA7A-5730-4286-B60F-714DB9BCC84F}"/>
                  </a:ext>
                </a:extLst>
              </p:cNvPr>
              <p:cNvSpPr>
                <a:spLocks noGrp="1"/>
              </p:cNvSpPr>
              <p:nvPr>
                <p:ph sz="half" idx="2"/>
              </p:nvPr>
            </p:nvSpPr>
            <p:spPr>
              <a:xfrm>
                <a:off x="6172200" y="1016000"/>
                <a:ext cx="5181600" cy="5767754"/>
              </a:xfrm>
            </p:spPr>
            <p:txBody>
              <a:bodyPr>
                <a:normAutofit/>
              </a:bodyPr>
              <a:lstStyle/>
              <a:p>
                <a:pPr marL="0" indent="0">
                  <a:buNone/>
                </a:pPr>
                <a:r>
                  <a:rPr lang="en-US" dirty="0"/>
                  <a:t>Applying a </a:t>
                </a:r>
                <a:r>
                  <a:rPr lang="en-US" dirty="0" err="1"/>
                  <a:t>softmax</a:t>
                </a:r>
                <a:r>
                  <a:rPr lang="en-US" dirty="0"/>
                  <a:t> gives you a distribution over these similarities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𝑄</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𝑇</m:t>
                          </m:r>
                        </m:sup>
                      </m:sSup>
                    </m:oMath>
                  </m:oMathPara>
                </a14:m>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𝑠𝑜𝑓𝑡𝑚𝑎𝑥</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oMath>
                  </m:oMathPara>
                </a14:m>
                <a:endParaRPr lang="en-GB" dirty="0"/>
              </a:p>
              <a:p>
                <a:pPr marL="0" indent="0">
                  <a:buNone/>
                </a:pPr>
                <a:endParaRPr lang="en-GB" dirty="0"/>
              </a:p>
              <a:p>
                <a:pPr marL="0" indent="0">
                  <a:buNone/>
                </a:pPr>
                <a:r>
                  <a:rPr lang="en-GB" dirty="0"/>
                  <a:t>In general, we also like to normalize the </a:t>
                </a:r>
                <a14:m>
                  <m:oMath xmlns:m="http://schemas.openxmlformats.org/officeDocument/2006/math">
                    <m:r>
                      <a:rPr lang="en-US" i="1">
                        <a:latin typeface="Cambria Math" panose="02040503050406030204" pitchFamily="18" charset="0"/>
                      </a:rPr>
                      <m:t>𝑄</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𝑇</m:t>
                        </m:r>
                      </m:sup>
                    </m:sSup>
                  </m:oMath>
                </a14:m>
                <a:r>
                  <a:rPr lang="en-GB" dirty="0"/>
                  <a:t> multiplication, as in the cosine angle.</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𝑄</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𝑇</m:t>
                              </m:r>
                            </m:sup>
                          </m:sSup>
                        </m:num>
                        <m:den>
                          <m:r>
                            <a:rPr lang="en-US" b="0" i="1" smtClean="0">
                              <a:latin typeface="Cambria Math" panose="02040503050406030204" pitchFamily="18" charset="0"/>
                            </a:rPr>
                            <m:t>𝑑</m:t>
                          </m:r>
                        </m:den>
                      </m:f>
                    </m:oMath>
                  </m:oMathPara>
                </a14:m>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𝑠𝑜𝑓𝑡𝑚𝑎𝑥</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oMath>
                  </m:oMathPara>
                </a14:m>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C5ADFA7A-5730-4286-B60F-714DB9BCC84F}"/>
                  </a:ext>
                </a:extLst>
              </p:cNvPr>
              <p:cNvSpPr>
                <a:spLocks noGrp="1" noRot="1" noChangeAspect="1" noMove="1" noResize="1" noEditPoints="1" noAdjustHandles="1" noChangeArrowheads="1" noChangeShapeType="1" noTextEdit="1"/>
              </p:cNvSpPr>
              <p:nvPr>
                <p:ph sz="half" idx="2"/>
              </p:nvPr>
            </p:nvSpPr>
            <p:spPr>
              <a:xfrm>
                <a:off x="6172200" y="1016000"/>
                <a:ext cx="5181600" cy="5767754"/>
              </a:xfrm>
              <a:blipFill>
                <a:blip r:embed="rId3"/>
                <a:stretch>
                  <a:fillRect l="-2471" t="-1797" r="-2471"/>
                </a:stretch>
              </a:blipFill>
            </p:spPr>
            <p:txBody>
              <a:bodyPr/>
              <a:lstStyle/>
              <a:p>
                <a:r>
                  <a:rPr lang="en-GB">
                    <a:noFill/>
                  </a:rPr>
                  <a:t> </a:t>
                </a:r>
              </a:p>
            </p:txBody>
          </p:sp>
        </mc:Fallback>
      </mc:AlternateContent>
    </p:spTree>
    <p:extLst>
      <p:ext uri="{BB962C8B-B14F-4D97-AF65-F5344CB8AC3E}">
        <p14:creationId xmlns:p14="http://schemas.microsoft.com/office/powerpoint/2010/main" val="9461762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idx="1"/>
              </p:nvPr>
            </p:nvSpPr>
            <p:spPr>
              <a:xfrm>
                <a:off x="838200" y="1825624"/>
                <a:ext cx="10515600" cy="5032375"/>
              </a:xfrm>
            </p:spPr>
            <p:txBody>
              <a:bodyPr>
                <a:normAutofit lnSpcReduction="10000"/>
              </a:bodyPr>
              <a:lstStyle/>
              <a:p>
                <a:pPr marL="0" indent="0">
                  <a:buNone/>
                </a:pPr>
                <a:r>
                  <a:rPr lang="en-US" dirty="0"/>
                  <a:t>Basically, we obtained a matrix </a:t>
                </a:r>
                <a14:m>
                  <m:oMath xmlns:m="http://schemas.openxmlformats.org/officeDocument/2006/math">
                    <m:r>
                      <a:rPr lang="en-GB" b="0" i="1" dirty="0" smtClean="0">
                        <a:latin typeface="Cambria Math" panose="02040503050406030204" pitchFamily="18" charset="0"/>
                      </a:rPr>
                      <m:t>𝐴</m:t>
                    </m:r>
                    <m:r>
                      <a:rPr lang="en-GB" b="0" i="1" dirty="0" smtClean="0">
                        <a:latin typeface="Cambria Math" panose="02040503050406030204" pitchFamily="18" charset="0"/>
                      </a:rPr>
                      <m:t> </m:t>
                    </m:r>
                  </m:oMath>
                </a14:m>
                <a:r>
                  <a:rPr lang="en-US" dirty="0"/>
                  <a:t>(or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here) that contains coefficients </a:t>
                </a:r>
                <a14:m>
                  <m:oMath xmlns:m="http://schemas.openxmlformats.org/officeDocument/2006/math">
                    <m:sSub>
                      <m:sSubPr>
                        <m:ctrlPr>
                          <a:rPr lang="en-GB"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𝑗</m:t>
                        </m:r>
                        <m:r>
                          <m:rPr>
                            <m:nor/>
                          </m:rPr>
                          <a:rPr lang="en-GB" dirty="0"/>
                          <m:t> </m:t>
                        </m:r>
                      </m:sub>
                    </m:sSub>
                    <m:r>
                      <a:rPr lang="en-GB" b="0" i="1" dirty="0" smtClean="0">
                        <a:latin typeface="Cambria Math" panose="02040503050406030204" pitchFamily="18" charset="0"/>
                      </a:rPr>
                      <m:t>∈[0,1]</m:t>
                    </m:r>
                  </m:oMath>
                </a14:m>
                <a:r>
                  <a:rPr lang="en-GB" dirty="0"/>
                  <a:t>, telling the proportion of the meaning of word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𝑣</m:t>
                        </m:r>
                      </m:e>
                      <m:sub>
                        <m:r>
                          <a:rPr lang="en-GB" b="0" i="1" dirty="0" smtClean="0">
                            <a:latin typeface="Cambria Math" panose="02040503050406030204" pitchFamily="18" charset="0"/>
                          </a:rPr>
                          <m:t>𝑗</m:t>
                        </m:r>
                      </m:sub>
                    </m:sSub>
                  </m:oMath>
                </a14:m>
                <a:r>
                  <a:rPr lang="en-GB" dirty="0"/>
                  <a:t> that needs to be transferred to word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𝑣</m:t>
                        </m:r>
                      </m:e>
                      <m:sub>
                        <m:r>
                          <a:rPr lang="en-GB" i="1" dirty="0" smtClean="0">
                            <a:latin typeface="Cambria Math" panose="02040503050406030204" pitchFamily="18" charset="0"/>
                          </a:rPr>
                          <m:t>𝑖</m:t>
                        </m:r>
                      </m:sub>
                    </m:sSub>
                  </m:oMath>
                </a14:m>
                <a:r>
                  <a:rPr lang="en-GB" dirty="0"/>
                  <a:t> to produce a more relevant embedding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r>
                  <a:rPr lang="en-GB" dirty="0"/>
                  <a:t>.</a:t>
                </a:r>
              </a:p>
              <a:p>
                <a:pPr marL="0" indent="0">
                  <a:buNone/>
                </a:pPr>
                <a:r>
                  <a:rPr lang="en-GB" b="1" dirty="0"/>
                  <a:t>Intuitively, it consists of all dot products between all pairs of vectors, normalized, somewhat similar to the cosine angle from earlier?</a:t>
                </a:r>
              </a:p>
              <a:p>
                <a:r>
                  <a:rPr lang="en-GB" b="1" dirty="0"/>
                  <a:t>Before attention layer: </a:t>
                </a:r>
                <a:r>
                  <a:rPr lang="en-GB" dirty="0"/>
                  <a:t>embeddings for word </a:t>
                </a:r>
                <a14:m>
                  <m:oMath xmlns:m="http://schemas.openxmlformats.org/officeDocument/2006/math">
                    <m:r>
                      <a:rPr lang="en-GB" b="0" i="1" dirty="0" smtClean="0">
                        <a:latin typeface="Cambria Math" panose="02040503050406030204" pitchFamily="18" charset="0"/>
                      </a:rPr>
                      <m:t>𝑖</m:t>
                    </m:r>
                  </m:oMath>
                </a14:m>
                <a:r>
                  <a:rPr lang="en-GB" dirty="0"/>
                  <a:t> is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𝑖</m:t>
                        </m:r>
                      </m:sub>
                    </m:sSub>
                  </m:oMath>
                </a14:m>
                <a:endParaRPr lang="en-GB" dirty="0"/>
              </a:p>
              <a:p>
                <a:r>
                  <a:rPr lang="en-GB" b="1" dirty="0"/>
                  <a:t>After attention layer: </a:t>
                </a:r>
                <a:r>
                  <a:rPr lang="en-GB" dirty="0"/>
                  <a:t>new updated embeddings for word </a:t>
                </a:r>
                <a14:m>
                  <m:oMath xmlns:m="http://schemas.openxmlformats.org/officeDocument/2006/math">
                    <m:r>
                      <a:rPr lang="en-GB" i="1" dirty="0">
                        <a:latin typeface="Cambria Math" panose="02040503050406030204" pitchFamily="18" charset="0"/>
                      </a:rPr>
                      <m:t>𝑖</m:t>
                    </m:r>
                  </m:oMath>
                </a14:m>
                <a:r>
                  <a:rPr lang="en-GB" dirty="0"/>
                  <a:t> is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endParaRPr lang="en-GB" dirty="0"/>
              </a:p>
              <a:p>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𝑣</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a:rPr lang="en-GB" b="0" i="1" smtClean="0">
                              <a:latin typeface="Cambria Math" panose="02040503050406030204" pitchFamily="18" charset="0"/>
                            </a:rPr>
                            <m:t>𝑗</m:t>
                          </m: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𝑗</m:t>
                              </m:r>
                            </m:sub>
                          </m:sSub>
                        </m:e>
                      </m:nary>
                    </m:oMath>
                  </m:oMathPara>
                </a14:m>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2663" r="-580"/>
                </a:stretch>
              </a:blipFill>
            </p:spPr>
            <p:txBody>
              <a:bodyPr/>
              <a:lstStyle/>
              <a:p>
                <a:r>
                  <a:rPr lang="en-GB">
                    <a:noFill/>
                  </a:rPr>
                  <a:t> </a:t>
                </a:r>
              </a:p>
            </p:txBody>
          </p:sp>
        </mc:Fallback>
      </mc:AlternateContent>
    </p:spTree>
    <p:extLst>
      <p:ext uri="{BB962C8B-B14F-4D97-AF65-F5344CB8AC3E}">
        <p14:creationId xmlns:p14="http://schemas.microsoft.com/office/powerpoint/2010/main" val="2536887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B7569F52-AA2D-D39A-D818-2566E1B44093}"/>
              </a:ext>
            </a:extLst>
          </p:cNvPr>
          <p:cNvPicPr>
            <a:picLocks noChangeAspect="1"/>
          </p:cNvPicPr>
          <p:nvPr/>
        </p:nvPicPr>
        <p:blipFill>
          <a:blip r:embed="rId2"/>
          <a:stretch>
            <a:fillRect/>
          </a:stretch>
        </p:blipFill>
        <p:spPr>
          <a:xfrm>
            <a:off x="2689052" y="231767"/>
            <a:ext cx="6813895" cy="6394465"/>
          </a:xfrm>
          <a:prstGeom prst="rect">
            <a:avLst/>
          </a:prstGeom>
        </p:spPr>
      </p:pic>
    </p:spTree>
    <p:extLst>
      <p:ext uri="{BB962C8B-B14F-4D97-AF65-F5344CB8AC3E}">
        <p14:creationId xmlns:p14="http://schemas.microsoft.com/office/powerpoint/2010/main" val="919083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3"/>
                </a:pPr>
                <a:r>
                  <a:rPr lang="en-US" dirty="0"/>
                  <a:t>Getting vectors </a:t>
                </a: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 </m:t>
                    </m:r>
                    <m:r>
                      <a:rPr lang="en-US" i="1" dirty="0" smtClean="0">
                        <a:latin typeface="Cambria Math" panose="02040503050406030204" pitchFamily="18" charset="0"/>
                      </a:rPr>
                      <m:t>𝐾</m:t>
                    </m:r>
                    <m:r>
                      <a:rPr lang="en-US" i="1" dirty="0" smtClean="0">
                        <a:latin typeface="Cambria Math" panose="02040503050406030204" pitchFamily="18" charset="0"/>
                      </a:rPr>
                      <m:t>, </m:t>
                    </m:r>
                    <m:r>
                      <a:rPr lang="en-US" i="1" dirty="0" smtClean="0">
                        <a:latin typeface="Cambria Math" panose="02040503050406030204" pitchFamily="18" charset="0"/>
                      </a:rPr>
                      <m:t>𝑄</m:t>
                    </m:r>
                  </m:oMath>
                </a14:m>
                <a:endParaRPr lang="en-US" dirty="0"/>
              </a:p>
              <a:p>
                <a:pPr marL="0" indent="0">
                  <a:buNone/>
                </a:pPr>
                <a14:m>
                  <m:oMath xmlns:m="http://schemas.openxmlformats.org/officeDocument/2006/math">
                    <m:r>
                      <a:rPr lang="en-US" i="1" dirty="0" smtClean="0">
                        <a:latin typeface="Cambria Math" panose="02040503050406030204" pitchFamily="18" charset="0"/>
                      </a:rPr>
                      <m:t>𝑄</m:t>
                    </m:r>
                  </m:oMath>
                </a14:m>
                <a:r>
                  <a:rPr lang="en-US" dirty="0"/>
                  <a:t> is the query, i.e. the word I am currently looking at.</a:t>
                </a:r>
              </a:p>
              <a:p>
                <a:pPr marL="0" indent="0">
                  <a:buNone/>
                </a:pPr>
                <a14:m>
                  <m:oMath xmlns:m="http://schemas.openxmlformats.org/officeDocument/2006/math">
                    <m:r>
                      <a:rPr lang="en-US" i="1" dirty="0" smtClean="0">
                        <a:latin typeface="Cambria Math" panose="02040503050406030204" pitchFamily="18" charset="0"/>
                      </a:rPr>
                      <m:t>𝑉</m:t>
                    </m:r>
                  </m:oMath>
                </a14:m>
                <a:r>
                  <a:rPr lang="en-US" dirty="0"/>
                  <a:t> and </a:t>
                </a:r>
                <a14:m>
                  <m:oMath xmlns:m="http://schemas.openxmlformats.org/officeDocument/2006/math">
                    <m:r>
                      <a:rPr lang="en-US" i="1" dirty="0" smtClean="0">
                        <a:latin typeface="Cambria Math" panose="02040503050406030204" pitchFamily="18" charset="0"/>
                      </a:rPr>
                      <m:t>𝐾</m:t>
                    </m:r>
                  </m:oMath>
                </a14:m>
                <a:r>
                  <a:rPr lang="en-US" dirty="0"/>
                  <a:t> refer to values and keys, and for simplicity will first consist of all the words you have in your sentence.</a:t>
                </a: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sz="half" idx="1"/>
              </p:nvPr>
            </p:nvSpPr>
            <p:spPr>
              <a:blipFill>
                <a:blip r:embed="rId2"/>
                <a:stretch>
                  <a:fillRect l="-2471" t="-2241" b="-308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5ADFA7A-5730-4286-B60F-714DB9BCC84F}"/>
                  </a:ext>
                </a:extLst>
              </p:cNvPr>
              <p:cNvSpPr>
                <a:spLocks noGrp="1"/>
              </p:cNvSpPr>
              <p:nvPr>
                <p:ph sz="half" idx="2"/>
              </p:nvPr>
            </p:nvSpPr>
            <p:spPr>
              <a:xfrm>
                <a:off x="6172200" y="1825624"/>
                <a:ext cx="5181600" cy="4958129"/>
              </a:xfrm>
            </p:spPr>
            <p:txBody>
              <a:bodyPr/>
              <a:lstStyle/>
              <a:p>
                <a:pPr marL="0" indent="0">
                  <a:buNone/>
                </a:pPr>
                <a:r>
                  <a:rPr lang="en-US" dirty="0"/>
                  <a:t>Multiply this vector of distribution with the words in </a:t>
                </a:r>
                <a14:m>
                  <m:oMath xmlns:m="http://schemas.openxmlformats.org/officeDocument/2006/math">
                    <m:r>
                      <a:rPr lang="en-US" i="1" dirty="0" smtClean="0">
                        <a:latin typeface="Cambria Math" panose="02040503050406030204" pitchFamily="18" charset="0"/>
                      </a:rPr>
                      <m:t>𝑉</m:t>
                    </m:r>
                  </m:oMath>
                </a14:m>
                <a:r>
                  <a:rPr lang="en-US" dirty="0"/>
                  <a:t>, and you obtain a matrix of attention </a:t>
                </a:r>
                <a14:m>
                  <m:oMath xmlns:m="http://schemas.openxmlformats.org/officeDocument/2006/math">
                    <m:sSup>
                      <m:sSupPr>
                        <m:ctrlPr>
                          <a:rPr lang="en-GB" b="0" i="1" dirty="0" smtClean="0">
                            <a:latin typeface="Cambria Math" panose="02040503050406030204" pitchFamily="18" charset="0"/>
                          </a:rPr>
                        </m:ctrlPr>
                      </m:sSupPr>
                      <m:e>
                        <m:r>
                          <a:rPr lang="en-US" i="1" dirty="0" smtClean="0">
                            <a:latin typeface="Cambria Math" panose="02040503050406030204" pitchFamily="18" charset="0"/>
                          </a:rPr>
                          <m:t>𝑉</m:t>
                        </m:r>
                      </m:e>
                      <m:sup>
                        <m:r>
                          <a:rPr lang="en-GB" b="0" i="1" dirty="0" smtClean="0">
                            <a:latin typeface="Cambria Math" panose="02040503050406030204" pitchFamily="18" charset="0"/>
                          </a:rPr>
                          <m:t>′</m:t>
                        </m:r>
                      </m:sup>
                    </m:sSup>
                  </m:oMath>
                </a14:m>
                <a:r>
                  <a:rPr lang="en-US" dirty="0"/>
                  <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𝑉</m:t>
                      </m:r>
                      <m:r>
                        <a:rPr lang="en-GB" b="0" i="1" smtClean="0">
                          <a:latin typeface="Cambria Math" panose="02040503050406030204" pitchFamily="18" charset="0"/>
                        </a:rPr>
                        <m:t>′=</m:t>
                      </m:r>
                      <m:r>
                        <a:rPr lang="en-US" b="0" i="1" smtClean="0">
                          <a:latin typeface="Cambria Math" panose="02040503050406030204" pitchFamily="18" charset="0"/>
                        </a:rPr>
                        <m:t>𝑠𝑜𝑓𝑡𝑚𝑎𝑥</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𝑄</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𝑇</m:t>
                                  </m:r>
                                </m:sup>
                              </m:sSup>
                            </m:num>
                            <m:den>
                              <m:r>
                                <a:rPr lang="en-US" b="0" i="1" smtClean="0">
                                  <a:latin typeface="Cambria Math" panose="02040503050406030204" pitchFamily="18" charset="0"/>
                                </a:rPr>
                                <m:t>𝑑</m:t>
                              </m:r>
                            </m:den>
                          </m:f>
                        </m:e>
                      </m:d>
                      <m:r>
                        <a:rPr lang="en-US" b="0" i="1" smtClean="0">
                          <a:latin typeface="Cambria Math" panose="02040503050406030204" pitchFamily="18" charset="0"/>
                        </a:rPr>
                        <m:t>𝑉</m:t>
                      </m:r>
                    </m:oMath>
                  </m:oMathPara>
                </a14:m>
                <a:endParaRPr lang="en-GB" dirty="0"/>
              </a:p>
              <a:p>
                <a:pPr marL="0" indent="0">
                  <a:buNone/>
                </a:pPr>
                <a:endParaRPr lang="en-GB" dirty="0"/>
              </a:p>
              <a:p>
                <a:pPr marL="0" indent="0">
                  <a:buNone/>
                </a:pPr>
                <a:r>
                  <a:rPr lang="en-GB" dirty="0"/>
                  <a:t>This matrix </a:t>
                </a:r>
                <a14:m>
                  <m:oMath xmlns:m="http://schemas.openxmlformats.org/officeDocument/2006/math">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𝑉</m:t>
                        </m:r>
                      </m:e>
                      <m:sup>
                        <m:r>
                          <a:rPr lang="en-GB" b="0" i="1" dirty="0" smtClean="0">
                            <a:latin typeface="Cambria Math" panose="02040503050406030204" pitchFamily="18" charset="0"/>
                          </a:rPr>
                          <m:t>′</m:t>
                        </m:r>
                      </m:sup>
                    </m:sSup>
                  </m:oMath>
                </a14:m>
                <a:r>
                  <a:rPr lang="en-US" dirty="0"/>
                  <a:t> is an updated version of </a:t>
                </a:r>
                <a14:m>
                  <m:oMath xmlns:m="http://schemas.openxmlformats.org/officeDocument/2006/math">
                    <m:r>
                      <a:rPr lang="en-US" i="1" dirty="0" smtClean="0">
                        <a:latin typeface="Cambria Math" panose="02040503050406030204" pitchFamily="18" charset="0"/>
                      </a:rPr>
                      <m:t>𝑉</m:t>
                    </m:r>
                  </m:oMath>
                </a14:m>
                <a:r>
                  <a:rPr lang="en-US" dirty="0"/>
                  <a:t>, which encapsulates the inter-dependencies between the words of your sentence.</a:t>
                </a:r>
              </a:p>
              <a:p>
                <a:pPr marL="0" indent="0">
                  <a:buNone/>
                </a:pPr>
                <a:endParaRPr lang="en-GB" dirty="0"/>
              </a:p>
              <a:p>
                <a:pPr marL="0" indent="0">
                  <a:buNone/>
                </a:pP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C5ADFA7A-5730-4286-B60F-714DB9BCC84F}"/>
                  </a:ext>
                </a:extLst>
              </p:cNvPr>
              <p:cNvSpPr>
                <a:spLocks noGrp="1" noRot="1" noChangeAspect="1" noMove="1" noResize="1" noEditPoints="1" noAdjustHandles="1" noChangeArrowheads="1" noChangeShapeType="1" noTextEdit="1"/>
              </p:cNvSpPr>
              <p:nvPr>
                <p:ph sz="half" idx="2"/>
              </p:nvPr>
            </p:nvSpPr>
            <p:spPr>
              <a:xfrm>
                <a:off x="6172200" y="1825624"/>
                <a:ext cx="5181600" cy="4958129"/>
              </a:xfrm>
              <a:blipFill>
                <a:blip r:embed="rId3"/>
                <a:stretch>
                  <a:fillRect l="-2471" t="-1966" r="-2706" b="-246"/>
                </a:stretch>
              </a:blipFill>
            </p:spPr>
            <p:txBody>
              <a:bodyPr/>
              <a:lstStyle/>
              <a:p>
                <a:r>
                  <a:rPr lang="en-GB">
                    <a:noFill/>
                  </a:rPr>
                  <a:t> </a:t>
                </a:r>
              </a:p>
            </p:txBody>
          </p:sp>
        </mc:Fallback>
      </mc:AlternateContent>
    </p:spTree>
    <p:extLst>
      <p:ext uri="{BB962C8B-B14F-4D97-AF65-F5344CB8AC3E}">
        <p14:creationId xmlns:p14="http://schemas.microsoft.com/office/powerpoint/2010/main" val="2716754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6271B3-6DC7-4F33-BD44-119FE336D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5" y="280987"/>
            <a:ext cx="11906250" cy="6296025"/>
          </a:xfrm>
          <a:prstGeom prst="rect">
            <a:avLst/>
          </a:prstGeom>
        </p:spPr>
      </p:pic>
    </p:spTree>
    <p:extLst>
      <p:ext uri="{BB962C8B-B14F-4D97-AF65-F5344CB8AC3E}">
        <p14:creationId xmlns:p14="http://schemas.microsoft.com/office/powerpoint/2010/main" val="14130168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3"/>
                </a:pPr>
                <a:r>
                  <a:rPr lang="en-US" dirty="0"/>
                  <a:t>Getting vectors </a:t>
                </a: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 </m:t>
                    </m:r>
                    <m:r>
                      <a:rPr lang="en-US" i="1" dirty="0" smtClean="0">
                        <a:latin typeface="Cambria Math" panose="02040503050406030204" pitchFamily="18" charset="0"/>
                      </a:rPr>
                      <m:t>𝐾</m:t>
                    </m:r>
                    <m:r>
                      <a:rPr lang="en-US" i="1" dirty="0" smtClean="0">
                        <a:latin typeface="Cambria Math" panose="02040503050406030204" pitchFamily="18" charset="0"/>
                      </a:rPr>
                      <m:t>, </m:t>
                    </m:r>
                    <m:r>
                      <a:rPr lang="en-US" i="1" dirty="0" smtClean="0">
                        <a:latin typeface="Cambria Math" panose="02040503050406030204" pitchFamily="18" charset="0"/>
                      </a:rPr>
                      <m:t>𝑄</m:t>
                    </m:r>
                  </m:oMath>
                </a14:m>
                <a:endParaRPr lang="en-US" dirty="0"/>
              </a:p>
              <a:p>
                <a:pPr marL="0" indent="0">
                  <a:buNone/>
                </a:pPr>
                <a14:m>
                  <m:oMath xmlns:m="http://schemas.openxmlformats.org/officeDocument/2006/math">
                    <m:r>
                      <a:rPr lang="en-US" i="1" dirty="0">
                        <a:latin typeface="Cambria Math" panose="02040503050406030204" pitchFamily="18" charset="0"/>
                      </a:rPr>
                      <m:t>𝑄</m:t>
                    </m:r>
                  </m:oMath>
                </a14:m>
                <a:r>
                  <a:rPr lang="en-US" dirty="0"/>
                  <a:t> is the query, i.e. the words I am currently looking at.</a:t>
                </a:r>
              </a:p>
              <a:p>
                <a:pPr marL="0" indent="0">
                  <a:buNone/>
                </a:pPr>
                <a14:m>
                  <m:oMath xmlns:m="http://schemas.openxmlformats.org/officeDocument/2006/math">
                    <m:r>
                      <a:rPr lang="en-US" i="1" dirty="0">
                        <a:latin typeface="Cambria Math" panose="02040503050406030204" pitchFamily="18" charset="0"/>
                      </a:rPr>
                      <m:t>𝑉</m:t>
                    </m:r>
                  </m:oMath>
                </a14:m>
                <a:r>
                  <a:rPr lang="en-US" dirty="0"/>
                  <a:t> and </a:t>
                </a:r>
                <a14:m>
                  <m:oMath xmlns:m="http://schemas.openxmlformats.org/officeDocument/2006/math">
                    <m:r>
                      <a:rPr lang="en-US" i="1" dirty="0">
                        <a:latin typeface="Cambria Math" panose="02040503050406030204" pitchFamily="18" charset="0"/>
                      </a:rPr>
                      <m:t>𝐾</m:t>
                    </m:r>
                  </m:oMath>
                </a14:m>
                <a:r>
                  <a:rPr lang="en-US" dirty="0"/>
                  <a:t> refer to values and keys.</a:t>
                </a:r>
              </a:p>
              <a:p>
                <a:pPr marL="0" indent="0">
                  <a:buNone/>
                </a:pPr>
                <a:endParaRPr lang="en-US" dirty="0"/>
              </a:p>
              <a:p>
                <a:pPr marL="0" indent="0">
                  <a:buNone/>
                </a:pPr>
                <a:r>
                  <a:rPr lang="en-US" dirty="0"/>
                  <a:t>For simplicity, we will assume that</a:t>
                </a:r>
              </a:p>
              <a:p>
                <a:pPr marL="0" indent="0" algn="ctr">
                  <a:buNone/>
                </a:pPr>
                <a14:m>
                  <m:oMath xmlns:m="http://schemas.openxmlformats.org/officeDocument/2006/math">
                    <m:r>
                      <a:rPr lang="en-US" i="1" dirty="0">
                        <a:latin typeface="Cambria Math" panose="02040503050406030204" pitchFamily="18" charset="0"/>
                      </a:rPr>
                      <m:t>𝑉</m:t>
                    </m:r>
                    <m:r>
                      <a:rPr lang="en-US" i="1" dirty="0">
                        <a:latin typeface="Cambria Math" panose="02040503050406030204" pitchFamily="18" charset="0"/>
                      </a:rPr>
                      <m:t> = </m:t>
                    </m:r>
                    <m:r>
                      <a:rPr lang="en-US" i="1" dirty="0">
                        <a:latin typeface="Cambria Math" panose="02040503050406030204" pitchFamily="18" charset="0"/>
                      </a:rPr>
                      <m:t>𝐾</m:t>
                    </m:r>
                    <m:r>
                      <a:rPr lang="en-US" i="1" dirty="0">
                        <a:latin typeface="Cambria Math" panose="02040503050406030204" pitchFamily="18" charset="0"/>
                      </a:rPr>
                      <m:t> = </m:t>
                    </m:r>
                    <m:r>
                      <a:rPr lang="en-US" i="1" dirty="0">
                        <a:latin typeface="Cambria Math" panose="02040503050406030204" pitchFamily="18" charset="0"/>
                      </a:rPr>
                      <m:t>𝑄</m:t>
                    </m:r>
                  </m:oMath>
                </a14:m>
                <a:r>
                  <a:rPr lang="en-GB" dirty="0"/>
                  <a:t> = </a:t>
                </a:r>
                <a14:m>
                  <m:oMath xmlns:m="http://schemas.openxmlformats.org/officeDocument/2006/math">
                    <m:r>
                      <a:rPr lang="en-GB" i="1" dirty="0">
                        <a:latin typeface="Cambria Math" panose="02040503050406030204" pitchFamily="18" charset="0"/>
                      </a:rPr>
                      <m:t>𝑤𝑜𝑟𝑑𝑠</m:t>
                    </m:r>
                    <m:r>
                      <a:rPr lang="en-GB" i="1" dirty="0">
                        <a:latin typeface="Cambria Math" panose="02040503050406030204" pitchFamily="18" charset="0"/>
                      </a:rPr>
                      <m:t> </m:t>
                    </m:r>
                    <m:r>
                      <a:rPr lang="en-GB" i="1" dirty="0">
                        <a:latin typeface="Cambria Math" panose="02040503050406030204" pitchFamily="18" charset="0"/>
                      </a:rPr>
                      <m:t>𝑖𝑛</m:t>
                    </m:r>
                    <m:r>
                      <a:rPr lang="en-GB" i="1" dirty="0">
                        <a:latin typeface="Cambria Math" panose="02040503050406030204" pitchFamily="18" charset="0"/>
                      </a:rPr>
                      <m:t> </m:t>
                    </m:r>
                    <m:r>
                      <a:rPr lang="en-GB" b="0" i="1" dirty="0" smtClean="0">
                        <a:latin typeface="Cambria Math" panose="02040503050406030204" pitchFamily="18" charset="0"/>
                      </a:rPr>
                      <m:t>𝑠𝑒𝑞</m:t>
                    </m:r>
                    <m:r>
                      <a:rPr lang="en-GB" i="1" dirty="0">
                        <a:latin typeface="Cambria Math" panose="02040503050406030204" pitchFamily="18" charset="0"/>
                      </a:rPr>
                      <m:t>.</m:t>
                    </m:r>
                  </m:oMath>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059"/>
                </a:stretch>
              </a:blipFill>
            </p:spPr>
            <p:txBody>
              <a:bodyPr/>
              <a:lstStyle/>
              <a:p>
                <a:r>
                  <a:rPr lang="en-GB">
                    <a:noFill/>
                  </a:rPr>
                  <a:t> </a:t>
                </a:r>
              </a:p>
            </p:txBody>
          </p:sp>
        </mc:Fallback>
      </mc:AlternateContent>
      <p:sp>
        <p:nvSpPr>
          <p:cNvPr id="4" name="Content Placeholder 3">
            <a:extLst>
              <a:ext uri="{FF2B5EF4-FFF2-40B4-BE49-F238E27FC236}">
                <a16:creationId xmlns:a16="http://schemas.microsoft.com/office/drawing/2014/main" id="{C5ADFA7A-5730-4286-B60F-714DB9BCC84F}"/>
              </a:ext>
            </a:extLst>
          </p:cNvPr>
          <p:cNvSpPr>
            <a:spLocks noGrp="1"/>
          </p:cNvSpPr>
          <p:nvPr>
            <p:ph sz="half" idx="2"/>
          </p:nvPr>
        </p:nvSpPr>
        <p:spPr>
          <a:xfrm>
            <a:off x="6172200" y="1825624"/>
            <a:ext cx="5181600" cy="4958129"/>
          </a:xfrm>
        </p:spPr>
        <p:txBody>
          <a:bodyPr>
            <a:normAutofit/>
          </a:bodyPr>
          <a:lstStyle/>
          <a:p>
            <a:pPr marL="0" indent="0">
              <a:buNone/>
            </a:pPr>
            <a:r>
              <a:rPr lang="en-US" dirty="0"/>
              <a:t>This calculation is often referred to as </a:t>
            </a:r>
            <a:r>
              <a:rPr lang="en-US" b="1" dirty="0"/>
              <a:t>self-attention</a:t>
            </a:r>
            <a:r>
              <a:rPr lang="en-US" dirty="0"/>
              <a:t>, as it gives inter-dependencies between the words of a single sentence.</a:t>
            </a:r>
          </a:p>
          <a:p>
            <a:pPr marL="0" indent="0">
              <a:buNone/>
            </a:pPr>
            <a:endParaRPr lang="en-GB" dirty="0"/>
          </a:p>
          <a:p>
            <a:pPr marL="0" indent="0">
              <a:buNone/>
            </a:pPr>
            <a:endParaRPr lang="en-GB" dirty="0"/>
          </a:p>
          <a:p>
            <a:pPr marL="0" indent="0">
              <a:buNone/>
            </a:pPr>
            <a:endParaRPr lang="en-GB" dirty="0"/>
          </a:p>
        </p:txBody>
      </p:sp>
      <p:pic>
        <p:nvPicPr>
          <p:cNvPr id="5" name="Picture 4">
            <a:extLst>
              <a:ext uri="{FF2B5EF4-FFF2-40B4-BE49-F238E27FC236}">
                <a16:creationId xmlns:a16="http://schemas.microsoft.com/office/drawing/2014/main" id="{719BB178-5C29-4E7B-9C7E-75A39988F412}"/>
              </a:ext>
            </a:extLst>
          </p:cNvPr>
          <p:cNvPicPr>
            <a:picLocks noChangeAspect="1"/>
          </p:cNvPicPr>
          <p:nvPr/>
        </p:nvPicPr>
        <p:blipFill rotWithShape="1">
          <a:blip r:embed="rId3">
            <a:extLst>
              <a:ext uri="{28A0092B-C50C-407E-A947-70E740481C1C}">
                <a14:useLocalDpi xmlns:a14="http://schemas.microsoft.com/office/drawing/2010/main" val="0"/>
              </a:ext>
            </a:extLst>
          </a:blip>
          <a:srcRect r="54744"/>
          <a:stretch/>
        </p:blipFill>
        <p:spPr>
          <a:xfrm>
            <a:off x="7523917" y="3708502"/>
            <a:ext cx="3050184" cy="2784373"/>
          </a:xfrm>
          <a:prstGeom prst="rect">
            <a:avLst/>
          </a:prstGeom>
        </p:spPr>
      </p:pic>
    </p:spTree>
    <p:extLst>
      <p:ext uri="{BB962C8B-B14F-4D97-AF65-F5344CB8AC3E}">
        <p14:creationId xmlns:p14="http://schemas.microsoft.com/office/powerpoint/2010/main" val="24987261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a:off x="1109791" y="4501661"/>
            <a:ext cx="1227010" cy="461107"/>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77AFDBD-2F0D-44BC-ABF7-0A52D670E65C}"/>
              </a:ext>
            </a:extLst>
          </p:cNvPr>
          <p:cNvSpPr/>
          <p:nvPr/>
        </p:nvSpPr>
        <p:spPr>
          <a:xfrm flipH="1">
            <a:off x="5330091" y="3798277"/>
            <a:ext cx="2508739" cy="461107"/>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D3CEF07-79C4-4E44-8C04-D29A205736F8}"/>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8A0871D-32D2-425F-A4D4-60EFF7E642AC}"/>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A978312D-4D12-7A09-DB5E-482AFE9C1BCF}"/>
              </a:ext>
            </a:extLst>
          </p:cNvPr>
          <p:cNvSpPr/>
          <p:nvPr/>
        </p:nvSpPr>
        <p:spPr>
          <a:xfrm flipV="1">
            <a:off x="9347199" y="4783014"/>
            <a:ext cx="1164491" cy="90658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F5D56B3-C6B0-8519-C49B-3AAF186ECB09}"/>
              </a:ext>
            </a:extLst>
          </p:cNvPr>
          <p:cNvSpPr txBox="1"/>
          <p:nvPr/>
        </p:nvSpPr>
        <p:spPr>
          <a:xfrm>
            <a:off x="5392618" y="4509477"/>
            <a:ext cx="2375876" cy="830997"/>
          </a:xfrm>
          <a:prstGeom prst="rect">
            <a:avLst/>
          </a:prstGeom>
          <a:noFill/>
        </p:spPr>
        <p:txBody>
          <a:bodyPr wrap="square" rtlCol="0">
            <a:spAutoFit/>
          </a:bodyPr>
          <a:lstStyle/>
          <a:p>
            <a:pPr algn="ctr"/>
            <a:r>
              <a:rPr lang="en-GB" sz="2400" b="1" dirty="0">
                <a:solidFill>
                  <a:schemeClr val="accent2"/>
                </a:solidFill>
              </a:rPr>
              <a:t>V, K and Q are the same here</a:t>
            </a:r>
            <a:endParaRPr lang="en-SG" sz="2400" b="1" dirty="0">
              <a:solidFill>
                <a:schemeClr val="accent2"/>
              </a:solidFill>
            </a:endParaRPr>
          </a:p>
        </p:txBody>
      </p:sp>
    </p:spTree>
    <p:extLst>
      <p:ext uri="{BB962C8B-B14F-4D97-AF65-F5344CB8AC3E}">
        <p14:creationId xmlns:p14="http://schemas.microsoft.com/office/powerpoint/2010/main" val="2286447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a:off x="164127" y="4134337"/>
            <a:ext cx="2352426" cy="90658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77AFDBD-2F0D-44BC-ABF7-0A52D670E65C}"/>
              </a:ext>
            </a:extLst>
          </p:cNvPr>
          <p:cNvSpPr/>
          <p:nvPr/>
        </p:nvSpPr>
        <p:spPr>
          <a:xfrm flipH="1" flipV="1">
            <a:off x="4974489" y="711200"/>
            <a:ext cx="3130063" cy="30870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27B445EE-24BA-4F0B-9AAE-83965CF309A8}"/>
              </a:ext>
            </a:extLst>
          </p:cNvPr>
          <p:cNvSpPr/>
          <p:nvPr/>
        </p:nvSpPr>
        <p:spPr>
          <a:xfrm flipH="1" flipV="1">
            <a:off x="8659443" y="2754923"/>
            <a:ext cx="3130063" cy="30870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43938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4"/>
            </a:pPr>
            <a:r>
              <a:rPr lang="en-US" b="1" dirty="0"/>
              <a:t>Masking</a:t>
            </a:r>
            <a:r>
              <a:rPr lang="en-US" dirty="0"/>
              <a:t> is only used in the decoder part (and it will be discussed later).</a:t>
            </a:r>
            <a:endParaRPr lang="en-GB" dirty="0"/>
          </a:p>
          <a:p>
            <a:pPr marL="0" indent="0">
              <a:buNone/>
            </a:pPr>
            <a:endParaRPr lang="en-GB" dirty="0"/>
          </a:p>
        </p:txBody>
      </p:sp>
      <p:pic>
        <p:nvPicPr>
          <p:cNvPr id="4" name="Picture 3">
            <a:extLst>
              <a:ext uri="{FF2B5EF4-FFF2-40B4-BE49-F238E27FC236}">
                <a16:creationId xmlns:a16="http://schemas.microsoft.com/office/drawing/2014/main" id="{DBBDFB63-3921-411B-86DC-B79C47ADFA7A}"/>
              </a:ext>
            </a:extLst>
          </p:cNvPr>
          <p:cNvPicPr>
            <a:picLocks noChangeAspect="1"/>
          </p:cNvPicPr>
          <p:nvPr/>
        </p:nvPicPr>
        <p:blipFill rotWithShape="1">
          <a:blip r:embed="rId2">
            <a:extLst>
              <a:ext uri="{28A0092B-C50C-407E-A947-70E740481C1C}">
                <a14:useLocalDpi xmlns:a14="http://schemas.microsoft.com/office/drawing/2010/main" val="0"/>
              </a:ext>
            </a:extLst>
          </a:blip>
          <a:srcRect l="69095" t="29745" r="984" b="13618"/>
          <a:stretch/>
        </p:blipFill>
        <p:spPr>
          <a:xfrm>
            <a:off x="6643077" y="912812"/>
            <a:ext cx="5087815" cy="5545275"/>
          </a:xfrm>
          <a:prstGeom prst="rect">
            <a:avLst/>
          </a:prstGeom>
        </p:spPr>
      </p:pic>
      <p:sp>
        <p:nvSpPr>
          <p:cNvPr id="6" name="Rectangle 5">
            <a:extLst>
              <a:ext uri="{FF2B5EF4-FFF2-40B4-BE49-F238E27FC236}">
                <a16:creationId xmlns:a16="http://schemas.microsoft.com/office/drawing/2014/main" id="{FD0D52E1-3D40-5D26-CF5C-62AFD7915B30}"/>
              </a:ext>
            </a:extLst>
          </p:cNvPr>
          <p:cNvSpPr/>
          <p:nvPr/>
        </p:nvSpPr>
        <p:spPr>
          <a:xfrm flipH="1" flipV="1">
            <a:off x="8034215" y="3509108"/>
            <a:ext cx="1703754" cy="71120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09249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a:off x="164127" y="4134337"/>
            <a:ext cx="2352426" cy="90658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77AFDBD-2F0D-44BC-ABF7-0A52D670E65C}"/>
              </a:ext>
            </a:extLst>
          </p:cNvPr>
          <p:cNvSpPr/>
          <p:nvPr/>
        </p:nvSpPr>
        <p:spPr>
          <a:xfrm flipH="1" flipV="1">
            <a:off x="4974489" y="711200"/>
            <a:ext cx="3130063" cy="30870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27B445EE-24BA-4F0B-9AAE-83965CF309A8}"/>
              </a:ext>
            </a:extLst>
          </p:cNvPr>
          <p:cNvSpPr/>
          <p:nvPr/>
        </p:nvSpPr>
        <p:spPr>
          <a:xfrm flipH="1" flipV="1">
            <a:off x="8659443" y="2754923"/>
            <a:ext cx="3130063" cy="30870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676263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426C76-0074-49EF-B719-52BA928F52AC}"/>
              </a:ext>
            </a:extLst>
          </p:cNvPr>
          <p:cNvPicPr>
            <a:picLocks noChangeAspect="1"/>
          </p:cNvPicPr>
          <p:nvPr/>
        </p:nvPicPr>
        <p:blipFill>
          <a:blip r:embed="rId2"/>
          <a:stretch>
            <a:fillRect/>
          </a:stretch>
        </p:blipFill>
        <p:spPr>
          <a:xfrm>
            <a:off x="0" y="394792"/>
            <a:ext cx="12192000" cy="6068416"/>
          </a:xfrm>
          <a:prstGeom prst="rect">
            <a:avLst/>
          </a:prstGeom>
        </p:spPr>
      </p:pic>
    </p:spTree>
    <p:extLst>
      <p:ext uri="{BB962C8B-B14F-4D97-AF65-F5344CB8AC3E}">
        <p14:creationId xmlns:p14="http://schemas.microsoft.com/office/powerpoint/2010/main" val="130454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49FE2D-F8FC-4C8E-BCB4-5FE5F313DC4A}"/>
              </a:ext>
            </a:extLst>
          </p:cNvPr>
          <p:cNvPicPr>
            <a:picLocks noChangeAspect="1"/>
          </p:cNvPicPr>
          <p:nvPr/>
        </p:nvPicPr>
        <p:blipFill>
          <a:blip r:embed="rId2"/>
          <a:stretch>
            <a:fillRect/>
          </a:stretch>
        </p:blipFill>
        <p:spPr>
          <a:xfrm>
            <a:off x="0" y="76155"/>
            <a:ext cx="12192000" cy="4671615"/>
          </a:xfrm>
          <a:prstGeom prst="rect">
            <a:avLst/>
          </a:prstGeom>
        </p:spPr>
      </p:pic>
      <p:pic>
        <p:nvPicPr>
          <p:cNvPr id="5" name="Picture 4">
            <a:extLst>
              <a:ext uri="{FF2B5EF4-FFF2-40B4-BE49-F238E27FC236}">
                <a16:creationId xmlns:a16="http://schemas.microsoft.com/office/drawing/2014/main" id="{28A5CADC-B1F5-44D1-9F25-34E291B4A1CF}"/>
              </a:ext>
            </a:extLst>
          </p:cNvPr>
          <p:cNvPicPr>
            <a:picLocks noChangeAspect="1"/>
          </p:cNvPicPr>
          <p:nvPr/>
        </p:nvPicPr>
        <p:blipFill>
          <a:blip r:embed="rId3"/>
          <a:stretch>
            <a:fillRect/>
          </a:stretch>
        </p:blipFill>
        <p:spPr>
          <a:xfrm>
            <a:off x="-121298" y="5471827"/>
            <a:ext cx="12192000" cy="1232797"/>
          </a:xfrm>
          <a:prstGeom prst="rect">
            <a:avLst/>
          </a:prstGeom>
        </p:spPr>
      </p:pic>
      <p:sp>
        <p:nvSpPr>
          <p:cNvPr id="7" name="TextBox 6">
            <a:extLst>
              <a:ext uri="{FF2B5EF4-FFF2-40B4-BE49-F238E27FC236}">
                <a16:creationId xmlns:a16="http://schemas.microsoft.com/office/drawing/2014/main" id="{B9CD7B87-8A47-4B84-A602-D39835B63AB9}"/>
              </a:ext>
            </a:extLst>
          </p:cNvPr>
          <p:cNvSpPr txBox="1"/>
          <p:nvPr/>
        </p:nvSpPr>
        <p:spPr>
          <a:xfrm>
            <a:off x="3464767" y="4848188"/>
            <a:ext cx="5019869" cy="954107"/>
          </a:xfrm>
          <a:prstGeom prst="rect">
            <a:avLst/>
          </a:prstGeom>
          <a:noFill/>
        </p:spPr>
        <p:txBody>
          <a:bodyPr wrap="square" rtlCol="0">
            <a:spAutoFit/>
          </a:bodyPr>
          <a:lstStyle/>
          <a:p>
            <a:pPr algn="ctr"/>
            <a:r>
              <a:rPr lang="en-US" sz="2800" dirty="0"/>
              <a:t>(masking part to be discussed later)</a:t>
            </a:r>
            <a:endParaRPr lang="en-GB" sz="2800" dirty="0"/>
          </a:p>
        </p:txBody>
      </p:sp>
    </p:spTree>
    <p:extLst>
      <p:ext uri="{BB962C8B-B14F-4D97-AF65-F5344CB8AC3E}">
        <p14:creationId xmlns:p14="http://schemas.microsoft.com/office/powerpoint/2010/main" val="5663949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2565AB1-47CC-446F-A91B-9168019053E4}"/>
              </a:ext>
            </a:extLst>
          </p:cNvPr>
          <p:cNvPicPr>
            <a:picLocks noChangeAspect="1"/>
          </p:cNvPicPr>
          <p:nvPr/>
        </p:nvPicPr>
        <p:blipFill>
          <a:blip r:embed="rId2"/>
          <a:stretch>
            <a:fillRect/>
          </a:stretch>
        </p:blipFill>
        <p:spPr>
          <a:xfrm>
            <a:off x="0" y="85144"/>
            <a:ext cx="12192000" cy="6687711"/>
          </a:xfrm>
          <a:prstGeom prst="rect">
            <a:avLst/>
          </a:prstGeom>
        </p:spPr>
      </p:pic>
    </p:spTree>
    <p:extLst>
      <p:ext uri="{BB962C8B-B14F-4D97-AF65-F5344CB8AC3E}">
        <p14:creationId xmlns:p14="http://schemas.microsoft.com/office/powerpoint/2010/main" val="29123680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779D934-F7B3-48F2-A705-EAC9632284E1}"/>
              </a:ext>
            </a:extLst>
          </p:cNvPr>
          <p:cNvPicPr>
            <a:picLocks noChangeAspect="1"/>
          </p:cNvPicPr>
          <p:nvPr/>
        </p:nvPicPr>
        <p:blipFill>
          <a:blip r:embed="rId2"/>
          <a:stretch>
            <a:fillRect/>
          </a:stretch>
        </p:blipFill>
        <p:spPr>
          <a:xfrm>
            <a:off x="0" y="2303162"/>
            <a:ext cx="12192000" cy="2251676"/>
          </a:xfrm>
          <a:prstGeom prst="rect">
            <a:avLst/>
          </a:prstGeom>
        </p:spPr>
      </p:pic>
    </p:spTree>
    <p:extLst>
      <p:ext uri="{BB962C8B-B14F-4D97-AF65-F5344CB8AC3E}">
        <p14:creationId xmlns:p14="http://schemas.microsoft.com/office/powerpoint/2010/main" val="1948342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lnSpcReduction="10000"/>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5"/>
            </a:pPr>
            <a:r>
              <a:rPr lang="en-US" dirty="0"/>
              <a:t>Feedforward is a set of linear/fully connected layers, whose main purpose is to allow for smooth transitions and reshape the attention vectors so that it is acceptable by the next encoder or decoder layer.</a:t>
            </a:r>
          </a:p>
          <a:p>
            <a:pPr marL="0" indent="0">
              <a:buNone/>
            </a:pPr>
            <a:r>
              <a:rPr lang="en-US" dirty="0"/>
              <a:t>Also uses a skip/residual      connection as in </a:t>
            </a:r>
            <a:r>
              <a:rPr lang="en-US" dirty="0" err="1"/>
              <a:t>ResNet</a:t>
            </a:r>
            <a:r>
              <a:rPr lang="en-US" dirty="0"/>
              <a:t>!</a:t>
            </a:r>
            <a:endParaRPr lang="en-GB" dirty="0"/>
          </a:p>
          <a:p>
            <a:pPr marL="0" indent="0">
              <a:buNone/>
            </a:pPr>
            <a:endParaRPr lang="en-GB" dirty="0"/>
          </a:p>
        </p:txBody>
      </p:sp>
      <p:pic>
        <p:nvPicPr>
          <p:cNvPr id="5" name="Picture 4">
            <a:extLst>
              <a:ext uri="{FF2B5EF4-FFF2-40B4-BE49-F238E27FC236}">
                <a16:creationId xmlns:a16="http://schemas.microsoft.com/office/drawing/2014/main" id="{5CC1F7AA-EF24-A0AF-2F8B-401CB4C9E849}"/>
              </a:ext>
            </a:extLst>
          </p:cNvPr>
          <p:cNvPicPr>
            <a:picLocks noChangeAspect="1"/>
          </p:cNvPicPr>
          <p:nvPr/>
        </p:nvPicPr>
        <p:blipFill>
          <a:blip r:embed="rId2"/>
          <a:stretch>
            <a:fillRect/>
          </a:stretch>
        </p:blipFill>
        <p:spPr>
          <a:xfrm>
            <a:off x="7182338" y="922546"/>
            <a:ext cx="4087447" cy="5012907"/>
          </a:xfrm>
          <a:prstGeom prst="rect">
            <a:avLst/>
          </a:prstGeom>
        </p:spPr>
      </p:pic>
    </p:spTree>
    <p:extLst>
      <p:ext uri="{BB962C8B-B14F-4D97-AF65-F5344CB8AC3E}">
        <p14:creationId xmlns:p14="http://schemas.microsoft.com/office/powerpoint/2010/main" val="10718085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flipV="1">
            <a:off x="164127" y="2743197"/>
            <a:ext cx="2352426" cy="204763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4D220775-74CE-A7A9-4B82-60964616AF9D}"/>
              </a:ext>
            </a:extLst>
          </p:cNvPr>
          <p:cNvSpPr txBox="1"/>
          <p:nvPr/>
        </p:nvSpPr>
        <p:spPr>
          <a:xfrm>
            <a:off x="164127" y="1358203"/>
            <a:ext cx="2032000" cy="1384995"/>
          </a:xfrm>
          <a:prstGeom prst="rect">
            <a:avLst/>
          </a:prstGeom>
          <a:noFill/>
        </p:spPr>
        <p:txBody>
          <a:bodyPr wrap="square" rtlCol="0">
            <a:spAutoFit/>
          </a:bodyPr>
          <a:lstStyle/>
          <a:p>
            <a:r>
              <a:rPr lang="en-US" sz="2800" dirty="0">
                <a:solidFill>
                  <a:schemeClr val="accent2"/>
                </a:solidFill>
              </a:rPr>
              <a:t>ONE ENCODER LAYER</a:t>
            </a:r>
            <a:endParaRPr lang="en-GB" sz="2800" dirty="0">
              <a:solidFill>
                <a:schemeClr val="accent2"/>
              </a:solidFill>
            </a:endParaRPr>
          </a:p>
        </p:txBody>
      </p:sp>
      <p:sp>
        <p:nvSpPr>
          <p:cNvPr id="8" name="Rectangle 7">
            <a:extLst>
              <a:ext uri="{FF2B5EF4-FFF2-40B4-BE49-F238E27FC236}">
                <a16:creationId xmlns:a16="http://schemas.microsoft.com/office/drawing/2014/main" id="{AA755B18-210F-A02E-B059-C8BCDC0ACF31}"/>
              </a:ext>
            </a:extLst>
          </p:cNvPr>
          <p:cNvSpPr/>
          <p:nvPr/>
        </p:nvSpPr>
        <p:spPr>
          <a:xfrm flipV="1">
            <a:off x="316527" y="3782645"/>
            <a:ext cx="410304" cy="332157"/>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819549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flipV="1">
            <a:off x="164127" y="2305537"/>
            <a:ext cx="2391504" cy="436879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7252994-6555-4E3E-8944-98C1FBE0BC05}"/>
              </a:ext>
            </a:extLst>
          </p:cNvPr>
          <p:cNvSpPr txBox="1"/>
          <p:nvPr/>
        </p:nvSpPr>
        <p:spPr>
          <a:xfrm>
            <a:off x="523631" y="1275803"/>
            <a:ext cx="2032000" cy="954107"/>
          </a:xfrm>
          <a:prstGeom prst="rect">
            <a:avLst/>
          </a:prstGeom>
          <a:noFill/>
        </p:spPr>
        <p:txBody>
          <a:bodyPr wrap="square" rtlCol="0">
            <a:spAutoFit/>
          </a:bodyPr>
          <a:lstStyle/>
          <a:p>
            <a:r>
              <a:rPr lang="en-US" sz="2800" dirty="0">
                <a:solidFill>
                  <a:schemeClr val="accent2"/>
                </a:solidFill>
              </a:rPr>
              <a:t>FULL</a:t>
            </a:r>
          </a:p>
          <a:p>
            <a:r>
              <a:rPr lang="en-US" sz="2800" dirty="0">
                <a:solidFill>
                  <a:schemeClr val="accent2"/>
                </a:solidFill>
              </a:rPr>
              <a:t>ENCODER</a:t>
            </a:r>
            <a:endParaRPr lang="en-GB" sz="2800" dirty="0">
              <a:solidFill>
                <a:schemeClr val="accent2"/>
              </a:solidFill>
            </a:endParaRPr>
          </a:p>
        </p:txBody>
      </p:sp>
    </p:spTree>
    <p:extLst>
      <p:ext uri="{BB962C8B-B14F-4D97-AF65-F5344CB8AC3E}">
        <p14:creationId xmlns:p14="http://schemas.microsoft.com/office/powerpoint/2010/main" val="15083155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8EA3F0-2A42-4F3C-8809-06B78D4791E0}"/>
              </a:ext>
            </a:extLst>
          </p:cNvPr>
          <p:cNvPicPr>
            <a:picLocks noChangeAspect="1"/>
          </p:cNvPicPr>
          <p:nvPr/>
        </p:nvPicPr>
        <p:blipFill>
          <a:blip r:embed="rId2"/>
          <a:stretch>
            <a:fillRect/>
          </a:stretch>
        </p:blipFill>
        <p:spPr>
          <a:xfrm>
            <a:off x="0" y="1778954"/>
            <a:ext cx="12192000" cy="3300091"/>
          </a:xfrm>
          <a:prstGeom prst="rect">
            <a:avLst/>
          </a:prstGeom>
        </p:spPr>
      </p:pic>
    </p:spTree>
    <p:extLst>
      <p:ext uri="{BB962C8B-B14F-4D97-AF65-F5344CB8AC3E}">
        <p14:creationId xmlns:p14="http://schemas.microsoft.com/office/powerpoint/2010/main" val="27932109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0AD6FD-0986-4DBC-8327-8A4393FD5685}"/>
              </a:ext>
            </a:extLst>
          </p:cNvPr>
          <p:cNvPicPr>
            <a:picLocks noChangeAspect="1"/>
          </p:cNvPicPr>
          <p:nvPr/>
        </p:nvPicPr>
        <p:blipFill>
          <a:blip r:embed="rId2"/>
          <a:stretch>
            <a:fillRect/>
          </a:stretch>
        </p:blipFill>
        <p:spPr>
          <a:xfrm>
            <a:off x="0" y="813825"/>
            <a:ext cx="12192000" cy="5230350"/>
          </a:xfrm>
          <a:prstGeom prst="rect">
            <a:avLst/>
          </a:prstGeom>
        </p:spPr>
      </p:pic>
    </p:spTree>
    <p:extLst>
      <p:ext uri="{BB962C8B-B14F-4D97-AF65-F5344CB8AC3E}">
        <p14:creationId xmlns:p14="http://schemas.microsoft.com/office/powerpoint/2010/main" val="30975999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6CB104-4CD4-491D-A0B8-3128797EBC7C}"/>
              </a:ext>
            </a:extLst>
          </p:cNvPr>
          <p:cNvPicPr>
            <a:picLocks noChangeAspect="1"/>
          </p:cNvPicPr>
          <p:nvPr/>
        </p:nvPicPr>
        <p:blipFill rotWithShape="1">
          <a:blip r:embed="rId2"/>
          <a:srcRect r="25306"/>
          <a:stretch/>
        </p:blipFill>
        <p:spPr>
          <a:xfrm>
            <a:off x="0" y="803561"/>
            <a:ext cx="12042897" cy="4673509"/>
          </a:xfrm>
          <a:prstGeom prst="rect">
            <a:avLst/>
          </a:prstGeom>
        </p:spPr>
      </p:pic>
    </p:spTree>
    <p:extLst>
      <p:ext uri="{BB962C8B-B14F-4D97-AF65-F5344CB8AC3E}">
        <p14:creationId xmlns:p14="http://schemas.microsoft.com/office/powerpoint/2010/main" val="8130210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720BBDC-8B29-4091-8C61-1CF771AF51E0}"/>
              </a:ext>
            </a:extLst>
          </p:cNvPr>
          <p:cNvPicPr>
            <a:picLocks noChangeAspect="1"/>
          </p:cNvPicPr>
          <p:nvPr/>
        </p:nvPicPr>
        <p:blipFill rotWithShape="1">
          <a:blip r:embed="rId2"/>
          <a:srcRect r="25383"/>
          <a:stretch/>
        </p:blipFill>
        <p:spPr>
          <a:xfrm>
            <a:off x="345233" y="0"/>
            <a:ext cx="10860833" cy="6854067"/>
          </a:xfrm>
          <a:prstGeom prst="rect">
            <a:avLst/>
          </a:prstGeom>
        </p:spPr>
      </p:pic>
    </p:spTree>
    <p:extLst>
      <p:ext uri="{BB962C8B-B14F-4D97-AF65-F5344CB8AC3E}">
        <p14:creationId xmlns:p14="http://schemas.microsoft.com/office/powerpoint/2010/main" val="16786119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7252994-6555-4E3E-8944-98C1FBE0BC05}"/>
              </a:ext>
            </a:extLst>
          </p:cNvPr>
          <p:cNvSpPr txBox="1"/>
          <p:nvPr/>
        </p:nvSpPr>
        <p:spPr>
          <a:xfrm>
            <a:off x="976923" y="1275803"/>
            <a:ext cx="2032000" cy="523220"/>
          </a:xfrm>
          <a:prstGeom prst="rect">
            <a:avLst/>
          </a:prstGeom>
          <a:noFill/>
        </p:spPr>
        <p:txBody>
          <a:bodyPr wrap="square" rtlCol="0">
            <a:spAutoFit/>
          </a:bodyPr>
          <a:lstStyle/>
          <a:p>
            <a:r>
              <a:rPr lang="en-US" sz="2800" dirty="0">
                <a:solidFill>
                  <a:schemeClr val="accent2"/>
                </a:solidFill>
              </a:rPr>
              <a:t>DECODER</a:t>
            </a:r>
            <a:endParaRPr lang="en-GB" sz="2800" dirty="0">
              <a:solidFill>
                <a:schemeClr val="accent2"/>
              </a:solidFill>
            </a:endParaRPr>
          </a:p>
        </p:txBody>
      </p:sp>
      <p:sp>
        <p:nvSpPr>
          <p:cNvPr id="3" name="Rectangle 2">
            <a:extLst>
              <a:ext uri="{FF2B5EF4-FFF2-40B4-BE49-F238E27FC236}">
                <a16:creationId xmlns:a16="http://schemas.microsoft.com/office/drawing/2014/main" id="{F2833502-017F-4D6F-9DA7-B015E2CDF05E}"/>
              </a:ext>
            </a:extLst>
          </p:cNvPr>
          <p:cNvSpPr/>
          <p:nvPr/>
        </p:nvSpPr>
        <p:spPr>
          <a:xfrm flipH="1" flipV="1">
            <a:off x="2555629" y="195385"/>
            <a:ext cx="2321169" cy="647895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EC7D7974-BCC5-60F4-AEAF-E2A46C7DCE4A}"/>
              </a:ext>
            </a:extLst>
          </p:cNvPr>
          <p:cNvSpPr/>
          <p:nvPr/>
        </p:nvSpPr>
        <p:spPr>
          <a:xfrm flipH="1" flipV="1">
            <a:off x="2715842" y="6334360"/>
            <a:ext cx="1113696" cy="265723"/>
          </a:xfrm>
          <a:prstGeom prst="rect">
            <a:avLst/>
          </a:pr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FB8A8CF8-C470-A9B0-F3FC-9ABDBF09D9AA}"/>
              </a:ext>
            </a:extLst>
          </p:cNvPr>
          <p:cNvSpPr txBox="1"/>
          <p:nvPr/>
        </p:nvSpPr>
        <p:spPr>
          <a:xfrm>
            <a:off x="5080000" y="4858453"/>
            <a:ext cx="2032000" cy="1815882"/>
          </a:xfrm>
          <a:prstGeom prst="rect">
            <a:avLst/>
          </a:prstGeom>
          <a:noFill/>
        </p:spPr>
        <p:txBody>
          <a:bodyPr wrap="square" rtlCol="0">
            <a:spAutoFit/>
          </a:bodyPr>
          <a:lstStyle/>
          <a:p>
            <a:r>
              <a:rPr lang="en-US" sz="2800" dirty="0">
                <a:solidFill>
                  <a:srgbClr val="7030A0"/>
                </a:solidFill>
              </a:rPr>
              <a:t>But wait, what are the outputs doing here?</a:t>
            </a:r>
            <a:endParaRPr lang="en-GB" sz="2800" dirty="0">
              <a:solidFill>
                <a:srgbClr val="7030A0"/>
              </a:solidFill>
            </a:endParaRPr>
          </a:p>
        </p:txBody>
      </p:sp>
    </p:spTree>
    <p:extLst>
      <p:ext uri="{BB962C8B-B14F-4D97-AF65-F5344CB8AC3E}">
        <p14:creationId xmlns:p14="http://schemas.microsoft.com/office/powerpoint/2010/main" val="4069342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idx="1"/>
          </p:nvPr>
        </p:nvSpPr>
        <p:spPr/>
        <p:txBody>
          <a:bodyPr>
            <a:normAutofit/>
          </a:bodyPr>
          <a:lstStyle/>
          <a:p>
            <a:pPr marL="0" indent="0">
              <a:buNone/>
            </a:pPr>
            <a:r>
              <a:rPr lang="en-US" b="1" dirty="0"/>
              <a:t>Important question: Why are the outputs used both as inputs and targets for the decoder model?</a:t>
            </a:r>
          </a:p>
          <a:p>
            <a:pPr marL="0" indent="0">
              <a:buNone/>
            </a:pPr>
            <a:endParaRPr lang="en-US" b="1" dirty="0"/>
          </a:p>
          <a:p>
            <a:pPr marL="0" indent="0">
              <a:buNone/>
            </a:pPr>
            <a:r>
              <a:rPr lang="en-GB" dirty="0"/>
              <a:t>Our objective is to train a good word embedding (our encoder), by using an encoder-decoder architecture on some NLP task.</a:t>
            </a:r>
          </a:p>
          <a:p>
            <a:pPr marL="0" indent="0">
              <a:buNone/>
            </a:pPr>
            <a:r>
              <a:rPr lang="en-GB" dirty="0"/>
              <a:t>At the end of the day, the performance of this Seq2Seq model is irrelevant, as we only care about the embedding (as in </a:t>
            </a:r>
            <a:r>
              <a:rPr lang="en-GB" dirty="0" err="1"/>
              <a:t>SkipGram</a:t>
            </a:r>
            <a:r>
              <a:rPr lang="en-GB" dirty="0"/>
              <a:t>).</a:t>
            </a:r>
          </a:p>
          <a:p>
            <a:pPr marL="0" indent="0">
              <a:buNone/>
            </a:pPr>
            <a:r>
              <a:rPr lang="en-GB" dirty="0"/>
              <a:t>So, who cares if we “cheat” and give the answer to the decoder model?</a:t>
            </a:r>
            <a:endParaRPr lang="en-US" dirty="0"/>
          </a:p>
        </p:txBody>
      </p:sp>
    </p:spTree>
    <p:extLst>
      <p:ext uri="{BB962C8B-B14F-4D97-AF65-F5344CB8AC3E}">
        <p14:creationId xmlns:p14="http://schemas.microsoft.com/office/powerpoint/2010/main" val="42483280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7252994-6555-4E3E-8944-98C1FBE0BC05}"/>
              </a:ext>
            </a:extLst>
          </p:cNvPr>
          <p:cNvSpPr txBox="1"/>
          <p:nvPr/>
        </p:nvSpPr>
        <p:spPr>
          <a:xfrm>
            <a:off x="976923" y="1275803"/>
            <a:ext cx="2032000" cy="523220"/>
          </a:xfrm>
          <a:prstGeom prst="rect">
            <a:avLst/>
          </a:prstGeom>
          <a:noFill/>
        </p:spPr>
        <p:txBody>
          <a:bodyPr wrap="square" rtlCol="0">
            <a:spAutoFit/>
          </a:bodyPr>
          <a:lstStyle/>
          <a:p>
            <a:r>
              <a:rPr lang="en-US" sz="2800" dirty="0">
                <a:solidFill>
                  <a:schemeClr val="accent2"/>
                </a:solidFill>
              </a:rPr>
              <a:t>DECODER</a:t>
            </a:r>
            <a:endParaRPr lang="en-GB" sz="2800" dirty="0">
              <a:solidFill>
                <a:schemeClr val="accent2"/>
              </a:solidFill>
            </a:endParaRPr>
          </a:p>
        </p:txBody>
      </p:sp>
      <p:sp>
        <p:nvSpPr>
          <p:cNvPr id="3" name="Rectangle 2">
            <a:extLst>
              <a:ext uri="{FF2B5EF4-FFF2-40B4-BE49-F238E27FC236}">
                <a16:creationId xmlns:a16="http://schemas.microsoft.com/office/drawing/2014/main" id="{F2833502-017F-4D6F-9DA7-B015E2CDF05E}"/>
              </a:ext>
            </a:extLst>
          </p:cNvPr>
          <p:cNvSpPr/>
          <p:nvPr/>
        </p:nvSpPr>
        <p:spPr>
          <a:xfrm flipH="1" flipV="1">
            <a:off x="2555629" y="195385"/>
            <a:ext cx="2321169" cy="647895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707798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6"/>
            </a:pPr>
            <a:r>
              <a:rPr lang="en-US" dirty="0"/>
              <a:t>Same multi-head block as before but with </a:t>
            </a:r>
            <a:r>
              <a:rPr lang="en-US" b="1" dirty="0"/>
              <a:t>masking</a:t>
            </a:r>
            <a:r>
              <a:rPr lang="en-US" dirty="0"/>
              <a:t> this time!</a:t>
            </a:r>
            <a:br>
              <a:rPr lang="en-US" dirty="0"/>
            </a:br>
            <a:br>
              <a:rPr lang="en-US" dirty="0"/>
            </a:br>
            <a:r>
              <a:rPr lang="en-US" b="1" dirty="0"/>
              <a:t>Why masking?</a:t>
            </a:r>
            <a:endParaRPr lang="en-GB" b="1" dirty="0"/>
          </a:p>
        </p:txBody>
      </p:sp>
      <p:sp>
        <p:nvSpPr>
          <p:cNvPr id="5" name="Content Placeholder 4">
            <a:extLst>
              <a:ext uri="{FF2B5EF4-FFF2-40B4-BE49-F238E27FC236}">
                <a16:creationId xmlns:a16="http://schemas.microsoft.com/office/drawing/2014/main" id="{12C08CCE-9A67-42C6-930C-EA4A2BD07640}"/>
              </a:ext>
            </a:extLst>
          </p:cNvPr>
          <p:cNvSpPr>
            <a:spLocks noGrp="1"/>
          </p:cNvSpPr>
          <p:nvPr>
            <p:ph sz="half" idx="2"/>
          </p:nvPr>
        </p:nvSpPr>
        <p:spPr>
          <a:xfrm>
            <a:off x="6172200" y="298580"/>
            <a:ext cx="5691554" cy="6559418"/>
          </a:xfrm>
        </p:spPr>
        <p:txBody>
          <a:bodyPr>
            <a:normAutofit/>
          </a:bodyPr>
          <a:lstStyle/>
          <a:p>
            <a:pPr marL="0" indent="0">
              <a:buNone/>
            </a:pPr>
            <a:r>
              <a:rPr lang="en-US" dirty="0"/>
              <a:t>While generating target sequences at the decoder, since the transformer uses self-attention, it tends to include all the words from the decoder inputs. But, practically, this is incorrect and too much “cheating” for the network.</a:t>
            </a:r>
          </a:p>
          <a:p>
            <a:pPr marL="0" indent="0">
              <a:buNone/>
            </a:pPr>
            <a:r>
              <a:rPr lang="en-US" b="1" dirty="0"/>
              <a:t>The transformer must not use the current or future output to predict the next one, so the output sequence must be partially masked to prevent this reverse information flow.</a:t>
            </a:r>
          </a:p>
          <a:p>
            <a:pPr marL="0" indent="0">
              <a:buNone/>
            </a:pPr>
            <a:r>
              <a:rPr lang="en-US" dirty="0"/>
              <a:t>Masking Multi-Head Attention ensures this.</a:t>
            </a:r>
            <a:endParaRPr lang="en-GB" dirty="0"/>
          </a:p>
        </p:txBody>
      </p:sp>
    </p:spTree>
    <p:extLst>
      <p:ext uri="{BB962C8B-B14F-4D97-AF65-F5344CB8AC3E}">
        <p14:creationId xmlns:p14="http://schemas.microsoft.com/office/powerpoint/2010/main" val="28403833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6"/>
            </a:pPr>
            <a:r>
              <a:rPr lang="en-US" dirty="0"/>
              <a:t>Same multi-head block as before but with masking this time!</a:t>
            </a:r>
            <a:br>
              <a:rPr lang="en-US" dirty="0"/>
            </a:br>
            <a:br>
              <a:rPr lang="en-US" dirty="0"/>
            </a:br>
            <a:r>
              <a:rPr lang="en-US" dirty="0"/>
              <a:t>Why masking? </a:t>
            </a:r>
            <a:endParaRPr lang="en-GB" dirty="0"/>
          </a:p>
        </p:txBody>
      </p:sp>
      <p:sp>
        <p:nvSpPr>
          <p:cNvPr id="5" name="Content Placeholder 4">
            <a:extLst>
              <a:ext uri="{FF2B5EF4-FFF2-40B4-BE49-F238E27FC236}">
                <a16:creationId xmlns:a16="http://schemas.microsoft.com/office/drawing/2014/main" id="{12C08CCE-9A67-42C6-930C-EA4A2BD07640}"/>
              </a:ext>
            </a:extLst>
          </p:cNvPr>
          <p:cNvSpPr>
            <a:spLocks noGrp="1"/>
          </p:cNvSpPr>
          <p:nvPr>
            <p:ph sz="half" idx="2"/>
          </p:nvPr>
        </p:nvSpPr>
        <p:spPr>
          <a:xfrm>
            <a:off x="6172200" y="1953845"/>
            <a:ext cx="5691554" cy="4904153"/>
          </a:xfrm>
        </p:spPr>
        <p:txBody>
          <a:bodyPr>
            <a:normAutofit/>
          </a:bodyPr>
          <a:lstStyle/>
          <a:p>
            <a:pPr marL="0" indent="0">
              <a:buNone/>
            </a:pPr>
            <a:r>
              <a:rPr lang="en-US" dirty="0"/>
              <a:t>While generating target sequences at the decoder, since the transformer uses self-attention, it tends to include all the words from the decoder inputs.</a:t>
            </a:r>
          </a:p>
          <a:p>
            <a:pPr marL="0" indent="0">
              <a:buNone/>
            </a:pPr>
            <a:r>
              <a:rPr lang="en-US" dirty="0"/>
              <a:t>But, practically this is incorrect. Only the words preceding the current word may contribute to the generation of the next word. </a:t>
            </a:r>
          </a:p>
          <a:p>
            <a:pPr marL="0" indent="0">
              <a:buNone/>
            </a:pPr>
            <a:r>
              <a:rPr lang="en-US" dirty="0"/>
              <a:t>Masked Multi-Head Attention ensures this.</a:t>
            </a:r>
            <a:endParaRPr lang="en-GB" dirty="0"/>
          </a:p>
        </p:txBody>
      </p:sp>
      <p:pic>
        <p:nvPicPr>
          <p:cNvPr id="6" name="Picture 5">
            <a:extLst>
              <a:ext uri="{FF2B5EF4-FFF2-40B4-BE49-F238E27FC236}">
                <a16:creationId xmlns:a16="http://schemas.microsoft.com/office/drawing/2014/main" id="{BA28E1FE-73C1-470A-90F9-05D619F307AC}"/>
              </a:ext>
            </a:extLst>
          </p:cNvPr>
          <p:cNvPicPr>
            <a:picLocks noChangeAspect="1"/>
          </p:cNvPicPr>
          <p:nvPr/>
        </p:nvPicPr>
        <p:blipFill rotWithShape="1">
          <a:blip r:embed="rId2"/>
          <a:srcRect l="64166" t="22769" r="14616" b="44410"/>
          <a:stretch/>
        </p:blipFill>
        <p:spPr>
          <a:xfrm>
            <a:off x="1588871" y="2055446"/>
            <a:ext cx="9390122" cy="4539030"/>
          </a:xfrm>
          <a:prstGeom prst="rect">
            <a:avLst/>
          </a:prstGeom>
        </p:spPr>
      </p:pic>
    </p:spTree>
    <p:extLst>
      <p:ext uri="{BB962C8B-B14F-4D97-AF65-F5344CB8AC3E}">
        <p14:creationId xmlns:p14="http://schemas.microsoft.com/office/powerpoint/2010/main" val="13703553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D4AA64-12F8-9F3B-E51A-E0DF6A1798A1}"/>
              </a:ext>
            </a:extLst>
          </p:cNvPr>
          <p:cNvPicPr>
            <a:picLocks noChangeAspect="1"/>
          </p:cNvPicPr>
          <p:nvPr/>
        </p:nvPicPr>
        <p:blipFill>
          <a:blip r:embed="rId2"/>
          <a:stretch>
            <a:fillRect/>
          </a:stretch>
        </p:blipFill>
        <p:spPr>
          <a:xfrm>
            <a:off x="463194" y="2917323"/>
            <a:ext cx="8592749" cy="3696216"/>
          </a:xfrm>
          <a:prstGeom prst="rect">
            <a:avLst/>
          </a:prstGeom>
        </p:spPr>
      </p:pic>
      <p:sp>
        <p:nvSpPr>
          <p:cNvPr id="7" name="TextBox 6">
            <a:extLst>
              <a:ext uri="{FF2B5EF4-FFF2-40B4-BE49-F238E27FC236}">
                <a16:creationId xmlns:a16="http://schemas.microsoft.com/office/drawing/2014/main" id="{2C2D7457-0C1C-4AEB-99C2-D201BED774E7}"/>
              </a:ext>
            </a:extLst>
          </p:cNvPr>
          <p:cNvSpPr txBox="1"/>
          <p:nvPr/>
        </p:nvSpPr>
        <p:spPr>
          <a:xfrm>
            <a:off x="788876" y="541831"/>
            <a:ext cx="5019869" cy="954107"/>
          </a:xfrm>
          <a:prstGeom prst="rect">
            <a:avLst/>
          </a:prstGeom>
          <a:noFill/>
        </p:spPr>
        <p:txBody>
          <a:bodyPr wrap="square" rtlCol="0">
            <a:spAutoFit/>
          </a:bodyPr>
          <a:lstStyle/>
          <a:p>
            <a:pPr algn="ctr"/>
            <a:r>
              <a:rPr lang="en-US" sz="2800" dirty="0"/>
              <a:t>(Extra step in the attention layer class, forward method!)</a:t>
            </a:r>
            <a:endParaRPr lang="en-GB" sz="2800" dirty="0"/>
          </a:p>
        </p:txBody>
      </p:sp>
      <p:sp>
        <p:nvSpPr>
          <p:cNvPr id="3" name="TextBox 2">
            <a:extLst>
              <a:ext uri="{FF2B5EF4-FFF2-40B4-BE49-F238E27FC236}">
                <a16:creationId xmlns:a16="http://schemas.microsoft.com/office/drawing/2014/main" id="{7F2F2EAD-F0A9-8493-6924-24E2A4C6E3DA}"/>
              </a:ext>
            </a:extLst>
          </p:cNvPr>
          <p:cNvSpPr txBox="1"/>
          <p:nvPr/>
        </p:nvSpPr>
        <p:spPr>
          <a:xfrm>
            <a:off x="7017086" y="682981"/>
            <a:ext cx="4900247" cy="1815882"/>
          </a:xfrm>
          <a:prstGeom prst="rect">
            <a:avLst/>
          </a:prstGeom>
          <a:noFill/>
        </p:spPr>
        <p:txBody>
          <a:bodyPr wrap="square" rtlCol="0">
            <a:spAutoFit/>
          </a:bodyPr>
          <a:lstStyle/>
          <a:p>
            <a:r>
              <a:rPr lang="en-US" sz="2800" u="sng" dirty="0">
                <a:solidFill>
                  <a:schemeClr val="accent2"/>
                </a:solidFill>
              </a:rPr>
              <a:t>Note:</a:t>
            </a:r>
            <a:r>
              <a:rPr lang="en-US" sz="2800" i="1" dirty="0">
                <a:solidFill>
                  <a:schemeClr val="accent2"/>
                </a:solidFill>
              </a:rPr>
              <a:t> </a:t>
            </a:r>
            <a:r>
              <a:rPr lang="en-US" sz="2800" dirty="0">
                <a:solidFill>
                  <a:schemeClr val="accent2"/>
                </a:solidFill>
              </a:rPr>
              <a:t>I played around with a few different masks, just for fun.</a:t>
            </a:r>
            <a:br>
              <a:rPr lang="en-US" sz="2800" dirty="0">
                <a:solidFill>
                  <a:schemeClr val="accent2"/>
                </a:solidFill>
              </a:rPr>
            </a:br>
            <a:r>
              <a:rPr lang="en-US" sz="2800" dirty="0">
                <a:solidFill>
                  <a:schemeClr val="accent2"/>
                </a:solidFill>
              </a:rPr>
              <a:t>Paper suggests to use the </a:t>
            </a:r>
            <a:r>
              <a:rPr lang="en-US" sz="2800" dirty="0" err="1">
                <a:solidFill>
                  <a:schemeClr val="accent2"/>
                </a:solidFill>
              </a:rPr>
              <a:t>triu</a:t>
            </a:r>
            <a:r>
              <a:rPr lang="en-US" sz="2800" dirty="0">
                <a:solidFill>
                  <a:schemeClr val="accent2"/>
                </a:solidFill>
              </a:rPr>
              <a:t> (upper triangular) mask.</a:t>
            </a:r>
            <a:endParaRPr lang="en-GB" sz="2800" dirty="0">
              <a:solidFill>
                <a:schemeClr val="accent2"/>
              </a:solidFill>
            </a:endParaRPr>
          </a:p>
        </p:txBody>
      </p:sp>
      <p:pic>
        <p:nvPicPr>
          <p:cNvPr id="2" name="Picture 1">
            <a:extLst>
              <a:ext uri="{FF2B5EF4-FFF2-40B4-BE49-F238E27FC236}">
                <a16:creationId xmlns:a16="http://schemas.microsoft.com/office/drawing/2014/main" id="{FD916273-3525-5930-9882-FC58F5923F48}"/>
              </a:ext>
            </a:extLst>
          </p:cNvPr>
          <p:cNvPicPr>
            <a:picLocks noChangeAspect="1"/>
          </p:cNvPicPr>
          <p:nvPr/>
        </p:nvPicPr>
        <p:blipFill rotWithShape="1">
          <a:blip r:embed="rId3"/>
          <a:srcRect l="64166" t="22769" r="14616" b="44410"/>
          <a:stretch/>
        </p:blipFill>
        <p:spPr>
          <a:xfrm>
            <a:off x="8575059" y="2917323"/>
            <a:ext cx="3342274" cy="1615600"/>
          </a:xfrm>
          <a:prstGeom prst="rect">
            <a:avLst/>
          </a:prstGeom>
        </p:spPr>
      </p:pic>
    </p:spTree>
    <p:extLst>
      <p:ext uri="{BB962C8B-B14F-4D97-AF65-F5344CB8AC3E}">
        <p14:creationId xmlns:p14="http://schemas.microsoft.com/office/powerpoint/2010/main" val="41873115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7252994-6555-4E3E-8944-98C1FBE0BC05}"/>
              </a:ext>
            </a:extLst>
          </p:cNvPr>
          <p:cNvSpPr txBox="1"/>
          <p:nvPr/>
        </p:nvSpPr>
        <p:spPr>
          <a:xfrm>
            <a:off x="523631" y="1275803"/>
            <a:ext cx="2032000" cy="954107"/>
          </a:xfrm>
          <a:prstGeom prst="rect">
            <a:avLst/>
          </a:prstGeom>
          <a:noFill/>
        </p:spPr>
        <p:txBody>
          <a:bodyPr wrap="square" rtlCol="0">
            <a:spAutoFit/>
          </a:bodyPr>
          <a:lstStyle/>
          <a:p>
            <a:r>
              <a:rPr lang="en-US" sz="2800" dirty="0">
                <a:solidFill>
                  <a:schemeClr val="accent2"/>
                </a:solidFill>
              </a:rPr>
              <a:t>DECODER BLOCK!</a:t>
            </a:r>
            <a:endParaRPr lang="en-GB" sz="2800" dirty="0">
              <a:solidFill>
                <a:schemeClr val="accent2"/>
              </a:solidFill>
            </a:endParaRPr>
          </a:p>
        </p:txBody>
      </p:sp>
      <p:sp>
        <p:nvSpPr>
          <p:cNvPr id="3" name="Rectangle 2">
            <a:extLst>
              <a:ext uri="{FF2B5EF4-FFF2-40B4-BE49-F238E27FC236}">
                <a16:creationId xmlns:a16="http://schemas.microsoft.com/office/drawing/2014/main" id="{F2833502-017F-4D6F-9DA7-B015E2CDF05E}"/>
              </a:ext>
            </a:extLst>
          </p:cNvPr>
          <p:cNvSpPr/>
          <p:nvPr/>
        </p:nvSpPr>
        <p:spPr>
          <a:xfrm flipH="1" flipV="1">
            <a:off x="2555629" y="195385"/>
            <a:ext cx="2321169" cy="647895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394487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7"/>
                </a:pPr>
                <a:r>
                  <a:rPr lang="en-US" dirty="0"/>
                  <a:t>The second attention block is special as it uses </a:t>
                </a:r>
                <a14:m>
                  <m:oMath xmlns:m="http://schemas.openxmlformats.org/officeDocument/2006/math">
                    <m:r>
                      <a:rPr lang="en-US" i="1" dirty="0" smtClean="0">
                        <a:latin typeface="Cambria Math" panose="02040503050406030204" pitchFamily="18" charset="0"/>
                      </a:rPr>
                      <m:t>𝑉</m:t>
                    </m:r>
                  </m:oMath>
                </a14:m>
                <a:r>
                  <a:rPr lang="en-US" dirty="0"/>
                  <a:t> and </a:t>
                </a:r>
                <a14:m>
                  <m:oMath xmlns:m="http://schemas.openxmlformats.org/officeDocument/2006/math">
                    <m:r>
                      <a:rPr lang="en-US" i="1" dirty="0" smtClean="0">
                        <a:latin typeface="Cambria Math" panose="02040503050406030204" pitchFamily="18" charset="0"/>
                      </a:rPr>
                      <m:t>𝐾</m:t>
                    </m:r>
                  </m:oMath>
                </a14:m>
                <a:r>
                  <a:rPr lang="en-US" dirty="0"/>
                  <a:t> vectors from the encoder part and vectors </a:t>
                </a:r>
                <a14:m>
                  <m:oMath xmlns:m="http://schemas.openxmlformats.org/officeDocument/2006/math">
                    <m:r>
                      <a:rPr lang="en-US" i="1" dirty="0" smtClean="0">
                        <a:latin typeface="Cambria Math" panose="02040503050406030204" pitchFamily="18" charset="0"/>
                      </a:rPr>
                      <m:t>𝑄</m:t>
                    </m:r>
                  </m:oMath>
                </a14:m>
                <a:r>
                  <a:rPr lang="en-US" dirty="0"/>
                  <a:t> from the decoder part.</a:t>
                </a:r>
              </a:p>
              <a:p>
                <a:pPr marL="514350" indent="-514350">
                  <a:buFont typeface="+mj-lt"/>
                  <a:buAutoNum type="arabicPeriod" startAt="7"/>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𝑠𝑜𝑓𝑡𝑚𝑎𝑥</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𝑄</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𝑇</m:t>
                                  </m:r>
                                </m:sup>
                              </m:sSup>
                            </m:num>
                            <m:den>
                              <m:r>
                                <a:rPr lang="en-US" i="1">
                                  <a:latin typeface="Cambria Math" panose="02040503050406030204" pitchFamily="18" charset="0"/>
                                </a:rPr>
                                <m:t>𝑑</m:t>
                              </m:r>
                            </m:den>
                          </m:f>
                        </m:e>
                      </m:d>
                      <m:r>
                        <a:rPr lang="en-US" i="1">
                          <a:latin typeface="Cambria Math" panose="02040503050406030204" pitchFamily="18" charset="0"/>
                        </a:rPr>
                        <m:t>𝑉</m:t>
                      </m:r>
                    </m:oMath>
                  </m:oMathPara>
                </a14:m>
                <a:endParaRPr lang="en-GB" dirty="0"/>
              </a:p>
              <a:p>
                <a:pPr marL="514350" indent="-514350">
                  <a:buFont typeface="+mj-lt"/>
                  <a:buAutoNum type="arabicPeriod" startAt="7"/>
                </a:pPr>
                <a:endParaRPr lang="en-GB" dirty="0"/>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941"/>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FE5CC3D2-BCED-4D76-9FDA-4552F992BA84}"/>
              </a:ext>
            </a:extLst>
          </p:cNvPr>
          <p:cNvPicPr>
            <a:picLocks noChangeAspect="1"/>
          </p:cNvPicPr>
          <p:nvPr/>
        </p:nvPicPr>
        <p:blipFill rotWithShape="1">
          <a:blip r:embed="rId3">
            <a:extLst>
              <a:ext uri="{28A0092B-C50C-407E-A947-70E740481C1C}">
                <a14:useLocalDpi xmlns:a14="http://schemas.microsoft.com/office/drawing/2010/main" val="0"/>
              </a:ext>
            </a:extLst>
          </a:blip>
          <a:srcRect l="20275" t="1596" r="59121" b="171"/>
          <a:stretch/>
        </p:blipFill>
        <p:spPr>
          <a:xfrm>
            <a:off x="7440249" y="0"/>
            <a:ext cx="2454033" cy="6736860"/>
          </a:xfrm>
          <a:prstGeom prst="rect">
            <a:avLst/>
          </a:prstGeom>
        </p:spPr>
      </p:pic>
      <p:sp>
        <p:nvSpPr>
          <p:cNvPr id="7" name="Rectangle 6">
            <a:extLst>
              <a:ext uri="{FF2B5EF4-FFF2-40B4-BE49-F238E27FC236}">
                <a16:creationId xmlns:a16="http://schemas.microsoft.com/office/drawing/2014/main" id="{AEEB1230-519D-4467-A6B4-534E5BEF96D6}"/>
              </a:ext>
            </a:extLst>
          </p:cNvPr>
          <p:cNvSpPr/>
          <p:nvPr/>
        </p:nvSpPr>
        <p:spPr>
          <a:xfrm>
            <a:off x="7635634" y="6471137"/>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279F84C-BAFA-FA9F-DF70-AEF314FF50A7}"/>
              </a:ext>
            </a:extLst>
          </p:cNvPr>
          <p:cNvSpPr/>
          <p:nvPr/>
        </p:nvSpPr>
        <p:spPr>
          <a:xfrm flipH="1" flipV="1">
            <a:off x="7237046" y="3149599"/>
            <a:ext cx="1789722" cy="42203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737324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8"/>
            </a:pPr>
            <a:r>
              <a:rPr lang="en-US" dirty="0"/>
              <a:t>Repeat the attention block (multi-head attention + add/norm + feed forward) a few times.</a:t>
            </a:r>
          </a:p>
          <a:p>
            <a:pPr marL="0" indent="0">
              <a:buNone/>
            </a:pPr>
            <a:r>
              <a:rPr lang="en-US" dirty="0"/>
              <a:t>Finish with a fully connected and </a:t>
            </a:r>
            <a:r>
              <a:rPr lang="en-US" dirty="0" err="1"/>
              <a:t>softmax</a:t>
            </a:r>
            <a:r>
              <a:rPr lang="en-US" dirty="0"/>
              <a:t> giving probabilities for the words in each position of the output sequence!</a:t>
            </a:r>
            <a:endParaRPr lang="en-GB" dirty="0"/>
          </a:p>
        </p:txBody>
      </p:sp>
      <p:pic>
        <p:nvPicPr>
          <p:cNvPr id="6" name="Picture 5">
            <a:extLst>
              <a:ext uri="{FF2B5EF4-FFF2-40B4-BE49-F238E27FC236}">
                <a16:creationId xmlns:a16="http://schemas.microsoft.com/office/drawing/2014/main" id="{FE5CC3D2-BCED-4D76-9FDA-4552F992BA84}"/>
              </a:ext>
            </a:extLst>
          </p:cNvPr>
          <p:cNvPicPr>
            <a:picLocks noChangeAspect="1"/>
          </p:cNvPicPr>
          <p:nvPr/>
        </p:nvPicPr>
        <p:blipFill rotWithShape="1">
          <a:blip r:embed="rId2">
            <a:extLst>
              <a:ext uri="{28A0092B-C50C-407E-A947-70E740481C1C}">
                <a14:useLocalDpi xmlns:a14="http://schemas.microsoft.com/office/drawing/2010/main" val="0"/>
              </a:ext>
            </a:extLst>
          </a:blip>
          <a:srcRect l="20275" t="1596" r="59121" b="171"/>
          <a:stretch/>
        </p:blipFill>
        <p:spPr>
          <a:xfrm>
            <a:off x="7440249" y="0"/>
            <a:ext cx="2454033" cy="6736860"/>
          </a:xfrm>
          <a:prstGeom prst="rect">
            <a:avLst/>
          </a:prstGeom>
        </p:spPr>
      </p:pic>
      <p:sp>
        <p:nvSpPr>
          <p:cNvPr id="7" name="Rectangle 6">
            <a:extLst>
              <a:ext uri="{FF2B5EF4-FFF2-40B4-BE49-F238E27FC236}">
                <a16:creationId xmlns:a16="http://schemas.microsoft.com/office/drawing/2014/main" id="{AEEB1230-519D-4467-A6B4-534E5BEF96D6}"/>
              </a:ext>
            </a:extLst>
          </p:cNvPr>
          <p:cNvSpPr/>
          <p:nvPr/>
        </p:nvSpPr>
        <p:spPr>
          <a:xfrm>
            <a:off x="7635634" y="6471137"/>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761462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A155F8C-12A6-497C-989D-B8D326A096C4}"/>
              </a:ext>
            </a:extLst>
          </p:cNvPr>
          <p:cNvPicPr>
            <a:picLocks noChangeAspect="1"/>
          </p:cNvPicPr>
          <p:nvPr/>
        </p:nvPicPr>
        <p:blipFill>
          <a:blip r:embed="rId2"/>
          <a:stretch>
            <a:fillRect/>
          </a:stretch>
        </p:blipFill>
        <p:spPr>
          <a:xfrm>
            <a:off x="0" y="1831831"/>
            <a:ext cx="12192000" cy="3194338"/>
          </a:xfrm>
          <a:prstGeom prst="rect">
            <a:avLst/>
          </a:prstGeom>
        </p:spPr>
      </p:pic>
    </p:spTree>
    <p:extLst>
      <p:ext uri="{BB962C8B-B14F-4D97-AF65-F5344CB8AC3E}">
        <p14:creationId xmlns:p14="http://schemas.microsoft.com/office/powerpoint/2010/main" val="13028578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CFAEED-76E3-4752-91EA-FC50E660C513}"/>
              </a:ext>
            </a:extLst>
          </p:cNvPr>
          <p:cNvPicPr>
            <a:picLocks noChangeAspect="1"/>
          </p:cNvPicPr>
          <p:nvPr/>
        </p:nvPicPr>
        <p:blipFill rotWithShape="1">
          <a:blip r:embed="rId2"/>
          <a:srcRect r="29362"/>
          <a:stretch/>
        </p:blipFill>
        <p:spPr>
          <a:xfrm>
            <a:off x="1155441" y="7368"/>
            <a:ext cx="9881118" cy="6843264"/>
          </a:xfrm>
          <a:prstGeom prst="rect">
            <a:avLst/>
          </a:prstGeom>
        </p:spPr>
      </p:pic>
    </p:spTree>
    <p:extLst>
      <p:ext uri="{BB962C8B-B14F-4D97-AF65-F5344CB8AC3E}">
        <p14:creationId xmlns:p14="http://schemas.microsoft.com/office/powerpoint/2010/main" val="41396768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1E7332-4F16-416D-BF86-CD9584FAB297}"/>
              </a:ext>
            </a:extLst>
          </p:cNvPr>
          <p:cNvPicPr>
            <a:picLocks noChangeAspect="1"/>
          </p:cNvPicPr>
          <p:nvPr/>
        </p:nvPicPr>
        <p:blipFill>
          <a:blip r:embed="rId2"/>
          <a:stretch>
            <a:fillRect/>
          </a:stretch>
        </p:blipFill>
        <p:spPr>
          <a:xfrm>
            <a:off x="-56305" y="1386753"/>
            <a:ext cx="12248305" cy="5037493"/>
          </a:xfrm>
          <a:prstGeom prst="rect">
            <a:avLst/>
          </a:prstGeom>
        </p:spPr>
      </p:pic>
    </p:spTree>
    <p:extLst>
      <p:ext uri="{BB962C8B-B14F-4D97-AF65-F5344CB8AC3E}">
        <p14:creationId xmlns:p14="http://schemas.microsoft.com/office/powerpoint/2010/main" val="29954213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2164F6-05C4-47F7-B023-6896F24CEA37}"/>
              </a:ext>
            </a:extLst>
          </p:cNvPr>
          <p:cNvPicPr>
            <a:picLocks noChangeAspect="1"/>
          </p:cNvPicPr>
          <p:nvPr/>
        </p:nvPicPr>
        <p:blipFill>
          <a:blip r:embed="rId2"/>
          <a:stretch>
            <a:fillRect/>
          </a:stretch>
        </p:blipFill>
        <p:spPr>
          <a:xfrm>
            <a:off x="609600" y="1097"/>
            <a:ext cx="10949646" cy="6872533"/>
          </a:xfrm>
          <a:prstGeom prst="rect">
            <a:avLst/>
          </a:prstGeom>
        </p:spPr>
      </p:pic>
    </p:spTree>
    <p:extLst>
      <p:ext uri="{BB962C8B-B14F-4D97-AF65-F5344CB8AC3E}">
        <p14:creationId xmlns:p14="http://schemas.microsoft.com/office/powerpoint/2010/main" val="34995984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802-4B0A-4326-B5BB-5DEF776050BD}"/>
              </a:ext>
            </a:extLst>
          </p:cNvPr>
          <p:cNvSpPr>
            <a:spLocks noGrp="1"/>
          </p:cNvSpPr>
          <p:nvPr>
            <p:ph type="title"/>
          </p:nvPr>
        </p:nvSpPr>
        <p:spPr/>
        <p:txBody>
          <a:bodyPr/>
          <a:lstStyle/>
          <a:p>
            <a:r>
              <a:rPr lang="en-US" dirty="0"/>
              <a:t>The attention layer</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2AD19-5F25-46A7-8D52-D58FEE534C09}"/>
                  </a:ext>
                </a:extLst>
              </p:cNvPr>
              <p:cNvSpPr>
                <a:spLocks noGrp="1"/>
              </p:cNvSpPr>
              <p:nvPr>
                <p:ph sz="half" idx="1"/>
              </p:nvPr>
            </p:nvSpPr>
            <p:spPr>
              <a:xfrm>
                <a:off x="838200" y="1825624"/>
                <a:ext cx="5718908" cy="5032375"/>
              </a:xfrm>
            </p:spPr>
            <p:txBody>
              <a:bodyPr>
                <a:normAutofit/>
              </a:bodyPr>
              <a:lstStyle/>
              <a:p>
                <a:pPr marL="0" indent="0">
                  <a:buNone/>
                </a:pPr>
                <a:r>
                  <a:rPr lang="en-US" b="1" dirty="0"/>
                  <a:t>Definition (the multi-head self-attention layer a.k.a. the </a:t>
                </a:r>
                <a:r>
                  <a:rPr lang="en-US" b="1" dirty="0">
                    <a:solidFill>
                      <a:srgbClr val="00B050"/>
                    </a:solidFill>
                  </a:rPr>
                  <a:t>attention</a:t>
                </a:r>
                <a:r>
                  <a:rPr lang="en-US" b="1" dirty="0"/>
                  <a:t> </a:t>
                </a:r>
                <a:r>
                  <a:rPr lang="en-US" b="1" dirty="0">
                    <a:solidFill>
                      <a:srgbClr val="00B050"/>
                    </a:solidFill>
                  </a:rPr>
                  <a:t>layer</a:t>
                </a:r>
                <a:r>
                  <a:rPr lang="en-US" b="1" dirty="0"/>
                  <a:t>):</a:t>
                </a:r>
              </a:p>
              <a:p>
                <a:pPr marL="514350" indent="-514350">
                  <a:buFont typeface="+mj-lt"/>
                  <a:buAutoNum type="arabicPeriod" startAt="8"/>
                </a:pPr>
                <a:r>
                  <a:rPr lang="en-US" dirty="0"/>
                  <a:t>Train it with a dataset consisting of several pairs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m:t>
                    </m:r>
                    <m:r>
                      <a:rPr lang="en-US" i="1" dirty="0">
                        <a:latin typeface="Cambria Math" panose="02040503050406030204" pitchFamily="18" charset="0"/>
                      </a:rPr>
                      <m:t> </m:t>
                    </m:r>
                  </m:oMath>
                </a14:m>
                <a:r>
                  <a:rPr lang="en-US" dirty="0"/>
                  <a:t>of sentences.</a:t>
                </a:r>
              </a:p>
              <a:p>
                <a:pPr marL="0" indent="0">
                  <a:buNone/>
                </a:pPr>
                <a:r>
                  <a:rPr lang="en-US" dirty="0"/>
                  <a:t>For instance, chatbot with </a:t>
                </a:r>
                <a14:m>
                  <m:oMath xmlns:m="http://schemas.openxmlformats.org/officeDocument/2006/math">
                    <m:r>
                      <a:rPr lang="en-US" i="1" dirty="0" smtClean="0">
                        <a:latin typeface="Cambria Math" panose="02040503050406030204" pitchFamily="18" charset="0"/>
                      </a:rPr>
                      <m:t>𝑥</m:t>
                    </m:r>
                  </m:oMath>
                </a14:m>
                <a:r>
                  <a:rPr lang="en-US" dirty="0"/>
                  <a:t> being question prompts and </a:t>
                </a:r>
                <a14:m>
                  <m:oMath xmlns:m="http://schemas.openxmlformats.org/officeDocument/2006/math">
                    <m:r>
                      <a:rPr lang="en-US" i="1" dirty="0" smtClean="0">
                        <a:latin typeface="Cambria Math" panose="02040503050406030204" pitchFamily="18" charset="0"/>
                      </a:rPr>
                      <m:t>𝑦</m:t>
                    </m:r>
                  </m:oMath>
                </a14:m>
                <a:r>
                  <a:rPr lang="en-US" dirty="0"/>
                  <a:t> being expected answers.</a:t>
                </a:r>
              </a:p>
              <a:p>
                <a:pPr marL="0" indent="0">
                  <a:buNone/>
                </a:pPr>
                <a:r>
                  <a:rPr lang="en-GB" dirty="0"/>
                  <a:t>Or translation with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i="1" dirty="0" smtClean="0">
                        <a:latin typeface="Cambria Math" panose="02040503050406030204" pitchFamily="18" charset="0"/>
                      </a:rPr>
                      <m:t>𝑦</m:t>
                    </m:r>
                  </m:oMath>
                </a14:m>
                <a:r>
                  <a:rPr lang="en-US" dirty="0"/>
                  <a:t> being sentences in two different languages.</a:t>
                </a:r>
              </a:p>
              <a:p>
                <a:pPr marL="0" indent="0">
                  <a:buNone/>
                </a:pPr>
                <a:r>
                  <a:rPr lang="en-US" dirty="0"/>
                  <a:t>Etc.</a:t>
                </a:r>
              </a:p>
            </p:txBody>
          </p:sp>
        </mc:Choice>
        <mc:Fallback xmlns="">
          <p:sp>
            <p:nvSpPr>
              <p:cNvPr id="3" name="Content Placeholder 2">
                <a:extLst>
                  <a:ext uri="{FF2B5EF4-FFF2-40B4-BE49-F238E27FC236}">
                    <a16:creationId xmlns:a16="http://schemas.microsoft.com/office/drawing/2014/main" id="{E362AD19-5F25-46A7-8D52-D58FEE534C09}"/>
                  </a:ext>
                </a:extLst>
              </p:cNvPr>
              <p:cNvSpPr>
                <a:spLocks noGrp="1" noRot="1" noChangeAspect="1" noMove="1" noResize="1" noEditPoints="1" noAdjustHandles="1" noChangeArrowheads="1" noChangeShapeType="1" noTextEdit="1"/>
              </p:cNvSpPr>
              <p:nvPr>
                <p:ph sz="half" idx="1"/>
              </p:nvPr>
            </p:nvSpPr>
            <p:spPr>
              <a:xfrm>
                <a:off x="838200" y="1825624"/>
                <a:ext cx="5718908" cy="5032375"/>
              </a:xfrm>
              <a:blipFill>
                <a:blip r:embed="rId2"/>
                <a:stretch>
                  <a:fillRect l="-2239" t="-1937" r="-3198"/>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FE5CC3D2-BCED-4D76-9FDA-4552F992BA84}"/>
              </a:ext>
            </a:extLst>
          </p:cNvPr>
          <p:cNvPicPr>
            <a:picLocks noChangeAspect="1"/>
          </p:cNvPicPr>
          <p:nvPr/>
        </p:nvPicPr>
        <p:blipFill rotWithShape="1">
          <a:blip r:embed="rId3">
            <a:extLst>
              <a:ext uri="{28A0092B-C50C-407E-A947-70E740481C1C}">
                <a14:useLocalDpi xmlns:a14="http://schemas.microsoft.com/office/drawing/2010/main" val="0"/>
              </a:ext>
            </a:extLst>
          </a:blip>
          <a:srcRect l="20275" t="1596" r="59121" b="171"/>
          <a:stretch/>
        </p:blipFill>
        <p:spPr>
          <a:xfrm>
            <a:off x="7440249" y="0"/>
            <a:ext cx="2454033" cy="6736860"/>
          </a:xfrm>
          <a:prstGeom prst="rect">
            <a:avLst/>
          </a:prstGeom>
        </p:spPr>
      </p:pic>
      <p:sp>
        <p:nvSpPr>
          <p:cNvPr id="7" name="Rectangle 6">
            <a:extLst>
              <a:ext uri="{FF2B5EF4-FFF2-40B4-BE49-F238E27FC236}">
                <a16:creationId xmlns:a16="http://schemas.microsoft.com/office/drawing/2014/main" id="{AEEB1230-519D-4467-A6B4-534E5BEF96D6}"/>
              </a:ext>
            </a:extLst>
          </p:cNvPr>
          <p:cNvSpPr/>
          <p:nvPr/>
        </p:nvSpPr>
        <p:spPr>
          <a:xfrm>
            <a:off x="7635634" y="6471137"/>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155600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2" name="TextBox 1">
            <a:extLst>
              <a:ext uri="{FF2B5EF4-FFF2-40B4-BE49-F238E27FC236}">
                <a16:creationId xmlns:a16="http://schemas.microsoft.com/office/drawing/2014/main" id="{9E040929-C8AD-AD05-EF97-F973269FB4C6}"/>
              </a:ext>
            </a:extLst>
          </p:cNvPr>
          <p:cNvSpPr txBox="1"/>
          <p:nvPr/>
        </p:nvSpPr>
        <p:spPr>
          <a:xfrm>
            <a:off x="5212861" y="5212862"/>
            <a:ext cx="2946400" cy="954107"/>
          </a:xfrm>
          <a:prstGeom prst="rect">
            <a:avLst/>
          </a:prstGeom>
          <a:noFill/>
        </p:spPr>
        <p:txBody>
          <a:bodyPr wrap="square" rtlCol="0">
            <a:spAutoFit/>
          </a:bodyPr>
          <a:lstStyle/>
          <a:p>
            <a:pPr algn="ctr"/>
            <a:r>
              <a:rPr lang="en-GB" sz="2800" b="1" dirty="0">
                <a:solidFill>
                  <a:schemeClr val="accent2"/>
                </a:solidFill>
              </a:rPr>
              <a:t>Time to assemble everything!</a:t>
            </a:r>
            <a:endParaRPr lang="en-SG" sz="2800" b="1" dirty="0">
              <a:solidFill>
                <a:schemeClr val="accent2"/>
              </a:solidFill>
            </a:endParaRPr>
          </a:p>
        </p:txBody>
      </p:sp>
    </p:spTree>
    <p:extLst>
      <p:ext uri="{BB962C8B-B14F-4D97-AF65-F5344CB8AC3E}">
        <p14:creationId xmlns:p14="http://schemas.microsoft.com/office/powerpoint/2010/main" val="20802975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665F18-401B-4C85-B879-8A7E5ECA2717}"/>
              </a:ext>
            </a:extLst>
          </p:cNvPr>
          <p:cNvPicPr>
            <a:picLocks noChangeAspect="1"/>
          </p:cNvPicPr>
          <p:nvPr/>
        </p:nvPicPr>
        <p:blipFill>
          <a:blip r:embed="rId2"/>
          <a:stretch>
            <a:fillRect/>
          </a:stretch>
        </p:blipFill>
        <p:spPr>
          <a:xfrm>
            <a:off x="0" y="502188"/>
            <a:ext cx="12192000" cy="5853624"/>
          </a:xfrm>
          <a:prstGeom prst="rect">
            <a:avLst/>
          </a:prstGeom>
        </p:spPr>
      </p:pic>
    </p:spTree>
    <p:extLst>
      <p:ext uri="{BB962C8B-B14F-4D97-AF65-F5344CB8AC3E}">
        <p14:creationId xmlns:p14="http://schemas.microsoft.com/office/powerpoint/2010/main" val="31036331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153803-2CE5-4BEF-BEBB-03A0AF9FC160}"/>
              </a:ext>
            </a:extLst>
          </p:cNvPr>
          <p:cNvPicPr>
            <a:picLocks noChangeAspect="1"/>
          </p:cNvPicPr>
          <p:nvPr/>
        </p:nvPicPr>
        <p:blipFill>
          <a:blip r:embed="rId2"/>
          <a:stretch>
            <a:fillRect/>
          </a:stretch>
        </p:blipFill>
        <p:spPr>
          <a:xfrm>
            <a:off x="0" y="415512"/>
            <a:ext cx="12071495" cy="3421841"/>
          </a:xfrm>
          <a:prstGeom prst="rect">
            <a:avLst/>
          </a:prstGeom>
        </p:spPr>
      </p:pic>
      <p:pic>
        <p:nvPicPr>
          <p:cNvPr id="3" name="Picture 2">
            <a:extLst>
              <a:ext uri="{FF2B5EF4-FFF2-40B4-BE49-F238E27FC236}">
                <a16:creationId xmlns:a16="http://schemas.microsoft.com/office/drawing/2014/main" id="{F031F82F-E1BC-07D4-0F58-0111390C2C7F}"/>
              </a:ext>
            </a:extLst>
          </p:cNvPr>
          <p:cNvPicPr>
            <a:picLocks noChangeAspect="1"/>
          </p:cNvPicPr>
          <p:nvPr/>
        </p:nvPicPr>
        <p:blipFill>
          <a:blip r:embed="rId3"/>
          <a:stretch>
            <a:fillRect/>
          </a:stretch>
        </p:blipFill>
        <p:spPr>
          <a:xfrm>
            <a:off x="7995262" y="2360246"/>
            <a:ext cx="3572557" cy="4315753"/>
          </a:xfrm>
          <a:prstGeom prst="rect">
            <a:avLst/>
          </a:prstGeom>
        </p:spPr>
      </p:pic>
    </p:spTree>
    <p:extLst>
      <p:ext uri="{BB962C8B-B14F-4D97-AF65-F5344CB8AC3E}">
        <p14:creationId xmlns:p14="http://schemas.microsoft.com/office/powerpoint/2010/main" val="16584895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2" name="TextBox 1">
            <a:extLst>
              <a:ext uri="{FF2B5EF4-FFF2-40B4-BE49-F238E27FC236}">
                <a16:creationId xmlns:a16="http://schemas.microsoft.com/office/drawing/2014/main" id="{EB15A820-3712-174B-A242-9C94E4E75DD7}"/>
              </a:ext>
            </a:extLst>
          </p:cNvPr>
          <p:cNvSpPr txBox="1"/>
          <p:nvPr/>
        </p:nvSpPr>
        <p:spPr>
          <a:xfrm>
            <a:off x="5212861" y="5212862"/>
            <a:ext cx="2946400" cy="523220"/>
          </a:xfrm>
          <a:prstGeom prst="rect">
            <a:avLst/>
          </a:prstGeom>
          <a:noFill/>
        </p:spPr>
        <p:txBody>
          <a:bodyPr wrap="square" rtlCol="0">
            <a:spAutoFit/>
          </a:bodyPr>
          <a:lstStyle/>
          <a:p>
            <a:pPr algn="ctr"/>
            <a:r>
              <a:rPr lang="en-GB" sz="2800" b="1" dirty="0">
                <a:solidFill>
                  <a:schemeClr val="accent2"/>
                </a:solidFill>
              </a:rPr>
              <a:t>And, done!</a:t>
            </a:r>
            <a:endParaRPr lang="en-SG" sz="2800" b="1" dirty="0">
              <a:solidFill>
                <a:schemeClr val="accent2"/>
              </a:solidFill>
            </a:endParaRPr>
          </a:p>
        </p:txBody>
      </p:sp>
      <p:sp>
        <p:nvSpPr>
          <p:cNvPr id="3" name="TextBox 2">
            <a:extLst>
              <a:ext uri="{FF2B5EF4-FFF2-40B4-BE49-F238E27FC236}">
                <a16:creationId xmlns:a16="http://schemas.microsoft.com/office/drawing/2014/main" id="{BC98B76D-8F22-C2D7-33B1-987F9448B677}"/>
              </a:ext>
            </a:extLst>
          </p:cNvPr>
          <p:cNvSpPr txBox="1"/>
          <p:nvPr/>
        </p:nvSpPr>
        <p:spPr>
          <a:xfrm>
            <a:off x="5822461" y="5819987"/>
            <a:ext cx="1914770" cy="954107"/>
          </a:xfrm>
          <a:prstGeom prst="rect">
            <a:avLst/>
          </a:prstGeom>
          <a:noFill/>
        </p:spPr>
        <p:txBody>
          <a:bodyPr wrap="square" rtlCol="0">
            <a:spAutoFit/>
          </a:bodyPr>
          <a:lstStyle/>
          <a:p>
            <a:r>
              <a:rPr lang="en-US" sz="2800" b="1" dirty="0">
                <a:solidFill>
                  <a:schemeClr val="accent2"/>
                </a:solidFill>
              </a:rPr>
              <a:t>Phew, that was a lot!</a:t>
            </a:r>
            <a:endParaRPr lang="en-GB" sz="2800" b="1" dirty="0">
              <a:solidFill>
                <a:schemeClr val="accent2"/>
              </a:solidFill>
            </a:endParaRPr>
          </a:p>
        </p:txBody>
      </p:sp>
    </p:spTree>
    <p:extLst>
      <p:ext uri="{BB962C8B-B14F-4D97-AF65-F5344CB8AC3E}">
        <p14:creationId xmlns:p14="http://schemas.microsoft.com/office/powerpoint/2010/main" val="25021181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pic>
        <p:nvPicPr>
          <p:cNvPr id="6" name="Picture 5">
            <a:extLst>
              <a:ext uri="{FF2B5EF4-FFF2-40B4-BE49-F238E27FC236}">
                <a16:creationId xmlns:a16="http://schemas.microsoft.com/office/drawing/2014/main" id="{ABE797CD-9ACB-4D3B-BD5F-F7C522223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0619" y="1500554"/>
            <a:ext cx="9329835" cy="5242779"/>
          </a:xfrm>
          <a:prstGeom prst="rect">
            <a:avLst/>
          </a:prstGeom>
        </p:spPr>
      </p:pic>
      <p:sp>
        <p:nvSpPr>
          <p:cNvPr id="3" name="TextBox 2">
            <a:extLst>
              <a:ext uri="{FF2B5EF4-FFF2-40B4-BE49-F238E27FC236}">
                <a16:creationId xmlns:a16="http://schemas.microsoft.com/office/drawing/2014/main" id="{4106F5EB-0365-342C-103A-EFDE717BEDE0}"/>
              </a:ext>
            </a:extLst>
          </p:cNvPr>
          <p:cNvSpPr txBox="1"/>
          <p:nvPr/>
        </p:nvSpPr>
        <p:spPr>
          <a:xfrm>
            <a:off x="0" y="429846"/>
            <a:ext cx="2665041" cy="1815882"/>
          </a:xfrm>
          <a:prstGeom prst="rect">
            <a:avLst/>
          </a:prstGeom>
          <a:noFill/>
        </p:spPr>
        <p:txBody>
          <a:bodyPr wrap="square" rtlCol="0">
            <a:spAutoFit/>
          </a:bodyPr>
          <a:lstStyle/>
          <a:p>
            <a:r>
              <a:rPr lang="en-US" sz="2800" b="1" dirty="0">
                <a:solidFill>
                  <a:schemeClr val="accent2"/>
                </a:solidFill>
              </a:rPr>
              <a:t>Well, at the end of the day, it is “just” matrix multiplications…</a:t>
            </a:r>
            <a:endParaRPr lang="en-GB" sz="2800" b="1" dirty="0">
              <a:solidFill>
                <a:schemeClr val="accent2"/>
              </a:solidFill>
            </a:endParaRPr>
          </a:p>
        </p:txBody>
      </p:sp>
    </p:spTree>
    <p:extLst>
      <p:ext uri="{BB962C8B-B14F-4D97-AF65-F5344CB8AC3E}">
        <p14:creationId xmlns:p14="http://schemas.microsoft.com/office/powerpoint/2010/main" val="17987387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90E1A-08B7-42D1-9136-9548826AAE84}"/>
              </a:ext>
            </a:extLst>
          </p:cNvPr>
          <p:cNvSpPr>
            <a:spLocks noGrp="1"/>
          </p:cNvSpPr>
          <p:nvPr>
            <p:ph type="title"/>
          </p:nvPr>
        </p:nvSpPr>
        <p:spPr/>
        <p:txBody>
          <a:bodyPr/>
          <a:lstStyle/>
          <a:p>
            <a:r>
              <a:rPr lang="en-US" dirty="0"/>
              <a:t>Great news!</a:t>
            </a:r>
            <a:endParaRPr lang="en-GB" dirty="0"/>
          </a:p>
        </p:txBody>
      </p:sp>
      <p:sp>
        <p:nvSpPr>
          <p:cNvPr id="5" name="Content Placeholder 4">
            <a:extLst>
              <a:ext uri="{FF2B5EF4-FFF2-40B4-BE49-F238E27FC236}">
                <a16:creationId xmlns:a16="http://schemas.microsoft.com/office/drawing/2014/main" id="{9707D2CA-E708-4FC2-852D-295E3C445E84}"/>
              </a:ext>
            </a:extLst>
          </p:cNvPr>
          <p:cNvSpPr>
            <a:spLocks noGrp="1"/>
          </p:cNvSpPr>
          <p:nvPr>
            <p:ph idx="1"/>
          </p:nvPr>
        </p:nvSpPr>
        <p:spPr>
          <a:xfrm>
            <a:off x="838200" y="1825625"/>
            <a:ext cx="10515600" cy="1603375"/>
          </a:xfrm>
        </p:spPr>
        <p:txBody>
          <a:bodyPr/>
          <a:lstStyle/>
          <a:p>
            <a:pPr marL="0" indent="0" algn="ctr">
              <a:buNone/>
            </a:pPr>
            <a:r>
              <a:rPr lang="en-US" dirty="0"/>
              <a:t>The 2022 release of </a:t>
            </a:r>
            <a:r>
              <a:rPr lang="en-US" dirty="0" err="1"/>
              <a:t>PyTorch</a:t>
            </a:r>
            <a:r>
              <a:rPr lang="en-US" dirty="0"/>
              <a:t> </a:t>
            </a:r>
            <a:r>
              <a:rPr lang="en-GB" b="1" dirty="0"/>
              <a:t>COMES WITH TRANSFORMERS CLASSES!</a:t>
            </a:r>
          </a:p>
          <a:p>
            <a:pPr marL="0" indent="0" algn="ctr">
              <a:buNone/>
            </a:pPr>
            <a:r>
              <a:rPr lang="en-US" dirty="0">
                <a:hlinkClick r:id="rId2"/>
              </a:rPr>
              <a:t>https://pytorch.org/docs/stable/generated/torch.nn.Transformer.html</a:t>
            </a:r>
            <a:endParaRPr lang="en-GB" dirty="0"/>
          </a:p>
        </p:txBody>
      </p:sp>
      <p:pic>
        <p:nvPicPr>
          <p:cNvPr id="7" name="Picture 6">
            <a:extLst>
              <a:ext uri="{FF2B5EF4-FFF2-40B4-BE49-F238E27FC236}">
                <a16:creationId xmlns:a16="http://schemas.microsoft.com/office/drawing/2014/main" id="{18244928-E0D8-4130-98DD-6F5D6CDFC499}"/>
              </a:ext>
            </a:extLst>
          </p:cNvPr>
          <p:cNvPicPr>
            <a:picLocks noChangeAspect="1"/>
          </p:cNvPicPr>
          <p:nvPr/>
        </p:nvPicPr>
        <p:blipFill>
          <a:blip r:embed="rId3"/>
          <a:stretch>
            <a:fillRect/>
          </a:stretch>
        </p:blipFill>
        <p:spPr>
          <a:xfrm>
            <a:off x="1047312" y="3264879"/>
            <a:ext cx="10097376" cy="3252418"/>
          </a:xfrm>
          <a:prstGeom prst="rect">
            <a:avLst/>
          </a:prstGeom>
        </p:spPr>
      </p:pic>
    </p:spTree>
    <p:extLst>
      <p:ext uri="{BB962C8B-B14F-4D97-AF65-F5344CB8AC3E}">
        <p14:creationId xmlns:p14="http://schemas.microsoft.com/office/powerpoint/2010/main" val="6598476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F240C-7687-4DE5-BE30-E357E0713271}"/>
              </a:ext>
            </a:extLst>
          </p:cNvPr>
          <p:cNvSpPr>
            <a:spLocks noGrp="1"/>
          </p:cNvSpPr>
          <p:nvPr>
            <p:ph type="title"/>
          </p:nvPr>
        </p:nvSpPr>
        <p:spPr/>
        <p:txBody>
          <a:bodyPr/>
          <a:lstStyle/>
          <a:p>
            <a:r>
              <a:rPr lang="en-US" dirty="0"/>
              <a:t>Applications for attention/transformers</a:t>
            </a:r>
            <a:endParaRPr lang="en-GB" dirty="0"/>
          </a:p>
        </p:txBody>
      </p:sp>
      <p:sp>
        <p:nvSpPr>
          <p:cNvPr id="3" name="Content Placeholder 2">
            <a:extLst>
              <a:ext uri="{FF2B5EF4-FFF2-40B4-BE49-F238E27FC236}">
                <a16:creationId xmlns:a16="http://schemas.microsoft.com/office/drawing/2014/main" id="{4C38A576-D387-4F22-BB87-3F235D6EC0F1}"/>
              </a:ext>
            </a:extLst>
          </p:cNvPr>
          <p:cNvSpPr>
            <a:spLocks noGrp="1"/>
          </p:cNvSpPr>
          <p:nvPr>
            <p:ph idx="1"/>
          </p:nvPr>
        </p:nvSpPr>
        <p:spPr>
          <a:xfrm>
            <a:off x="838200" y="1825624"/>
            <a:ext cx="10515600" cy="5032375"/>
          </a:xfrm>
        </p:spPr>
        <p:txBody>
          <a:bodyPr/>
          <a:lstStyle/>
          <a:p>
            <a:pPr marL="0" indent="0">
              <a:buNone/>
            </a:pPr>
            <a:r>
              <a:rPr lang="en-US" b="1" dirty="0"/>
              <a:t>In NLP: </a:t>
            </a:r>
            <a:r>
              <a:rPr lang="en-US" dirty="0"/>
              <a:t>Sentences are typical examples of sequences where computing attention coefficients make sense as a way to help with contextualization.</a:t>
            </a:r>
          </a:p>
          <a:p>
            <a:r>
              <a:rPr lang="en-US" dirty="0"/>
              <a:t>Other applications for attention exist, typically with images, where attention coefficients can help understand how pixels interact with each other! Technically attention layers could “replace” CNNs!</a:t>
            </a:r>
          </a:p>
          <a:p>
            <a:r>
              <a:rPr lang="en-US" dirty="0"/>
              <a:t>Or how pixels could affect a caption decision (image and video captioning, handwritten recognition, etc.)</a:t>
            </a:r>
          </a:p>
          <a:p>
            <a:r>
              <a:rPr lang="en-US" dirty="0"/>
              <a:t>Will also be used in graphs next week!</a:t>
            </a:r>
          </a:p>
        </p:txBody>
      </p:sp>
    </p:spTree>
    <p:extLst>
      <p:ext uri="{BB962C8B-B14F-4D97-AF65-F5344CB8AC3E}">
        <p14:creationId xmlns:p14="http://schemas.microsoft.com/office/powerpoint/2010/main" val="6516065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6CF0-28DC-44CC-92A5-7FD16F474A08}"/>
              </a:ext>
            </a:extLst>
          </p:cNvPr>
          <p:cNvSpPr>
            <a:spLocks noGrp="1"/>
          </p:cNvSpPr>
          <p:nvPr>
            <p:ph type="title"/>
          </p:nvPr>
        </p:nvSpPr>
        <p:spPr/>
        <p:txBody>
          <a:bodyPr/>
          <a:lstStyle/>
          <a:p>
            <a:r>
              <a:rPr lang="en-US" dirty="0"/>
              <a:t>The BERT word embedding</a:t>
            </a:r>
            <a:endParaRPr lang="en-GB" dirty="0"/>
          </a:p>
        </p:txBody>
      </p:sp>
      <p:sp>
        <p:nvSpPr>
          <p:cNvPr id="3" name="Content Placeholder 2">
            <a:extLst>
              <a:ext uri="{FF2B5EF4-FFF2-40B4-BE49-F238E27FC236}">
                <a16:creationId xmlns:a16="http://schemas.microsoft.com/office/drawing/2014/main" id="{E7A0096F-0742-40C0-80D1-E7A10979DCBB}"/>
              </a:ext>
            </a:extLst>
          </p:cNvPr>
          <p:cNvSpPr>
            <a:spLocks noGrp="1"/>
          </p:cNvSpPr>
          <p:nvPr>
            <p:ph sz="half" idx="1"/>
          </p:nvPr>
        </p:nvSpPr>
        <p:spPr>
          <a:xfrm>
            <a:off x="838200" y="1825624"/>
            <a:ext cx="5334000" cy="5032375"/>
          </a:xfrm>
        </p:spPr>
        <p:txBody>
          <a:bodyPr>
            <a:normAutofit/>
          </a:bodyPr>
          <a:lstStyle/>
          <a:p>
            <a:r>
              <a:rPr lang="en-US" dirty="0"/>
              <a:t>Why discuss transformers during this (long) lecture on embeddings?</a:t>
            </a:r>
          </a:p>
          <a:p>
            <a:r>
              <a:rPr lang="en-US" dirty="0"/>
              <a:t>Well, let us assume we train a transformer for a meaningless linguistics task…</a:t>
            </a:r>
          </a:p>
          <a:p>
            <a:r>
              <a:rPr lang="en-US" dirty="0"/>
              <a:t>Can we extract the encoder part, as we did with all the unsupervised approaches to word embedding (</a:t>
            </a:r>
            <a:r>
              <a:rPr lang="en-US" dirty="0" err="1"/>
              <a:t>CBoW</a:t>
            </a:r>
            <a:r>
              <a:rPr lang="en-US" dirty="0"/>
              <a:t>, </a:t>
            </a:r>
            <a:r>
              <a:rPr lang="en-US" dirty="0" err="1"/>
              <a:t>SkipGram</a:t>
            </a:r>
            <a:r>
              <a:rPr lang="en-US" dirty="0"/>
              <a:t>, </a:t>
            </a:r>
            <a:r>
              <a:rPr lang="en-US" dirty="0" err="1"/>
              <a:t>FastText</a:t>
            </a:r>
            <a:r>
              <a:rPr lang="en-US" dirty="0"/>
              <a:t>, </a:t>
            </a:r>
            <a:r>
              <a:rPr lang="en-US" dirty="0" err="1"/>
              <a:t>ELMo</a:t>
            </a:r>
            <a:r>
              <a:rPr lang="en-US" dirty="0"/>
              <a:t>)?</a:t>
            </a:r>
          </a:p>
          <a:p>
            <a:endParaRPr lang="en-GB" dirty="0"/>
          </a:p>
        </p:txBody>
      </p:sp>
      <p:sp>
        <p:nvSpPr>
          <p:cNvPr id="4" name="Content Placeholder 3">
            <a:extLst>
              <a:ext uri="{FF2B5EF4-FFF2-40B4-BE49-F238E27FC236}">
                <a16:creationId xmlns:a16="http://schemas.microsoft.com/office/drawing/2014/main" id="{14831169-49E0-42B5-98BE-D1F03F482290}"/>
              </a:ext>
            </a:extLst>
          </p:cNvPr>
          <p:cNvSpPr>
            <a:spLocks noGrp="1"/>
          </p:cNvSpPr>
          <p:nvPr>
            <p:ph sz="half" idx="2"/>
          </p:nvPr>
        </p:nvSpPr>
        <p:spPr/>
        <p:txBody>
          <a:bodyPr>
            <a:normAutofit/>
          </a:bodyPr>
          <a:lstStyle/>
          <a:p>
            <a:r>
              <a:rPr lang="en-US" b="1" dirty="0"/>
              <a:t>Yes! And you obtain one of the current best word embeddings, BERT (and its close cousin GPT)! </a:t>
            </a:r>
            <a:r>
              <a:rPr lang="en-US" dirty="0"/>
              <a:t>[Devlin2019]</a:t>
            </a:r>
          </a:p>
          <a:p>
            <a:r>
              <a:rPr lang="en-US" dirty="0"/>
              <a:t>Python package: </a:t>
            </a:r>
            <a:r>
              <a:rPr lang="en-US" dirty="0">
                <a:hlinkClick r:id="rId2"/>
              </a:rPr>
              <a:t>https://pypi.org/project/bert-embedding/</a:t>
            </a:r>
            <a:endParaRPr lang="en-US" dirty="0"/>
          </a:p>
        </p:txBody>
      </p:sp>
      <p:pic>
        <p:nvPicPr>
          <p:cNvPr id="8" name="Picture 7">
            <a:extLst>
              <a:ext uri="{FF2B5EF4-FFF2-40B4-BE49-F238E27FC236}">
                <a16:creationId xmlns:a16="http://schemas.microsoft.com/office/drawing/2014/main" id="{056CB2C6-F1CD-406C-B7AE-93FC2D43F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7009" y="4485698"/>
            <a:ext cx="3001108" cy="2250831"/>
          </a:xfrm>
          <a:prstGeom prst="rect">
            <a:avLst/>
          </a:prstGeom>
        </p:spPr>
      </p:pic>
    </p:spTree>
    <p:extLst>
      <p:ext uri="{BB962C8B-B14F-4D97-AF65-F5344CB8AC3E}">
        <p14:creationId xmlns:p14="http://schemas.microsoft.com/office/powerpoint/2010/main" val="33447496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BF743-BAC1-422E-B891-BF756A5F4475}"/>
              </a:ext>
            </a:extLst>
          </p:cNvPr>
          <p:cNvSpPr>
            <a:spLocks noGrp="1"/>
          </p:cNvSpPr>
          <p:nvPr>
            <p:ph type="title"/>
          </p:nvPr>
        </p:nvSpPr>
        <p:spPr/>
        <p:txBody>
          <a:bodyPr/>
          <a:lstStyle/>
          <a:p>
            <a:r>
              <a:rPr lang="en-US" dirty="0"/>
              <a:t>Also, GPT-n embeddings</a:t>
            </a:r>
            <a:endParaRPr lang="en-GB" dirty="0"/>
          </a:p>
        </p:txBody>
      </p:sp>
      <p:sp>
        <p:nvSpPr>
          <p:cNvPr id="3" name="Content Placeholder 2">
            <a:extLst>
              <a:ext uri="{FF2B5EF4-FFF2-40B4-BE49-F238E27FC236}">
                <a16:creationId xmlns:a16="http://schemas.microsoft.com/office/drawing/2014/main" id="{F07EF62C-B4DE-43C0-841C-F8E6E677B5F8}"/>
              </a:ext>
            </a:extLst>
          </p:cNvPr>
          <p:cNvSpPr>
            <a:spLocks noGrp="1"/>
          </p:cNvSpPr>
          <p:nvPr>
            <p:ph sz="half" idx="1"/>
          </p:nvPr>
        </p:nvSpPr>
        <p:spPr>
          <a:xfrm>
            <a:off x="838200" y="1825624"/>
            <a:ext cx="5181600" cy="5032375"/>
          </a:xfrm>
        </p:spPr>
        <p:txBody>
          <a:bodyPr>
            <a:normAutofit/>
          </a:bodyPr>
          <a:lstStyle/>
          <a:p>
            <a:r>
              <a:rPr lang="en-US" dirty="0"/>
              <a:t>On another note, OpenAI became famous because it produced an important competitor embedding, also relying on transformers, called </a:t>
            </a:r>
            <a:r>
              <a:rPr lang="en-US" b="1" dirty="0"/>
              <a:t>GPT-3</a:t>
            </a:r>
            <a:r>
              <a:rPr lang="en-US" dirty="0"/>
              <a:t> [Brown2020][GPT-3].</a:t>
            </a:r>
          </a:p>
          <a:p>
            <a:r>
              <a:rPr lang="en-US" b="1" dirty="0"/>
              <a:t>GPT, </a:t>
            </a:r>
            <a:r>
              <a:rPr lang="en-US" dirty="0"/>
              <a:t>being the acronym for </a:t>
            </a:r>
            <a:r>
              <a:rPr lang="en-SG" b="1" dirty="0"/>
              <a:t>Generative Pretrained Transformer.</a:t>
            </a:r>
            <a:endParaRPr lang="en-US" b="1" dirty="0"/>
          </a:p>
          <a:p>
            <a:r>
              <a:rPr lang="en-US" dirty="0"/>
              <a:t>Very similar to BERT, it is also considered one of the current state-of-the-art embeddings.</a:t>
            </a:r>
          </a:p>
        </p:txBody>
      </p:sp>
      <p:pic>
        <p:nvPicPr>
          <p:cNvPr id="6" name="Picture 5">
            <a:extLst>
              <a:ext uri="{FF2B5EF4-FFF2-40B4-BE49-F238E27FC236}">
                <a16:creationId xmlns:a16="http://schemas.microsoft.com/office/drawing/2014/main" id="{042F6BDB-1FE5-4BF9-B208-5BB344733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6203" y="2477160"/>
            <a:ext cx="5734928" cy="3228071"/>
          </a:xfrm>
          <a:prstGeom prst="rect">
            <a:avLst/>
          </a:prstGeom>
        </p:spPr>
      </p:pic>
    </p:spTree>
    <p:extLst>
      <p:ext uri="{BB962C8B-B14F-4D97-AF65-F5344CB8AC3E}">
        <p14:creationId xmlns:p14="http://schemas.microsoft.com/office/powerpoint/2010/main" val="34812248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9D05ED-D34B-A51B-22FE-E2410F9ADA34}"/>
              </a:ext>
            </a:extLst>
          </p:cNvPr>
          <p:cNvSpPr>
            <a:spLocks noGrp="1"/>
          </p:cNvSpPr>
          <p:nvPr>
            <p:ph type="title"/>
          </p:nvPr>
        </p:nvSpPr>
        <p:spPr/>
        <p:txBody>
          <a:bodyPr/>
          <a:lstStyle/>
          <a:p>
            <a:r>
              <a:rPr lang="en-GB" dirty="0"/>
              <a:t>GPT3 and </a:t>
            </a:r>
            <a:r>
              <a:rPr lang="en-GB" dirty="0" err="1"/>
              <a:t>ChatGPT</a:t>
            </a:r>
            <a:endParaRPr lang="en-SG" dirty="0"/>
          </a:p>
        </p:txBody>
      </p:sp>
      <p:sp>
        <p:nvSpPr>
          <p:cNvPr id="6" name="Content Placeholder 5">
            <a:extLst>
              <a:ext uri="{FF2B5EF4-FFF2-40B4-BE49-F238E27FC236}">
                <a16:creationId xmlns:a16="http://schemas.microsoft.com/office/drawing/2014/main" id="{87F40458-D650-758C-390E-C9497852469F}"/>
              </a:ext>
            </a:extLst>
          </p:cNvPr>
          <p:cNvSpPr>
            <a:spLocks noGrp="1"/>
          </p:cNvSpPr>
          <p:nvPr>
            <p:ph idx="1"/>
          </p:nvPr>
        </p:nvSpPr>
        <p:spPr>
          <a:xfrm>
            <a:off x="838200" y="1825624"/>
            <a:ext cx="10515600" cy="5032375"/>
          </a:xfrm>
        </p:spPr>
        <p:txBody>
          <a:bodyPr>
            <a:normAutofit/>
          </a:bodyPr>
          <a:lstStyle/>
          <a:p>
            <a:r>
              <a:rPr lang="en-GB" dirty="0"/>
              <a:t>In fact, GPT3 (and even 5.X these days!) is the </a:t>
            </a:r>
            <a:r>
              <a:rPr lang="en-GB" b="1" dirty="0"/>
              <a:t>encoder</a:t>
            </a:r>
            <a:r>
              <a:rPr lang="en-GB" dirty="0"/>
              <a:t> </a:t>
            </a:r>
            <a:r>
              <a:rPr lang="en-GB" b="1" dirty="0"/>
              <a:t>model</a:t>
            </a:r>
            <a:r>
              <a:rPr lang="en-GB" dirty="0"/>
              <a:t> that is used in ChatGPT to process the text prompt you have entered!</a:t>
            </a:r>
          </a:p>
          <a:p>
            <a:endParaRPr lang="en-GB" dirty="0"/>
          </a:p>
          <a:p>
            <a:r>
              <a:rPr lang="en-GB" dirty="0"/>
              <a:t>This </a:t>
            </a:r>
            <a:r>
              <a:rPr lang="en-GB" b="1" dirty="0"/>
              <a:t>encoding</a:t>
            </a:r>
            <a:r>
              <a:rPr lang="en-GB" dirty="0"/>
              <a:t> </a:t>
            </a:r>
            <a:r>
              <a:rPr lang="en-GB" b="1" dirty="0"/>
              <a:t>vector</a:t>
            </a:r>
            <a:r>
              <a:rPr lang="en-GB" dirty="0"/>
              <a:t> is later passed to a </a:t>
            </a:r>
            <a:r>
              <a:rPr lang="en-GB" b="1" dirty="0"/>
              <a:t>decoder</a:t>
            </a:r>
            <a:r>
              <a:rPr lang="en-GB" dirty="0"/>
              <a:t>, whose objective is to produce an answer to your text prompt, in the form of a text sequence!</a:t>
            </a:r>
          </a:p>
          <a:p>
            <a:endParaRPr lang="en-GB" dirty="0"/>
          </a:p>
          <a:p>
            <a:r>
              <a:rPr lang="en-GB" dirty="0"/>
              <a:t>Moving closer and closer to understanding </a:t>
            </a:r>
            <a:r>
              <a:rPr lang="en-GB" dirty="0" err="1"/>
              <a:t>ChatGPT</a:t>
            </a:r>
            <a:r>
              <a:rPr lang="en-GB" dirty="0"/>
              <a:t> fully, but </a:t>
            </a:r>
            <a:r>
              <a:rPr lang="en-GB" b="1" dirty="0"/>
              <a:t>more concepts are needed for the decoder part</a:t>
            </a:r>
            <a:r>
              <a:rPr lang="en-GB" dirty="0"/>
              <a:t>!</a:t>
            </a:r>
          </a:p>
          <a:p>
            <a:r>
              <a:rPr lang="en-GB" dirty="0"/>
              <a:t>(Something for later, maybe W13!)</a:t>
            </a:r>
            <a:endParaRPr lang="en-SG" dirty="0"/>
          </a:p>
        </p:txBody>
      </p:sp>
    </p:spTree>
    <p:extLst>
      <p:ext uri="{BB962C8B-B14F-4D97-AF65-F5344CB8AC3E}">
        <p14:creationId xmlns:p14="http://schemas.microsoft.com/office/powerpoint/2010/main" val="10801154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2C2BE-2F34-34E7-664A-2C54B7019559}"/>
              </a:ext>
            </a:extLst>
          </p:cNvPr>
          <p:cNvSpPr>
            <a:spLocks noGrp="1"/>
          </p:cNvSpPr>
          <p:nvPr>
            <p:ph type="title"/>
          </p:nvPr>
        </p:nvSpPr>
        <p:spPr/>
        <p:txBody>
          <a:bodyPr/>
          <a:lstStyle/>
          <a:p>
            <a:r>
              <a:rPr lang="en-GB" dirty="0"/>
              <a:t>Transformers on </a:t>
            </a:r>
            <a:br>
              <a:rPr lang="en-GB" dirty="0"/>
            </a:br>
            <a:r>
              <a:rPr lang="en-GB" dirty="0" err="1"/>
              <a:t>HuggingFace</a:t>
            </a:r>
            <a:endParaRPr lang="en-GB" dirty="0"/>
          </a:p>
        </p:txBody>
      </p:sp>
      <p:sp>
        <p:nvSpPr>
          <p:cNvPr id="3" name="Content Placeholder 2">
            <a:extLst>
              <a:ext uri="{FF2B5EF4-FFF2-40B4-BE49-F238E27FC236}">
                <a16:creationId xmlns:a16="http://schemas.microsoft.com/office/drawing/2014/main" id="{2CD04DF9-D2D0-5F81-193D-CE70FB27FF12}"/>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chemeClr val="accent2">
                    <a:lumMod val="50000"/>
                  </a:schemeClr>
                </a:solidFill>
              </a:rPr>
              <a:t>Hugging Face</a:t>
            </a:r>
            <a:r>
              <a:rPr lang="en-GB" b="1" dirty="0"/>
              <a:t>):</a:t>
            </a:r>
          </a:p>
          <a:p>
            <a:pPr marL="0" indent="0">
              <a:buNone/>
            </a:pPr>
            <a:r>
              <a:rPr lang="en-GB" b="1" dirty="0">
                <a:solidFill>
                  <a:schemeClr val="accent2">
                    <a:lumMod val="50000"/>
                  </a:schemeClr>
                </a:solidFill>
              </a:rPr>
              <a:t>Hugging</a:t>
            </a:r>
            <a:r>
              <a:rPr lang="en-GB" dirty="0">
                <a:solidFill>
                  <a:schemeClr val="accent2">
                    <a:lumMod val="50000"/>
                  </a:schemeClr>
                </a:solidFill>
              </a:rPr>
              <a:t> </a:t>
            </a:r>
            <a:r>
              <a:rPr lang="en-GB" b="1" dirty="0">
                <a:solidFill>
                  <a:schemeClr val="accent2">
                    <a:lumMod val="50000"/>
                  </a:schemeClr>
                </a:solidFill>
              </a:rPr>
              <a:t>Face</a:t>
            </a:r>
            <a:r>
              <a:rPr lang="en-GB" dirty="0">
                <a:solidFill>
                  <a:schemeClr val="accent2">
                    <a:lumMod val="50000"/>
                  </a:schemeClr>
                </a:solidFill>
              </a:rPr>
              <a:t> </a:t>
            </a:r>
            <a:r>
              <a:rPr lang="en-GB" dirty="0"/>
              <a:t>is a machine</a:t>
            </a:r>
            <a:r>
              <a:rPr lang="en-GB" b="1" dirty="0"/>
              <a:t> </a:t>
            </a:r>
            <a:r>
              <a:rPr lang="en-GB" dirty="0"/>
              <a:t>learning</a:t>
            </a:r>
            <a:r>
              <a:rPr lang="en-GB" b="1" dirty="0"/>
              <a:t> </a:t>
            </a:r>
            <a:r>
              <a:rPr lang="en-GB" dirty="0"/>
              <a:t>company that provides tools, models, and libraries designed to make natural language processing (NLP) and other machine learning tasks more accessible.</a:t>
            </a:r>
          </a:p>
          <a:p>
            <a:pPr marL="0" indent="0">
              <a:buNone/>
            </a:pPr>
            <a:r>
              <a:rPr lang="en-GB" dirty="0"/>
              <a:t>Widely used in both academia and industry to simplify the process of working with models, especially those based on transformers.</a:t>
            </a:r>
          </a:p>
        </p:txBody>
      </p:sp>
      <p:pic>
        <p:nvPicPr>
          <p:cNvPr id="10" name="Picture 9">
            <a:extLst>
              <a:ext uri="{FF2B5EF4-FFF2-40B4-BE49-F238E27FC236}">
                <a16:creationId xmlns:a16="http://schemas.microsoft.com/office/drawing/2014/main" id="{9FF63845-727C-FEA7-4FA2-6753793ECC70}"/>
              </a:ext>
            </a:extLst>
          </p:cNvPr>
          <p:cNvPicPr>
            <a:picLocks noChangeAspect="1"/>
          </p:cNvPicPr>
          <p:nvPr/>
        </p:nvPicPr>
        <p:blipFill>
          <a:blip r:embed="rId2"/>
          <a:srcRect l="45554"/>
          <a:stretch/>
        </p:blipFill>
        <p:spPr>
          <a:xfrm>
            <a:off x="6796390" y="2914650"/>
            <a:ext cx="5181601" cy="3865164"/>
          </a:xfrm>
          <a:prstGeom prst="rect">
            <a:avLst/>
          </a:prstGeom>
        </p:spPr>
      </p:pic>
      <p:pic>
        <p:nvPicPr>
          <p:cNvPr id="14" name="Picture 13" descr="A yellow smiley face with pink and blue lines and dots&#10;&#10;Description automatically generated">
            <a:extLst>
              <a:ext uri="{FF2B5EF4-FFF2-40B4-BE49-F238E27FC236}">
                <a16:creationId xmlns:a16="http://schemas.microsoft.com/office/drawing/2014/main" id="{D32FB68E-A570-98A6-4A48-2832599562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6392" y="0"/>
            <a:ext cx="5181599" cy="2914650"/>
          </a:xfrm>
          <a:prstGeom prst="rect">
            <a:avLst/>
          </a:prstGeom>
        </p:spPr>
      </p:pic>
    </p:spTree>
    <p:extLst>
      <p:ext uri="{BB962C8B-B14F-4D97-AF65-F5344CB8AC3E}">
        <p14:creationId xmlns:p14="http://schemas.microsoft.com/office/powerpoint/2010/main" val="14934262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92B6F-A19A-39F0-C203-A59E21040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54373-2F13-4A7D-BC24-D2ACFD21C134}"/>
              </a:ext>
            </a:extLst>
          </p:cNvPr>
          <p:cNvSpPr>
            <a:spLocks noGrp="1"/>
          </p:cNvSpPr>
          <p:nvPr>
            <p:ph type="title"/>
          </p:nvPr>
        </p:nvSpPr>
        <p:spPr/>
        <p:txBody>
          <a:bodyPr/>
          <a:lstStyle/>
          <a:p>
            <a:r>
              <a:rPr lang="en-GB" dirty="0"/>
              <a:t>Implementing transformers on </a:t>
            </a:r>
            <a:r>
              <a:rPr lang="en-GB" dirty="0" err="1"/>
              <a:t>HuggingFace</a:t>
            </a:r>
            <a:endParaRPr lang="en-GB" dirty="0"/>
          </a:p>
        </p:txBody>
      </p:sp>
      <p:sp>
        <p:nvSpPr>
          <p:cNvPr id="3" name="Content Placeholder 2">
            <a:extLst>
              <a:ext uri="{FF2B5EF4-FFF2-40B4-BE49-F238E27FC236}">
                <a16:creationId xmlns:a16="http://schemas.microsoft.com/office/drawing/2014/main" id="{C355F27C-9338-A4CB-D8DE-A6A1D670451A}"/>
              </a:ext>
            </a:extLst>
          </p:cNvPr>
          <p:cNvSpPr>
            <a:spLocks noGrp="1"/>
          </p:cNvSpPr>
          <p:nvPr>
            <p:ph sz="half" idx="1"/>
          </p:nvPr>
        </p:nvSpPr>
        <p:spPr/>
        <p:txBody>
          <a:bodyPr>
            <a:normAutofit/>
          </a:bodyPr>
          <a:lstStyle/>
          <a:p>
            <a:pPr marL="0" indent="0">
              <a:buNone/>
            </a:pPr>
            <a:r>
              <a:rPr lang="en-GB" dirty="0"/>
              <a:t>In Notebook 5, we show how to implement a BERT word embedding using </a:t>
            </a:r>
            <a:r>
              <a:rPr lang="en-GB" dirty="0" err="1"/>
              <a:t>HuggingFace</a:t>
            </a:r>
            <a:r>
              <a:rPr lang="en-GB" dirty="0"/>
              <a:t>.</a:t>
            </a:r>
          </a:p>
          <a:p>
            <a:pPr marL="0" indent="0">
              <a:buNone/>
            </a:pPr>
            <a:r>
              <a:rPr lang="en-GB" dirty="0"/>
              <a:t>It consists of downloading and using a pre-trained model.</a:t>
            </a:r>
            <a:br>
              <a:rPr lang="en-GB" dirty="0"/>
            </a:br>
            <a:r>
              <a:rPr lang="en-GB" dirty="0"/>
              <a:t>(Often advised if you need a word embedding, training one is tough)</a:t>
            </a:r>
          </a:p>
          <a:p>
            <a:pPr marL="0" indent="0">
              <a:buNone/>
            </a:pPr>
            <a:r>
              <a:rPr lang="en-GB" dirty="0"/>
              <a:t>It includes a </a:t>
            </a:r>
            <a:r>
              <a:rPr lang="en-GB" b="1" dirty="0">
                <a:solidFill>
                  <a:srgbClr val="00B050"/>
                </a:solidFill>
              </a:rPr>
              <a:t>tokenizer</a:t>
            </a:r>
            <a:r>
              <a:rPr lang="en-GB" dirty="0"/>
              <a:t> and a word embedding model.</a:t>
            </a:r>
          </a:p>
        </p:txBody>
      </p:sp>
      <p:pic>
        <p:nvPicPr>
          <p:cNvPr id="6" name="Picture 5">
            <a:extLst>
              <a:ext uri="{FF2B5EF4-FFF2-40B4-BE49-F238E27FC236}">
                <a16:creationId xmlns:a16="http://schemas.microsoft.com/office/drawing/2014/main" id="{8175591C-F809-CD33-4718-CE47232DCCE3}"/>
              </a:ext>
            </a:extLst>
          </p:cNvPr>
          <p:cNvPicPr>
            <a:picLocks noChangeAspect="1"/>
          </p:cNvPicPr>
          <p:nvPr/>
        </p:nvPicPr>
        <p:blipFill>
          <a:blip r:embed="rId2"/>
          <a:stretch>
            <a:fillRect/>
          </a:stretch>
        </p:blipFill>
        <p:spPr>
          <a:xfrm>
            <a:off x="6096000" y="1905057"/>
            <a:ext cx="6058746" cy="3534268"/>
          </a:xfrm>
          <a:prstGeom prst="rect">
            <a:avLst/>
          </a:prstGeom>
        </p:spPr>
      </p:pic>
    </p:spTree>
    <p:extLst>
      <p:ext uri="{BB962C8B-B14F-4D97-AF65-F5344CB8AC3E}">
        <p14:creationId xmlns:p14="http://schemas.microsoft.com/office/powerpoint/2010/main" val="412346560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9E98C-A236-7CD1-FCEF-8269F3744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A2767-2321-B415-E8F4-91532BD86051}"/>
              </a:ext>
            </a:extLst>
          </p:cNvPr>
          <p:cNvSpPr>
            <a:spLocks noGrp="1"/>
          </p:cNvSpPr>
          <p:nvPr>
            <p:ph type="title"/>
          </p:nvPr>
        </p:nvSpPr>
        <p:spPr/>
        <p:txBody>
          <a:bodyPr/>
          <a:lstStyle/>
          <a:p>
            <a:r>
              <a:rPr lang="en-GB" dirty="0"/>
              <a:t>About tokenizers and models</a:t>
            </a:r>
          </a:p>
        </p:txBody>
      </p:sp>
      <p:sp>
        <p:nvSpPr>
          <p:cNvPr id="3" name="Content Placeholder 2">
            <a:extLst>
              <a:ext uri="{FF2B5EF4-FFF2-40B4-BE49-F238E27FC236}">
                <a16:creationId xmlns:a16="http://schemas.microsoft.com/office/drawing/2014/main" id="{E13B67B0-C79A-5C3D-60CF-8A215A9E2A34}"/>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Tokenizer</a:t>
            </a:r>
            <a:r>
              <a:rPr lang="en-GB" b="1" dirty="0"/>
              <a:t>):</a:t>
            </a:r>
          </a:p>
          <a:p>
            <a:pPr marL="0" indent="0">
              <a:buNone/>
            </a:pPr>
            <a:r>
              <a:rPr lang="en-GB" dirty="0"/>
              <a:t>IN NLP, a </a:t>
            </a:r>
            <a:r>
              <a:rPr lang="en-GB" b="1" dirty="0">
                <a:solidFill>
                  <a:srgbClr val="00B050"/>
                </a:solidFill>
              </a:rPr>
              <a:t>tokenizer</a:t>
            </a:r>
            <a:r>
              <a:rPr lang="en-GB" dirty="0"/>
              <a:t> is responsible for preprocessing text input so it can be understood by the model. The tokenizer will typically:</a:t>
            </a:r>
          </a:p>
          <a:p>
            <a:r>
              <a:rPr lang="en-GB" dirty="0"/>
              <a:t>Split the input text into smaller units called "tokens." This breaks down words into tokens or word pieces (e.g., "unhappiness" will decompose into the tokens ["un", "happy", "ness"]).</a:t>
            </a:r>
          </a:p>
          <a:p>
            <a:r>
              <a:rPr lang="en-GB" dirty="0"/>
              <a:t>Add special tokens such as separators (to separate sentences, convert special symbols or mark the end of a sequence).</a:t>
            </a:r>
          </a:p>
          <a:p>
            <a:r>
              <a:rPr lang="en-GB" dirty="0"/>
              <a:t>Convert tokens into numerical IDs based on the model's vocabulary.</a:t>
            </a:r>
          </a:p>
          <a:p>
            <a:pPr marL="0" indent="0">
              <a:buNone/>
            </a:pPr>
            <a:r>
              <a:rPr lang="en-GB" dirty="0"/>
              <a:t>Tokenizers will be explored more in detail in the Term 7 NLP course.</a:t>
            </a:r>
          </a:p>
          <a:p>
            <a:endParaRPr lang="en-GB" dirty="0"/>
          </a:p>
        </p:txBody>
      </p:sp>
    </p:spTree>
    <p:extLst>
      <p:ext uri="{BB962C8B-B14F-4D97-AF65-F5344CB8AC3E}">
        <p14:creationId xmlns:p14="http://schemas.microsoft.com/office/powerpoint/2010/main" val="14825491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AD2E0-14C7-3B23-5CB0-18C6EC8FE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1A962-712A-7BB4-35F9-2CFCFF71EF61}"/>
              </a:ext>
            </a:extLst>
          </p:cNvPr>
          <p:cNvSpPr>
            <a:spLocks noGrp="1"/>
          </p:cNvSpPr>
          <p:nvPr>
            <p:ph type="title"/>
          </p:nvPr>
        </p:nvSpPr>
        <p:spPr/>
        <p:txBody>
          <a:bodyPr/>
          <a:lstStyle/>
          <a:p>
            <a:r>
              <a:rPr lang="en-GB" dirty="0"/>
              <a:t>Implementing transformers on </a:t>
            </a:r>
            <a:r>
              <a:rPr lang="en-GB" dirty="0" err="1"/>
              <a:t>HuggingFace</a:t>
            </a:r>
            <a:endParaRPr lang="en-GB" dirty="0"/>
          </a:p>
        </p:txBody>
      </p:sp>
      <p:sp>
        <p:nvSpPr>
          <p:cNvPr id="3" name="Content Placeholder 2">
            <a:extLst>
              <a:ext uri="{FF2B5EF4-FFF2-40B4-BE49-F238E27FC236}">
                <a16:creationId xmlns:a16="http://schemas.microsoft.com/office/drawing/2014/main" id="{BE8055D7-1CC6-581E-A804-1A0E031D87E8}"/>
              </a:ext>
            </a:extLst>
          </p:cNvPr>
          <p:cNvSpPr>
            <a:spLocks noGrp="1"/>
          </p:cNvSpPr>
          <p:nvPr>
            <p:ph sz="half" idx="1"/>
          </p:nvPr>
        </p:nvSpPr>
        <p:spPr>
          <a:xfrm>
            <a:off x="838200" y="1825624"/>
            <a:ext cx="5181600" cy="5032375"/>
          </a:xfrm>
        </p:spPr>
        <p:txBody>
          <a:bodyPr>
            <a:normAutofit/>
          </a:bodyPr>
          <a:lstStyle/>
          <a:p>
            <a:pPr marL="0" indent="0">
              <a:buNone/>
            </a:pPr>
            <a:r>
              <a:rPr lang="en-GB" dirty="0"/>
              <a:t>Later on, we can use our pre-trained BERT model to produce word embeddings.</a:t>
            </a:r>
          </a:p>
          <a:p>
            <a:pPr marL="0" indent="0">
              <a:buNone/>
            </a:pPr>
            <a:endParaRPr lang="en-GB" dirty="0"/>
          </a:p>
          <a:p>
            <a:pPr marL="0" indent="0">
              <a:buNone/>
            </a:pPr>
            <a:endParaRPr lang="en-GB" dirty="0"/>
          </a:p>
          <a:p>
            <a:pPr marL="0" indent="0">
              <a:buNone/>
            </a:pPr>
            <a:r>
              <a:rPr lang="en-GB" dirty="0"/>
              <a:t>We can also confirm that the BERT word embeddings preserve semantic similarity using the cosine similarity function!</a:t>
            </a:r>
          </a:p>
          <a:p>
            <a:pPr marL="0" indent="0">
              <a:buNone/>
            </a:pPr>
            <a:endParaRPr lang="en-GB" dirty="0"/>
          </a:p>
          <a:p>
            <a:pPr marL="0" indent="0">
              <a:buNone/>
            </a:pPr>
            <a:r>
              <a:rPr lang="en-GB" i="1" dirty="0"/>
              <a:t>(Feel free to use it for projects!)</a:t>
            </a:r>
          </a:p>
        </p:txBody>
      </p:sp>
      <p:pic>
        <p:nvPicPr>
          <p:cNvPr id="7" name="Picture 6">
            <a:extLst>
              <a:ext uri="{FF2B5EF4-FFF2-40B4-BE49-F238E27FC236}">
                <a16:creationId xmlns:a16="http://schemas.microsoft.com/office/drawing/2014/main" id="{3AD9790A-CC4E-15D8-5FF6-472D66F66E1B}"/>
              </a:ext>
            </a:extLst>
          </p:cNvPr>
          <p:cNvPicPr>
            <a:picLocks noChangeAspect="1"/>
          </p:cNvPicPr>
          <p:nvPr/>
        </p:nvPicPr>
        <p:blipFill>
          <a:blip r:embed="rId2"/>
          <a:stretch>
            <a:fillRect/>
          </a:stretch>
        </p:blipFill>
        <p:spPr>
          <a:xfrm>
            <a:off x="6097594" y="1340584"/>
            <a:ext cx="5969818" cy="2287834"/>
          </a:xfrm>
          <a:prstGeom prst="rect">
            <a:avLst/>
          </a:prstGeom>
        </p:spPr>
      </p:pic>
      <p:pic>
        <p:nvPicPr>
          <p:cNvPr id="9" name="Picture 8">
            <a:extLst>
              <a:ext uri="{FF2B5EF4-FFF2-40B4-BE49-F238E27FC236}">
                <a16:creationId xmlns:a16="http://schemas.microsoft.com/office/drawing/2014/main" id="{266D1ECA-380F-12EF-B255-E23E89DD3401}"/>
              </a:ext>
            </a:extLst>
          </p:cNvPr>
          <p:cNvPicPr>
            <a:picLocks noChangeAspect="1"/>
          </p:cNvPicPr>
          <p:nvPr/>
        </p:nvPicPr>
        <p:blipFill>
          <a:blip r:embed="rId3"/>
          <a:stretch>
            <a:fillRect/>
          </a:stretch>
        </p:blipFill>
        <p:spPr>
          <a:xfrm>
            <a:off x="6096000" y="3997275"/>
            <a:ext cx="6096000" cy="2352000"/>
          </a:xfrm>
          <a:prstGeom prst="rect">
            <a:avLst/>
          </a:prstGeom>
        </p:spPr>
      </p:pic>
    </p:spTree>
    <p:extLst>
      <p:ext uri="{BB962C8B-B14F-4D97-AF65-F5344CB8AC3E}">
        <p14:creationId xmlns:p14="http://schemas.microsoft.com/office/powerpoint/2010/main" val="17422284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a:t>
            </a:r>
            <a:r>
              <a:rPr lang="en-US"/>
              <a:t>(W8S3</a:t>
            </a:r>
            <a:r>
              <a:rPr lang="en-US" dirty="0"/>
              <a:t>)</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lnSpcReduction="10000"/>
          </a:bodyPr>
          <a:lstStyle/>
          <a:p>
            <a:pPr marL="0" indent="0">
              <a:buNone/>
            </a:pPr>
            <a:r>
              <a:rPr lang="en-US" dirty="0"/>
              <a:t>We have seen a few approaches to embeddings.</a:t>
            </a:r>
          </a:p>
          <a:p>
            <a:r>
              <a:rPr lang="en-US" dirty="0"/>
              <a:t>Train an AI to figure out embeddings?</a:t>
            </a:r>
          </a:p>
          <a:p>
            <a:pPr lvl="1"/>
            <a:r>
              <a:rPr lang="en-US" sz="2800" dirty="0"/>
              <a:t>Basic approaches.</a:t>
            </a:r>
          </a:p>
          <a:p>
            <a:r>
              <a:rPr lang="en-US" dirty="0"/>
              <a:t>Out of dictionary entries?</a:t>
            </a:r>
          </a:p>
          <a:p>
            <a:pPr lvl="1"/>
            <a:r>
              <a:rPr lang="en-US" sz="2800" dirty="0"/>
              <a:t>Use </a:t>
            </a:r>
            <a:r>
              <a:rPr lang="en-US" sz="2800" dirty="0" err="1"/>
              <a:t>ELMo</a:t>
            </a:r>
            <a:r>
              <a:rPr lang="en-US" sz="2800" dirty="0"/>
              <a:t> or </a:t>
            </a:r>
            <a:r>
              <a:rPr lang="en-US" sz="2800" dirty="0" err="1"/>
              <a:t>FastText</a:t>
            </a:r>
            <a:r>
              <a:rPr lang="en-US" sz="2800" dirty="0"/>
              <a:t>!</a:t>
            </a:r>
          </a:p>
          <a:p>
            <a:pPr marL="0" indent="0">
              <a:buNone/>
            </a:pPr>
            <a:r>
              <a:rPr lang="en-US" i="1" dirty="0"/>
              <a:t>(Alternative supervised methods?)</a:t>
            </a:r>
          </a:p>
          <a:p>
            <a:r>
              <a:rPr lang="en-US" i="1" dirty="0"/>
              <a:t>(Supervised: </a:t>
            </a:r>
            <a:r>
              <a:rPr lang="en-US" i="1" dirty="0" err="1"/>
              <a:t>InferSent</a:t>
            </a:r>
            <a:r>
              <a:rPr lang="en-US" i="1" dirty="0"/>
              <a:t>)</a:t>
            </a:r>
          </a:p>
          <a:p>
            <a:r>
              <a:rPr lang="en-US" i="1" dirty="0"/>
              <a:t>(Multi-task: Google’s Universal Embedding.)</a:t>
            </a:r>
            <a:endParaRPr lang="en-US" sz="2800" i="1" dirty="0"/>
          </a:p>
          <a:p>
            <a:endParaRPr lang="en-GB" dirty="0"/>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lnSpcReduction="10000"/>
          </a:bodyPr>
          <a:lstStyle/>
          <a:p>
            <a:pPr marL="0" indent="0">
              <a:buNone/>
            </a:pPr>
            <a:r>
              <a:rPr lang="en-US" dirty="0"/>
              <a:t>A few more problems are still open at the moment for these word embeddings.</a:t>
            </a:r>
          </a:p>
          <a:p>
            <a:r>
              <a:rPr lang="en-US" dirty="0"/>
              <a:t>Can these embedding be biased? Yes, unfortunately, active research on this.</a:t>
            </a:r>
          </a:p>
          <a:p>
            <a:r>
              <a:rPr lang="en-US" dirty="0"/>
              <a:t>Can we help the network in computing context? Yes, with attention and transformers!</a:t>
            </a:r>
          </a:p>
          <a:p>
            <a:r>
              <a:rPr lang="en-US" dirty="0"/>
              <a:t>Best word embedding at the moment?</a:t>
            </a:r>
            <a:br>
              <a:rPr lang="en-US" dirty="0"/>
            </a:br>
            <a:r>
              <a:rPr lang="en-US" dirty="0"/>
              <a:t>Probably GPT4!</a:t>
            </a:r>
          </a:p>
          <a:p>
            <a:pPr marL="0" indent="0">
              <a:buNone/>
            </a:pPr>
            <a:endParaRPr lang="en-US" dirty="0"/>
          </a:p>
        </p:txBody>
      </p:sp>
    </p:spTree>
    <p:extLst>
      <p:ext uri="{BB962C8B-B14F-4D97-AF65-F5344CB8AC3E}">
        <p14:creationId xmlns:p14="http://schemas.microsoft.com/office/powerpoint/2010/main" val="10360814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[Schnabel2015] </a:t>
            </a:r>
            <a:r>
              <a:rPr lang="en-US" b="1" dirty="0">
                <a:solidFill>
                  <a:schemeClr val="accent2">
                    <a:lumMod val="50000"/>
                  </a:schemeClr>
                </a:solidFill>
              </a:rPr>
              <a:t>Schnabel</a:t>
            </a:r>
            <a:r>
              <a:rPr lang="en-US" dirty="0"/>
              <a:t> et al., “Evaluation methods for unsupervised word embeddings”, 2015.</a:t>
            </a:r>
            <a:br>
              <a:rPr lang="en-US" dirty="0"/>
            </a:br>
            <a:r>
              <a:rPr lang="en-US" dirty="0">
                <a:hlinkClick r:id="rId2"/>
              </a:rPr>
              <a:t>https://www.aclweb.org/anthology/D15-1036/</a:t>
            </a:r>
            <a:endParaRPr lang="en-US" dirty="0"/>
          </a:p>
          <a:p>
            <a:r>
              <a:rPr lang="en-US" dirty="0"/>
              <a:t>[Bolukbasi2016] </a:t>
            </a:r>
            <a:r>
              <a:rPr lang="en-US" b="1" dirty="0" err="1">
                <a:solidFill>
                  <a:schemeClr val="accent2">
                    <a:lumMod val="50000"/>
                  </a:schemeClr>
                </a:solidFill>
              </a:rPr>
              <a:t>Bolukbasi</a:t>
            </a:r>
            <a:r>
              <a:rPr lang="en-US" dirty="0"/>
              <a:t> et al., “Man is to Computer Programmer as Woman is to Homemaker? Debiasing Word Embeddings”, 2016.</a:t>
            </a:r>
            <a:br>
              <a:rPr lang="en-US" dirty="0"/>
            </a:br>
            <a:r>
              <a:rPr lang="en-US" dirty="0">
                <a:hlinkClick r:id="rId3"/>
              </a:rPr>
              <a:t>https://arxiv.org/abs/1607.06520</a:t>
            </a:r>
            <a:endParaRPr lang="en-US" dirty="0"/>
          </a:p>
          <a:p>
            <a:r>
              <a:rPr lang="en-US" dirty="0"/>
              <a:t>[Vaswani2017] </a:t>
            </a:r>
            <a:r>
              <a:rPr lang="en-US" b="1" dirty="0">
                <a:solidFill>
                  <a:schemeClr val="accent2">
                    <a:lumMod val="50000"/>
                  </a:schemeClr>
                </a:solidFill>
              </a:rPr>
              <a:t>Vaswani</a:t>
            </a:r>
            <a:r>
              <a:rPr lang="en-US" dirty="0"/>
              <a:t> et al., “Attention Is All You Need”, 2017.</a:t>
            </a:r>
            <a:br>
              <a:rPr lang="en-US" dirty="0"/>
            </a:br>
            <a:r>
              <a:rPr lang="en-US" dirty="0">
                <a:hlinkClick r:id="rId4"/>
              </a:rPr>
              <a:t>https://arxiv.org/abs/1706.03762</a:t>
            </a:r>
            <a:endParaRPr lang="en-US" dirty="0"/>
          </a:p>
          <a:p>
            <a:endParaRPr lang="en-US" dirty="0"/>
          </a:p>
          <a:p>
            <a:endParaRPr lang="en-US" dirty="0"/>
          </a:p>
          <a:p>
            <a:endParaRPr lang="en-US" dirty="0"/>
          </a:p>
          <a:p>
            <a:endParaRPr lang="en-GB" dirty="0"/>
          </a:p>
        </p:txBody>
      </p:sp>
    </p:spTree>
    <p:extLst>
      <p:ext uri="{BB962C8B-B14F-4D97-AF65-F5344CB8AC3E}">
        <p14:creationId xmlns:p14="http://schemas.microsoft.com/office/powerpoint/2010/main" val="17690232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[Conneau2018] </a:t>
            </a:r>
            <a:r>
              <a:rPr lang="en-US" b="1" dirty="0" err="1">
                <a:solidFill>
                  <a:schemeClr val="accent2">
                    <a:lumMod val="50000"/>
                  </a:schemeClr>
                </a:solidFill>
              </a:rPr>
              <a:t>Conneau</a:t>
            </a:r>
            <a:r>
              <a:rPr lang="en-US" dirty="0"/>
              <a:t> et al., “Supervised Learning of Universal Sentence Representations from Natural Language Inference Data”, 2018.</a:t>
            </a:r>
            <a:br>
              <a:rPr lang="en-US" dirty="0"/>
            </a:br>
            <a:r>
              <a:rPr lang="en-US" dirty="0">
                <a:hlinkClick r:id="rId2"/>
              </a:rPr>
              <a:t>https://arxiv.org/abs/1705.02364</a:t>
            </a:r>
            <a:endParaRPr lang="en-US" dirty="0"/>
          </a:p>
          <a:p>
            <a:r>
              <a:rPr lang="en-US" dirty="0"/>
              <a:t>[Cer2019] </a:t>
            </a:r>
            <a:r>
              <a:rPr lang="en-US" b="1" dirty="0" err="1">
                <a:solidFill>
                  <a:schemeClr val="accent2">
                    <a:lumMod val="50000"/>
                  </a:schemeClr>
                </a:solidFill>
              </a:rPr>
              <a:t>Cer</a:t>
            </a:r>
            <a:r>
              <a:rPr lang="en-US" dirty="0"/>
              <a:t> et al., “</a:t>
            </a:r>
            <a:r>
              <a:rPr lang="en-GB" dirty="0"/>
              <a:t>Universal Sentence Encoder”, 2019.</a:t>
            </a:r>
            <a:br>
              <a:rPr lang="en-US" dirty="0"/>
            </a:br>
            <a:r>
              <a:rPr lang="en-US" dirty="0">
                <a:hlinkClick r:id="rId3"/>
              </a:rPr>
              <a:t>https://arxiv.org/abs/1803.11175</a:t>
            </a:r>
            <a:endParaRPr lang="en-US" dirty="0"/>
          </a:p>
          <a:p>
            <a:r>
              <a:rPr lang="en-US" dirty="0"/>
              <a:t>[Wang2018] Wang et al., “</a:t>
            </a:r>
            <a:r>
              <a:rPr lang="en-GB" dirty="0"/>
              <a:t>GLUE: A Multi-Task Benchmark and Analysis Platform for Natural Language Understanding</a:t>
            </a:r>
            <a:r>
              <a:rPr lang="en-US" dirty="0"/>
              <a:t>”</a:t>
            </a:r>
            <a:br>
              <a:rPr lang="en-US" dirty="0"/>
            </a:br>
            <a:r>
              <a:rPr lang="en-US" dirty="0">
                <a:hlinkClick r:id="rId4"/>
              </a:rPr>
              <a:t>https://arxiv.org/abs/1804.07461</a:t>
            </a:r>
            <a:endParaRPr lang="en-US" dirty="0"/>
          </a:p>
          <a:p>
            <a:endParaRPr lang="en-US" dirty="0"/>
          </a:p>
          <a:p>
            <a:endParaRPr lang="en-US" dirty="0"/>
          </a:p>
          <a:p>
            <a:endParaRPr lang="en-GB" dirty="0"/>
          </a:p>
        </p:txBody>
      </p:sp>
    </p:spTree>
    <p:extLst>
      <p:ext uri="{BB962C8B-B14F-4D97-AF65-F5344CB8AC3E}">
        <p14:creationId xmlns:p14="http://schemas.microsoft.com/office/powerpoint/2010/main" val="18302338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[Devlin2019] </a:t>
            </a:r>
            <a:r>
              <a:rPr lang="en-US" b="1" dirty="0">
                <a:solidFill>
                  <a:schemeClr val="accent2">
                    <a:lumMod val="50000"/>
                  </a:schemeClr>
                </a:solidFill>
              </a:rPr>
              <a:t>Devlin</a:t>
            </a:r>
            <a:r>
              <a:rPr lang="en-US" dirty="0"/>
              <a:t> et al., “BERT: Pre-training of Deep Bidirectional Transformers for Language Understanding”, 2019.</a:t>
            </a:r>
            <a:br>
              <a:rPr lang="en-US" dirty="0"/>
            </a:br>
            <a:r>
              <a:rPr lang="en-US" dirty="0">
                <a:hlinkClick r:id="rId2"/>
              </a:rPr>
              <a:t>https://arxiv.org/abs/1810.04805</a:t>
            </a:r>
            <a:endParaRPr lang="en-US" dirty="0"/>
          </a:p>
          <a:p>
            <a:r>
              <a:rPr lang="en-US" dirty="0"/>
              <a:t>[Brown2020] Brown et al. (20 of them or so), “Language Models are Few-Shot Learners”, 2020.</a:t>
            </a:r>
            <a:br>
              <a:rPr lang="en-US" dirty="0"/>
            </a:br>
            <a:r>
              <a:rPr lang="en-US" dirty="0">
                <a:hlinkClick r:id="rId3"/>
              </a:rPr>
              <a:t>https://arxiv.org/abs/2005.14165</a:t>
            </a:r>
            <a:endParaRPr lang="en-US" dirty="0"/>
          </a:p>
          <a:p>
            <a:endParaRPr lang="en-US" dirty="0"/>
          </a:p>
          <a:p>
            <a:endParaRPr lang="en-GB" dirty="0"/>
          </a:p>
        </p:txBody>
      </p:sp>
    </p:spTree>
    <p:extLst>
      <p:ext uri="{BB962C8B-B14F-4D97-AF65-F5344CB8AC3E}">
        <p14:creationId xmlns:p14="http://schemas.microsoft.com/office/powerpoint/2010/main" val="30349876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[Dong2021] Dong et al., “Attention is Not All You Need: Pure Attention Loses Rank Doubly Exponentially with Depth”, 2021.</a:t>
            </a:r>
            <a:br>
              <a:rPr lang="en-US" dirty="0"/>
            </a:br>
            <a:r>
              <a:rPr lang="en-US" dirty="0">
                <a:hlinkClick r:id="rId2"/>
              </a:rPr>
              <a:t>https://arxiv.org/abs/2103.03404</a:t>
            </a:r>
            <a:endParaRPr lang="en-US" dirty="0"/>
          </a:p>
          <a:p>
            <a:r>
              <a:rPr lang="en-US" dirty="0"/>
              <a:t>[Bello2021] Bello et al., “</a:t>
            </a:r>
            <a:r>
              <a:rPr lang="en-US" dirty="0" err="1"/>
              <a:t>LambdaNetworks</a:t>
            </a:r>
            <a:r>
              <a:rPr lang="en-US" dirty="0"/>
              <a:t>: Modeling Long-Range Interactions Without Attention”, 2021.</a:t>
            </a:r>
            <a:br>
              <a:rPr lang="en-US" dirty="0"/>
            </a:br>
            <a:r>
              <a:rPr lang="en-US" dirty="0">
                <a:hlinkClick r:id="rId3"/>
              </a:rPr>
              <a:t>https://arxiv.org/abs/2102.08602</a:t>
            </a:r>
            <a:endParaRPr lang="en-US" dirty="0"/>
          </a:p>
          <a:p>
            <a:pPr marL="0" indent="0">
              <a:buNone/>
            </a:pPr>
            <a:endParaRPr lang="en-US" dirty="0"/>
          </a:p>
          <a:p>
            <a:pPr marL="0" indent="0">
              <a:buNone/>
            </a:pPr>
            <a:endParaRPr lang="en-US" dirty="0"/>
          </a:p>
          <a:p>
            <a:endParaRPr lang="en-US" dirty="0"/>
          </a:p>
          <a:p>
            <a:endParaRPr lang="en-GB" dirty="0"/>
          </a:p>
        </p:txBody>
      </p:sp>
    </p:spTree>
    <p:extLst>
      <p:ext uri="{BB962C8B-B14F-4D97-AF65-F5344CB8AC3E}">
        <p14:creationId xmlns:p14="http://schemas.microsoft.com/office/powerpoint/2010/main" val="117078833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endParaRPr lang="en-GB" dirty="0"/>
          </a:p>
          <a:p>
            <a:r>
              <a:rPr lang="en-GB" dirty="0"/>
              <a:t>[GPT-3] Read more about GPT-3and </a:t>
            </a:r>
            <a:r>
              <a:rPr lang="en-GB" dirty="0" err="1"/>
              <a:t>OpenAI</a:t>
            </a:r>
            <a:r>
              <a:rPr lang="en-GB" dirty="0"/>
              <a:t>, here:</a:t>
            </a:r>
            <a:br>
              <a:rPr lang="en-GB" dirty="0"/>
            </a:br>
            <a:r>
              <a:rPr lang="en-GB" dirty="0">
                <a:hlinkClick r:id="rId2"/>
              </a:rPr>
              <a:t>https://www.vox.com/future-perfect/21355768/gpt-3-ai-openai-turing-test-language</a:t>
            </a:r>
            <a:br>
              <a:rPr lang="en-GB" dirty="0"/>
            </a:br>
            <a:r>
              <a:rPr lang="en-US" dirty="0">
                <a:hlinkClick r:id="rId3"/>
              </a:rPr>
              <a:t>https://www.technologyreview.com/2020/07/20/1005454/openai-machine-learning-language-generator-gpt-3-nlp/</a:t>
            </a:r>
            <a:endParaRPr lang="en-US" dirty="0"/>
          </a:p>
          <a:p>
            <a:r>
              <a:rPr lang="en-US" dirty="0"/>
              <a:t>[Forbes-GPT4] Read more about the GPT-4 model, next big update and future candidate for the state-of-the-art of language models, in this article, here (but more importantly, track it and do not miss it):</a:t>
            </a:r>
            <a:br>
              <a:rPr lang="en-US" dirty="0"/>
            </a:br>
            <a:r>
              <a:rPr lang="en-US" dirty="0">
                <a:hlinkClick r:id="rId4"/>
              </a:rPr>
              <a:t>https://www.forbes.com/sites/bernardmarr/2023/02/24/gpt-4-is-coming--what-we-know-so-far/</a:t>
            </a:r>
            <a:endParaRPr lang="en-US" dirty="0"/>
          </a:p>
          <a:p>
            <a:endParaRPr lang="en-US" dirty="0"/>
          </a:p>
          <a:p>
            <a:endParaRPr lang="en-US" dirty="0"/>
          </a:p>
          <a:p>
            <a:endParaRPr lang="en-US" dirty="0"/>
          </a:p>
          <a:p>
            <a:endParaRPr lang="en-GB" dirty="0"/>
          </a:p>
        </p:txBody>
      </p:sp>
    </p:spTree>
    <p:extLst>
      <p:ext uri="{BB962C8B-B14F-4D97-AF65-F5344CB8AC3E}">
        <p14:creationId xmlns:p14="http://schemas.microsoft.com/office/powerpoint/2010/main" val="34717451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GB" dirty="0"/>
              <a:t>[GPT4OAI] The GPT-4 announcement from Open AI (made today, as of March 15</a:t>
            </a:r>
            <a:r>
              <a:rPr lang="en-GB" baseline="30000" dirty="0"/>
              <a:t>th</a:t>
            </a:r>
            <a:r>
              <a:rPr lang="en-GB" dirty="0"/>
              <a:t> 2023!)</a:t>
            </a:r>
            <a:br>
              <a:rPr lang="en-GB" dirty="0"/>
            </a:br>
            <a:r>
              <a:rPr lang="en-SG" dirty="0">
                <a:hlinkClick r:id="rId2"/>
              </a:rPr>
              <a:t>https://openai.com/research/gpt-4</a:t>
            </a:r>
            <a:endParaRPr lang="en-SG" dirty="0"/>
          </a:p>
          <a:p>
            <a:r>
              <a:rPr lang="en-GB" dirty="0"/>
              <a:t>[Cohere] A great article about word and sentence embeddings with cool visualization.</a:t>
            </a:r>
            <a:br>
              <a:rPr lang="en-GB" dirty="0"/>
            </a:br>
            <a:r>
              <a:rPr lang="en-GB" dirty="0">
                <a:hlinkClick r:id="rId3"/>
              </a:rPr>
              <a:t>https://txt.cohere.ai/sentence-word-embeddings/</a:t>
            </a:r>
            <a:endParaRPr lang="en-GB" dirty="0"/>
          </a:p>
          <a:p>
            <a:r>
              <a:rPr lang="en-US" dirty="0"/>
              <a:t>[</a:t>
            </a:r>
            <a:r>
              <a:rPr lang="en-US" dirty="0" err="1"/>
              <a:t>CosSim</a:t>
            </a:r>
            <a:r>
              <a:rPr lang="en-US" dirty="0"/>
              <a:t>] Is Cosine Similarity a valid metric for measuring embeddings?</a:t>
            </a:r>
            <a:br>
              <a:rPr lang="en-US" dirty="0"/>
            </a:br>
            <a:r>
              <a:rPr lang="en-US" dirty="0">
                <a:hlinkClick r:id="rId4"/>
              </a:rPr>
              <a:t>https://levelup.gitconnected.com/cosine-similarity-and-embeddings-are-still-in-love-f9aec98396a4</a:t>
            </a:r>
            <a:r>
              <a:rPr lang="en-US" dirty="0"/>
              <a:t> </a:t>
            </a:r>
          </a:p>
          <a:p>
            <a:endParaRPr lang="en-US" dirty="0"/>
          </a:p>
          <a:p>
            <a:endParaRPr lang="en-US" dirty="0"/>
          </a:p>
          <a:p>
            <a:endParaRPr lang="en-GB" dirty="0"/>
          </a:p>
        </p:txBody>
      </p:sp>
    </p:spTree>
    <p:extLst>
      <p:ext uri="{BB962C8B-B14F-4D97-AF65-F5344CB8AC3E}">
        <p14:creationId xmlns:p14="http://schemas.microsoft.com/office/powerpoint/2010/main" val="33188628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1353800" cy="5032375"/>
          </a:xfrm>
        </p:spPr>
        <p:txBody>
          <a:bodyPr>
            <a:normAutofit/>
          </a:bodyPr>
          <a:lstStyle/>
          <a:p>
            <a:pPr marL="0" indent="0">
              <a:buNone/>
            </a:pPr>
            <a:r>
              <a:rPr lang="en-US" dirty="0"/>
              <a:t>Tracking important names (Track their works and follow them on Scholar, Twitter, or whatever works for you!)</a:t>
            </a:r>
          </a:p>
          <a:p>
            <a:r>
              <a:rPr lang="en-US" b="1" dirty="0"/>
              <a:t>Alexis</a:t>
            </a:r>
            <a:r>
              <a:rPr lang="en-US" dirty="0"/>
              <a:t> </a:t>
            </a:r>
            <a:r>
              <a:rPr lang="en-US" b="1" dirty="0" err="1">
                <a:solidFill>
                  <a:schemeClr val="accent2">
                    <a:lumMod val="50000"/>
                  </a:schemeClr>
                </a:solidFill>
              </a:rPr>
              <a:t>Conneau</a:t>
            </a:r>
            <a:r>
              <a:rPr lang="en-US" b="1" dirty="0"/>
              <a:t>:</a:t>
            </a:r>
            <a:r>
              <a:rPr lang="en-US" dirty="0"/>
              <a:t> </a:t>
            </a:r>
            <a:r>
              <a:rPr lang="en-US" b="1" dirty="0"/>
              <a:t>Senior</a:t>
            </a:r>
            <a:r>
              <a:rPr lang="en-US" dirty="0"/>
              <a:t> </a:t>
            </a:r>
            <a:r>
              <a:rPr lang="en-US" b="1" dirty="0"/>
              <a:t>Researcher</a:t>
            </a:r>
            <a:r>
              <a:rPr lang="en-US" dirty="0"/>
              <a:t> at </a:t>
            </a:r>
            <a:r>
              <a:rPr lang="en-US" b="1" dirty="0"/>
              <a:t>Google</a:t>
            </a:r>
            <a:r>
              <a:rPr lang="en-US" dirty="0"/>
              <a:t>. </a:t>
            </a:r>
            <a:r>
              <a:rPr lang="en-US" dirty="0">
                <a:hlinkClick r:id="rId2"/>
              </a:rPr>
              <a:t>https://scholar.google.fr/citations?user=45KfCpgAAAAJ&amp;hl=fr</a:t>
            </a:r>
            <a:endParaRPr lang="en-US" dirty="0"/>
          </a:p>
          <a:p>
            <a:r>
              <a:rPr lang="en-US" b="1" dirty="0"/>
              <a:t>Daniel </a:t>
            </a:r>
            <a:r>
              <a:rPr lang="en-US" b="1" dirty="0" err="1">
                <a:solidFill>
                  <a:schemeClr val="accent2">
                    <a:lumMod val="50000"/>
                  </a:schemeClr>
                </a:solidFill>
              </a:rPr>
              <a:t>Cer</a:t>
            </a:r>
            <a:r>
              <a:rPr lang="en-US" b="1" dirty="0"/>
              <a:t>:</a:t>
            </a:r>
            <a:r>
              <a:rPr lang="en-US" dirty="0"/>
              <a:t> </a:t>
            </a:r>
            <a:r>
              <a:rPr lang="en-US" b="1" dirty="0"/>
              <a:t>Researcher</a:t>
            </a:r>
            <a:r>
              <a:rPr lang="en-US" dirty="0"/>
              <a:t> at </a:t>
            </a:r>
            <a:r>
              <a:rPr lang="en-US" b="1" dirty="0"/>
              <a:t>Google</a:t>
            </a:r>
            <a:r>
              <a:rPr lang="en-US" dirty="0"/>
              <a:t> and </a:t>
            </a:r>
            <a:r>
              <a:rPr lang="en-US" b="1" dirty="0"/>
              <a:t>Lecturer</a:t>
            </a:r>
            <a:r>
              <a:rPr lang="en-US" dirty="0"/>
              <a:t> at </a:t>
            </a:r>
            <a:r>
              <a:rPr lang="en-US" b="1" dirty="0"/>
              <a:t>UC Berkeley.</a:t>
            </a:r>
            <a:br>
              <a:rPr lang="en-US" b="1" dirty="0"/>
            </a:br>
            <a:r>
              <a:rPr lang="en-US" dirty="0"/>
              <a:t>He has a really good course about NLP and Embeddings.</a:t>
            </a:r>
            <a:br>
              <a:rPr lang="en-US" dirty="0"/>
            </a:br>
            <a:r>
              <a:rPr lang="en-US" dirty="0">
                <a:hlinkClick r:id="rId3"/>
              </a:rPr>
              <a:t>https://scholar.google.com/citations?user=BrT1NW8AAAAJ&amp;hl=en</a:t>
            </a:r>
            <a:br>
              <a:rPr lang="en-US" dirty="0"/>
            </a:br>
            <a:r>
              <a:rPr lang="en-US" dirty="0">
                <a:hlinkClick r:id="rId4"/>
              </a:rPr>
              <a:t>https://www.ischool.berkeley.edu/user/4406</a:t>
            </a:r>
            <a:br>
              <a:rPr lang="en-US" dirty="0"/>
            </a:br>
            <a:r>
              <a:rPr lang="en-US" dirty="0">
                <a:hlinkClick r:id="rId5"/>
              </a:rPr>
              <a:t>https://www.ischool.berkeley.edu/courses/datasci/266</a:t>
            </a:r>
            <a:endParaRPr lang="en-US" b="1" dirty="0"/>
          </a:p>
          <a:p>
            <a:endParaRPr lang="en-US" dirty="0"/>
          </a:p>
        </p:txBody>
      </p:sp>
    </p:spTree>
    <p:extLst>
      <p:ext uri="{BB962C8B-B14F-4D97-AF65-F5344CB8AC3E}">
        <p14:creationId xmlns:p14="http://schemas.microsoft.com/office/powerpoint/2010/main" val="211288509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1353800" cy="5032375"/>
          </a:xfrm>
        </p:spPr>
        <p:txBody>
          <a:bodyPr>
            <a:normAutofit/>
          </a:bodyPr>
          <a:lstStyle/>
          <a:p>
            <a:pPr marL="0" indent="0">
              <a:buNone/>
            </a:pPr>
            <a:r>
              <a:rPr lang="en-US" dirty="0"/>
              <a:t>Tracking important names (Track their works and follow them on Scholar, Twitter, or whatever works for you!)</a:t>
            </a:r>
          </a:p>
          <a:p>
            <a:r>
              <a:rPr lang="en-US" b="1" dirty="0"/>
              <a:t>Tobias</a:t>
            </a:r>
            <a:r>
              <a:rPr lang="en-US" dirty="0"/>
              <a:t> </a:t>
            </a:r>
            <a:r>
              <a:rPr lang="en-US" b="1" dirty="0">
                <a:solidFill>
                  <a:schemeClr val="accent2">
                    <a:lumMod val="50000"/>
                  </a:schemeClr>
                </a:solidFill>
              </a:rPr>
              <a:t>Schnabel</a:t>
            </a:r>
            <a:r>
              <a:rPr lang="en-US" b="1" dirty="0"/>
              <a:t>:</a:t>
            </a:r>
            <a:r>
              <a:rPr lang="en-US" dirty="0"/>
              <a:t> </a:t>
            </a:r>
            <a:r>
              <a:rPr lang="en-US" b="1" dirty="0"/>
              <a:t>Senior</a:t>
            </a:r>
            <a:r>
              <a:rPr lang="en-US" dirty="0"/>
              <a:t> </a:t>
            </a:r>
            <a:r>
              <a:rPr lang="en-US" b="1" dirty="0"/>
              <a:t>researcher</a:t>
            </a:r>
            <a:r>
              <a:rPr lang="en-US" dirty="0"/>
              <a:t> at </a:t>
            </a:r>
            <a:r>
              <a:rPr lang="en-US" b="1" dirty="0"/>
              <a:t>Microsoft</a:t>
            </a:r>
            <a:r>
              <a:rPr lang="en-US" dirty="0"/>
              <a:t>.</a:t>
            </a:r>
            <a:br>
              <a:rPr lang="en-US" dirty="0"/>
            </a:br>
            <a:r>
              <a:rPr lang="en-US" dirty="0">
                <a:hlinkClick r:id="rId2"/>
              </a:rPr>
              <a:t>https://scholar.google.com/citations?user=o_i419UAAAAJ&amp;hl=en</a:t>
            </a:r>
            <a:br>
              <a:rPr lang="en-US" dirty="0"/>
            </a:br>
            <a:r>
              <a:rPr lang="en-US" dirty="0">
                <a:hlinkClick r:id="rId3"/>
              </a:rPr>
              <a:t>https://www.microsoft.com/en-us/research/people/toschnab</a:t>
            </a:r>
            <a:endParaRPr lang="en-US" dirty="0"/>
          </a:p>
          <a:p>
            <a:r>
              <a:rPr lang="en-US" b="1" dirty="0" err="1"/>
              <a:t>Tolga</a:t>
            </a:r>
            <a:r>
              <a:rPr lang="en-US" b="1" dirty="0"/>
              <a:t> </a:t>
            </a:r>
            <a:r>
              <a:rPr lang="en-US" b="1" dirty="0" err="1">
                <a:solidFill>
                  <a:schemeClr val="accent2">
                    <a:lumMod val="50000"/>
                  </a:schemeClr>
                </a:solidFill>
              </a:rPr>
              <a:t>Bolukbasi</a:t>
            </a:r>
            <a:r>
              <a:rPr lang="en-US" b="1" dirty="0"/>
              <a:t>: Senior</a:t>
            </a:r>
            <a:r>
              <a:rPr lang="en-US" dirty="0"/>
              <a:t> </a:t>
            </a:r>
            <a:r>
              <a:rPr lang="en-US" b="1" dirty="0"/>
              <a:t>researcher</a:t>
            </a:r>
            <a:r>
              <a:rPr lang="en-US" dirty="0"/>
              <a:t> at </a:t>
            </a:r>
            <a:r>
              <a:rPr lang="en-US" b="1" dirty="0"/>
              <a:t>Google Brain</a:t>
            </a:r>
            <a:r>
              <a:rPr lang="en-US" dirty="0"/>
              <a:t>.</a:t>
            </a:r>
            <a:br>
              <a:rPr lang="en-US" b="1" dirty="0"/>
            </a:br>
            <a:r>
              <a:rPr lang="en-US" dirty="0">
                <a:hlinkClick r:id="rId4"/>
              </a:rPr>
              <a:t>https://scholar.google.com/citations?user=3rF9gtAAAAAJ&amp;hl=en</a:t>
            </a:r>
            <a:endParaRPr lang="en-US" b="1" dirty="0"/>
          </a:p>
          <a:p>
            <a:r>
              <a:rPr lang="en-US" b="1" dirty="0"/>
              <a:t>Anish </a:t>
            </a:r>
            <a:r>
              <a:rPr lang="en-US" b="1" dirty="0">
                <a:solidFill>
                  <a:schemeClr val="accent2">
                    <a:lumMod val="50000"/>
                  </a:schemeClr>
                </a:solidFill>
              </a:rPr>
              <a:t>Vaswani</a:t>
            </a:r>
            <a:r>
              <a:rPr lang="en-US" b="1" dirty="0"/>
              <a:t>:</a:t>
            </a:r>
            <a:r>
              <a:rPr lang="en-US" dirty="0"/>
              <a:t> </a:t>
            </a:r>
            <a:r>
              <a:rPr lang="en-US" b="1" dirty="0"/>
              <a:t>Researcher</a:t>
            </a:r>
            <a:r>
              <a:rPr lang="en-US" dirty="0"/>
              <a:t> at </a:t>
            </a:r>
            <a:r>
              <a:rPr lang="en-US" b="1" dirty="0"/>
              <a:t>Google Brain</a:t>
            </a:r>
            <a:r>
              <a:rPr lang="en-US" dirty="0"/>
              <a:t>. Highest cited paper in DL.</a:t>
            </a:r>
            <a:br>
              <a:rPr lang="en-US" b="1" dirty="0"/>
            </a:br>
            <a:r>
              <a:rPr lang="en-US" dirty="0">
                <a:hlinkClick r:id="rId5"/>
              </a:rPr>
              <a:t>https://scholar.google.com/citations?user=oR9sCGYAAAAJ&amp;hl=en</a:t>
            </a:r>
            <a:endParaRPr lang="en-US" dirty="0"/>
          </a:p>
          <a:p>
            <a:r>
              <a:rPr lang="en-US" b="1" dirty="0"/>
              <a:t>Jacob </a:t>
            </a:r>
            <a:r>
              <a:rPr lang="en-US" b="1" dirty="0">
                <a:solidFill>
                  <a:schemeClr val="accent2">
                    <a:lumMod val="50000"/>
                  </a:schemeClr>
                </a:solidFill>
              </a:rPr>
              <a:t>Devlin</a:t>
            </a:r>
            <a:r>
              <a:rPr lang="en-US" b="1" dirty="0"/>
              <a:t>:</a:t>
            </a:r>
            <a:r>
              <a:rPr lang="en-US" dirty="0"/>
              <a:t> </a:t>
            </a:r>
            <a:r>
              <a:rPr lang="en-US" b="1" dirty="0"/>
              <a:t>Researcher</a:t>
            </a:r>
            <a:r>
              <a:rPr lang="en-US" dirty="0"/>
              <a:t> at </a:t>
            </a:r>
            <a:r>
              <a:rPr lang="en-US" b="1" dirty="0"/>
              <a:t>Google</a:t>
            </a:r>
            <a:r>
              <a:rPr lang="en-US" dirty="0"/>
              <a:t>.</a:t>
            </a:r>
            <a:br>
              <a:rPr lang="en-US" dirty="0"/>
            </a:br>
            <a:r>
              <a:rPr lang="en-US" dirty="0">
                <a:hlinkClick r:id="rId6"/>
              </a:rPr>
              <a:t>https://research.google/people/106320/</a:t>
            </a:r>
            <a:endParaRPr lang="en-US" dirty="0"/>
          </a:p>
          <a:p>
            <a:pPr marL="0" indent="0">
              <a:buNone/>
            </a:pPr>
            <a:endParaRPr lang="en-US" dirty="0"/>
          </a:p>
        </p:txBody>
      </p:sp>
    </p:spTree>
    <p:extLst>
      <p:ext uri="{BB962C8B-B14F-4D97-AF65-F5344CB8AC3E}">
        <p14:creationId xmlns:p14="http://schemas.microsoft.com/office/powerpoint/2010/main" val="27495488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1353800" cy="5032375"/>
          </a:xfrm>
        </p:spPr>
        <p:txBody>
          <a:bodyPr>
            <a:normAutofit/>
          </a:bodyPr>
          <a:lstStyle/>
          <a:p>
            <a:pPr marL="0" indent="0">
              <a:buNone/>
            </a:pPr>
            <a:r>
              <a:rPr lang="en-US" dirty="0"/>
              <a:t>Tracking important names (Track their works and follow them on Scholar, Twitter, or whatever works for you!)</a:t>
            </a:r>
          </a:p>
          <a:p>
            <a:r>
              <a:rPr lang="en-US" b="1" dirty="0"/>
              <a:t>Greg</a:t>
            </a:r>
            <a:r>
              <a:rPr lang="en-US" dirty="0"/>
              <a:t> </a:t>
            </a:r>
            <a:r>
              <a:rPr lang="en-US" b="1" dirty="0">
                <a:solidFill>
                  <a:schemeClr val="accent2">
                    <a:lumMod val="50000"/>
                  </a:schemeClr>
                </a:solidFill>
              </a:rPr>
              <a:t>Brockman</a:t>
            </a:r>
            <a:r>
              <a:rPr lang="en-US" b="1" dirty="0"/>
              <a:t>:</a:t>
            </a:r>
            <a:r>
              <a:rPr lang="en-US" dirty="0"/>
              <a:t> </a:t>
            </a:r>
            <a:r>
              <a:rPr lang="en-US" b="1" dirty="0"/>
              <a:t>CEO</a:t>
            </a:r>
            <a:r>
              <a:rPr lang="en-US" dirty="0"/>
              <a:t> of </a:t>
            </a:r>
            <a:r>
              <a:rPr lang="en-US" b="1" dirty="0" err="1">
                <a:solidFill>
                  <a:schemeClr val="accent2">
                    <a:lumMod val="50000"/>
                  </a:schemeClr>
                </a:solidFill>
              </a:rPr>
              <a:t>OpenAI</a:t>
            </a:r>
            <a:r>
              <a:rPr lang="en-US" dirty="0"/>
              <a:t>.</a:t>
            </a:r>
            <a:br>
              <a:rPr lang="en-US" dirty="0"/>
            </a:br>
            <a:r>
              <a:rPr lang="en-US" dirty="0">
                <a:hlinkClick r:id="rId2"/>
              </a:rPr>
              <a:t>https://gregbrockman.com/</a:t>
            </a:r>
            <a:br>
              <a:rPr lang="en-US" dirty="0"/>
            </a:br>
            <a:r>
              <a:rPr lang="en-US" dirty="0">
                <a:hlinkClick r:id="rId3"/>
              </a:rPr>
              <a:t>https://dblp.org/pid/74/10715.html</a:t>
            </a:r>
            <a:endParaRPr lang="en-US" dirty="0"/>
          </a:p>
          <a:p>
            <a:r>
              <a:rPr lang="en-US" b="1" dirty="0"/>
              <a:t>Sam </a:t>
            </a:r>
            <a:r>
              <a:rPr lang="en-US" b="1" dirty="0">
                <a:solidFill>
                  <a:schemeClr val="accent2">
                    <a:lumMod val="50000"/>
                  </a:schemeClr>
                </a:solidFill>
              </a:rPr>
              <a:t>Altman</a:t>
            </a:r>
            <a:r>
              <a:rPr lang="en-US" b="1" dirty="0"/>
              <a:t>: Former</a:t>
            </a:r>
            <a:r>
              <a:rPr lang="en-US" dirty="0"/>
              <a:t> </a:t>
            </a:r>
            <a:r>
              <a:rPr lang="en-US" b="1" dirty="0"/>
              <a:t>CEO</a:t>
            </a:r>
            <a:r>
              <a:rPr lang="en-US" dirty="0"/>
              <a:t> of </a:t>
            </a:r>
            <a:r>
              <a:rPr lang="en-US" b="1" dirty="0" err="1">
                <a:solidFill>
                  <a:schemeClr val="accent2">
                    <a:lumMod val="50000"/>
                  </a:schemeClr>
                </a:solidFill>
              </a:rPr>
              <a:t>OpenAI</a:t>
            </a:r>
            <a:r>
              <a:rPr lang="en-US" dirty="0"/>
              <a:t>, still involved in research. Very active on Twitter and technically, the social media face of </a:t>
            </a:r>
            <a:r>
              <a:rPr lang="en-US" dirty="0" err="1"/>
              <a:t>OpenAI</a:t>
            </a:r>
            <a:r>
              <a:rPr lang="en-US" dirty="0"/>
              <a:t>?</a:t>
            </a:r>
            <a:br>
              <a:rPr lang="en-US" b="1" dirty="0"/>
            </a:br>
            <a:r>
              <a:rPr lang="en-US" dirty="0">
                <a:hlinkClick r:id="rId4"/>
              </a:rPr>
              <a:t>https://blog.samaltman.com/</a:t>
            </a:r>
            <a:endParaRPr lang="en-US" dirty="0"/>
          </a:p>
          <a:p>
            <a:endParaRPr lang="en-US" dirty="0"/>
          </a:p>
        </p:txBody>
      </p:sp>
    </p:spTree>
    <p:extLst>
      <p:ext uri="{BB962C8B-B14F-4D97-AF65-F5344CB8AC3E}">
        <p14:creationId xmlns:p14="http://schemas.microsoft.com/office/powerpoint/2010/main" val="8516395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1353800" cy="5032375"/>
          </a:xfrm>
        </p:spPr>
        <p:txBody>
          <a:bodyPr>
            <a:normAutofit/>
          </a:bodyPr>
          <a:lstStyle/>
          <a:p>
            <a:pPr marL="0" indent="0">
              <a:buNone/>
            </a:pPr>
            <a:r>
              <a:rPr lang="en-US" dirty="0"/>
              <a:t>Tracking important names (Track their works and follow them on Scholar, Twitter, or whatever works for you!)</a:t>
            </a:r>
          </a:p>
          <a:p>
            <a:r>
              <a:rPr lang="en-US" b="1" dirty="0"/>
              <a:t>Alec </a:t>
            </a:r>
            <a:r>
              <a:rPr lang="en-US" b="1" dirty="0">
                <a:solidFill>
                  <a:schemeClr val="accent2">
                    <a:lumMod val="50000"/>
                  </a:schemeClr>
                </a:solidFill>
              </a:rPr>
              <a:t>Radford</a:t>
            </a:r>
            <a:r>
              <a:rPr lang="en-US" b="1" dirty="0"/>
              <a:t>:</a:t>
            </a:r>
            <a:r>
              <a:rPr lang="en-US" dirty="0"/>
              <a:t> </a:t>
            </a:r>
            <a:r>
              <a:rPr lang="en-GB" b="1" dirty="0"/>
              <a:t>Former</a:t>
            </a:r>
            <a:r>
              <a:rPr lang="en-GB" dirty="0"/>
              <a:t> </a:t>
            </a:r>
            <a:r>
              <a:rPr lang="en-GB" b="1" dirty="0"/>
              <a:t>research</a:t>
            </a:r>
            <a:r>
              <a:rPr lang="en-GB" dirty="0"/>
              <a:t> </a:t>
            </a:r>
            <a:r>
              <a:rPr lang="en-GB" b="1" dirty="0"/>
              <a:t>scientist</a:t>
            </a:r>
            <a:r>
              <a:rPr lang="en-GB" dirty="0"/>
              <a:t> at </a:t>
            </a:r>
            <a:r>
              <a:rPr lang="en-GB" b="1" dirty="0" err="1">
                <a:solidFill>
                  <a:schemeClr val="accent2">
                    <a:lumMod val="50000"/>
                  </a:schemeClr>
                </a:solidFill>
              </a:rPr>
              <a:t>OpenAI</a:t>
            </a:r>
            <a:r>
              <a:rPr lang="en-GB" dirty="0"/>
              <a:t> and was one of the primary authors of the GPT. Also worked on Dall-E.</a:t>
            </a:r>
            <a:br>
              <a:rPr lang="en-GB" dirty="0"/>
            </a:br>
            <a:r>
              <a:rPr lang="en-GB">
                <a:hlinkClick r:id="rId2"/>
              </a:rPr>
              <a:t>https://scholar.google.com/citations?user=dOad5HoAAAAJ&amp;hl=en</a:t>
            </a:r>
            <a:br>
              <a:rPr lang="en-GB"/>
            </a:br>
            <a:r>
              <a:rPr lang="en-GB">
                <a:hlinkClick r:id="rId3"/>
              </a:rPr>
              <a:t>https://openai.com/blog/authors/alec/</a:t>
            </a:r>
            <a:r>
              <a:rPr lang="en-GB"/>
              <a:t> </a:t>
            </a:r>
            <a:endParaRPr lang="en-US" dirty="0"/>
          </a:p>
          <a:p>
            <a:r>
              <a:rPr lang="en-US" b="1" dirty="0" err="1">
                <a:solidFill>
                  <a:schemeClr val="accent2">
                    <a:lumMod val="50000"/>
                  </a:schemeClr>
                </a:solidFill>
              </a:rPr>
              <a:t>OpenAI</a:t>
            </a:r>
            <a:r>
              <a:rPr lang="en-US" b="1" dirty="0"/>
              <a:t>:</a:t>
            </a:r>
            <a:r>
              <a:rPr lang="en-US" dirty="0"/>
              <a:t> The company behind </a:t>
            </a:r>
            <a:r>
              <a:rPr lang="en-US" dirty="0" err="1"/>
              <a:t>ChatGPT</a:t>
            </a:r>
            <a:r>
              <a:rPr lang="en-US" dirty="0"/>
              <a:t>. Already mentioned it on W4S2.</a:t>
            </a:r>
            <a:br>
              <a:rPr lang="en-US" dirty="0"/>
            </a:br>
            <a:r>
              <a:rPr lang="en-US" dirty="0">
                <a:hlinkClick r:id="rId4"/>
              </a:rPr>
              <a:t>https://openai.com/</a:t>
            </a:r>
            <a:endParaRPr lang="en-US" dirty="0"/>
          </a:p>
          <a:p>
            <a:endParaRPr lang="en-US" dirty="0"/>
          </a:p>
        </p:txBody>
      </p:sp>
    </p:spTree>
    <p:extLst>
      <p:ext uri="{BB962C8B-B14F-4D97-AF65-F5344CB8AC3E}">
        <p14:creationId xmlns:p14="http://schemas.microsoft.com/office/powerpoint/2010/main" val="298230868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E7EA-E606-4D4B-9B26-3E7B6B05AF77}"/>
              </a:ext>
            </a:extLst>
          </p:cNvPr>
          <p:cNvSpPr>
            <a:spLocks noGrp="1"/>
          </p:cNvSpPr>
          <p:nvPr>
            <p:ph type="title"/>
          </p:nvPr>
        </p:nvSpPr>
        <p:spPr/>
        <p:txBody>
          <a:bodyPr/>
          <a:lstStyle/>
          <a:p>
            <a:r>
              <a:rPr lang="en-US" dirty="0"/>
              <a:t>Supervised and combined learning?</a:t>
            </a:r>
            <a:endParaRPr lang="en-GB" dirty="0"/>
          </a:p>
        </p:txBody>
      </p:sp>
      <p:sp>
        <p:nvSpPr>
          <p:cNvPr id="3" name="Content Placeholder 2">
            <a:extLst>
              <a:ext uri="{FF2B5EF4-FFF2-40B4-BE49-F238E27FC236}">
                <a16:creationId xmlns:a16="http://schemas.microsoft.com/office/drawing/2014/main" id="{32A50FF4-53DB-4F2D-9303-8E9AC75E4F69}"/>
              </a:ext>
            </a:extLst>
          </p:cNvPr>
          <p:cNvSpPr>
            <a:spLocks noGrp="1"/>
          </p:cNvSpPr>
          <p:nvPr>
            <p:ph idx="1"/>
          </p:nvPr>
        </p:nvSpPr>
        <p:spPr>
          <a:xfrm>
            <a:off x="838200" y="1825625"/>
            <a:ext cx="10515600" cy="5032375"/>
          </a:xfrm>
        </p:spPr>
        <p:txBody>
          <a:bodyPr>
            <a:normAutofit/>
          </a:bodyPr>
          <a:lstStyle/>
          <a:p>
            <a:r>
              <a:rPr lang="en-US" dirty="0"/>
              <a:t>Word2Vec, </a:t>
            </a:r>
            <a:r>
              <a:rPr lang="en-US" dirty="0" err="1"/>
              <a:t>GloVe</a:t>
            </a:r>
            <a:r>
              <a:rPr lang="en-US" dirty="0"/>
              <a:t>, </a:t>
            </a:r>
            <a:r>
              <a:rPr lang="en-US" dirty="0" err="1"/>
              <a:t>FastText</a:t>
            </a:r>
            <a:r>
              <a:rPr lang="en-US" dirty="0"/>
              <a:t> and </a:t>
            </a:r>
            <a:r>
              <a:rPr lang="en-US" dirty="0" err="1"/>
              <a:t>ELMo</a:t>
            </a:r>
            <a:r>
              <a:rPr lang="en-US" dirty="0"/>
              <a:t> approaches are commonly referred to as </a:t>
            </a:r>
            <a:r>
              <a:rPr lang="en-US" b="1" dirty="0"/>
              <a:t>unsupervised (or semi-supervised) approaches to embedding, </a:t>
            </a:r>
            <a:r>
              <a:rPr lang="en-US" dirty="0"/>
              <a:t>both relying on the </a:t>
            </a:r>
            <a:r>
              <a:rPr lang="en-GB" b="1" dirty="0"/>
              <a:t>distributional hypothesis </a:t>
            </a:r>
            <a:r>
              <a:rPr lang="en-GB" dirty="0"/>
              <a:t>we mentioned on the previous lecture.</a:t>
            </a:r>
            <a:endParaRPr lang="en-US" b="1" dirty="0"/>
          </a:p>
          <a:p>
            <a:r>
              <a:rPr lang="en-US" dirty="0"/>
              <a:t>Unsupervised representation learning of sentences had been the norm for quite some time.</a:t>
            </a:r>
          </a:p>
          <a:p>
            <a:r>
              <a:rPr lang="en-US" b="1" dirty="0"/>
              <a:t>More advanced versions of unsupervised approaches exist!</a:t>
            </a:r>
          </a:p>
          <a:p>
            <a:endParaRPr lang="en-US" dirty="0"/>
          </a:p>
          <a:p>
            <a:r>
              <a:rPr lang="en-US" dirty="0"/>
              <a:t>However, the last few years have seen a shift toward </a:t>
            </a:r>
            <a:r>
              <a:rPr lang="en-US" b="1" dirty="0"/>
              <a:t>supervised</a:t>
            </a:r>
            <a:r>
              <a:rPr lang="en-US" dirty="0"/>
              <a:t> and </a:t>
            </a:r>
            <a:r>
              <a:rPr lang="en-US" b="1" dirty="0"/>
              <a:t>multi-task learning schemes </a:t>
            </a:r>
            <a:r>
              <a:rPr lang="en-US" dirty="0"/>
              <a:t>with a number of notably interesting proposals in late 2017/early 2018.</a:t>
            </a:r>
          </a:p>
        </p:txBody>
      </p:sp>
    </p:spTree>
    <p:extLst>
      <p:ext uri="{BB962C8B-B14F-4D97-AF65-F5344CB8AC3E}">
        <p14:creationId xmlns:p14="http://schemas.microsoft.com/office/powerpoint/2010/main" val="1431352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7D95F-D735-4D43-865C-5C32260BD6EC}"/>
              </a:ext>
            </a:extLst>
          </p:cNvPr>
          <p:cNvSpPr>
            <a:spLocks noGrp="1"/>
          </p:cNvSpPr>
          <p:nvPr>
            <p:ph type="title"/>
          </p:nvPr>
        </p:nvSpPr>
        <p:spPr/>
        <p:txBody>
          <a:bodyPr/>
          <a:lstStyle/>
          <a:p>
            <a:r>
              <a:rPr lang="en-US" dirty="0"/>
              <a:t>From unsupervised to combined learning</a:t>
            </a:r>
            <a:endParaRPr lang="en-GB" dirty="0"/>
          </a:p>
        </p:txBody>
      </p:sp>
      <p:sp>
        <p:nvSpPr>
          <p:cNvPr id="3" name="Content Placeholder 2">
            <a:extLst>
              <a:ext uri="{FF2B5EF4-FFF2-40B4-BE49-F238E27FC236}">
                <a16:creationId xmlns:a16="http://schemas.microsoft.com/office/drawing/2014/main" id="{C981CA7B-3341-41AD-8C0F-233620E9EF48}"/>
              </a:ext>
            </a:extLst>
          </p:cNvPr>
          <p:cNvSpPr>
            <a:spLocks noGrp="1"/>
          </p:cNvSpPr>
          <p:nvPr>
            <p:ph idx="1"/>
          </p:nvPr>
        </p:nvSpPr>
        <p:spPr>
          <a:xfrm>
            <a:off x="838200" y="1825624"/>
            <a:ext cx="10515600" cy="5032375"/>
          </a:xfrm>
        </p:spPr>
        <p:txBody>
          <a:bodyPr>
            <a:normAutofit/>
          </a:bodyPr>
          <a:lstStyle/>
          <a:p>
            <a:pPr marL="0" indent="0">
              <a:buNone/>
            </a:pPr>
            <a:r>
              <a:rPr lang="en-US" dirty="0"/>
              <a:t>For a long time, there was a general consensus (see [Wang2018] for details) in the field that</a:t>
            </a:r>
          </a:p>
          <a:p>
            <a:r>
              <a:rPr lang="en-US" dirty="0"/>
              <a:t>the simple approach of </a:t>
            </a:r>
            <a:r>
              <a:rPr lang="en-US" b="1" dirty="0"/>
              <a:t>simply averaging a sentence’s word vectors </a:t>
            </a:r>
            <a:r>
              <a:rPr lang="en-US" dirty="0"/>
              <a:t>(as in </a:t>
            </a:r>
            <a:r>
              <a:rPr lang="en-US" dirty="0" err="1"/>
              <a:t>CBoW</a:t>
            </a:r>
            <a:r>
              <a:rPr lang="en-US" dirty="0"/>
              <a:t> approach) gives a strong baseline for context, which is good enough for many downstream tasks.</a:t>
            </a:r>
          </a:p>
          <a:p>
            <a:r>
              <a:rPr lang="en-US" b="1" dirty="0"/>
              <a:t>supervised</a:t>
            </a:r>
            <a:r>
              <a:rPr lang="en-US" dirty="0"/>
              <a:t> learning of sentence/word embeddings was costly and gave lower-quality embeddings than unsupervised/semi-supervised approaches.</a:t>
            </a:r>
          </a:p>
          <a:p>
            <a:endParaRPr lang="en-US" dirty="0"/>
          </a:p>
          <a:p>
            <a:pPr marL="0" indent="0">
              <a:buNone/>
            </a:pPr>
            <a:r>
              <a:rPr lang="en-US" dirty="0"/>
              <a:t>But these assumptions have recently been overturned, in part following the publication of the InferSent ([Conneau2018]) results.</a:t>
            </a:r>
            <a:endParaRPr lang="en-GB" dirty="0"/>
          </a:p>
        </p:txBody>
      </p:sp>
    </p:spTree>
    <p:extLst>
      <p:ext uri="{BB962C8B-B14F-4D97-AF65-F5344CB8AC3E}">
        <p14:creationId xmlns:p14="http://schemas.microsoft.com/office/powerpoint/2010/main" val="39343025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39CC5-9C50-4642-A0C6-C115378A6D08}"/>
              </a:ext>
            </a:extLst>
          </p:cNvPr>
          <p:cNvSpPr>
            <a:spLocks noGrp="1"/>
          </p:cNvSpPr>
          <p:nvPr>
            <p:ph type="title"/>
          </p:nvPr>
        </p:nvSpPr>
        <p:spPr/>
        <p:txBody>
          <a:bodyPr/>
          <a:lstStyle/>
          <a:p>
            <a:r>
              <a:rPr lang="en-US" dirty="0"/>
              <a:t>Counter-example:</a:t>
            </a:r>
            <a:br>
              <a:rPr lang="en-US" dirty="0"/>
            </a:br>
            <a:r>
              <a:rPr lang="en-US" dirty="0" err="1"/>
              <a:t>InferSent</a:t>
            </a:r>
            <a:r>
              <a:rPr lang="en-US" dirty="0"/>
              <a:t> (out-of-class)</a:t>
            </a:r>
            <a:endParaRPr lang="en-GB" dirty="0"/>
          </a:p>
        </p:txBody>
      </p:sp>
      <p:sp>
        <p:nvSpPr>
          <p:cNvPr id="4" name="Content Placeholder 3">
            <a:extLst>
              <a:ext uri="{FF2B5EF4-FFF2-40B4-BE49-F238E27FC236}">
                <a16:creationId xmlns:a16="http://schemas.microsoft.com/office/drawing/2014/main" id="{9AEB6D1D-9200-42F5-AA97-890C3BB2E660}"/>
              </a:ext>
            </a:extLst>
          </p:cNvPr>
          <p:cNvSpPr>
            <a:spLocks noGrp="1"/>
          </p:cNvSpPr>
          <p:nvPr>
            <p:ph sz="half" idx="1"/>
          </p:nvPr>
        </p:nvSpPr>
        <p:spPr>
          <a:xfrm>
            <a:off x="838199" y="1825624"/>
            <a:ext cx="6469185" cy="5032375"/>
          </a:xfrm>
        </p:spPr>
        <p:txBody>
          <a:bodyPr>
            <a:normAutofit/>
          </a:bodyPr>
          <a:lstStyle/>
          <a:p>
            <a:pPr marL="0" indent="0">
              <a:buNone/>
            </a:pPr>
            <a:r>
              <a:rPr lang="en-US" b="1" dirty="0"/>
              <a:t>Simple key takeaways</a:t>
            </a:r>
          </a:p>
          <a:p>
            <a:r>
              <a:rPr lang="en-US" dirty="0"/>
              <a:t>The </a:t>
            </a:r>
            <a:r>
              <a:rPr lang="en-US" dirty="0" err="1"/>
              <a:t>InferSent</a:t>
            </a:r>
            <a:r>
              <a:rPr lang="en-US" dirty="0"/>
              <a:t> model (in [Conneau2018]) is an example of a supervised classification model, with three classes: Entailment, Neutral, Contradiction.</a:t>
            </a:r>
          </a:p>
          <a:p>
            <a:r>
              <a:rPr lang="en-US" dirty="0"/>
              <a:t>It uses the same forward-backward LSTM architecture as </a:t>
            </a:r>
            <a:r>
              <a:rPr lang="en-US" dirty="0" err="1"/>
              <a:t>ELMo</a:t>
            </a:r>
            <a:r>
              <a:rPr lang="en-US" dirty="0"/>
              <a:t>, and attempts to compare two sentences and classify the pair.</a:t>
            </a:r>
          </a:p>
          <a:p>
            <a:r>
              <a:rPr lang="en-US" dirty="0"/>
              <a:t>Feature representation extracted from model showed good performance.</a:t>
            </a:r>
            <a:endParaRPr lang="en-GB" dirty="0"/>
          </a:p>
        </p:txBody>
      </p:sp>
      <p:pic>
        <p:nvPicPr>
          <p:cNvPr id="6" name="Picture 5">
            <a:extLst>
              <a:ext uri="{FF2B5EF4-FFF2-40B4-BE49-F238E27FC236}">
                <a16:creationId xmlns:a16="http://schemas.microsoft.com/office/drawing/2014/main" id="{BE016610-408D-467C-9B8C-5F317DDDDC9F}"/>
              </a:ext>
            </a:extLst>
          </p:cNvPr>
          <p:cNvPicPr>
            <a:picLocks noChangeAspect="1"/>
          </p:cNvPicPr>
          <p:nvPr/>
        </p:nvPicPr>
        <p:blipFill rotWithShape="1">
          <a:blip r:embed="rId2"/>
          <a:srcRect l="65448" t="31385" r="23208" b="40718"/>
          <a:stretch/>
        </p:blipFill>
        <p:spPr>
          <a:xfrm>
            <a:off x="8135815" y="116927"/>
            <a:ext cx="2969846" cy="2282396"/>
          </a:xfrm>
          <a:prstGeom prst="rect">
            <a:avLst/>
          </a:prstGeom>
        </p:spPr>
      </p:pic>
      <p:pic>
        <p:nvPicPr>
          <p:cNvPr id="7" name="Picture 6">
            <a:extLst>
              <a:ext uri="{FF2B5EF4-FFF2-40B4-BE49-F238E27FC236}">
                <a16:creationId xmlns:a16="http://schemas.microsoft.com/office/drawing/2014/main" id="{43162E95-5B3D-431B-8647-7DFE713226C1}"/>
              </a:ext>
            </a:extLst>
          </p:cNvPr>
          <p:cNvPicPr>
            <a:picLocks noChangeAspect="1"/>
          </p:cNvPicPr>
          <p:nvPr/>
        </p:nvPicPr>
        <p:blipFill rotWithShape="1">
          <a:blip r:embed="rId3"/>
          <a:srcRect l="64231" t="10889" r="22885" b="31692"/>
          <a:stretch/>
        </p:blipFill>
        <p:spPr>
          <a:xfrm>
            <a:off x="8135815" y="2478148"/>
            <a:ext cx="2969846" cy="4135829"/>
          </a:xfrm>
          <a:prstGeom prst="rect">
            <a:avLst/>
          </a:prstGeom>
        </p:spPr>
      </p:pic>
    </p:spTree>
    <p:extLst>
      <p:ext uri="{BB962C8B-B14F-4D97-AF65-F5344CB8AC3E}">
        <p14:creationId xmlns:p14="http://schemas.microsoft.com/office/powerpoint/2010/main" val="274518781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1D7-C7FD-4ABA-9816-7E29ACD00872}"/>
              </a:ext>
            </a:extLst>
          </p:cNvPr>
          <p:cNvSpPr>
            <a:spLocks noGrp="1"/>
          </p:cNvSpPr>
          <p:nvPr>
            <p:ph type="title"/>
          </p:nvPr>
        </p:nvSpPr>
        <p:spPr/>
        <p:txBody>
          <a:bodyPr/>
          <a:lstStyle/>
          <a:p>
            <a:r>
              <a:rPr lang="en-US" dirty="0"/>
              <a:t>From unsupervised to combined learning</a:t>
            </a:r>
            <a:endParaRPr lang="en-GB" dirty="0"/>
          </a:p>
        </p:txBody>
      </p:sp>
      <p:sp>
        <p:nvSpPr>
          <p:cNvPr id="5" name="Content Placeholder 4">
            <a:extLst>
              <a:ext uri="{FF2B5EF4-FFF2-40B4-BE49-F238E27FC236}">
                <a16:creationId xmlns:a16="http://schemas.microsoft.com/office/drawing/2014/main" id="{A223A7AD-0B37-4DFF-81D7-F9D35FF2BA4F}"/>
              </a:ext>
            </a:extLst>
          </p:cNvPr>
          <p:cNvSpPr>
            <a:spLocks noGrp="1"/>
          </p:cNvSpPr>
          <p:nvPr>
            <p:ph idx="1"/>
          </p:nvPr>
        </p:nvSpPr>
        <p:spPr>
          <a:xfrm>
            <a:off x="838200" y="1825624"/>
            <a:ext cx="10515600" cy="5032375"/>
          </a:xfrm>
        </p:spPr>
        <p:txBody>
          <a:bodyPr>
            <a:normAutofit/>
          </a:bodyPr>
          <a:lstStyle/>
          <a:p>
            <a:r>
              <a:rPr lang="en-US" dirty="0"/>
              <a:t>Following these recent results, showing that supervised approaches are not necessarily bad…</a:t>
            </a:r>
          </a:p>
          <a:p>
            <a:r>
              <a:rPr lang="en-US" dirty="0"/>
              <a:t>The current direction in research for word embeddings suggests to combine both supervised and unsupervised learning techniques. This is commonly referred to as a </a:t>
            </a:r>
            <a:r>
              <a:rPr lang="en-GB" b="1" dirty="0"/>
              <a:t>multi-task learning based embedding.</a:t>
            </a:r>
            <a:endParaRPr lang="en-GB" dirty="0"/>
          </a:p>
          <a:p>
            <a:r>
              <a:rPr lang="en-GB" dirty="0"/>
              <a:t>The most notable work in this direction would be </a:t>
            </a:r>
            <a:r>
              <a:rPr lang="en-GB" b="1" dirty="0"/>
              <a:t>Google’s Universal Sentence and Word Encoder </a:t>
            </a:r>
            <a:r>
              <a:rPr lang="en-GB" dirty="0"/>
              <a:t>(in [Cer2019]). Kept rather hidden, have only seen a pre-release on </a:t>
            </a:r>
            <a:r>
              <a:rPr lang="en-GB" dirty="0" err="1"/>
              <a:t>Tensorflow</a:t>
            </a:r>
            <a:r>
              <a:rPr lang="en-GB" dirty="0"/>
              <a:t>: </a:t>
            </a:r>
            <a:r>
              <a:rPr lang="en-GB" dirty="0">
                <a:hlinkClick r:id="rId2"/>
              </a:rPr>
              <a:t>https://www.tensorflow.org/hub/tutorials/semantic_similarity_with_tf_hub_universal_encoder</a:t>
            </a:r>
            <a:endParaRPr lang="en-GB" dirty="0"/>
          </a:p>
          <a:p>
            <a:r>
              <a:rPr lang="en-GB"/>
              <a:t>(But nothing </a:t>
            </a:r>
            <a:r>
              <a:rPr lang="en-GB" dirty="0"/>
              <a:t>for </a:t>
            </a:r>
            <a:r>
              <a:rPr lang="en-GB" dirty="0" err="1"/>
              <a:t>PyTorch</a:t>
            </a:r>
            <a:r>
              <a:rPr lang="en-GB" dirty="0"/>
              <a:t> yet?)</a:t>
            </a:r>
          </a:p>
        </p:txBody>
      </p:sp>
    </p:spTree>
    <p:extLst>
      <p:ext uri="{BB962C8B-B14F-4D97-AF65-F5344CB8AC3E}">
        <p14:creationId xmlns:p14="http://schemas.microsoft.com/office/powerpoint/2010/main" val="40873190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BF743-BAC1-422E-B891-BF756A5F4475}"/>
              </a:ext>
            </a:extLst>
          </p:cNvPr>
          <p:cNvSpPr>
            <a:spLocks noGrp="1"/>
          </p:cNvSpPr>
          <p:nvPr>
            <p:ph type="title"/>
          </p:nvPr>
        </p:nvSpPr>
        <p:spPr/>
        <p:txBody>
          <a:bodyPr/>
          <a:lstStyle/>
          <a:p>
            <a:r>
              <a:rPr lang="en-US" dirty="0"/>
              <a:t>On the limits of attention?</a:t>
            </a:r>
            <a:endParaRPr lang="en-GB" dirty="0"/>
          </a:p>
        </p:txBody>
      </p:sp>
      <p:sp>
        <p:nvSpPr>
          <p:cNvPr id="3" name="Content Placeholder 2">
            <a:extLst>
              <a:ext uri="{FF2B5EF4-FFF2-40B4-BE49-F238E27FC236}">
                <a16:creationId xmlns:a16="http://schemas.microsoft.com/office/drawing/2014/main" id="{F07EF62C-B4DE-43C0-841C-F8E6E677B5F8}"/>
              </a:ext>
            </a:extLst>
          </p:cNvPr>
          <p:cNvSpPr>
            <a:spLocks noGrp="1"/>
          </p:cNvSpPr>
          <p:nvPr>
            <p:ph idx="1"/>
          </p:nvPr>
        </p:nvSpPr>
        <p:spPr>
          <a:xfrm>
            <a:off x="838200" y="1825624"/>
            <a:ext cx="10515600" cy="5032375"/>
          </a:xfrm>
        </p:spPr>
        <p:txBody>
          <a:bodyPr>
            <a:normAutofit/>
          </a:bodyPr>
          <a:lstStyle/>
          <a:p>
            <a:r>
              <a:rPr lang="en-US" dirty="0"/>
              <a:t>Active research following the BERT and GPT embeddings, wondering what might be the next big revolution? ([Devlin2019])</a:t>
            </a:r>
          </a:p>
          <a:p>
            <a:r>
              <a:rPr lang="en-US" dirty="0"/>
              <a:t>In the paper [Dong2021], a research team from Google and EPFL proposed a novel approach that sheds light on the operation and inductive biases of self-attention/transformer networks and finds that pure attention performance decays in rank doubly exponentially with respect to depth.</a:t>
            </a:r>
          </a:p>
          <a:p>
            <a:r>
              <a:rPr lang="en-US" dirty="0"/>
              <a:t>Recent works suggest that a new type of transformer layer, called </a:t>
            </a:r>
            <a:r>
              <a:rPr lang="en-US" b="1" dirty="0"/>
              <a:t>Lambda layers </a:t>
            </a:r>
            <a:r>
              <a:rPr lang="en-US" dirty="0"/>
              <a:t>could become the next hype for the future of NLP embeddings [Bello2021]?</a:t>
            </a:r>
          </a:p>
          <a:p>
            <a:r>
              <a:rPr lang="en-US" dirty="0"/>
              <a:t>Or simply GPT-4? ([Forbes-GPT4]).</a:t>
            </a:r>
            <a:endParaRPr lang="en-GB" dirty="0"/>
          </a:p>
        </p:txBody>
      </p:sp>
    </p:spTree>
    <p:extLst>
      <p:ext uri="{BB962C8B-B14F-4D97-AF65-F5344CB8AC3E}">
        <p14:creationId xmlns:p14="http://schemas.microsoft.com/office/powerpoint/2010/main" val="4220575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4017</TotalTime>
  <Words>6971</Words>
  <Application>Microsoft Office PowerPoint</Application>
  <PresentationFormat>Widescreen</PresentationFormat>
  <Paragraphs>508</Paragraphs>
  <Slides>109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109</vt:i4>
      </vt:variant>
    </vt:vector>
  </HeadingPairs>
  <TitlesOfParts>
    <vt:vector size="115" baseType="lpstr">
      <vt:lpstr>Arial</vt:lpstr>
      <vt:lpstr>Calibri</vt:lpstr>
      <vt:lpstr>Calibri Light</vt:lpstr>
      <vt:lpstr>Cambria Math</vt:lpstr>
      <vt:lpstr>Wingdings</vt:lpstr>
      <vt:lpstr>Office Theme</vt:lpstr>
      <vt:lpstr>50.039 Theory and Practice of Deep Learning W8-S3 Word Embedding Biases, Evaluation, Attention and Transformers</vt:lpstr>
      <vt:lpstr>About this week (Week 8)</vt:lpstr>
      <vt:lpstr>About this week (Week 8)</vt:lpstr>
      <vt:lpstr>In the last episode…</vt:lpstr>
      <vt:lpstr>Measuring Embeddings Performance </vt:lpstr>
      <vt:lpstr>Measuring Embeddings Performance </vt:lpstr>
      <vt:lpstr>Measuring Embeddings Performance </vt:lpstr>
      <vt:lpstr>Measuring Embeddings Performance </vt:lpstr>
      <vt:lpstr>Measuring Embeddings Performance </vt:lpstr>
      <vt:lpstr>Measuring Embeddings Performance </vt:lpstr>
      <vt:lpstr>Measuring Embeddings Performance </vt:lpstr>
      <vt:lpstr>Measuring Embeddings Performance </vt:lpstr>
      <vt:lpstr>Measuring Embeddings Performance </vt:lpstr>
      <vt:lpstr>Measuring Embeddings Performance </vt:lpstr>
      <vt:lpstr>Measuring Embeddings Performance </vt:lpstr>
      <vt:lpstr>Word embedding biases</vt:lpstr>
      <vt:lpstr>Word embeddings evaluation</vt:lpstr>
      <vt:lpstr>A reminder on sequence to sequence tasks</vt:lpstr>
      <vt:lpstr>A reminder on sequence to sequence tasks</vt:lpstr>
      <vt:lpstr>A reminder on sequence to sequence tasks</vt:lpstr>
      <vt:lpstr>Encoder and Decoder models</vt:lpstr>
      <vt:lpstr>Sequence to sequence tasks</vt:lpstr>
      <vt:lpstr>Sequence to sequence tasks</vt:lpstr>
      <vt:lpstr>Sequence to sequence tasks</vt:lpstr>
      <vt:lpstr>Sequence to sequence tasks</vt:lpstr>
      <vt:lpstr>Sequence to sequence tasks</vt:lpstr>
      <vt:lpstr>Sequence to sequence tasks</vt:lpstr>
      <vt:lpstr>Sequence to sequence tasks</vt:lpstr>
      <vt:lpstr>Sequence to sequence tasks</vt:lpstr>
      <vt:lpstr>Sequence to sequence tasks</vt:lpstr>
      <vt:lpstr>Attention: definition and motivation</vt:lpstr>
      <vt:lpstr>Attention coefficients</vt:lpstr>
      <vt:lpstr>Attention coefficients</vt:lpstr>
      <vt:lpstr>Attention: definition and motivation</vt:lpstr>
      <vt:lpstr>The attention layer</vt:lpstr>
      <vt:lpstr>PowerPoint Presentation</vt:lpstr>
      <vt:lpstr>The attention layer</vt:lpstr>
      <vt:lpstr>PowerPoint Presentation</vt:lpstr>
      <vt:lpstr>The attention layer</vt:lpstr>
      <vt:lpstr>PowerPoint Presentation</vt:lpstr>
      <vt:lpstr>The attention layer</vt:lpstr>
      <vt:lpstr>The attention layer</vt:lpstr>
      <vt:lpstr>The attention layer</vt:lpstr>
      <vt:lpstr>PowerPoint Presentation</vt:lpstr>
      <vt:lpstr>The attention layer</vt:lpstr>
      <vt:lpstr>The attention layer</vt:lpstr>
      <vt:lpstr>PowerPoint Presentation</vt:lpstr>
      <vt:lpstr>The attention layer</vt:lpstr>
      <vt:lpstr>PowerPoint Presentation</vt:lpstr>
      <vt:lpstr>The attention layer</vt:lpstr>
      <vt:lpstr>PowerPoint Presentation</vt:lpstr>
      <vt:lpstr>PowerPoint Presentation</vt:lpstr>
      <vt:lpstr>The attention layer</vt:lpstr>
      <vt:lpstr>PowerPoint Presentation</vt:lpstr>
      <vt:lpstr>PowerPoint Presentation</vt:lpstr>
      <vt:lpstr>PowerPoint Presentation</vt:lpstr>
      <vt:lpstr>PowerPoint Presentation</vt:lpstr>
      <vt:lpstr>PowerPoint Presentation</vt:lpstr>
      <vt:lpstr>The attention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attention layer</vt:lpstr>
      <vt:lpstr>PowerPoint Presentation</vt:lpstr>
      <vt:lpstr>The attention layer</vt:lpstr>
      <vt:lpstr>The attention layer</vt:lpstr>
      <vt:lpstr>PowerPoint Presentation</vt:lpstr>
      <vt:lpstr>PowerPoint Presentation</vt:lpstr>
      <vt:lpstr>The attention layer</vt:lpstr>
      <vt:lpstr>The attention layer</vt:lpstr>
      <vt:lpstr>PowerPoint Presentation</vt:lpstr>
      <vt:lpstr>PowerPoint Presentation</vt:lpstr>
      <vt:lpstr>PowerPoint Presentation</vt:lpstr>
      <vt:lpstr>PowerPoint Presentation</vt:lpstr>
      <vt:lpstr>The attention layer</vt:lpstr>
      <vt:lpstr>PowerPoint Presentation</vt:lpstr>
      <vt:lpstr>PowerPoint Presentation</vt:lpstr>
      <vt:lpstr>PowerPoint Presentation</vt:lpstr>
      <vt:lpstr>PowerPoint Presentation</vt:lpstr>
      <vt:lpstr>PowerPoint Presentation</vt:lpstr>
      <vt:lpstr>Great news!</vt:lpstr>
      <vt:lpstr>Applications for attention/transformers</vt:lpstr>
      <vt:lpstr>The BERT word embedding</vt:lpstr>
      <vt:lpstr>Also, GPT-n embeddings</vt:lpstr>
      <vt:lpstr>GPT3 and ChatGPT</vt:lpstr>
      <vt:lpstr>Transformers on  HuggingFace</vt:lpstr>
      <vt:lpstr>Implementing transformers on HuggingFace</vt:lpstr>
      <vt:lpstr>About tokenizers and models</vt:lpstr>
      <vt:lpstr>Implementing transformers on HuggingFace</vt:lpstr>
      <vt:lpstr>Conclusion (W8S3)</vt:lpstr>
      <vt:lpstr>Learn more about these topics</vt:lpstr>
      <vt:lpstr>Learn more about these topics</vt:lpstr>
      <vt:lpstr>Learn more about these topics</vt:lpstr>
      <vt:lpstr>Learn more about these topics</vt:lpstr>
      <vt:lpstr>Learn more about these topics</vt:lpstr>
      <vt:lpstr>Learn more about these topics</vt:lpstr>
      <vt:lpstr>Learn more about these topics</vt:lpstr>
      <vt:lpstr>Learn more about these topics</vt:lpstr>
      <vt:lpstr>Learn more about these topics</vt:lpstr>
      <vt:lpstr>Learn more about these topics</vt:lpstr>
      <vt:lpstr>Supervised and combined learning?</vt:lpstr>
      <vt:lpstr>From unsupervised to combined learning</vt:lpstr>
      <vt:lpstr>Counter-example: InferSent (out-of-class)</vt:lpstr>
      <vt:lpstr>From unsupervised to combined learning</vt:lpstr>
      <vt:lpstr>On the limits of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240</cp:revision>
  <dcterms:created xsi:type="dcterms:W3CDTF">2021-03-10T09:35:15Z</dcterms:created>
  <dcterms:modified xsi:type="dcterms:W3CDTF">2025-12-19T17:19:55Z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2022-10-17T09:22:38Z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921e26b0-de0b-4c0c-9d64-a3c447bdcad4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