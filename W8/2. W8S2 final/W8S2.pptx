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ata6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77" r:id="rId2"/>
    <p:sldId id="257" r:id="rId3"/>
    <p:sldId id="492" r:id="rId4"/>
    <p:sldId id="424" r:id="rId5"/>
    <p:sldId id="451" r:id="rId6"/>
    <p:sldId id="263" r:id="rId7"/>
    <p:sldId id="454" r:id="rId8"/>
    <p:sldId id="456" r:id="rId9"/>
    <p:sldId id="458" r:id="rId10"/>
    <p:sldId id="496" r:id="rId11"/>
    <p:sldId id="460" r:id="rId12"/>
    <p:sldId id="495" r:id="rId13"/>
    <p:sldId id="506" r:id="rId14"/>
    <p:sldId id="493" r:id="rId15"/>
    <p:sldId id="459" r:id="rId16"/>
    <p:sldId id="432" r:id="rId17"/>
    <p:sldId id="468" r:id="rId18"/>
    <p:sldId id="466" r:id="rId19"/>
    <p:sldId id="469" r:id="rId20"/>
    <p:sldId id="465" r:id="rId21"/>
    <p:sldId id="471" r:id="rId22"/>
    <p:sldId id="473" r:id="rId23"/>
    <p:sldId id="475" r:id="rId24"/>
    <p:sldId id="477" r:id="rId25"/>
    <p:sldId id="478" r:id="rId26"/>
    <p:sldId id="472" r:id="rId27"/>
    <p:sldId id="523" r:id="rId28"/>
    <p:sldId id="470" r:id="rId29"/>
    <p:sldId id="497" r:id="rId30"/>
    <p:sldId id="499" r:id="rId31"/>
    <p:sldId id="480" r:id="rId32"/>
    <p:sldId id="256" r:id="rId33"/>
    <p:sldId id="501" r:id="rId34"/>
    <p:sldId id="502" r:id="rId35"/>
    <p:sldId id="448" r:id="rId36"/>
    <p:sldId id="505" r:id="rId37"/>
    <p:sldId id="509" r:id="rId38"/>
    <p:sldId id="508" r:id="rId39"/>
    <p:sldId id="512" r:id="rId40"/>
    <p:sldId id="513" r:id="rId41"/>
    <p:sldId id="514" r:id="rId42"/>
    <p:sldId id="516" r:id="rId43"/>
    <p:sldId id="515" r:id="rId44"/>
    <p:sldId id="484" r:id="rId45"/>
    <p:sldId id="518" r:id="rId46"/>
    <p:sldId id="520" r:id="rId47"/>
    <p:sldId id="521" r:id="rId48"/>
    <p:sldId id="485" r:id="rId49"/>
    <p:sldId id="486" r:id="rId50"/>
    <p:sldId id="519" r:id="rId51"/>
    <p:sldId id="498" r:id="rId52"/>
    <p:sldId id="522" r:id="rId53"/>
    <p:sldId id="487" r:id="rId54"/>
    <p:sldId id="525" r:id="rId55"/>
    <p:sldId id="346" r:id="rId56"/>
    <p:sldId id="267" r:id="rId57"/>
    <p:sldId id="476" r:id="rId58"/>
    <p:sldId id="524" r:id="rId59"/>
    <p:sldId id="503" r:id="rId60"/>
    <p:sldId id="510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ntroduction" id="{2FD0FF71-F5FC-4EB7-B2CB-B31E4CBECD79}">
          <p14:sldIdLst>
            <p14:sldId id="257"/>
            <p14:sldId id="492"/>
          </p14:sldIdLst>
        </p14:section>
        <p14:section name="I. CBOW" id="{832A3431-DF4C-497C-BB90-EAE5445AAC67}">
          <p14:sldIdLst>
            <p14:sldId id="424"/>
          </p14:sldIdLst>
        </p14:section>
        <p14:section name="II.1. SkipGRAM" id="{51C241CE-FC4A-4B26-9228-D3637617A4FE}">
          <p14:sldIdLst>
            <p14:sldId id="451"/>
            <p14:sldId id="263"/>
            <p14:sldId id="454"/>
            <p14:sldId id="456"/>
            <p14:sldId id="458"/>
            <p14:sldId id="496"/>
            <p14:sldId id="460"/>
            <p14:sldId id="495"/>
            <p14:sldId id="506"/>
            <p14:sldId id="493"/>
            <p14:sldId id="459"/>
          </p14:sldIdLst>
        </p14:section>
        <p14:section name="II.2. Glove and Word2Vec" id="{ECD9F28E-3EF2-4991-9795-E5A054FDDB0C}">
          <p14:sldIdLst>
            <p14:sldId id="432"/>
            <p14:sldId id="468"/>
            <p14:sldId id="466"/>
          </p14:sldIdLst>
        </p14:section>
        <p14:section name="III.1. FastText" id="{C2670816-24EC-4A68-8987-FB71311AD2A9}">
          <p14:sldIdLst>
            <p14:sldId id="469"/>
            <p14:sldId id="465"/>
            <p14:sldId id="471"/>
            <p14:sldId id="473"/>
            <p14:sldId id="475"/>
            <p14:sldId id="477"/>
            <p14:sldId id="478"/>
            <p14:sldId id="472"/>
            <p14:sldId id="523"/>
          </p14:sldIdLst>
        </p14:section>
        <p14:section name="III.2. ELMo" id="{8C257617-5F8C-473E-9E8C-6A272CEDF668}">
          <p14:sldIdLst>
            <p14:sldId id="470"/>
            <p14:sldId id="497"/>
            <p14:sldId id="499"/>
            <p14:sldId id="480"/>
            <p14:sldId id="256"/>
            <p14:sldId id="501"/>
            <p14:sldId id="502"/>
            <p14:sldId id="448"/>
            <p14:sldId id="505"/>
            <p14:sldId id="509"/>
            <p14:sldId id="508"/>
            <p14:sldId id="512"/>
            <p14:sldId id="513"/>
            <p14:sldId id="514"/>
            <p14:sldId id="516"/>
            <p14:sldId id="515"/>
            <p14:sldId id="484"/>
            <p14:sldId id="518"/>
            <p14:sldId id="520"/>
            <p14:sldId id="521"/>
            <p14:sldId id="485"/>
            <p14:sldId id="486"/>
            <p14:sldId id="519"/>
            <p14:sldId id="498"/>
            <p14:sldId id="522"/>
            <p14:sldId id="487"/>
            <p14:sldId id="525"/>
          </p14:sldIdLst>
        </p14:section>
        <p14:section name="Conclusion" id="{09807B6E-2B76-45C8-B103-96D5021B68A6}">
          <p14:sldIdLst>
            <p14:sldId id="346"/>
          </p14:sldIdLst>
        </p14:section>
        <p14:section name="References and watchlist" id="{217B8593-1CA5-408D-B198-A5E6ACAB5948}">
          <p14:sldIdLst>
            <p14:sldId id="267"/>
            <p14:sldId id="476"/>
            <p14:sldId id="524"/>
          </p14:sldIdLst>
        </p14:section>
        <p14:section name="Backup Slides" id="{FD57E859-F20E-4376-BAEE-A86894CED430}">
          <p14:sldIdLst>
            <p14:sldId id="503"/>
            <p14:sldId id="5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EC4BA-A38A-4D53-B9DC-C194A0C7E839}" v="31" dt="2025-12-19T17:34:42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98" d="100"/>
          <a:sy n="98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addSld delSld modSld modSection">
      <pc:chgData name="Matthieu De Mari" userId="dfb708c9-d8dc-439f-9a3b-c772bf4a311c" providerId="ADAL" clId="{81E9B007-0C2C-493E-9B93-55A62C9C1F12}" dt="2025-12-19T17:37:54.114" v="924" actId="14100"/>
      <pc:docMkLst>
        <pc:docMk/>
      </pc:docMkLst>
      <pc:sldChg chg="modSp mod">
        <pc:chgData name="Matthieu De Mari" userId="dfb708c9-d8dc-439f-9a3b-c772bf4a311c" providerId="ADAL" clId="{81E9B007-0C2C-493E-9B93-55A62C9C1F12}" dt="2025-12-19T16:59:23.494" v="7" actId="20577"/>
        <pc:sldMkLst>
          <pc:docMk/>
          <pc:sldMk cId="789868636" sldId="432"/>
        </pc:sldMkLst>
        <pc:spChg chg="mod">
          <ac:chgData name="Matthieu De Mari" userId="dfb708c9-d8dc-439f-9a3b-c772bf4a311c" providerId="ADAL" clId="{81E9B007-0C2C-493E-9B93-55A62C9C1F12}" dt="2025-12-19T16:59:23.494" v="7" actId="20577"/>
          <ac:spMkLst>
            <pc:docMk/>
            <pc:sldMk cId="789868636" sldId="432"/>
            <ac:spMk id="3" creationId="{47962BC2-6065-4770-9530-7B1FBA55197D}"/>
          </ac:spMkLst>
        </pc:spChg>
      </pc:sldChg>
      <pc:sldChg chg="modSp mod">
        <pc:chgData name="Matthieu De Mari" userId="dfb708c9-d8dc-439f-9a3b-c772bf4a311c" providerId="ADAL" clId="{81E9B007-0C2C-493E-9B93-55A62C9C1F12}" dt="2025-12-19T17:02:16.589" v="52" actId="20577"/>
        <pc:sldMkLst>
          <pc:docMk/>
          <pc:sldMk cId="735803177" sldId="448"/>
        </pc:sldMkLst>
        <pc:spChg chg="mod">
          <ac:chgData name="Matthieu De Mari" userId="dfb708c9-d8dc-439f-9a3b-c772bf4a311c" providerId="ADAL" clId="{81E9B007-0C2C-493E-9B93-55A62C9C1F12}" dt="2025-12-19T17:02:16.589" v="52" actId="20577"/>
          <ac:spMkLst>
            <pc:docMk/>
            <pc:sldMk cId="735803177" sldId="448"/>
            <ac:spMk id="2" creationId="{FA1CC791-C659-474A-A201-BDA86238571C}"/>
          </ac:spMkLst>
        </pc:spChg>
      </pc:sldChg>
      <pc:sldChg chg="modSp mod">
        <pc:chgData name="Matthieu De Mari" userId="dfb708c9-d8dc-439f-9a3b-c772bf4a311c" providerId="ADAL" clId="{81E9B007-0C2C-493E-9B93-55A62C9C1F12}" dt="2025-12-19T17:00:52.938" v="9" actId="20577"/>
        <pc:sldMkLst>
          <pc:docMk/>
          <pc:sldMk cId="2536786703" sldId="470"/>
        </pc:sldMkLst>
        <pc:spChg chg="mod">
          <ac:chgData name="Matthieu De Mari" userId="dfb708c9-d8dc-439f-9a3b-c772bf4a311c" providerId="ADAL" clId="{81E9B007-0C2C-493E-9B93-55A62C9C1F12}" dt="2025-12-19T17:00:52.938" v="9" actId="20577"/>
          <ac:spMkLst>
            <pc:docMk/>
            <pc:sldMk cId="2536786703" sldId="470"/>
            <ac:spMk id="5" creationId="{F1B1EDAE-D2BC-4F4D-8753-99F4F59A240E}"/>
          </ac:spMkLst>
        </pc:spChg>
      </pc:sldChg>
      <pc:sldChg chg="del">
        <pc:chgData name="Matthieu De Mari" userId="dfb708c9-d8dc-439f-9a3b-c772bf4a311c" providerId="ADAL" clId="{81E9B007-0C2C-493E-9B93-55A62C9C1F12}" dt="2025-12-19T17:00:10.648" v="8" actId="47"/>
        <pc:sldMkLst>
          <pc:docMk/>
          <pc:sldMk cId="1633424643" sldId="474"/>
        </pc:sldMkLst>
      </pc:sldChg>
      <pc:sldChg chg="modSp del">
        <pc:chgData name="Matthieu De Mari" userId="dfb708c9-d8dc-439f-9a3b-c772bf4a311c" providerId="ADAL" clId="{81E9B007-0C2C-493E-9B93-55A62C9C1F12}" dt="2025-12-19T17:04:37.800" v="65" actId="47"/>
        <pc:sldMkLst>
          <pc:docMk/>
          <pc:sldMk cId="1247392475" sldId="483"/>
        </pc:sldMkLst>
        <pc:spChg chg="mod">
          <ac:chgData name="Matthieu De Mari" userId="dfb708c9-d8dc-439f-9a3b-c772bf4a311c" providerId="ADAL" clId="{81E9B007-0C2C-493E-9B93-55A62C9C1F12}" dt="2025-12-19T17:03:51.273" v="62" actId="20577"/>
          <ac:spMkLst>
            <pc:docMk/>
            <pc:sldMk cId="1247392475" sldId="483"/>
            <ac:spMk id="4" creationId="{692E1E38-2085-423D-B105-8D4E8F16324B}"/>
          </ac:spMkLst>
        </pc:spChg>
      </pc:sldChg>
      <pc:sldChg chg="modSp">
        <pc:chgData name="Matthieu De Mari" userId="dfb708c9-d8dc-439f-9a3b-c772bf4a311c" providerId="ADAL" clId="{81E9B007-0C2C-493E-9B93-55A62C9C1F12}" dt="2025-12-19T17:05:26.272" v="105"/>
        <pc:sldMkLst>
          <pc:docMk/>
          <pc:sldMk cId="3798678173" sldId="484"/>
        </pc:sldMkLst>
        <pc:spChg chg="mod">
          <ac:chgData name="Matthieu De Mari" userId="dfb708c9-d8dc-439f-9a3b-c772bf4a311c" providerId="ADAL" clId="{81E9B007-0C2C-493E-9B93-55A62C9C1F12}" dt="2025-12-19T17:05:26.272" v="105"/>
          <ac:spMkLst>
            <pc:docMk/>
            <pc:sldMk cId="3798678173" sldId="484"/>
            <ac:spMk id="19" creationId="{0A6E4596-6A2B-A44C-BB59-2A63403A25C2}"/>
          </ac:spMkLst>
        </pc:spChg>
      </pc:sldChg>
      <pc:sldChg chg="modSp">
        <pc:chgData name="Matthieu De Mari" userId="dfb708c9-d8dc-439f-9a3b-c772bf4a311c" providerId="ADAL" clId="{81E9B007-0C2C-493E-9B93-55A62C9C1F12}" dt="2025-12-19T17:06:44.706" v="120"/>
        <pc:sldMkLst>
          <pc:docMk/>
          <pc:sldMk cId="3682509427" sldId="485"/>
        </pc:sldMkLst>
        <pc:spChg chg="mod">
          <ac:chgData name="Matthieu De Mari" userId="dfb708c9-d8dc-439f-9a3b-c772bf4a311c" providerId="ADAL" clId="{81E9B007-0C2C-493E-9B93-55A62C9C1F12}" dt="2025-12-19T17:06:44.706" v="120"/>
          <ac:spMkLst>
            <pc:docMk/>
            <pc:sldMk cId="3682509427" sldId="485"/>
            <ac:spMk id="21" creationId="{CC66E1A3-1294-8AE8-F515-92C360CE7440}"/>
          </ac:spMkLst>
        </pc:spChg>
      </pc:sldChg>
      <pc:sldChg chg="modSp mod">
        <pc:chgData name="Matthieu De Mari" userId="dfb708c9-d8dc-439f-9a3b-c772bf4a311c" providerId="ADAL" clId="{81E9B007-0C2C-493E-9B93-55A62C9C1F12}" dt="2025-12-19T17:08:01.098" v="131" actId="20577"/>
        <pc:sldMkLst>
          <pc:docMk/>
          <pc:sldMk cId="235985834" sldId="487"/>
        </pc:sldMkLst>
        <pc:spChg chg="mod">
          <ac:chgData name="Matthieu De Mari" userId="dfb708c9-d8dc-439f-9a3b-c772bf4a311c" providerId="ADAL" clId="{81E9B007-0C2C-493E-9B93-55A62C9C1F12}" dt="2025-12-19T17:08:01.098" v="131" actId="20577"/>
          <ac:spMkLst>
            <pc:docMk/>
            <pc:sldMk cId="235985834" sldId="487"/>
            <ac:spMk id="5" creationId="{F1B1EDAE-D2BC-4F4D-8753-99F4F59A240E}"/>
          </ac:spMkLst>
        </pc:spChg>
      </pc:sldChg>
      <pc:sldChg chg="modSp mod">
        <pc:chgData name="Matthieu De Mari" userId="dfb708c9-d8dc-439f-9a3b-c772bf4a311c" providerId="ADAL" clId="{81E9B007-0C2C-493E-9B93-55A62C9C1F12}" dt="2025-12-19T16:58:32.668" v="1" actId="20577"/>
        <pc:sldMkLst>
          <pc:docMk/>
          <pc:sldMk cId="4244624800" sldId="493"/>
        </pc:sldMkLst>
        <pc:spChg chg="mod">
          <ac:chgData name="Matthieu De Mari" userId="dfb708c9-d8dc-439f-9a3b-c772bf4a311c" providerId="ADAL" clId="{81E9B007-0C2C-493E-9B93-55A62C9C1F12}" dt="2025-12-19T16:58:32.668" v="1" actId="20577"/>
          <ac:spMkLst>
            <pc:docMk/>
            <pc:sldMk cId="4244624800" sldId="493"/>
            <ac:spMk id="4" creationId="{0588E989-731A-4768-8BF7-08997F555195}"/>
          </ac:spMkLst>
        </pc:spChg>
      </pc:sldChg>
      <pc:sldChg chg="modSp mod">
        <pc:chgData name="Matthieu De Mari" userId="dfb708c9-d8dc-439f-9a3b-c772bf4a311c" providerId="ADAL" clId="{81E9B007-0C2C-493E-9B93-55A62C9C1F12}" dt="2025-12-19T16:58:40.039" v="4" actId="20577"/>
        <pc:sldMkLst>
          <pc:docMk/>
          <pc:sldMk cId="525561472" sldId="495"/>
        </pc:sldMkLst>
        <pc:spChg chg="mod">
          <ac:chgData name="Matthieu De Mari" userId="dfb708c9-d8dc-439f-9a3b-c772bf4a311c" providerId="ADAL" clId="{81E9B007-0C2C-493E-9B93-55A62C9C1F12}" dt="2025-12-19T16:58:40.039" v="4" actId="20577"/>
          <ac:spMkLst>
            <pc:docMk/>
            <pc:sldMk cId="525561472" sldId="495"/>
            <ac:spMk id="4" creationId="{0588E989-731A-4768-8BF7-08997F555195}"/>
          </ac:spMkLst>
        </pc:spChg>
      </pc:sldChg>
      <pc:sldChg chg="modSp mod">
        <pc:chgData name="Matthieu De Mari" userId="dfb708c9-d8dc-439f-9a3b-c772bf4a311c" providerId="ADAL" clId="{81E9B007-0C2C-493E-9B93-55A62C9C1F12}" dt="2025-12-19T16:58:34.498" v="2" actId="20577"/>
        <pc:sldMkLst>
          <pc:docMk/>
          <pc:sldMk cId="1170832721" sldId="506"/>
        </pc:sldMkLst>
        <pc:spChg chg="mod">
          <ac:chgData name="Matthieu De Mari" userId="dfb708c9-d8dc-439f-9a3b-c772bf4a311c" providerId="ADAL" clId="{81E9B007-0C2C-493E-9B93-55A62C9C1F12}" dt="2025-12-19T16:58:34.498" v="2" actId="20577"/>
          <ac:spMkLst>
            <pc:docMk/>
            <pc:sldMk cId="1170832721" sldId="506"/>
            <ac:spMk id="4" creationId="{0588E989-731A-4768-8BF7-08997F555195}"/>
          </ac:spMkLst>
        </pc:spChg>
      </pc:sldChg>
      <pc:sldChg chg="modSp mod">
        <pc:chgData name="Matthieu De Mari" userId="dfb708c9-d8dc-439f-9a3b-c772bf4a311c" providerId="ADAL" clId="{81E9B007-0C2C-493E-9B93-55A62C9C1F12}" dt="2025-12-19T17:02:40.314" v="58" actId="20577"/>
        <pc:sldMkLst>
          <pc:docMk/>
          <pc:sldMk cId="1473719017" sldId="508"/>
        </pc:sldMkLst>
        <pc:spChg chg="mod">
          <ac:chgData name="Matthieu De Mari" userId="dfb708c9-d8dc-439f-9a3b-c772bf4a311c" providerId="ADAL" clId="{81E9B007-0C2C-493E-9B93-55A62C9C1F12}" dt="2025-12-19T17:02:40.314" v="58" actId="20577"/>
          <ac:spMkLst>
            <pc:docMk/>
            <pc:sldMk cId="1473719017" sldId="508"/>
            <ac:spMk id="5" creationId="{F1B1EDAE-D2BC-4F4D-8753-99F4F59A240E}"/>
          </ac:spMkLst>
        </pc:spChg>
      </pc:sldChg>
      <pc:sldChg chg="modSp mod">
        <pc:chgData name="Matthieu De Mari" userId="dfb708c9-d8dc-439f-9a3b-c772bf4a311c" providerId="ADAL" clId="{81E9B007-0C2C-493E-9B93-55A62C9C1F12}" dt="2025-12-19T17:05:53.841" v="114" actId="20577"/>
        <pc:sldMkLst>
          <pc:docMk/>
          <pc:sldMk cId="3872670295" sldId="515"/>
        </pc:sldMkLst>
        <pc:spChg chg="mod">
          <ac:chgData name="Matthieu De Mari" userId="dfb708c9-d8dc-439f-9a3b-c772bf4a311c" providerId="ADAL" clId="{81E9B007-0C2C-493E-9B93-55A62C9C1F12}" dt="2025-12-19T17:05:53.841" v="114" actId="20577"/>
          <ac:spMkLst>
            <pc:docMk/>
            <pc:sldMk cId="3872670295" sldId="515"/>
            <ac:spMk id="5" creationId="{F1B1EDAE-D2BC-4F4D-8753-99F4F59A240E}"/>
          </ac:spMkLst>
        </pc:spChg>
        <pc:spChg chg="mod">
          <ac:chgData name="Matthieu De Mari" userId="dfb708c9-d8dc-439f-9a3b-c772bf4a311c" providerId="ADAL" clId="{81E9B007-0C2C-493E-9B93-55A62C9C1F12}" dt="2025-12-19T17:05:03.678" v="104" actId="20577"/>
          <ac:spMkLst>
            <pc:docMk/>
            <pc:sldMk cId="3872670295" sldId="515"/>
            <ac:spMk id="26" creationId="{FD146568-78EE-6DD5-40BF-556E1AE481F2}"/>
          </ac:spMkLst>
        </pc:spChg>
      </pc:sldChg>
      <pc:sldChg chg="modSp">
        <pc:chgData name="Matthieu De Mari" userId="dfb708c9-d8dc-439f-9a3b-c772bf4a311c" providerId="ADAL" clId="{81E9B007-0C2C-493E-9B93-55A62C9C1F12}" dt="2025-12-19T17:03:56.592" v="63" actId="20577"/>
        <pc:sldMkLst>
          <pc:docMk/>
          <pc:sldMk cId="112531600" sldId="516"/>
        </pc:sldMkLst>
        <pc:spChg chg="mod">
          <ac:chgData name="Matthieu De Mari" userId="dfb708c9-d8dc-439f-9a3b-c772bf4a311c" providerId="ADAL" clId="{81E9B007-0C2C-493E-9B93-55A62C9C1F12}" dt="2025-12-19T17:03:56.592" v="63" actId="20577"/>
          <ac:spMkLst>
            <pc:docMk/>
            <pc:sldMk cId="112531600" sldId="516"/>
            <ac:spMk id="4" creationId="{692E1E38-2085-423D-B105-8D4E8F16324B}"/>
          </ac:spMkLst>
        </pc:spChg>
      </pc:sldChg>
      <pc:sldChg chg="del">
        <pc:chgData name="Matthieu De Mari" userId="dfb708c9-d8dc-439f-9a3b-c772bf4a311c" providerId="ADAL" clId="{81E9B007-0C2C-493E-9B93-55A62C9C1F12}" dt="2025-12-19T17:04:29.168" v="64" actId="47"/>
        <pc:sldMkLst>
          <pc:docMk/>
          <pc:sldMk cId="1089216858" sldId="517"/>
        </pc:sldMkLst>
      </pc:sldChg>
      <pc:sldChg chg="modSp">
        <pc:chgData name="Matthieu De Mari" userId="dfb708c9-d8dc-439f-9a3b-c772bf4a311c" providerId="ADAL" clId="{81E9B007-0C2C-493E-9B93-55A62C9C1F12}" dt="2025-12-19T17:06:27.069" v="118" actId="20577"/>
        <pc:sldMkLst>
          <pc:docMk/>
          <pc:sldMk cId="1415302781" sldId="520"/>
        </pc:sldMkLst>
        <pc:spChg chg="mod">
          <ac:chgData name="Matthieu De Mari" userId="dfb708c9-d8dc-439f-9a3b-c772bf4a311c" providerId="ADAL" clId="{81E9B007-0C2C-493E-9B93-55A62C9C1F12}" dt="2025-12-19T17:06:27.069" v="118" actId="20577"/>
          <ac:spMkLst>
            <pc:docMk/>
            <pc:sldMk cId="1415302781" sldId="520"/>
            <ac:spMk id="21" creationId="{CC66E1A3-1294-8AE8-F515-92C360CE7440}"/>
          </ac:spMkLst>
        </pc:spChg>
      </pc:sldChg>
      <pc:sldChg chg="modSp">
        <pc:chgData name="Matthieu De Mari" userId="dfb708c9-d8dc-439f-9a3b-c772bf4a311c" providerId="ADAL" clId="{81E9B007-0C2C-493E-9B93-55A62C9C1F12}" dt="2025-12-19T17:06:40.689" v="119"/>
        <pc:sldMkLst>
          <pc:docMk/>
          <pc:sldMk cId="2980241368" sldId="521"/>
        </pc:sldMkLst>
        <pc:spChg chg="mod">
          <ac:chgData name="Matthieu De Mari" userId="dfb708c9-d8dc-439f-9a3b-c772bf4a311c" providerId="ADAL" clId="{81E9B007-0C2C-493E-9B93-55A62C9C1F12}" dt="2025-12-19T17:06:40.689" v="119"/>
          <ac:spMkLst>
            <pc:docMk/>
            <pc:sldMk cId="2980241368" sldId="521"/>
            <ac:spMk id="21" creationId="{CC66E1A3-1294-8AE8-F515-92C360CE7440}"/>
          </ac:spMkLst>
        </pc:spChg>
      </pc:sldChg>
      <pc:sldChg chg="addSp delSp modSp new mod modClrScheme chgLayout">
        <pc:chgData name="Matthieu De Mari" userId="dfb708c9-d8dc-439f-9a3b-c772bf4a311c" providerId="ADAL" clId="{81E9B007-0C2C-493E-9B93-55A62C9C1F12}" dt="2025-12-19T17:37:54.114" v="924" actId="14100"/>
        <pc:sldMkLst>
          <pc:docMk/>
          <pc:sldMk cId="1069815270" sldId="525"/>
        </pc:sldMkLst>
        <pc:spChg chg="mod ord">
          <ac:chgData name="Matthieu De Mari" userId="dfb708c9-d8dc-439f-9a3b-c772bf4a311c" providerId="ADAL" clId="{81E9B007-0C2C-493E-9B93-55A62C9C1F12}" dt="2025-12-19T17:29:23.020" v="633" actId="700"/>
          <ac:spMkLst>
            <pc:docMk/>
            <pc:sldMk cId="1069815270" sldId="525"/>
            <ac:spMk id="2" creationId="{E1D2929B-B6B5-370E-EC0D-4FEDAB7AC967}"/>
          </ac:spMkLst>
        </pc:spChg>
        <pc:spChg chg="del mod ord">
          <ac:chgData name="Matthieu De Mari" userId="dfb708c9-d8dc-439f-9a3b-c772bf4a311c" providerId="ADAL" clId="{81E9B007-0C2C-493E-9B93-55A62C9C1F12}" dt="2025-12-19T17:21:12.224" v="170" actId="700"/>
          <ac:spMkLst>
            <pc:docMk/>
            <pc:sldMk cId="1069815270" sldId="525"/>
            <ac:spMk id="3" creationId="{79DFEFEF-73EA-584F-2E49-2F2A9F9BF38B}"/>
          </ac:spMkLst>
        </pc:spChg>
        <pc:spChg chg="add del mod ord">
          <ac:chgData name="Matthieu De Mari" userId="dfb708c9-d8dc-439f-9a3b-c772bf4a311c" providerId="ADAL" clId="{81E9B007-0C2C-493E-9B93-55A62C9C1F12}" dt="2025-12-19T17:22:04.195" v="172" actId="700"/>
          <ac:spMkLst>
            <pc:docMk/>
            <pc:sldMk cId="1069815270" sldId="525"/>
            <ac:spMk id="4" creationId="{5D6AC3BD-D4E9-5369-06D3-C0A8F1E4C248}"/>
          </ac:spMkLst>
        </pc:spChg>
        <pc:spChg chg="add del mod ord">
          <ac:chgData name="Matthieu De Mari" userId="dfb708c9-d8dc-439f-9a3b-c772bf4a311c" providerId="ADAL" clId="{81E9B007-0C2C-493E-9B93-55A62C9C1F12}" dt="2025-12-19T17:21:14.967" v="171" actId="478"/>
          <ac:spMkLst>
            <pc:docMk/>
            <pc:sldMk cId="1069815270" sldId="525"/>
            <ac:spMk id="5" creationId="{17438AD5-3D2D-B72E-406F-85E89D59FF76}"/>
          </ac:spMkLst>
        </pc:spChg>
        <pc:spChg chg="add mod ord">
          <ac:chgData name="Matthieu De Mari" userId="dfb708c9-d8dc-439f-9a3b-c772bf4a311c" providerId="ADAL" clId="{81E9B007-0C2C-493E-9B93-55A62C9C1F12}" dt="2025-12-19T17:37:49.755" v="923" actId="20577"/>
          <ac:spMkLst>
            <pc:docMk/>
            <pc:sldMk cId="1069815270" sldId="525"/>
            <ac:spMk id="6" creationId="{344D495B-6D5F-7C3A-A33F-0E0AF50B8A4D}"/>
          </ac:spMkLst>
        </pc:spChg>
        <pc:spChg chg="add del mod">
          <ac:chgData name="Matthieu De Mari" userId="dfb708c9-d8dc-439f-9a3b-c772bf4a311c" providerId="ADAL" clId="{81E9B007-0C2C-493E-9B93-55A62C9C1F12}" dt="2025-12-19T17:28:38.850" v="599" actId="478"/>
          <ac:spMkLst>
            <pc:docMk/>
            <pc:sldMk cId="1069815270" sldId="525"/>
            <ac:spMk id="8" creationId="{802E1CD7-E231-C5CC-1FB9-33D8FE5C2E7F}"/>
          </ac:spMkLst>
        </pc:spChg>
        <pc:spChg chg="add del mod ord">
          <ac:chgData name="Matthieu De Mari" userId="dfb708c9-d8dc-439f-9a3b-c772bf4a311c" providerId="ADAL" clId="{81E9B007-0C2C-493E-9B93-55A62C9C1F12}" dt="2025-12-19T17:29:27.269" v="634" actId="478"/>
          <ac:spMkLst>
            <pc:docMk/>
            <pc:sldMk cId="1069815270" sldId="525"/>
            <ac:spMk id="9" creationId="{3C8557E6-D8D4-90D1-6F33-E3ECFA9FD6E7}"/>
          </ac:spMkLst>
        </pc:spChg>
        <pc:spChg chg="add mod">
          <ac:chgData name="Matthieu De Mari" userId="dfb708c9-d8dc-439f-9a3b-c772bf4a311c" providerId="ADAL" clId="{81E9B007-0C2C-493E-9B93-55A62C9C1F12}" dt="2025-12-19T17:33:05.879" v="837" actId="122"/>
          <ac:spMkLst>
            <pc:docMk/>
            <pc:sldMk cId="1069815270" sldId="525"/>
            <ac:spMk id="10" creationId="{AF53FD05-6E71-F535-374A-D93887C924D2}"/>
          </ac:spMkLst>
        </pc:spChg>
        <pc:graphicFrameChg chg="add mod modGraphic">
          <ac:chgData name="Matthieu De Mari" userId="dfb708c9-d8dc-439f-9a3b-c772bf4a311c" providerId="ADAL" clId="{81E9B007-0C2C-493E-9B93-55A62C9C1F12}" dt="2025-12-19T17:32:47.203" v="801" actId="1076"/>
          <ac:graphicFrameMkLst>
            <pc:docMk/>
            <pc:sldMk cId="1069815270" sldId="525"/>
            <ac:graphicFrameMk id="7" creationId="{AEA778F1-F47E-2034-5695-8126B9FCF0A9}"/>
          </ac:graphicFrameMkLst>
        </pc:graphicFrameChg>
        <pc:picChg chg="add mod">
          <ac:chgData name="Matthieu De Mari" userId="dfb708c9-d8dc-439f-9a3b-c772bf4a311c" providerId="ADAL" clId="{81E9B007-0C2C-493E-9B93-55A62C9C1F12}" dt="2025-12-19T17:37:54.114" v="924" actId="14100"/>
          <ac:picMkLst>
            <pc:docMk/>
            <pc:sldMk cId="1069815270" sldId="525"/>
            <ac:picMk id="12" creationId="{0394CAFB-CF08-E128-2AEF-6BE9A0451686}"/>
          </ac:picMkLst>
        </pc:picChg>
        <pc:picChg chg="add del mod">
          <ac:chgData name="Matthieu De Mari" userId="dfb708c9-d8dc-439f-9a3b-c772bf4a311c" providerId="ADAL" clId="{81E9B007-0C2C-493E-9B93-55A62C9C1F12}" dt="2025-12-19T17:24:04.343" v="516" actId="478"/>
          <ac:picMkLst>
            <pc:docMk/>
            <pc:sldMk cId="1069815270" sldId="525"/>
            <ac:picMk id="1026" creationId="{EE63291A-1820-AF03-2353-EF6721E5885D}"/>
          </ac:picMkLst>
        </pc:picChg>
        <pc:picChg chg="add del mod">
          <ac:chgData name="Matthieu De Mari" userId="dfb708c9-d8dc-439f-9a3b-c772bf4a311c" providerId="ADAL" clId="{81E9B007-0C2C-493E-9B93-55A62C9C1F12}" dt="2025-12-19T17:34:42.316" v="838" actId="478"/>
          <ac:picMkLst>
            <pc:docMk/>
            <pc:sldMk cId="1069815270" sldId="525"/>
            <ac:picMk id="1028" creationId="{3C509BA1-C263-9F69-ADE1-BA43CBB19160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image" Target="../media/image70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image" Target="../media/image7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87A75F-7A9F-4147-B8FA-5BB4AC9206B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mc:AlternateContent xmlns:mc="http://schemas.openxmlformats.org/markup-compatibility/2006" xmlns:a14="http://schemas.microsoft.com/office/drawing/2010/main">
      <mc:Choice Requires="a14">
        <dgm:pt modelId="{CF52FE45-3117-4FB8-B9F0-E5861D841E69}">
          <dgm:prSet phldrT="[Text]"/>
          <dgm:spPr/>
          <dgm:t>
            <a:bodyPr/>
            <a:lstStyle/>
            <a:p>
              <a:r>
                <a:rPr lang="en-US" dirty="0"/>
                <a:t>Word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𝑤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∉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𝑉</m:t>
                  </m:r>
                </m:oMath>
              </a14:m>
              <a:endParaRPr lang="en-GB" dirty="0"/>
            </a:p>
          </dgm:t>
        </dgm:pt>
      </mc:Choice>
      <mc:Fallback xmlns="">
        <dgm:pt modelId="{CF52FE45-3117-4FB8-B9F0-E5861D841E69}">
          <dgm:prSet phldrT="[Text]"/>
          <dgm:spPr/>
          <dgm:t>
            <a:bodyPr/>
            <a:lstStyle/>
            <a:p>
              <a:r>
                <a:rPr lang="en-US" dirty="0"/>
                <a:t>Word </a:t>
              </a:r>
              <a:r>
                <a:rPr lang="en-US" b="0" i="0">
                  <a:latin typeface="Cambria Math" panose="02040503050406030204" pitchFamily="18" charset="0"/>
                </a:rPr>
                <a:t>𝑤∉𝑉</a:t>
              </a:r>
              <a:endParaRPr lang="en-GB" dirty="0"/>
            </a:p>
          </dgm:t>
        </dgm:pt>
      </mc:Fallback>
    </mc:AlternateContent>
    <dgm:pt modelId="{9345D5C3-31DC-4878-BB80-145868EBA8E8}" type="parTrans" cxnId="{3A9F3A30-57EF-496B-863C-7D02DAE36A9C}">
      <dgm:prSet/>
      <dgm:spPr/>
      <dgm:t>
        <a:bodyPr/>
        <a:lstStyle/>
        <a:p>
          <a:endParaRPr lang="en-GB"/>
        </a:p>
      </dgm:t>
    </dgm:pt>
    <dgm:pt modelId="{19E54FCE-7E12-468E-8A65-8C72E5E02EA3}" type="sibTrans" cxnId="{3A9F3A30-57EF-496B-863C-7D02DAE36A9C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BF1354B6-40A6-4F97-A8E3-48AC911B6428}">
          <dgm:prSet phldrT="[Text]"/>
          <dgm:spPr/>
          <dgm:t>
            <a:bodyPr/>
            <a:lstStyle/>
            <a:p>
              <a:r>
                <a:rPr lang="en-US" dirty="0"/>
                <a:t>Embedding function </a:t>
              </a:r>
              <a14:m>
                <m:oMath xmlns:m="http://schemas.openxmlformats.org/officeDocument/2006/math">
                  <m:r>
                    <a:rPr lang="en-US" i="1" dirty="0" smtClean="0">
                      <a:latin typeface="Cambria Math" panose="02040503050406030204" pitchFamily="18" charset="0"/>
                    </a:rPr>
                    <m:t>𝑓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𝑤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GB" dirty="0"/>
            </a:p>
          </dgm:t>
        </dgm:pt>
      </mc:Choice>
      <mc:Fallback xmlns="">
        <dgm:pt modelId="{BF1354B6-40A6-4F97-A8E3-48AC911B6428}">
          <dgm:prSet phldrT="[Text]"/>
          <dgm:spPr/>
          <dgm:t>
            <a:bodyPr/>
            <a:lstStyle/>
            <a:p>
              <a:r>
                <a:rPr lang="en-US" dirty="0"/>
                <a:t>Embedding function </a:t>
              </a:r>
              <a:r>
                <a:rPr lang="en-US" i="0" dirty="0">
                  <a:latin typeface="Cambria Math" panose="02040503050406030204" pitchFamily="18" charset="0"/>
                </a:rPr>
                <a:t>𝑓(𝑤)</a:t>
              </a:r>
              <a:endParaRPr lang="en-GB" dirty="0"/>
            </a:p>
          </dgm:t>
        </dgm:pt>
      </mc:Fallback>
    </mc:AlternateContent>
    <dgm:pt modelId="{5013D337-CD33-4A68-BFA5-AD30738DDF44}" type="parTrans" cxnId="{136FB0D5-CB19-4619-A669-6C35E0EC0BBC}">
      <dgm:prSet/>
      <dgm:spPr/>
      <dgm:t>
        <a:bodyPr/>
        <a:lstStyle/>
        <a:p>
          <a:endParaRPr lang="en-GB"/>
        </a:p>
      </dgm:t>
    </dgm:pt>
    <dgm:pt modelId="{236A729B-B716-4259-9E70-5956C1213877}" type="sibTrans" cxnId="{136FB0D5-CB19-4619-A669-6C35E0EC0BBC}">
      <dgm:prSet/>
      <dgm:spPr/>
      <dgm:t>
        <a:bodyPr/>
        <a:lstStyle/>
        <a:p>
          <a:endParaRPr lang="en-GB"/>
        </a:p>
      </dgm:t>
    </dgm:pt>
    <dgm:pt modelId="{E7A3171F-E8AB-422F-9103-769F984452E2}">
      <dgm:prSet phldrT="[Text]"/>
      <dgm:spPr/>
      <dgm:t>
        <a:bodyPr/>
        <a:lstStyle/>
        <a:p>
          <a:r>
            <a:rPr lang="en-US" dirty="0"/>
            <a:t>???</a:t>
          </a:r>
          <a:endParaRPr lang="en-GB" dirty="0"/>
        </a:p>
      </dgm:t>
    </dgm:pt>
    <dgm:pt modelId="{B1157478-60E7-4949-B79A-261CC066336C}" type="parTrans" cxnId="{E272F923-2957-458E-80B6-5CDFA9FD033D}">
      <dgm:prSet/>
      <dgm:spPr/>
      <dgm:t>
        <a:bodyPr/>
        <a:lstStyle/>
        <a:p>
          <a:endParaRPr lang="en-GB"/>
        </a:p>
      </dgm:t>
    </dgm:pt>
    <dgm:pt modelId="{BA0E6CF6-4D55-45CE-B4A1-88426E9BD5D3}" type="sibTrans" cxnId="{E272F923-2957-458E-80B6-5CDFA9FD033D}">
      <dgm:prSet/>
      <dgm:spPr/>
      <dgm:t>
        <a:bodyPr/>
        <a:lstStyle/>
        <a:p>
          <a:endParaRPr lang="en-GB"/>
        </a:p>
      </dgm:t>
    </dgm:pt>
    <dgm:pt modelId="{2E438EBA-F4E0-4E93-A5F1-CCE41CBE4275}" type="pres">
      <dgm:prSet presAssocID="{1987A75F-7A9F-4147-B8FA-5BB4AC9206BD}" presName="Name0" presStyleCnt="0">
        <dgm:presLayoutVars>
          <dgm:dir/>
          <dgm:resizeHandles val="exact"/>
        </dgm:presLayoutVars>
      </dgm:prSet>
      <dgm:spPr/>
    </dgm:pt>
    <dgm:pt modelId="{FD1AA1EB-F54E-4C8C-B18F-60AF1F907E12}" type="pres">
      <dgm:prSet presAssocID="{CF52FE45-3117-4FB8-B9F0-E5861D841E69}" presName="node" presStyleLbl="node1" presStyleIdx="0" presStyleCnt="3">
        <dgm:presLayoutVars>
          <dgm:bulletEnabled val="1"/>
        </dgm:presLayoutVars>
      </dgm:prSet>
      <dgm:spPr/>
    </dgm:pt>
    <dgm:pt modelId="{8C4B5F6E-F02C-44DE-83BB-C3D0808C6051}" type="pres">
      <dgm:prSet presAssocID="{19E54FCE-7E12-468E-8A65-8C72E5E02EA3}" presName="sibTrans" presStyleLbl="sibTrans2D1" presStyleIdx="0" presStyleCnt="2"/>
      <dgm:spPr/>
    </dgm:pt>
    <dgm:pt modelId="{B38810CE-BE25-4775-AF3B-2EA5E1009B55}" type="pres">
      <dgm:prSet presAssocID="{19E54FCE-7E12-468E-8A65-8C72E5E02EA3}" presName="connectorText" presStyleLbl="sibTrans2D1" presStyleIdx="0" presStyleCnt="2"/>
      <dgm:spPr/>
    </dgm:pt>
    <dgm:pt modelId="{244AE12B-2F48-40AC-9AA8-94F1FB06940C}" type="pres">
      <dgm:prSet presAssocID="{BF1354B6-40A6-4F97-A8E3-48AC911B6428}" presName="node" presStyleLbl="node1" presStyleIdx="1" presStyleCnt="3">
        <dgm:presLayoutVars>
          <dgm:bulletEnabled val="1"/>
        </dgm:presLayoutVars>
      </dgm:prSet>
      <dgm:spPr/>
    </dgm:pt>
    <dgm:pt modelId="{E5608D6E-29EA-4A9A-9F6F-8081EFB07BDA}" type="pres">
      <dgm:prSet presAssocID="{236A729B-B716-4259-9E70-5956C1213877}" presName="sibTrans" presStyleLbl="sibTrans2D1" presStyleIdx="1" presStyleCnt="2"/>
      <dgm:spPr/>
    </dgm:pt>
    <dgm:pt modelId="{4F536160-B4D2-4460-B44E-6716A2D412FA}" type="pres">
      <dgm:prSet presAssocID="{236A729B-B716-4259-9E70-5956C1213877}" presName="connectorText" presStyleLbl="sibTrans2D1" presStyleIdx="1" presStyleCnt="2"/>
      <dgm:spPr/>
    </dgm:pt>
    <dgm:pt modelId="{8C318087-AE95-4505-B92B-940CDE367717}" type="pres">
      <dgm:prSet presAssocID="{E7A3171F-E8AB-422F-9103-769F984452E2}" presName="node" presStyleLbl="node1" presStyleIdx="2" presStyleCnt="3">
        <dgm:presLayoutVars>
          <dgm:bulletEnabled val="1"/>
        </dgm:presLayoutVars>
      </dgm:prSet>
      <dgm:spPr/>
    </dgm:pt>
  </dgm:ptLst>
  <dgm:cxnLst>
    <dgm:cxn modelId="{4031AE22-15B7-490F-A548-D19E4E46992F}" type="presOf" srcId="{BF1354B6-40A6-4F97-A8E3-48AC911B6428}" destId="{244AE12B-2F48-40AC-9AA8-94F1FB06940C}" srcOrd="0" destOrd="0" presId="urn:microsoft.com/office/officeart/2005/8/layout/process1"/>
    <dgm:cxn modelId="{E272F923-2957-458E-80B6-5CDFA9FD033D}" srcId="{1987A75F-7A9F-4147-B8FA-5BB4AC9206BD}" destId="{E7A3171F-E8AB-422F-9103-769F984452E2}" srcOrd="2" destOrd="0" parTransId="{B1157478-60E7-4949-B79A-261CC066336C}" sibTransId="{BA0E6CF6-4D55-45CE-B4A1-88426E9BD5D3}"/>
    <dgm:cxn modelId="{3A9F3A30-57EF-496B-863C-7D02DAE36A9C}" srcId="{1987A75F-7A9F-4147-B8FA-5BB4AC9206BD}" destId="{CF52FE45-3117-4FB8-B9F0-E5861D841E69}" srcOrd="0" destOrd="0" parTransId="{9345D5C3-31DC-4878-BB80-145868EBA8E8}" sibTransId="{19E54FCE-7E12-468E-8A65-8C72E5E02EA3}"/>
    <dgm:cxn modelId="{2D285B42-1126-4F5E-ADC0-9A367568AD15}" type="presOf" srcId="{E7A3171F-E8AB-422F-9103-769F984452E2}" destId="{8C318087-AE95-4505-B92B-940CDE367717}" srcOrd="0" destOrd="0" presId="urn:microsoft.com/office/officeart/2005/8/layout/process1"/>
    <dgm:cxn modelId="{9320717B-5FA9-4733-B89B-7F54FA475310}" type="presOf" srcId="{19E54FCE-7E12-468E-8A65-8C72E5E02EA3}" destId="{B38810CE-BE25-4775-AF3B-2EA5E1009B55}" srcOrd="1" destOrd="0" presId="urn:microsoft.com/office/officeart/2005/8/layout/process1"/>
    <dgm:cxn modelId="{F669D291-B6F3-4E32-9827-6CCE9CD552C8}" type="presOf" srcId="{236A729B-B716-4259-9E70-5956C1213877}" destId="{4F536160-B4D2-4460-B44E-6716A2D412FA}" srcOrd="1" destOrd="0" presId="urn:microsoft.com/office/officeart/2005/8/layout/process1"/>
    <dgm:cxn modelId="{9CE339B7-E58E-4F8D-B0DE-C687BDD73337}" type="presOf" srcId="{236A729B-B716-4259-9E70-5956C1213877}" destId="{E5608D6E-29EA-4A9A-9F6F-8081EFB07BDA}" srcOrd="0" destOrd="0" presId="urn:microsoft.com/office/officeart/2005/8/layout/process1"/>
    <dgm:cxn modelId="{A60B47B9-FF70-4D81-B358-50FF77893D0D}" type="presOf" srcId="{1987A75F-7A9F-4147-B8FA-5BB4AC9206BD}" destId="{2E438EBA-F4E0-4E93-A5F1-CCE41CBE4275}" srcOrd="0" destOrd="0" presId="urn:microsoft.com/office/officeart/2005/8/layout/process1"/>
    <dgm:cxn modelId="{33B023D2-223E-498C-9BE2-65748FFF117D}" type="presOf" srcId="{19E54FCE-7E12-468E-8A65-8C72E5E02EA3}" destId="{8C4B5F6E-F02C-44DE-83BB-C3D0808C6051}" srcOrd="0" destOrd="0" presId="urn:microsoft.com/office/officeart/2005/8/layout/process1"/>
    <dgm:cxn modelId="{136FB0D5-CB19-4619-A669-6C35E0EC0BBC}" srcId="{1987A75F-7A9F-4147-B8FA-5BB4AC9206BD}" destId="{BF1354B6-40A6-4F97-A8E3-48AC911B6428}" srcOrd="1" destOrd="0" parTransId="{5013D337-CD33-4A68-BFA5-AD30738DDF44}" sibTransId="{236A729B-B716-4259-9E70-5956C1213877}"/>
    <dgm:cxn modelId="{D4BFF5E1-A24D-42CD-AB73-115689B289F9}" type="presOf" srcId="{CF52FE45-3117-4FB8-B9F0-E5861D841E69}" destId="{FD1AA1EB-F54E-4C8C-B18F-60AF1F907E12}" srcOrd="0" destOrd="0" presId="urn:microsoft.com/office/officeart/2005/8/layout/process1"/>
    <dgm:cxn modelId="{886B170D-70B9-4413-A844-F2821B6077F2}" type="presParOf" srcId="{2E438EBA-F4E0-4E93-A5F1-CCE41CBE4275}" destId="{FD1AA1EB-F54E-4C8C-B18F-60AF1F907E12}" srcOrd="0" destOrd="0" presId="urn:microsoft.com/office/officeart/2005/8/layout/process1"/>
    <dgm:cxn modelId="{9F97D2AE-2621-4A17-8EFF-FB23469D8CE4}" type="presParOf" srcId="{2E438EBA-F4E0-4E93-A5F1-CCE41CBE4275}" destId="{8C4B5F6E-F02C-44DE-83BB-C3D0808C6051}" srcOrd="1" destOrd="0" presId="urn:microsoft.com/office/officeart/2005/8/layout/process1"/>
    <dgm:cxn modelId="{1271B76F-5886-497D-A9A7-8C76DE9A821A}" type="presParOf" srcId="{8C4B5F6E-F02C-44DE-83BB-C3D0808C6051}" destId="{B38810CE-BE25-4775-AF3B-2EA5E1009B55}" srcOrd="0" destOrd="0" presId="urn:microsoft.com/office/officeart/2005/8/layout/process1"/>
    <dgm:cxn modelId="{6B814A1F-9C67-4294-934B-E4277C4F2510}" type="presParOf" srcId="{2E438EBA-F4E0-4E93-A5F1-CCE41CBE4275}" destId="{244AE12B-2F48-40AC-9AA8-94F1FB06940C}" srcOrd="2" destOrd="0" presId="urn:microsoft.com/office/officeart/2005/8/layout/process1"/>
    <dgm:cxn modelId="{98A67E3B-B0C3-4D20-8798-DE88B21A053F}" type="presParOf" srcId="{2E438EBA-F4E0-4E93-A5F1-CCE41CBE4275}" destId="{E5608D6E-29EA-4A9A-9F6F-8081EFB07BDA}" srcOrd="3" destOrd="0" presId="urn:microsoft.com/office/officeart/2005/8/layout/process1"/>
    <dgm:cxn modelId="{23B12419-CC1B-4DD9-8971-4EE4B0906D53}" type="presParOf" srcId="{E5608D6E-29EA-4A9A-9F6F-8081EFB07BDA}" destId="{4F536160-B4D2-4460-B44E-6716A2D412FA}" srcOrd="0" destOrd="0" presId="urn:microsoft.com/office/officeart/2005/8/layout/process1"/>
    <dgm:cxn modelId="{49C3B79B-5F80-4BED-B0E6-64D868FCF8CD}" type="presParOf" srcId="{2E438EBA-F4E0-4E93-A5F1-CCE41CBE4275}" destId="{8C318087-AE95-4505-B92B-940CDE36771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87A75F-7A9F-4147-B8FA-5BB4AC9206B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F52FE45-3117-4FB8-B9F0-E5861D841E69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9345D5C3-31DC-4878-BB80-145868EBA8E8}" type="parTrans" cxnId="{3A9F3A30-57EF-496B-863C-7D02DAE36A9C}">
      <dgm:prSet/>
      <dgm:spPr/>
      <dgm:t>
        <a:bodyPr/>
        <a:lstStyle/>
        <a:p>
          <a:endParaRPr lang="en-GB"/>
        </a:p>
      </dgm:t>
    </dgm:pt>
    <dgm:pt modelId="{19E54FCE-7E12-468E-8A65-8C72E5E02EA3}" type="sibTrans" cxnId="{3A9F3A30-57EF-496B-863C-7D02DAE36A9C}">
      <dgm:prSet/>
      <dgm:spPr/>
      <dgm:t>
        <a:bodyPr/>
        <a:lstStyle/>
        <a:p>
          <a:endParaRPr lang="en-GB"/>
        </a:p>
      </dgm:t>
    </dgm:pt>
    <dgm:pt modelId="{BF1354B6-40A6-4F97-A8E3-48AC911B6428}">
      <dgm:prSet phldrT="[Text]"/>
      <dgm:spPr>
        <a:blipFill>
          <a:blip xmlns:r="http://schemas.openxmlformats.org/officeDocument/2006/relationships" r:embed="rId2"/>
          <a:stretch>
            <a:fillRect l="-852" t="-877" r="-2273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5013D337-CD33-4A68-BFA5-AD30738DDF44}" type="parTrans" cxnId="{136FB0D5-CB19-4619-A669-6C35E0EC0BBC}">
      <dgm:prSet/>
      <dgm:spPr/>
      <dgm:t>
        <a:bodyPr/>
        <a:lstStyle/>
        <a:p>
          <a:endParaRPr lang="en-GB"/>
        </a:p>
      </dgm:t>
    </dgm:pt>
    <dgm:pt modelId="{236A729B-B716-4259-9E70-5956C1213877}" type="sibTrans" cxnId="{136FB0D5-CB19-4619-A669-6C35E0EC0BBC}">
      <dgm:prSet/>
      <dgm:spPr/>
      <dgm:t>
        <a:bodyPr/>
        <a:lstStyle/>
        <a:p>
          <a:endParaRPr lang="en-GB"/>
        </a:p>
      </dgm:t>
    </dgm:pt>
    <dgm:pt modelId="{E7A3171F-E8AB-422F-9103-769F984452E2}">
      <dgm:prSet phldrT="[Text]"/>
      <dgm:spPr/>
      <dgm:t>
        <a:bodyPr/>
        <a:lstStyle/>
        <a:p>
          <a:r>
            <a:rPr lang="en-US" dirty="0"/>
            <a:t>???</a:t>
          </a:r>
          <a:endParaRPr lang="en-GB" dirty="0"/>
        </a:p>
      </dgm:t>
    </dgm:pt>
    <dgm:pt modelId="{B1157478-60E7-4949-B79A-261CC066336C}" type="parTrans" cxnId="{E272F923-2957-458E-80B6-5CDFA9FD033D}">
      <dgm:prSet/>
      <dgm:spPr/>
      <dgm:t>
        <a:bodyPr/>
        <a:lstStyle/>
        <a:p>
          <a:endParaRPr lang="en-GB"/>
        </a:p>
      </dgm:t>
    </dgm:pt>
    <dgm:pt modelId="{BA0E6CF6-4D55-45CE-B4A1-88426E9BD5D3}" type="sibTrans" cxnId="{E272F923-2957-458E-80B6-5CDFA9FD033D}">
      <dgm:prSet/>
      <dgm:spPr/>
      <dgm:t>
        <a:bodyPr/>
        <a:lstStyle/>
        <a:p>
          <a:endParaRPr lang="en-GB"/>
        </a:p>
      </dgm:t>
    </dgm:pt>
    <dgm:pt modelId="{2E438EBA-F4E0-4E93-A5F1-CCE41CBE4275}" type="pres">
      <dgm:prSet presAssocID="{1987A75F-7A9F-4147-B8FA-5BB4AC9206BD}" presName="Name0" presStyleCnt="0">
        <dgm:presLayoutVars>
          <dgm:dir/>
          <dgm:resizeHandles val="exact"/>
        </dgm:presLayoutVars>
      </dgm:prSet>
      <dgm:spPr/>
    </dgm:pt>
    <dgm:pt modelId="{FD1AA1EB-F54E-4C8C-B18F-60AF1F907E12}" type="pres">
      <dgm:prSet presAssocID="{CF52FE45-3117-4FB8-B9F0-E5861D841E69}" presName="node" presStyleLbl="node1" presStyleIdx="0" presStyleCnt="3">
        <dgm:presLayoutVars>
          <dgm:bulletEnabled val="1"/>
        </dgm:presLayoutVars>
      </dgm:prSet>
      <dgm:spPr/>
    </dgm:pt>
    <dgm:pt modelId="{8C4B5F6E-F02C-44DE-83BB-C3D0808C6051}" type="pres">
      <dgm:prSet presAssocID="{19E54FCE-7E12-468E-8A65-8C72E5E02EA3}" presName="sibTrans" presStyleLbl="sibTrans2D1" presStyleIdx="0" presStyleCnt="2"/>
      <dgm:spPr/>
    </dgm:pt>
    <dgm:pt modelId="{B38810CE-BE25-4775-AF3B-2EA5E1009B55}" type="pres">
      <dgm:prSet presAssocID="{19E54FCE-7E12-468E-8A65-8C72E5E02EA3}" presName="connectorText" presStyleLbl="sibTrans2D1" presStyleIdx="0" presStyleCnt="2"/>
      <dgm:spPr/>
    </dgm:pt>
    <dgm:pt modelId="{244AE12B-2F48-40AC-9AA8-94F1FB06940C}" type="pres">
      <dgm:prSet presAssocID="{BF1354B6-40A6-4F97-A8E3-48AC911B6428}" presName="node" presStyleLbl="node1" presStyleIdx="1" presStyleCnt="3">
        <dgm:presLayoutVars>
          <dgm:bulletEnabled val="1"/>
        </dgm:presLayoutVars>
      </dgm:prSet>
      <dgm:spPr/>
    </dgm:pt>
    <dgm:pt modelId="{E5608D6E-29EA-4A9A-9F6F-8081EFB07BDA}" type="pres">
      <dgm:prSet presAssocID="{236A729B-B716-4259-9E70-5956C1213877}" presName="sibTrans" presStyleLbl="sibTrans2D1" presStyleIdx="1" presStyleCnt="2"/>
      <dgm:spPr/>
    </dgm:pt>
    <dgm:pt modelId="{4F536160-B4D2-4460-B44E-6716A2D412FA}" type="pres">
      <dgm:prSet presAssocID="{236A729B-B716-4259-9E70-5956C1213877}" presName="connectorText" presStyleLbl="sibTrans2D1" presStyleIdx="1" presStyleCnt="2"/>
      <dgm:spPr/>
    </dgm:pt>
    <dgm:pt modelId="{8C318087-AE95-4505-B92B-940CDE367717}" type="pres">
      <dgm:prSet presAssocID="{E7A3171F-E8AB-422F-9103-769F984452E2}" presName="node" presStyleLbl="node1" presStyleIdx="2" presStyleCnt="3">
        <dgm:presLayoutVars>
          <dgm:bulletEnabled val="1"/>
        </dgm:presLayoutVars>
      </dgm:prSet>
      <dgm:spPr/>
    </dgm:pt>
  </dgm:ptLst>
  <dgm:cxnLst>
    <dgm:cxn modelId="{4031AE22-15B7-490F-A548-D19E4E46992F}" type="presOf" srcId="{BF1354B6-40A6-4F97-A8E3-48AC911B6428}" destId="{244AE12B-2F48-40AC-9AA8-94F1FB06940C}" srcOrd="0" destOrd="0" presId="urn:microsoft.com/office/officeart/2005/8/layout/process1"/>
    <dgm:cxn modelId="{E272F923-2957-458E-80B6-5CDFA9FD033D}" srcId="{1987A75F-7A9F-4147-B8FA-5BB4AC9206BD}" destId="{E7A3171F-E8AB-422F-9103-769F984452E2}" srcOrd="2" destOrd="0" parTransId="{B1157478-60E7-4949-B79A-261CC066336C}" sibTransId="{BA0E6CF6-4D55-45CE-B4A1-88426E9BD5D3}"/>
    <dgm:cxn modelId="{3A9F3A30-57EF-496B-863C-7D02DAE36A9C}" srcId="{1987A75F-7A9F-4147-B8FA-5BB4AC9206BD}" destId="{CF52FE45-3117-4FB8-B9F0-E5861D841E69}" srcOrd="0" destOrd="0" parTransId="{9345D5C3-31DC-4878-BB80-145868EBA8E8}" sibTransId="{19E54FCE-7E12-468E-8A65-8C72E5E02EA3}"/>
    <dgm:cxn modelId="{2D285B42-1126-4F5E-ADC0-9A367568AD15}" type="presOf" srcId="{E7A3171F-E8AB-422F-9103-769F984452E2}" destId="{8C318087-AE95-4505-B92B-940CDE367717}" srcOrd="0" destOrd="0" presId="urn:microsoft.com/office/officeart/2005/8/layout/process1"/>
    <dgm:cxn modelId="{9320717B-5FA9-4733-B89B-7F54FA475310}" type="presOf" srcId="{19E54FCE-7E12-468E-8A65-8C72E5E02EA3}" destId="{B38810CE-BE25-4775-AF3B-2EA5E1009B55}" srcOrd="1" destOrd="0" presId="urn:microsoft.com/office/officeart/2005/8/layout/process1"/>
    <dgm:cxn modelId="{F669D291-B6F3-4E32-9827-6CCE9CD552C8}" type="presOf" srcId="{236A729B-B716-4259-9E70-5956C1213877}" destId="{4F536160-B4D2-4460-B44E-6716A2D412FA}" srcOrd="1" destOrd="0" presId="urn:microsoft.com/office/officeart/2005/8/layout/process1"/>
    <dgm:cxn modelId="{9CE339B7-E58E-4F8D-B0DE-C687BDD73337}" type="presOf" srcId="{236A729B-B716-4259-9E70-5956C1213877}" destId="{E5608D6E-29EA-4A9A-9F6F-8081EFB07BDA}" srcOrd="0" destOrd="0" presId="urn:microsoft.com/office/officeart/2005/8/layout/process1"/>
    <dgm:cxn modelId="{A60B47B9-FF70-4D81-B358-50FF77893D0D}" type="presOf" srcId="{1987A75F-7A9F-4147-B8FA-5BB4AC9206BD}" destId="{2E438EBA-F4E0-4E93-A5F1-CCE41CBE4275}" srcOrd="0" destOrd="0" presId="urn:microsoft.com/office/officeart/2005/8/layout/process1"/>
    <dgm:cxn modelId="{33B023D2-223E-498C-9BE2-65748FFF117D}" type="presOf" srcId="{19E54FCE-7E12-468E-8A65-8C72E5E02EA3}" destId="{8C4B5F6E-F02C-44DE-83BB-C3D0808C6051}" srcOrd="0" destOrd="0" presId="urn:microsoft.com/office/officeart/2005/8/layout/process1"/>
    <dgm:cxn modelId="{136FB0D5-CB19-4619-A669-6C35E0EC0BBC}" srcId="{1987A75F-7A9F-4147-B8FA-5BB4AC9206BD}" destId="{BF1354B6-40A6-4F97-A8E3-48AC911B6428}" srcOrd="1" destOrd="0" parTransId="{5013D337-CD33-4A68-BFA5-AD30738DDF44}" sibTransId="{236A729B-B716-4259-9E70-5956C1213877}"/>
    <dgm:cxn modelId="{D4BFF5E1-A24D-42CD-AB73-115689B289F9}" type="presOf" srcId="{CF52FE45-3117-4FB8-B9F0-E5861D841E69}" destId="{FD1AA1EB-F54E-4C8C-B18F-60AF1F907E12}" srcOrd="0" destOrd="0" presId="urn:microsoft.com/office/officeart/2005/8/layout/process1"/>
    <dgm:cxn modelId="{886B170D-70B9-4413-A844-F2821B6077F2}" type="presParOf" srcId="{2E438EBA-F4E0-4E93-A5F1-CCE41CBE4275}" destId="{FD1AA1EB-F54E-4C8C-B18F-60AF1F907E12}" srcOrd="0" destOrd="0" presId="urn:microsoft.com/office/officeart/2005/8/layout/process1"/>
    <dgm:cxn modelId="{9F97D2AE-2621-4A17-8EFF-FB23469D8CE4}" type="presParOf" srcId="{2E438EBA-F4E0-4E93-A5F1-CCE41CBE4275}" destId="{8C4B5F6E-F02C-44DE-83BB-C3D0808C6051}" srcOrd="1" destOrd="0" presId="urn:microsoft.com/office/officeart/2005/8/layout/process1"/>
    <dgm:cxn modelId="{1271B76F-5886-497D-A9A7-8C76DE9A821A}" type="presParOf" srcId="{8C4B5F6E-F02C-44DE-83BB-C3D0808C6051}" destId="{B38810CE-BE25-4775-AF3B-2EA5E1009B55}" srcOrd="0" destOrd="0" presId="urn:microsoft.com/office/officeart/2005/8/layout/process1"/>
    <dgm:cxn modelId="{6B814A1F-9C67-4294-934B-E4277C4F2510}" type="presParOf" srcId="{2E438EBA-F4E0-4E93-A5F1-CCE41CBE4275}" destId="{244AE12B-2F48-40AC-9AA8-94F1FB06940C}" srcOrd="2" destOrd="0" presId="urn:microsoft.com/office/officeart/2005/8/layout/process1"/>
    <dgm:cxn modelId="{98A67E3B-B0C3-4D20-8798-DE88B21A053F}" type="presParOf" srcId="{2E438EBA-F4E0-4E93-A5F1-CCE41CBE4275}" destId="{E5608D6E-29EA-4A9A-9F6F-8081EFB07BDA}" srcOrd="3" destOrd="0" presId="urn:microsoft.com/office/officeart/2005/8/layout/process1"/>
    <dgm:cxn modelId="{23B12419-CC1B-4DD9-8971-4EE4B0906D53}" type="presParOf" srcId="{E5608D6E-29EA-4A9A-9F6F-8081EFB07BDA}" destId="{4F536160-B4D2-4460-B44E-6716A2D412FA}" srcOrd="0" destOrd="0" presId="urn:microsoft.com/office/officeart/2005/8/layout/process1"/>
    <dgm:cxn modelId="{49C3B79B-5F80-4BED-B0E6-64D868FCF8CD}" type="presParOf" srcId="{2E438EBA-F4E0-4E93-A5F1-CCE41CBE4275}" destId="{8C318087-AE95-4505-B92B-940CDE36771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87A75F-7A9F-4147-B8FA-5BB4AC9206B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mc:AlternateContent xmlns:mc="http://schemas.openxmlformats.org/markup-compatibility/2006" xmlns:a14="http://schemas.microsoft.com/office/drawing/2010/main">
      <mc:Choice Requires="a14">
        <dgm:pt modelId="{CF52FE45-3117-4FB8-B9F0-E5861D841E69}">
          <dgm:prSet phldrT="[Text]"/>
          <dgm:spPr/>
          <dgm:t>
            <a:bodyPr/>
            <a:lstStyle/>
            <a:p>
              <a:r>
                <a:rPr lang="en-US" dirty="0"/>
                <a:t>Word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𝑤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∉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𝑉</m:t>
                  </m:r>
                </m:oMath>
              </a14:m>
              <a:endParaRPr lang="en-GB" dirty="0"/>
            </a:p>
          </dgm:t>
        </dgm:pt>
      </mc:Choice>
      <mc:Fallback xmlns="">
        <dgm:pt modelId="{CF52FE45-3117-4FB8-B9F0-E5861D841E69}">
          <dgm:prSet phldrT="[Text]"/>
          <dgm:spPr/>
          <dgm:t>
            <a:bodyPr/>
            <a:lstStyle/>
            <a:p>
              <a:r>
                <a:rPr lang="en-US" dirty="0"/>
                <a:t>Word </a:t>
              </a:r>
              <a:r>
                <a:rPr lang="en-US" b="0" i="0">
                  <a:latin typeface="Cambria Math" panose="02040503050406030204" pitchFamily="18" charset="0"/>
                </a:rPr>
                <a:t>𝑤∉𝑉</a:t>
              </a:r>
              <a:endParaRPr lang="en-GB" dirty="0"/>
            </a:p>
          </dgm:t>
        </dgm:pt>
      </mc:Fallback>
    </mc:AlternateContent>
    <dgm:pt modelId="{9345D5C3-31DC-4878-BB80-145868EBA8E8}" type="parTrans" cxnId="{3A9F3A30-57EF-496B-863C-7D02DAE36A9C}">
      <dgm:prSet/>
      <dgm:spPr/>
      <dgm:t>
        <a:bodyPr/>
        <a:lstStyle/>
        <a:p>
          <a:endParaRPr lang="en-GB"/>
        </a:p>
      </dgm:t>
    </dgm:pt>
    <dgm:pt modelId="{19E54FCE-7E12-468E-8A65-8C72E5E02EA3}" type="sibTrans" cxnId="{3A9F3A30-57EF-496B-863C-7D02DAE36A9C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BF1354B6-40A6-4F97-A8E3-48AC911B6428}">
          <dgm:prSet phldrT="[Text]"/>
          <dgm:spPr/>
          <dgm:t>
            <a:bodyPr/>
            <a:lstStyle/>
            <a:p>
              <a:r>
                <a:rPr lang="en-US" dirty="0"/>
                <a:t>Embedding function </a:t>
              </a:r>
              <a14:m>
                <m:oMath xmlns:m="http://schemas.openxmlformats.org/officeDocument/2006/math">
                  <m:r>
                    <a:rPr lang="en-US" i="1" dirty="0" smtClean="0">
                      <a:latin typeface="Cambria Math" panose="02040503050406030204" pitchFamily="18" charset="0"/>
                    </a:rPr>
                    <m:t>𝑓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𝑤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GB" dirty="0"/>
            </a:p>
          </dgm:t>
        </dgm:pt>
      </mc:Choice>
      <mc:Fallback xmlns="">
        <dgm:pt modelId="{BF1354B6-40A6-4F97-A8E3-48AC911B6428}">
          <dgm:prSet phldrT="[Text]"/>
          <dgm:spPr/>
          <dgm:t>
            <a:bodyPr/>
            <a:lstStyle/>
            <a:p>
              <a:r>
                <a:rPr lang="en-US" dirty="0"/>
                <a:t>Embedding function </a:t>
              </a:r>
              <a:r>
                <a:rPr lang="en-US" i="0" dirty="0">
                  <a:latin typeface="Cambria Math" panose="02040503050406030204" pitchFamily="18" charset="0"/>
                </a:rPr>
                <a:t>𝑓(𝑤)</a:t>
              </a:r>
              <a:endParaRPr lang="en-GB" dirty="0"/>
            </a:p>
          </dgm:t>
        </dgm:pt>
      </mc:Fallback>
    </mc:AlternateContent>
    <dgm:pt modelId="{5013D337-CD33-4A68-BFA5-AD30738DDF44}" type="parTrans" cxnId="{136FB0D5-CB19-4619-A669-6C35E0EC0BBC}">
      <dgm:prSet/>
      <dgm:spPr/>
      <dgm:t>
        <a:bodyPr/>
        <a:lstStyle/>
        <a:p>
          <a:endParaRPr lang="en-GB"/>
        </a:p>
      </dgm:t>
    </dgm:pt>
    <dgm:pt modelId="{236A729B-B716-4259-9E70-5956C1213877}" type="sibTrans" cxnId="{136FB0D5-CB19-4619-A669-6C35E0EC0BBC}">
      <dgm:prSet/>
      <dgm:spPr/>
      <dgm:t>
        <a:bodyPr/>
        <a:lstStyle/>
        <a:p>
          <a:endParaRPr lang="en-GB"/>
        </a:p>
      </dgm:t>
    </dgm:pt>
    <dgm:pt modelId="{E7A3171F-E8AB-422F-9103-769F984452E2}">
      <dgm:prSet phldrT="[Text]"/>
      <dgm:spPr/>
      <dgm:t>
        <a:bodyPr/>
        <a:lstStyle/>
        <a:p>
          <a:r>
            <a:rPr lang="en-US" dirty="0"/>
            <a:t>???</a:t>
          </a:r>
          <a:endParaRPr lang="en-GB" dirty="0"/>
        </a:p>
      </dgm:t>
    </dgm:pt>
    <dgm:pt modelId="{B1157478-60E7-4949-B79A-261CC066336C}" type="parTrans" cxnId="{E272F923-2957-458E-80B6-5CDFA9FD033D}">
      <dgm:prSet/>
      <dgm:spPr/>
      <dgm:t>
        <a:bodyPr/>
        <a:lstStyle/>
        <a:p>
          <a:endParaRPr lang="en-GB"/>
        </a:p>
      </dgm:t>
    </dgm:pt>
    <dgm:pt modelId="{BA0E6CF6-4D55-45CE-B4A1-88426E9BD5D3}" type="sibTrans" cxnId="{E272F923-2957-458E-80B6-5CDFA9FD033D}">
      <dgm:prSet/>
      <dgm:spPr/>
      <dgm:t>
        <a:bodyPr/>
        <a:lstStyle/>
        <a:p>
          <a:endParaRPr lang="en-GB"/>
        </a:p>
      </dgm:t>
    </dgm:pt>
    <dgm:pt modelId="{2E438EBA-F4E0-4E93-A5F1-CCE41CBE4275}" type="pres">
      <dgm:prSet presAssocID="{1987A75F-7A9F-4147-B8FA-5BB4AC9206BD}" presName="Name0" presStyleCnt="0">
        <dgm:presLayoutVars>
          <dgm:dir/>
          <dgm:resizeHandles val="exact"/>
        </dgm:presLayoutVars>
      </dgm:prSet>
      <dgm:spPr/>
    </dgm:pt>
    <dgm:pt modelId="{FD1AA1EB-F54E-4C8C-B18F-60AF1F907E12}" type="pres">
      <dgm:prSet presAssocID="{CF52FE45-3117-4FB8-B9F0-E5861D841E69}" presName="node" presStyleLbl="node1" presStyleIdx="0" presStyleCnt="3">
        <dgm:presLayoutVars>
          <dgm:bulletEnabled val="1"/>
        </dgm:presLayoutVars>
      </dgm:prSet>
      <dgm:spPr/>
    </dgm:pt>
    <dgm:pt modelId="{8C4B5F6E-F02C-44DE-83BB-C3D0808C6051}" type="pres">
      <dgm:prSet presAssocID="{19E54FCE-7E12-468E-8A65-8C72E5E02EA3}" presName="sibTrans" presStyleLbl="sibTrans2D1" presStyleIdx="0" presStyleCnt="2"/>
      <dgm:spPr/>
    </dgm:pt>
    <dgm:pt modelId="{B38810CE-BE25-4775-AF3B-2EA5E1009B55}" type="pres">
      <dgm:prSet presAssocID="{19E54FCE-7E12-468E-8A65-8C72E5E02EA3}" presName="connectorText" presStyleLbl="sibTrans2D1" presStyleIdx="0" presStyleCnt="2"/>
      <dgm:spPr/>
    </dgm:pt>
    <dgm:pt modelId="{244AE12B-2F48-40AC-9AA8-94F1FB06940C}" type="pres">
      <dgm:prSet presAssocID="{BF1354B6-40A6-4F97-A8E3-48AC911B6428}" presName="node" presStyleLbl="node1" presStyleIdx="1" presStyleCnt="3">
        <dgm:presLayoutVars>
          <dgm:bulletEnabled val="1"/>
        </dgm:presLayoutVars>
      </dgm:prSet>
      <dgm:spPr/>
    </dgm:pt>
    <dgm:pt modelId="{E5608D6E-29EA-4A9A-9F6F-8081EFB07BDA}" type="pres">
      <dgm:prSet presAssocID="{236A729B-B716-4259-9E70-5956C1213877}" presName="sibTrans" presStyleLbl="sibTrans2D1" presStyleIdx="1" presStyleCnt="2"/>
      <dgm:spPr/>
    </dgm:pt>
    <dgm:pt modelId="{4F536160-B4D2-4460-B44E-6716A2D412FA}" type="pres">
      <dgm:prSet presAssocID="{236A729B-B716-4259-9E70-5956C1213877}" presName="connectorText" presStyleLbl="sibTrans2D1" presStyleIdx="1" presStyleCnt="2"/>
      <dgm:spPr/>
    </dgm:pt>
    <dgm:pt modelId="{8C318087-AE95-4505-B92B-940CDE367717}" type="pres">
      <dgm:prSet presAssocID="{E7A3171F-E8AB-422F-9103-769F984452E2}" presName="node" presStyleLbl="node1" presStyleIdx="2" presStyleCnt="3">
        <dgm:presLayoutVars>
          <dgm:bulletEnabled val="1"/>
        </dgm:presLayoutVars>
      </dgm:prSet>
      <dgm:spPr/>
    </dgm:pt>
  </dgm:ptLst>
  <dgm:cxnLst>
    <dgm:cxn modelId="{4031AE22-15B7-490F-A548-D19E4E46992F}" type="presOf" srcId="{BF1354B6-40A6-4F97-A8E3-48AC911B6428}" destId="{244AE12B-2F48-40AC-9AA8-94F1FB06940C}" srcOrd="0" destOrd="0" presId="urn:microsoft.com/office/officeart/2005/8/layout/process1"/>
    <dgm:cxn modelId="{E272F923-2957-458E-80B6-5CDFA9FD033D}" srcId="{1987A75F-7A9F-4147-B8FA-5BB4AC9206BD}" destId="{E7A3171F-E8AB-422F-9103-769F984452E2}" srcOrd="2" destOrd="0" parTransId="{B1157478-60E7-4949-B79A-261CC066336C}" sibTransId="{BA0E6CF6-4D55-45CE-B4A1-88426E9BD5D3}"/>
    <dgm:cxn modelId="{3A9F3A30-57EF-496B-863C-7D02DAE36A9C}" srcId="{1987A75F-7A9F-4147-B8FA-5BB4AC9206BD}" destId="{CF52FE45-3117-4FB8-B9F0-E5861D841E69}" srcOrd="0" destOrd="0" parTransId="{9345D5C3-31DC-4878-BB80-145868EBA8E8}" sibTransId="{19E54FCE-7E12-468E-8A65-8C72E5E02EA3}"/>
    <dgm:cxn modelId="{2D285B42-1126-4F5E-ADC0-9A367568AD15}" type="presOf" srcId="{E7A3171F-E8AB-422F-9103-769F984452E2}" destId="{8C318087-AE95-4505-B92B-940CDE367717}" srcOrd="0" destOrd="0" presId="urn:microsoft.com/office/officeart/2005/8/layout/process1"/>
    <dgm:cxn modelId="{9320717B-5FA9-4733-B89B-7F54FA475310}" type="presOf" srcId="{19E54FCE-7E12-468E-8A65-8C72E5E02EA3}" destId="{B38810CE-BE25-4775-AF3B-2EA5E1009B55}" srcOrd="1" destOrd="0" presId="urn:microsoft.com/office/officeart/2005/8/layout/process1"/>
    <dgm:cxn modelId="{F669D291-B6F3-4E32-9827-6CCE9CD552C8}" type="presOf" srcId="{236A729B-B716-4259-9E70-5956C1213877}" destId="{4F536160-B4D2-4460-B44E-6716A2D412FA}" srcOrd="1" destOrd="0" presId="urn:microsoft.com/office/officeart/2005/8/layout/process1"/>
    <dgm:cxn modelId="{9CE339B7-E58E-4F8D-B0DE-C687BDD73337}" type="presOf" srcId="{236A729B-B716-4259-9E70-5956C1213877}" destId="{E5608D6E-29EA-4A9A-9F6F-8081EFB07BDA}" srcOrd="0" destOrd="0" presId="urn:microsoft.com/office/officeart/2005/8/layout/process1"/>
    <dgm:cxn modelId="{A60B47B9-FF70-4D81-B358-50FF77893D0D}" type="presOf" srcId="{1987A75F-7A9F-4147-B8FA-5BB4AC9206BD}" destId="{2E438EBA-F4E0-4E93-A5F1-CCE41CBE4275}" srcOrd="0" destOrd="0" presId="urn:microsoft.com/office/officeart/2005/8/layout/process1"/>
    <dgm:cxn modelId="{33B023D2-223E-498C-9BE2-65748FFF117D}" type="presOf" srcId="{19E54FCE-7E12-468E-8A65-8C72E5E02EA3}" destId="{8C4B5F6E-F02C-44DE-83BB-C3D0808C6051}" srcOrd="0" destOrd="0" presId="urn:microsoft.com/office/officeart/2005/8/layout/process1"/>
    <dgm:cxn modelId="{136FB0D5-CB19-4619-A669-6C35E0EC0BBC}" srcId="{1987A75F-7A9F-4147-B8FA-5BB4AC9206BD}" destId="{BF1354B6-40A6-4F97-A8E3-48AC911B6428}" srcOrd="1" destOrd="0" parTransId="{5013D337-CD33-4A68-BFA5-AD30738DDF44}" sibTransId="{236A729B-B716-4259-9E70-5956C1213877}"/>
    <dgm:cxn modelId="{D4BFF5E1-A24D-42CD-AB73-115689B289F9}" type="presOf" srcId="{CF52FE45-3117-4FB8-B9F0-E5861D841E69}" destId="{FD1AA1EB-F54E-4C8C-B18F-60AF1F907E12}" srcOrd="0" destOrd="0" presId="urn:microsoft.com/office/officeart/2005/8/layout/process1"/>
    <dgm:cxn modelId="{886B170D-70B9-4413-A844-F2821B6077F2}" type="presParOf" srcId="{2E438EBA-F4E0-4E93-A5F1-CCE41CBE4275}" destId="{FD1AA1EB-F54E-4C8C-B18F-60AF1F907E12}" srcOrd="0" destOrd="0" presId="urn:microsoft.com/office/officeart/2005/8/layout/process1"/>
    <dgm:cxn modelId="{9F97D2AE-2621-4A17-8EFF-FB23469D8CE4}" type="presParOf" srcId="{2E438EBA-F4E0-4E93-A5F1-CCE41CBE4275}" destId="{8C4B5F6E-F02C-44DE-83BB-C3D0808C6051}" srcOrd="1" destOrd="0" presId="urn:microsoft.com/office/officeart/2005/8/layout/process1"/>
    <dgm:cxn modelId="{1271B76F-5886-497D-A9A7-8C76DE9A821A}" type="presParOf" srcId="{8C4B5F6E-F02C-44DE-83BB-C3D0808C6051}" destId="{B38810CE-BE25-4775-AF3B-2EA5E1009B55}" srcOrd="0" destOrd="0" presId="urn:microsoft.com/office/officeart/2005/8/layout/process1"/>
    <dgm:cxn modelId="{6B814A1F-9C67-4294-934B-E4277C4F2510}" type="presParOf" srcId="{2E438EBA-F4E0-4E93-A5F1-CCE41CBE4275}" destId="{244AE12B-2F48-40AC-9AA8-94F1FB06940C}" srcOrd="2" destOrd="0" presId="urn:microsoft.com/office/officeart/2005/8/layout/process1"/>
    <dgm:cxn modelId="{98A67E3B-B0C3-4D20-8798-DE88B21A053F}" type="presParOf" srcId="{2E438EBA-F4E0-4E93-A5F1-CCE41CBE4275}" destId="{E5608D6E-29EA-4A9A-9F6F-8081EFB07BDA}" srcOrd="3" destOrd="0" presId="urn:microsoft.com/office/officeart/2005/8/layout/process1"/>
    <dgm:cxn modelId="{23B12419-CC1B-4DD9-8971-4EE4B0906D53}" type="presParOf" srcId="{E5608D6E-29EA-4A9A-9F6F-8081EFB07BDA}" destId="{4F536160-B4D2-4460-B44E-6716A2D412FA}" srcOrd="0" destOrd="0" presId="urn:microsoft.com/office/officeart/2005/8/layout/process1"/>
    <dgm:cxn modelId="{49C3B79B-5F80-4BED-B0E6-64D868FCF8CD}" type="presParOf" srcId="{2E438EBA-F4E0-4E93-A5F1-CCE41CBE4275}" destId="{8C318087-AE95-4505-B92B-940CDE36771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B2CC34-1269-46AD-9E44-1AD5EAC045F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BDA6F87-D1CA-41B1-B223-F6F7A530289C}">
      <dgm:prSet phldrT="[Text]" phldr="0"/>
      <dgm:spPr/>
      <dgm:t>
        <a:bodyPr/>
        <a:lstStyle/>
        <a:p>
          <a:r>
            <a:rPr lang="en-GB" dirty="0"/>
            <a:t>Unhappiness</a:t>
          </a:r>
        </a:p>
      </dgm:t>
    </dgm:pt>
    <dgm:pt modelId="{3D6602E3-D073-41C8-95E8-C0AA647DD996}" type="parTrans" cxnId="{DBCE9070-6164-4716-ACE4-93A38489CBE6}">
      <dgm:prSet/>
      <dgm:spPr/>
      <dgm:t>
        <a:bodyPr/>
        <a:lstStyle/>
        <a:p>
          <a:endParaRPr lang="en-GB"/>
        </a:p>
      </dgm:t>
    </dgm:pt>
    <dgm:pt modelId="{84DD10F3-6857-4328-9CD5-EA175B652BEB}" type="sibTrans" cxnId="{DBCE9070-6164-4716-ACE4-93A38489CBE6}">
      <dgm:prSet/>
      <dgm:spPr/>
      <dgm:t>
        <a:bodyPr/>
        <a:lstStyle/>
        <a:p>
          <a:endParaRPr lang="en-GB"/>
        </a:p>
      </dgm:t>
    </dgm:pt>
    <dgm:pt modelId="{F5576C4D-D6C5-4E7C-86D6-A28C76B778E7}">
      <dgm:prSet phldrT="[Text]" phldr="0"/>
      <dgm:spPr/>
      <dgm:t>
        <a:bodyPr/>
        <a:lstStyle/>
        <a:p>
          <a:r>
            <a:rPr lang="en-GB" dirty="0"/>
            <a:t>Un</a:t>
          </a:r>
        </a:p>
      </dgm:t>
    </dgm:pt>
    <dgm:pt modelId="{97CE02DA-6C7B-417C-B9A8-AAD396CBFD52}" type="parTrans" cxnId="{A6383986-A203-4EE6-9E0A-B472DBCCC944}">
      <dgm:prSet/>
      <dgm:spPr/>
      <dgm:t>
        <a:bodyPr/>
        <a:lstStyle/>
        <a:p>
          <a:endParaRPr lang="en-GB"/>
        </a:p>
      </dgm:t>
    </dgm:pt>
    <dgm:pt modelId="{AE436598-CAF2-455F-8C95-2FD9F3AC56A2}" type="sibTrans" cxnId="{A6383986-A203-4EE6-9E0A-B472DBCCC944}">
      <dgm:prSet/>
      <dgm:spPr/>
      <dgm:t>
        <a:bodyPr/>
        <a:lstStyle/>
        <a:p>
          <a:endParaRPr lang="en-GB"/>
        </a:p>
      </dgm:t>
    </dgm:pt>
    <dgm:pt modelId="{99BD3CC5-BC61-40A8-8FF3-6DD5EDFC7A9B}">
      <dgm:prSet phldrT="[Text]" phldr="0"/>
      <dgm:spPr/>
      <dgm:t>
        <a:bodyPr/>
        <a:lstStyle/>
        <a:p>
          <a:r>
            <a:rPr lang="en-GB" dirty="0"/>
            <a:t>Happi</a:t>
          </a:r>
        </a:p>
      </dgm:t>
    </dgm:pt>
    <dgm:pt modelId="{CDC39ED7-023C-4413-9CD2-1661765C69E5}" type="parTrans" cxnId="{B8FF4C63-8522-482A-A09C-F4CD412D8327}">
      <dgm:prSet/>
      <dgm:spPr/>
      <dgm:t>
        <a:bodyPr/>
        <a:lstStyle/>
        <a:p>
          <a:endParaRPr lang="en-GB"/>
        </a:p>
      </dgm:t>
    </dgm:pt>
    <dgm:pt modelId="{1B064C19-0BFD-49F3-B8C4-CAEDA22BC87A}" type="sibTrans" cxnId="{B8FF4C63-8522-482A-A09C-F4CD412D8327}">
      <dgm:prSet/>
      <dgm:spPr/>
      <dgm:t>
        <a:bodyPr/>
        <a:lstStyle/>
        <a:p>
          <a:endParaRPr lang="en-GB"/>
        </a:p>
      </dgm:t>
    </dgm:pt>
    <dgm:pt modelId="{8704C67B-22AD-43A3-B91D-B2820B8F6AAB}">
      <dgm:prSet phldrT="[Text]" phldr="0"/>
      <dgm:spPr/>
      <dgm:t>
        <a:bodyPr/>
        <a:lstStyle/>
        <a:p>
          <a:r>
            <a:rPr lang="en-GB" dirty="0"/>
            <a:t>Ness</a:t>
          </a:r>
        </a:p>
      </dgm:t>
    </dgm:pt>
    <dgm:pt modelId="{15258D52-596E-4CF3-BB4B-3C8B6B647BE9}" type="parTrans" cxnId="{EE4A842F-5288-4B14-9585-26CA2A561130}">
      <dgm:prSet/>
      <dgm:spPr/>
      <dgm:t>
        <a:bodyPr/>
        <a:lstStyle/>
        <a:p>
          <a:endParaRPr lang="en-GB"/>
        </a:p>
      </dgm:t>
    </dgm:pt>
    <dgm:pt modelId="{B59D9C40-C84C-4DE7-BF3C-71F0CF19A298}" type="sibTrans" cxnId="{EE4A842F-5288-4B14-9585-26CA2A561130}">
      <dgm:prSet/>
      <dgm:spPr/>
      <dgm:t>
        <a:bodyPr/>
        <a:lstStyle/>
        <a:p>
          <a:endParaRPr lang="en-GB"/>
        </a:p>
      </dgm:t>
    </dgm:pt>
    <dgm:pt modelId="{CF9AD42B-4FDD-46C3-AA3A-4FB166999CE4}" type="pres">
      <dgm:prSet presAssocID="{A5B2CC34-1269-46AD-9E44-1AD5EAC045F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3295929-8749-4CEC-8661-CB5ADCD0C6DE}" type="pres">
      <dgm:prSet presAssocID="{CBDA6F87-D1CA-41B1-B223-F6F7A530289C}" presName="root1" presStyleCnt="0"/>
      <dgm:spPr/>
    </dgm:pt>
    <dgm:pt modelId="{A1E01846-4C37-428C-ADC4-5C00575B65A3}" type="pres">
      <dgm:prSet presAssocID="{CBDA6F87-D1CA-41B1-B223-F6F7A530289C}" presName="LevelOneTextNode" presStyleLbl="node0" presStyleIdx="0" presStyleCnt="1">
        <dgm:presLayoutVars>
          <dgm:chPref val="3"/>
        </dgm:presLayoutVars>
      </dgm:prSet>
      <dgm:spPr/>
    </dgm:pt>
    <dgm:pt modelId="{4F4B277A-8A73-4A83-9C90-8949321F1D7C}" type="pres">
      <dgm:prSet presAssocID="{CBDA6F87-D1CA-41B1-B223-F6F7A530289C}" presName="level2hierChild" presStyleCnt="0"/>
      <dgm:spPr/>
    </dgm:pt>
    <dgm:pt modelId="{FE313E9F-2157-4B8E-AD21-3747D4B35191}" type="pres">
      <dgm:prSet presAssocID="{97CE02DA-6C7B-417C-B9A8-AAD396CBFD52}" presName="conn2-1" presStyleLbl="parChTrans1D2" presStyleIdx="0" presStyleCnt="3"/>
      <dgm:spPr/>
    </dgm:pt>
    <dgm:pt modelId="{D102E4AE-CD2F-4E69-891B-471510B7F205}" type="pres">
      <dgm:prSet presAssocID="{97CE02DA-6C7B-417C-B9A8-AAD396CBFD52}" presName="connTx" presStyleLbl="parChTrans1D2" presStyleIdx="0" presStyleCnt="3"/>
      <dgm:spPr/>
    </dgm:pt>
    <dgm:pt modelId="{1E609381-0877-498B-AFD8-39A2CCACBB75}" type="pres">
      <dgm:prSet presAssocID="{F5576C4D-D6C5-4E7C-86D6-A28C76B778E7}" presName="root2" presStyleCnt="0"/>
      <dgm:spPr/>
    </dgm:pt>
    <dgm:pt modelId="{DDF8173D-D4B5-4DC8-93E0-17F2EE19C593}" type="pres">
      <dgm:prSet presAssocID="{F5576C4D-D6C5-4E7C-86D6-A28C76B778E7}" presName="LevelTwoTextNode" presStyleLbl="node2" presStyleIdx="0" presStyleCnt="3">
        <dgm:presLayoutVars>
          <dgm:chPref val="3"/>
        </dgm:presLayoutVars>
      </dgm:prSet>
      <dgm:spPr/>
    </dgm:pt>
    <dgm:pt modelId="{52F77331-4D45-4865-9C0D-F44EC46E597A}" type="pres">
      <dgm:prSet presAssocID="{F5576C4D-D6C5-4E7C-86D6-A28C76B778E7}" presName="level3hierChild" presStyleCnt="0"/>
      <dgm:spPr/>
    </dgm:pt>
    <dgm:pt modelId="{9B792D00-BFF8-404D-8106-0E6113436307}" type="pres">
      <dgm:prSet presAssocID="{CDC39ED7-023C-4413-9CD2-1661765C69E5}" presName="conn2-1" presStyleLbl="parChTrans1D2" presStyleIdx="1" presStyleCnt="3"/>
      <dgm:spPr/>
    </dgm:pt>
    <dgm:pt modelId="{00BBEBD9-D1E3-44D5-97D4-FFF77C23FBE3}" type="pres">
      <dgm:prSet presAssocID="{CDC39ED7-023C-4413-9CD2-1661765C69E5}" presName="connTx" presStyleLbl="parChTrans1D2" presStyleIdx="1" presStyleCnt="3"/>
      <dgm:spPr/>
    </dgm:pt>
    <dgm:pt modelId="{27B08A0E-4768-4282-A84E-90AEC8EF2F9C}" type="pres">
      <dgm:prSet presAssocID="{99BD3CC5-BC61-40A8-8FF3-6DD5EDFC7A9B}" presName="root2" presStyleCnt="0"/>
      <dgm:spPr/>
    </dgm:pt>
    <dgm:pt modelId="{1DF672B8-8AAA-4174-BAE7-F55D91129945}" type="pres">
      <dgm:prSet presAssocID="{99BD3CC5-BC61-40A8-8FF3-6DD5EDFC7A9B}" presName="LevelTwoTextNode" presStyleLbl="node2" presStyleIdx="1" presStyleCnt="3">
        <dgm:presLayoutVars>
          <dgm:chPref val="3"/>
        </dgm:presLayoutVars>
      </dgm:prSet>
      <dgm:spPr/>
    </dgm:pt>
    <dgm:pt modelId="{C60C05F7-0FFA-49A6-81EB-1B38FDFEB3D7}" type="pres">
      <dgm:prSet presAssocID="{99BD3CC5-BC61-40A8-8FF3-6DD5EDFC7A9B}" presName="level3hierChild" presStyleCnt="0"/>
      <dgm:spPr/>
    </dgm:pt>
    <dgm:pt modelId="{508A9D85-7BC2-4897-8D57-3D1F14F45BA0}" type="pres">
      <dgm:prSet presAssocID="{15258D52-596E-4CF3-BB4B-3C8B6B647BE9}" presName="conn2-1" presStyleLbl="parChTrans1D2" presStyleIdx="2" presStyleCnt="3"/>
      <dgm:spPr/>
    </dgm:pt>
    <dgm:pt modelId="{27890CDF-67D7-43A5-87F2-A2C6818109EC}" type="pres">
      <dgm:prSet presAssocID="{15258D52-596E-4CF3-BB4B-3C8B6B647BE9}" presName="connTx" presStyleLbl="parChTrans1D2" presStyleIdx="2" presStyleCnt="3"/>
      <dgm:spPr/>
    </dgm:pt>
    <dgm:pt modelId="{2204D22E-C21E-4C5B-B8D2-A00D43CF1D2C}" type="pres">
      <dgm:prSet presAssocID="{8704C67B-22AD-43A3-B91D-B2820B8F6AAB}" presName="root2" presStyleCnt="0"/>
      <dgm:spPr/>
    </dgm:pt>
    <dgm:pt modelId="{E6DF223F-0E09-44F0-AABD-243699931DEC}" type="pres">
      <dgm:prSet presAssocID="{8704C67B-22AD-43A3-B91D-B2820B8F6AAB}" presName="LevelTwoTextNode" presStyleLbl="node2" presStyleIdx="2" presStyleCnt="3">
        <dgm:presLayoutVars>
          <dgm:chPref val="3"/>
        </dgm:presLayoutVars>
      </dgm:prSet>
      <dgm:spPr/>
    </dgm:pt>
    <dgm:pt modelId="{B5DCC5F3-2E91-465B-A0D9-897517FBF59B}" type="pres">
      <dgm:prSet presAssocID="{8704C67B-22AD-43A3-B91D-B2820B8F6AAB}" presName="level3hierChild" presStyleCnt="0"/>
      <dgm:spPr/>
    </dgm:pt>
  </dgm:ptLst>
  <dgm:cxnLst>
    <dgm:cxn modelId="{9451730A-1BBF-4E1E-82BD-6A965AAFA4B9}" type="presOf" srcId="{97CE02DA-6C7B-417C-B9A8-AAD396CBFD52}" destId="{D102E4AE-CD2F-4E69-891B-471510B7F205}" srcOrd="1" destOrd="0" presId="urn:microsoft.com/office/officeart/2005/8/layout/hierarchy2"/>
    <dgm:cxn modelId="{C06CF30E-740D-46E6-9EAA-97281F4506B6}" type="presOf" srcId="{CDC39ED7-023C-4413-9CD2-1661765C69E5}" destId="{9B792D00-BFF8-404D-8106-0E6113436307}" srcOrd="0" destOrd="0" presId="urn:microsoft.com/office/officeart/2005/8/layout/hierarchy2"/>
    <dgm:cxn modelId="{EE4A842F-5288-4B14-9585-26CA2A561130}" srcId="{CBDA6F87-D1CA-41B1-B223-F6F7A530289C}" destId="{8704C67B-22AD-43A3-B91D-B2820B8F6AAB}" srcOrd="2" destOrd="0" parTransId="{15258D52-596E-4CF3-BB4B-3C8B6B647BE9}" sibTransId="{B59D9C40-C84C-4DE7-BF3C-71F0CF19A298}"/>
    <dgm:cxn modelId="{79F25B3C-599D-4439-BD43-45C8CF015849}" type="presOf" srcId="{CDC39ED7-023C-4413-9CD2-1661765C69E5}" destId="{00BBEBD9-D1E3-44D5-97D4-FFF77C23FBE3}" srcOrd="1" destOrd="0" presId="urn:microsoft.com/office/officeart/2005/8/layout/hierarchy2"/>
    <dgm:cxn modelId="{B8FF4C63-8522-482A-A09C-F4CD412D8327}" srcId="{CBDA6F87-D1CA-41B1-B223-F6F7A530289C}" destId="{99BD3CC5-BC61-40A8-8FF3-6DD5EDFC7A9B}" srcOrd="1" destOrd="0" parTransId="{CDC39ED7-023C-4413-9CD2-1661765C69E5}" sibTransId="{1B064C19-0BFD-49F3-B8C4-CAEDA22BC87A}"/>
    <dgm:cxn modelId="{48DF6448-E469-4F0A-B6EE-A6AABA3B8AE8}" type="presOf" srcId="{A5B2CC34-1269-46AD-9E44-1AD5EAC045FA}" destId="{CF9AD42B-4FDD-46C3-AA3A-4FB166999CE4}" srcOrd="0" destOrd="0" presId="urn:microsoft.com/office/officeart/2005/8/layout/hierarchy2"/>
    <dgm:cxn modelId="{DBCE9070-6164-4716-ACE4-93A38489CBE6}" srcId="{A5B2CC34-1269-46AD-9E44-1AD5EAC045FA}" destId="{CBDA6F87-D1CA-41B1-B223-F6F7A530289C}" srcOrd="0" destOrd="0" parTransId="{3D6602E3-D073-41C8-95E8-C0AA647DD996}" sibTransId="{84DD10F3-6857-4328-9CD5-EA175B652BEB}"/>
    <dgm:cxn modelId="{A6383986-A203-4EE6-9E0A-B472DBCCC944}" srcId="{CBDA6F87-D1CA-41B1-B223-F6F7A530289C}" destId="{F5576C4D-D6C5-4E7C-86D6-A28C76B778E7}" srcOrd="0" destOrd="0" parTransId="{97CE02DA-6C7B-417C-B9A8-AAD396CBFD52}" sibTransId="{AE436598-CAF2-455F-8C95-2FD9F3AC56A2}"/>
    <dgm:cxn modelId="{64B9079E-C317-482D-9BA4-B7BA040A184F}" type="presOf" srcId="{99BD3CC5-BC61-40A8-8FF3-6DD5EDFC7A9B}" destId="{1DF672B8-8AAA-4174-BAE7-F55D91129945}" srcOrd="0" destOrd="0" presId="urn:microsoft.com/office/officeart/2005/8/layout/hierarchy2"/>
    <dgm:cxn modelId="{F0C921A2-B9B2-49A3-A788-B78D2E5FCC5D}" type="presOf" srcId="{15258D52-596E-4CF3-BB4B-3C8B6B647BE9}" destId="{508A9D85-7BC2-4897-8D57-3D1F14F45BA0}" srcOrd="0" destOrd="0" presId="urn:microsoft.com/office/officeart/2005/8/layout/hierarchy2"/>
    <dgm:cxn modelId="{240E5DB5-7F1A-4C1F-B9C1-8E2F3A8DD67F}" type="presOf" srcId="{CBDA6F87-D1CA-41B1-B223-F6F7A530289C}" destId="{A1E01846-4C37-428C-ADC4-5C00575B65A3}" srcOrd="0" destOrd="0" presId="urn:microsoft.com/office/officeart/2005/8/layout/hierarchy2"/>
    <dgm:cxn modelId="{214B25E3-E0DD-4701-AD6C-4CC57126BC55}" type="presOf" srcId="{15258D52-596E-4CF3-BB4B-3C8B6B647BE9}" destId="{27890CDF-67D7-43A5-87F2-A2C6818109EC}" srcOrd="1" destOrd="0" presId="urn:microsoft.com/office/officeart/2005/8/layout/hierarchy2"/>
    <dgm:cxn modelId="{C6E7C7E6-2204-49D6-9408-DB9D333822CF}" type="presOf" srcId="{97CE02DA-6C7B-417C-B9A8-AAD396CBFD52}" destId="{FE313E9F-2157-4B8E-AD21-3747D4B35191}" srcOrd="0" destOrd="0" presId="urn:microsoft.com/office/officeart/2005/8/layout/hierarchy2"/>
    <dgm:cxn modelId="{B20EF7F6-AF88-4606-8468-5A31194C38C8}" type="presOf" srcId="{8704C67B-22AD-43A3-B91D-B2820B8F6AAB}" destId="{E6DF223F-0E09-44F0-AABD-243699931DEC}" srcOrd="0" destOrd="0" presId="urn:microsoft.com/office/officeart/2005/8/layout/hierarchy2"/>
    <dgm:cxn modelId="{93B2BCFF-0DCD-47F9-BC0E-4CDDDBA8955F}" type="presOf" srcId="{F5576C4D-D6C5-4E7C-86D6-A28C76B778E7}" destId="{DDF8173D-D4B5-4DC8-93E0-17F2EE19C593}" srcOrd="0" destOrd="0" presId="urn:microsoft.com/office/officeart/2005/8/layout/hierarchy2"/>
    <dgm:cxn modelId="{A4A4E946-CB79-4211-8310-2E5D3E89A3FA}" type="presParOf" srcId="{CF9AD42B-4FDD-46C3-AA3A-4FB166999CE4}" destId="{63295929-8749-4CEC-8661-CB5ADCD0C6DE}" srcOrd="0" destOrd="0" presId="urn:microsoft.com/office/officeart/2005/8/layout/hierarchy2"/>
    <dgm:cxn modelId="{65524EB2-53B6-416E-B06D-B130BE477AC4}" type="presParOf" srcId="{63295929-8749-4CEC-8661-CB5ADCD0C6DE}" destId="{A1E01846-4C37-428C-ADC4-5C00575B65A3}" srcOrd="0" destOrd="0" presId="urn:microsoft.com/office/officeart/2005/8/layout/hierarchy2"/>
    <dgm:cxn modelId="{535F0998-1D8E-4D80-9BB3-BFC4DD9F09E1}" type="presParOf" srcId="{63295929-8749-4CEC-8661-CB5ADCD0C6DE}" destId="{4F4B277A-8A73-4A83-9C90-8949321F1D7C}" srcOrd="1" destOrd="0" presId="urn:microsoft.com/office/officeart/2005/8/layout/hierarchy2"/>
    <dgm:cxn modelId="{25E5A194-D351-4988-B31A-F8B8251099D3}" type="presParOf" srcId="{4F4B277A-8A73-4A83-9C90-8949321F1D7C}" destId="{FE313E9F-2157-4B8E-AD21-3747D4B35191}" srcOrd="0" destOrd="0" presId="urn:microsoft.com/office/officeart/2005/8/layout/hierarchy2"/>
    <dgm:cxn modelId="{55E89060-55B3-4023-9F11-33315FA5390D}" type="presParOf" srcId="{FE313E9F-2157-4B8E-AD21-3747D4B35191}" destId="{D102E4AE-CD2F-4E69-891B-471510B7F205}" srcOrd="0" destOrd="0" presId="urn:microsoft.com/office/officeart/2005/8/layout/hierarchy2"/>
    <dgm:cxn modelId="{B39B6894-4C9A-4CA0-94F3-702A0A7E9BB9}" type="presParOf" srcId="{4F4B277A-8A73-4A83-9C90-8949321F1D7C}" destId="{1E609381-0877-498B-AFD8-39A2CCACBB75}" srcOrd="1" destOrd="0" presId="urn:microsoft.com/office/officeart/2005/8/layout/hierarchy2"/>
    <dgm:cxn modelId="{283C569D-8952-45FD-988C-2AC24067212C}" type="presParOf" srcId="{1E609381-0877-498B-AFD8-39A2CCACBB75}" destId="{DDF8173D-D4B5-4DC8-93E0-17F2EE19C593}" srcOrd="0" destOrd="0" presId="urn:microsoft.com/office/officeart/2005/8/layout/hierarchy2"/>
    <dgm:cxn modelId="{2C5C616F-CFB8-4DCB-837F-C635736F4A12}" type="presParOf" srcId="{1E609381-0877-498B-AFD8-39A2CCACBB75}" destId="{52F77331-4D45-4865-9C0D-F44EC46E597A}" srcOrd="1" destOrd="0" presId="urn:microsoft.com/office/officeart/2005/8/layout/hierarchy2"/>
    <dgm:cxn modelId="{4984719F-7DAC-4F32-B05F-D5DC675E8B37}" type="presParOf" srcId="{4F4B277A-8A73-4A83-9C90-8949321F1D7C}" destId="{9B792D00-BFF8-404D-8106-0E6113436307}" srcOrd="2" destOrd="0" presId="urn:microsoft.com/office/officeart/2005/8/layout/hierarchy2"/>
    <dgm:cxn modelId="{D2EF4CF4-5AE3-4B07-B5F0-BC0412290953}" type="presParOf" srcId="{9B792D00-BFF8-404D-8106-0E6113436307}" destId="{00BBEBD9-D1E3-44D5-97D4-FFF77C23FBE3}" srcOrd="0" destOrd="0" presId="urn:microsoft.com/office/officeart/2005/8/layout/hierarchy2"/>
    <dgm:cxn modelId="{163D9BC6-C67E-4365-9758-9C38D10DB241}" type="presParOf" srcId="{4F4B277A-8A73-4A83-9C90-8949321F1D7C}" destId="{27B08A0E-4768-4282-A84E-90AEC8EF2F9C}" srcOrd="3" destOrd="0" presId="urn:microsoft.com/office/officeart/2005/8/layout/hierarchy2"/>
    <dgm:cxn modelId="{CDFDC040-BCFA-4AF1-BB92-DFD964B25C98}" type="presParOf" srcId="{27B08A0E-4768-4282-A84E-90AEC8EF2F9C}" destId="{1DF672B8-8AAA-4174-BAE7-F55D91129945}" srcOrd="0" destOrd="0" presId="urn:microsoft.com/office/officeart/2005/8/layout/hierarchy2"/>
    <dgm:cxn modelId="{97D92233-2E34-4616-B92E-40644CB1EB85}" type="presParOf" srcId="{27B08A0E-4768-4282-A84E-90AEC8EF2F9C}" destId="{C60C05F7-0FFA-49A6-81EB-1B38FDFEB3D7}" srcOrd="1" destOrd="0" presId="urn:microsoft.com/office/officeart/2005/8/layout/hierarchy2"/>
    <dgm:cxn modelId="{E7716D10-ED89-4B5C-817F-6BA45D8E2818}" type="presParOf" srcId="{4F4B277A-8A73-4A83-9C90-8949321F1D7C}" destId="{508A9D85-7BC2-4897-8D57-3D1F14F45BA0}" srcOrd="4" destOrd="0" presId="urn:microsoft.com/office/officeart/2005/8/layout/hierarchy2"/>
    <dgm:cxn modelId="{3AD8ADDC-0228-4ABC-99C9-99B9F179CC6C}" type="presParOf" srcId="{508A9D85-7BC2-4897-8D57-3D1F14F45BA0}" destId="{27890CDF-67D7-43A5-87F2-A2C6818109EC}" srcOrd="0" destOrd="0" presId="urn:microsoft.com/office/officeart/2005/8/layout/hierarchy2"/>
    <dgm:cxn modelId="{1F687D84-58FB-4DE9-9482-E82E92B52568}" type="presParOf" srcId="{4F4B277A-8A73-4A83-9C90-8949321F1D7C}" destId="{2204D22E-C21E-4C5B-B8D2-A00D43CF1D2C}" srcOrd="5" destOrd="0" presId="urn:microsoft.com/office/officeart/2005/8/layout/hierarchy2"/>
    <dgm:cxn modelId="{DDD44FC4-0B0D-49D3-AB1A-60F9612AFC1B}" type="presParOf" srcId="{2204D22E-C21E-4C5B-B8D2-A00D43CF1D2C}" destId="{E6DF223F-0E09-44F0-AABD-243699931DEC}" srcOrd="0" destOrd="0" presId="urn:microsoft.com/office/officeart/2005/8/layout/hierarchy2"/>
    <dgm:cxn modelId="{C8705161-50B3-4567-B6E3-6402E9921501}" type="presParOf" srcId="{2204D22E-C21E-4C5B-B8D2-A00D43CF1D2C}" destId="{B5DCC5F3-2E91-465B-A0D9-897517FBF59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987A75F-7A9F-4147-B8FA-5BB4AC9206B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F52FE45-3117-4FB8-B9F0-E5861D841E69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9345D5C3-31DC-4878-BB80-145868EBA8E8}" type="parTrans" cxnId="{3A9F3A30-57EF-496B-863C-7D02DAE36A9C}">
      <dgm:prSet/>
      <dgm:spPr/>
      <dgm:t>
        <a:bodyPr/>
        <a:lstStyle/>
        <a:p>
          <a:endParaRPr lang="en-GB"/>
        </a:p>
      </dgm:t>
    </dgm:pt>
    <dgm:pt modelId="{19E54FCE-7E12-468E-8A65-8C72E5E02EA3}" type="sibTrans" cxnId="{3A9F3A30-57EF-496B-863C-7D02DAE36A9C}">
      <dgm:prSet/>
      <dgm:spPr/>
      <dgm:t>
        <a:bodyPr/>
        <a:lstStyle/>
        <a:p>
          <a:endParaRPr lang="en-GB"/>
        </a:p>
      </dgm:t>
    </dgm:pt>
    <dgm:pt modelId="{BF1354B6-40A6-4F97-A8E3-48AC911B6428}">
      <dgm:prSet phldrT="[Text]"/>
      <dgm:spPr>
        <a:blipFill>
          <a:blip xmlns:r="http://schemas.openxmlformats.org/officeDocument/2006/relationships" r:embed="rId2"/>
          <a:stretch>
            <a:fillRect l="-852" t="-877" r="-2273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5013D337-CD33-4A68-BFA5-AD30738DDF44}" type="parTrans" cxnId="{136FB0D5-CB19-4619-A669-6C35E0EC0BBC}">
      <dgm:prSet/>
      <dgm:spPr/>
      <dgm:t>
        <a:bodyPr/>
        <a:lstStyle/>
        <a:p>
          <a:endParaRPr lang="en-GB"/>
        </a:p>
      </dgm:t>
    </dgm:pt>
    <dgm:pt modelId="{236A729B-B716-4259-9E70-5956C1213877}" type="sibTrans" cxnId="{136FB0D5-CB19-4619-A669-6C35E0EC0BBC}">
      <dgm:prSet/>
      <dgm:spPr/>
      <dgm:t>
        <a:bodyPr/>
        <a:lstStyle/>
        <a:p>
          <a:endParaRPr lang="en-GB"/>
        </a:p>
      </dgm:t>
    </dgm:pt>
    <dgm:pt modelId="{E7A3171F-E8AB-422F-9103-769F984452E2}">
      <dgm:prSet phldrT="[Text]"/>
      <dgm:spPr/>
      <dgm:t>
        <a:bodyPr/>
        <a:lstStyle/>
        <a:p>
          <a:r>
            <a:rPr lang="en-US" dirty="0"/>
            <a:t>???</a:t>
          </a:r>
          <a:endParaRPr lang="en-GB" dirty="0"/>
        </a:p>
      </dgm:t>
    </dgm:pt>
    <dgm:pt modelId="{B1157478-60E7-4949-B79A-261CC066336C}" type="parTrans" cxnId="{E272F923-2957-458E-80B6-5CDFA9FD033D}">
      <dgm:prSet/>
      <dgm:spPr/>
      <dgm:t>
        <a:bodyPr/>
        <a:lstStyle/>
        <a:p>
          <a:endParaRPr lang="en-GB"/>
        </a:p>
      </dgm:t>
    </dgm:pt>
    <dgm:pt modelId="{BA0E6CF6-4D55-45CE-B4A1-88426E9BD5D3}" type="sibTrans" cxnId="{E272F923-2957-458E-80B6-5CDFA9FD033D}">
      <dgm:prSet/>
      <dgm:spPr/>
      <dgm:t>
        <a:bodyPr/>
        <a:lstStyle/>
        <a:p>
          <a:endParaRPr lang="en-GB"/>
        </a:p>
      </dgm:t>
    </dgm:pt>
    <dgm:pt modelId="{2E438EBA-F4E0-4E93-A5F1-CCE41CBE4275}" type="pres">
      <dgm:prSet presAssocID="{1987A75F-7A9F-4147-B8FA-5BB4AC9206BD}" presName="Name0" presStyleCnt="0">
        <dgm:presLayoutVars>
          <dgm:dir/>
          <dgm:resizeHandles val="exact"/>
        </dgm:presLayoutVars>
      </dgm:prSet>
      <dgm:spPr/>
    </dgm:pt>
    <dgm:pt modelId="{FD1AA1EB-F54E-4C8C-B18F-60AF1F907E12}" type="pres">
      <dgm:prSet presAssocID="{CF52FE45-3117-4FB8-B9F0-E5861D841E69}" presName="node" presStyleLbl="node1" presStyleIdx="0" presStyleCnt="3">
        <dgm:presLayoutVars>
          <dgm:bulletEnabled val="1"/>
        </dgm:presLayoutVars>
      </dgm:prSet>
      <dgm:spPr/>
    </dgm:pt>
    <dgm:pt modelId="{8C4B5F6E-F02C-44DE-83BB-C3D0808C6051}" type="pres">
      <dgm:prSet presAssocID="{19E54FCE-7E12-468E-8A65-8C72E5E02EA3}" presName="sibTrans" presStyleLbl="sibTrans2D1" presStyleIdx="0" presStyleCnt="2"/>
      <dgm:spPr/>
    </dgm:pt>
    <dgm:pt modelId="{B38810CE-BE25-4775-AF3B-2EA5E1009B55}" type="pres">
      <dgm:prSet presAssocID="{19E54FCE-7E12-468E-8A65-8C72E5E02EA3}" presName="connectorText" presStyleLbl="sibTrans2D1" presStyleIdx="0" presStyleCnt="2"/>
      <dgm:spPr/>
    </dgm:pt>
    <dgm:pt modelId="{244AE12B-2F48-40AC-9AA8-94F1FB06940C}" type="pres">
      <dgm:prSet presAssocID="{BF1354B6-40A6-4F97-A8E3-48AC911B6428}" presName="node" presStyleLbl="node1" presStyleIdx="1" presStyleCnt="3">
        <dgm:presLayoutVars>
          <dgm:bulletEnabled val="1"/>
        </dgm:presLayoutVars>
      </dgm:prSet>
      <dgm:spPr/>
    </dgm:pt>
    <dgm:pt modelId="{E5608D6E-29EA-4A9A-9F6F-8081EFB07BDA}" type="pres">
      <dgm:prSet presAssocID="{236A729B-B716-4259-9E70-5956C1213877}" presName="sibTrans" presStyleLbl="sibTrans2D1" presStyleIdx="1" presStyleCnt="2"/>
      <dgm:spPr/>
    </dgm:pt>
    <dgm:pt modelId="{4F536160-B4D2-4460-B44E-6716A2D412FA}" type="pres">
      <dgm:prSet presAssocID="{236A729B-B716-4259-9E70-5956C1213877}" presName="connectorText" presStyleLbl="sibTrans2D1" presStyleIdx="1" presStyleCnt="2"/>
      <dgm:spPr/>
    </dgm:pt>
    <dgm:pt modelId="{8C318087-AE95-4505-B92B-940CDE367717}" type="pres">
      <dgm:prSet presAssocID="{E7A3171F-E8AB-422F-9103-769F984452E2}" presName="node" presStyleLbl="node1" presStyleIdx="2" presStyleCnt="3">
        <dgm:presLayoutVars>
          <dgm:bulletEnabled val="1"/>
        </dgm:presLayoutVars>
      </dgm:prSet>
      <dgm:spPr/>
    </dgm:pt>
  </dgm:ptLst>
  <dgm:cxnLst>
    <dgm:cxn modelId="{4031AE22-15B7-490F-A548-D19E4E46992F}" type="presOf" srcId="{BF1354B6-40A6-4F97-A8E3-48AC911B6428}" destId="{244AE12B-2F48-40AC-9AA8-94F1FB06940C}" srcOrd="0" destOrd="0" presId="urn:microsoft.com/office/officeart/2005/8/layout/process1"/>
    <dgm:cxn modelId="{E272F923-2957-458E-80B6-5CDFA9FD033D}" srcId="{1987A75F-7A9F-4147-B8FA-5BB4AC9206BD}" destId="{E7A3171F-E8AB-422F-9103-769F984452E2}" srcOrd="2" destOrd="0" parTransId="{B1157478-60E7-4949-B79A-261CC066336C}" sibTransId="{BA0E6CF6-4D55-45CE-B4A1-88426E9BD5D3}"/>
    <dgm:cxn modelId="{3A9F3A30-57EF-496B-863C-7D02DAE36A9C}" srcId="{1987A75F-7A9F-4147-B8FA-5BB4AC9206BD}" destId="{CF52FE45-3117-4FB8-B9F0-E5861D841E69}" srcOrd="0" destOrd="0" parTransId="{9345D5C3-31DC-4878-BB80-145868EBA8E8}" sibTransId="{19E54FCE-7E12-468E-8A65-8C72E5E02EA3}"/>
    <dgm:cxn modelId="{2D285B42-1126-4F5E-ADC0-9A367568AD15}" type="presOf" srcId="{E7A3171F-E8AB-422F-9103-769F984452E2}" destId="{8C318087-AE95-4505-B92B-940CDE367717}" srcOrd="0" destOrd="0" presId="urn:microsoft.com/office/officeart/2005/8/layout/process1"/>
    <dgm:cxn modelId="{9320717B-5FA9-4733-B89B-7F54FA475310}" type="presOf" srcId="{19E54FCE-7E12-468E-8A65-8C72E5E02EA3}" destId="{B38810CE-BE25-4775-AF3B-2EA5E1009B55}" srcOrd="1" destOrd="0" presId="urn:microsoft.com/office/officeart/2005/8/layout/process1"/>
    <dgm:cxn modelId="{F669D291-B6F3-4E32-9827-6CCE9CD552C8}" type="presOf" srcId="{236A729B-B716-4259-9E70-5956C1213877}" destId="{4F536160-B4D2-4460-B44E-6716A2D412FA}" srcOrd="1" destOrd="0" presId="urn:microsoft.com/office/officeart/2005/8/layout/process1"/>
    <dgm:cxn modelId="{9CE339B7-E58E-4F8D-B0DE-C687BDD73337}" type="presOf" srcId="{236A729B-B716-4259-9E70-5956C1213877}" destId="{E5608D6E-29EA-4A9A-9F6F-8081EFB07BDA}" srcOrd="0" destOrd="0" presId="urn:microsoft.com/office/officeart/2005/8/layout/process1"/>
    <dgm:cxn modelId="{A60B47B9-FF70-4D81-B358-50FF77893D0D}" type="presOf" srcId="{1987A75F-7A9F-4147-B8FA-5BB4AC9206BD}" destId="{2E438EBA-F4E0-4E93-A5F1-CCE41CBE4275}" srcOrd="0" destOrd="0" presId="urn:microsoft.com/office/officeart/2005/8/layout/process1"/>
    <dgm:cxn modelId="{33B023D2-223E-498C-9BE2-65748FFF117D}" type="presOf" srcId="{19E54FCE-7E12-468E-8A65-8C72E5E02EA3}" destId="{8C4B5F6E-F02C-44DE-83BB-C3D0808C6051}" srcOrd="0" destOrd="0" presId="urn:microsoft.com/office/officeart/2005/8/layout/process1"/>
    <dgm:cxn modelId="{136FB0D5-CB19-4619-A669-6C35E0EC0BBC}" srcId="{1987A75F-7A9F-4147-B8FA-5BB4AC9206BD}" destId="{BF1354B6-40A6-4F97-A8E3-48AC911B6428}" srcOrd="1" destOrd="0" parTransId="{5013D337-CD33-4A68-BFA5-AD30738DDF44}" sibTransId="{236A729B-B716-4259-9E70-5956C1213877}"/>
    <dgm:cxn modelId="{D4BFF5E1-A24D-42CD-AB73-115689B289F9}" type="presOf" srcId="{CF52FE45-3117-4FB8-B9F0-E5861D841E69}" destId="{FD1AA1EB-F54E-4C8C-B18F-60AF1F907E12}" srcOrd="0" destOrd="0" presId="urn:microsoft.com/office/officeart/2005/8/layout/process1"/>
    <dgm:cxn modelId="{886B170D-70B9-4413-A844-F2821B6077F2}" type="presParOf" srcId="{2E438EBA-F4E0-4E93-A5F1-CCE41CBE4275}" destId="{FD1AA1EB-F54E-4C8C-B18F-60AF1F907E12}" srcOrd="0" destOrd="0" presId="urn:microsoft.com/office/officeart/2005/8/layout/process1"/>
    <dgm:cxn modelId="{9F97D2AE-2621-4A17-8EFF-FB23469D8CE4}" type="presParOf" srcId="{2E438EBA-F4E0-4E93-A5F1-CCE41CBE4275}" destId="{8C4B5F6E-F02C-44DE-83BB-C3D0808C6051}" srcOrd="1" destOrd="0" presId="urn:microsoft.com/office/officeart/2005/8/layout/process1"/>
    <dgm:cxn modelId="{1271B76F-5886-497D-A9A7-8C76DE9A821A}" type="presParOf" srcId="{8C4B5F6E-F02C-44DE-83BB-C3D0808C6051}" destId="{B38810CE-BE25-4775-AF3B-2EA5E1009B55}" srcOrd="0" destOrd="0" presId="urn:microsoft.com/office/officeart/2005/8/layout/process1"/>
    <dgm:cxn modelId="{6B814A1F-9C67-4294-934B-E4277C4F2510}" type="presParOf" srcId="{2E438EBA-F4E0-4E93-A5F1-CCE41CBE4275}" destId="{244AE12B-2F48-40AC-9AA8-94F1FB06940C}" srcOrd="2" destOrd="0" presId="urn:microsoft.com/office/officeart/2005/8/layout/process1"/>
    <dgm:cxn modelId="{98A67E3B-B0C3-4D20-8798-DE88B21A053F}" type="presParOf" srcId="{2E438EBA-F4E0-4E93-A5F1-CCE41CBE4275}" destId="{E5608D6E-29EA-4A9A-9F6F-8081EFB07BDA}" srcOrd="3" destOrd="0" presId="urn:microsoft.com/office/officeart/2005/8/layout/process1"/>
    <dgm:cxn modelId="{23B12419-CC1B-4DD9-8971-4EE4B0906D53}" type="presParOf" srcId="{E5608D6E-29EA-4A9A-9F6F-8081EFB07BDA}" destId="{4F536160-B4D2-4460-B44E-6716A2D412FA}" srcOrd="0" destOrd="0" presId="urn:microsoft.com/office/officeart/2005/8/layout/process1"/>
    <dgm:cxn modelId="{49C3B79B-5F80-4BED-B0E6-64D868FCF8CD}" type="presParOf" srcId="{2E438EBA-F4E0-4E93-A5F1-CCE41CBE4275}" destId="{8C318087-AE95-4505-B92B-940CDE36771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AA1EB-F54E-4C8C-B18F-60AF1F907E12}">
      <dsp:nvSpPr>
        <dsp:cNvPr id="0" name=""/>
        <dsp:cNvSpPr/>
      </dsp:nvSpPr>
      <dsp:spPr>
        <a:xfrm>
          <a:off x="7143" y="0"/>
          <a:ext cx="2135187" cy="681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Word </a:t>
          </a:r>
          <a14:m xmlns:a14="http://schemas.microsoft.com/office/drawing/2010/main">
            <m:oMath xmlns:m="http://schemas.openxmlformats.org/officeDocument/2006/math">
              <m:r>
                <a:rPr lang="en-US" sz="1800" b="0" i="1" kern="1200" smtClean="0">
                  <a:latin typeface="Cambria Math" panose="02040503050406030204" pitchFamily="18" charset="0"/>
                </a:rPr>
                <m:t>𝑤</m:t>
              </m:r>
              <m:r>
                <a:rPr lang="en-US" sz="1800" b="0" i="1" kern="1200" smtClean="0">
                  <a:latin typeface="Cambria Math" panose="02040503050406030204" pitchFamily="18" charset="0"/>
                </a:rPr>
                <m:t>∉</m:t>
              </m:r>
              <m:r>
                <a:rPr lang="en-US" sz="1800" b="0" i="1" kern="1200" smtClean="0">
                  <a:latin typeface="Cambria Math" panose="02040503050406030204" pitchFamily="18" charset="0"/>
                </a:rPr>
                <m:t>𝑉</m:t>
              </m:r>
            </m:oMath>
          </a14:m>
          <a:endParaRPr lang="en-GB" sz="1800" kern="1200" dirty="0"/>
        </a:p>
      </dsp:txBody>
      <dsp:txXfrm>
        <a:off x="27090" y="19947"/>
        <a:ext cx="2095293" cy="641142"/>
      </dsp:txXfrm>
    </dsp:sp>
    <dsp:sp modelId="{8C4B5F6E-F02C-44DE-83BB-C3D0808C6051}">
      <dsp:nvSpPr>
        <dsp:cNvPr id="0" name=""/>
        <dsp:cNvSpPr/>
      </dsp:nvSpPr>
      <dsp:spPr>
        <a:xfrm>
          <a:off x="2355850" y="75754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2355850" y="181659"/>
        <a:ext cx="316861" cy="317716"/>
      </dsp:txXfrm>
    </dsp:sp>
    <dsp:sp modelId="{244AE12B-2F48-40AC-9AA8-94F1FB06940C}">
      <dsp:nvSpPr>
        <dsp:cNvPr id="0" name=""/>
        <dsp:cNvSpPr/>
      </dsp:nvSpPr>
      <dsp:spPr>
        <a:xfrm>
          <a:off x="2996406" y="0"/>
          <a:ext cx="2135187" cy="681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Embedding function </a:t>
          </a:r>
          <a14:m xmlns:a14="http://schemas.microsoft.com/office/drawing/2010/main">
            <m:oMath xmlns:m="http://schemas.openxmlformats.org/officeDocument/2006/math">
              <m:r>
                <a:rPr lang="en-US" sz="1800" i="1" kern="1200" dirty="0" smtClean="0">
                  <a:latin typeface="Cambria Math" panose="02040503050406030204" pitchFamily="18" charset="0"/>
                </a:rPr>
                <m:t>𝑓</m:t>
              </m:r>
              <m:r>
                <a:rPr lang="en-US" sz="1800" i="1" kern="1200" dirty="0" smtClean="0">
                  <a:latin typeface="Cambria Math" panose="02040503050406030204" pitchFamily="18" charset="0"/>
                </a:rPr>
                <m:t>(</m:t>
              </m:r>
              <m:r>
                <a:rPr lang="en-US" sz="1800" i="1" kern="1200" dirty="0" smtClean="0">
                  <a:latin typeface="Cambria Math" panose="02040503050406030204" pitchFamily="18" charset="0"/>
                </a:rPr>
                <m:t>𝑤</m:t>
              </m:r>
              <m:r>
                <a:rPr lang="en-US" sz="1800" i="1" kern="1200" dirty="0" smtClean="0">
                  <a:latin typeface="Cambria Math" panose="02040503050406030204" pitchFamily="18" charset="0"/>
                </a:rPr>
                <m:t>)</m:t>
              </m:r>
            </m:oMath>
          </a14:m>
          <a:endParaRPr lang="en-GB" sz="1800" kern="1200" dirty="0"/>
        </a:p>
      </dsp:txBody>
      <dsp:txXfrm>
        <a:off x="3016353" y="19947"/>
        <a:ext cx="2095293" cy="641142"/>
      </dsp:txXfrm>
    </dsp:sp>
    <dsp:sp modelId="{E5608D6E-29EA-4A9A-9F6F-8081EFB07BDA}">
      <dsp:nvSpPr>
        <dsp:cNvPr id="0" name=""/>
        <dsp:cNvSpPr/>
      </dsp:nvSpPr>
      <dsp:spPr>
        <a:xfrm>
          <a:off x="5345112" y="75754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5345112" y="181659"/>
        <a:ext cx="316861" cy="317716"/>
      </dsp:txXfrm>
    </dsp:sp>
    <dsp:sp modelId="{8C318087-AE95-4505-B92B-940CDE367717}">
      <dsp:nvSpPr>
        <dsp:cNvPr id="0" name=""/>
        <dsp:cNvSpPr/>
      </dsp:nvSpPr>
      <dsp:spPr>
        <a:xfrm>
          <a:off x="5985668" y="0"/>
          <a:ext cx="2135187" cy="681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???</a:t>
          </a:r>
          <a:endParaRPr lang="en-GB" sz="1800" kern="1200" dirty="0"/>
        </a:p>
      </dsp:txBody>
      <dsp:txXfrm>
        <a:off x="6005615" y="19947"/>
        <a:ext cx="2095293" cy="6411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AA1EB-F54E-4C8C-B18F-60AF1F907E12}">
      <dsp:nvSpPr>
        <dsp:cNvPr id="0" name=""/>
        <dsp:cNvSpPr/>
      </dsp:nvSpPr>
      <dsp:spPr>
        <a:xfrm>
          <a:off x="7143" y="0"/>
          <a:ext cx="2135187" cy="681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Word </a:t>
          </a:r>
          <a14:m xmlns:a14="http://schemas.microsoft.com/office/drawing/2010/main">
            <m:oMath xmlns:m="http://schemas.openxmlformats.org/officeDocument/2006/math">
              <m:r>
                <a:rPr lang="en-US" sz="1800" b="0" i="1" kern="1200" smtClean="0">
                  <a:latin typeface="Cambria Math" panose="02040503050406030204" pitchFamily="18" charset="0"/>
                </a:rPr>
                <m:t>𝑤</m:t>
              </m:r>
              <m:r>
                <a:rPr lang="en-US" sz="1800" b="0" i="1" kern="1200" smtClean="0">
                  <a:latin typeface="Cambria Math" panose="02040503050406030204" pitchFamily="18" charset="0"/>
                </a:rPr>
                <m:t>∉</m:t>
              </m:r>
              <m:r>
                <a:rPr lang="en-US" sz="1800" b="0" i="1" kern="1200" smtClean="0">
                  <a:latin typeface="Cambria Math" panose="02040503050406030204" pitchFamily="18" charset="0"/>
                </a:rPr>
                <m:t>𝑉</m:t>
              </m:r>
            </m:oMath>
          </a14:m>
          <a:endParaRPr lang="en-GB" sz="1800" kern="1200" dirty="0"/>
        </a:p>
      </dsp:txBody>
      <dsp:txXfrm>
        <a:off x="27090" y="19947"/>
        <a:ext cx="2095293" cy="641142"/>
      </dsp:txXfrm>
    </dsp:sp>
    <dsp:sp modelId="{8C4B5F6E-F02C-44DE-83BB-C3D0808C6051}">
      <dsp:nvSpPr>
        <dsp:cNvPr id="0" name=""/>
        <dsp:cNvSpPr/>
      </dsp:nvSpPr>
      <dsp:spPr>
        <a:xfrm>
          <a:off x="2355850" y="75754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2355850" y="181659"/>
        <a:ext cx="316861" cy="317716"/>
      </dsp:txXfrm>
    </dsp:sp>
    <dsp:sp modelId="{244AE12B-2F48-40AC-9AA8-94F1FB06940C}">
      <dsp:nvSpPr>
        <dsp:cNvPr id="0" name=""/>
        <dsp:cNvSpPr/>
      </dsp:nvSpPr>
      <dsp:spPr>
        <a:xfrm>
          <a:off x="2996406" y="0"/>
          <a:ext cx="2135187" cy="681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Embedding function </a:t>
          </a:r>
          <a14:m xmlns:a14="http://schemas.microsoft.com/office/drawing/2010/main">
            <m:oMath xmlns:m="http://schemas.openxmlformats.org/officeDocument/2006/math">
              <m:r>
                <a:rPr lang="en-US" sz="1800" i="1" kern="1200" dirty="0" smtClean="0">
                  <a:latin typeface="Cambria Math" panose="02040503050406030204" pitchFamily="18" charset="0"/>
                </a:rPr>
                <m:t>𝑓</m:t>
              </m:r>
              <m:r>
                <a:rPr lang="en-US" sz="1800" i="1" kern="1200" dirty="0" smtClean="0">
                  <a:latin typeface="Cambria Math" panose="02040503050406030204" pitchFamily="18" charset="0"/>
                </a:rPr>
                <m:t>(</m:t>
              </m:r>
              <m:r>
                <a:rPr lang="en-US" sz="1800" i="1" kern="1200" dirty="0" smtClean="0">
                  <a:latin typeface="Cambria Math" panose="02040503050406030204" pitchFamily="18" charset="0"/>
                </a:rPr>
                <m:t>𝑤</m:t>
              </m:r>
              <m:r>
                <a:rPr lang="en-US" sz="1800" i="1" kern="1200" dirty="0" smtClean="0">
                  <a:latin typeface="Cambria Math" panose="02040503050406030204" pitchFamily="18" charset="0"/>
                </a:rPr>
                <m:t>)</m:t>
              </m:r>
            </m:oMath>
          </a14:m>
          <a:endParaRPr lang="en-GB" sz="1800" kern="1200" dirty="0"/>
        </a:p>
      </dsp:txBody>
      <dsp:txXfrm>
        <a:off x="3016353" y="19947"/>
        <a:ext cx="2095293" cy="641142"/>
      </dsp:txXfrm>
    </dsp:sp>
    <dsp:sp modelId="{E5608D6E-29EA-4A9A-9F6F-8081EFB07BDA}">
      <dsp:nvSpPr>
        <dsp:cNvPr id="0" name=""/>
        <dsp:cNvSpPr/>
      </dsp:nvSpPr>
      <dsp:spPr>
        <a:xfrm>
          <a:off x="5345112" y="75754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5345112" y="181659"/>
        <a:ext cx="316861" cy="317716"/>
      </dsp:txXfrm>
    </dsp:sp>
    <dsp:sp modelId="{8C318087-AE95-4505-B92B-940CDE367717}">
      <dsp:nvSpPr>
        <dsp:cNvPr id="0" name=""/>
        <dsp:cNvSpPr/>
      </dsp:nvSpPr>
      <dsp:spPr>
        <a:xfrm>
          <a:off x="5985668" y="0"/>
          <a:ext cx="2135187" cy="681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???</a:t>
          </a:r>
          <a:endParaRPr lang="en-GB" sz="1800" kern="1200" dirty="0"/>
        </a:p>
      </dsp:txBody>
      <dsp:txXfrm>
        <a:off x="6005615" y="19947"/>
        <a:ext cx="2095293" cy="6411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01846-4C37-428C-ADC4-5C00575B65A3}">
      <dsp:nvSpPr>
        <dsp:cNvPr id="0" name=""/>
        <dsp:cNvSpPr/>
      </dsp:nvSpPr>
      <dsp:spPr>
        <a:xfrm>
          <a:off x="428481" y="830888"/>
          <a:ext cx="1442999" cy="721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Unhappiness</a:t>
          </a:r>
        </a:p>
      </dsp:txBody>
      <dsp:txXfrm>
        <a:off x="449613" y="852020"/>
        <a:ext cx="1400735" cy="679235"/>
      </dsp:txXfrm>
    </dsp:sp>
    <dsp:sp modelId="{FE313E9F-2157-4B8E-AD21-3747D4B35191}">
      <dsp:nvSpPr>
        <dsp:cNvPr id="0" name=""/>
        <dsp:cNvSpPr/>
      </dsp:nvSpPr>
      <dsp:spPr>
        <a:xfrm rot="18289469">
          <a:off x="1654709" y="749529"/>
          <a:ext cx="101074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10743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34812" y="751507"/>
        <a:ext cx="50537" cy="50537"/>
      </dsp:txXfrm>
    </dsp:sp>
    <dsp:sp modelId="{DDF8173D-D4B5-4DC8-93E0-17F2EE19C593}">
      <dsp:nvSpPr>
        <dsp:cNvPr id="0" name=""/>
        <dsp:cNvSpPr/>
      </dsp:nvSpPr>
      <dsp:spPr>
        <a:xfrm>
          <a:off x="2448680" y="1163"/>
          <a:ext cx="1442999" cy="721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Un</a:t>
          </a:r>
        </a:p>
      </dsp:txBody>
      <dsp:txXfrm>
        <a:off x="2469812" y="22295"/>
        <a:ext cx="1400735" cy="679235"/>
      </dsp:txXfrm>
    </dsp:sp>
    <dsp:sp modelId="{9B792D00-BFF8-404D-8106-0E6113436307}">
      <dsp:nvSpPr>
        <dsp:cNvPr id="0" name=""/>
        <dsp:cNvSpPr/>
      </dsp:nvSpPr>
      <dsp:spPr>
        <a:xfrm>
          <a:off x="1871481" y="1164392"/>
          <a:ext cx="57719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577199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45651" y="1177208"/>
        <a:ext cx="28859" cy="28859"/>
      </dsp:txXfrm>
    </dsp:sp>
    <dsp:sp modelId="{1DF672B8-8AAA-4174-BAE7-F55D91129945}">
      <dsp:nvSpPr>
        <dsp:cNvPr id="0" name=""/>
        <dsp:cNvSpPr/>
      </dsp:nvSpPr>
      <dsp:spPr>
        <a:xfrm>
          <a:off x="2448680" y="830888"/>
          <a:ext cx="1442999" cy="721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Happi</a:t>
          </a:r>
        </a:p>
      </dsp:txBody>
      <dsp:txXfrm>
        <a:off x="2469812" y="852020"/>
        <a:ext cx="1400735" cy="679235"/>
      </dsp:txXfrm>
    </dsp:sp>
    <dsp:sp modelId="{508A9D85-7BC2-4897-8D57-3D1F14F45BA0}">
      <dsp:nvSpPr>
        <dsp:cNvPr id="0" name=""/>
        <dsp:cNvSpPr/>
      </dsp:nvSpPr>
      <dsp:spPr>
        <a:xfrm rot="3310531">
          <a:off x="1654709" y="1579254"/>
          <a:ext cx="101074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10743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34812" y="1581232"/>
        <a:ext cx="50537" cy="50537"/>
      </dsp:txXfrm>
    </dsp:sp>
    <dsp:sp modelId="{E6DF223F-0E09-44F0-AABD-243699931DEC}">
      <dsp:nvSpPr>
        <dsp:cNvPr id="0" name=""/>
        <dsp:cNvSpPr/>
      </dsp:nvSpPr>
      <dsp:spPr>
        <a:xfrm>
          <a:off x="2448680" y="1660613"/>
          <a:ext cx="1442999" cy="721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Ness</a:t>
          </a:r>
        </a:p>
      </dsp:txBody>
      <dsp:txXfrm>
        <a:off x="2469812" y="1681745"/>
        <a:ext cx="1400735" cy="679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365-F842-4E76-AC24-5BC5382A082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01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365-F842-4E76-AC24-5BC5382A082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17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B098C-926C-555E-3371-84132DA634F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D57FA1-8221-964C-CFEB-A7E6E06378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text.cc/docs/en/unsupervised-tutorial.html" TargetMode="External"/><Relationship Id="rId2" Type="http://schemas.openxmlformats.org/officeDocument/2006/relationships/hyperlink" Target="https://github.com/facebookresearch/fastText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.allennlp.org/" TargetMode="External"/><Relationship Id="rId2" Type="http://schemas.openxmlformats.org/officeDocument/2006/relationships/hyperlink" Target="https://allennlp.org/elmo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gi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0.png"/><Relationship Id="rId7" Type="http://schemas.openxmlformats.org/officeDocument/2006/relationships/image" Target="../media/image26.gif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5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diagramLayout" Target="../diagrams/layout3.xml"/><Relationship Id="rId7" Type="http://schemas.openxmlformats.org/officeDocument/2006/relationships/hyperlink" Target="https://gpt-tokenizer.dev/" TargetMode="Externa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310.4546" TargetMode="External"/><Relationship Id="rId2" Type="http://schemas.openxmlformats.org/officeDocument/2006/relationships/hyperlink" Target="https://arxiv.org/abs/1301.378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lp.stanford.edu/projects/glove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7.04606" TargetMode="External"/><Relationship Id="rId2" Type="http://schemas.openxmlformats.org/officeDocument/2006/relationships/hyperlink" Target="https://arxiv.org/abs/1301.378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802.05365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hyperlink" Target="https://scholar.google.com/citations?user=K5nCPZwAAAAJ&amp;hl=en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0.png"/><Relationship Id="rId7" Type="http://schemas.openxmlformats.org/officeDocument/2006/relationships/image" Target="../media/image34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gif"/><Relationship Id="rId5" Type="http://schemas.openxmlformats.org/officeDocument/2006/relationships/image" Target="../media/image33.png"/><Relationship Id="rId4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W8-S2 The Embedding Problem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  <a:p>
            <a:endParaRPr lang="en-GB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8)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Why are </a:t>
            </a:r>
            <a:r>
              <a:rPr lang="en-US" b="1" dirty="0"/>
              <a:t>embeddings</a:t>
            </a:r>
            <a:r>
              <a:rPr lang="en-US" dirty="0"/>
              <a:t> an essential component of Neural Networks (NNs)?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are </a:t>
            </a:r>
            <a:r>
              <a:rPr lang="en-US" b="1" dirty="0"/>
              <a:t>good embeddings </a:t>
            </a:r>
            <a:r>
              <a:rPr lang="en-US" dirty="0"/>
              <a:t>difficult to produce?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the </a:t>
            </a:r>
            <a:r>
              <a:rPr lang="en-US" b="1" dirty="0"/>
              <a:t>conventional approaches to embeddings in NLP? </a:t>
            </a:r>
            <a:br>
              <a:rPr lang="en-US" dirty="0"/>
            </a:br>
            <a:r>
              <a:rPr lang="en-US" dirty="0"/>
              <a:t>What can we </a:t>
            </a:r>
            <a:r>
              <a:rPr lang="en-US" b="1" dirty="0"/>
              <a:t>learn from these approaches?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the </a:t>
            </a:r>
            <a:r>
              <a:rPr lang="en-US" b="1" dirty="0"/>
              <a:t>typical issues with embeddings </a:t>
            </a:r>
            <a:r>
              <a:rPr lang="en-US" dirty="0"/>
              <a:t>and how do we address them?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State-of-the-art</a:t>
            </a:r>
            <a:r>
              <a:rPr lang="en-US" dirty="0"/>
              <a:t> of current embedding problems, and </a:t>
            </a:r>
            <a:r>
              <a:rPr lang="en-US" b="1" dirty="0"/>
              <a:t>open questions</a:t>
            </a:r>
            <a:r>
              <a:rPr lang="en-US" dirty="0"/>
              <a:t> in research.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50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8)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we evaluate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quality/performance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of an embedding?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Can embeddings be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biased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Can we help the neural networks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identify the important parts of the context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to focus on?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attention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in Neural Networks? What are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transformers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in Neural Networks?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the typical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uses for attention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these days?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limits of attention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and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current research directions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on this topic?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26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Bag of Words (</a:t>
            </a:r>
            <a:r>
              <a:rPr lang="en-US" dirty="0" err="1"/>
              <a:t>CBoW</a:t>
            </a:r>
            <a:r>
              <a:rPr lang="en-US" dirty="0"/>
              <a:t>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 (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CBoW</a:t>
                </a:r>
                <a:r>
                  <a:rPr lang="en-US" b="1" dirty="0"/>
                  <a:t>):</a:t>
                </a: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B050"/>
                    </a:solidFill>
                  </a:rPr>
                  <a:t>CBoW</a:t>
                </a:r>
                <a:r>
                  <a:rPr lang="en-US" dirty="0"/>
                  <a:t> (introduced in [Mikolov2013]) is a first feature representation model, which can be used for word embedding.</a:t>
                </a:r>
              </a:p>
              <a:p>
                <a:pPr marL="0" indent="0">
                  <a:buNone/>
                </a:pPr>
                <a:r>
                  <a:rPr lang="en-US" dirty="0"/>
                  <a:t>Using a large text corpus for training, it attempts to learn how to predict the word in the middle (with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of a sequence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dirty="0"/>
                  <a:t>words.</a:t>
                </a:r>
              </a:p>
              <a:p>
                <a:pPr marL="0" indent="0"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b="1" dirty="0"/>
                  <a:t>span</a:t>
                </a:r>
                <a:r>
                  <a:rPr lang="en-US" dirty="0"/>
                  <a:t> of the language model.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891C593-DEAD-94D7-FFE5-B6949005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393002"/>
            <a:ext cx="5638800" cy="32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7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837A11-5728-40C8-8D74-30715582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A06BBE-EFF2-42F9-9B38-6A07931BEE5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 (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SkipGram</a:t>
                </a:r>
                <a:r>
                  <a:rPr lang="en-US" b="1" dirty="0"/>
                  <a:t>):</a:t>
                </a:r>
              </a:p>
              <a:p>
                <a:pPr marL="0" indent="0">
                  <a:buNone/>
                </a:pPr>
                <a:r>
                  <a:rPr lang="en-US" dirty="0"/>
                  <a:t>Another interesting learning task one could use to train an embedding, would consist of using a single work and attempt to predict some possible surrounding words. In other words, take a middle word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try to predict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surrounding words.</a:t>
                </a:r>
              </a:p>
              <a:p>
                <a:pPr marL="0" indent="0">
                  <a:buNone/>
                </a:pPr>
                <a:r>
                  <a:rPr lang="en-US" dirty="0"/>
                  <a:t>This is what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SkipGram</a:t>
                </a:r>
                <a:r>
                  <a:rPr lang="en-US" dirty="0"/>
                  <a:t> attempts to reproduce.</a:t>
                </a:r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A06BBE-EFF2-42F9-9B38-6A07931BEE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3"/>
                <a:stretch>
                  <a:fillRect l="-2471" t="-1937" r="-3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>
            <a:extLst>
              <a:ext uri="{FF2B5EF4-FFF2-40B4-BE49-F238E27FC236}">
                <a16:creationId xmlns:a16="http://schemas.microsoft.com/office/drawing/2014/main" id="{C8C625BC-B6D1-EDC4-B4E1-A989A0B01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22415"/>
            <a:ext cx="6096000" cy="331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5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550009F-5FCB-9C05-7302-5EF5EF8E3AF2}"/>
              </a:ext>
            </a:extLst>
          </p:cNvPr>
          <p:cNvCxnSpPr>
            <a:cxnSpLocks/>
          </p:cNvCxnSpPr>
          <p:nvPr/>
        </p:nvCxnSpPr>
        <p:spPr>
          <a:xfrm>
            <a:off x="1275405" y="3331210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DAF8EF3-3BCB-A49C-6BC1-5440FB2BDC6B}"/>
              </a:ext>
            </a:extLst>
          </p:cNvPr>
          <p:cNvSpPr/>
          <p:nvPr/>
        </p:nvSpPr>
        <p:spPr>
          <a:xfrm>
            <a:off x="933279" y="2723545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578753-DB56-0654-604A-EA2532B2CA0B}"/>
              </a:ext>
            </a:extLst>
          </p:cNvPr>
          <p:cNvSpPr/>
          <p:nvPr/>
        </p:nvSpPr>
        <p:spPr>
          <a:xfrm>
            <a:off x="1038260" y="30291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E40681-A648-B930-5817-5D5533DAFE63}"/>
              </a:ext>
            </a:extLst>
          </p:cNvPr>
          <p:cNvSpPr/>
          <p:nvPr/>
        </p:nvSpPr>
        <p:spPr>
          <a:xfrm>
            <a:off x="1038260" y="350705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3F39CC-EC68-109A-C8F6-3056FD86323A}"/>
              </a:ext>
            </a:extLst>
          </p:cNvPr>
          <p:cNvSpPr txBox="1"/>
          <p:nvPr/>
        </p:nvSpPr>
        <p:spPr>
          <a:xfrm rot="5400000">
            <a:off x="1009251" y="3101083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F4203-25DB-78BB-B6E1-6F680A48E767}"/>
              </a:ext>
            </a:extLst>
          </p:cNvPr>
          <p:cNvSpPr/>
          <p:nvPr/>
        </p:nvSpPr>
        <p:spPr>
          <a:xfrm>
            <a:off x="1038260" y="2806092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73B49A-EFB1-AC33-0334-9DD787CABBEB}"/>
              </a:ext>
            </a:extLst>
          </p:cNvPr>
          <p:cNvSpPr/>
          <p:nvPr/>
        </p:nvSpPr>
        <p:spPr>
          <a:xfrm>
            <a:off x="1038260" y="3731047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13E547-046F-FAB3-B490-40E4E25EF6F5}"/>
              </a:ext>
            </a:extLst>
          </p:cNvPr>
          <p:cNvSpPr txBox="1"/>
          <p:nvPr/>
        </p:nvSpPr>
        <p:spPr>
          <a:xfrm>
            <a:off x="97536" y="3162511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Give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9FAB17-4BD4-31B5-01F6-14B2716E44D3}"/>
                  </a:ext>
                </a:extLst>
              </p:cNvPr>
              <p:cNvSpPr txBox="1"/>
              <p:nvPr/>
            </p:nvSpPr>
            <p:spPr>
              <a:xfrm>
                <a:off x="1212572" y="2903907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9FAB17-4BD4-31B5-01F6-14B2716E4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572" y="2903907"/>
                <a:ext cx="5431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DE97B8-EEDB-8665-D315-40E38BD9818E}"/>
                  </a:ext>
                </a:extLst>
              </p:cNvPr>
              <p:cNvSpPr/>
              <p:nvPr/>
            </p:nvSpPr>
            <p:spPr>
              <a:xfrm>
                <a:off x="2544143" y="890241"/>
                <a:ext cx="1926236" cy="366660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rgbClr val="00B050"/>
                    </a:solidFill>
                  </a:rPr>
                  <a:t>Dimensionality Reduction Layer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𝑾𝒆</m:t>
                      </m:r>
                    </m:oMath>
                  </m:oMathPara>
                </a14:m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  <a:p>
                <a:pPr algn="ctr"/>
                <a:endParaRPr lang="en-GB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DE97B8-EEDB-8665-D315-40E38BD98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43" y="890241"/>
                <a:ext cx="1926236" cy="3666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33525924-ECBB-C1F8-09E0-929338B56208}"/>
              </a:ext>
            </a:extLst>
          </p:cNvPr>
          <p:cNvSpPr/>
          <p:nvPr/>
        </p:nvSpPr>
        <p:spPr>
          <a:xfrm>
            <a:off x="3330280" y="2722619"/>
            <a:ext cx="353962" cy="123149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10DADB9-7588-8EA6-299D-C0FBFE1E73D3}"/>
                  </a:ext>
                </a:extLst>
              </p:cNvPr>
              <p:cNvSpPr txBox="1"/>
              <p:nvPr/>
            </p:nvSpPr>
            <p:spPr>
              <a:xfrm>
                <a:off x="3684242" y="2621426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SG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10DADB9-7588-8EA6-299D-C0FBFE1E7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242" y="2621426"/>
                <a:ext cx="5431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5E7B0A41-C8B0-05E9-145B-F7DDAB1B8560}"/>
              </a:ext>
            </a:extLst>
          </p:cNvPr>
          <p:cNvSpPr txBox="1"/>
          <p:nvPr/>
        </p:nvSpPr>
        <p:spPr>
          <a:xfrm>
            <a:off x="10939937" y="107672"/>
            <a:ext cx="1436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0" dirty="0">
                <a:solidFill>
                  <a:srgbClr val="FF0000"/>
                </a:solidFill>
              </a:rPr>
              <a:t>Predict by choosing word with highest probability, e.g. “Never”</a:t>
            </a:r>
            <a:endParaRPr lang="en-S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F700E8F1-71A4-A6DD-895F-7B0A08BEBA9F}"/>
                  </a:ext>
                </a:extLst>
              </p:cNvPr>
              <p:cNvSpPr/>
              <p:nvPr/>
            </p:nvSpPr>
            <p:spPr>
              <a:xfrm>
                <a:off x="8415910" y="104931"/>
                <a:ext cx="2315999" cy="40309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endParaRPr lang="en-GB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b="1" dirty="0">
                    <a:solidFill>
                      <a:srgbClr val="FF0000"/>
                    </a:solidFill>
                  </a:rPr>
                  <a:t>Positional Argmax Layer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𝒂𝒓𝒈𝒎𝒂𝒙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F700E8F1-71A4-A6DD-895F-7B0A08BEB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910" y="104931"/>
                <a:ext cx="2315999" cy="4030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ectangle 121">
            <a:extLst>
              <a:ext uri="{FF2B5EF4-FFF2-40B4-BE49-F238E27FC236}">
                <a16:creationId xmlns:a16="http://schemas.microsoft.com/office/drawing/2014/main" id="{441818DE-5BC3-0782-9DFC-172EBC5379EA}"/>
              </a:ext>
            </a:extLst>
          </p:cNvPr>
          <p:cNvSpPr/>
          <p:nvPr/>
        </p:nvSpPr>
        <p:spPr>
          <a:xfrm>
            <a:off x="9390394" y="266095"/>
            <a:ext cx="353962" cy="1231491"/>
          </a:xfrm>
          <a:prstGeom prst="rect">
            <a:avLst/>
          </a:prstGeom>
          <a:solidFill>
            <a:srgbClr val="FF616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D275C86F-4EDD-2EC0-34C9-BD3A8793E7DB}"/>
              </a:ext>
            </a:extLst>
          </p:cNvPr>
          <p:cNvSpPr/>
          <p:nvPr/>
        </p:nvSpPr>
        <p:spPr>
          <a:xfrm>
            <a:off x="9495375" y="571711"/>
            <a:ext cx="144000" cy="14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964E082-7A67-1D49-98D8-D5FDED6E19A9}"/>
              </a:ext>
            </a:extLst>
          </p:cNvPr>
          <p:cNvSpPr/>
          <p:nvPr/>
        </p:nvSpPr>
        <p:spPr>
          <a:xfrm>
            <a:off x="9495375" y="1049608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3BA14B3-F87D-0B17-59B5-58161846D99B}"/>
              </a:ext>
            </a:extLst>
          </p:cNvPr>
          <p:cNvSpPr txBox="1"/>
          <p:nvPr/>
        </p:nvSpPr>
        <p:spPr>
          <a:xfrm rot="5400000">
            <a:off x="9466366" y="643633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664348D0-1F45-7BDB-B9D7-64748EC215BA}"/>
              </a:ext>
            </a:extLst>
          </p:cNvPr>
          <p:cNvSpPr/>
          <p:nvPr/>
        </p:nvSpPr>
        <p:spPr>
          <a:xfrm>
            <a:off x="9495375" y="348642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6E15805-B6C9-E858-8639-13F94F663570}"/>
              </a:ext>
            </a:extLst>
          </p:cNvPr>
          <p:cNvSpPr/>
          <p:nvPr/>
        </p:nvSpPr>
        <p:spPr>
          <a:xfrm>
            <a:off x="9495375" y="1273597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EDBAB0A-6B03-8C1A-9821-0E9CAC3CF786}"/>
                  </a:ext>
                </a:extLst>
              </p:cNvPr>
              <p:cNvSpPr txBox="1"/>
              <p:nvPr/>
            </p:nvSpPr>
            <p:spPr>
              <a:xfrm>
                <a:off x="8415910" y="1527505"/>
                <a:ext cx="2315999" cy="1212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𝑤𝑜𝑟</m:t>
                      </m:r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𝑝𝑜𝑠𝑖𝑡𝑖𝑜𝑛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EDBAB0A-6B03-8C1A-9821-0E9CAC3CF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910" y="1527505"/>
                <a:ext cx="2315999" cy="1212511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5F670F0-1D2E-62A3-67FE-CC0379C1CEE5}"/>
              </a:ext>
            </a:extLst>
          </p:cNvPr>
          <p:cNvCxnSpPr>
            <a:cxnSpLocks/>
          </p:cNvCxnSpPr>
          <p:nvPr/>
        </p:nvCxnSpPr>
        <p:spPr>
          <a:xfrm>
            <a:off x="9744356" y="881841"/>
            <a:ext cx="1195581" cy="84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F8AFB8F-5E16-CEAF-8303-236A8ADE48E3}"/>
                  </a:ext>
                </a:extLst>
              </p:cNvPr>
              <p:cNvSpPr txBox="1"/>
              <p:nvPr/>
            </p:nvSpPr>
            <p:spPr>
              <a:xfrm>
                <a:off x="7986874" y="4367438"/>
                <a:ext cx="2953063" cy="1513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𝑵𝒆𝒗𝒆𝒓</m:t>
                          </m:r>
                        </m:e>
                      </m:d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1,871</m:t>
                          </m:r>
                        </m:sub>
                      </m:sSub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𝐵𝑙𝑜𝑤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 = 0.02</m:t>
                      </m:r>
                    </m:oMath>
                  </m:oMathPara>
                </a14:m>
                <a:endParaRPr lang="en-GB" i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1,872</m:t>
                          </m:r>
                        </m:sub>
                      </m:sSub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𝐺𝑖𝑣𝑒</m:t>
                      </m:r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 = 0.01</m:t>
                      </m:r>
                    </m:oMath>
                  </m:oMathPara>
                </a14:m>
                <a:endParaRPr lang="en-GB" i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SG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F8AFB8F-5E16-CEAF-8303-236A8ADE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874" y="4367438"/>
                <a:ext cx="2953063" cy="15138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9D5F628-8BF2-F5A8-74D6-AE20A4F03CE3}"/>
                  </a:ext>
                </a:extLst>
              </p:cNvPr>
              <p:cNvSpPr/>
              <p:nvPr/>
            </p:nvSpPr>
            <p:spPr>
              <a:xfrm>
                <a:off x="5440575" y="104931"/>
                <a:ext cx="1926236" cy="6648138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rgbClr val="7030A0"/>
                    </a:solidFill>
                  </a:rPr>
                  <a:t>Surrounding Words Prediction Layer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en-SG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9D5F628-8BF2-F5A8-74D6-AE20A4F03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575" y="104931"/>
                <a:ext cx="1926236" cy="6648138"/>
              </a:xfrm>
              <a:prstGeom prst="rect">
                <a:avLst/>
              </a:prstGeom>
              <a:blipFill>
                <a:blip r:embed="rId8"/>
                <a:stretch>
                  <a:fillRect r="-1242"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12F14E8-5AD0-15BE-66E1-49F700C606B3}"/>
              </a:ext>
            </a:extLst>
          </p:cNvPr>
          <p:cNvSpPr/>
          <p:nvPr/>
        </p:nvSpPr>
        <p:spPr>
          <a:xfrm>
            <a:off x="6222242" y="261884"/>
            <a:ext cx="353962" cy="1231491"/>
          </a:xfrm>
          <a:prstGeom prst="rect">
            <a:avLst/>
          </a:prstGeom>
          <a:solidFill>
            <a:srgbClr val="D632CA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7E58E6-904B-8B54-9ADA-E12EEC3F27D9}"/>
              </a:ext>
            </a:extLst>
          </p:cNvPr>
          <p:cNvSpPr/>
          <p:nvPr/>
        </p:nvSpPr>
        <p:spPr>
          <a:xfrm>
            <a:off x="6222242" y="1600611"/>
            <a:ext cx="353962" cy="1231491"/>
          </a:xfrm>
          <a:prstGeom prst="rect">
            <a:avLst/>
          </a:prstGeom>
          <a:solidFill>
            <a:srgbClr val="D632CA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E780C-EBAE-179C-7B77-0B3772597B09}"/>
              </a:ext>
            </a:extLst>
          </p:cNvPr>
          <p:cNvSpPr/>
          <p:nvPr/>
        </p:nvSpPr>
        <p:spPr>
          <a:xfrm>
            <a:off x="6218143" y="4035728"/>
            <a:ext cx="353962" cy="1231491"/>
          </a:xfrm>
          <a:prstGeom prst="rect">
            <a:avLst/>
          </a:prstGeom>
          <a:solidFill>
            <a:srgbClr val="D632CA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2E7A0-B63E-CDF3-5AE8-6B29DE3E8E4F}"/>
              </a:ext>
            </a:extLst>
          </p:cNvPr>
          <p:cNvSpPr/>
          <p:nvPr/>
        </p:nvSpPr>
        <p:spPr>
          <a:xfrm>
            <a:off x="6226712" y="5385338"/>
            <a:ext cx="353962" cy="1231491"/>
          </a:xfrm>
          <a:prstGeom prst="rect">
            <a:avLst/>
          </a:prstGeom>
          <a:solidFill>
            <a:srgbClr val="D632CA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8DEBBB-1835-AB4D-95BC-907B3DEB9C0B}"/>
                  </a:ext>
                </a:extLst>
              </p:cNvPr>
              <p:cNvSpPr txBox="1"/>
              <p:nvPr/>
            </p:nvSpPr>
            <p:spPr>
              <a:xfrm>
                <a:off x="6560569" y="424906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8DEBBB-1835-AB4D-95BC-907B3DEB9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569" y="424906"/>
                <a:ext cx="5431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AD0D23-F4F2-59C8-6570-5262EC3C1433}"/>
                  </a:ext>
                </a:extLst>
              </p:cNvPr>
              <p:cNvSpPr txBox="1"/>
              <p:nvPr/>
            </p:nvSpPr>
            <p:spPr>
              <a:xfrm>
                <a:off x="6560569" y="1788130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AD0D23-F4F2-59C8-6570-5262EC3C1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569" y="1788130"/>
                <a:ext cx="5431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342BC3-125C-887F-227B-FCC8DD725A4F}"/>
                  </a:ext>
                </a:extLst>
              </p:cNvPr>
              <p:cNvSpPr txBox="1"/>
              <p:nvPr/>
            </p:nvSpPr>
            <p:spPr>
              <a:xfrm>
                <a:off x="6553505" y="4213856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342BC3-125C-887F-227B-FCC8DD725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505" y="4213856"/>
                <a:ext cx="5431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6C845C-DB81-7847-0439-3BD13845C8F0}"/>
                  </a:ext>
                </a:extLst>
              </p:cNvPr>
              <p:cNvSpPr txBox="1"/>
              <p:nvPr/>
            </p:nvSpPr>
            <p:spPr>
              <a:xfrm>
                <a:off x="6553294" y="5570922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6C845C-DB81-7847-0439-3BD13845C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94" y="5570922"/>
                <a:ext cx="54314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8E9943-3347-64DC-D518-00A2960B3C54}"/>
              </a:ext>
            </a:extLst>
          </p:cNvPr>
          <p:cNvCxnSpPr>
            <a:cxnSpLocks/>
          </p:cNvCxnSpPr>
          <p:nvPr/>
        </p:nvCxnSpPr>
        <p:spPr>
          <a:xfrm>
            <a:off x="6580674" y="2221547"/>
            <a:ext cx="1195581" cy="84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1D5389-E377-DB7C-A7DD-AA9ED674F00F}"/>
              </a:ext>
            </a:extLst>
          </p:cNvPr>
          <p:cNvCxnSpPr>
            <a:cxnSpLocks/>
          </p:cNvCxnSpPr>
          <p:nvPr/>
        </p:nvCxnSpPr>
        <p:spPr>
          <a:xfrm>
            <a:off x="6580674" y="4647273"/>
            <a:ext cx="1195581" cy="84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8666F2-9384-3DCD-4D80-0BF40EFE98D5}"/>
              </a:ext>
            </a:extLst>
          </p:cNvPr>
          <p:cNvCxnSpPr>
            <a:cxnSpLocks/>
          </p:cNvCxnSpPr>
          <p:nvPr/>
        </p:nvCxnSpPr>
        <p:spPr>
          <a:xfrm>
            <a:off x="6583087" y="6001744"/>
            <a:ext cx="1195581" cy="84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0EBBAC-4A7F-D7FD-55C5-5E283DD58600}"/>
              </a:ext>
            </a:extLst>
          </p:cNvPr>
          <p:cNvCxnSpPr>
            <a:cxnSpLocks/>
          </p:cNvCxnSpPr>
          <p:nvPr/>
        </p:nvCxnSpPr>
        <p:spPr>
          <a:xfrm>
            <a:off x="6566533" y="847856"/>
            <a:ext cx="282386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0BF9CD1-5BB0-95F5-4C20-A6A2E12662A6}"/>
              </a:ext>
            </a:extLst>
          </p:cNvPr>
          <p:cNvCxnSpPr>
            <a:cxnSpLocks/>
            <a:stCxn id="68" idx="3"/>
            <a:endCxn id="3" idx="1"/>
          </p:cNvCxnSpPr>
          <p:nvPr/>
        </p:nvCxnSpPr>
        <p:spPr>
          <a:xfrm flipV="1">
            <a:off x="3684242" y="877630"/>
            <a:ext cx="2538000" cy="24607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88900B-8952-3F6E-519B-E09FCDF082AA}"/>
              </a:ext>
            </a:extLst>
          </p:cNvPr>
          <p:cNvCxnSpPr>
            <a:cxnSpLocks/>
            <a:stCxn id="68" idx="3"/>
            <a:endCxn id="5" idx="1"/>
          </p:cNvCxnSpPr>
          <p:nvPr/>
        </p:nvCxnSpPr>
        <p:spPr>
          <a:xfrm flipV="1">
            <a:off x="3684242" y="2216357"/>
            <a:ext cx="2538000" cy="112200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367F488-F4A7-689C-2122-7DB0C9D6F236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80975" y="3338365"/>
            <a:ext cx="2537168" cy="13131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32F2D2-4002-DEA3-7CB7-F2AA79EAA21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680975" y="3338365"/>
            <a:ext cx="2545737" cy="266271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91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8E989-731A-4768-8BF7-08997F555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Consider the text: “I have a dream that one day this nation will rise up and live out the true meaning of its creed: We hold these truths to be self-evident, that all men are created equal. I have a dream that one day on the red hills of Georgia, the sons of former slaves and </a:t>
            </a:r>
            <a:r>
              <a:rPr lang="en-US" b="1" dirty="0">
                <a:solidFill>
                  <a:srgbClr val="00B050"/>
                </a:solidFill>
              </a:rPr>
              <a:t>the sons </a:t>
            </a:r>
            <a:r>
              <a:rPr lang="en-US" b="1" dirty="0">
                <a:solidFill>
                  <a:srgbClr val="7030A0"/>
                </a:solidFill>
              </a:rPr>
              <a:t>of</a:t>
            </a:r>
            <a:r>
              <a:rPr lang="en-US" b="1" dirty="0">
                <a:solidFill>
                  <a:srgbClr val="00B050"/>
                </a:solidFill>
              </a:rPr>
              <a:t> former slave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owners will be able to sit down together at the table of brotherhood.”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6405373-B692-4F45-A52E-798519B259B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5"/>
                <a:ext cx="6019801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0" dirty="0"/>
                  <a:t>0. We will use a sliding window, with e.g. size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i="0" dirty="0"/>
                  <a:t>, to generate pairs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0" dirty="0"/>
                  <a:t> values to train our </a:t>
                </a:r>
                <a:r>
                  <a:rPr lang="en-GB" b="0" i="0" dirty="0" err="1"/>
                  <a:t>SkipGram</a:t>
                </a:r>
                <a:r>
                  <a:rPr lang="en-US" i="0" dirty="0"/>
                  <a:t> on.</a:t>
                </a:r>
                <a:endParaRPr lang="en-US" dirty="0"/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h𝑎𝑣𝑒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𝑑𝑟𝑒𝑎𝑚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𝑡h𝑎𝑡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h𝑎𝑣𝑒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𝑑𝑟𝑒𝑎𝑚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𝑠𝑜𝑛𝑠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𝑓𝑜𝑟𝑚𝑒𝑟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𝑠𝑙𝑎𝑣𝑒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𝑜𝑓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6405373-B692-4F45-A52E-798519B25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5"/>
                <a:ext cx="6019801" cy="5032374"/>
              </a:xfrm>
              <a:blipFill>
                <a:blip r:embed="rId2"/>
                <a:stretch>
                  <a:fillRect l="-2024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143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Then, build a simple NN, which takes a middle word, as one-hot embedding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Add one fully-connected layer with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dirty="0"/>
                  <a:t>. 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denotes the size of the new word embedding and is often chosen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≪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After training,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will be used as the new word embedding to replace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  <a:blipFill>
                <a:blip r:embed="rId3"/>
                <a:stretch>
                  <a:fillRect l="-2462" t="-2785" r="-32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6B72A5D-A801-FDD6-B9AC-04D874FC97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166" r="62308" b="28978"/>
          <a:stretch/>
        </p:blipFill>
        <p:spPr>
          <a:xfrm>
            <a:off x="6643077" y="1578706"/>
            <a:ext cx="5299014" cy="465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85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410200" cy="503237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The final layer is a Linear layer (or an Embedding Layer), trainable and produces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output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With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The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will then pass through a </a:t>
                </a:r>
                <a:r>
                  <a:rPr lang="en-GB" dirty="0" err="1"/>
                  <a:t>softmax</a:t>
                </a:r>
                <a:r>
                  <a:rPr lang="en-GB" dirty="0"/>
                  <a:t> and will give probabilities over which word should be predicted in position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410200" cy="5032375"/>
              </a:xfrm>
              <a:blipFill>
                <a:blip r:embed="rId2"/>
                <a:stretch>
                  <a:fillRect l="-2368" t="-20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Picture 48">
            <a:extLst>
              <a:ext uri="{FF2B5EF4-FFF2-40B4-BE49-F238E27FC236}">
                <a16:creationId xmlns:a16="http://schemas.microsoft.com/office/drawing/2014/main" id="{A0FB329C-8BCB-C8A1-19E7-73750192A7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475"/>
          <a:stretch/>
        </p:blipFill>
        <p:spPr>
          <a:xfrm>
            <a:off x="6211132" y="1187938"/>
            <a:ext cx="5980868" cy="555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1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Important Note</a:t>
                </a:r>
              </a:p>
              <a:p>
                <a:r>
                  <a:rPr lang="en-GB" b="1" dirty="0"/>
                  <a:t>The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could be the result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/>
                  <a:t> linear layers, in parallel, each one producing a vector for each position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r>
                  <a:rPr lang="en-US" dirty="0"/>
                  <a:t>This is easily done by using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Linear layers in </a:t>
                </a:r>
                <a:r>
                  <a:rPr lang="en-US" dirty="0" err="1"/>
                  <a:t>PyTorch</a:t>
                </a:r>
                <a:r>
                  <a:rPr lang="en-US" dirty="0"/>
                  <a:t>, which all have a single training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  <a:blipFill>
                <a:blip r:embed="rId2"/>
                <a:stretch>
                  <a:fillRect l="-2462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4C1031C-E670-2228-15EE-A2F6AE368F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475"/>
          <a:stretch/>
        </p:blipFill>
        <p:spPr>
          <a:xfrm>
            <a:off x="6211132" y="1187938"/>
            <a:ext cx="5980868" cy="555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Important Note</a:t>
                </a:r>
              </a:p>
              <a:p>
                <a:r>
                  <a:rPr lang="en-GB" b="1" dirty="0"/>
                  <a:t>As an alternative,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could also be the same vector for each position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This is easily done by using an Embedding layer in </a:t>
                </a:r>
                <a:r>
                  <a:rPr lang="en-US" dirty="0" err="1"/>
                  <a:t>PyTorch</a:t>
                </a:r>
                <a:r>
                  <a:rPr lang="en-US" dirty="0"/>
                  <a:t>, which then only has a single training parameter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  <a:blipFill>
                <a:blip r:embed="rId2"/>
                <a:stretch>
                  <a:fillRect l="-2462" t="-1937" r="-5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3277341-CE5E-35A7-D1D7-42DC27CD5A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475"/>
          <a:stretch/>
        </p:blipFill>
        <p:spPr>
          <a:xfrm>
            <a:off x="6211132" y="1187938"/>
            <a:ext cx="5980868" cy="555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9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8E989-731A-4768-8BF7-08997F555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0309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Important Notes:</a:t>
            </a:r>
          </a:p>
          <a:p>
            <a:r>
              <a:rPr lang="en-US" b="1" dirty="0"/>
              <a:t>Choosing the Linear layers or Embedding layer route has little to no importance here (</a:t>
            </a:r>
            <a:r>
              <a:rPr lang="en-US" b="1" u="sng" dirty="0"/>
              <a:t>as long as you correctly implement the loss function you need to use!</a:t>
            </a:r>
            <a:r>
              <a:rPr lang="en-US" b="1" dirty="0"/>
              <a:t>).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58D85-6C88-83D8-AC2A-1D667ED50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75"/>
          <a:stretch/>
        </p:blipFill>
        <p:spPr>
          <a:xfrm>
            <a:off x="6211132" y="1187938"/>
            <a:ext cx="5980868" cy="555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6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Important Notes:</a:t>
                </a:r>
              </a:p>
              <a:p>
                <a:r>
                  <a:rPr lang="en-US" b="1" dirty="0"/>
                  <a:t>Choosing the Linear layers or Embedding layer route has little to no importance here (</a:t>
                </a:r>
                <a:r>
                  <a:rPr lang="en-US" b="1" u="sng" dirty="0"/>
                  <a:t>as long as you correctly implement the loss function you need to use!</a:t>
                </a:r>
                <a:r>
                  <a:rPr lang="en-US" b="1" dirty="0"/>
                  <a:t>).</a:t>
                </a:r>
              </a:p>
              <a:p>
                <a:r>
                  <a:rPr lang="en-US" b="1" dirty="0"/>
                  <a:t>All we want is to train a good Embedding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b="1" dirty="0"/>
                  <a:t> (!); the order of output words does not matter. </a:t>
                </a:r>
                <a:r>
                  <a:rPr lang="en-US" dirty="0"/>
                  <a:t>We only care that the probability is high for the </a:t>
                </a:r>
                <a:r>
                  <a:rPr lang="en-GB" dirty="0"/>
                  <a:t>right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output words </a:t>
                </a:r>
                <a:r>
                  <a:rPr lang="en-US" dirty="0"/>
                  <a:t>which are around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  <a:blipFill>
                <a:blip r:embed="rId2"/>
                <a:stretch>
                  <a:fillRect l="-2462" t="-1937" r="-3165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EB7484D-57C5-919E-9AC3-759B005575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66" r="62308" b="28978"/>
          <a:stretch/>
        </p:blipFill>
        <p:spPr>
          <a:xfrm>
            <a:off x="6643077" y="1578706"/>
            <a:ext cx="5299014" cy="465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83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8E989-731A-4768-8BF7-08997F555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0309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Important Notes:</a:t>
            </a:r>
          </a:p>
          <a:p>
            <a:r>
              <a:rPr lang="en-US" dirty="0"/>
              <a:t>This also means that training a </a:t>
            </a:r>
            <a:r>
              <a:rPr lang="en-US" dirty="0" err="1"/>
              <a:t>SkipGram</a:t>
            </a:r>
            <a:r>
              <a:rPr lang="en-US" dirty="0"/>
              <a:t> is far more difficult than training a </a:t>
            </a:r>
            <a:r>
              <a:rPr lang="en-US" dirty="0" err="1"/>
              <a:t>CBoW</a:t>
            </a:r>
            <a:r>
              <a:rPr lang="en-US" dirty="0"/>
              <a:t>!</a:t>
            </a:r>
          </a:p>
          <a:p>
            <a:r>
              <a:rPr lang="en-US" dirty="0"/>
              <a:t>However, the intuition is that it will be producing better encodings, as it produces embedding that are able to describe any word by (somewhat) predicting the surrounding words around 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958CE-EEA5-AD70-0EE2-8D2CC4038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674" y="365125"/>
            <a:ext cx="6166338" cy="33515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2CFA4F-B377-B924-B268-7AA47DAABDDD}"/>
              </a:ext>
            </a:extLst>
          </p:cNvPr>
          <p:cNvSpPr txBox="1"/>
          <p:nvPr/>
        </p:nvSpPr>
        <p:spPr>
          <a:xfrm>
            <a:off x="5974484" y="3948502"/>
            <a:ext cx="61663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Intuition:</a:t>
            </a:r>
            <a:r>
              <a:rPr lang="en-GB" sz="2800" dirty="0"/>
              <a:t> </a:t>
            </a:r>
            <a:r>
              <a:rPr lang="en-GB" sz="2800" dirty="0" err="1"/>
              <a:t>CBoW</a:t>
            </a:r>
            <a:r>
              <a:rPr lang="en-GB" sz="2800" dirty="0"/>
              <a:t> vs. </a:t>
            </a:r>
            <a:r>
              <a:rPr lang="en-GB" sz="2800" dirty="0" err="1"/>
              <a:t>SkipGram</a:t>
            </a: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Embedding task is more difficult,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NN needs to work harder to figure out a meaningful embedding,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Embedding from </a:t>
            </a:r>
            <a:r>
              <a:rPr lang="en-SG" sz="2800" dirty="0" err="1"/>
              <a:t>SKipGram</a:t>
            </a:r>
            <a:r>
              <a:rPr lang="en-SG" sz="2800" dirty="0"/>
              <a:t> will therefore be better?</a:t>
            </a:r>
          </a:p>
        </p:txBody>
      </p:sp>
    </p:spTree>
    <p:extLst>
      <p:ext uri="{BB962C8B-B14F-4D97-AF65-F5344CB8AC3E}">
        <p14:creationId xmlns:p14="http://schemas.microsoft.com/office/powerpoint/2010/main" val="4244624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(SG)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/>
                  <a:t>During the training, we browse through all the pairs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we generated on Step 0.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Just like before, it is advisable to use some sort of a negative logarithm as the loss function, as it is a classification task.</a:t>
                </a:r>
                <a:br>
                  <a:rPr lang="en-US" dirty="0"/>
                </a:br>
                <a:r>
                  <a:rPr lang="en-US" dirty="0"/>
                  <a:t>It is used on each word in each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!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And sum over all the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203092" cy="5032375"/>
              </a:xfrm>
              <a:blipFill>
                <a:blip r:embed="rId2"/>
                <a:stretch>
                  <a:fillRect l="-2462" t="-2785" r="-30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6182D4D-BF9D-DE34-BC75-9A63B6C39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662" y="2312246"/>
            <a:ext cx="6166338" cy="335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80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16E5-79DD-445F-9DD7-91645F72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 and Glove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62BC2-6065-4770-9530-7B1FBA551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two approaches (</a:t>
            </a:r>
            <a:r>
              <a:rPr lang="en-US" dirty="0" err="1"/>
              <a:t>CBoW</a:t>
            </a:r>
            <a:r>
              <a:rPr lang="en-US" dirty="0"/>
              <a:t> and </a:t>
            </a:r>
            <a:r>
              <a:rPr lang="en-US" dirty="0" err="1"/>
              <a:t>SkipGram</a:t>
            </a:r>
            <a:r>
              <a:rPr lang="en-US" dirty="0"/>
              <a:t>) are commonly referred to as </a:t>
            </a:r>
            <a:r>
              <a:rPr lang="en-US" b="1" dirty="0"/>
              <a:t>Word2Vec </a:t>
            </a:r>
            <a:r>
              <a:rPr lang="en-US" dirty="0"/>
              <a:t>approaches.</a:t>
            </a:r>
          </a:p>
          <a:p>
            <a:r>
              <a:rPr lang="en-US" dirty="0"/>
              <a:t>Another option, often referred to in literature is </a:t>
            </a:r>
            <a:r>
              <a:rPr lang="en-US" b="1" dirty="0" err="1"/>
              <a:t>GloVe</a:t>
            </a:r>
            <a:r>
              <a:rPr lang="en-US" b="1" dirty="0"/>
              <a:t> </a:t>
            </a:r>
            <a:r>
              <a:rPr lang="en-US" dirty="0"/>
              <a:t>(Global Vectors for Word Representation). Another “simple” count-based embedding [GloVe2014] and was considered a good challenger to Word2Vec.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83E84-384C-467A-B881-78A41624E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60198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Choose a Pre-Trained Embedding If </a:t>
            </a:r>
          </a:p>
          <a:p>
            <a:r>
              <a:rPr lang="en-US" dirty="0"/>
              <a:t>Your dataset is composed of more “general” language and you don’t have that big of a dataset, to begin with.</a:t>
            </a:r>
          </a:p>
          <a:p>
            <a:r>
              <a:rPr lang="en-US" dirty="0"/>
              <a:t>Since these embeddings have been trained on a lot of words from different sources, pre-trained models might do well if your data is generalized as well.</a:t>
            </a:r>
          </a:p>
          <a:p>
            <a:r>
              <a:rPr lang="en-US" dirty="0"/>
              <a:t>Also, you will save on time and computing resources with pre-trained embeddings.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868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16E5-79DD-445F-9DD7-91645F72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 and Glove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62BC2-6065-4770-9530-7B1FBA551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Choose to Train Your Own Embedding If </a:t>
            </a:r>
          </a:p>
          <a:p>
            <a:r>
              <a:rPr lang="en-US" dirty="0"/>
              <a:t>Your data (and project) is based on a niche industry, such as medicine, finance or any other non-generic and highly specific domains.</a:t>
            </a:r>
          </a:p>
          <a:p>
            <a:r>
              <a:rPr lang="en-US" dirty="0"/>
              <a:t>In such cases, a general word embedding representation might not work out for you and some words might be altogether missing from the pre-trained embeddings.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83E84-384C-467A-B881-78A41624E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60198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Keep in mind, however,…</a:t>
            </a:r>
          </a:p>
          <a:p>
            <a:r>
              <a:rPr lang="en-US" dirty="0"/>
              <a:t>On the downside, a lot of data is needed to ensure that the word embeddings being learned do a proper job of representing the various words and the semantic relationships between them, unique to your domain.</a:t>
            </a:r>
          </a:p>
          <a:p>
            <a:r>
              <a:rPr lang="en-US" dirty="0"/>
              <a:t>Also, it takes a lot of computing resources to go through your corpus and build word embeddings.</a:t>
            </a:r>
          </a:p>
        </p:txBody>
      </p:sp>
    </p:spTree>
    <p:extLst>
      <p:ext uri="{BB962C8B-B14F-4D97-AF65-F5344CB8AC3E}">
        <p14:creationId xmlns:p14="http://schemas.microsoft.com/office/powerpoint/2010/main" val="167995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E7EA-E606-4D4B-9B26-3E7B6B05A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 and Glove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50FF4-53DB-4F2D-9303-8E9AC75E4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/>
          <a:lstStyle/>
          <a:p>
            <a:r>
              <a:rPr lang="en-US" dirty="0"/>
              <a:t>Both Word2Vec and </a:t>
            </a:r>
            <a:r>
              <a:rPr lang="en-US" dirty="0" err="1"/>
              <a:t>GloVe</a:t>
            </a:r>
            <a:r>
              <a:rPr lang="en-US" dirty="0"/>
              <a:t> approaches are commonly referred to as </a:t>
            </a:r>
            <a:r>
              <a:rPr lang="en-US" b="1" dirty="0"/>
              <a:t>unsupervised (or semi-supervised) approaches to embedding, </a:t>
            </a:r>
            <a:r>
              <a:rPr lang="en-US" dirty="0"/>
              <a:t>both relying on the </a:t>
            </a:r>
            <a:r>
              <a:rPr lang="en-GB" b="1" dirty="0"/>
              <a:t>distributional hypothesis </a:t>
            </a:r>
            <a:r>
              <a:rPr lang="en-GB" dirty="0"/>
              <a:t>we </a:t>
            </a:r>
            <a:r>
              <a:rPr lang="en-GB"/>
              <a:t>mentioned in </a:t>
            </a:r>
            <a:r>
              <a:rPr lang="en-GB" dirty="0"/>
              <a:t>the previous lecture.</a:t>
            </a:r>
            <a:endParaRPr lang="en-US" b="1" dirty="0"/>
          </a:p>
          <a:p>
            <a:r>
              <a:rPr lang="en-US" dirty="0"/>
              <a:t>Unsupervised representation learning of sentences had been the norm for quite some time.</a:t>
            </a:r>
          </a:p>
          <a:p>
            <a:r>
              <a:rPr lang="en-US" b="1" dirty="0"/>
              <a:t>More advanced versions of unsupervised approaches exist!</a:t>
            </a:r>
          </a:p>
          <a:p>
            <a:endParaRPr lang="en-US" b="1" dirty="0"/>
          </a:p>
          <a:p>
            <a:r>
              <a:rPr lang="en-US" dirty="0"/>
              <a:t>For instance: </a:t>
            </a:r>
            <a:r>
              <a:rPr lang="en-US" b="1" dirty="0" err="1"/>
              <a:t>FastText</a:t>
            </a:r>
            <a:r>
              <a:rPr lang="en-US" dirty="0"/>
              <a:t> and </a:t>
            </a:r>
            <a:r>
              <a:rPr lang="en-US" b="1" dirty="0" err="1"/>
              <a:t>ELMo</a:t>
            </a:r>
            <a:r>
              <a:rPr lang="en-US" dirty="0"/>
              <a:t>.</a:t>
            </a:r>
            <a:endParaRPr lang="en-GB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1663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8ED4-C02E-46CD-8CC6-5D4F82DD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FastText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C6C8-2086-43AB-9750-DC8DE3EFE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b="1" dirty="0" err="1"/>
              <a:t>FastText</a:t>
            </a:r>
            <a:r>
              <a:rPr lang="en-US" dirty="0"/>
              <a:t> was developed by the team of </a:t>
            </a:r>
            <a:r>
              <a:rPr lang="en-US" dirty="0" err="1"/>
              <a:t>Mikolov</a:t>
            </a:r>
            <a:r>
              <a:rPr lang="en-US" dirty="0"/>
              <a:t> (him again!), triggering the explosion of research on </a:t>
            </a:r>
            <a:r>
              <a:rPr lang="en-US" b="1" dirty="0">
                <a:solidFill>
                  <a:srgbClr val="00B050"/>
                </a:solidFill>
              </a:rPr>
              <a:t>universal word embeddings</a:t>
            </a:r>
            <a:r>
              <a:rPr lang="en-US" b="1" dirty="0"/>
              <a:t> </a:t>
            </a:r>
            <a:r>
              <a:rPr lang="en-US" dirty="0"/>
              <a:t>[Mikolov2017, Bojanovski2017].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CF55D-C6CC-4D3B-8C45-C10C7DCA2F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976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8C8CA2-FF48-40C8-A6E2-61E8B8AB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embeddings?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8E0DD-75C0-4D25-AFAF-98E887E9B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Universal Embedding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A huge trend in DL/NLP is the quest for </a:t>
            </a:r>
            <a:r>
              <a:rPr lang="en-US" b="1" dirty="0">
                <a:solidFill>
                  <a:srgbClr val="00B050"/>
                </a:solidFill>
              </a:rPr>
              <a:t>Universal</a:t>
            </a:r>
            <a:r>
              <a:rPr lang="en-US" b="1" dirty="0"/>
              <a:t> </a:t>
            </a:r>
            <a:r>
              <a:rPr lang="en-US" b="1">
                <a:solidFill>
                  <a:srgbClr val="00B050"/>
                </a:solidFill>
              </a:rPr>
              <a:t>Embeddings</a:t>
            </a:r>
            <a:r>
              <a:rPr lang="en-US" b="1"/>
              <a:t>.</a:t>
            </a: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Universal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Embeddings</a:t>
            </a:r>
            <a:r>
              <a:rPr lang="en-US" dirty="0"/>
              <a:t> are </a:t>
            </a:r>
            <a:r>
              <a:rPr lang="en-US" b="1" dirty="0"/>
              <a:t>embeddings that are pre-trained </a:t>
            </a:r>
            <a:r>
              <a:rPr lang="en-US" dirty="0"/>
              <a:t>on a large corpus and can be plugged in a variety of downstream task models to automatically improve their performance, by incorporating some general word/sentence representations learned on larger datasets.</a:t>
            </a:r>
          </a:p>
          <a:p>
            <a:pPr marL="0" indent="0">
              <a:buNone/>
            </a:pPr>
            <a:r>
              <a:rPr lang="en-US" dirty="0"/>
              <a:t>In a sense, it is the ultimate form of </a:t>
            </a:r>
            <a:r>
              <a:rPr lang="en-US" b="1" dirty="0"/>
              <a:t>transfer learning</a:t>
            </a:r>
            <a:r>
              <a:rPr lang="en-US" dirty="0"/>
              <a:t> for language embeddings, the holy grail, i.e. a unique </a:t>
            </a:r>
            <a:r>
              <a:rPr lang="en-US" b="1" dirty="0"/>
              <a:t>universal embedding</a:t>
            </a:r>
            <a:r>
              <a:rPr lang="en-US" dirty="0"/>
              <a:t> that everyone can use on any task related to language.</a:t>
            </a:r>
          </a:p>
          <a:p>
            <a:pPr marL="0" indent="0">
              <a:buNone/>
            </a:pPr>
            <a:r>
              <a:rPr lang="en-US" b="1" dirty="0"/>
              <a:t>Open question: </a:t>
            </a:r>
            <a:r>
              <a:rPr lang="en-US" dirty="0"/>
              <a:t>Are universal embeddings even possible or good?</a:t>
            </a:r>
            <a:br>
              <a:rPr lang="en-US" dirty="0"/>
            </a:br>
            <a:r>
              <a:rPr lang="en-US" dirty="0"/>
              <a:t>Should not they be task-specific?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2385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8ED4-C02E-46CD-8CC6-5D4F82DD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FastText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C6C8-2086-43AB-9750-DC8DE3EFE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b="1" dirty="0" err="1"/>
              <a:t>FastText</a:t>
            </a:r>
            <a:r>
              <a:rPr lang="en-US" dirty="0"/>
              <a:t> was developed by the team of </a:t>
            </a:r>
            <a:r>
              <a:rPr lang="en-US" dirty="0" err="1"/>
              <a:t>Mikolov</a:t>
            </a:r>
            <a:r>
              <a:rPr lang="en-US" dirty="0"/>
              <a:t> (him again!), triggering the explosion of research on </a:t>
            </a:r>
            <a:r>
              <a:rPr lang="en-US" b="1" dirty="0">
                <a:solidFill>
                  <a:srgbClr val="00B050"/>
                </a:solidFill>
              </a:rPr>
              <a:t>universal word embeddings</a:t>
            </a:r>
            <a:r>
              <a:rPr lang="en-US" b="1" dirty="0"/>
              <a:t> </a:t>
            </a:r>
            <a:r>
              <a:rPr lang="en-US" dirty="0"/>
              <a:t>[Mikolov2017, Bojanovski2017].</a:t>
            </a:r>
          </a:p>
          <a:p>
            <a:r>
              <a:rPr lang="en-US" dirty="0"/>
              <a:t>Inclusion of character </a:t>
            </a:r>
            <a:r>
              <a:rPr lang="en-US" b="1" dirty="0"/>
              <a:t>n-grams</a:t>
            </a:r>
            <a:r>
              <a:rPr lang="en-US" dirty="0"/>
              <a:t>, which allows computing word representations for words that did not appear in the training data (something called </a:t>
            </a:r>
            <a:r>
              <a:rPr lang="en-US" b="1" dirty="0"/>
              <a:t>“out-of-vocabulary” </a:t>
            </a:r>
            <a:r>
              <a:rPr lang="en-US" dirty="0"/>
              <a:t>words).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30A1F1-F52B-40DB-8BED-5590D8A73D29}"/>
              </a:ext>
            </a:extLst>
          </p:cNvPr>
          <p:cNvSpPr/>
          <p:nvPr/>
        </p:nvSpPr>
        <p:spPr>
          <a:xfrm>
            <a:off x="6775938" y="695569"/>
            <a:ext cx="5111262" cy="765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Input: Concatenation of word + its n-grams.</a:t>
            </a:r>
          </a:p>
          <a:p>
            <a:pPr algn="ctr"/>
            <a:r>
              <a:rPr lang="en-US" dirty="0"/>
              <a:t>(e.g. </a:t>
            </a:r>
            <a:r>
              <a:rPr lang="en-US" b="1" dirty="0"/>
              <a:t>“eating” </a:t>
            </a:r>
            <a:r>
              <a:rPr lang="en-US" dirty="0"/>
              <a:t>+ “</a:t>
            </a:r>
            <a:r>
              <a:rPr lang="en-US" dirty="0" err="1"/>
              <a:t>ea</a:t>
            </a:r>
            <a:r>
              <a:rPr lang="en-US" dirty="0"/>
              <a:t>” + “eat” + “</a:t>
            </a:r>
            <a:r>
              <a:rPr lang="en-US" dirty="0" err="1"/>
              <a:t>ati</a:t>
            </a:r>
            <a:r>
              <a:rPr lang="en-US" dirty="0"/>
              <a:t>” + “tin” + “</a:t>
            </a:r>
            <a:r>
              <a:rPr lang="en-US" dirty="0" err="1"/>
              <a:t>ing</a:t>
            </a:r>
            <a:r>
              <a:rPr lang="en-US" dirty="0"/>
              <a:t>”)</a:t>
            </a:r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A96085-FDEE-43F6-805C-2D7E3219097F}"/>
              </a:ext>
            </a:extLst>
          </p:cNvPr>
          <p:cNvSpPr/>
          <p:nvPr/>
        </p:nvSpPr>
        <p:spPr>
          <a:xfrm>
            <a:off x="6775938" y="1817080"/>
            <a:ext cx="5111262" cy="38021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Model: Skip-Gram Architecture</a:t>
            </a:r>
          </a:p>
          <a:p>
            <a:pPr algn="ctr"/>
            <a:r>
              <a:rPr lang="en-US" dirty="0"/>
              <a:t>(Predict context words based on</a:t>
            </a:r>
            <a:br>
              <a:rPr lang="en-US" dirty="0"/>
            </a:br>
            <a:r>
              <a:rPr lang="en-US" dirty="0"/>
              <a:t>single word + its n-grams)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E3C52-CD67-4723-B6B1-6745AE0A3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184" y="2900468"/>
            <a:ext cx="2186770" cy="260156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41404F-EA15-4080-A5A1-4D0C3E4C5005}"/>
              </a:ext>
            </a:extLst>
          </p:cNvPr>
          <p:cNvSpPr/>
          <p:nvPr/>
        </p:nvSpPr>
        <p:spPr>
          <a:xfrm>
            <a:off x="6775938" y="5974867"/>
            <a:ext cx="5111262" cy="765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Output: 2k words of context.</a:t>
            </a:r>
            <a:endParaRPr lang="en-GB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265BE31-033C-4F15-9C57-BB42F35F8875}"/>
              </a:ext>
            </a:extLst>
          </p:cNvPr>
          <p:cNvSpPr/>
          <p:nvPr/>
        </p:nvSpPr>
        <p:spPr>
          <a:xfrm>
            <a:off x="8893908" y="1391139"/>
            <a:ext cx="1008184" cy="53926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E26296C-64F3-4E7A-9CD2-42E44DEBE56E}"/>
              </a:ext>
            </a:extLst>
          </p:cNvPr>
          <p:cNvSpPr/>
          <p:nvPr/>
        </p:nvSpPr>
        <p:spPr>
          <a:xfrm>
            <a:off x="8827477" y="5527435"/>
            <a:ext cx="1008184" cy="53926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722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8ED4-C02E-46CD-8CC6-5D4F82DD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“Out of vocabulary” words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C6C8-2086-43AB-9750-DC8DE3EFE0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out-of-vocabulary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Embeddings are often subject to the </a:t>
            </a:r>
            <a:r>
              <a:rPr lang="en-US" b="1" dirty="0">
                <a:solidFill>
                  <a:srgbClr val="00B050"/>
                </a:solidFill>
              </a:rPr>
              <a:t>out-of-vocabulary</a:t>
            </a:r>
            <a:r>
              <a:rPr lang="en-US" dirty="0"/>
              <a:t> issue.</a:t>
            </a:r>
          </a:p>
          <a:p>
            <a:pPr marL="0" indent="0">
              <a:buNone/>
            </a:pPr>
            <a:r>
              <a:rPr lang="en-US" dirty="0"/>
              <a:t>This is a simple concept: what should the embedding function be doing if it is asked to encode a word that is not contained in the original dictionary V?</a:t>
            </a:r>
          </a:p>
          <a:p>
            <a:pPr marL="0" indent="0">
              <a:buNone/>
            </a:pPr>
            <a:r>
              <a:rPr lang="en-US" dirty="0"/>
              <a:t>(Think new words, typos, etc.)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60524A86-7C05-4B4C-82F6-70AEE684A62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16631049"/>
                  </p:ext>
                </p:extLst>
              </p:nvPr>
            </p:nvGraphicFramePr>
            <p:xfrm>
              <a:off x="1990969" y="6044101"/>
              <a:ext cx="8128000" cy="6810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60524A86-7C05-4B4C-82F6-70AEE684A62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16631049"/>
                  </p:ext>
                </p:extLst>
              </p:nvPr>
            </p:nvGraphicFramePr>
            <p:xfrm>
              <a:off x="1990969" y="6044101"/>
              <a:ext cx="8128000" cy="6810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858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8ED4-C02E-46CD-8CC6-5D4F82DD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“Out of vocabulary” words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C6C8-2086-43AB-9750-DC8DE3EFE0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out-of-vocabulary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Embeddings are often subject to the </a:t>
            </a:r>
            <a:r>
              <a:rPr lang="en-US" b="1" dirty="0">
                <a:solidFill>
                  <a:srgbClr val="00B050"/>
                </a:solidFill>
              </a:rPr>
              <a:t>out-of-vocabulary</a:t>
            </a:r>
            <a:r>
              <a:rPr lang="en-US" dirty="0"/>
              <a:t> issue.</a:t>
            </a:r>
          </a:p>
          <a:p>
            <a:pPr marL="0" indent="0">
              <a:buNone/>
            </a:pPr>
            <a:r>
              <a:rPr lang="en-US" dirty="0"/>
              <a:t>This is a simple concept: what should the embedding function be doing if it is asked to encode a word that is not contained in the original dictionary V?</a:t>
            </a:r>
          </a:p>
          <a:p>
            <a:pPr marL="0" indent="0">
              <a:buNone/>
            </a:pPr>
            <a:r>
              <a:rPr lang="en-US" dirty="0"/>
              <a:t>(Think new words, typos, etc.)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3FBB4-8AB3-4D35-ACE5-57ABF377B9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case of Word2Vec (</a:t>
            </a:r>
            <a:r>
              <a:rPr lang="en-US" dirty="0" err="1"/>
              <a:t>CBoW</a:t>
            </a:r>
            <a:r>
              <a:rPr lang="en-US" dirty="0"/>
              <a:t> and </a:t>
            </a:r>
            <a:r>
              <a:rPr lang="en-US" dirty="0" err="1"/>
              <a:t>SkipGram</a:t>
            </a:r>
            <a:r>
              <a:rPr lang="en-US" dirty="0"/>
              <a:t> algorithms), this would be very invalidating, as we would have no way to one-hot encode the missing word.</a:t>
            </a:r>
          </a:p>
          <a:p>
            <a:pPr marL="0" indent="0">
              <a:buNone/>
            </a:pPr>
            <a:r>
              <a:rPr lang="en-US" b="1" dirty="0"/>
              <a:t>A good embedding function should then be able to, at least partially, operate on out-of-vocabulary words.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60524A86-7C05-4B4C-82F6-70AEE684A62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61853928"/>
                  </p:ext>
                </p:extLst>
              </p:nvPr>
            </p:nvGraphicFramePr>
            <p:xfrm>
              <a:off x="1990969" y="6044101"/>
              <a:ext cx="8128000" cy="6810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60524A86-7C05-4B4C-82F6-70AEE684A62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61853928"/>
                  </p:ext>
                </p:extLst>
              </p:nvPr>
            </p:nvGraphicFramePr>
            <p:xfrm>
              <a:off x="1990969" y="6044101"/>
              <a:ext cx="8128000" cy="6810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8127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FE9B-A40B-4BD5-9ED6-AE885E92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idea behind</a:t>
            </a:r>
            <a:br>
              <a:rPr lang="en-US" dirty="0"/>
            </a:br>
            <a:r>
              <a:rPr lang="en-US" dirty="0" err="1"/>
              <a:t>FastText</a:t>
            </a:r>
            <a:r>
              <a:rPr lang="en-US" dirty="0"/>
              <a:t> (out-of-class)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3F681-F9FB-43DC-8693-E305DD273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FastText</a:t>
            </a:r>
            <a:r>
              <a:rPr lang="en-US" dirty="0"/>
              <a:t> achieves really good performance for word representations, especially in the case of rare words by making use of character level information.</a:t>
            </a:r>
          </a:p>
          <a:p>
            <a:r>
              <a:rPr lang="en-US" dirty="0"/>
              <a:t>Each word is represented as a bag of characters </a:t>
            </a:r>
            <a:r>
              <a:rPr lang="en-US" b="1" dirty="0"/>
              <a:t>n-grams</a:t>
            </a:r>
            <a:r>
              <a:rPr lang="en-US" dirty="0"/>
              <a:t> in addition to the word itself.</a:t>
            </a:r>
          </a:p>
          <a:p>
            <a:r>
              <a:rPr lang="en-US" dirty="0"/>
              <a:t>For example, for the word “computer”, with </a:t>
            </a:r>
            <a:r>
              <a:rPr lang="en-US" b="1" dirty="0"/>
              <a:t>n = 3</a:t>
            </a:r>
            <a:r>
              <a:rPr lang="en-US" dirty="0"/>
              <a:t>, the </a:t>
            </a:r>
            <a:r>
              <a:rPr lang="en-US" dirty="0" err="1"/>
              <a:t>FastText</a:t>
            </a:r>
            <a:r>
              <a:rPr lang="en-US" dirty="0"/>
              <a:t> representations for the character </a:t>
            </a:r>
            <a:r>
              <a:rPr lang="en-US" b="1" dirty="0"/>
              <a:t>n-grams</a:t>
            </a:r>
            <a:r>
              <a:rPr lang="en-US" dirty="0"/>
              <a:t> is &lt;co, com, </a:t>
            </a:r>
            <a:r>
              <a:rPr lang="en-US" dirty="0" err="1"/>
              <a:t>omp</a:t>
            </a:r>
            <a:r>
              <a:rPr lang="en-US" dirty="0"/>
              <a:t>, </a:t>
            </a:r>
            <a:r>
              <a:rPr lang="en-US" dirty="0" err="1"/>
              <a:t>mpu</a:t>
            </a:r>
            <a:r>
              <a:rPr lang="en-US" dirty="0"/>
              <a:t>, put, </a:t>
            </a:r>
            <a:r>
              <a:rPr lang="en-US" dirty="0" err="1"/>
              <a:t>ute</a:t>
            </a:r>
            <a:r>
              <a:rPr lang="en-US" dirty="0"/>
              <a:t>, </a:t>
            </a:r>
            <a:r>
              <a:rPr lang="en-US" dirty="0" err="1"/>
              <a:t>ter</a:t>
            </a:r>
            <a:r>
              <a:rPr lang="en-US" dirty="0"/>
              <a:t>, er&gt;.</a:t>
            </a: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22475A-72E4-442D-96A9-277A618E808E}"/>
              </a:ext>
            </a:extLst>
          </p:cNvPr>
          <p:cNvSpPr/>
          <p:nvPr/>
        </p:nvSpPr>
        <p:spPr>
          <a:xfrm>
            <a:off x="6775938" y="695569"/>
            <a:ext cx="5111262" cy="765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Input: Concatenation of word + its n-grams.</a:t>
            </a:r>
          </a:p>
          <a:p>
            <a:pPr algn="ctr"/>
            <a:r>
              <a:rPr lang="en-US" dirty="0"/>
              <a:t>(e.g. </a:t>
            </a:r>
            <a:r>
              <a:rPr lang="en-US" b="1" dirty="0"/>
              <a:t>“eating” </a:t>
            </a:r>
            <a:r>
              <a:rPr lang="en-US" dirty="0"/>
              <a:t>+ “</a:t>
            </a:r>
            <a:r>
              <a:rPr lang="en-US" dirty="0" err="1"/>
              <a:t>ea</a:t>
            </a:r>
            <a:r>
              <a:rPr lang="en-US" dirty="0"/>
              <a:t>” + “eat” + “</a:t>
            </a:r>
            <a:r>
              <a:rPr lang="en-US" dirty="0" err="1"/>
              <a:t>ati</a:t>
            </a:r>
            <a:r>
              <a:rPr lang="en-US" dirty="0"/>
              <a:t>” + “tin” + “</a:t>
            </a:r>
            <a:r>
              <a:rPr lang="en-US" dirty="0" err="1"/>
              <a:t>ing</a:t>
            </a:r>
            <a:r>
              <a:rPr lang="en-US" dirty="0"/>
              <a:t>”)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547965-96EA-4B31-9B05-061944F5FF78}"/>
              </a:ext>
            </a:extLst>
          </p:cNvPr>
          <p:cNvSpPr/>
          <p:nvPr/>
        </p:nvSpPr>
        <p:spPr>
          <a:xfrm>
            <a:off x="6775938" y="1817080"/>
            <a:ext cx="5111262" cy="38021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Model: Skip-Gram Architecture</a:t>
            </a:r>
          </a:p>
          <a:p>
            <a:pPr algn="ctr"/>
            <a:r>
              <a:rPr lang="en-US" dirty="0"/>
              <a:t>(Predict context words based on</a:t>
            </a:r>
            <a:br>
              <a:rPr lang="en-US" dirty="0"/>
            </a:br>
            <a:r>
              <a:rPr lang="en-US" dirty="0"/>
              <a:t>single word + its n-grams)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C9383-E53B-4F51-93BA-6CDE9CA9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184" y="2900468"/>
            <a:ext cx="2186770" cy="260156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C5454B-FF0F-4BA9-9F85-B038A7F6EB32}"/>
              </a:ext>
            </a:extLst>
          </p:cNvPr>
          <p:cNvSpPr/>
          <p:nvPr/>
        </p:nvSpPr>
        <p:spPr>
          <a:xfrm>
            <a:off x="6775938" y="5974867"/>
            <a:ext cx="5111262" cy="765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Output: 2k words of context.</a:t>
            </a:r>
            <a:endParaRPr lang="en-GB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6CE43B5-26B0-44B4-9CD5-340FE7F4D2EF}"/>
              </a:ext>
            </a:extLst>
          </p:cNvPr>
          <p:cNvSpPr/>
          <p:nvPr/>
        </p:nvSpPr>
        <p:spPr>
          <a:xfrm>
            <a:off x="8893908" y="1391139"/>
            <a:ext cx="1008184" cy="53926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87CCD3F-F7FD-48F2-BFDD-7DEBB1A86AE1}"/>
              </a:ext>
            </a:extLst>
          </p:cNvPr>
          <p:cNvSpPr/>
          <p:nvPr/>
        </p:nvSpPr>
        <p:spPr>
          <a:xfrm>
            <a:off x="8827477" y="5527435"/>
            <a:ext cx="1008184" cy="53926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272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FE9B-A40B-4BD5-9ED6-AE885E92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idea behind</a:t>
            </a:r>
            <a:br>
              <a:rPr lang="en-US" dirty="0"/>
            </a:br>
            <a:r>
              <a:rPr lang="en-US" dirty="0" err="1"/>
              <a:t>FastText</a:t>
            </a:r>
            <a:r>
              <a:rPr lang="en-US" dirty="0"/>
              <a:t> (out-of-class)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3F681-F9FB-43DC-8693-E305DD273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Then, </a:t>
            </a:r>
            <a:r>
              <a:rPr lang="en-US" dirty="0" err="1"/>
              <a:t>FastText</a:t>
            </a:r>
            <a:r>
              <a:rPr lang="en-US" dirty="0"/>
              <a:t> uses the same approach and logic as in </a:t>
            </a:r>
            <a:r>
              <a:rPr lang="en-US" dirty="0" err="1"/>
              <a:t>SkipGram</a:t>
            </a:r>
            <a:r>
              <a:rPr lang="en-US" dirty="0"/>
              <a:t>, to try and predict some context words, by using the word and its </a:t>
            </a:r>
            <a:r>
              <a:rPr lang="en-US" b="1" dirty="0"/>
              <a:t>n-grams</a:t>
            </a:r>
            <a:r>
              <a:rPr lang="en-US" dirty="0"/>
              <a:t>.</a:t>
            </a:r>
          </a:p>
          <a:p>
            <a:r>
              <a:rPr lang="en-US" dirty="0"/>
              <a:t>This typically allows to identify </a:t>
            </a:r>
            <a:r>
              <a:rPr lang="en-US" b="1" dirty="0"/>
              <a:t>etymology</a:t>
            </a:r>
            <a:r>
              <a:rPr lang="en-US" dirty="0"/>
              <a:t> in words, and </a:t>
            </a:r>
            <a:r>
              <a:rPr lang="en-US" b="1" dirty="0"/>
              <a:t>cover</a:t>
            </a:r>
            <a:r>
              <a:rPr lang="en-US" dirty="0"/>
              <a:t> </a:t>
            </a:r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b="1" dirty="0"/>
              <a:t>potential</a:t>
            </a:r>
            <a:r>
              <a:rPr lang="en-US" dirty="0"/>
              <a:t> </a:t>
            </a:r>
            <a:r>
              <a:rPr lang="en-US" b="1" dirty="0"/>
              <a:t>typos</a:t>
            </a:r>
            <a:r>
              <a:rPr lang="en-US" dirty="0"/>
              <a:t>!</a:t>
            </a:r>
          </a:p>
          <a:p>
            <a:r>
              <a:rPr lang="en-US" dirty="0"/>
              <a:t>Overall reinforces the performance, allows to </a:t>
            </a:r>
            <a:r>
              <a:rPr lang="en-US" b="1" dirty="0"/>
              <a:t>address</a:t>
            </a:r>
            <a:r>
              <a:rPr lang="en-US" dirty="0"/>
              <a:t> the </a:t>
            </a:r>
            <a:r>
              <a:rPr lang="en-US" b="1" dirty="0"/>
              <a:t>out</a:t>
            </a:r>
            <a:r>
              <a:rPr lang="en-US" dirty="0"/>
              <a:t> </a:t>
            </a:r>
            <a:r>
              <a:rPr lang="en-US" b="1" dirty="0"/>
              <a:t>of</a:t>
            </a:r>
            <a:r>
              <a:rPr lang="en-US" dirty="0"/>
              <a:t> </a:t>
            </a:r>
            <a:r>
              <a:rPr lang="en-US" b="1" dirty="0"/>
              <a:t>vocabulary issue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180EDB-9083-4D8B-8DB2-029879D98D1B}"/>
              </a:ext>
            </a:extLst>
          </p:cNvPr>
          <p:cNvSpPr/>
          <p:nvPr/>
        </p:nvSpPr>
        <p:spPr>
          <a:xfrm>
            <a:off x="6775938" y="695569"/>
            <a:ext cx="5111262" cy="765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Input: Concatenation of word + its n-grams.</a:t>
            </a:r>
          </a:p>
          <a:p>
            <a:pPr algn="ctr"/>
            <a:r>
              <a:rPr lang="en-US" dirty="0"/>
              <a:t>(e.g. </a:t>
            </a:r>
            <a:r>
              <a:rPr lang="en-US" b="1" dirty="0"/>
              <a:t>“eating” </a:t>
            </a:r>
            <a:r>
              <a:rPr lang="en-US" dirty="0"/>
              <a:t>+ “</a:t>
            </a:r>
            <a:r>
              <a:rPr lang="en-US" dirty="0" err="1"/>
              <a:t>ea</a:t>
            </a:r>
            <a:r>
              <a:rPr lang="en-US" dirty="0"/>
              <a:t>” + “eat” + “</a:t>
            </a:r>
            <a:r>
              <a:rPr lang="en-US" dirty="0" err="1"/>
              <a:t>ati</a:t>
            </a:r>
            <a:r>
              <a:rPr lang="en-US" dirty="0"/>
              <a:t>” + “tin” + “</a:t>
            </a:r>
            <a:r>
              <a:rPr lang="en-US" dirty="0" err="1"/>
              <a:t>ing</a:t>
            </a:r>
            <a:r>
              <a:rPr lang="en-US" dirty="0"/>
              <a:t>”)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F0B904-7002-4B94-A107-507E82C2424B}"/>
              </a:ext>
            </a:extLst>
          </p:cNvPr>
          <p:cNvSpPr/>
          <p:nvPr/>
        </p:nvSpPr>
        <p:spPr>
          <a:xfrm>
            <a:off x="6775938" y="1817080"/>
            <a:ext cx="5111262" cy="38021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Model: Skip-Gram Architecture</a:t>
            </a:r>
          </a:p>
          <a:p>
            <a:pPr algn="ctr"/>
            <a:r>
              <a:rPr lang="en-US" dirty="0"/>
              <a:t>(Predict context words based on</a:t>
            </a:r>
            <a:br>
              <a:rPr lang="en-US" dirty="0"/>
            </a:br>
            <a:r>
              <a:rPr lang="en-US" dirty="0"/>
              <a:t>single word + its n-grams)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D85D4-A591-4D98-A16E-E45510EE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184" y="2900468"/>
            <a:ext cx="2186770" cy="260156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03D655-6FB5-40BC-9F99-5D68EBDEEEEC}"/>
              </a:ext>
            </a:extLst>
          </p:cNvPr>
          <p:cNvSpPr/>
          <p:nvPr/>
        </p:nvSpPr>
        <p:spPr>
          <a:xfrm>
            <a:off x="6775938" y="5974867"/>
            <a:ext cx="5111262" cy="765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Output: 2k words of context.</a:t>
            </a:r>
            <a:endParaRPr lang="en-GB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E7D0585-3C37-4A8F-B4A8-ACF4A4D65840}"/>
              </a:ext>
            </a:extLst>
          </p:cNvPr>
          <p:cNvSpPr/>
          <p:nvPr/>
        </p:nvSpPr>
        <p:spPr>
          <a:xfrm>
            <a:off x="8893908" y="1391139"/>
            <a:ext cx="1008184" cy="53926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E9DFF6F-870C-4B1B-A40E-AB192B8A6E0F}"/>
              </a:ext>
            </a:extLst>
          </p:cNvPr>
          <p:cNvSpPr/>
          <p:nvPr/>
        </p:nvSpPr>
        <p:spPr>
          <a:xfrm>
            <a:off x="8827477" y="5527435"/>
            <a:ext cx="1008184" cy="53926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47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8ED4-C02E-46CD-8CC6-5D4F82DD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FastText</a:t>
            </a:r>
            <a:r>
              <a:rPr lang="en-US" dirty="0"/>
              <a:t> - 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C6C8-2086-43AB-9750-DC8DE3EFE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FastText</a:t>
            </a:r>
            <a:r>
              <a:rPr lang="en-US" dirty="0"/>
              <a:t> was developed by the team of </a:t>
            </a:r>
            <a:r>
              <a:rPr lang="en-US" dirty="0" err="1"/>
              <a:t>Mikolov</a:t>
            </a:r>
            <a:r>
              <a:rPr lang="en-US" dirty="0"/>
              <a:t> (him again!), triggering the explosion of research on </a:t>
            </a:r>
            <a:r>
              <a:rPr lang="en-US" b="1" dirty="0">
                <a:solidFill>
                  <a:srgbClr val="00B050"/>
                </a:solidFill>
              </a:rPr>
              <a:t>universal word embeddings</a:t>
            </a:r>
            <a:r>
              <a:rPr lang="en-US" b="1" dirty="0"/>
              <a:t> </a:t>
            </a:r>
            <a:r>
              <a:rPr lang="en-US" dirty="0"/>
              <a:t>[Mikolov2017, Bojanovski2017].</a:t>
            </a:r>
          </a:p>
          <a:p>
            <a:r>
              <a:rPr lang="en-US" dirty="0"/>
              <a:t>Inclusion of character </a:t>
            </a:r>
            <a:r>
              <a:rPr lang="en-US" b="1" dirty="0"/>
              <a:t>n-grams</a:t>
            </a:r>
            <a:r>
              <a:rPr lang="en-US" dirty="0"/>
              <a:t>, which allows computing word representations for words that did not appear in the training data (something called </a:t>
            </a:r>
            <a:r>
              <a:rPr lang="en-US" b="1" dirty="0"/>
              <a:t>“out-of-vocabulary” </a:t>
            </a:r>
            <a:r>
              <a:rPr lang="en-US" dirty="0"/>
              <a:t>words).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CF55D-C6CC-4D3B-8C45-C10C7DCA2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801821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FastText</a:t>
            </a:r>
            <a:r>
              <a:rPr lang="en-US" dirty="0"/>
              <a:t> vectors are super-fast to train and are available in 157 languages. They are a great baseline, not sacrificing too much performance.</a:t>
            </a:r>
            <a:endParaRPr lang="en-GB" dirty="0"/>
          </a:p>
          <a:p>
            <a:r>
              <a:rPr lang="en-GB" dirty="0"/>
              <a:t>Ready-to-use </a:t>
            </a:r>
            <a:r>
              <a:rPr lang="en-GB" dirty="0" err="1"/>
              <a:t>FastText</a:t>
            </a:r>
            <a:r>
              <a:rPr lang="en-GB" dirty="0"/>
              <a:t> embeddings from:</a:t>
            </a:r>
            <a:br>
              <a:rPr lang="en-GB" dirty="0"/>
            </a:br>
            <a:r>
              <a:rPr lang="en-GB" dirty="0">
                <a:hlinkClick r:id="rId2"/>
              </a:rPr>
              <a:t>https://github.com/facebookresearch/fastText</a:t>
            </a:r>
            <a:endParaRPr lang="en-GB" dirty="0"/>
          </a:p>
          <a:p>
            <a:r>
              <a:rPr lang="en-GB" dirty="0"/>
              <a:t>Official (and good) tutorial:</a:t>
            </a:r>
            <a:br>
              <a:rPr lang="en-GB" dirty="0"/>
            </a:br>
            <a:r>
              <a:rPr lang="en-GB" dirty="0">
                <a:hlinkClick r:id="rId3"/>
              </a:rPr>
              <a:t>https://fasttext.cc/docs/en/unsupervised-tutorial.html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9615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145D-1C1F-5247-B919-0C2F6FCF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FastText</a:t>
            </a:r>
            <a:r>
              <a:rPr lang="en-GB" dirty="0"/>
              <a:t> - Demo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70F03-BD00-8E11-C968-FB63CC7B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89" y="1744166"/>
            <a:ext cx="5477903" cy="3732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96CB28-123A-A1F6-E70B-9EA656F53A3C}"/>
              </a:ext>
            </a:extLst>
          </p:cNvPr>
          <p:cNvSpPr txBox="1"/>
          <p:nvPr/>
        </p:nvSpPr>
        <p:spPr>
          <a:xfrm>
            <a:off x="0" y="5605083"/>
            <a:ext cx="12191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Have a look at Notebook 2, to see how we may </a:t>
            </a:r>
            <a:r>
              <a:rPr lang="en-GB" sz="2800" b="1" dirty="0"/>
              <a:t>download and reuse a</a:t>
            </a:r>
            <a:br>
              <a:rPr lang="en-GB" sz="2800" b="1" dirty="0"/>
            </a:br>
            <a:r>
              <a:rPr lang="en-GB" sz="2800" b="1" dirty="0"/>
              <a:t>pre-trained language model</a:t>
            </a:r>
            <a:r>
              <a:rPr lang="en-GB" sz="2800" dirty="0"/>
              <a:t> in Python, to </a:t>
            </a:r>
            <a:r>
              <a:rPr lang="en-GB" sz="2800" b="1" dirty="0"/>
              <a:t>produce </a:t>
            </a:r>
            <a:r>
              <a:rPr lang="en-GB" sz="2800" dirty="0"/>
              <a:t>or </a:t>
            </a:r>
            <a:r>
              <a:rPr lang="en-GB" sz="2800" b="1" dirty="0"/>
              <a:t>decode word embeddings</a:t>
            </a:r>
            <a:r>
              <a:rPr lang="en-GB" sz="2800" dirty="0"/>
              <a:t>.</a:t>
            </a:r>
            <a:endParaRPr lang="en-SG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8C23A-CAB4-8F93-098B-5E7805FF6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914" y="1878190"/>
            <a:ext cx="6211167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95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Deep Contextualized Word Representations (a.k.a. Embeddings for Language Model - </a:t>
            </a:r>
            <a:r>
              <a:rPr lang="en-US" b="1" dirty="0" err="1"/>
              <a:t>ELMo</a:t>
            </a:r>
            <a:r>
              <a:rPr lang="en-US" b="1" dirty="0"/>
              <a:t>) </a:t>
            </a:r>
            <a:r>
              <a:rPr lang="en-US" dirty="0"/>
              <a:t>have improved the state of the art in word embeddings by a noticeable amount.</a:t>
            </a:r>
          </a:p>
          <a:p>
            <a:pPr marL="0" indent="0">
              <a:buNone/>
            </a:pPr>
            <a:r>
              <a:rPr lang="en-US" dirty="0"/>
              <a:t>They were developed by the Allen institute for AI and were presented at NAACL 2018 in early June [Peters2018].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F347F7-FD63-4806-AB44-A519CB864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r>
              <a:rPr lang="en-US" dirty="0"/>
              <a:t>Ready-to-use </a:t>
            </a:r>
            <a:r>
              <a:rPr lang="en-US" dirty="0" err="1"/>
              <a:t>ELMo</a:t>
            </a:r>
            <a:r>
              <a:rPr lang="en-US" dirty="0"/>
              <a:t> embeddings</a:t>
            </a:r>
            <a:br>
              <a:rPr lang="en-US" dirty="0"/>
            </a:br>
            <a:r>
              <a:rPr lang="en-US" dirty="0">
                <a:hlinkClick r:id="rId2"/>
              </a:rPr>
              <a:t>https://allennlp.org/elmo</a:t>
            </a:r>
            <a:endParaRPr lang="en-US" dirty="0"/>
          </a:p>
          <a:p>
            <a:r>
              <a:rPr lang="en-US" dirty="0"/>
              <a:t>Official and good tutorial:</a:t>
            </a:r>
            <a:br>
              <a:rPr lang="en-US" dirty="0"/>
            </a:br>
            <a:r>
              <a:rPr lang="en-US" dirty="0">
                <a:hlinkClick r:id="rId3"/>
              </a:rPr>
              <a:t>https://guide.allennlp.org/</a:t>
            </a:r>
            <a:endParaRPr lang="en-US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C5F472-CB98-4E08-A60C-FE80CCF64C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654" y="3664482"/>
            <a:ext cx="3344008" cy="26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86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D8AA-A243-C63C-154A-14227E0D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ELMo</a:t>
            </a:r>
            <a:r>
              <a:rPr lang="en-GB" dirty="0"/>
              <a:t> can take context into account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EBED-3DCA-C8BA-CB7D-A7577E6B5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So far, all the language models we have seen produced embeddings for words…</a:t>
            </a:r>
          </a:p>
          <a:p>
            <a:r>
              <a:rPr lang="en-GB" b="1" dirty="0"/>
              <a:t>But the embeddings would not change based on </a:t>
            </a:r>
            <a:r>
              <a:rPr lang="en-GB" b="1" dirty="0">
                <a:solidFill>
                  <a:srgbClr val="FF0000"/>
                </a:solidFill>
              </a:rPr>
              <a:t>context</a:t>
            </a:r>
            <a:r>
              <a:rPr lang="en-GB" b="1" dirty="0"/>
              <a:t> (surrounding words in sentence).</a:t>
            </a:r>
          </a:p>
          <a:p>
            <a:r>
              <a:rPr lang="en-SG" dirty="0"/>
              <a:t>This means that homonyms will have identical embeddings, despite having very different meanings.</a:t>
            </a:r>
          </a:p>
        </p:txBody>
      </p:sp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644A561-0850-094F-DECF-20AC4CB24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492" y="2103437"/>
            <a:ext cx="582265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87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C791-C659-474A-A201-BDA86238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ELMo</a:t>
            </a:r>
            <a:r>
              <a:rPr lang="en-GB" dirty="0"/>
              <a:t> can take context into account</a:t>
            </a:r>
            <a:br>
              <a:rPr lang="en-GB" dirty="0"/>
            </a:br>
            <a:r>
              <a:rPr lang="en-GB" dirty="0"/>
              <a:t>- </a:t>
            </a:r>
            <a:r>
              <a:rPr lang="en-US" dirty="0"/>
              <a:t>A blast from the past (W9S1)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9CA4A-578B-4D0C-8F9A-C1A5683CF1D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Problem #1: Identical words can have multiple (and sometimes very different) meanings.</a:t>
                </a:r>
                <a:endParaRPr lang="en-US" dirty="0"/>
              </a:p>
              <a:p>
                <a:r>
                  <a:rPr lang="en-US" dirty="0"/>
                  <a:t>And since the meaning of the word depends on </a:t>
                </a:r>
                <a:r>
                  <a:rPr lang="en-US" b="1" dirty="0">
                    <a:solidFill>
                      <a:srgbClr val="FF0000"/>
                    </a:solidFill>
                  </a:rPr>
                  <a:t>context</a:t>
                </a:r>
                <a:r>
                  <a:rPr lang="en-US" dirty="0"/>
                  <a:t>…</a:t>
                </a:r>
              </a:p>
              <a:p>
                <a:r>
                  <a:rPr lang="en-US" dirty="0"/>
                  <a:t>This means that </a:t>
                </a:r>
                <a:r>
                  <a:rPr lang="en-US" b="1" dirty="0"/>
                  <a:t>our embedding function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b="1" dirty="0"/>
                  <a:t> should not just take a single word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as input to produce an embedding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dirty="0"/>
                  <a:t> for said word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9CA4A-578B-4D0C-8F9A-C1A5683CF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1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0D577B3-2D68-4D21-86AF-C1A6BDF0C2A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5"/>
                <a:ext cx="5926015" cy="50323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Maybe it would be preferable to have the word in question, plus some surrounding words for </a:t>
                </a:r>
                <a:r>
                  <a:rPr lang="en-US" b="1" dirty="0">
                    <a:solidFill>
                      <a:srgbClr val="FF0000"/>
                    </a:solidFill>
                  </a:rPr>
                  <a:t>context</a:t>
                </a:r>
                <a:r>
                  <a:rPr lang="en-US" dirty="0"/>
                  <a:t> instead as inputs for the embedding function.</a:t>
                </a:r>
                <a:br>
                  <a:rPr lang="en-US" dirty="0"/>
                </a:b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𝑔𝑜𝑙𝑓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𝒄𝒍𝒖𝒃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i="1" dirty="0"/>
                            <m:t>yesterday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𝑛𝑖𝑔h𝑡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 0, …,0,1,0,…,0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𝒄𝒍𝒖𝒃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𝑠𝑎𝑛𝑑𝑤𝑖𝑐h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𝑦𝑒𝑠𝑡𝑒𝑟𝑑𝑎𝑦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0, 0,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1, 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,…,0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p>
                              <m:r>
                                <a:rPr lang="en-US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0D577B3-2D68-4D21-86AF-C1A6BDF0C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5"/>
                <a:ext cx="5926015" cy="5032374"/>
              </a:xfrm>
              <a:blipFill>
                <a:blip r:embed="rId3"/>
                <a:stretch>
                  <a:fillRect l="-1747" t="-1937" r="-16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27C296E-5E03-4A23-A5D8-66BC310A8590}"/>
              </a:ext>
            </a:extLst>
          </p:cNvPr>
          <p:cNvSpPr txBox="1"/>
          <p:nvPr/>
        </p:nvSpPr>
        <p:spPr>
          <a:xfrm>
            <a:off x="631092" y="5958601"/>
            <a:ext cx="55958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ate a </a:t>
            </a:r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club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sandwich yesterday.</a:t>
            </a:r>
          </a:p>
          <a:p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broke my golf </a:t>
            </a:r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club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yesterday night.</a:t>
            </a:r>
            <a:endParaRPr lang="en-GB" sz="28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537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ELMo</a:t>
            </a:r>
            <a:r>
              <a:rPr lang="en-US" dirty="0"/>
              <a:t> expects inputs of entire sentences and will then produce embeddings for all words in the sentence separately.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get an embedding of a word, input the whole sentence for context, then </a:t>
            </a:r>
            <a:r>
              <a:rPr lang="en-US" b="1" dirty="0"/>
              <a:t>extract only the embedding vector which corresponds to that word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64FE5E-7BD4-BB0F-9532-C3A7965E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611" y="2519265"/>
            <a:ext cx="6262389" cy="348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74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327958C-04EC-F856-6F56-D835935C6BF1}"/>
              </a:ext>
            </a:extLst>
          </p:cNvPr>
          <p:cNvCxnSpPr>
            <a:cxnSpLocks/>
          </p:cNvCxnSpPr>
          <p:nvPr/>
        </p:nvCxnSpPr>
        <p:spPr>
          <a:xfrm flipV="1">
            <a:off x="6975342" y="5978433"/>
            <a:ext cx="2266742" cy="73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790FD62-E9BC-61D7-78F7-81A0AB4610CA}"/>
              </a:ext>
            </a:extLst>
          </p:cNvPr>
          <p:cNvCxnSpPr>
            <a:cxnSpLocks/>
          </p:cNvCxnSpPr>
          <p:nvPr/>
        </p:nvCxnSpPr>
        <p:spPr>
          <a:xfrm flipV="1">
            <a:off x="6958365" y="671973"/>
            <a:ext cx="2266742" cy="73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7BA03BA-BF41-199E-4D02-587B6833962F}"/>
              </a:ext>
            </a:extLst>
          </p:cNvPr>
          <p:cNvCxnSpPr>
            <a:cxnSpLocks/>
          </p:cNvCxnSpPr>
          <p:nvPr/>
        </p:nvCxnSpPr>
        <p:spPr>
          <a:xfrm>
            <a:off x="1824244" y="5968872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D5116C6-E38B-9D00-846C-82E4B6E54DB1}"/>
              </a:ext>
            </a:extLst>
          </p:cNvPr>
          <p:cNvCxnSpPr>
            <a:cxnSpLocks/>
          </p:cNvCxnSpPr>
          <p:nvPr/>
        </p:nvCxnSpPr>
        <p:spPr>
          <a:xfrm>
            <a:off x="1812409" y="4643236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550009F-5FCB-9C05-7302-5EF5EF8E3AF2}"/>
              </a:ext>
            </a:extLst>
          </p:cNvPr>
          <p:cNvCxnSpPr>
            <a:cxnSpLocks/>
          </p:cNvCxnSpPr>
          <p:nvPr/>
        </p:nvCxnSpPr>
        <p:spPr>
          <a:xfrm>
            <a:off x="1802216" y="1989706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F378226-DB9C-89A4-CF2A-CAC89E76D2D1}"/>
              </a:ext>
            </a:extLst>
          </p:cNvPr>
          <p:cNvSpPr/>
          <p:nvPr/>
        </p:nvSpPr>
        <p:spPr>
          <a:xfrm>
            <a:off x="1460090" y="63602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0B9324-2B53-3BFA-C073-13EEC74946D3}"/>
              </a:ext>
            </a:extLst>
          </p:cNvPr>
          <p:cNvSpPr/>
          <p:nvPr/>
        </p:nvSpPr>
        <p:spPr>
          <a:xfrm>
            <a:off x="1565071" y="36921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3B977-A703-63E9-8358-16EA80AD3806}"/>
              </a:ext>
            </a:extLst>
          </p:cNvPr>
          <p:cNvSpPr/>
          <p:nvPr/>
        </p:nvSpPr>
        <p:spPr>
          <a:xfrm>
            <a:off x="1565071" y="847115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E2BBF-E728-683F-09A7-B7F86F43005A}"/>
              </a:ext>
            </a:extLst>
          </p:cNvPr>
          <p:cNvSpPr txBox="1"/>
          <p:nvPr/>
        </p:nvSpPr>
        <p:spPr>
          <a:xfrm rot="5400000">
            <a:off x="1536062" y="441140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65FE73-C5A3-9917-929A-42A94CE805B3}"/>
              </a:ext>
            </a:extLst>
          </p:cNvPr>
          <p:cNvSpPr/>
          <p:nvPr/>
        </p:nvSpPr>
        <p:spPr>
          <a:xfrm>
            <a:off x="1565071" y="146149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61C823-2FD8-6B11-CF6D-179A0A159FEB}"/>
              </a:ext>
            </a:extLst>
          </p:cNvPr>
          <p:cNvSpPr/>
          <p:nvPr/>
        </p:nvSpPr>
        <p:spPr>
          <a:xfrm>
            <a:off x="1565071" y="107110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AF8EF3-3BCB-A49C-6BC1-5440FB2BDC6B}"/>
              </a:ext>
            </a:extLst>
          </p:cNvPr>
          <p:cNvSpPr/>
          <p:nvPr/>
        </p:nvSpPr>
        <p:spPr>
          <a:xfrm>
            <a:off x="1460090" y="1382041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578753-DB56-0654-604A-EA2532B2CA0B}"/>
              </a:ext>
            </a:extLst>
          </p:cNvPr>
          <p:cNvSpPr/>
          <p:nvPr/>
        </p:nvSpPr>
        <p:spPr>
          <a:xfrm>
            <a:off x="1565071" y="1687657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E40681-A648-B930-5817-5D5533DAFE63}"/>
              </a:ext>
            </a:extLst>
          </p:cNvPr>
          <p:cNvSpPr/>
          <p:nvPr/>
        </p:nvSpPr>
        <p:spPr>
          <a:xfrm>
            <a:off x="1565071" y="216555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3F39CC-EC68-109A-C8F6-3056FD86323A}"/>
              </a:ext>
            </a:extLst>
          </p:cNvPr>
          <p:cNvSpPr txBox="1"/>
          <p:nvPr/>
        </p:nvSpPr>
        <p:spPr>
          <a:xfrm rot="5400000">
            <a:off x="1536062" y="1759579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F4203-25DB-78BB-B6E1-6F680A48E767}"/>
              </a:ext>
            </a:extLst>
          </p:cNvPr>
          <p:cNvSpPr/>
          <p:nvPr/>
        </p:nvSpPr>
        <p:spPr>
          <a:xfrm>
            <a:off x="1565071" y="1464588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73B49A-EFB1-AC33-0334-9DD787CABBEB}"/>
              </a:ext>
            </a:extLst>
          </p:cNvPr>
          <p:cNvSpPr/>
          <p:nvPr/>
        </p:nvSpPr>
        <p:spPr>
          <a:xfrm>
            <a:off x="1565071" y="238954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85AC28-6539-66B2-775B-C1A6CA949D63}"/>
              </a:ext>
            </a:extLst>
          </p:cNvPr>
          <p:cNvSpPr/>
          <p:nvPr/>
        </p:nvSpPr>
        <p:spPr>
          <a:xfrm>
            <a:off x="1470282" y="5342243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57C4FB-DF79-1034-99E4-7E91E7A17FDD}"/>
              </a:ext>
            </a:extLst>
          </p:cNvPr>
          <p:cNvSpPr/>
          <p:nvPr/>
        </p:nvSpPr>
        <p:spPr>
          <a:xfrm>
            <a:off x="1575263" y="5647859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DF2646-3AA2-D1FD-F764-16AFC4BAEE2F}"/>
              </a:ext>
            </a:extLst>
          </p:cNvPr>
          <p:cNvSpPr/>
          <p:nvPr/>
        </p:nvSpPr>
        <p:spPr>
          <a:xfrm>
            <a:off x="1575263" y="612575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7E05CF-E529-A6E7-BE61-528EFFC7E3F6}"/>
              </a:ext>
            </a:extLst>
          </p:cNvPr>
          <p:cNvSpPr txBox="1"/>
          <p:nvPr/>
        </p:nvSpPr>
        <p:spPr>
          <a:xfrm rot="5400000">
            <a:off x="1546254" y="571978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47BF91A-B97D-0C4B-C626-E429DD803FA6}"/>
              </a:ext>
            </a:extLst>
          </p:cNvPr>
          <p:cNvSpPr/>
          <p:nvPr/>
        </p:nvSpPr>
        <p:spPr>
          <a:xfrm>
            <a:off x="1575263" y="542479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6BF56E8-6148-AF4F-292C-88A7E82FFB51}"/>
              </a:ext>
            </a:extLst>
          </p:cNvPr>
          <p:cNvSpPr/>
          <p:nvPr/>
        </p:nvSpPr>
        <p:spPr>
          <a:xfrm>
            <a:off x="1575263" y="6349745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0BD47A-F0EE-B7DB-5C1C-CA668E0348EC}"/>
              </a:ext>
            </a:extLst>
          </p:cNvPr>
          <p:cNvSpPr/>
          <p:nvPr/>
        </p:nvSpPr>
        <p:spPr>
          <a:xfrm>
            <a:off x="1470284" y="4014484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F2F1C8-4570-2FAB-4047-4AC23D6ABBD4}"/>
              </a:ext>
            </a:extLst>
          </p:cNvPr>
          <p:cNvSpPr/>
          <p:nvPr/>
        </p:nvSpPr>
        <p:spPr>
          <a:xfrm>
            <a:off x="1575265" y="4320100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055604A-9A51-7D60-6F95-FFFFC96E46D0}"/>
              </a:ext>
            </a:extLst>
          </p:cNvPr>
          <p:cNvSpPr/>
          <p:nvPr/>
        </p:nvSpPr>
        <p:spPr>
          <a:xfrm>
            <a:off x="1575265" y="4797997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EF0609-5EDD-1410-E69D-905F14A74162}"/>
              </a:ext>
            </a:extLst>
          </p:cNvPr>
          <p:cNvSpPr txBox="1"/>
          <p:nvPr/>
        </p:nvSpPr>
        <p:spPr>
          <a:xfrm rot="5400000">
            <a:off x="1546256" y="4392022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C0C6718-D8E1-8724-8C55-0FA9C25421AB}"/>
              </a:ext>
            </a:extLst>
          </p:cNvPr>
          <p:cNvSpPr/>
          <p:nvPr/>
        </p:nvSpPr>
        <p:spPr>
          <a:xfrm>
            <a:off x="1575265" y="409703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C84CA61-3C40-44C9-D5CB-2D24AB390A68}"/>
              </a:ext>
            </a:extLst>
          </p:cNvPr>
          <p:cNvSpPr/>
          <p:nvPr/>
        </p:nvSpPr>
        <p:spPr>
          <a:xfrm>
            <a:off x="1575265" y="502198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13E547-046F-FAB3-B490-40E4E25EF6F5}"/>
              </a:ext>
            </a:extLst>
          </p:cNvPr>
          <p:cNvSpPr txBox="1"/>
          <p:nvPr/>
        </p:nvSpPr>
        <p:spPr>
          <a:xfrm>
            <a:off x="624347" y="1859821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Gonna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306800-DE5B-92EB-3FA6-F671073C70E1}"/>
              </a:ext>
            </a:extLst>
          </p:cNvPr>
          <p:cNvSpPr txBox="1"/>
          <p:nvPr/>
        </p:nvSpPr>
        <p:spPr>
          <a:xfrm>
            <a:off x="624347" y="513218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Never</a:t>
            </a:r>
            <a:endParaRPr lang="en-SG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7C866-39BB-D025-9559-504323E60FA8}"/>
              </a:ext>
            </a:extLst>
          </p:cNvPr>
          <p:cNvSpPr txBox="1"/>
          <p:nvPr/>
        </p:nvSpPr>
        <p:spPr>
          <a:xfrm>
            <a:off x="622246" y="4465892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</a:t>
            </a:r>
            <a:endParaRPr lang="en-SG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598DA67-463C-BB5C-DF24-F216E0878D4B}"/>
              </a:ext>
            </a:extLst>
          </p:cNvPr>
          <p:cNvCxnSpPr>
            <a:cxnSpLocks/>
          </p:cNvCxnSpPr>
          <p:nvPr/>
        </p:nvCxnSpPr>
        <p:spPr>
          <a:xfrm>
            <a:off x="1806315" y="697179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6CE677B-7DA3-670A-E0B9-47FC47279654}"/>
              </a:ext>
            </a:extLst>
          </p:cNvPr>
          <p:cNvSpPr txBox="1"/>
          <p:nvPr/>
        </p:nvSpPr>
        <p:spPr>
          <a:xfrm>
            <a:off x="622245" y="5793767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Up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2FD0D7-EBAF-C88A-58AF-D3A8FA21122D}"/>
                  </a:ext>
                </a:extLst>
              </p:cNvPr>
              <p:cNvSpPr txBox="1"/>
              <p:nvPr/>
            </p:nvSpPr>
            <p:spPr>
              <a:xfrm>
                <a:off x="1744499" y="287181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2FD0D7-EBAF-C88A-58AF-D3A8FA211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499" y="287181"/>
                <a:ext cx="5431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9FAB17-4BD4-31B5-01F6-14B2716E44D3}"/>
                  </a:ext>
                </a:extLst>
              </p:cNvPr>
              <p:cNvSpPr txBox="1"/>
              <p:nvPr/>
            </p:nvSpPr>
            <p:spPr>
              <a:xfrm>
                <a:off x="1739383" y="1562403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9FAB17-4BD4-31B5-01F6-14B2716E4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383" y="1562403"/>
                <a:ext cx="54314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4176070-223F-52D5-33FF-7EC8079B3E5D}"/>
                  </a:ext>
                </a:extLst>
              </p:cNvPr>
              <p:cNvSpPr txBox="1"/>
              <p:nvPr/>
            </p:nvSpPr>
            <p:spPr>
              <a:xfrm>
                <a:off x="1749178" y="4182757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4176070-223F-52D5-33FF-7EC8079B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178" y="4182757"/>
                <a:ext cx="5431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905FD5-4F40-6446-6A68-4E3F99EFE15B}"/>
                  </a:ext>
                </a:extLst>
              </p:cNvPr>
              <p:cNvSpPr txBox="1"/>
              <p:nvPr/>
            </p:nvSpPr>
            <p:spPr>
              <a:xfrm>
                <a:off x="1749176" y="5585581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905FD5-4F40-6446-6A68-4E3F99EFE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176" y="5585581"/>
                <a:ext cx="5431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ectangle 121">
            <a:extLst>
              <a:ext uri="{FF2B5EF4-FFF2-40B4-BE49-F238E27FC236}">
                <a16:creationId xmlns:a16="http://schemas.microsoft.com/office/drawing/2014/main" id="{441818DE-5BC3-0782-9DFC-172EBC5379EA}"/>
              </a:ext>
            </a:extLst>
          </p:cNvPr>
          <p:cNvSpPr/>
          <p:nvPr/>
        </p:nvSpPr>
        <p:spPr>
          <a:xfrm>
            <a:off x="9219964" y="63602"/>
            <a:ext cx="353962" cy="1231491"/>
          </a:xfrm>
          <a:prstGeom prst="rect">
            <a:avLst/>
          </a:prstGeom>
          <a:solidFill>
            <a:srgbClr val="FF616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D275C86F-4EDD-2EC0-34C9-BD3A8793E7DB}"/>
              </a:ext>
            </a:extLst>
          </p:cNvPr>
          <p:cNvSpPr/>
          <p:nvPr/>
        </p:nvSpPr>
        <p:spPr>
          <a:xfrm>
            <a:off x="9324945" y="369218"/>
            <a:ext cx="144000" cy="14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964E082-7A67-1D49-98D8-D5FDED6E19A9}"/>
              </a:ext>
            </a:extLst>
          </p:cNvPr>
          <p:cNvSpPr/>
          <p:nvPr/>
        </p:nvSpPr>
        <p:spPr>
          <a:xfrm>
            <a:off x="9324945" y="847115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3BA14B3-F87D-0B17-59B5-58161846D99B}"/>
              </a:ext>
            </a:extLst>
          </p:cNvPr>
          <p:cNvSpPr txBox="1"/>
          <p:nvPr/>
        </p:nvSpPr>
        <p:spPr>
          <a:xfrm rot="5400000">
            <a:off x="9295936" y="441140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664348D0-1F45-7BDB-B9D7-64748EC215BA}"/>
              </a:ext>
            </a:extLst>
          </p:cNvPr>
          <p:cNvSpPr/>
          <p:nvPr/>
        </p:nvSpPr>
        <p:spPr>
          <a:xfrm>
            <a:off x="9324945" y="146149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6E15805-B6C9-E858-8639-13F94F663570}"/>
              </a:ext>
            </a:extLst>
          </p:cNvPr>
          <p:cNvSpPr/>
          <p:nvPr/>
        </p:nvSpPr>
        <p:spPr>
          <a:xfrm>
            <a:off x="9324945" y="1071104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119A5A5-89ED-E0BB-DE5C-8CD278D595F8}"/>
              </a:ext>
            </a:extLst>
          </p:cNvPr>
          <p:cNvCxnSpPr>
            <a:cxnSpLocks/>
          </p:cNvCxnSpPr>
          <p:nvPr/>
        </p:nvCxnSpPr>
        <p:spPr>
          <a:xfrm>
            <a:off x="1806290" y="3324089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DE88A3-B783-AE20-EE22-2B6EA24A08F4}"/>
              </a:ext>
            </a:extLst>
          </p:cNvPr>
          <p:cNvSpPr/>
          <p:nvPr/>
        </p:nvSpPr>
        <p:spPr>
          <a:xfrm>
            <a:off x="1464165" y="2695337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151EF2-9BDE-E1EC-C841-030CF336317C}"/>
              </a:ext>
            </a:extLst>
          </p:cNvPr>
          <p:cNvSpPr/>
          <p:nvPr/>
        </p:nvSpPr>
        <p:spPr>
          <a:xfrm>
            <a:off x="1569146" y="3000953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50E443-53DE-4425-C576-F06973D5F8EF}"/>
              </a:ext>
            </a:extLst>
          </p:cNvPr>
          <p:cNvSpPr/>
          <p:nvPr/>
        </p:nvSpPr>
        <p:spPr>
          <a:xfrm>
            <a:off x="1569146" y="347885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C4000-CEA9-3BC6-DFBB-0B9286977FFB}"/>
              </a:ext>
            </a:extLst>
          </p:cNvPr>
          <p:cNvSpPr txBox="1"/>
          <p:nvPr/>
        </p:nvSpPr>
        <p:spPr>
          <a:xfrm rot="5400000">
            <a:off x="1540137" y="3072875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02DEE8-8473-F414-AFC3-E92AEF199062}"/>
              </a:ext>
            </a:extLst>
          </p:cNvPr>
          <p:cNvSpPr/>
          <p:nvPr/>
        </p:nvSpPr>
        <p:spPr>
          <a:xfrm>
            <a:off x="1569146" y="277788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40FC38-C92A-9D91-A631-06648D3394E0}"/>
              </a:ext>
            </a:extLst>
          </p:cNvPr>
          <p:cNvSpPr/>
          <p:nvPr/>
        </p:nvSpPr>
        <p:spPr>
          <a:xfrm>
            <a:off x="1569146" y="3702839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A63EDC-C0C4-14B3-3510-4E2A35A21604}"/>
                  </a:ext>
                </a:extLst>
              </p:cNvPr>
              <p:cNvSpPr txBox="1"/>
              <p:nvPr/>
            </p:nvSpPr>
            <p:spPr>
              <a:xfrm>
                <a:off x="1743059" y="2863610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A63EDC-C0C4-14B3-3510-4E2A35A21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059" y="2863610"/>
                <a:ext cx="5431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5C41B5A-D421-194E-5595-B00ADD239BC4}"/>
              </a:ext>
            </a:extLst>
          </p:cNvPr>
          <p:cNvSpPr txBox="1"/>
          <p:nvPr/>
        </p:nvSpPr>
        <p:spPr>
          <a:xfrm>
            <a:off x="622245" y="3103209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Give</a:t>
            </a:r>
            <a:endParaRPr lang="en-S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971DF-10DE-A29D-F559-8D9EBF4CE9A7}"/>
              </a:ext>
            </a:extLst>
          </p:cNvPr>
          <p:cNvSpPr/>
          <p:nvPr/>
        </p:nvSpPr>
        <p:spPr>
          <a:xfrm>
            <a:off x="3857589" y="287181"/>
            <a:ext cx="3105919" cy="620374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err="1">
                <a:solidFill>
                  <a:srgbClr val="7030A0"/>
                </a:solidFill>
              </a:rPr>
              <a:t>ELMo</a:t>
            </a:r>
            <a:endParaRPr lang="en-GB" sz="4400" b="1" dirty="0">
              <a:solidFill>
                <a:srgbClr val="7030A0"/>
              </a:solidFill>
            </a:endParaRPr>
          </a:p>
          <a:p>
            <a:pPr algn="ctr"/>
            <a:endParaRPr lang="en-GB" sz="4400" b="1" dirty="0">
              <a:solidFill>
                <a:srgbClr val="7030A0"/>
              </a:solidFill>
            </a:endParaRPr>
          </a:p>
          <a:p>
            <a:pPr algn="ctr"/>
            <a:endParaRPr lang="en-GB" sz="4400" b="1" dirty="0">
              <a:solidFill>
                <a:srgbClr val="7030A0"/>
              </a:solidFill>
            </a:endParaRPr>
          </a:p>
          <a:p>
            <a:pPr algn="ctr"/>
            <a:endParaRPr lang="en-SG" sz="4400" b="1" dirty="0">
              <a:solidFill>
                <a:srgbClr val="7030A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0C2D0C-4FFB-32B8-628F-86E3A939D4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876" y="2733878"/>
            <a:ext cx="2777509" cy="22081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65CBDF5-1D45-D301-D627-E2B2A910B389}"/>
              </a:ext>
            </a:extLst>
          </p:cNvPr>
          <p:cNvSpPr/>
          <p:nvPr/>
        </p:nvSpPr>
        <p:spPr>
          <a:xfrm>
            <a:off x="9286019" y="5342243"/>
            <a:ext cx="353962" cy="1231491"/>
          </a:xfrm>
          <a:prstGeom prst="rect">
            <a:avLst/>
          </a:prstGeom>
          <a:solidFill>
            <a:srgbClr val="FF616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CC419A-388B-4CA6-0F95-91BC6729A502}"/>
              </a:ext>
            </a:extLst>
          </p:cNvPr>
          <p:cNvSpPr/>
          <p:nvPr/>
        </p:nvSpPr>
        <p:spPr>
          <a:xfrm>
            <a:off x="9391000" y="5647859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133D4B-A547-355C-39A9-5683DA378442}"/>
              </a:ext>
            </a:extLst>
          </p:cNvPr>
          <p:cNvSpPr/>
          <p:nvPr/>
        </p:nvSpPr>
        <p:spPr>
          <a:xfrm>
            <a:off x="9391000" y="6125756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19E11E-DF4B-25DD-DD2C-4F0498671867}"/>
              </a:ext>
            </a:extLst>
          </p:cNvPr>
          <p:cNvSpPr txBox="1"/>
          <p:nvPr/>
        </p:nvSpPr>
        <p:spPr>
          <a:xfrm rot="5400000">
            <a:off x="9361991" y="571978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5979F4-EABF-F023-6295-B3D78CDD7004}"/>
              </a:ext>
            </a:extLst>
          </p:cNvPr>
          <p:cNvSpPr/>
          <p:nvPr/>
        </p:nvSpPr>
        <p:spPr>
          <a:xfrm>
            <a:off x="9391000" y="542479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1CF639E-A9ED-5445-AFF0-07C6EC6BAD04}"/>
              </a:ext>
            </a:extLst>
          </p:cNvPr>
          <p:cNvSpPr/>
          <p:nvPr/>
        </p:nvSpPr>
        <p:spPr>
          <a:xfrm>
            <a:off x="9391000" y="6349745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EE70A2-2E5D-B9CB-4AAD-2F016145FB6B}"/>
              </a:ext>
            </a:extLst>
          </p:cNvPr>
          <p:cNvSpPr txBox="1"/>
          <p:nvPr/>
        </p:nvSpPr>
        <p:spPr>
          <a:xfrm rot="5400000">
            <a:off x="9343094" y="315822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42F339C-DD5A-8556-6A25-83969FC93AE3}"/>
                  </a:ext>
                </a:extLst>
              </p:cNvPr>
              <p:cNvSpPr txBox="1"/>
              <p:nvPr/>
            </p:nvSpPr>
            <p:spPr>
              <a:xfrm>
                <a:off x="9639981" y="146149"/>
                <a:ext cx="2552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SG" dirty="0"/>
                  <a:t>Embedding for word “Never” in sentence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42F339C-DD5A-8556-6A25-83969FC93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981" y="146149"/>
                <a:ext cx="2552019" cy="923330"/>
              </a:xfrm>
              <a:prstGeom prst="rect">
                <a:avLst/>
              </a:prstGeom>
              <a:blipFill>
                <a:blip r:embed="rId8"/>
                <a:stretch>
                  <a:fillRect l="-1909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1554313-548B-3C89-4EDD-C94303C703C7}"/>
                  </a:ext>
                </a:extLst>
              </p:cNvPr>
              <p:cNvSpPr txBox="1"/>
              <p:nvPr/>
            </p:nvSpPr>
            <p:spPr>
              <a:xfrm>
                <a:off x="9753334" y="5424790"/>
                <a:ext cx="2552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SG" dirty="0"/>
                  <a:t>Embedding for word “Up” in sentence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1554313-548B-3C89-4EDD-C94303C70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334" y="5424790"/>
                <a:ext cx="2552019" cy="923330"/>
              </a:xfrm>
              <a:prstGeom prst="rect">
                <a:avLst/>
              </a:prstGeom>
              <a:blipFill>
                <a:blip r:embed="rId9"/>
                <a:stretch>
                  <a:fillRect l="-2148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179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 err="1"/>
              <a:t>ELMo</a:t>
            </a:r>
            <a:r>
              <a:rPr lang="en-US" dirty="0"/>
              <a:t> does not take in words inputs as one-hot vectors, instead, it will decompose them into characters.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935703-D284-4CBF-E159-93CA513AF2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695" b="-1055"/>
          <a:stretch/>
        </p:blipFill>
        <p:spPr>
          <a:xfrm>
            <a:off x="6704053" y="365125"/>
            <a:ext cx="5052518" cy="5999383"/>
          </a:xfrm>
          <a:prstGeom prst="rect">
            <a:avLst/>
          </a:prstGeom>
        </p:spPr>
      </p:pic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C278119F-2757-6B16-1091-43695BAB0BBA}"/>
              </a:ext>
            </a:extLst>
          </p:cNvPr>
          <p:cNvSpPr/>
          <p:nvPr/>
        </p:nvSpPr>
        <p:spPr>
          <a:xfrm>
            <a:off x="6986955" y="250094"/>
            <a:ext cx="1367692" cy="1325563"/>
          </a:xfrm>
          <a:prstGeom prst="mathMultiply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9320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 err="1"/>
              <a:t>ELMo</a:t>
            </a:r>
            <a:r>
              <a:rPr lang="en-US" dirty="0"/>
              <a:t> does not take in words inputs as one-hot vectors, instead, it will decompose them into characters.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The characters will then be represented as one-hot vectors and fed as inputs.</a:t>
            </a:r>
            <a:br>
              <a:rPr lang="en-US" dirty="0"/>
            </a:br>
            <a:r>
              <a:rPr lang="en-US" dirty="0"/>
              <a:t>(Which is nice, lower dimensionality on possible characters compared to possible words!)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3BE32-645D-E081-F188-09C34CB51C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798"/>
          <a:stretch/>
        </p:blipFill>
        <p:spPr>
          <a:xfrm>
            <a:off x="6601916" y="640862"/>
            <a:ext cx="5074777" cy="585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65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C791-C659-474A-A201-BDA86238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Remember problem #4?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9CA4A-578B-4D0C-8F9A-C1A5683CF1D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Problem #4: Using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dirty="0"/>
                  <a:t> to represent embeddings is seriously problematic, if we consider the issue of memory space…</a:t>
                </a:r>
              </a:p>
              <a:p>
                <a:endParaRPr lang="en-GB" dirty="0"/>
              </a:p>
              <a:p>
                <a:r>
                  <a:rPr lang="en-GB" dirty="0"/>
                  <a:t>Languages contain millions (trillions if we include the typos, conjugations, acronyms, etc?) of possible words...</a:t>
                </a:r>
              </a:p>
              <a:p>
                <a:r>
                  <a:rPr lang="en-GB" dirty="0"/>
                  <a:t>We need a representation with lower dimensionality!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9CA4A-578B-4D0C-8F9A-C1A5683CF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695" r="-2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C778DAD-510F-217A-E4EC-5E7BBD60D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699" y="1669563"/>
            <a:ext cx="5014975" cy="2805112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9FAAE90E-7CA3-410A-5764-03C56807F5D6}"/>
              </a:ext>
            </a:extLst>
          </p:cNvPr>
          <p:cNvSpPr/>
          <p:nvPr/>
        </p:nvSpPr>
        <p:spPr>
          <a:xfrm rot="5400000">
            <a:off x="9882187" y="2420575"/>
            <a:ext cx="304800" cy="3686174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F25A4-6B7B-9431-D938-7FE4DD8F77C6}"/>
              </a:ext>
            </a:extLst>
          </p:cNvPr>
          <p:cNvSpPr txBox="1"/>
          <p:nvPr/>
        </p:nvSpPr>
        <p:spPr>
          <a:xfrm>
            <a:off x="7177026" y="4474675"/>
            <a:ext cx="50149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is the size of this vector?!</a:t>
            </a:r>
          </a:p>
          <a:p>
            <a:r>
              <a:rPr lang="en-US" sz="2800" dirty="0"/>
              <a:t>How many zeros in there?! 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B6BF4-33DE-DDB1-B81F-8002AEA90141}"/>
              </a:ext>
            </a:extLst>
          </p:cNvPr>
          <p:cNvSpPr txBox="1"/>
          <p:nvPr/>
        </p:nvSpPr>
        <p:spPr>
          <a:xfrm>
            <a:off x="6408612" y="5471765"/>
            <a:ext cx="5744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sz="2800" b="1" dirty="0">
                <a:solidFill>
                  <a:srgbClr val="FF0000"/>
                </a:solidFill>
              </a:rPr>
              <a:t>Characters, on the other end, can be represented as one-hot vectors, with much lower dimensionality!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803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The bottom layer of </a:t>
            </a:r>
            <a:r>
              <a:rPr lang="en-US" dirty="0" err="1"/>
              <a:t>ELMo</a:t>
            </a:r>
            <a:r>
              <a:rPr lang="en-US" dirty="0"/>
              <a:t> will combine and process characters together.</a:t>
            </a:r>
            <a:br>
              <a:rPr lang="en-US" dirty="0"/>
            </a:br>
            <a:r>
              <a:rPr lang="en-US" dirty="0"/>
              <a:t>It consists of a succession of several (1D) CNN layers.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Intuition: </a:t>
            </a:r>
            <a:r>
              <a:rPr lang="en-US" dirty="0"/>
              <a:t>combining </a:t>
            </a:r>
            <a:r>
              <a:rPr lang="en-US" dirty="0" err="1"/>
              <a:t>neighbouring</a:t>
            </a:r>
            <a:r>
              <a:rPr lang="en-US" dirty="0"/>
              <a:t> characters allows to extract meaning through </a:t>
            </a:r>
            <a:r>
              <a:rPr lang="en-US" b="1" dirty="0"/>
              <a:t>etymology</a:t>
            </a:r>
            <a:r>
              <a:rPr lang="en-US" dirty="0"/>
              <a:t>!</a:t>
            </a:r>
            <a:br>
              <a:rPr lang="en-US" dirty="0"/>
            </a:br>
            <a:r>
              <a:rPr lang="en-US" dirty="0"/>
              <a:t>Also, it solves the </a:t>
            </a:r>
            <a:r>
              <a:rPr lang="en-US" b="1" dirty="0"/>
              <a:t>out-of-dictionary problem</a:t>
            </a:r>
            <a:r>
              <a:rPr lang="en-US" dirty="0"/>
              <a:t>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FF7B15-B77C-4E19-71F0-52641AF6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2449054"/>
            <a:ext cx="5913124" cy="335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82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>
            <a:extLst>
              <a:ext uri="{FF2B5EF4-FFF2-40B4-BE49-F238E27FC236}">
                <a16:creationId xmlns:a16="http://schemas.microsoft.com/office/drawing/2014/main" id="{112FAD13-1FFC-9534-DA45-DE808FBDF9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b="19565"/>
          <a:stretch/>
        </p:blipFill>
        <p:spPr>
          <a:xfrm rot="16200000">
            <a:off x="4299989" y="901012"/>
            <a:ext cx="1601015" cy="9118643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0FA5765-DCC3-F7C2-0EF0-62444D46F55F}"/>
              </a:ext>
            </a:extLst>
          </p:cNvPr>
          <p:cNvSpPr txBox="1"/>
          <p:nvPr/>
        </p:nvSpPr>
        <p:spPr>
          <a:xfrm>
            <a:off x="3666126" y="6260842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endParaRPr lang="en-SG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45EBF8-44DD-8868-7237-C66BAB735C51}"/>
              </a:ext>
            </a:extLst>
          </p:cNvPr>
          <p:cNvSpPr txBox="1"/>
          <p:nvPr/>
        </p:nvSpPr>
        <p:spPr>
          <a:xfrm>
            <a:off x="1418658" y="6260842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endParaRPr lang="en-SG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99209F-D5FB-0A22-637C-297D452F7B2B}"/>
              </a:ext>
            </a:extLst>
          </p:cNvPr>
          <p:cNvSpPr txBox="1"/>
          <p:nvPr/>
        </p:nvSpPr>
        <p:spPr>
          <a:xfrm>
            <a:off x="5975044" y="6260842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en-SG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EAF80214-A833-48BC-93F3-FF32F57B1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79864" y="242940"/>
            <a:ext cx="1046238" cy="2013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54CB408-89ED-5DB2-4A25-9A96917D0001}"/>
                  </a:ext>
                </a:extLst>
              </p:cNvPr>
              <p:cNvSpPr txBox="1"/>
              <p:nvPr/>
            </p:nvSpPr>
            <p:spPr>
              <a:xfrm>
                <a:off x="3008684" y="48979"/>
                <a:ext cx="2552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SG" dirty="0"/>
                  <a:t>First embedding for word “Never” in sentence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54CB408-89ED-5DB2-4A25-9A96917D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84" y="48979"/>
                <a:ext cx="2552019" cy="923330"/>
              </a:xfrm>
              <a:prstGeom prst="rect">
                <a:avLst/>
              </a:prstGeom>
              <a:blipFill>
                <a:blip r:embed="rId4"/>
                <a:stretch>
                  <a:fillRect l="-2153" r="-3349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Left Brace 91">
            <a:extLst>
              <a:ext uri="{FF2B5EF4-FFF2-40B4-BE49-F238E27FC236}">
                <a16:creationId xmlns:a16="http://schemas.microsoft.com/office/drawing/2014/main" id="{0A88AD48-A9AF-A0AD-BC60-B8A3740879A9}"/>
              </a:ext>
            </a:extLst>
          </p:cNvPr>
          <p:cNvSpPr/>
          <p:nvPr/>
        </p:nvSpPr>
        <p:spPr>
          <a:xfrm rot="5400000">
            <a:off x="3951057" y="-1532952"/>
            <a:ext cx="503853" cy="711539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0F43B1-C1D5-7FE6-144E-DB9B5E25BFD7}"/>
              </a:ext>
            </a:extLst>
          </p:cNvPr>
          <p:cNvSpPr/>
          <p:nvPr/>
        </p:nvSpPr>
        <p:spPr>
          <a:xfrm>
            <a:off x="328246" y="3884246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343A562-5D13-7586-501A-91712D7E192C}"/>
              </a:ext>
            </a:extLst>
          </p:cNvPr>
          <p:cNvSpPr/>
          <p:nvPr/>
        </p:nvSpPr>
        <p:spPr>
          <a:xfrm>
            <a:off x="4958862" y="3884246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F60F088-90A5-DBE2-C4C3-17165FF54324}"/>
              </a:ext>
            </a:extLst>
          </p:cNvPr>
          <p:cNvSpPr/>
          <p:nvPr/>
        </p:nvSpPr>
        <p:spPr>
          <a:xfrm>
            <a:off x="3008684" y="3233560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B050"/>
                </a:solidFill>
              </a:rPr>
              <a:t>1D CNN</a:t>
            </a:r>
            <a:endParaRPr lang="en-SG" sz="2800" b="1" dirty="0">
              <a:solidFill>
                <a:srgbClr val="00B050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B13A798-1B15-4542-7305-76931378A9BB}"/>
              </a:ext>
            </a:extLst>
          </p:cNvPr>
          <p:cNvSpPr/>
          <p:nvPr/>
        </p:nvSpPr>
        <p:spPr>
          <a:xfrm>
            <a:off x="7600462" y="3233560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0B675E3-6BB3-0820-AED1-CA23866D40C0}"/>
              </a:ext>
            </a:extLst>
          </p:cNvPr>
          <p:cNvSpPr/>
          <p:nvPr/>
        </p:nvSpPr>
        <p:spPr>
          <a:xfrm>
            <a:off x="328246" y="2582874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46257A5-602C-19ED-9E1F-F46A875A5D6F}"/>
              </a:ext>
            </a:extLst>
          </p:cNvPr>
          <p:cNvSpPr/>
          <p:nvPr/>
        </p:nvSpPr>
        <p:spPr>
          <a:xfrm>
            <a:off x="4958862" y="2582874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DC030B-8D69-E0A0-09B7-75310785A817}"/>
              </a:ext>
            </a:extLst>
          </p:cNvPr>
          <p:cNvSpPr txBox="1"/>
          <p:nvPr/>
        </p:nvSpPr>
        <p:spPr>
          <a:xfrm>
            <a:off x="1639883" y="3250754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77AEA46-C9E9-FAAE-B2A4-8234B13C7904}"/>
              </a:ext>
            </a:extLst>
          </p:cNvPr>
          <p:cNvSpPr txBox="1"/>
          <p:nvPr/>
        </p:nvSpPr>
        <p:spPr>
          <a:xfrm>
            <a:off x="10107853" y="2582874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CEA7A85-0BE5-6DA3-6FEB-B0A0772F6E95}"/>
              </a:ext>
            </a:extLst>
          </p:cNvPr>
          <p:cNvSpPr txBox="1"/>
          <p:nvPr/>
        </p:nvSpPr>
        <p:spPr>
          <a:xfrm>
            <a:off x="10107853" y="395968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3549433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Technicalities for 1D CNNs</a:t>
            </a:r>
          </a:p>
          <a:p>
            <a:r>
              <a:rPr lang="en-GB" dirty="0"/>
              <a:t>Character-level vectors go through 1D convolutional layers with different kernel sizes.</a:t>
            </a:r>
          </a:p>
          <a:p>
            <a:r>
              <a:rPr lang="en-GB" dirty="0"/>
              <a:t>The original “small” </a:t>
            </a:r>
            <a:r>
              <a:rPr lang="en-GB" dirty="0" err="1"/>
              <a:t>ELMo</a:t>
            </a:r>
            <a:r>
              <a:rPr lang="en-GB" dirty="0"/>
              <a:t> model used kernels of size 1, 2, 3, 4, 5, 6, 7 with 32, 32, 64, 128, 256, 512, 1024 channels, respectively.</a:t>
            </a:r>
          </a:p>
          <a:p>
            <a:r>
              <a:rPr lang="en-GB" dirty="0"/>
              <a:t>Outputs from each convolutional layers are then max-pooled and concatenated.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87C734-B6B5-4578-8307-7E676D6F7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The final concatenated vector, of size 2048, can be used as a first word embedding. </a:t>
            </a:r>
            <a:r>
              <a:rPr lang="en-GB" b="1" u="sng" dirty="0"/>
              <a:t>But it does not benefit from </a:t>
            </a:r>
            <a:r>
              <a:rPr lang="en-GB" b="1" u="sng" dirty="0">
                <a:solidFill>
                  <a:srgbClr val="FF0000"/>
                </a:solidFill>
              </a:rPr>
              <a:t>context</a:t>
            </a:r>
            <a:r>
              <a:rPr lang="en-GB" b="1" u="sng" dirty="0"/>
              <a:t> yet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Remember the convolution layers lectures: </a:t>
            </a:r>
            <a:r>
              <a:rPr lang="en-GB" dirty="0"/>
              <a:t>convolutional layers are well known for their feature-extracting properties… This first operation can therefore be regarded as a character-level context extraction process!</a:t>
            </a:r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3719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From Notebook 3</a:t>
            </a:r>
          </a:p>
          <a:p>
            <a:r>
              <a:rPr lang="en-GB" dirty="0"/>
              <a:t>In our implementation, kernel sizes are slightly different, and lead to a 128-length vector in the end.</a:t>
            </a:r>
          </a:p>
          <a:p>
            <a:r>
              <a:rPr lang="en-GB" dirty="0"/>
              <a:t>Interleaving with Max-Pool as suggested in the “original” </a:t>
            </a:r>
            <a:r>
              <a:rPr lang="en-GB" dirty="0" err="1"/>
              <a:t>ELMo</a:t>
            </a:r>
            <a:r>
              <a:rPr lang="en-GB" dirty="0"/>
              <a:t> model.</a:t>
            </a:r>
          </a:p>
          <a:p>
            <a:r>
              <a:rPr lang="en-GB" dirty="0"/>
              <a:t>Adding an embedding layer at the beginning.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BE84FC-8306-6962-2226-718D22343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49663"/>
            <a:ext cx="6066046" cy="58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071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The top layer of </a:t>
            </a:r>
            <a:r>
              <a:rPr lang="en-US" dirty="0" err="1"/>
              <a:t>ELMo</a:t>
            </a:r>
            <a:r>
              <a:rPr lang="en-US" dirty="0"/>
              <a:t> will combine and transfer context from words to each other.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What we want:</a:t>
            </a:r>
          </a:p>
          <a:p>
            <a:pPr lvl="1"/>
            <a:r>
              <a:rPr lang="en-US" dirty="0"/>
              <a:t>A process or function that will transform the first word embedding we produced from the character-level CNN,</a:t>
            </a:r>
          </a:p>
          <a:p>
            <a:pPr lvl="1"/>
            <a:r>
              <a:rPr lang="en-US" dirty="0"/>
              <a:t>Into a new word vector, which has transferred context from words with each other.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2BE942-B2B2-44AB-6D10-0B0CCAB7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484" y="1523881"/>
            <a:ext cx="5645470" cy="4685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9D453A-6A9C-D35E-3795-92EE19CE729E}"/>
                  </a:ext>
                </a:extLst>
              </p:cNvPr>
              <p:cNvSpPr txBox="1"/>
              <p:nvPr/>
            </p:nvSpPr>
            <p:spPr>
              <a:xfrm>
                <a:off x="661963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9D453A-6A9C-D35E-3795-92EE19CE7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631" y="1886411"/>
                <a:ext cx="711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A9D482-E8C8-DDF6-7BBF-198C40EE8FFB}"/>
                  </a:ext>
                </a:extLst>
              </p:cNvPr>
              <p:cNvSpPr txBox="1"/>
              <p:nvPr/>
            </p:nvSpPr>
            <p:spPr>
              <a:xfrm>
                <a:off x="775596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A9D482-E8C8-DDF6-7BBF-198C40EE8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61" y="1886411"/>
                <a:ext cx="7112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45B62-DDE6-81CD-BCA2-5F84FA9C1B32}"/>
                  </a:ext>
                </a:extLst>
              </p:cNvPr>
              <p:cNvSpPr txBox="1"/>
              <p:nvPr/>
            </p:nvSpPr>
            <p:spPr>
              <a:xfrm>
                <a:off x="889229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45B62-DDE6-81CD-BCA2-5F84FA9C1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291" y="1886411"/>
                <a:ext cx="7112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EB9832-FB44-C0CD-4CC3-D8CA6E3F5AB4}"/>
                  </a:ext>
                </a:extLst>
              </p:cNvPr>
              <p:cNvSpPr txBox="1"/>
              <p:nvPr/>
            </p:nvSpPr>
            <p:spPr>
              <a:xfrm>
                <a:off x="10036437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EB9832-FB44-C0CD-4CC3-D8CA6E3F5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437" y="1886411"/>
                <a:ext cx="7112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2EECAB-222D-1588-AF08-B5AE8E86BC18}"/>
                  </a:ext>
                </a:extLst>
              </p:cNvPr>
              <p:cNvSpPr txBox="1"/>
              <p:nvPr/>
            </p:nvSpPr>
            <p:spPr>
              <a:xfrm>
                <a:off x="11228349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2EECAB-222D-1588-AF08-B5AE8E86B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349" y="1886411"/>
                <a:ext cx="711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9D5A0F-45CA-9185-A62A-08229C187F37}"/>
                  </a:ext>
                </a:extLst>
              </p:cNvPr>
              <p:cNvSpPr txBox="1"/>
              <p:nvPr/>
            </p:nvSpPr>
            <p:spPr>
              <a:xfrm>
                <a:off x="8952523" y="6453687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9D5A0F-45CA-9185-A62A-08229C187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523" y="6453687"/>
                <a:ext cx="7112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154946-6687-9EAD-E043-C41D7BAA4218}"/>
              </a:ext>
            </a:extLst>
          </p:cNvPr>
          <p:cNvSpPr/>
          <p:nvPr/>
        </p:nvSpPr>
        <p:spPr>
          <a:xfrm>
            <a:off x="8112369" y="2282092"/>
            <a:ext cx="1086339" cy="812803"/>
          </a:xfrm>
          <a:custGeom>
            <a:avLst/>
            <a:gdLst>
              <a:gd name="connsiteX0" fmla="*/ 0 w 1086339"/>
              <a:gd name="connsiteY0" fmla="*/ 0 h 812803"/>
              <a:gd name="connsiteX1" fmla="*/ 296985 w 1086339"/>
              <a:gd name="connsiteY1" fmla="*/ 812800 h 812803"/>
              <a:gd name="connsiteX2" fmla="*/ 1086339 w 1086339"/>
              <a:gd name="connsiteY2" fmla="*/ 7816 h 81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339" h="812803">
                <a:moveTo>
                  <a:pt x="0" y="0"/>
                </a:moveTo>
                <a:cubicBezTo>
                  <a:pt x="57964" y="405748"/>
                  <a:pt x="115929" y="811497"/>
                  <a:pt x="296985" y="812800"/>
                </a:cubicBezTo>
                <a:cubicBezTo>
                  <a:pt x="478041" y="814103"/>
                  <a:pt x="782190" y="410959"/>
                  <a:pt x="1086339" y="781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0F22ED-CF96-FF4F-87E9-3B375FE57813}"/>
              </a:ext>
            </a:extLst>
          </p:cNvPr>
          <p:cNvSpPr/>
          <p:nvPr/>
        </p:nvSpPr>
        <p:spPr>
          <a:xfrm>
            <a:off x="9448800" y="2274277"/>
            <a:ext cx="2117969" cy="922285"/>
          </a:xfrm>
          <a:custGeom>
            <a:avLst/>
            <a:gdLst>
              <a:gd name="connsiteX0" fmla="*/ 2117969 w 2117969"/>
              <a:gd name="connsiteY0" fmla="*/ 0 h 922285"/>
              <a:gd name="connsiteX1" fmla="*/ 1563077 w 2117969"/>
              <a:gd name="connsiteY1" fmla="*/ 922215 h 922285"/>
              <a:gd name="connsiteX2" fmla="*/ 0 w 2117969"/>
              <a:gd name="connsiteY2" fmla="*/ 39077 h 92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7969" h="922285">
                <a:moveTo>
                  <a:pt x="2117969" y="0"/>
                </a:moveTo>
                <a:cubicBezTo>
                  <a:pt x="2017020" y="457851"/>
                  <a:pt x="1916072" y="915702"/>
                  <a:pt x="1563077" y="922215"/>
                </a:cubicBezTo>
                <a:cubicBezTo>
                  <a:pt x="1210082" y="928728"/>
                  <a:pt x="605041" y="483902"/>
                  <a:pt x="0" y="39077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1B24F-DFB4-DE30-7660-D56A11572D60}"/>
              </a:ext>
            </a:extLst>
          </p:cNvPr>
          <p:cNvSpPr txBox="1"/>
          <p:nvPr/>
        </p:nvSpPr>
        <p:spPr>
          <a:xfrm>
            <a:off x="7916985" y="3149122"/>
            <a:ext cx="97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Who’s eating?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E25B54-3B0C-84BC-8AE5-576C62D68D31}"/>
              </a:ext>
            </a:extLst>
          </p:cNvPr>
          <p:cNvSpPr txBox="1"/>
          <p:nvPr/>
        </p:nvSpPr>
        <p:spPr>
          <a:xfrm>
            <a:off x="10036437" y="3215096"/>
            <a:ext cx="1903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</a:rPr>
              <a:t>What is being eaten?</a:t>
            </a:r>
            <a:endParaRPr lang="en-SG" dirty="0">
              <a:solidFill>
                <a:srgbClr val="00B05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AF9E66-18E6-3C2D-C765-2A0A31469E8D}"/>
              </a:ext>
            </a:extLst>
          </p:cNvPr>
          <p:cNvCxnSpPr>
            <a:cxnSpLocks/>
          </p:cNvCxnSpPr>
          <p:nvPr/>
        </p:nvCxnSpPr>
        <p:spPr>
          <a:xfrm>
            <a:off x="9308123" y="2352431"/>
            <a:ext cx="0" cy="1375507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32CB6-7292-03A3-D6C6-4D39A15A3622}"/>
              </a:ext>
            </a:extLst>
          </p:cNvPr>
          <p:cNvSpPr txBox="1"/>
          <p:nvPr/>
        </p:nvSpPr>
        <p:spPr>
          <a:xfrm>
            <a:off x="8323386" y="3861427"/>
            <a:ext cx="2336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Original Representation of word “eats”</a:t>
            </a:r>
            <a:endParaRPr lang="en-SG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D146568-78EE-6DD5-40BF-556E1AE481F2}"/>
                  </a:ext>
                </a:extLst>
              </p:cNvPr>
              <p:cNvSpPr/>
              <p:nvPr/>
            </p:nvSpPr>
            <p:spPr>
              <a:xfrm>
                <a:off x="6994769" y="5126892"/>
                <a:ext cx="4626708" cy="996651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</a:rPr>
                  <a:t>Combine everything together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D146568-78EE-6DD5-40BF-556E1AE481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769" y="5126892"/>
                <a:ext cx="4626708" cy="9966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Down 26">
            <a:extLst>
              <a:ext uri="{FF2B5EF4-FFF2-40B4-BE49-F238E27FC236}">
                <a16:creationId xmlns:a16="http://schemas.microsoft.com/office/drawing/2014/main" id="{9759C6C3-1147-9ED6-9500-042777EEBF6E}"/>
              </a:ext>
            </a:extLst>
          </p:cNvPr>
          <p:cNvSpPr/>
          <p:nvPr/>
        </p:nvSpPr>
        <p:spPr>
          <a:xfrm>
            <a:off x="8729785" y="4853354"/>
            <a:ext cx="1101969" cy="3907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B081F1A3-59A3-1419-625F-B87FFC029798}"/>
              </a:ext>
            </a:extLst>
          </p:cNvPr>
          <p:cNvSpPr/>
          <p:nvPr/>
        </p:nvSpPr>
        <p:spPr>
          <a:xfrm>
            <a:off x="8757138" y="6006312"/>
            <a:ext cx="1101969" cy="3907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1500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96F-CBDE-4094-BFE9-C45240CD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Aggregation in </a:t>
            </a:r>
            <a:r>
              <a:rPr lang="en-US" dirty="0" err="1"/>
              <a:t>CBoW</a:t>
            </a:r>
            <a:br>
              <a:rPr lang="en-US" dirty="0"/>
            </a:br>
            <a:r>
              <a:rPr lang="en-US" dirty="0"/>
              <a:t>(Reminder)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</a:t>
                </a:r>
                <a:r>
                  <a:rPr lang="en-US" dirty="0" err="1"/>
                  <a:t>CBoW</a:t>
                </a:r>
                <a:r>
                  <a:rPr lang="en-US" dirty="0"/>
                  <a:t>, we would aggregate the context of the surrounding 2k words, by summing their word representation vectors into a single one.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supposedly, we assumed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contained the information of the context and could be used to predict the missing word.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88E989-731A-4768-8BF7-08997F55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32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891C593-DEAD-94D7-FFE5-B694900555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77" r="32987"/>
          <a:stretch/>
        </p:blipFill>
        <p:spPr>
          <a:xfrm>
            <a:off x="7829062" y="260473"/>
            <a:ext cx="3876431" cy="5064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64BEFC-EA9B-0223-6D7D-91ECD42B0A19}"/>
              </a:ext>
            </a:extLst>
          </p:cNvPr>
          <p:cNvSpPr txBox="1"/>
          <p:nvPr/>
        </p:nvSpPr>
        <p:spPr>
          <a:xfrm>
            <a:off x="7541846" y="5681785"/>
            <a:ext cx="4220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sz="2800" b="1" dirty="0">
                <a:solidFill>
                  <a:srgbClr val="FF0000"/>
                </a:solidFill>
              </a:rPr>
              <a:t>Can we do better?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283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aggregation</a:t>
            </a:r>
            <a:br>
              <a:rPr lang="en-US" dirty="0"/>
            </a:br>
            <a:r>
              <a:rPr lang="en-US" dirty="0"/>
              <a:t>using Bi-LSTMs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Transfer information using RNNs? Yes, bidirectional LSTMs!</a:t>
                </a:r>
              </a:p>
              <a:p>
                <a:r>
                  <a:rPr lang="en-US" dirty="0"/>
                  <a:t>Two hidden states, going in two opposite directions, denoted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ac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acc>
                  </m:oMath>
                </a14:m>
                <a:r>
                  <a:rPr lang="en-GB" dirty="0"/>
                  <a:t> respectively.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⃖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𝑅𝑁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</m:t>
                      </m:r>
                      <m:acc>
                        <m:accPr>
                          <m:chr m:val="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With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 being the length of the sentence.</a:t>
                </a:r>
              </a:p>
              <a:p>
                <a:r>
                  <a:rPr lang="en-GB" dirty="0"/>
                  <a:t>Use them to </a:t>
                </a:r>
                <a:r>
                  <a:rPr lang="en-GB" b="1" dirty="0">
                    <a:solidFill>
                      <a:schemeClr val="accent1"/>
                    </a:solidFill>
                  </a:rPr>
                  <a:t>propagate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context</a:t>
                </a:r>
                <a:r>
                  <a:rPr lang="en-GB" dirty="0"/>
                  <a:t>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1176" b="-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E6D7D56-A6DD-4CBC-BE63-AF791E62E7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57" t="25435" r="67500" b="36000"/>
          <a:stretch/>
        </p:blipFill>
        <p:spPr>
          <a:xfrm>
            <a:off x="6303610" y="497009"/>
            <a:ext cx="5803398" cy="4743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12F0EB-FA2A-2D2E-DD08-8D8720A4DE2A}"/>
              </a:ext>
            </a:extLst>
          </p:cNvPr>
          <p:cNvSpPr txBox="1"/>
          <p:nvPr/>
        </p:nvSpPr>
        <p:spPr>
          <a:xfrm>
            <a:off x="7526215" y="5488739"/>
            <a:ext cx="4220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sz="2800" b="1" dirty="0">
                <a:solidFill>
                  <a:srgbClr val="FF0000"/>
                </a:solidFill>
              </a:rPr>
              <a:t>Supposedly better (more sophisticated and trainable), but heavier.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31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The top layer of </a:t>
            </a:r>
            <a:r>
              <a:rPr lang="en-US" dirty="0" err="1"/>
              <a:t>ELMo</a:t>
            </a:r>
            <a:r>
              <a:rPr lang="en-US" dirty="0"/>
              <a:t> will combine and transfer context from words to each other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What we want:</a:t>
            </a:r>
          </a:p>
          <a:p>
            <a:pPr lvl="1"/>
            <a:r>
              <a:rPr lang="en-US" dirty="0"/>
              <a:t>A process or function that will transform the first word embedding we produced from the character-level CNN,</a:t>
            </a:r>
          </a:p>
          <a:p>
            <a:pPr lvl="1"/>
            <a:r>
              <a:rPr lang="en-US" dirty="0"/>
              <a:t>Into a new word vector, which has transferred context from words with each other.</a:t>
            </a:r>
          </a:p>
          <a:p>
            <a:pPr marL="457200" lvl="1" indent="0">
              <a:buNone/>
            </a:pPr>
            <a:r>
              <a:rPr lang="en-US" sz="2800" b="1" dirty="0">
                <a:sym typeface="Wingdings" panose="05000000000000000000" pitchFamily="2" charset="2"/>
              </a:rPr>
              <a:t> </a:t>
            </a:r>
            <a:r>
              <a:rPr lang="en-US" sz="2800" b="1" dirty="0"/>
              <a:t>Use a bi-directional LSTM!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2BE942-B2B2-44AB-6D10-0B0CCAB7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484" y="1523881"/>
            <a:ext cx="5645470" cy="4685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9D453A-6A9C-D35E-3795-92EE19CE729E}"/>
                  </a:ext>
                </a:extLst>
              </p:cNvPr>
              <p:cNvSpPr txBox="1"/>
              <p:nvPr/>
            </p:nvSpPr>
            <p:spPr>
              <a:xfrm>
                <a:off x="661963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9D453A-6A9C-D35E-3795-92EE19CE7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631" y="1886411"/>
                <a:ext cx="711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A9D482-E8C8-DDF6-7BBF-198C40EE8FFB}"/>
                  </a:ext>
                </a:extLst>
              </p:cNvPr>
              <p:cNvSpPr txBox="1"/>
              <p:nvPr/>
            </p:nvSpPr>
            <p:spPr>
              <a:xfrm>
                <a:off x="775596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A9D482-E8C8-DDF6-7BBF-198C40EE8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61" y="1886411"/>
                <a:ext cx="7112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45B62-DDE6-81CD-BCA2-5F84FA9C1B32}"/>
                  </a:ext>
                </a:extLst>
              </p:cNvPr>
              <p:cNvSpPr txBox="1"/>
              <p:nvPr/>
            </p:nvSpPr>
            <p:spPr>
              <a:xfrm>
                <a:off x="889229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45B62-DDE6-81CD-BCA2-5F84FA9C1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291" y="1886411"/>
                <a:ext cx="7112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EB9832-FB44-C0CD-4CC3-D8CA6E3F5AB4}"/>
                  </a:ext>
                </a:extLst>
              </p:cNvPr>
              <p:cNvSpPr txBox="1"/>
              <p:nvPr/>
            </p:nvSpPr>
            <p:spPr>
              <a:xfrm>
                <a:off x="10036437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EB9832-FB44-C0CD-4CC3-D8CA6E3F5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437" y="1886411"/>
                <a:ext cx="7112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2EECAB-222D-1588-AF08-B5AE8E86BC18}"/>
                  </a:ext>
                </a:extLst>
              </p:cNvPr>
              <p:cNvSpPr txBox="1"/>
              <p:nvPr/>
            </p:nvSpPr>
            <p:spPr>
              <a:xfrm>
                <a:off x="11228349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2EECAB-222D-1588-AF08-B5AE8E86B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349" y="1886411"/>
                <a:ext cx="711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9D5A0F-45CA-9185-A62A-08229C187F37}"/>
                  </a:ext>
                </a:extLst>
              </p:cNvPr>
              <p:cNvSpPr txBox="1"/>
              <p:nvPr/>
            </p:nvSpPr>
            <p:spPr>
              <a:xfrm>
                <a:off x="8952523" y="6453687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9D5A0F-45CA-9185-A62A-08229C187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523" y="6453687"/>
                <a:ext cx="7112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154946-6687-9EAD-E043-C41D7BAA4218}"/>
              </a:ext>
            </a:extLst>
          </p:cNvPr>
          <p:cNvSpPr/>
          <p:nvPr/>
        </p:nvSpPr>
        <p:spPr>
          <a:xfrm>
            <a:off x="8112369" y="2282092"/>
            <a:ext cx="1086339" cy="812803"/>
          </a:xfrm>
          <a:custGeom>
            <a:avLst/>
            <a:gdLst>
              <a:gd name="connsiteX0" fmla="*/ 0 w 1086339"/>
              <a:gd name="connsiteY0" fmla="*/ 0 h 812803"/>
              <a:gd name="connsiteX1" fmla="*/ 296985 w 1086339"/>
              <a:gd name="connsiteY1" fmla="*/ 812800 h 812803"/>
              <a:gd name="connsiteX2" fmla="*/ 1086339 w 1086339"/>
              <a:gd name="connsiteY2" fmla="*/ 7816 h 81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339" h="812803">
                <a:moveTo>
                  <a:pt x="0" y="0"/>
                </a:moveTo>
                <a:cubicBezTo>
                  <a:pt x="57964" y="405748"/>
                  <a:pt x="115929" y="811497"/>
                  <a:pt x="296985" y="812800"/>
                </a:cubicBezTo>
                <a:cubicBezTo>
                  <a:pt x="478041" y="814103"/>
                  <a:pt x="782190" y="410959"/>
                  <a:pt x="1086339" y="781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0F22ED-CF96-FF4F-87E9-3B375FE57813}"/>
              </a:ext>
            </a:extLst>
          </p:cNvPr>
          <p:cNvSpPr/>
          <p:nvPr/>
        </p:nvSpPr>
        <p:spPr>
          <a:xfrm>
            <a:off x="9448800" y="2274277"/>
            <a:ext cx="2117969" cy="922285"/>
          </a:xfrm>
          <a:custGeom>
            <a:avLst/>
            <a:gdLst>
              <a:gd name="connsiteX0" fmla="*/ 2117969 w 2117969"/>
              <a:gd name="connsiteY0" fmla="*/ 0 h 922285"/>
              <a:gd name="connsiteX1" fmla="*/ 1563077 w 2117969"/>
              <a:gd name="connsiteY1" fmla="*/ 922215 h 922285"/>
              <a:gd name="connsiteX2" fmla="*/ 0 w 2117969"/>
              <a:gd name="connsiteY2" fmla="*/ 39077 h 92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7969" h="922285">
                <a:moveTo>
                  <a:pt x="2117969" y="0"/>
                </a:moveTo>
                <a:cubicBezTo>
                  <a:pt x="2017020" y="457851"/>
                  <a:pt x="1916072" y="915702"/>
                  <a:pt x="1563077" y="922215"/>
                </a:cubicBezTo>
                <a:cubicBezTo>
                  <a:pt x="1210082" y="928728"/>
                  <a:pt x="605041" y="483902"/>
                  <a:pt x="0" y="39077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1B24F-DFB4-DE30-7660-D56A11572D60}"/>
              </a:ext>
            </a:extLst>
          </p:cNvPr>
          <p:cNvSpPr txBox="1"/>
          <p:nvPr/>
        </p:nvSpPr>
        <p:spPr>
          <a:xfrm>
            <a:off x="7916985" y="3149122"/>
            <a:ext cx="97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Who’s eating?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E25B54-3B0C-84BC-8AE5-576C62D68D31}"/>
              </a:ext>
            </a:extLst>
          </p:cNvPr>
          <p:cNvSpPr txBox="1"/>
          <p:nvPr/>
        </p:nvSpPr>
        <p:spPr>
          <a:xfrm>
            <a:off x="10036437" y="3215096"/>
            <a:ext cx="1903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</a:rPr>
              <a:t>What is being eaten?</a:t>
            </a:r>
            <a:endParaRPr lang="en-SG" dirty="0">
              <a:solidFill>
                <a:srgbClr val="00B05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AF9E66-18E6-3C2D-C765-2A0A31469E8D}"/>
              </a:ext>
            </a:extLst>
          </p:cNvPr>
          <p:cNvCxnSpPr>
            <a:cxnSpLocks/>
          </p:cNvCxnSpPr>
          <p:nvPr/>
        </p:nvCxnSpPr>
        <p:spPr>
          <a:xfrm>
            <a:off x="9308123" y="2352431"/>
            <a:ext cx="0" cy="1375507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32CB6-7292-03A3-D6C6-4D39A15A3622}"/>
              </a:ext>
            </a:extLst>
          </p:cNvPr>
          <p:cNvSpPr txBox="1"/>
          <p:nvPr/>
        </p:nvSpPr>
        <p:spPr>
          <a:xfrm>
            <a:off x="8323386" y="3861427"/>
            <a:ext cx="2336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Original Representation of word “eats”</a:t>
            </a:r>
            <a:endParaRPr lang="en-SG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D146568-78EE-6DD5-40BF-556E1AE481F2}"/>
                  </a:ext>
                </a:extLst>
              </p:cNvPr>
              <p:cNvSpPr/>
              <p:nvPr/>
            </p:nvSpPr>
            <p:spPr>
              <a:xfrm>
                <a:off x="6994769" y="5126892"/>
                <a:ext cx="4626708" cy="996651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</a:rPr>
                  <a:t>Propagate context and update embeddings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D146568-78EE-6DD5-40BF-556E1AE481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769" y="5126892"/>
                <a:ext cx="4626708" cy="9966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Down 26">
            <a:extLst>
              <a:ext uri="{FF2B5EF4-FFF2-40B4-BE49-F238E27FC236}">
                <a16:creationId xmlns:a16="http://schemas.microsoft.com/office/drawing/2014/main" id="{9759C6C3-1147-9ED6-9500-042777EEBF6E}"/>
              </a:ext>
            </a:extLst>
          </p:cNvPr>
          <p:cNvSpPr/>
          <p:nvPr/>
        </p:nvSpPr>
        <p:spPr>
          <a:xfrm>
            <a:off x="8729785" y="4853354"/>
            <a:ext cx="1101969" cy="3907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B081F1A3-59A3-1419-625F-B87FFC029798}"/>
              </a:ext>
            </a:extLst>
          </p:cNvPr>
          <p:cNvSpPr/>
          <p:nvPr/>
        </p:nvSpPr>
        <p:spPr>
          <a:xfrm>
            <a:off x="8757138" y="6006312"/>
            <a:ext cx="1101969" cy="3907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2670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b="1" dirty="0"/>
                  <a:t>Top layer of </a:t>
                </a:r>
                <a:r>
                  <a:rPr lang="en-US" b="1" dirty="0" err="1"/>
                  <a:t>ELMo</a:t>
                </a:r>
                <a:r>
                  <a:rPr lang="en-US" b="1" dirty="0"/>
                  <a:t>:</a:t>
                </a:r>
                <a:r>
                  <a:rPr lang="en-US" dirty="0"/>
                  <a:t> use a</a:t>
                </a:r>
                <a:br>
                  <a:rPr lang="en-US" dirty="0"/>
                </a:br>
                <a:r>
                  <a:rPr lang="en-US" b="1" dirty="0"/>
                  <a:t>bi-directional LSTM</a:t>
                </a:r>
                <a:r>
                  <a:rPr lang="en-US" dirty="0"/>
                  <a:t>, to propagate </a:t>
                </a:r>
                <a:r>
                  <a:rPr lang="en-US" b="1" dirty="0"/>
                  <a:t>some context using </a:t>
                </a:r>
                <a:r>
                  <a:rPr lang="en-US" dirty="0"/>
                  <a:t>for the word embeddings we had produced earlier.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Final word embedding will be stored in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058" r="-21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2660635-A548-42C8-5814-34F67097C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484" y="1523881"/>
            <a:ext cx="5645470" cy="4685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69B7EF-8768-564C-1D31-1499C7EBDCAC}"/>
                  </a:ext>
                </a:extLst>
              </p:cNvPr>
              <p:cNvSpPr txBox="1"/>
              <p:nvPr/>
            </p:nvSpPr>
            <p:spPr>
              <a:xfrm>
                <a:off x="661963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69B7EF-8768-564C-1D31-1499C7E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631" y="1886411"/>
                <a:ext cx="7112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0F189E-07F4-4897-6E79-A1751D8C66A5}"/>
                  </a:ext>
                </a:extLst>
              </p:cNvPr>
              <p:cNvSpPr txBox="1"/>
              <p:nvPr/>
            </p:nvSpPr>
            <p:spPr>
              <a:xfrm>
                <a:off x="775596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0F189E-07F4-4897-6E79-A1751D8C6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61" y="1886411"/>
                <a:ext cx="7112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0F9EA4-D765-4E8B-408C-16955C818F7F}"/>
                  </a:ext>
                </a:extLst>
              </p:cNvPr>
              <p:cNvSpPr txBox="1"/>
              <p:nvPr/>
            </p:nvSpPr>
            <p:spPr>
              <a:xfrm>
                <a:off x="8892291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0F9EA4-D765-4E8B-408C-16955C818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291" y="1886411"/>
                <a:ext cx="7112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BBA858-EC44-47DC-2952-B51B8FE55CF3}"/>
                  </a:ext>
                </a:extLst>
              </p:cNvPr>
              <p:cNvSpPr txBox="1"/>
              <p:nvPr/>
            </p:nvSpPr>
            <p:spPr>
              <a:xfrm>
                <a:off x="10036437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BBA858-EC44-47DC-2952-B51B8FE55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437" y="1886411"/>
                <a:ext cx="711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7156C2-63DD-7339-634D-49C32FCC9C61}"/>
                  </a:ext>
                </a:extLst>
              </p:cNvPr>
              <p:cNvSpPr txBox="1"/>
              <p:nvPr/>
            </p:nvSpPr>
            <p:spPr>
              <a:xfrm>
                <a:off x="11228349" y="1886411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7156C2-63DD-7339-634D-49C32FCC9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349" y="1886411"/>
                <a:ext cx="7112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F9D70F-839F-BEF7-E142-A5E0D653A4DC}"/>
                  </a:ext>
                </a:extLst>
              </p:cNvPr>
              <p:cNvSpPr txBox="1"/>
              <p:nvPr/>
            </p:nvSpPr>
            <p:spPr>
              <a:xfrm>
                <a:off x="8952523" y="6453687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F9D70F-839F-BEF7-E142-A5E0D653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523" y="6453687"/>
                <a:ext cx="7112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871B89F-9661-E7BE-6671-307482615D3C}"/>
              </a:ext>
            </a:extLst>
          </p:cNvPr>
          <p:cNvSpPr/>
          <p:nvPr/>
        </p:nvSpPr>
        <p:spPr>
          <a:xfrm>
            <a:off x="8112369" y="2282092"/>
            <a:ext cx="1086339" cy="812803"/>
          </a:xfrm>
          <a:custGeom>
            <a:avLst/>
            <a:gdLst>
              <a:gd name="connsiteX0" fmla="*/ 0 w 1086339"/>
              <a:gd name="connsiteY0" fmla="*/ 0 h 812803"/>
              <a:gd name="connsiteX1" fmla="*/ 296985 w 1086339"/>
              <a:gd name="connsiteY1" fmla="*/ 812800 h 812803"/>
              <a:gd name="connsiteX2" fmla="*/ 1086339 w 1086339"/>
              <a:gd name="connsiteY2" fmla="*/ 7816 h 81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339" h="812803">
                <a:moveTo>
                  <a:pt x="0" y="0"/>
                </a:moveTo>
                <a:cubicBezTo>
                  <a:pt x="57964" y="405748"/>
                  <a:pt x="115929" y="811497"/>
                  <a:pt x="296985" y="812800"/>
                </a:cubicBezTo>
                <a:cubicBezTo>
                  <a:pt x="478041" y="814103"/>
                  <a:pt x="782190" y="410959"/>
                  <a:pt x="1086339" y="781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819E8AC-9796-35DF-41D5-29D910BAED64}"/>
              </a:ext>
            </a:extLst>
          </p:cNvPr>
          <p:cNvSpPr/>
          <p:nvPr/>
        </p:nvSpPr>
        <p:spPr>
          <a:xfrm>
            <a:off x="9448800" y="2274277"/>
            <a:ext cx="2117969" cy="922285"/>
          </a:xfrm>
          <a:custGeom>
            <a:avLst/>
            <a:gdLst>
              <a:gd name="connsiteX0" fmla="*/ 2117969 w 2117969"/>
              <a:gd name="connsiteY0" fmla="*/ 0 h 922285"/>
              <a:gd name="connsiteX1" fmla="*/ 1563077 w 2117969"/>
              <a:gd name="connsiteY1" fmla="*/ 922215 h 922285"/>
              <a:gd name="connsiteX2" fmla="*/ 0 w 2117969"/>
              <a:gd name="connsiteY2" fmla="*/ 39077 h 92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7969" h="922285">
                <a:moveTo>
                  <a:pt x="2117969" y="0"/>
                </a:moveTo>
                <a:cubicBezTo>
                  <a:pt x="2017020" y="457851"/>
                  <a:pt x="1916072" y="915702"/>
                  <a:pt x="1563077" y="922215"/>
                </a:cubicBezTo>
                <a:cubicBezTo>
                  <a:pt x="1210082" y="928728"/>
                  <a:pt x="605041" y="483902"/>
                  <a:pt x="0" y="39077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066DE-55EC-A0FB-40B6-A505EC487829}"/>
              </a:ext>
            </a:extLst>
          </p:cNvPr>
          <p:cNvSpPr txBox="1"/>
          <p:nvPr/>
        </p:nvSpPr>
        <p:spPr>
          <a:xfrm>
            <a:off x="7916985" y="3149122"/>
            <a:ext cx="97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Who’s eating?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47BF8-8E8F-81E0-E655-EB263F7F3F73}"/>
              </a:ext>
            </a:extLst>
          </p:cNvPr>
          <p:cNvSpPr txBox="1"/>
          <p:nvPr/>
        </p:nvSpPr>
        <p:spPr>
          <a:xfrm>
            <a:off x="10036437" y="3215096"/>
            <a:ext cx="1903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</a:rPr>
              <a:t>What is being eaten?</a:t>
            </a:r>
            <a:endParaRPr lang="en-SG" dirty="0">
              <a:solidFill>
                <a:srgbClr val="00B05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8F74DB-94BE-7AF3-ED8B-0EC9064FF2F8}"/>
              </a:ext>
            </a:extLst>
          </p:cNvPr>
          <p:cNvCxnSpPr>
            <a:cxnSpLocks/>
          </p:cNvCxnSpPr>
          <p:nvPr/>
        </p:nvCxnSpPr>
        <p:spPr>
          <a:xfrm>
            <a:off x="9308123" y="2352431"/>
            <a:ext cx="0" cy="1375507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6FA3B2-D18F-F3D0-F8DF-FFFF76033EE8}"/>
              </a:ext>
            </a:extLst>
          </p:cNvPr>
          <p:cNvSpPr txBox="1"/>
          <p:nvPr/>
        </p:nvSpPr>
        <p:spPr>
          <a:xfrm>
            <a:off x="8323386" y="3861427"/>
            <a:ext cx="2336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Original Representation of word “eats”</a:t>
            </a:r>
            <a:endParaRPr lang="en-SG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6E4596-6A2B-A44C-BB59-2A63403A25C2}"/>
                  </a:ext>
                </a:extLst>
              </p:cNvPr>
              <p:cNvSpPr/>
              <p:nvPr/>
            </p:nvSpPr>
            <p:spPr>
              <a:xfrm>
                <a:off x="6994769" y="5126892"/>
                <a:ext cx="4626708" cy="996651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rgbClr val="7030A0"/>
                    </a:solidFill>
                  </a:rPr>
                  <a:t>Propagate context and update embeddings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6E4596-6A2B-A44C-BB59-2A63403A2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769" y="5126892"/>
                <a:ext cx="4626708" cy="9966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Down 19">
            <a:extLst>
              <a:ext uri="{FF2B5EF4-FFF2-40B4-BE49-F238E27FC236}">
                <a16:creationId xmlns:a16="http://schemas.microsoft.com/office/drawing/2014/main" id="{5EA98F34-855C-479D-CFAC-C1B981DAC533}"/>
              </a:ext>
            </a:extLst>
          </p:cNvPr>
          <p:cNvSpPr/>
          <p:nvPr/>
        </p:nvSpPr>
        <p:spPr>
          <a:xfrm>
            <a:off x="8729785" y="4853354"/>
            <a:ext cx="1101969" cy="3907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85E473D-071D-8A0B-6986-CB3E95A4C711}"/>
              </a:ext>
            </a:extLst>
          </p:cNvPr>
          <p:cNvSpPr/>
          <p:nvPr/>
        </p:nvSpPr>
        <p:spPr>
          <a:xfrm>
            <a:off x="8757138" y="6006312"/>
            <a:ext cx="1101969" cy="3907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8678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b="1" dirty="0"/>
                  <a:t>Top layer of </a:t>
                </a:r>
                <a:r>
                  <a:rPr lang="en-US" b="1" dirty="0" err="1"/>
                  <a:t>ELMo</a:t>
                </a:r>
                <a:r>
                  <a:rPr lang="en-US" b="1" dirty="0"/>
                  <a:t>:</a:t>
                </a:r>
                <a:r>
                  <a:rPr lang="en-US" dirty="0"/>
                  <a:t> use a </a:t>
                </a:r>
                <a:br>
                  <a:rPr lang="en-US" dirty="0"/>
                </a:br>
                <a:r>
                  <a:rPr lang="en-US" b="1" dirty="0"/>
                  <a:t>bi-directional LSTM</a:t>
                </a:r>
                <a:r>
                  <a:rPr lang="en-US" dirty="0"/>
                  <a:t>, to propagate </a:t>
                </a:r>
                <a:r>
                  <a:rPr lang="en-US" b="1" dirty="0"/>
                  <a:t>some context using </a:t>
                </a:r>
                <a:r>
                  <a:rPr lang="en-US" dirty="0"/>
                  <a:t>for the word embeddings we had produced earlier.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Final word embedding will be stored in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058" r="-21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BE17D93-FCD7-7871-6125-36B56FD54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996" y="89072"/>
            <a:ext cx="5620666" cy="667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14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E1E38-2085-423D-B105-8D4E8F163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dirty="0"/>
              <a:t>So far, we could connect both models and they technically would work just fine…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132A5-E96A-EE6D-D742-F71FECBB6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b="19565"/>
          <a:stretch/>
        </p:blipFill>
        <p:spPr>
          <a:xfrm rot="16200000">
            <a:off x="8863966" y="4021864"/>
            <a:ext cx="743729" cy="4235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05F90-431A-0FC7-52EE-8440ADDC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030688" y="4056162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3DCD2-1EB1-454D-E8D6-3A21B4020927}"/>
                  </a:ext>
                </a:extLst>
              </p:cNvPr>
              <p:cNvSpPr txBox="1"/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First embedding for word “Never” in sentence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3DCD2-1EB1-454D-E8D6-3A21B4020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blipFill>
                <a:blip r:embed="rId4"/>
                <a:stretch>
                  <a:fillRect l="-2222" r="-166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4184B91-8854-7896-87D0-4B682F1965FC}"/>
              </a:ext>
            </a:extLst>
          </p:cNvPr>
          <p:cNvSpPr txBox="1"/>
          <p:nvPr/>
        </p:nvSpPr>
        <p:spPr>
          <a:xfrm>
            <a:off x="8494166" y="6434317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85823-DB08-1C01-92E6-5324301888B0}"/>
              </a:ext>
            </a:extLst>
          </p:cNvPr>
          <p:cNvSpPr txBox="1"/>
          <p:nvPr/>
        </p:nvSpPr>
        <p:spPr>
          <a:xfrm>
            <a:off x="7375857" y="642928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7EE29-6BCF-19E4-FAD0-B3E9D91CC50B}"/>
              </a:ext>
            </a:extLst>
          </p:cNvPr>
          <p:cNvSpPr txBox="1"/>
          <p:nvPr/>
        </p:nvSpPr>
        <p:spPr>
          <a:xfrm>
            <a:off x="9571273" y="644491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FBB921-7D60-3752-3797-B3AF79C103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t="68192" r="26975" b="19565"/>
          <a:stretch/>
        </p:blipFill>
        <p:spPr>
          <a:xfrm rot="16200000">
            <a:off x="9621636" y="4265107"/>
            <a:ext cx="369331" cy="6447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65E9CD-7AF2-8E35-A205-30F9DC28A1E4}"/>
              </a:ext>
            </a:extLst>
          </p:cNvPr>
          <p:cNvSpPr/>
          <p:nvPr/>
        </p:nvSpPr>
        <p:spPr>
          <a:xfrm>
            <a:off x="7041662" y="5073579"/>
            <a:ext cx="5017476" cy="64518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Character-level CNNs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56075B45-C598-538E-4660-8F926B032FBF}"/>
              </a:ext>
            </a:extLst>
          </p:cNvPr>
          <p:cNvSpPr/>
          <p:nvPr/>
        </p:nvSpPr>
        <p:spPr>
          <a:xfrm>
            <a:off x="9159631" y="5548925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E105CA80-F662-60C3-9E66-A0C4BF8644C3}"/>
              </a:ext>
            </a:extLst>
          </p:cNvPr>
          <p:cNvSpPr/>
          <p:nvPr/>
        </p:nvSpPr>
        <p:spPr>
          <a:xfrm>
            <a:off x="9159631" y="4898767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DCAEA-AB85-735C-96A5-8A0A818A10E4}"/>
              </a:ext>
            </a:extLst>
          </p:cNvPr>
          <p:cNvSpPr/>
          <p:nvPr/>
        </p:nvSpPr>
        <p:spPr>
          <a:xfrm>
            <a:off x="7041662" y="1460952"/>
            <a:ext cx="5017476" cy="6451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Context Propagation with Bi-LSTM</a:t>
            </a:r>
            <a:endParaRPr lang="en-SG" dirty="0">
              <a:solidFill>
                <a:schemeClr val="accent2"/>
              </a:solidFill>
            </a:endParaRP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FCA22F86-6A1E-222F-B983-A98385C94F82}"/>
              </a:ext>
            </a:extLst>
          </p:cNvPr>
          <p:cNvSpPr/>
          <p:nvPr/>
        </p:nvSpPr>
        <p:spPr>
          <a:xfrm>
            <a:off x="9159631" y="1916894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7D307DD-49D7-5F12-DAA2-CCD11A2E7E84}"/>
              </a:ext>
            </a:extLst>
          </p:cNvPr>
          <p:cNvSpPr/>
          <p:nvPr/>
        </p:nvSpPr>
        <p:spPr>
          <a:xfrm>
            <a:off x="9159631" y="1266736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A6E0AF-712D-450D-D6CE-CCE67B63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780208" y="600879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66E1A3-1294-8AE8-F515-92C360CE7440}"/>
                  </a:ext>
                </a:extLst>
              </p:cNvPr>
              <p:cNvSpPr txBox="1"/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Final embedding for word “Never” in sentence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66E1A3-1294-8AE8-F515-92C360CE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blipFill>
                <a:blip r:embed="rId5"/>
                <a:stretch>
                  <a:fillRect l="-2222" r="-3889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1E3E0137-CAD9-D4A1-0005-64D9128750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t="68192" r="26975" b="19565"/>
          <a:stretch/>
        </p:blipFill>
        <p:spPr>
          <a:xfrm rot="16200000">
            <a:off x="9371156" y="809824"/>
            <a:ext cx="369331" cy="6447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04896D-B8E3-F0E9-222A-F36BEA90A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816339" y="598010"/>
            <a:ext cx="555147" cy="10683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854F02-429B-5380-9A46-8E21274A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865780" y="4056162"/>
            <a:ext cx="555147" cy="10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02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E1E38-2085-423D-B105-8D4E8F163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dirty="0"/>
              <a:t>So far, we could connect both models and they technically would work just fine…</a:t>
            </a:r>
            <a:br>
              <a:rPr lang="en-US" dirty="0"/>
            </a:br>
            <a:br>
              <a:rPr lang="en-US" b="1" dirty="0"/>
            </a:br>
            <a:r>
              <a:rPr lang="en-US" b="1" dirty="0"/>
              <a:t>In practice, however, we like to add a few extra Linear layers in the middle to allow for a smoother transition.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132A5-E96A-EE6D-D742-F71FECBB6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b="19565"/>
          <a:stretch/>
        </p:blipFill>
        <p:spPr>
          <a:xfrm rot="16200000">
            <a:off x="8863966" y="4021864"/>
            <a:ext cx="743729" cy="4235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05F90-431A-0FC7-52EE-8440ADDC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030688" y="4056162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3DCD2-1EB1-454D-E8D6-3A21B4020927}"/>
                  </a:ext>
                </a:extLst>
              </p:cNvPr>
              <p:cNvSpPr txBox="1"/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First embedding for word “Never” in sentence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3DCD2-1EB1-454D-E8D6-3A21B4020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blipFill>
                <a:blip r:embed="rId4"/>
                <a:stretch>
                  <a:fillRect l="-2222" r="-166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4184B91-8854-7896-87D0-4B682F1965FC}"/>
              </a:ext>
            </a:extLst>
          </p:cNvPr>
          <p:cNvSpPr txBox="1"/>
          <p:nvPr/>
        </p:nvSpPr>
        <p:spPr>
          <a:xfrm>
            <a:off x="8494166" y="6434317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85823-DB08-1C01-92E6-5324301888B0}"/>
              </a:ext>
            </a:extLst>
          </p:cNvPr>
          <p:cNvSpPr txBox="1"/>
          <p:nvPr/>
        </p:nvSpPr>
        <p:spPr>
          <a:xfrm>
            <a:off x="7375857" y="642928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7EE29-6BCF-19E4-FAD0-B3E9D91CC50B}"/>
              </a:ext>
            </a:extLst>
          </p:cNvPr>
          <p:cNvSpPr txBox="1"/>
          <p:nvPr/>
        </p:nvSpPr>
        <p:spPr>
          <a:xfrm>
            <a:off x="9571273" y="644491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FBB921-7D60-3752-3797-B3AF79C103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t="68192" r="26975" b="19565"/>
          <a:stretch/>
        </p:blipFill>
        <p:spPr>
          <a:xfrm rot="16200000">
            <a:off x="9621636" y="4265107"/>
            <a:ext cx="369331" cy="6447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65E9CD-7AF2-8E35-A205-30F9DC28A1E4}"/>
              </a:ext>
            </a:extLst>
          </p:cNvPr>
          <p:cNvSpPr/>
          <p:nvPr/>
        </p:nvSpPr>
        <p:spPr>
          <a:xfrm>
            <a:off x="7041662" y="5073579"/>
            <a:ext cx="5017476" cy="64518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Character-level CNNs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56075B45-C598-538E-4660-8F926B032FBF}"/>
              </a:ext>
            </a:extLst>
          </p:cNvPr>
          <p:cNvSpPr/>
          <p:nvPr/>
        </p:nvSpPr>
        <p:spPr>
          <a:xfrm>
            <a:off x="9159631" y="5548925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E105CA80-F662-60C3-9E66-A0C4BF8644C3}"/>
              </a:ext>
            </a:extLst>
          </p:cNvPr>
          <p:cNvSpPr/>
          <p:nvPr/>
        </p:nvSpPr>
        <p:spPr>
          <a:xfrm>
            <a:off x="9159631" y="4898767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DCAEA-AB85-735C-96A5-8A0A818A10E4}"/>
              </a:ext>
            </a:extLst>
          </p:cNvPr>
          <p:cNvSpPr/>
          <p:nvPr/>
        </p:nvSpPr>
        <p:spPr>
          <a:xfrm>
            <a:off x="7041662" y="1460952"/>
            <a:ext cx="5017476" cy="6451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Context Propagation with Bi-LSTM</a:t>
            </a:r>
            <a:endParaRPr lang="en-SG" dirty="0">
              <a:solidFill>
                <a:schemeClr val="accent2"/>
              </a:solidFill>
            </a:endParaRP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7D307DD-49D7-5F12-DAA2-CCD11A2E7E84}"/>
              </a:ext>
            </a:extLst>
          </p:cNvPr>
          <p:cNvSpPr/>
          <p:nvPr/>
        </p:nvSpPr>
        <p:spPr>
          <a:xfrm>
            <a:off x="9159631" y="1266736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A6E0AF-712D-450D-D6CE-CCE67B63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780208" y="600879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66E1A3-1294-8AE8-F515-92C360CE7440}"/>
                  </a:ext>
                </a:extLst>
              </p:cNvPr>
              <p:cNvSpPr txBox="1"/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Final embedding for word “Never” in sentence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66E1A3-1294-8AE8-F515-92C360CE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blipFill>
                <a:blip r:embed="rId5"/>
                <a:stretch>
                  <a:fillRect l="-2222" r="-3889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1E3E0137-CAD9-D4A1-0005-64D9128750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t="68192" r="26975" b="19565"/>
          <a:stretch/>
        </p:blipFill>
        <p:spPr>
          <a:xfrm rot="16200000">
            <a:off x="9371156" y="809824"/>
            <a:ext cx="369331" cy="6447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04896D-B8E3-F0E9-222A-F36BEA90A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816339" y="598010"/>
            <a:ext cx="555147" cy="10683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854F02-429B-5380-9A46-8E21274A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865780" y="4056162"/>
            <a:ext cx="555147" cy="10683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E7528E-C165-F2B5-03D7-F65273950E98}"/>
              </a:ext>
            </a:extLst>
          </p:cNvPr>
          <p:cNvSpPr/>
          <p:nvPr/>
        </p:nvSpPr>
        <p:spPr>
          <a:xfrm>
            <a:off x="7041662" y="2144061"/>
            <a:ext cx="5017476" cy="64518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B050"/>
                </a:solidFill>
              </a:rPr>
              <a:t>Some </a:t>
            </a:r>
            <a:r>
              <a:rPr lang="en-GB" dirty="0" err="1">
                <a:solidFill>
                  <a:srgbClr val="00B050"/>
                </a:solidFill>
              </a:rPr>
              <a:t>FeedForward</a:t>
            </a:r>
            <a:r>
              <a:rPr lang="en-GB" dirty="0">
                <a:solidFill>
                  <a:srgbClr val="00B050"/>
                </a:solidFill>
              </a:rPr>
              <a:t> using Highway Layers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968C52A6-8447-4AE8-6CEE-A3071119E0E0}"/>
              </a:ext>
            </a:extLst>
          </p:cNvPr>
          <p:cNvSpPr/>
          <p:nvPr/>
        </p:nvSpPr>
        <p:spPr>
          <a:xfrm>
            <a:off x="9206084" y="2593836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4A7404ED-6D9F-B175-0E59-FD7F8D9E7E4A}"/>
              </a:ext>
            </a:extLst>
          </p:cNvPr>
          <p:cNvSpPr/>
          <p:nvPr/>
        </p:nvSpPr>
        <p:spPr>
          <a:xfrm>
            <a:off x="9159631" y="1916894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02413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9397CC4-1839-0901-2A80-6A2C99D436E1}"/>
              </a:ext>
            </a:extLst>
          </p:cNvPr>
          <p:cNvSpPr/>
          <p:nvPr/>
        </p:nvSpPr>
        <p:spPr>
          <a:xfrm>
            <a:off x="7041662" y="2144061"/>
            <a:ext cx="5017476" cy="64518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B050"/>
                </a:solidFill>
              </a:rPr>
              <a:t>Some </a:t>
            </a:r>
            <a:r>
              <a:rPr lang="en-GB" dirty="0" err="1">
                <a:solidFill>
                  <a:srgbClr val="00B050"/>
                </a:solidFill>
              </a:rPr>
              <a:t>FeedForward</a:t>
            </a:r>
            <a:r>
              <a:rPr lang="en-GB" dirty="0">
                <a:solidFill>
                  <a:srgbClr val="00B050"/>
                </a:solidFill>
              </a:rPr>
              <a:t> using Highway Layers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r>
              <a:rPr lang="en-US" dirty="0"/>
              <a:t> – Key takeaways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E1E38-2085-423D-B105-8D4E8F163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b="1" dirty="0"/>
              <a:t>In the middle: </a:t>
            </a:r>
            <a:br>
              <a:rPr lang="en-US" b="1" dirty="0"/>
            </a:br>
            <a:r>
              <a:rPr lang="en-US" dirty="0"/>
              <a:t>Add some </a:t>
            </a:r>
            <a:r>
              <a:rPr lang="en-US" b="1" dirty="0"/>
              <a:t>Feedforward</a:t>
            </a:r>
            <a:r>
              <a:rPr lang="en-US" dirty="0"/>
              <a:t> </a:t>
            </a:r>
            <a:r>
              <a:rPr lang="en-US" b="1" dirty="0"/>
              <a:t>layers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allows for a </a:t>
            </a:r>
            <a:r>
              <a:rPr lang="en-US" b="1" dirty="0"/>
              <a:t>smoother</a:t>
            </a:r>
            <a:r>
              <a:rPr lang="en-US" dirty="0"/>
              <a:t> </a:t>
            </a:r>
            <a:r>
              <a:rPr lang="en-US" b="1" dirty="0"/>
              <a:t>transition</a:t>
            </a:r>
            <a:r>
              <a:rPr lang="en-US" dirty="0"/>
              <a:t> </a:t>
            </a:r>
            <a:r>
              <a:rPr lang="en-US" b="1" dirty="0"/>
              <a:t>from the character-level CNNs output to the</a:t>
            </a:r>
            <a:br>
              <a:rPr lang="en-US" b="1" dirty="0"/>
            </a:br>
            <a:r>
              <a:rPr lang="en-US" b="1" dirty="0"/>
              <a:t>Bi-LSTM input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Can be simply done with a </a:t>
            </a:r>
            <a:r>
              <a:rPr lang="en-US" b="1" dirty="0"/>
              <a:t>succession</a:t>
            </a:r>
            <a:r>
              <a:rPr lang="en-US" dirty="0"/>
              <a:t> of </a:t>
            </a:r>
            <a:r>
              <a:rPr lang="en-US" b="1" dirty="0"/>
              <a:t>Linear</a:t>
            </a:r>
            <a:r>
              <a:rPr lang="en-US" dirty="0"/>
              <a:t> </a:t>
            </a:r>
            <a:r>
              <a:rPr lang="en-US" b="1" dirty="0"/>
              <a:t>layers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Or a variation of Linear layers, called a </a:t>
            </a:r>
            <a:r>
              <a:rPr lang="en-US" b="1" dirty="0">
                <a:solidFill>
                  <a:srgbClr val="00B050"/>
                </a:solidFill>
              </a:rPr>
              <a:t>highway network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132A5-E96A-EE6D-D742-F71FECBB6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b="19565"/>
          <a:stretch/>
        </p:blipFill>
        <p:spPr>
          <a:xfrm rot="16200000">
            <a:off x="8863966" y="4021864"/>
            <a:ext cx="743729" cy="4235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05F90-431A-0FC7-52EE-8440ADDC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030688" y="4056162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3DCD2-1EB1-454D-E8D6-3A21B4020927}"/>
                  </a:ext>
                </a:extLst>
              </p:cNvPr>
              <p:cNvSpPr txBox="1"/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First embedding for word “Never” in sentence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3DCD2-1EB1-454D-E8D6-3A21B4020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blipFill>
                <a:blip r:embed="rId4"/>
                <a:stretch>
                  <a:fillRect l="-2222" r="-166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4184B91-8854-7896-87D0-4B682F1965FC}"/>
              </a:ext>
            </a:extLst>
          </p:cNvPr>
          <p:cNvSpPr txBox="1"/>
          <p:nvPr/>
        </p:nvSpPr>
        <p:spPr>
          <a:xfrm>
            <a:off x="8494166" y="6434317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85823-DB08-1C01-92E6-5324301888B0}"/>
              </a:ext>
            </a:extLst>
          </p:cNvPr>
          <p:cNvSpPr txBox="1"/>
          <p:nvPr/>
        </p:nvSpPr>
        <p:spPr>
          <a:xfrm>
            <a:off x="7375857" y="642928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7EE29-6BCF-19E4-FAD0-B3E9D91CC50B}"/>
              </a:ext>
            </a:extLst>
          </p:cNvPr>
          <p:cNvSpPr txBox="1"/>
          <p:nvPr/>
        </p:nvSpPr>
        <p:spPr>
          <a:xfrm>
            <a:off x="9571273" y="644491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FBB921-7D60-3752-3797-B3AF79C103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t="68192" r="26975" b="19565"/>
          <a:stretch/>
        </p:blipFill>
        <p:spPr>
          <a:xfrm rot="16200000">
            <a:off x="9621636" y="4265107"/>
            <a:ext cx="369331" cy="6447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65E9CD-7AF2-8E35-A205-30F9DC28A1E4}"/>
              </a:ext>
            </a:extLst>
          </p:cNvPr>
          <p:cNvSpPr/>
          <p:nvPr/>
        </p:nvSpPr>
        <p:spPr>
          <a:xfrm>
            <a:off x="7041662" y="5073579"/>
            <a:ext cx="5017476" cy="64518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Character-level CNNs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56075B45-C598-538E-4660-8F926B032FBF}"/>
              </a:ext>
            </a:extLst>
          </p:cNvPr>
          <p:cNvSpPr/>
          <p:nvPr/>
        </p:nvSpPr>
        <p:spPr>
          <a:xfrm>
            <a:off x="9159631" y="5548925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E105CA80-F662-60C3-9E66-A0C4BF8644C3}"/>
              </a:ext>
            </a:extLst>
          </p:cNvPr>
          <p:cNvSpPr/>
          <p:nvPr/>
        </p:nvSpPr>
        <p:spPr>
          <a:xfrm>
            <a:off x="9159631" y="4898767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DCAEA-AB85-735C-96A5-8A0A818A10E4}"/>
              </a:ext>
            </a:extLst>
          </p:cNvPr>
          <p:cNvSpPr/>
          <p:nvPr/>
        </p:nvSpPr>
        <p:spPr>
          <a:xfrm>
            <a:off x="7041662" y="1460952"/>
            <a:ext cx="5017476" cy="6451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Context Propagation with Bi-LSTM</a:t>
            </a:r>
            <a:endParaRPr lang="en-SG" dirty="0">
              <a:solidFill>
                <a:schemeClr val="accent2"/>
              </a:solidFill>
            </a:endParaRP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FCA22F86-6A1E-222F-B983-A98385C94F82}"/>
              </a:ext>
            </a:extLst>
          </p:cNvPr>
          <p:cNvSpPr/>
          <p:nvPr/>
        </p:nvSpPr>
        <p:spPr>
          <a:xfrm>
            <a:off x="9159631" y="1916894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7D307DD-49D7-5F12-DAA2-CCD11A2E7E84}"/>
              </a:ext>
            </a:extLst>
          </p:cNvPr>
          <p:cNvSpPr/>
          <p:nvPr/>
        </p:nvSpPr>
        <p:spPr>
          <a:xfrm>
            <a:off x="9159631" y="1266736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A6E0AF-712D-450D-D6CE-CCE67B63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780208" y="600879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66E1A3-1294-8AE8-F515-92C360CE7440}"/>
                  </a:ext>
                </a:extLst>
              </p:cNvPr>
              <p:cNvSpPr txBox="1"/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Final embedding for word “Never” in sentence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66E1A3-1294-8AE8-F515-92C360CE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blipFill>
                <a:blip r:embed="rId5"/>
                <a:stretch>
                  <a:fillRect l="-2222" r="-3889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1E3E0137-CAD9-D4A1-0005-64D9128750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 t="68192" r="26975" b="19565"/>
          <a:stretch/>
        </p:blipFill>
        <p:spPr>
          <a:xfrm rot="16200000">
            <a:off x="9371156" y="809824"/>
            <a:ext cx="369331" cy="6447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04896D-B8E3-F0E9-222A-F36BEA90A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816339" y="598010"/>
            <a:ext cx="555147" cy="10683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854F02-429B-5380-9A46-8E21274A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865780" y="4056162"/>
            <a:ext cx="555147" cy="1068396"/>
          </a:xfrm>
          <a:prstGeom prst="rect">
            <a:avLst/>
          </a:prstGeom>
        </p:spPr>
      </p:pic>
      <p:sp>
        <p:nvSpPr>
          <p:cNvPr id="25" name="Arrow: Up 24">
            <a:extLst>
              <a:ext uri="{FF2B5EF4-FFF2-40B4-BE49-F238E27FC236}">
                <a16:creationId xmlns:a16="http://schemas.microsoft.com/office/drawing/2014/main" id="{718446FB-ED9D-4205-D6A2-4CECDF2F8705}"/>
              </a:ext>
            </a:extLst>
          </p:cNvPr>
          <p:cNvSpPr/>
          <p:nvPr/>
        </p:nvSpPr>
        <p:spPr>
          <a:xfrm>
            <a:off x="9206084" y="2593836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25094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the Highway Layer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 (</a:t>
                </a:r>
                <a:r>
                  <a:rPr lang="en-US" b="1" dirty="0">
                    <a:solidFill>
                      <a:srgbClr val="00B050"/>
                    </a:solidFill>
                  </a:rPr>
                  <a:t>Highway</a:t>
                </a:r>
                <a:r>
                  <a:rPr lang="en-US" b="1" dirty="0"/>
                  <a:t> Layer):</a:t>
                </a:r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00B050"/>
                    </a:solidFill>
                  </a:rPr>
                  <a:t>Highway</a:t>
                </a:r>
                <a:r>
                  <a:rPr lang="en-US" dirty="0"/>
                  <a:t> </a:t>
                </a:r>
                <a:r>
                  <a:rPr lang="en-US" b="1" dirty="0"/>
                  <a:t>Layer</a:t>
                </a:r>
                <a:r>
                  <a:rPr lang="en-US" dirty="0"/>
                  <a:t> is another </a:t>
                </a:r>
                <a:r>
                  <a:rPr lang="en-US" b="1" dirty="0"/>
                  <a:t>variant of the fully connected (or Linear layer)</a:t>
                </a:r>
                <a:r>
                  <a:rPr lang="en-US" dirty="0"/>
                  <a:t>, with an additional </a:t>
                </a:r>
                <a:r>
                  <a:rPr lang="en-US" b="1" dirty="0">
                    <a:solidFill>
                      <a:schemeClr val="accent1"/>
                    </a:solidFill>
                  </a:rPr>
                  <a:t>gated resid</a:t>
                </a:r>
                <a:r>
                  <a:rPr lang="en-US" b="1" dirty="0">
                    <a:solidFill>
                      <a:srgbClr val="7030A0"/>
                    </a:solidFill>
                  </a:rPr>
                  <a:t>ual connection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You only need to know that it produces a standard mapping with a non-linear activation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like any standard fully connected layer.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2E1E38-2085-423D-B105-8D4E8F163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21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B3CD8D-7DE9-4236-A963-5FEC3C2BF86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863492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Similar to LSTMs, its full propagation formula will include a gated residual, as shown below. It consists of a </a:t>
                </a:r>
                <a:r>
                  <a:rPr lang="en-US" b="1" dirty="0">
                    <a:solidFill>
                      <a:srgbClr val="0070C0"/>
                    </a:solidFill>
                  </a:rPr>
                  <a:t>transform</a:t>
                </a:r>
                <a:r>
                  <a:rPr lang="en-US" dirty="0"/>
                  <a:t> gate and a </a:t>
                </a:r>
                <a:r>
                  <a:rPr lang="en-US" b="1" dirty="0">
                    <a:solidFill>
                      <a:srgbClr val="7030A0"/>
                    </a:solidFill>
                  </a:rPr>
                  <a:t>carry</a:t>
                </a:r>
                <a:r>
                  <a:rPr lang="en-US" dirty="0"/>
                  <a:t> gate.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⨀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br>
                  <a:rPr lang="en-GB" dirty="0"/>
                </a:br>
                <a:r>
                  <a:rPr lang="en-GB" dirty="0"/>
                  <a:t>With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Similar to residual connections, this layer helps with information flow.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B3CD8D-7DE9-4236-A963-5FEC3C2BF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863492" cy="5032374"/>
              </a:xfrm>
              <a:blipFill>
                <a:blip r:embed="rId3"/>
                <a:stretch>
                  <a:fillRect l="-2185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4827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20E0-F833-4B27-AABD-FBE4DA3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the Highway Layer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A51AC-A869-A378-546C-2533728CA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Very similar to the gates we used in RNNs! (forget gate, input gate, etc.)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D06AD-6A75-D308-5A37-445F03F71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98" t="16535" b="72543"/>
          <a:stretch/>
        </p:blipFill>
        <p:spPr>
          <a:xfrm>
            <a:off x="1773025" y="2978603"/>
            <a:ext cx="8829431" cy="1430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46A58D-4057-F763-79B0-63D71879FA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02" t="61681" r="10139" b="21692"/>
          <a:stretch/>
        </p:blipFill>
        <p:spPr>
          <a:xfrm>
            <a:off x="1589544" y="4409500"/>
            <a:ext cx="7851441" cy="214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82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Final Recap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Input of words, into a character-level network (inputs will be a list of characters!)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get an embedding of a word, input the whole sentence for context, then take only the vector which corresponds to that word.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F347F7-FD63-4806-AB44-A519CB864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05170"/>
            <a:ext cx="5181600" cy="555283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On top of character-level network, use multiple layers of RNNs on word-level.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Some highway layers for transition in the middle.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Train the whole network for the task of predicting the next word in sentence, almost as in </a:t>
            </a:r>
            <a:r>
              <a:rPr lang="en-US" b="1" dirty="0" err="1"/>
              <a:t>CBoW</a:t>
            </a:r>
            <a:r>
              <a:rPr lang="en-US" b="1" dirty="0"/>
              <a:t>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After training, extract embedding layer for feature representation</a:t>
            </a:r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6836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92F28-7AC7-87C9-0E30-BE3060825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5" y="174148"/>
            <a:ext cx="5058481" cy="64397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F440F0D-54EB-E6A2-0F21-808FFDA087B2}"/>
              </a:ext>
            </a:extLst>
          </p:cNvPr>
          <p:cNvSpPr/>
          <p:nvPr/>
        </p:nvSpPr>
        <p:spPr>
          <a:xfrm>
            <a:off x="7041662" y="2144061"/>
            <a:ext cx="5017476" cy="64518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B050"/>
                </a:solidFill>
              </a:rPr>
              <a:t>Some </a:t>
            </a:r>
            <a:r>
              <a:rPr lang="en-GB" dirty="0" err="1">
                <a:solidFill>
                  <a:srgbClr val="00B050"/>
                </a:solidFill>
              </a:rPr>
              <a:t>FeedForward</a:t>
            </a:r>
            <a:r>
              <a:rPr lang="en-GB" dirty="0">
                <a:solidFill>
                  <a:srgbClr val="00B050"/>
                </a:solidFill>
              </a:rPr>
              <a:t> using Highway Layers</a:t>
            </a:r>
            <a:endParaRPr lang="en-SG" dirty="0">
              <a:solidFill>
                <a:srgbClr val="00B05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E5DA12-72A7-B863-9177-F8C7C95645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415" b="19565"/>
          <a:stretch/>
        </p:blipFill>
        <p:spPr>
          <a:xfrm rot="16200000">
            <a:off x="8863966" y="4021864"/>
            <a:ext cx="743729" cy="42359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61164E-9333-DD20-8A92-BBF69D054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030688" y="4056162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EBF3B6-0211-A3FE-62EF-7C55515DA618}"/>
                  </a:ext>
                </a:extLst>
              </p:cNvPr>
              <p:cNvSpPr txBox="1"/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First embedding for word “Never” in sentence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EBF3B6-0211-A3FE-62EF-7C55515DA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142" y="3224026"/>
                <a:ext cx="2191774" cy="1200329"/>
              </a:xfrm>
              <a:prstGeom prst="rect">
                <a:avLst/>
              </a:prstGeom>
              <a:blipFill>
                <a:blip r:embed="rId5"/>
                <a:stretch>
                  <a:fillRect l="-2222" r="-166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3DB3106-F83C-0896-B375-031BFA575310}"/>
              </a:ext>
            </a:extLst>
          </p:cNvPr>
          <p:cNvSpPr txBox="1"/>
          <p:nvPr/>
        </p:nvSpPr>
        <p:spPr>
          <a:xfrm>
            <a:off x="8494166" y="6434317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2503A4-FC1E-714D-E31F-4AB7F9D24077}"/>
              </a:ext>
            </a:extLst>
          </p:cNvPr>
          <p:cNvSpPr txBox="1"/>
          <p:nvPr/>
        </p:nvSpPr>
        <p:spPr>
          <a:xfrm>
            <a:off x="7375857" y="642928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endParaRPr lang="en-S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3F3C8C-40CA-0247-4290-C057A46B3F9D}"/>
              </a:ext>
            </a:extLst>
          </p:cNvPr>
          <p:cNvSpPr txBox="1"/>
          <p:nvPr/>
        </p:nvSpPr>
        <p:spPr>
          <a:xfrm>
            <a:off x="9571273" y="6444911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en-SG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10CB35-2A96-0555-6213-B554797B0D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415" t="68192" r="26975" b="19565"/>
          <a:stretch/>
        </p:blipFill>
        <p:spPr>
          <a:xfrm rot="16200000">
            <a:off x="9621636" y="4265107"/>
            <a:ext cx="369331" cy="64477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B388164-BBC3-5CF8-B547-9FB26C41C869}"/>
              </a:ext>
            </a:extLst>
          </p:cNvPr>
          <p:cNvSpPr/>
          <p:nvPr/>
        </p:nvSpPr>
        <p:spPr>
          <a:xfrm>
            <a:off x="7041662" y="5073579"/>
            <a:ext cx="5017476" cy="64518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Character-level CNNs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FCCB51B3-AEFD-E645-037D-B6F08E935F8E}"/>
              </a:ext>
            </a:extLst>
          </p:cNvPr>
          <p:cNvSpPr/>
          <p:nvPr/>
        </p:nvSpPr>
        <p:spPr>
          <a:xfrm>
            <a:off x="9159631" y="5548925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EEC008AF-9017-9806-F5D3-69FCEF9E6188}"/>
              </a:ext>
            </a:extLst>
          </p:cNvPr>
          <p:cNvSpPr/>
          <p:nvPr/>
        </p:nvSpPr>
        <p:spPr>
          <a:xfrm>
            <a:off x="9159631" y="4898767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0926EC-18E5-0E8C-EF05-88DDC0599015}"/>
              </a:ext>
            </a:extLst>
          </p:cNvPr>
          <p:cNvSpPr/>
          <p:nvPr/>
        </p:nvSpPr>
        <p:spPr>
          <a:xfrm>
            <a:off x="7041662" y="1460952"/>
            <a:ext cx="5017476" cy="6451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Context Propagation with Bi-LSTM</a:t>
            </a:r>
            <a:endParaRPr lang="en-SG" dirty="0">
              <a:solidFill>
                <a:schemeClr val="accent2"/>
              </a:solidFill>
            </a:endParaRPr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13EE4D56-9357-30D1-8815-9F79FA20CD55}"/>
              </a:ext>
            </a:extLst>
          </p:cNvPr>
          <p:cNvSpPr/>
          <p:nvPr/>
        </p:nvSpPr>
        <p:spPr>
          <a:xfrm>
            <a:off x="9159631" y="1916894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B60646D7-E372-EFF3-A77F-22D0EFB94624}"/>
              </a:ext>
            </a:extLst>
          </p:cNvPr>
          <p:cNvSpPr/>
          <p:nvPr/>
        </p:nvSpPr>
        <p:spPr>
          <a:xfrm>
            <a:off x="9159631" y="1266736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53BD23B-F164-163D-38E2-B88D07F16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780208" y="600879"/>
            <a:ext cx="555147" cy="1068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4AFF2D-F562-ADD4-4AAF-1B1CB85306F8}"/>
                  </a:ext>
                </a:extLst>
              </p:cNvPr>
              <p:cNvSpPr txBox="1"/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= Final embedding for word “Never” in sentence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4AFF2D-F562-ADD4-4AAF-1B1CB8530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662" y="-231257"/>
                <a:ext cx="2191774" cy="1200329"/>
              </a:xfrm>
              <a:prstGeom prst="rect">
                <a:avLst/>
              </a:prstGeom>
              <a:blipFill>
                <a:blip r:embed="rId6"/>
                <a:stretch>
                  <a:fillRect l="-2222" r="-416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08BD35BC-DE36-4AFC-D244-BDEBF772DB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415" t="68192" r="26975" b="19565"/>
          <a:stretch/>
        </p:blipFill>
        <p:spPr>
          <a:xfrm rot="16200000">
            <a:off x="9371156" y="809824"/>
            <a:ext cx="369331" cy="6447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144FCA2-10C7-3109-B148-CDA650EA6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816339" y="598010"/>
            <a:ext cx="555147" cy="10683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1D2769-3D12-5C70-2BBF-F26AAE4D5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865780" y="4056162"/>
            <a:ext cx="555147" cy="1068396"/>
          </a:xfrm>
          <a:prstGeom prst="rect">
            <a:avLst/>
          </a:prstGeom>
        </p:spPr>
      </p:pic>
      <p:sp>
        <p:nvSpPr>
          <p:cNvPr id="32" name="Arrow: Up 31">
            <a:extLst>
              <a:ext uri="{FF2B5EF4-FFF2-40B4-BE49-F238E27FC236}">
                <a16:creationId xmlns:a16="http://schemas.microsoft.com/office/drawing/2014/main" id="{189F4DCC-4CF4-43FD-BA66-34BC93A3457A}"/>
              </a:ext>
            </a:extLst>
          </p:cNvPr>
          <p:cNvSpPr/>
          <p:nvPr/>
        </p:nvSpPr>
        <p:spPr>
          <a:xfrm>
            <a:off x="9206084" y="2593836"/>
            <a:ext cx="969056" cy="28916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95164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4AEC-A196-4960-B829-69E5D6F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ELMo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EDAE-D2BC-4F4D-8753-99F4F59A2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takeaways on </a:t>
            </a:r>
            <a:r>
              <a:rPr lang="en-US" b="1" dirty="0" err="1"/>
              <a:t>ELMo</a:t>
            </a:r>
            <a:endParaRPr lang="en-US" b="1" dirty="0"/>
          </a:p>
          <a:p>
            <a:r>
              <a:rPr lang="en-US" dirty="0"/>
              <a:t>ELMO is </a:t>
            </a:r>
            <a:r>
              <a:rPr lang="en-US" b="1" dirty="0"/>
              <a:t>able to operate on out-of-vocabulary words</a:t>
            </a:r>
            <a:r>
              <a:rPr lang="en-US" dirty="0"/>
              <a:t>, as it </a:t>
            </a:r>
            <a:r>
              <a:rPr lang="en-US" b="1" dirty="0"/>
              <a:t>takes characters as inputs</a:t>
            </a:r>
            <a:r>
              <a:rPr lang="en-US" dirty="0"/>
              <a:t>, and can process context to address Problem #1 (as opposed to </a:t>
            </a:r>
            <a:r>
              <a:rPr lang="en-US" dirty="0" err="1"/>
              <a:t>CBoW</a:t>
            </a:r>
            <a:r>
              <a:rPr lang="en-US" dirty="0"/>
              <a:t>/SG &amp; </a:t>
            </a:r>
            <a:r>
              <a:rPr lang="en-US" dirty="0" err="1"/>
              <a:t>FastText</a:t>
            </a:r>
            <a:r>
              <a:rPr lang="en-US" dirty="0"/>
              <a:t>) </a:t>
            </a:r>
          </a:p>
          <a:p>
            <a:r>
              <a:rPr lang="en-US" b="1" dirty="0"/>
              <a:t>Its main downside is the computational cost </a:t>
            </a:r>
            <a:r>
              <a:rPr lang="en-US" dirty="0"/>
              <a:t>of the architecture.</a:t>
            </a:r>
            <a:br>
              <a:rPr lang="en-US" dirty="0"/>
            </a:br>
            <a:r>
              <a:rPr lang="en-US" dirty="0"/>
              <a:t>Preferable to use </a:t>
            </a:r>
            <a:r>
              <a:rPr lang="en-US" b="1" dirty="0" err="1"/>
              <a:t>FastText</a:t>
            </a:r>
            <a:r>
              <a:rPr lang="en-US" dirty="0"/>
              <a:t> if you need speed!</a:t>
            </a:r>
          </a:p>
          <a:p>
            <a:r>
              <a:rPr lang="en-US" dirty="0" err="1"/>
              <a:t>ELMo</a:t>
            </a:r>
            <a:r>
              <a:rPr lang="en-US" dirty="0"/>
              <a:t> is a pretty recent word embedding (2018!), which has, for a long time, held the </a:t>
            </a:r>
            <a:r>
              <a:rPr lang="en-US" b="1" dirty="0"/>
              <a:t>state-of-the-art performance for word embeddings</a:t>
            </a:r>
            <a:r>
              <a:rPr lang="en-US" dirty="0"/>
              <a:t>.</a:t>
            </a:r>
          </a:p>
          <a:p>
            <a:r>
              <a:rPr lang="en-US" dirty="0"/>
              <a:t>These days (2021-2022), the state of the art are the (</a:t>
            </a:r>
            <a:r>
              <a:rPr lang="en-US" b="1" dirty="0"/>
              <a:t>BERT</a:t>
            </a:r>
            <a:r>
              <a:rPr lang="en-US" dirty="0"/>
              <a:t> and) </a:t>
            </a:r>
            <a:r>
              <a:rPr lang="en-US" b="1" dirty="0"/>
              <a:t>GPT</a:t>
            </a:r>
            <a:r>
              <a:rPr lang="en-US" dirty="0"/>
              <a:t> </a:t>
            </a:r>
            <a:r>
              <a:rPr lang="en-US" b="1" dirty="0"/>
              <a:t>embeddings.</a:t>
            </a:r>
            <a:r>
              <a:rPr lang="en-US" dirty="0"/>
              <a:t> To be discussed on the next lecture, after the lesson on transformers!</a:t>
            </a:r>
          </a:p>
        </p:txBody>
      </p:sp>
    </p:spTree>
    <p:extLst>
      <p:ext uri="{BB962C8B-B14F-4D97-AF65-F5344CB8AC3E}">
        <p14:creationId xmlns:p14="http://schemas.microsoft.com/office/powerpoint/2010/main" val="2359858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929B-B6B5-370E-EC0D-4FEDAB7A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characters to tokens?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D495B-6D5F-7C3A-A33F-0E0AF50B8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827196" cy="49448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tokens</a:t>
            </a:r>
            <a:r>
              <a:rPr lang="en-GB" b="1" dirty="0"/>
              <a:t>):</a:t>
            </a:r>
          </a:p>
          <a:p>
            <a:r>
              <a:rPr lang="en-GB" dirty="0"/>
              <a:t>Eventually, the NLP community realised that using letters or n-grams as the most basic building block for text was a mistake. </a:t>
            </a:r>
          </a:p>
          <a:p>
            <a:r>
              <a:rPr lang="en-GB" dirty="0"/>
              <a:t>Instead of splitting text into full words, </a:t>
            </a:r>
            <a:br>
              <a:rPr lang="en-GB" dirty="0"/>
            </a:br>
            <a:r>
              <a:rPr lang="en-GB" dirty="0"/>
              <a:t>n-grams, or single characters, GPT typically breaks text into </a:t>
            </a:r>
            <a:r>
              <a:rPr lang="en-GB" b="1" dirty="0"/>
              <a:t>frequently occurring substrings, which are called </a:t>
            </a:r>
            <a:r>
              <a:rPr lang="en-GB" b="1" dirty="0">
                <a:solidFill>
                  <a:srgbClr val="00B050"/>
                </a:solidFill>
              </a:rPr>
              <a:t>tokens</a:t>
            </a:r>
            <a:r>
              <a:rPr lang="en-GB" b="1" dirty="0"/>
              <a:t>.</a:t>
            </a:r>
            <a:r>
              <a:rPr lang="en-GB" dirty="0"/>
              <a:t> </a:t>
            </a:r>
          </a:p>
          <a:p>
            <a:r>
              <a:rPr lang="en-GB" dirty="0"/>
              <a:t>GPT would then fall back onto character or n-grams decomposition, when tokenization fails (e.g. for out-of-vocabulary problems), efficiently getting the best of both worlds.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EA778F1-F47E-2034-5695-8126B9FCF0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5749251"/>
              </p:ext>
            </p:extLst>
          </p:nvPr>
        </p:nvGraphicFramePr>
        <p:xfrm>
          <a:off x="8037207" y="417326"/>
          <a:ext cx="4320162" cy="2383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F53FD05-6E71-F535-374A-D93887C924D2}"/>
              </a:ext>
            </a:extLst>
          </p:cNvPr>
          <p:cNvSpPr txBox="1"/>
          <p:nvPr/>
        </p:nvSpPr>
        <p:spPr>
          <a:xfrm>
            <a:off x="8287966" y="6070060"/>
            <a:ext cx="3618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Try the GPT5 tokenizer here: </a:t>
            </a:r>
            <a:r>
              <a:rPr lang="en-GB" dirty="0">
                <a:hlinkClick r:id="rId7"/>
              </a:rPr>
              <a:t>https://gpt-tokenizer.dev/</a:t>
            </a:r>
            <a:r>
              <a:rPr lang="en-GB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4CAFB-CF08-E128-2AEF-6BE9A04516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9404" y="3425997"/>
            <a:ext cx="4186391" cy="233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152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8BA8-9DEC-4471-8590-434E8D8B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(W8S2)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549C-D723-41E6-8478-270ACE043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seen a few approaches to embeddings.</a:t>
            </a:r>
          </a:p>
          <a:p>
            <a:r>
              <a:rPr lang="en-US" dirty="0"/>
              <a:t>Train an AI to figure out embeddings? Basic approaches.</a:t>
            </a:r>
          </a:p>
          <a:p>
            <a:pPr lvl="1"/>
            <a:r>
              <a:rPr lang="en-US" sz="2800" dirty="0"/>
              <a:t>(</a:t>
            </a:r>
            <a:r>
              <a:rPr lang="en-US" sz="2800" dirty="0" err="1"/>
              <a:t>CBoW</a:t>
            </a:r>
            <a:r>
              <a:rPr lang="en-US" sz="2800" dirty="0"/>
              <a:t>)</a:t>
            </a:r>
          </a:p>
          <a:p>
            <a:pPr lvl="1"/>
            <a:r>
              <a:rPr lang="en-US" sz="2800" dirty="0" err="1"/>
              <a:t>SkipGram</a:t>
            </a:r>
            <a:endParaRPr lang="en-US" sz="2800" dirty="0"/>
          </a:p>
          <a:p>
            <a:r>
              <a:rPr lang="en-US" dirty="0"/>
              <a:t>Out of dictionary entries?</a:t>
            </a:r>
          </a:p>
          <a:p>
            <a:pPr lvl="1"/>
            <a:r>
              <a:rPr lang="en-US" sz="2800" dirty="0"/>
              <a:t>Use </a:t>
            </a:r>
            <a:r>
              <a:rPr lang="en-US" sz="2800" dirty="0" err="1"/>
              <a:t>FastText</a:t>
            </a:r>
            <a:r>
              <a:rPr lang="en-US" sz="2800" dirty="0"/>
              <a:t>!</a:t>
            </a:r>
            <a:endParaRPr lang="en-US" dirty="0"/>
          </a:p>
          <a:p>
            <a:r>
              <a:rPr lang="en-US" dirty="0"/>
              <a:t>Need to incorporate context words for embedding?</a:t>
            </a:r>
          </a:p>
          <a:p>
            <a:pPr lvl="1"/>
            <a:r>
              <a:rPr lang="en-US" sz="2800" dirty="0"/>
              <a:t>Use </a:t>
            </a:r>
            <a:r>
              <a:rPr lang="en-US" sz="2800" dirty="0" err="1"/>
              <a:t>ELMo</a:t>
            </a:r>
            <a:r>
              <a:rPr lang="en-US" sz="2800" dirty="0"/>
              <a:t>!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20A50-DCDA-4FEF-986F-775F53063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few more problems are still open at the moment for these word embeddings.</a:t>
            </a:r>
          </a:p>
          <a:p>
            <a:r>
              <a:rPr lang="en-US" dirty="0"/>
              <a:t>How de we evaluate embeddings and decide which one is best?</a:t>
            </a:r>
          </a:p>
          <a:p>
            <a:r>
              <a:rPr lang="en-US" dirty="0"/>
              <a:t>Can these embedding be biased? Yes, unfortunately.</a:t>
            </a:r>
          </a:p>
          <a:p>
            <a:r>
              <a:rPr lang="en-US" dirty="0"/>
              <a:t>Can we help the network in computing context? BERT, later.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814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for those of you who are curious</a:t>
            </a:r>
          </a:p>
          <a:p>
            <a:r>
              <a:rPr lang="en-US" dirty="0"/>
              <a:t>[Mikolov2013]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Mikolov</a:t>
            </a:r>
            <a:r>
              <a:rPr lang="en-US" dirty="0"/>
              <a:t> et al., “Efficient Estimation of Word Representations in Vector Space”, 2013.</a:t>
            </a:r>
            <a:br>
              <a:rPr lang="en-US" dirty="0"/>
            </a:br>
            <a:r>
              <a:rPr lang="en-US" dirty="0">
                <a:hlinkClick r:id="rId2"/>
              </a:rPr>
              <a:t>https://arxiv.org/abs/1301.3781</a:t>
            </a:r>
            <a:endParaRPr lang="en-US" dirty="0"/>
          </a:p>
          <a:p>
            <a:r>
              <a:rPr lang="en-US" dirty="0"/>
              <a:t>[Mikilov2014]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Mikolov</a:t>
            </a:r>
            <a:r>
              <a:rPr lang="en-US" dirty="0"/>
              <a:t> et al., “Distributed Representations of Words and Phrases and their Compositionality”, 2014. </a:t>
            </a:r>
            <a:r>
              <a:rPr lang="en-US" dirty="0">
                <a:hlinkClick r:id="rId3"/>
              </a:rPr>
              <a:t>https://arxiv.org/abs/1310.4546</a:t>
            </a:r>
            <a:endParaRPr lang="en-US" dirty="0"/>
          </a:p>
          <a:p>
            <a:r>
              <a:rPr lang="en-US" dirty="0"/>
              <a:t>[GloVe2014] Pennington et al., “</a:t>
            </a:r>
            <a:r>
              <a:rPr lang="en-US" dirty="0" err="1"/>
              <a:t>GloVe</a:t>
            </a:r>
            <a:r>
              <a:rPr lang="en-US" dirty="0"/>
              <a:t>: Global Vectors for Word Representation”, 2014.</a:t>
            </a:r>
            <a:br>
              <a:rPr lang="en-US" dirty="0"/>
            </a:br>
            <a:r>
              <a:rPr lang="en-US" dirty="0">
                <a:hlinkClick r:id="rId4"/>
              </a:rPr>
              <a:t>https://nlp.stanford.edu/projects/glove/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9490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for those of you who are curious</a:t>
            </a:r>
          </a:p>
          <a:p>
            <a:r>
              <a:rPr lang="en-US" dirty="0"/>
              <a:t>[Mikolov2017]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Mikolov</a:t>
            </a:r>
            <a:r>
              <a:rPr lang="en-US" dirty="0"/>
              <a:t> et al., “Advances in Pre-Training Distributed Word Representations”, 2017.</a:t>
            </a:r>
            <a:br>
              <a:rPr lang="en-US" dirty="0"/>
            </a:br>
            <a:r>
              <a:rPr lang="en-US" dirty="0">
                <a:hlinkClick r:id="rId2"/>
              </a:rPr>
              <a:t>https://arxiv.org/abs/1301.3781</a:t>
            </a:r>
            <a:endParaRPr lang="en-US" dirty="0"/>
          </a:p>
          <a:p>
            <a:r>
              <a:rPr lang="en-US" dirty="0"/>
              <a:t>[Bojanovski2017] Bojanowski et al., “</a:t>
            </a:r>
            <a:r>
              <a:rPr lang="en-GB" dirty="0"/>
              <a:t>Enriching Word Vectors with </a:t>
            </a:r>
            <a:r>
              <a:rPr lang="en-GB" dirty="0" err="1"/>
              <a:t>Subword</a:t>
            </a:r>
            <a:r>
              <a:rPr lang="en-GB" dirty="0"/>
              <a:t> Information</a:t>
            </a:r>
            <a:r>
              <a:rPr lang="en-US" dirty="0"/>
              <a:t>”, 2017.</a:t>
            </a:r>
            <a:br>
              <a:rPr lang="en-US" dirty="0"/>
            </a:br>
            <a:r>
              <a:rPr lang="en-US" dirty="0">
                <a:hlinkClick r:id="rId3"/>
              </a:rPr>
              <a:t>https://arxiv.org/abs/1607.04606</a:t>
            </a:r>
            <a:r>
              <a:rPr lang="en-US" dirty="0"/>
              <a:t> </a:t>
            </a:r>
          </a:p>
          <a:p>
            <a:r>
              <a:rPr lang="en-US" dirty="0"/>
              <a:t>[Peters2018]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Peters</a:t>
            </a:r>
            <a:r>
              <a:rPr lang="en-US" dirty="0"/>
              <a:t> et al., “</a:t>
            </a:r>
            <a:r>
              <a:rPr lang="en-GB" dirty="0"/>
              <a:t>Deep contextualized word representations</a:t>
            </a:r>
            <a:r>
              <a:rPr lang="en-US" dirty="0"/>
              <a:t>”, 2018.</a:t>
            </a:r>
            <a:br>
              <a:rPr lang="en-US" dirty="0"/>
            </a:br>
            <a:r>
              <a:rPr lang="en-US" dirty="0">
                <a:hlinkClick r:id="rId4"/>
              </a:rPr>
              <a:t>https://arxiv.org/abs/1802.05365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7702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Tracking important names (Track their works and follow them on Scholar, Twitter, or whatever works for you!)</a:t>
            </a:r>
          </a:p>
          <a:p>
            <a:r>
              <a:rPr lang="en-US" b="1" dirty="0"/>
              <a:t>Matthew E.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Peters</a:t>
            </a:r>
            <a:r>
              <a:rPr lang="en-US" b="1" dirty="0"/>
              <a:t>: </a:t>
            </a:r>
            <a:r>
              <a:rPr lang="en-US" dirty="0"/>
              <a:t>Research Scientist at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Hugging Face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2"/>
              </a:rPr>
              <a:t>https://scholar.google.com/citations?user=K5nCPZwAAAAJ&amp;hl=en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Hugging Face</a:t>
            </a:r>
            <a:r>
              <a:rPr lang="en-US" b="1" dirty="0"/>
              <a:t>: Important </a:t>
            </a:r>
            <a:r>
              <a:rPr lang="en-GB" b="1" dirty="0"/>
              <a:t>company</a:t>
            </a:r>
            <a:r>
              <a:rPr lang="en-GB" dirty="0"/>
              <a:t> that develops and provides a range of </a:t>
            </a:r>
            <a:r>
              <a:rPr lang="en-GB" b="1" dirty="0"/>
              <a:t>natural language processing (NLP) tools </a:t>
            </a:r>
            <a:r>
              <a:rPr lang="en-GB" dirty="0"/>
              <a:t>for developers, researchers, and enterprises. Open-source libraries for NLP such as Transformers, Tokenizers, and Datasets. Hugging Face is </a:t>
            </a:r>
            <a:r>
              <a:rPr lang="en-GB" b="1" dirty="0"/>
              <a:t>well-known for its state-of-the-art models and tools for NLP</a:t>
            </a:r>
            <a:r>
              <a:rPr lang="en-GB" dirty="0"/>
              <a:t>, as well as its </a:t>
            </a:r>
            <a:r>
              <a:rPr lang="en-GB" b="1" dirty="0"/>
              <a:t>active open-source community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>
                <a:hlinkClick r:id="rId3"/>
              </a:rPr>
              <a:t>https://huggingface.</a:t>
            </a:r>
            <a:r>
              <a:rPr lang="en-GB">
                <a:hlinkClick r:id="rId3"/>
              </a:rPr>
              <a:t>co/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48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327958C-04EC-F856-6F56-D835935C6BF1}"/>
              </a:ext>
            </a:extLst>
          </p:cNvPr>
          <p:cNvCxnSpPr>
            <a:cxnSpLocks/>
          </p:cNvCxnSpPr>
          <p:nvPr/>
        </p:nvCxnSpPr>
        <p:spPr>
          <a:xfrm flipV="1">
            <a:off x="6975342" y="5978433"/>
            <a:ext cx="2266742" cy="73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790FD62-E9BC-61D7-78F7-81A0AB4610CA}"/>
              </a:ext>
            </a:extLst>
          </p:cNvPr>
          <p:cNvCxnSpPr>
            <a:cxnSpLocks/>
          </p:cNvCxnSpPr>
          <p:nvPr/>
        </p:nvCxnSpPr>
        <p:spPr>
          <a:xfrm flipV="1">
            <a:off x="6958365" y="671973"/>
            <a:ext cx="2266742" cy="73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7BA03BA-BF41-199E-4D02-587B6833962F}"/>
              </a:ext>
            </a:extLst>
          </p:cNvPr>
          <p:cNvCxnSpPr>
            <a:cxnSpLocks/>
          </p:cNvCxnSpPr>
          <p:nvPr/>
        </p:nvCxnSpPr>
        <p:spPr>
          <a:xfrm>
            <a:off x="1824244" y="5968872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550009F-5FCB-9C05-7302-5EF5EF8E3AF2}"/>
              </a:ext>
            </a:extLst>
          </p:cNvPr>
          <p:cNvCxnSpPr>
            <a:cxnSpLocks/>
          </p:cNvCxnSpPr>
          <p:nvPr/>
        </p:nvCxnSpPr>
        <p:spPr>
          <a:xfrm>
            <a:off x="1802216" y="1989706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F378226-DB9C-89A4-CF2A-CAC89E76D2D1}"/>
              </a:ext>
            </a:extLst>
          </p:cNvPr>
          <p:cNvSpPr/>
          <p:nvPr/>
        </p:nvSpPr>
        <p:spPr>
          <a:xfrm>
            <a:off x="1460090" y="63602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0B9324-2B53-3BFA-C073-13EEC74946D3}"/>
              </a:ext>
            </a:extLst>
          </p:cNvPr>
          <p:cNvSpPr/>
          <p:nvPr/>
        </p:nvSpPr>
        <p:spPr>
          <a:xfrm>
            <a:off x="1565071" y="36921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3B977-A703-63E9-8358-16EA80AD3806}"/>
              </a:ext>
            </a:extLst>
          </p:cNvPr>
          <p:cNvSpPr/>
          <p:nvPr/>
        </p:nvSpPr>
        <p:spPr>
          <a:xfrm>
            <a:off x="1565071" y="847115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E2BBF-E728-683F-09A7-B7F86F43005A}"/>
              </a:ext>
            </a:extLst>
          </p:cNvPr>
          <p:cNvSpPr txBox="1"/>
          <p:nvPr/>
        </p:nvSpPr>
        <p:spPr>
          <a:xfrm rot="5400000">
            <a:off x="1536062" y="441140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65FE73-C5A3-9917-929A-42A94CE805B3}"/>
              </a:ext>
            </a:extLst>
          </p:cNvPr>
          <p:cNvSpPr/>
          <p:nvPr/>
        </p:nvSpPr>
        <p:spPr>
          <a:xfrm>
            <a:off x="1565071" y="146149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61C823-2FD8-6B11-CF6D-179A0A159FEB}"/>
              </a:ext>
            </a:extLst>
          </p:cNvPr>
          <p:cNvSpPr/>
          <p:nvPr/>
        </p:nvSpPr>
        <p:spPr>
          <a:xfrm>
            <a:off x="1565071" y="107110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AF8EF3-3BCB-A49C-6BC1-5440FB2BDC6B}"/>
              </a:ext>
            </a:extLst>
          </p:cNvPr>
          <p:cNvSpPr/>
          <p:nvPr/>
        </p:nvSpPr>
        <p:spPr>
          <a:xfrm>
            <a:off x="1460090" y="1382041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578753-DB56-0654-604A-EA2532B2CA0B}"/>
              </a:ext>
            </a:extLst>
          </p:cNvPr>
          <p:cNvSpPr/>
          <p:nvPr/>
        </p:nvSpPr>
        <p:spPr>
          <a:xfrm>
            <a:off x="1565071" y="1687657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E40681-A648-B930-5817-5D5533DAFE63}"/>
              </a:ext>
            </a:extLst>
          </p:cNvPr>
          <p:cNvSpPr/>
          <p:nvPr/>
        </p:nvSpPr>
        <p:spPr>
          <a:xfrm>
            <a:off x="1565071" y="216555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3F39CC-EC68-109A-C8F6-3056FD86323A}"/>
              </a:ext>
            </a:extLst>
          </p:cNvPr>
          <p:cNvSpPr txBox="1"/>
          <p:nvPr/>
        </p:nvSpPr>
        <p:spPr>
          <a:xfrm rot="5400000">
            <a:off x="1536062" y="1759579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F4203-25DB-78BB-B6E1-6F680A48E767}"/>
              </a:ext>
            </a:extLst>
          </p:cNvPr>
          <p:cNvSpPr/>
          <p:nvPr/>
        </p:nvSpPr>
        <p:spPr>
          <a:xfrm>
            <a:off x="1565071" y="1464588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73B49A-EFB1-AC33-0334-9DD787CABBEB}"/>
              </a:ext>
            </a:extLst>
          </p:cNvPr>
          <p:cNvSpPr/>
          <p:nvPr/>
        </p:nvSpPr>
        <p:spPr>
          <a:xfrm>
            <a:off x="1565071" y="238954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85AC28-6539-66B2-775B-C1A6CA949D63}"/>
              </a:ext>
            </a:extLst>
          </p:cNvPr>
          <p:cNvSpPr/>
          <p:nvPr/>
        </p:nvSpPr>
        <p:spPr>
          <a:xfrm>
            <a:off x="1470282" y="5342243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57C4FB-DF79-1034-99E4-7E91E7A17FDD}"/>
              </a:ext>
            </a:extLst>
          </p:cNvPr>
          <p:cNvSpPr/>
          <p:nvPr/>
        </p:nvSpPr>
        <p:spPr>
          <a:xfrm>
            <a:off x="1575263" y="5647859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DF2646-3AA2-D1FD-F764-16AFC4BAEE2F}"/>
              </a:ext>
            </a:extLst>
          </p:cNvPr>
          <p:cNvSpPr/>
          <p:nvPr/>
        </p:nvSpPr>
        <p:spPr>
          <a:xfrm>
            <a:off x="1575263" y="612575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7E05CF-E529-A6E7-BE61-528EFFC7E3F6}"/>
              </a:ext>
            </a:extLst>
          </p:cNvPr>
          <p:cNvSpPr txBox="1"/>
          <p:nvPr/>
        </p:nvSpPr>
        <p:spPr>
          <a:xfrm rot="5400000">
            <a:off x="1546254" y="571978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47BF91A-B97D-0C4B-C626-E429DD803FA6}"/>
              </a:ext>
            </a:extLst>
          </p:cNvPr>
          <p:cNvSpPr/>
          <p:nvPr/>
        </p:nvSpPr>
        <p:spPr>
          <a:xfrm>
            <a:off x="1575263" y="542479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6BF56E8-6148-AF4F-292C-88A7E82FFB51}"/>
              </a:ext>
            </a:extLst>
          </p:cNvPr>
          <p:cNvSpPr/>
          <p:nvPr/>
        </p:nvSpPr>
        <p:spPr>
          <a:xfrm>
            <a:off x="1575263" y="6349745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13E547-046F-FAB3-B490-40E4E25EF6F5}"/>
              </a:ext>
            </a:extLst>
          </p:cNvPr>
          <p:cNvSpPr txBox="1"/>
          <p:nvPr/>
        </p:nvSpPr>
        <p:spPr>
          <a:xfrm>
            <a:off x="624347" y="1859821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306800-DE5B-92EB-3FA6-F671073C70E1}"/>
              </a:ext>
            </a:extLst>
          </p:cNvPr>
          <p:cNvSpPr txBox="1"/>
          <p:nvPr/>
        </p:nvSpPr>
        <p:spPr>
          <a:xfrm>
            <a:off x="624347" y="513218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endParaRPr lang="en-SG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598DA67-463C-BB5C-DF24-F216E0878D4B}"/>
              </a:ext>
            </a:extLst>
          </p:cNvPr>
          <p:cNvCxnSpPr>
            <a:cxnSpLocks/>
          </p:cNvCxnSpPr>
          <p:nvPr/>
        </p:nvCxnSpPr>
        <p:spPr>
          <a:xfrm>
            <a:off x="1806315" y="697179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6CE677B-7DA3-670A-E0B9-47FC47279654}"/>
              </a:ext>
            </a:extLst>
          </p:cNvPr>
          <p:cNvSpPr txBox="1"/>
          <p:nvPr/>
        </p:nvSpPr>
        <p:spPr>
          <a:xfrm>
            <a:off x="622245" y="5793767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2FD0D7-EBAF-C88A-58AF-D3A8FA21122D}"/>
                  </a:ext>
                </a:extLst>
              </p:cNvPr>
              <p:cNvSpPr txBox="1"/>
              <p:nvPr/>
            </p:nvSpPr>
            <p:spPr>
              <a:xfrm>
                <a:off x="1744499" y="287181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2FD0D7-EBAF-C88A-58AF-D3A8FA211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499" y="287181"/>
                <a:ext cx="5431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9FAB17-4BD4-31B5-01F6-14B2716E44D3}"/>
                  </a:ext>
                </a:extLst>
              </p:cNvPr>
              <p:cNvSpPr txBox="1"/>
              <p:nvPr/>
            </p:nvSpPr>
            <p:spPr>
              <a:xfrm>
                <a:off x="1739383" y="1562403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9FAB17-4BD4-31B5-01F6-14B2716E4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383" y="1562403"/>
                <a:ext cx="54314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905FD5-4F40-6446-6A68-4E3F99EFE15B}"/>
                  </a:ext>
                </a:extLst>
              </p:cNvPr>
              <p:cNvSpPr txBox="1"/>
              <p:nvPr/>
            </p:nvSpPr>
            <p:spPr>
              <a:xfrm>
                <a:off x="1749176" y="5585581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905FD5-4F40-6446-6A68-4E3F99EFE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176" y="5585581"/>
                <a:ext cx="5431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ectangle 121">
            <a:extLst>
              <a:ext uri="{FF2B5EF4-FFF2-40B4-BE49-F238E27FC236}">
                <a16:creationId xmlns:a16="http://schemas.microsoft.com/office/drawing/2014/main" id="{441818DE-5BC3-0782-9DFC-172EBC5379EA}"/>
              </a:ext>
            </a:extLst>
          </p:cNvPr>
          <p:cNvSpPr/>
          <p:nvPr/>
        </p:nvSpPr>
        <p:spPr>
          <a:xfrm>
            <a:off x="9219964" y="63602"/>
            <a:ext cx="353962" cy="1231491"/>
          </a:xfrm>
          <a:prstGeom prst="rect">
            <a:avLst/>
          </a:prstGeom>
          <a:solidFill>
            <a:srgbClr val="FF616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D275C86F-4EDD-2EC0-34C9-BD3A8793E7DB}"/>
              </a:ext>
            </a:extLst>
          </p:cNvPr>
          <p:cNvSpPr/>
          <p:nvPr/>
        </p:nvSpPr>
        <p:spPr>
          <a:xfrm>
            <a:off x="9324945" y="369218"/>
            <a:ext cx="144000" cy="14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964E082-7A67-1D49-98D8-D5FDED6E19A9}"/>
              </a:ext>
            </a:extLst>
          </p:cNvPr>
          <p:cNvSpPr/>
          <p:nvPr/>
        </p:nvSpPr>
        <p:spPr>
          <a:xfrm>
            <a:off x="9324945" y="847115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3BA14B3-F87D-0B17-59B5-58161846D99B}"/>
              </a:ext>
            </a:extLst>
          </p:cNvPr>
          <p:cNvSpPr txBox="1"/>
          <p:nvPr/>
        </p:nvSpPr>
        <p:spPr>
          <a:xfrm rot="5400000">
            <a:off x="9295936" y="441140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664348D0-1F45-7BDB-B9D7-64748EC215BA}"/>
              </a:ext>
            </a:extLst>
          </p:cNvPr>
          <p:cNvSpPr/>
          <p:nvPr/>
        </p:nvSpPr>
        <p:spPr>
          <a:xfrm>
            <a:off x="9324945" y="146149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6E15805-B6C9-E858-8639-13F94F663570}"/>
              </a:ext>
            </a:extLst>
          </p:cNvPr>
          <p:cNvSpPr/>
          <p:nvPr/>
        </p:nvSpPr>
        <p:spPr>
          <a:xfrm>
            <a:off x="9324945" y="1071104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119A5A5-89ED-E0BB-DE5C-8CD278D595F8}"/>
              </a:ext>
            </a:extLst>
          </p:cNvPr>
          <p:cNvCxnSpPr>
            <a:cxnSpLocks/>
          </p:cNvCxnSpPr>
          <p:nvPr/>
        </p:nvCxnSpPr>
        <p:spPr>
          <a:xfrm>
            <a:off x="1806290" y="3324089"/>
            <a:ext cx="2033345" cy="70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DE88A3-B783-AE20-EE22-2B6EA24A08F4}"/>
              </a:ext>
            </a:extLst>
          </p:cNvPr>
          <p:cNvSpPr/>
          <p:nvPr/>
        </p:nvSpPr>
        <p:spPr>
          <a:xfrm>
            <a:off x="1464165" y="2695337"/>
            <a:ext cx="353962" cy="12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151EF2-9BDE-E1EC-C841-030CF336317C}"/>
              </a:ext>
            </a:extLst>
          </p:cNvPr>
          <p:cNvSpPr/>
          <p:nvPr/>
        </p:nvSpPr>
        <p:spPr>
          <a:xfrm>
            <a:off x="1569146" y="3000953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50E443-53DE-4425-C576-F06973D5F8EF}"/>
              </a:ext>
            </a:extLst>
          </p:cNvPr>
          <p:cNvSpPr/>
          <p:nvPr/>
        </p:nvSpPr>
        <p:spPr>
          <a:xfrm>
            <a:off x="1569146" y="347885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C4000-CEA9-3BC6-DFBB-0B9286977FFB}"/>
              </a:ext>
            </a:extLst>
          </p:cNvPr>
          <p:cNvSpPr txBox="1"/>
          <p:nvPr/>
        </p:nvSpPr>
        <p:spPr>
          <a:xfrm rot="5400000">
            <a:off x="1540137" y="3072875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02DEE8-8473-F414-AFC3-E92AEF199062}"/>
              </a:ext>
            </a:extLst>
          </p:cNvPr>
          <p:cNvSpPr/>
          <p:nvPr/>
        </p:nvSpPr>
        <p:spPr>
          <a:xfrm>
            <a:off x="1569146" y="277788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40FC38-C92A-9D91-A631-06648D3394E0}"/>
              </a:ext>
            </a:extLst>
          </p:cNvPr>
          <p:cNvSpPr/>
          <p:nvPr/>
        </p:nvSpPr>
        <p:spPr>
          <a:xfrm>
            <a:off x="1569146" y="3702839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A63EDC-C0C4-14B3-3510-4E2A35A21604}"/>
                  </a:ext>
                </a:extLst>
              </p:cNvPr>
              <p:cNvSpPr txBox="1"/>
              <p:nvPr/>
            </p:nvSpPr>
            <p:spPr>
              <a:xfrm>
                <a:off x="1743059" y="2863610"/>
                <a:ext cx="543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A63EDC-C0C4-14B3-3510-4E2A35A21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059" y="2863610"/>
                <a:ext cx="5431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5C41B5A-D421-194E-5595-B00ADD239BC4}"/>
              </a:ext>
            </a:extLst>
          </p:cNvPr>
          <p:cNvSpPr txBox="1"/>
          <p:nvPr/>
        </p:nvSpPr>
        <p:spPr>
          <a:xfrm>
            <a:off x="622245" y="3103209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en-S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971DF-10DE-A29D-F559-8D9EBF4CE9A7}"/>
              </a:ext>
            </a:extLst>
          </p:cNvPr>
          <p:cNvSpPr/>
          <p:nvPr/>
        </p:nvSpPr>
        <p:spPr>
          <a:xfrm>
            <a:off x="3857589" y="287181"/>
            <a:ext cx="3105919" cy="620374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err="1">
                <a:solidFill>
                  <a:srgbClr val="7030A0"/>
                </a:solidFill>
              </a:rPr>
              <a:t>ELMo</a:t>
            </a:r>
            <a:endParaRPr lang="en-GB" sz="4400" b="1" dirty="0">
              <a:solidFill>
                <a:srgbClr val="7030A0"/>
              </a:solidFill>
            </a:endParaRPr>
          </a:p>
          <a:p>
            <a:pPr algn="ctr"/>
            <a:endParaRPr lang="en-GB" sz="4400" b="1" dirty="0">
              <a:solidFill>
                <a:srgbClr val="7030A0"/>
              </a:solidFill>
            </a:endParaRPr>
          </a:p>
          <a:p>
            <a:pPr algn="ctr"/>
            <a:endParaRPr lang="en-GB" sz="4400" b="1" dirty="0">
              <a:solidFill>
                <a:srgbClr val="7030A0"/>
              </a:solidFill>
            </a:endParaRPr>
          </a:p>
          <a:p>
            <a:pPr algn="ctr"/>
            <a:endParaRPr lang="en-SG" sz="4400" b="1" dirty="0">
              <a:solidFill>
                <a:srgbClr val="7030A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0C2D0C-4FFB-32B8-628F-86E3A939D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876" y="2733878"/>
            <a:ext cx="2777509" cy="22081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65CBDF5-1D45-D301-D627-E2B2A910B389}"/>
              </a:ext>
            </a:extLst>
          </p:cNvPr>
          <p:cNvSpPr/>
          <p:nvPr/>
        </p:nvSpPr>
        <p:spPr>
          <a:xfrm>
            <a:off x="9286019" y="5342243"/>
            <a:ext cx="353962" cy="1231491"/>
          </a:xfrm>
          <a:prstGeom prst="rect">
            <a:avLst/>
          </a:prstGeom>
          <a:solidFill>
            <a:srgbClr val="FF616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CC419A-388B-4CA6-0F95-91BC6729A502}"/>
              </a:ext>
            </a:extLst>
          </p:cNvPr>
          <p:cNvSpPr/>
          <p:nvPr/>
        </p:nvSpPr>
        <p:spPr>
          <a:xfrm>
            <a:off x="9391000" y="5647859"/>
            <a:ext cx="144000" cy="144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133D4B-A547-355C-39A9-5683DA378442}"/>
              </a:ext>
            </a:extLst>
          </p:cNvPr>
          <p:cNvSpPr/>
          <p:nvPr/>
        </p:nvSpPr>
        <p:spPr>
          <a:xfrm>
            <a:off x="9391000" y="6125756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19E11E-DF4B-25DD-DD2C-4F0498671867}"/>
              </a:ext>
            </a:extLst>
          </p:cNvPr>
          <p:cNvSpPr txBox="1"/>
          <p:nvPr/>
        </p:nvSpPr>
        <p:spPr>
          <a:xfrm rot="5400000">
            <a:off x="9361991" y="571978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5979F4-EABF-F023-6295-B3D78CDD7004}"/>
              </a:ext>
            </a:extLst>
          </p:cNvPr>
          <p:cNvSpPr/>
          <p:nvPr/>
        </p:nvSpPr>
        <p:spPr>
          <a:xfrm>
            <a:off x="9391000" y="542479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1CF639E-A9ED-5445-AFF0-07C6EC6BAD04}"/>
              </a:ext>
            </a:extLst>
          </p:cNvPr>
          <p:cNvSpPr/>
          <p:nvPr/>
        </p:nvSpPr>
        <p:spPr>
          <a:xfrm>
            <a:off x="9391000" y="6349745"/>
            <a:ext cx="144000" cy="14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EE70A2-2E5D-B9CB-4AAD-2F016145FB6B}"/>
              </a:ext>
            </a:extLst>
          </p:cNvPr>
          <p:cNvSpPr txBox="1"/>
          <p:nvPr/>
        </p:nvSpPr>
        <p:spPr>
          <a:xfrm rot="5400000">
            <a:off x="9343094" y="315822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42F339C-DD5A-8556-6A25-83969FC93AE3}"/>
                  </a:ext>
                </a:extLst>
              </p:cNvPr>
              <p:cNvSpPr txBox="1"/>
              <p:nvPr/>
            </p:nvSpPr>
            <p:spPr>
              <a:xfrm>
                <a:off x="9639981" y="146149"/>
                <a:ext cx="2552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SG" dirty="0"/>
                  <a:t>Embedding for word “Never” in sentence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42F339C-DD5A-8556-6A25-83969FC93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981" y="146149"/>
                <a:ext cx="2552019" cy="923330"/>
              </a:xfrm>
              <a:prstGeom prst="rect">
                <a:avLst/>
              </a:prstGeom>
              <a:blipFill>
                <a:blip r:embed="rId7"/>
                <a:stretch>
                  <a:fillRect l="-1909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1554313-548B-3C89-4EDD-C94303C703C7}"/>
                  </a:ext>
                </a:extLst>
              </p:cNvPr>
              <p:cNvSpPr txBox="1"/>
              <p:nvPr/>
            </p:nvSpPr>
            <p:spPr>
              <a:xfrm>
                <a:off x="9753334" y="5424790"/>
                <a:ext cx="2552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SG" dirty="0"/>
                  <a:t>Embedding for word “Up” in sentence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1554313-548B-3C89-4EDD-C94303C70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334" y="5424790"/>
                <a:ext cx="2552019" cy="923330"/>
              </a:xfrm>
              <a:prstGeom prst="rect">
                <a:avLst/>
              </a:prstGeom>
              <a:blipFill>
                <a:blip r:embed="rId8"/>
                <a:stretch>
                  <a:fillRect l="-2148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83D7C21-6F42-8DED-23CC-85917C47D0DB}"/>
              </a:ext>
            </a:extLst>
          </p:cNvPr>
          <p:cNvSpPr txBox="1"/>
          <p:nvPr/>
        </p:nvSpPr>
        <p:spPr>
          <a:xfrm rot="5400000">
            <a:off x="1477463" y="4413082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13470346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>
            <a:extLst>
              <a:ext uri="{FF2B5EF4-FFF2-40B4-BE49-F238E27FC236}">
                <a16:creationId xmlns:a16="http://schemas.microsoft.com/office/drawing/2014/main" id="{112FAD13-1FFC-9534-DA45-DE808FBDF9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15"/>
          <a:stretch/>
        </p:blipFill>
        <p:spPr>
          <a:xfrm rot="16200000">
            <a:off x="5409014" y="-208013"/>
            <a:ext cx="1601015" cy="1133669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0FA5765-DCC3-F7C2-0EF0-62444D46F55F}"/>
              </a:ext>
            </a:extLst>
          </p:cNvPr>
          <p:cNvSpPr txBox="1"/>
          <p:nvPr/>
        </p:nvSpPr>
        <p:spPr>
          <a:xfrm>
            <a:off x="3666126" y="6260842"/>
            <a:ext cx="8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endParaRPr lang="en-SG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45EBF8-44DD-8868-7237-C66BAB735C51}"/>
              </a:ext>
            </a:extLst>
          </p:cNvPr>
          <p:cNvSpPr txBox="1"/>
          <p:nvPr/>
        </p:nvSpPr>
        <p:spPr>
          <a:xfrm>
            <a:off x="1418658" y="6260842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endParaRPr lang="en-SG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3607BD-EA23-533C-7006-2611C56815C8}"/>
              </a:ext>
            </a:extLst>
          </p:cNvPr>
          <p:cNvSpPr txBox="1"/>
          <p:nvPr/>
        </p:nvSpPr>
        <p:spPr>
          <a:xfrm>
            <a:off x="10727298" y="6260842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endParaRPr lang="en-SG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99209F-D5FB-0A22-637C-297D452F7B2B}"/>
              </a:ext>
            </a:extLst>
          </p:cNvPr>
          <p:cNvSpPr txBox="1"/>
          <p:nvPr/>
        </p:nvSpPr>
        <p:spPr>
          <a:xfrm>
            <a:off x="5975044" y="6260842"/>
            <a:ext cx="79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en-SG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EAF80214-A833-48BC-93F3-FF32F57B1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79864" y="242940"/>
            <a:ext cx="1046238" cy="2013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54CB408-89ED-5DB2-4A25-9A96917D0001}"/>
                  </a:ext>
                </a:extLst>
              </p:cNvPr>
              <p:cNvSpPr txBox="1"/>
              <p:nvPr/>
            </p:nvSpPr>
            <p:spPr>
              <a:xfrm>
                <a:off x="3008684" y="48979"/>
                <a:ext cx="2552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SG" dirty="0"/>
                  <a:t>First embedding for word “Never” in sentence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54CB408-89ED-5DB2-4A25-9A96917D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84" y="48979"/>
                <a:ext cx="2552019" cy="923330"/>
              </a:xfrm>
              <a:prstGeom prst="rect">
                <a:avLst/>
              </a:prstGeom>
              <a:blipFill>
                <a:blip r:embed="rId4"/>
                <a:stretch>
                  <a:fillRect l="-2153" r="-3349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Left Brace 91">
            <a:extLst>
              <a:ext uri="{FF2B5EF4-FFF2-40B4-BE49-F238E27FC236}">
                <a16:creationId xmlns:a16="http://schemas.microsoft.com/office/drawing/2014/main" id="{0A88AD48-A9AF-A0AD-BC60-B8A3740879A9}"/>
              </a:ext>
            </a:extLst>
          </p:cNvPr>
          <p:cNvSpPr/>
          <p:nvPr/>
        </p:nvSpPr>
        <p:spPr>
          <a:xfrm rot="5400000">
            <a:off x="3951057" y="-1532952"/>
            <a:ext cx="503853" cy="711539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0F43B1-C1D5-7FE6-144E-DB9B5E25BFD7}"/>
              </a:ext>
            </a:extLst>
          </p:cNvPr>
          <p:cNvSpPr/>
          <p:nvPr/>
        </p:nvSpPr>
        <p:spPr>
          <a:xfrm>
            <a:off x="328246" y="3884246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343A562-5D13-7586-501A-91712D7E192C}"/>
              </a:ext>
            </a:extLst>
          </p:cNvPr>
          <p:cNvSpPr/>
          <p:nvPr/>
        </p:nvSpPr>
        <p:spPr>
          <a:xfrm>
            <a:off x="4958862" y="3884246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F60F088-90A5-DBE2-C4C3-17165FF54324}"/>
              </a:ext>
            </a:extLst>
          </p:cNvPr>
          <p:cNvSpPr/>
          <p:nvPr/>
        </p:nvSpPr>
        <p:spPr>
          <a:xfrm>
            <a:off x="3008684" y="3233560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B050"/>
                </a:solidFill>
              </a:rPr>
              <a:t>1D CNN</a:t>
            </a:r>
            <a:endParaRPr lang="en-SG" sz="2800" b="1" dirty="0">
              <a:solidFill>
                <a:srgbClr val="00B050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B13A798-1B15-4542-7305-76931378A9BB}"/>
              </a:ext>
            </a:extLst>
          </p:cNvPr>
          <p:cNvSpPr/>
          <p:nvPr/>
        </p:nvSpPr>
        <p:spPr>
          <a:xfrm>
            <a:off x="7600462" y="3233560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0B675E3-6BB3-0820-AED1-CA23866D40C0}"/>
              </a:ext>
            </a:extLst>
          </p:cNvPr>
          <p:cNvSpPr/>
          <p:nvPr/>
        </p:nvSpPr>
        <p:spPr>
          <a:xfrm>
            <a:off x="328246" y="2582874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46257A5-602C-19ED-9E1F-F46A875A5D6F}"/>
              </a:ext>
            </a:extLst>
          </p:cNvPr>
          <p:cNvSpPr/>
          <p:nvPr/>
        </p:nvSpPr>
        <p:spPr>
          <a:xfrm>
            <a:off x="4958862" y="2582874"/>
            <a:ext cx="4478216" cy="5627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DC030B-8D69-E0A0-09B7-75310785A817}"/>
              </a:ext>
            </a:extLst>
          </p:cNvPr>
          <p:cNvSpPr txBox="1"/>
          <p:nvPr/>
        </p:nvSpPr>
        <p:spPr>
          <a:xfrm>
            <a:off x="1639883" y="3250754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77AEA46-C9E9-FAAE-B2A4-8234B13C7904}"/>
              </a:ext>
            </a:extLst>
          </p:cNvPr>
          <p:cNvSpPr txBox="1"/>
          <p:nvPr/>
        </p:nvSpPr>
        <p:spPr>
          <a:xfrm>
            <a:off x="10107853" y="2582874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CEA7A85-0BE5-6DA3-6FEB-B0A0772F6E95}"/>
              </a:ext>
            </a:extLst>
          </p:cNvPr>
          <p:cNvSpPr txBox="1"/>
          <p:nvPr/>
        </p:nvSpPr>
        <p:spPr>
          <a:xfrm>
            <a:off x="10107853" y="3959681"/>
            <a:ext cx="3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…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4032060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3473</TotalTime>
  <Words>4696</Words>
  <Application>Microsoft Office PowerPoint</Application>
  <PresentationFormat>Widescreen</PresentationFormat>
  <Paragraphs>501</Paragraphs>
  <Slides>60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Wingdings</vt:lpstr>
      <vt:lpstr>Office Theme</vt:lpstr>
      <vt:lpstr>50.039 Theory and Practice of Deep Learning W8-S2 The Embedding Problem</vt:lpstr>
      <vt:lpstr>About this week (Week 8)</vt:lpstr>
      <vt:lpstr>About this week (Week 8)</vt:lpstr>
      <vt:lpstr>Continuous Bag of Words (CBoW)</vt:lpstr>
      <vt:lpstr>SkipGram (SG)</vt:lpstr>
      <vt:lpstr>PowerPoint Presentation</vt:lpstr>
      <vt:lpstr>SkipGram (SG)</vt:lpstr>
      <vt:lpstr>SkipGram (SG)</vt:lpstr>
      <vt:lpstr>SkipGram (SG)</vt:lpstr>
      <vt:lpstr>SkipGram (SG)</vt:lpstr>
      <vt:lpstr>SkipGram (SG)</vt:lpstr>
      <vt:lpstr>SkipGram (SG)</vt:lpstr>
      <vt:lpstr>SkipGram (SG)</vt:lpstr>
      <vt:lpstr>SkipGram (SG)</vt:lpstr>
      <vt:lpstr>SkipGram (SG)</vt:lpstr>
      <vt:lpstr>Word2Vec and Glove</vt:lpstr>
      <vt:lpstr>Word2Vec and Glove</vt:lpstr>
      <vt:lpstr>Word2Vec and Glove</vt:lpstr>
      <vt:lpstr>FastText</vt:lpstr>
      <vt:lpstr>Universal embeddings?</vt:lpstr>
      <vt:lpstr>FastText</vt:lpstr>
      <vt:lpstr>“Out of vocabulary” words</vt:lpstr>
      <vt:lpstr>“Out of vocabulary” words</vt:lpstr>
      <vt:lpstr>Core idea behind FastText (out-of-class)</vt:lpstr>
      <vt:lpstr>Core idea behind FastText (out-of-class)</vt:lpstr>
      <vt:lpstr>FastText - Recap</vt:lpstr>
      <vt:lpstr>FastText - Demo</vt:lpstr>
      <vt:lpstr>ELMo</vt:lpstr>
      <vt:lpstr>ELMo can take context into account</vt:lpstr>
      <vt:lpstr>ELMo can take context into account - A blast from the past (W9S1)</vt:lpstr>
      <vt:lpstr>ELMo – Key takeaways</vt:lpstr>
      <vt:lpstr>PowerPoint Presentation</vt:lpstr>
      <vt:lpstr>ELMo – Key takeaways</vt:lpstr>
      <vt:lpstr>ELMo – Key takeaways</vt:lpstr>
      <vt:lpstr>Remember problem #4?</vt:lpstr>
      <vt:lpstr>ELMo – Key takeaways</vt:lpstr>
      <vt:lpstr>PowerPoint Presentation</vt:lpstr>
      <vt:lpstr>ELMo – Key takeaways</vt:lpstr>
      <vt:lpstr>ELMo – Key takeaways</vt:lpstr>
      <vt:lpstr>ELMo – Key takeaways</vt:lpstr>
      <vt:lpstr>Context Aggregation in CBoW (Reminder)</vt:lpstr>
      <vt:lpstr>Context aggregation using Bi-LSTMs</vt:lpstr>
      <vt:lpstr>ELMo – Key takeaways</vt:lpstr>
      <vt:lpstr>ELMo – Key takeaways</vt:lpstr>
      <vt:lpstr>ELMo – Key takeaways</vt:lpstr>
      <vt:lpstr>ELMo – Key takeaways</vt:lpstr>
      <vt:lpstr>ELMo – Key takeaways</vt:lpstr>
      <vt:lpstr>ELMo – Key takeaways</vt:lpstr>
      <vt:lpstr>A note on the Highway Layer</vt:lpstr>
      <vt:lpstr>A note on the Highway Layer</vt:lpstr>
      <vt:lpstr>ELMo</vt:lpstr>
      <vt:lpstr>PowerPoint Presentation</vt:lpstr>
      <vt:lpstr>ELMo</vt:lpstr>
      <vt:lpstr>From characters to tokens?</vt:lpstr>
      <vt:lpstr>Conclusion (W8S2)</vt:lpstr>
      <vt:lpstr>Learn more about these topics</vt:lpstr>
      <vt:lpstr>Learn more about these topics</vt:lpstr>
      <vt:lpstr>Learn more about these topics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176</cp:revision>
  <dcterms:created xsi:type="dcterms:W3CDTF">2021-03-10T09:35:15Z</dcterms:created>
  <dcterms:modified xsi:type="dcterms:W3CDTF">2025-12-19T17:37:59Z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2022-10-14T06:10:55Z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7d1432a8-f22f-4369-b6f0-2d209c4f091d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