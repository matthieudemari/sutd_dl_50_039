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377" r:id="rId2"/>
    <p:sldId id="257" r:id="rId3"/>
    <p:sldId id="662" r:id="rId4"/>
    <p:sldId id="379" r:id="rId5"/>
    <p:sldId id="671" r:id="rId6"/>
    <p:sldId id="387" r:id="rId7"/>
    <p:sldId id="378" r:id="rId8"/>
    <p:sldId id="380" r:id="rId9"/>
    <p:sldId id="382" r:id="rId10"/>
    <p:sldId id="384" r:id="rId11"/>
    <p:sldId id="672" r:id="rId12"/>
    <p:sldId id="381" r:id="rId13"/>
    <p:sldId id="386" r:id="rId14"/>
    <p:sldId id="665" r:id="rId15"/>
    <p:sldId id="666" r:id="rId16"/>
    <p:sldId id="393" r:id="rId17"/>
    <p:sldId id="394" r:id="rId18"/>
    <p:sldId id="395" r:id="rId19"/>
    <p:sldId id="392" r:id="rId20"/>
    <p:sldId id="391" r:id="rId21"/>
    <p:sldId id="396" r:id="rId22"/>
    <p:sldId id="397" r:id="rId23"/>
    <p:sldId id="400" r:id="rId24"/>
    <p:sldId id="398" r:id="rId25"/>
    <p:sldId id="399" r:id="rId26"/>
    <p:sldId id="402" r:id="rId27"/>
    <p:sldId id="403" r:id="rId28"/>
    <p:sldId id="575" r:id="rId29"/>
    <p:sldId id="405" r:id="rId30"/>
    <p:sldId id="577" r:id="rId31"/>
    <p:sldId id="576" r:id="rId32"/>
    <p:sldId id="580" r:id="rId33"/>
    <p:sldId id="578" r:id="rId34"/>
    <p:sldId id="581" r:id="rId35"/>
    <p:sldId id="406" r:id="rId36"/>
    <p:sldId id="582" r:id="rId37"/>
    <p:sldId id="596" r:id="rId38"/>
    <p:sldId id="583" r:id="rId39"/>
    <p:sldId id="585" r:id="rId40"/>
    <p:sldId id="584" r:id="rId41"/>
    <p:sldId id="586" r:id="rId42"/>
    <p:sldId id="588" r:id="rId43"/>
    <p:sldId id="404" r:id="rId44"/>
    <p:sldId id="589" r:id="rId45"/>
    <p:sldId id="574" r:id="rId46"/>
    <p:sldId id="592" r:id="rId47"/>
    <p:sldId id="593" r:id="rId48"/>
    <p:sldId id="590" r:id="rId49"/>
    <p:sldId id="598" r:id="rId50"/>
    <p:sldId id="407" r:id="rId51"/>
    <p:sldId id="670" r:id="rId52"/>
    <p:sldId id="669" r:id="rId53"/>
    <p:sldId id="668" r:id="rId54"/>
    <p:sldId id="599"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257"/>
            <p14:sldId id="662"/>
          </p14:sldIdLst>
        </p14:section>
        <p14:section name="II.1. Times series definition" id="{B53B199C-3485-43E2-B178-7626A2335BB4}">
          <p14:sldIdLst>
            <p14:sldId id="379"/>
            <p14:sldId id="671"/>
            <p14:sldId id="387"/>
          </p14:sldIdLst>
        </p14:section>
        <p14:section name="II.2. Analyzing a time series" id="{58784343-C805-4DF8-81D2-771E9AD30AB6}">
          <p14:sldIdLst>
            <p14:sldId id="378"/>
            <p14:sldId id="380"/>
            <p14:sldId id="382"/>
            <p14:sldId id="384"/>
            <p14:sldId id="672"/>
            <p14:sldId id="381"/>
            <p14:sldId id="386"/>
          </p14:sldIdLst>
        </p14:section>
        <p14:section name="II.3. A first simple predictor" id="{8870CF46-705E-4FFF-A4E3-4C9C1D8C2E67}">
          <p14:sldIdLst>
            <p14:sldId id="665"/>
            <p14:sldId id="666"/>
            <p14:sldId id="393"/>
            <p14:sldId id="394"/>
            <p14:sldId id="395"/>
          </p14:sldIdLst>
        </p14:section>
        <p14:section name="II.4. History and Lookback size" id="{D87DC391-79E1-4443-AF13-1B98CBF87AC1}">
          <p14:sldIdLst>
            <p14:sldId id="392"/>
            <p14:sldId id="391"/>
            <p14:sldId id="396"/>
            <p14:sldId id="397"/>
            <p14:sldId id="400"/>
          </p14:sldIdLst>
        </p14:section>
        <p14:section name="II.5. A second DNN model with history" id="{05CB7122-48B2-4C27-9C76-7D6EE6449ABF}">
          <p14:sldIdLst>
            <p14:sldId id="398"/>
            <p14:sldId id="399"/>
            <p14:sldId id="402"/>
            <p14:sldId id="403"/>
          </p14:sldIdLst>
        </p14:section>
        <p14:section name="III.1. What is a good history length then?" id="{439E70ED-19A9-4437-A513-052BE4200168}">
          <p14:sldIdLst>
            <p14:sldId id="575"/>
            <p14:sldId id="405"/>
            <p14:sldId id="577"/>
            <p14:sldId id="576"/>
            <p14:sldId id="580"/>
          </p14:sldIdLst>
        </p14:section>
        <p14:section name="III.2. The need for memory" id="{5B4ADBBD-251E-4935-9EBA-FD85BDF27B24}">
          <p14:sldIdLst>
            <p14:sldId id="578"/>
            <p14:sldId id="581"/>
          </p14:sldIdLst>
        </p14:section>
        <p14:section name="III.3. Implementing a simple Recurrent Neural Network" id="{473DBD43-41F1-47C0-BFA0-6CF8D29B3378}">
          <p14:sldIdLst>
            <p14:sldId id="406"/>
            <p14:sldId id="582"/>
            <p14:sldId id="596"/>
            <p14:sldId id="583"/>
            <p14:sldId id="585"/>
            <p14:sldId id="584"/>
            <p14:sldId id="586"/>
          </p14:sldIdLst>
        </p14:section>
        <p14:section name="III.4. About memory size" id="{5EC070D9-B871-4B4C-8A7C-F10AA040484D}">
          <p14:sldIdLst>
            <p14:sldId id="588"/>
            <p14:sldId id="404"/>
            <p14:sldId id="589"/>
            <p14:sldId id="574"/>
          </p14:sldIdLst>
        </p14:section>
        <p14:section name="IV.1. The vanishing gradient problem in RNNs" id="{D3BFA552-698E-4C93-8F62-2245EFF8BCA5}">
          <p14:sldIdLst>
            <p14:sldId id="592"/>
            <p14:sldId id="593"/>
            <p14:sldId id="590"/>
            <p14:sldId id="598"/>
            <p14:sldId id="407"/>
            <p14:sldId id="670"/>
            <p14:sldId id="669"/>
            <p14:sldId id="668"/>
            <p14:sldId id="5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5E96C2-CAD4-4467-9AE0-F3D89E678849}" v="4" dt="2026-01-06T04:47:15.7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modSld">
      <pc:chgData name="Matthieu De Mari" userId="dfb708c9-d8dc-439f-9a3b-c772bf4a311c" providerId="ADAL" clId="{81E9B007-0C2C-493E-9B93-55A62C9C1F12}" dt="2026-01-06T04:47:34.642" v="359" actId="14100"/>
      <pc:docMkLst>
        <pc:docMk/>
      </pc:docMkLst>
      <pc:sldChg chg="addSp delSp modSp add mod chgLayout">
        <pc:chgData name="Matthieu De Mari" userId="dfb708c9-d8dc-439f-9a3b-c772bf4a311c" providerId="ADAL" clId="{81E9B007-0C2C-493E-9B93-55A62C9C1F12}" dt="2026-01-06T04:47:34.642" v="359" actId="14100"/>
        <pc:sldMkLst>
          <pc:docMk/>
          <pc:sldMk cId="559955036" sldId="672"/>
        </pc:sldMkLst>
        <pc:spChg chg="add mod ord">
          <ac:chgData name="Matthieu De Mari" userId="dfb708c9-d8dc-439f-9a3b-c772bf4a311c" providerId="ADAL" clId="{81E9B007-0C2C-493E-9B93-55A62C9C1F12}" dt="2026-01-06T04:47:34.642" v="359" actId="14100"/>
          <ac:spMkLst>
            <pc:docMk/>
            <pc:sldMk cId="559955036" sldId="672"/>
            <ac:spMk id="2" creationId="{D7B27C08-981B-D29E-667C-0CA05F528EE4}"/>
          </ac:spMkLst>
        </pc:spChg>
        <pc:spChg chg="mod ord">
          <ac:chgData name="Matthieu De Mari" userId="dfb708c9-d8dc-439f-9a3b-c772bf4a311c" providerId="ADAL" clId="{81E9B007-0C2C-493E-9B93-55A62C9C1F12}" dt="2026-01-06T04:45:27.906" v="305" actId="700"/>
          <ac:spMkLst>
            <pc:docMk/>
            <pc:sldMk cId="559955036" sldId="672"/>
            <ac:spMk id="5" creationId="{2FA62BAB-0365-E25F-E7AA-0B21849DE445}"/>
          </ac:spMkLst>
        </pc:spChg>
        <pc:spChg chg="mod ord">
          <ac:chgData name="Matthieu De Mari" userId="dfb708c9-d8dc-439f-9a3b-c772bf4a311c" providerId="ADAL" clId="{81E9B007-0C2C-493E-9B93-55A62C9C1F12}" dt="2026-01-06T04:47:28.169" v="356" actId="12"/>
          <ac:spMkLst>
            <pc:docMk/>
            <pc:sldMk cId="559955036" sldId="672"/>
            <ac:spMk id="6" creationId="{A3CE3216-BB60-B2EA-0A77-7CD1D1669BBE}"/>
          </ac:spMkLst>
        </pc:spChg>
        <pc:picChg chg="del">
          <ac:chgData name="Matthieu De Mari" userId="dfb708c9-d8dc-439f-9a3b-c772bf4a311c" providerId="ADAL" clId="{81E9B007-0C2C-493E-9B93-55A62C9C1F12}" dt="2026-01-06T04:45:24.743" v="304" actId="478"/>
          <ac:picMkLst>
            <pc:docMk/>
            <pc:sldMk cId="559955036" sldId="672"/>
            <ac:picMk id="3" creationId="{2FBCE472-B101-706E-49C1-78BEAA685A6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06/01/2026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06/01/2026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50.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00.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W5-S1 Times Series Data and</a:t>
            </a:r>
            <a:br>
              <a:rPr lang="en-US" dirty="0"/>
            </a:br>
            <a:r>
              <a:rPr lang="en-US" dirty="0"/>
              <a:t>Recurrent Neural Networks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5)</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4"/>
            <a:ext cx="10515600" cy="5032375"/>
          </a:xfrm>
        </p:spPr>
        <p:txBody>
          <a:bodyPr>
            <a:normAutofit/>
          </a:bodyPr>
          <a:lstStyle/>
          <a:p>
            <a:pPr marL="514350" indent="-514350">
              <a:buFont typeface="+mj-lt"/>
              <a:buAutoNum type="arabicPeriod"/>
            </a:pPr>
            <a:r>
              <a:rPr lang="en-US" dirty="0"/>
              <a:t>What is a </a:t>
            </a:r>
            <a:r>
              <a:rPr lang="en-US" b="1" dirty="0"/>
              <a:t>time</a:t>
            </a:r>
            <a:r>
              <a:rPr lang="en-US" dirty="0"/>
              <a:t> </a:t>
            </a:r>
            <a:r>
              <a:rPr lang="en-US" b="1" dirty="0"/>
              <a:t>series</a:t>
            </a:r>
            <a:r>
              <a:rPr lang="en-US" dirty="0"/>
              <a:t> </a:t>
            </a:r>
            <a:r>
              <a:rPr lang="en-US" b="1" dirty="0"/>
              <a:t>dataset</a:t>
            </a:r>
            <a:r>
              <a:rPr lang="en-US" dirty="0"/>
              <a:t>?</a:t>
            </a:r>
          </a:p>
          <a:p>
            <a:pPr marL="514350" indent="-514350">
              <a:buFont typeface="+mj-lt"/>
              <a:buAutoNum type="arabicPeriod"/>
            </a:pPr>
            <a:r>
              <a:rPr lang="en-US" dirty="0"/>
              <a:t>How to </a:t>
            </a:r>
            <a:r>
              <a:rPr lang="en-US" b="1" dirty="0"/>
              <a:t>analyze a time series</a:t>
            </a:r>
            <a:r>
              <a:rPr lang="en-US" dirty="0"/>
              <a:t>, and what are </a:t>
            </a:r>
            <a:r>
              <a:rPr lang="en-US" b="1" dirty="0"/>
              <a:t>typical deep learning models</a:t>
            </a:r>
            <a:r>
              <a:rPr lang="en-US" dirty="0"/>
              <a:t> capable of doing that?</a:t>
            </a:r>
          </a:p>
          <a:p>
            <a:pPr marL="514350" indent="-514350">
              <a:buFont typeface="+mj-lt"/>
              <a:buAutoNum type="arabicPeriod"/>
            </a:pPr>
            <a:r>
              <a:rPr lang="en-US" dirty="0"/>
              <a:t>What is </a:t>
            </a:r>
            <a:r>
              <a:rPr lang="en-US" b="1" dirty="0"/>
              <a:t>history</a:t>
            </a:r>
            <a:r>
              <a:rPr lang="en-US" dirty="0"/>
              <a:t>, and why is it needed for time series predictions?</a:t>
            </a:r>
          </a:p>
          <a:p>
            <a:pPr marL="514350" indent="-514350">
              <a:buFont typeface="+mj-lt"/>
              <a:buAutoNum type="arabicPeriod"/>
            </a:pPr>
            <a:r>
              <a:rPr lang="en-US" dirty="0"/>
              <a:t>What is a </a:t>
            </a:r>
            <a:r>
              <a:rPr lang="en-US" b="1" dirty="0"/>
              <a:t>good history length</a:t>
            </a:r>
            <a:r>
              <a:rPr lang="en-US" dirty="0"/>
              <a:t>?</a:t>
            </a:r>
          </a:p>
          <a:p>
            <a:pPr marL="514350" indent="-514350">
              <a:buFont typeface="+mj-lt"/>
              <a:buAutoNum type="arabicPeriod"/>
            </a:pPr>
            <a:r>
              <a:rPr lang="en-US" dirty="0"/>
              <a:t>What is </a:t>
            </a:r>
            <a:r>
              <a:rPr lang="en-US" b="1" dirty="0"/>
              <a:t>memory</a:t>
            </a:r>
            <a:r>
              <a:rPr lang="en-US" dirty="0"/>
              <a:t> and how to represent it in a Neural Network model?</a:t>
            </a:r>
          </a:p>
          <a:p>
            <a:pPr marL="514350" indent="-514350">
              <a:buFont typeface="+mj-lt"/>
              <a:buAutoNum type="arabicPeriod"/>
            </a:pPr>
            <a:r>
              <a:rPr lang="en-US" dirty="0"/>
              <a:t>How to implement a first </a:t>
            </a:r>
            <a:r>
              <a:rPr lang="en-US" b="1" dirty="0"/>
              <a:t>vanilla Recurrent Neural Network </a:t>
            </a:r>
            <a:r>
              <a:rPr lang="en-US" dirty="0"/>
              <a:t>model?</a:t>
            </a:r>
          </a:p>
          <a:p>
            <a:pPr marL="514350" indent="-514350">
              <a:buFont typeface="+mj-lt"/>
              <a:buAutoNum type="arabicPeriod"/>
            </a:pPr>
            <a:r>
              <a:rPr lang="en-US" dirty="0"/>
              <a:t>Why is the </a:t>
            </a:r>
            <a:r>
              <a:rPr lang="en-US" b="1" dirty="0"/>
              <a:t>vanishing gradient problem </a:t>
            </a:r>
            <a:r>
              <a:rPr lang="en-US" dirty="0"/>
              <a:t>prominent in RNNs?</a:t>
            </a:r>
            <a:endParaRPr lang="en-GB" dirty="0"/>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5)</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4"/>
            <a:ext cx="10515600" cy="5032375"/>
          </a:xfrm>
        </p:spPr>
        <p:txBody>
          <a:bodyPr/>
          <a:lstStyle/>
          <a:p>
            <a:pPr marL="514350" indent="-514350">
              <a:buFont typeface="+mj-lt"/>
              <a:buAutoNum type="arabicPeriod" startAt="8"/>
            </a:pPr>
            <a:r>
              <a:rPr lang="en-US" dirty="0"/>
              <a:t>What is the </a:t>
            </a:r>
            <a:r>
              <a:rPr lang="en-US" b="1" dirty="0"/>
              <a:t>LSTM</a:t>
            </a:r>
            <a:r>
              <a:rPr lang="en-US" dirty="0"/>
              <a:t> model?</a:t>
            </a:r>
          </a:p>
          <a:p>
            <a:pPr marL="514350" indent="-514350">
              <a:buFont typeface="+mj-lt"/>
              <a:buAutoNum type="arabicPeriod" startAt="8"/>
            </a:pPr>
            <a:r>
              <a:rPr lang="en-US" dirty="0"/>
              <a:t>What is the </a:t>
            </a:r>
            <a:r>
              <a:rPr lang="en-US" b="1" dirty="0"/>
              <a:t>GRU</a:t>
            </a:r>
            <a:r>
              <a:rPr lang="en-US" dirty="0"/>
              <a:t> model?</a:t>
            </a:r>
          </a:p>
          <a:p>
            <a:pPr marL="514350" indent="-514350">
              <a:buFont typeface="+mj-lt"/>
              <a:buAutoNum type="arabicPeriod" startAt="8"/>
            </a:pPr>
            <a:r>
              <a:rPr lang="en-US" dirty="0"/>
              <a:t>What are </a:t>
            </a:r>
            <a:r>
              <a:rPr lang="en-US" b="1" dirty="0"/>
              <a:t>one-to-one</a:t>
            </a:r>
            <a:r>
              <a:rPr lang="en-US" dirty="0"/>
              <a:t>, </a:t>
            </a:r>
            <a:r>
              <a:rPr lang="en-US" b="1" dirty="0"/>
              <a:t>one-to-many</a:t>
            </a:r>
            <a:r>
              <a:rPr lang="en-US" dirty="0"/>
              <a:t>, </a:t>
            </a:r>
            <a:r>
              <a:rPr lang="en-US" b="1" dirty="0"/>
              <a:t>many-to-one</a:t>
            </a:r>
            <a:r>
              <a:rPr lang="en-US" dirty="0"/>
              <a:t> and </a:t>
            </a:r>
            <a:r>
              <a:rPr lang="en-US" b="1" dirty="0"/>
              <a:t>many-to-many</a:t>
            </a:r>
            <a:r>
              <a:rPr lang="en-US" dirty="0"/>
              <a:t> models? </a:t>
            </a:r>
          </a:p>
          <a:p>
            <a:pPr marL="514350" indent="-514350">
              <a:buFont typeface="+mj-lt"/>
              <a:buAutoNum type="arabicPeriod" startAt="8"/>
            </a:pPr>
            <a:r>
              <a:rPr lang="en-US" dirty="0"/>
              <a:t>What are some </a:t>
            </a:r>
            <a:r>
              <a:rPr lang="en-US" b="1" dirty="0"/>
              <a:t>typical application examples </a:t>
            </a:r>
            <a:r>
              <a:rPr lang="en-US" dirty="0"/>
              <a:t>of these?</a:t>
            </a:r>
          </a:p>
          <a:p>
            <a:pPr marL="514350" indent="-514350">
              <a:buFont typeface="+mj-lt"/>
              <a:buAutoNum type="arabicPeriod" startAt="8"/>
            </a:pPr>
            <a:r>
              <a:rPr lang="en-US" dirty="0"/>
              <a:t>What is a </a:t>
            </a:r>
            <a:r>
              <a:rPr lang="en-US" b="1" dirty="0"/>
              <a:t>Seq2Seq</a:t>
            </a:r>
            <a:r>
              <a:rPr lang="en-US" dirty="0"/>
              <a:t> model?</a:t>
            </a:r>
          </a:p>
          <a:p>
            <a:pPr marL="514350" indent="-514350">
              <a:buFont typeface="+mj-lt"/>
              <a:buAutoNum type="arabicPeriod" startAt="8"/>
            </a:pPr>
            <a:r>
              <a:rPr lang="en-US" dirty="0"/>
              <a:t>What are </a:t>
            </a:r>
            <a:r>
              <a:rPr lang="en-US" b="1" dirty="0"/>
              <a:t>encoder</a:t>
            </a:r>
            <a:r>
              <a:rPr lang="en-US" dirty="0"/>
              <a:t> and </a:t>
            </a:r>
            <a:r>
              <a:rPr lang="en-US" b="1" dirty="0"/>
              <a:t>decoder</a:t>
            </a:r>
            <a:r>
              <a:rPr lang="en-US" dirty="0"/>
              <a:t> architectures?</a:t>
            </a:r>
          </a:p>
          <a:p>
            <a:pPr marL="514350" indent="-514350">
              <a:buFont typeface="+mj-lt"/>
              <a:buAutoNum type="arabicPeriod" startAt="8"/>
            </a:pPr>
            <a:r>
              <a:rPr lang="en-US" dirty="0"/>
              <a:t>What is an </a:t>
            </a:r>
            <a:r>
              <a:rPr lang="en-US" b="1" dirty="0"/>
              <a:t>autoregressive</a:t>
            </a:r>
            <a:r>
              <a:rPr lang="en-US" dirty="0"/>
              <a:t> </a:t>
            </a:r>
            <a:r>
              <a:rPr lang="en-US" b="1" dirty="0"/>
              <a:t>RNN</a:t>
            </a:r>
            <a:r>
              <a:rPr lang="en-US" dirty="0"/>
              <a:t>?</a:t>
            </a:r>
          </a:p>
          <a:p>
            <a:pPr marL="514350" indent="-514350">
              <a:buFont typeface="+mj-lt"/>
              <a:buAutoNum type="arabicPeriod" startAt="8"/>
            </a:pPr>
            <a:endParaRPr lang="en-GB" dirty="0"/>
          </a:p>
        </p:txBody>
      </p:sp>
    </p:spTree>
    <p:extLst>
      <p:ext uri="{BB962C8B-B14F-4D97-AF65-F5344CB8AC3E}">
        <p14:creationId xmlns:p14="http://schemas.microsoft.com/office/powerpoint/2010/main" val="444206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B1015D-E7F1-F3D9-E560-C9E82C06BBB9}"/>
              </a:ext>
            </a:extLst>
          </p:cNvPr>
          <p:cNvSpPr>
            <a:spLocks noGrp="1"/>
          </p:cNvSpPr>
          <p:nvPr>
            <p:ph type="title"/>
          </p:nvPr>
        </p:nvSpPr>
        <p:spPr/>
        <p:txBody>
          <a:bodyPr/>
          <a:lstStyle/>
          <a:p>
            <a:r>
              <a:rPr lang="en-GB" dirty="0"/>
              <a:t>Time series dataset</a:t>
            </a:r>
            <a:endParaRPr lang="en-SG" dirty="0"/>
          </a:p>
        </p:txBody>
      </p:sp>
      <p:sp>
        <p:nvSpPr>
          <p:cNvPr id="5" name="Content Placeholder 4">
            <a:extLst>
              <a:ext uri="{FF2B5EF4-FFF2-40B4-BE49-F238E27FC236}">
                <a16:creationId xmlns:a16="http://schemas.microsoft.com/office/drawing/2014/main" id="{B00D7D74-AD4E-73AE-79C0-432D2B4B2341}"/>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Definition (</a:t>
            </a:r>
            <a:r>
              <a:rPr lang="en-GB" b="1" dirty="0">
                <a:solidFill>
                  <a:srgbClr val="00B050"/>
                </a:solidFill>
              </a:rPr>
              <a:t>time</a:t>
            </a:r>
            <a:r>
              <a:rPr lang="en-GB" b="1" dirty="0"/>
              <a:t> </a:t>
            </a:r>
            <a:r>
              <a:rPr lang="en-GB" b="1" dirty="0">
                <a:solidFill>
                  <a:srgbClr val="00B050"/>
                </a:solidFill>
              </a:rPr>
              <a:t>series</a:t>
            </a:r>
            <a:r>
              <a:rPr lang="en-GB" b="1" dirty="0"/>
              <a:t> dataset):</a:t>
            </a:r>
          </a:p>
          <a:p>
            <a:pPr marL="0" indent="0">
              <a:buNone/>
            </a:pPr>
            <a:r>
              <a:rPr lang="en-GB" dirty="0"/>
              <a:t>A </a:t>
            </a:r>
            <a:r>
              <a:rPr lang="en-GB" b="1" dirty="0">
                <a:solidFill>
                  <a:srgbClr val="00B050"/>
                </a:solidFill>
              </a:rPr>
              <a:t>time</a:t>
            </a:r>
            <a:r>
              <a:rPr lang="en-GB" dirty="0"/>
              <a:t> </a:t>
            </a:r>
            <a:r>
              <a:rPr lang="en-GB" b="1" dirty="0">
                <a:solidFill>
                  <a:srgbClr val="00B050"/>
                </a:solidFill>
              </a:rPr>
              <a:t>series</a:t>
            </a:r>
            <a:r>
              <a:rPr lang="en-GB" dirty="0"/>
              <a:t> </a:t>
            </a:r>
            <a:r>
              <a:rPr lang="en-GB" b="1" dirty="0"/>
              <a:t>dataset</a:t>
            </a:r>
            <a:r>
              <a:rPr lang="en-GB" dirty="0"/>
              <a:t> is a </a:t>
            </a:r>
            <a:r>
              <a:rPr lang="en-GB" b="1" dirty="0"/>
              <a:t>sequence of data points that are collected over time</a:t>
            </a:r>
            <a:r>
              <a:rPr lang="en-GB" dirty="0"/>
              <a:t>, typically at regular intervals.</a:t>
            </a:r>
          </a:p>
          <a:p>
            <a:pPr marL="0" indent="0">
              <a:buNone/>
            </a:pPr>
            <a:r>
              <a:rPr lang="en-GB" dirty="0"/>
              <a:t>Time series data can be used to study how a particular variable changes over time, with many applications as</a:t>
            </a:r>
          </a:p>
          <a:p>
            <a:r>
              <a:rPr lang="en-GB" dirty="0"/>
              <a:t>Stock prices,</a:t>
            </a:r>
          </a:p>
          <a:p>
            <a:r>
              <a:rPr lang="en-GB" dirty="0"/>
              <a:t>Weather patterns,</a:t>
            </a:r>
          </a:p>
          <a:p>
            <a:r>
              <a:rPr lang="en-GB" dirty="0"/>
              <a:t>Etc.</a:t>
            </a:r>
          </a:p>
        </p:txBody>
      </p:sp>
      <p:pic>
        <p:nvPicPr>
          <p:cNvPr id="7" name="Picture 6">
            <a:extLst>
              <a:ext uri="{FF2B5EF4-FFF2-40B4-BE49-F238E27FC236}">
                <a16:creationId xmlns:a16="http://schemas.microsoft.com/office/drawing/2014/main" id="{419F02C5-327D-5E29-7377-652FB7F17B8A}"/>
              </a:ext>
            </a:extLst>
          </p:cNvPr>
          <p:cNvPicPr>
            <a:picLocks noChangeAspect="1"/>
          </p:cNvPicPr>
          <p:nvPr/>
        </p:nvPicPr>
        <p:blipFill>
          <a:blip r:embed="rId2"/>
          <a:stretch>
            <a:fillRect/>
          </a:stretch>
        </p:blipFill>
        <p:spPr>
          <a:xfrm>
            <a:off x="6372228" y="1570786"/>
            <a:ext cx="5486452" cy="4796162"/>
          </a:xfrm>
          <a:prstGeom prst="rect">
            <a:avLst/>
          </a:prstGeom>
        </p:spPr>
      </p:pic>
    </p:spTree>
    <p:extLst>
      <p:ext uri="{BB962C8B-B14F-4D97-AF65-F5344CB8AC3E}">
        <p14:creationId xmlns:p14="http://schemas.microsoft.com/office/powerpoint/2010/main" val="3946144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81D2B-BDEB-E432-C49F-C5F16F1FD8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8CBCB84-D7CC-48A5-2ABC-17123FC15AF8}"/>
              </a:ext>
            </a:extLst>
          </p:cNvPr>
          <p:cNvSpPr>
            <a:spLocks noGrp="1"/>
          </p:cNvSpPr>
          <p:nvPr>
            <p:ph type="title"/>
          </p:nvPr>
        </p:nvSpPr>
        <p:spPr/>
        <p:txBody>
          <a:bodyPr/>
          <a:lstStyle/>
          <a:p>
            <a:r>
              <a:rPr lang="en-GB" dirty="0"/>
              <a:t>Time series dataset</a:t>
            </a:r>
            <a:endParaRPr lang="en-SG" dirty="0"/>
          </a:p>
        </p:txBody>
      </p:sp>
      <p:sp>
        <p:nvSpPr>
          <p:cNvPr id="5" name="Content Placeholder 4">
            <a:extLst>
              <a:ext uri="{FF2B5EF4-FFF2-40B4-BE49-F238E27FC236}">
                <a16:creationId xmlns:a16="http://schemas.microsoft.com/office/drawing/2014/main" id="{78C80EE6-0F18-6A47-E21F-867D08ABAA5E}"/>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Definition (</a:t>
            </a:r>
            <a:r>
              <a:rPr lang="en-GB" b="1" dirty="0">
                <a:solidFill>
                  <a:srgbClr val="00B050"/>
                </a:solidFill>
              </a:rPr>
              <a:t>time</a:t>
            </a:r>
            <a:r>
              <a:rPr lang="en-GB" b="1" dirty="0"/>
              <a:t> </a:t>
            </a:r>
            <a:r>
              <a:rPr lang="en-GB" b="1" dirty="0">
                <a:solidFill>
                  <a:srgbClr val="00B050"/>
                </a:solidFill>
              </a:rPr>
              <a:t>series</a:t>
            </a:r>
            <a:r>
              <a:rPr lang="en-GB" b="1" dirty="0"/>
              <a:t> dataset):</a:t>
            </a:r>
          </a:p>
          <a:p>
            <a:pPr marL="0" indent="0">
              <a:buNone/>
            </a:pPr>
            <a:r>
              <a:rPr lang="en-GB" dirty="0"/>
              <a:t>A </a:t>
            </a:r>
            <a:r>
              <a:rPr lang="en-GB" b="1" dirty="0">
                <a:solidFill>
                  <a:srgbClr val="00B050"/>
                </a:solidFill>
              </a:rPr>
              <a:t>time</a:t>
            </a:r>
            <a:r>
              <a:rPr lang="en-GB" dirty="0"/>
              <a:t> </a:t>
            </a:r>
            <a:r>
              <a:rPr lang="en-GB" b="1" dirty="0">
                <a:solidFill>
                  <a:srgbClr val="00B050"/>
                </a:solidFill>
              </a:rPr>
              <a:t>series</a:t>
            </a:r>
            <a:r>
              <a:rPr lang="en-GB" dirty="0"/>
              <a:t> </a:t>
            </a:r>
            <a:r>
              <a:rPr lang="en-GB" b="1" dirty="0"/>
              <a:t>dataset</a:t>
            </a:r>
            <a:r>
              <a:rPr lang="en-GB" dirty="0"/>
              <a:t> is a </a:t>
            </a:r>
            <a:r>
              <a:rPr lang="en-GB" b="1" dirty="0"/>
              <a:t>sequence of data points that are collected over time</a:t>
            </a:r>
            <a:r>
              <a:rPr lang="en-GB" dirty="0"/>
              <a:t>, typically at regular intervals.</a:t>
            </a:r>
          </a:p>
          <a:p>
            <a:pPr marL="0" indent="0">
              <a:buNone/>
            </a:pPr>
            <a:r>
              <a:rPr lang="en-GB" dirty="0"/>
              <a:t>Time series data can be used to study how a particular variable changes over time, with many applications as</a:t>
            </a:r>
          </a:p>
          <a:p>
            <a:r>
              <a:rPr lang="en-GB" dirty="0"/>
              <a:t>Stock prices,</a:t>
            </a:r>
          </a:p>
          <a:p>
            <a:r>
              <a:rPr lang="en-GB" dirty="0"/>
              <a:t>Weather patterns,</a:t>
            </a:r>
          </a:p>
          <a:p>
            <a:r>
              <a:rPr lang="en-GB" dirty="0"/>
              <a:t>Etc.</a:t>
            </a:r>
          </a:p>
        </p:txBody>
      </p:sp>
      <p:sp>
        <p:nvSpPr>
          <p:cNvPr id="2" name="Content Placeholder 1">
            <a:extLst>
              <a:ext uri="{FF2B5EF4-FFF2-40B4-BE49-F238E27FC236}">
                <a16:creationId xmlns:a16="http://schemas.microsoft.com/office/drawing/2014/main" id="{A3054061-007D-BC38-9BFD-0C34692CF911}"/>
              </a:ext>
            </a:extLst>
          </p:cNvPr>
          <p:cNvSpPr>
            <a:spLocks noGrp="1"/>
          </p:cNvSpPr>
          <p:nvPr>
            <p:ph sz="half" idx="2"/>
          </p:nvPr>
        </p:nvSpPr>
        <p:spPr>
          <a:xfrm>
            <a:off x="6172200" y="1825625"/>
            <a:ext cx="5181600" cy="5032374"/>
          </a:xfrm>
        </p:spPr>
        <p:txBody>
          <a:bodyPr>
            <a:normAutofit lnSpcReduction="10000"/>
          </a:bodyPr>
          <a:lstStyle/>
          <a:p>
            <a:r>
              <a:rPr lang="en-GB"/>
              <a:t>Time series have </a:t>
            </a:r>
            <a:r>
              <a:rPr lang="en-GB" b="1" dirty="0"/>
              <a:t>structure</a:t>
            </a:r>
            <a:r>
              <a:rPr lang="en-GB" dirty="0"/>
              <a:t> (somewhat similar to images).</a:t>
            </a:r>
          </a:p>
          <a:p>
            <a:r>
              <a:rPr lang="en-GB" b="1" dirty="0"/>
              <a:t>Note: </a:t>
            </a:r>
            <a:r>
              <a:rPr lang="en-GB" dirty="0"/>
              <a:t>This means that shuffling the data points in a time series has a destructive effect on your dataset, just like shuffling pixels in an image!</a:t>
            </a:r>
          </a:p>
          <a:p>
            <a:r>
              <a:rPr lang="en-GB" dirty="0"/>
              <a:t>They are usually ordered chronologically, with each data point representing the value of the variable at a specific point in time.</a:t>
            </a:r>
          </a:p>
          <a:p>
            <a:endParaRPr lang="en-GB" dirty="0"/>
          </a:p>
        </p:txBody>
      </p:sp>
    </p:spTree>
    <p:extLst>
      <p:ext uri="{BB962C8B-B14F-4D97-AF65-F5344CB8AC3E}">
        <p14:creationId xmlns:p14="http://schemas.microsoft.com/office/powerpoint/2010/main" val="421525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8DE4A-B9A9-CCDF-2EFA-3BA4C358FAAB}"/>
              </a:ext>
            </a:extLst>
          </p:cNvPr>
          <p:cNvSpPr>
            <a:spLocks noGrp="1"/>
          </p:cNvSpPr>
          <p:nvPr>
            <p:ph type="title"/>
          </p:nvPr>
        </p:nvSpPr>
        <p:spPr/>
        <p:txBody>
          <a:bodyPr/>
          <a:lstStyle/>
          <a:p>
            <a:r>
              <a:rPr lang="en-GB" dirty="0"/>
              <a:t>A mock dataset</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EF9F32-C83F-B6A9-E126-668F25B9100E}"/>
                  </a:ext>
                </a:extLst>
              </p:cNvPr>
              <p:cNvSpPr>
                <a:spLocks noGrp="1"/>
              </p:cNvSpPr>
              <p:nvPr>
                <p:ph sz="half" idx="1"/>
              </p:nvPr>
            </p:nvSpPr>
            <p:spPr/>
            <p:txBody>
              <a:bodyPr>
                <a:normAutofit/>
              </a:bodyPr>
              <a:lstStyle/>
              <a:p>
                <a:pPr marL="0" indent="0">
                  <a:buNone/>
                </a:pPr>
                <a:r>
                  <a:rPr lang="en-GB" dirty="0"/>
                  <a:t>We will generate </a:t>
                </a:r>
                <a:r>
                  <a:rPr lang="en-GB" b="1" dirty="0"/>
                  <a:t>a mock dataset for a time series </a:t>
                </a:r>
                <a:r>
                  <a:rPr lang="en-GB" dirty="0"/>
                  <a:t>in Python.</a:t>
                </a:r>
              </a:p>
              <a:p>
                <a:r>
                  <a:rPr lang="en-GB" dirty="0"/>
                  <a:t>It will consist of a simple sinusoid curve, as shown, with values </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𝑠</m:t>
                        </m:r>
                      </m:e>
                      <m:sub>
                        <m:r>
                          <a:rPr lang="en-GB" b="0" i="1" smtClean="0">
                            <a:latin typeface="Cambria Math" panose="02040503050406030204" pitchFamily="18" charset="0"/>
                          </a:rPr>
                          <m:t>𝑡</m:t>
                        </m:r>
                      </m:sub>
                    </m:sSub>
                    <m:r>
                      <a:rPr lang="en-GB" b="0" i="1" smtClean="0">
                        <a:latin typeface="Cambria Math" panose="02040503050406030204" pitchFamily="18" charset="0"/>
                      </a:rPr>
                      <m:t>)</m:t>
                    </m:r>
                  </m:oMath>
                </a14:m>
                <a:r>
                  <a:rPr lang="en-GB" dirty="0"/>
                  <a:t>, and </a:t>
                </a:r>
                <a14:m>
                  <m:oMath xmlns:m="http://schemas.openxmlformats.org/officeDocument/2006/math">
                    <m:r>
                      <a:rPr lang="en-GB" b="0" i="1" smtClean="0">
                        <a:latin typeface="Cambria Math" panose="02040503050406030204" pitchFamily="18" charset="0"/>
                      </a:rPr>
                      <m:t>𝑡</m:t>
                    </m:r>
                    <m:r>
                      <a:rPr lang="en-GB" b="0" i="1" smtClean="0">
                        <a:latin typeface="Cambria Math" panose="02040503050406030204" pitchFamily="18" charset="0"/>
                      </a:rPr>
                      <m:t>∈{1, 2,…}</m:t>
                    </m:r>
                  </m:oMath>
                </a14:m>
                <a:r>
                  <a:rPr lang="en-GB" dirty="0"/>
                  <a:t>.</a:t>
                </a:r>
              </a:p>
              <a:p>
                <a:r>
                  <a:rPr lang="en-GB" dirty="0"/>
                  <a:t>We will attempt to predict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GB" dirty="0"/>
                  <a:t> using the previous value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sub>
                    </m:sSub>
                  </m:oMath>
                </a14:m>
                <a:r>
                  <a:rPr lang="en-GB" dirty="0"/>
                  <a:t>.</a:t>
                </a:r>
              </a:p>
              <a:p>
                <a:r>
                  <a:rPr lang="en-GB" dirty="0"/>
                  <a:t>Out times series dataset </a:t>
                </a:r>
                <a14:m>
                  <m:oMath xmlns:m="http://schemas.openxmlformats.org/officeDocument/2006/math">
                    <m:r>
                      <a:rPr lang="en-GB" b="0" i="1" smtClean="0">
                        <a:latin typeface="Cambria Math" panose="02040503050406030204" pitchFamily="18" charset="0"/>
                      </a:rPr>
                      <m:t>𝐷</m:t>
                    </m:r>
                  </m:oMath>
                </a14:m>
                <a:r>
                  <a:rPr lang="en-GB" dirty="0"/>
                  <a:t> then consists of all the pairs</a:t>
                </a:r>
                <a:br>
                  <a:rPr lang="en-GB" dirty="0"/>
                </a:br>
                <a14:m>
                  <m:oMath xmlns:m="http://schemas.openxmlformats.org/officeDocument/2006/math">
                    <m:r>
                      <a:rPr lang="en-GB" i="1">
                        <a:latin typeface="Cambria Math" panose="02040503050406030204" pitchFamily="18" charset="0"/>
                      </a:rPr>
                      <m:t>𝐷</m:t>
                    </m:r>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e>
                        </m:d>
                        <m:r>
                          <a:rPr lang="en-GB" b="0" i="1" smtClean="0">
                            <a:latin typeface="Cambria Math" panose="02040503050406030204" pitchFamily="18" charset="0"/>
                          </a:rPr>
                          <m:t> </m:t>
                        </m:r>
                      </m:e>
                    </m:d>
                    <m:r>
                      <a:rPr lang="en-GB" b="0" i="1" smtClean="0">
                        <a:latin typeface="Cambria Math" panose="02040503050406030204" pitchFamily="18" charset="0"/>
                      </a:rPr>
                      <m:t> </m:t>
                    </m:r>
                    <m:r>
                      <a:rPr lang="en-GB" b="0" i="1" smtClean="0">
                        <a:latin typeface="Cambria Math" panose="02040503050406030204" pitchFamily="18" charset="0"/>
                      </a:rPr>
                      <m:t>𝑡</m:t>
                    </m:r>
                    <m:r>
                      <a:rPr lang="en-GB" b="0" i="1" smtClean="0">
                        <a:latin typeface="Cambria Math" panose="02040503050406030204" pitchFamily="18" charset="0"/>
                      </a:rPr>
                      <m:t>∈{1, 2, …}]</m:t>
                    </m:r>
                  </m:oMath>
                </a14:m>
                <a:endParaRPr lang="en-GB" dirty="0"/>
              </a:p>
            </p:txBody>
          </p:sp>
        </mc:Choice>
        <mc:Fallback xmlns="">
          <p:sp>
            <p:nvSpPr>
              <p:cNvPr id="3" name="Content Placeholder 2">
                <a:extLst>
                  <a:ext uri="{FF2B5EF4-FFF2-40B4-BE49-F238E27FC236}">
                    <a16:creationId xmlns:a16="http://schemas.microsoft.com/office/drawing/2014/main" id="{BCEF9F32-C83F-B6A9-E126-668F25B9100E}"/>
                  </a:ext>
                </a:extLst>
              </p:cNvPr>
              <p:cNvSpPr>
                <a:spLocks noGrp="1" noRot="1" noChangeAspect="1" noMove="1" noResize="1" noEditPoints="1" noAdjustHandles="1" noChangeArrowheads="1" noChangeShapeType="1" noTextEdit="1"/>
              </p:cNvSpPr>
              <p:nvPr>
                <p:ph sz="half" idx="1"/>
              </p:nvPr>
            </p:nvSpPr>
            <p:spPr>
              <a:blipFill>
                <a:blip r:embed="rId2"/>
                <a:stretch>
                  <a:fillRect l="-2471" t="-2241" r="-353" b="-1541"/>
                </a:stretch>
              </a:blipFill>
            </p:spPr>
            <p:txBody>
              <a:bodyPr/>
              <a:lstStyle/>
              <a:p>
                <a:r>
                  <a:rPr lang="en-SG">
                    <a:noFill/>
                  </a:rPr>
                  <a:t> </a:t>
                </a:r>
              </a:p>
            </p:txBody>
          </p:sp>
        </mc:Fallback>
      </mc:AlternateContent>
      <p:pic>
        <p:nvPicPr>
          <p:cNvPr id="9" name="Picture 8">
            <a:extLst>
              <a:ext uri="{FF2B5EF4-FFF2-40B4-BE49-F238E27FC236}">
                <a16:creationId xmlns:a16="http://schemas.microsoft.com/office/drawing/2014/main" id="{FAFDA03C-547F-070A-62A0-8BC7C0B4D49C}"/>
              </a:ext>
            </a:extLst>
          </p:cNvPr>
          <p:cNvPicPr>
            <a:picLocks noChangeAspect="1"/>
          </p:cNvPicPr>
          <p:nvPr/>
        </p:nvPicPr>
        <p:blipFill>
          <a:blip r:embed="rId3"/>
          <a:stretch>
            <a:fillRect/>
          </a:stretch>
        </p:blipFill>
        <p:spPr>
          <a:xfrm>
            <a:off x="6902637" y="0"/>
            <a:ext cx="5104766" cy="6858000"/>
          </a:xfrm>
          <a:prstGeom prst="rect">
            <a:avLst/>
          </a:prstGeom>
        </p:spPr>
      </p:pic>
    </p:spTree>
    <p:extLst>
      <p:ext uri="{BB962C8B-B14F-4D97-AF65-F5344CB8AC3E}">
        <p14:creationId xmlns:p14="http://schemas.microsoft.com/office/powerpoint/2010/main" val="3292999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B1015D-E7F1-F3D9-E560-C9E82C06BBB9}"/>
              </a:ext>
            </a:extLst>
          </p:cNvPr>
          <p:cNvSpPr>
            <a:spLocks noGrp="1"/>
          </p:cNvSpPr>
          <p:nvPr>
            <p:ph type="title"/>
          </p:nvPr>
        </p:nvSpPr>
        <p:spPr/>
        <p:txBody>
          <a:bodyPr/>
          <a:lstStyle/>
          <a:p>
            <a:r>
              <a:rPr lang="en-GB" dirty="0"/>
              <a:t>Typical methods for analysing a time series</a:t>
            </a:r>
            <a:endParaRPr lang="en-SG" dirty="0"/>
          </a:p>
        </p:txBody>
      </p:sp>
      <p:sp>
        <p:nvSpPr>
          <p:cNvPr id="5" name="Content Placeholder 4">
            <a:extLst>
              <a:ext uri="{FF2B5EF4-FFF2-40B4-BE49-F238E27FC236}">
                <a16:creationId xmlns:a16="http://schemas.microsoft.com/office/drawing/2014/main" id="{B00D7D74-AD4E-73AE-79C0-432D2B4B2341}"/>
              </a:ext>
            </a:extLst>
          </p:cNvPr>
          <p:cNvSpPr>
            <a:spLocks noGrp="1"/>
          </p:cNvSpPr>
          <p:nvPr>
            <p:ph sz="half" idx="1"/>
          </p:nvPr>
        </p:nvSpPr>
        <p:spPr>
          <a:xfrm>
            <a:off x="838200" y="1825624"/>
            <a:ext cx="5181600" cy="5032375"/>
          </a:xfrm>
        </p:spPr>
        <p:txBody>
          <a:bodyPr>
            <a:normAutofit fontScale="92500"/>
          </a:bodyPr>
          <a:lstStyle/>
          <a:p>
            <a:pPr marL="0" indent="0">
              <a:buNone/>
            </a:pPr>
            <a:r>
              <a:rPr lang="en-GB" b="1" dirty="0"/>
              <a:t>Typical methods for analysing a time series include</a:t>
            </a:r>
          </a:p>
          <a:p>
            <a:pPr marL="514350" indent="-514350">
              <a:buFont typeface="+mj-lt"/>
              <a:buAutoNum type="arabicPeriod"/>
            </a:pPr>
            <a:r>
              <a:rPr lang="en-GB" b="1" dirty="0"/>
              <a:t>Descriptive statistics: </a:t>
            </a:r>
            <a:r>
              <a:rPr lang="en-GB" dirty="0"/>
              <a:t>calculating basic summary statistics for the time series (mean, median, variance, etc.). These statistics can provide insights into the central tendency, variability, and distribution of the data.</a:t>
            </a:r>
          </a:p>
          <a:p>
            <a:pPr marL="514350" indent="-514350">
              <a:buFont typeface="+mj-lt"/>
              <a:buAutoNum type="arabicPeriod"/>
            </a:pPr>
            <a:r>
              <a:rPr lang="en-GB" b="1" dirty="0"/>
              <a:t>Visual inspection: </a:t>
            </a:r>
            <a:r>
              <a:rPr lang="en-GB" dirty="0"/>
              <a:t>Plotting the time series data helps identify patterns, trends, and outliers in the data. </a:t>
            </a:r>
          </a:p>
        </p:txBody>
      </p:sp>
      <p:pic>
        <p:nvPicPr>
          <p:cNvPr id="10" name="Picture 9">
            <a:extLst>
              <a:ext uri="{FF2B5EF4-FFF2-40B4-BE49-F238E27FC236}">
                <a16:creationId xmlns:a16="http://schemas.microsoft.com/office/drawing/2014/main" id="{A797B8FA-B87E-538F-8455-6FF89F60C768}"/>
              </a:ext>
            </a:extLst>
          </p:cNvPr>
          <p:cNvPicPr>
            <a:picLocks noChangeAspect="1"/>
          </p:cNvPicPr>
          <p:nvPr/>
        </p:nvPicPr>
        <p:blipFill>
          <a:blip r:embed="rId2"/>
          <a:stretch>
            <a:fillRect/>
          </a:stretch>
        </p:blipFill>
        <p:spPr>
          <a:xfrm>
            <a:off x="6372228" y="1570786"/>
            <a:ext cx="5486452" cy="4796162"/>
          </a:xfrm>
          <a:prstGeom prst="rect">
            <a:avLst/>
          </a:prstGeom>
        </p:spPr>
      </p:pic>
    </p:spTree>
    <p:extLst>
      <p:ext uri="{BB962C8B-B14F-4D97-AF65-F5344CB8AC3E}">
        <p14:creationId xmlns:p14="http://schemas.microsoft.com/office/powerpoint/2010/main" val="1119657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B1015D-E7F1-F3D9-E560-C9E82C06BBB9}"/>
              </a:ext>
            </a:extLst>
          </p:cNvPr>
          <p:cNvSpPr>
            <a:spLocks noGrp="1"/>
          </p:cNvSpPr>
          <p:nvPr>
            <p:ph type="title"/>
          </p:nvPr>
        </p:nvSpPr>
        <p:spPr/>
        <p:txBody>
          <a:bodyPr/>
          <a:lstStyle/>
          <a:p>
            <a:r>
              <a:rPr lang="en-GB" dirty="0"/>
              <a:t>Typical methods for analysing a time series</a:t>
            </a:r>
            <a:endParaRPr lang="en-SG" dirty="0"/>
          </a:p>
        </p:txBody>
      </p:sp>
      <p:sp>
        <p:nvSpPr>
          <p:cNvPr id="5" name="Content Placeholder 4">
            <a:extLst>
              <a:ext uri="{FF2B5EF4-FFF2-40B4-BE49-F238E27FC236}">
                <a16:creationId xmlns:a16="http://schemas.microsoft.com/office/drawing/2014/main" id="{B00D7D74-AD4E-73AE-79C0-432D2B4B2341}"/>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3"/>
            </a:pPr>
            <a:r>
              <a:rPr lang="en-GB" b="1" dirty="0"/>
              <a:t>Decomposition: </a:t>
            </a:r>
            <a:r>
              <a:rPr lang="en-GB" dirty="0"/>
              <a:t>Time series data often exhibit trends, seasonal patterns, and irregular fluctuations.</a:t>
            </a:r>
          </a:p>
          <a:p>
            <a:pPr marL="0" indent="0">
              <a:buNone/>
            </a:pPr>
            <a:r>
              <a:rPr lang="en-GB" dirty="0"/>
              <a:t>Decomposition is a method for separating these components and analysing them separately</a:t>
            </a:r>
          </a:p>
          <a:p>
            <a:pPr marL="0" indent="0">
              <a:buNone/>
            </a:pPr>
            <a:r>
              <a:rPr lang="en-GB" dirty="0"/>
              <a:t>Common methods for decomposition include additive and multiplicative decomposition.</a:t>
            </a:r>
          </a:p>
          <a:p>
            <a:pPr marL="0" indent="0">
              <a:buNone/>
            </a:pPr>
            <a:r>
              <a:rPr lang="en-GB" i="1" dirty="0"/>
              <a:t>(These are </a:t>
            </a:r>
            <a:r>
              <a:rPr lang="en-GB" i="1" u="sng" dirty="0"/>
              <a:t>out-of-scope.</a:t>
            </a:r>
            <a:r>
              <a:rPr lang="en-GB" i="1" dirty="0"/>
              <a:t>)</a:t>
            </a:r>
            <a:endParaRPr lang="en-SG" i="1" dirty="0"/>
          </a:p>
        </p:txBody>
      </p:sp>
      <p:pic>
        <p:nvPicPr>
          <p:cNvPr id="3" name="Picture 2">
            <a:extLst>
              <a:ext uri="{FF2B5EF4-FFF2-40B4-BE49-F238E27FC236}">
                <a16:creationId xmlns:a16="http://schemas.microsoft.com/office/drawing/2014/main" id="{1868E07C-6117-D0BE-530D-11002E6898E5}"/>
              </a:ext>
            </a:extLst>
          </p:cNvPr>
          <p:cNvPicPr>
            <a:picLocks noChangeAspect="1"/>
          </p:cNvPicPr>
          <p:nvPr/>
        </p:nvPicPr>
        <p:blipFill>
          <a:blip r:embed="rId2"/>
          <a:stretch>
            <a:fillRect/>
          </a:stretch>
        </p:blipFill>
        <p:spPr>
          <a:xfrm>
            <a:off x="6372228" y="1570786"/>
            <a:ext cx="5486452" cy="4796162"/>
          </a:xfrm>
          <a:prstGeom prst="rect">
            <a:avLst/>
          </a:prstGeom>
        </p:spPr>
      </p:pic>
    </p:spTree>
    <p:extLst>
      <p:ext uri="{BB962C8B-B14F-4D97-AF65-F5344CB8AC3E}">
        <p14:creationId xmlns:p14="http://schemas.microsoft.com/office/powerpoint/2010/main" val="2141271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61A971-2CAB-A1A2-13A8-8C4D1F3C02D0}"/>
              </a:ext>
            </a:extLst>
          </p:cNvPr>
          <p:cNvSpPr>
            <a:spLocks noGrp="1"/>
          </p:cNvSpPr>
          <p:nvPr>
            <p:ph type="title"/>
          </p:nvPr>
        </p:nvSpPr>
        <p:spPr/>
        <p:txBody>
          <a:bodyPr/>
          <a:lstStyle/>
          <a:p>
            <a:r>
              <a:rPr lang="en-GB" dirty="0"/>
              <a:t>A quick word about decomposition</a:t>
            </a:r>
            <a:endParaRPr lang="en-SG" dirty="0"/>
          </a:p>
        </p:txBody>
      </p:sp>
      <p:sp>
        <p:nvSpPr>
          <p:cNvPr id="6" name="Content Placeholder 5">
            <a:extLst>
              <a:ext uri="{FF2B5EF4-FFF2-40B4-BE49-F238E27FC236}">
                <a16:creationId xmlns:a16="http://schemas.microsoft.com/office/drawing/2014/main" id="{B8001FFE-A0FF-0CA2-4921-6C076D709191}"/>
              </a:ext>
            </a:extLst>
          </p:cNvPr>
          <p:cNvSpPr>
            <a:spLocks noGrp="1"/>
          </p:cNvSpPr>
          <p:nvPr>
            <p:ph idx="1"/>
          </p:nvPr>
        </p:nvSpPr>
        <p:spPr>
          <a:xfrm>
            <a:off x="838200" y="1825624"/>
            <a:ext cx="10515600" cy="5032375"/>
          </a:xfrm>
        </p:spPr>
        <p:txBody>
          <a:bodyPr>
            <a:normAutofit fontScale="92500" lnSpcReduction="10000"/>
          </a:bodyPr>
          <a:lstStyle/>
          <a:p>
            <a:pPr marL="0" indent="0">
              <a:buNone/>
            </a:pPr>
            <a:r>
              <a:rPr lang="en-GB" dirty="0"/>
              <a:t>Decomposition separates the time series data into different components that capture distinct aspects of the data, expressing it as the sum of several underlying components, each with its own distinct pattern, e.g.:</a:t>
            </a:r>
          </a:p>
          <a:p>
            <a:pPr marL="514350" indent="-514350">
              <a:buFont typeface="+mj-lt"/>
              <a:buAutoNum type="arabicPeriod"/>
            </a:pPr>
            <a:r>
              <a:rPr lang="en-GB" b="1" dirty="0"/>
              <a:t>Trend: </a:t>
            </a:r>
            <a:r>
              <a:rPr lang="en-GB" dirty="0"/>
              <a:t>This component represents the long-term changes or fluctuations in the data over time. It is typically modelled as a smooth curve that captures the overall direction of the time series.</a:t>
            </a:r>
          </a:p>
          <a:p>
            <a:pPr marL="514350" indent="-514350">
              <a:buFont typeface="+mj-lt"/>
              <a:buAutoNum type="arabicPeriod"/>
            </a:pPr>
            <a:r>
              <a:rPr lang="en-GB" b="1" dirty="0"/>
              <a:t>Seasonal: </a:t>
            </a:r>
            <a:r>
              <a:rPr lang="en-GB" dirty="0"/>
              <a:t>This component captures the regular, periodic fluctuations in the data that occur over fixed periods of time, such as daily, weekly, or monthly. It is often modelled as a set of repeating patterns that correspond to the seasonal cycles.</a:t>
            </a:r>
          </a:p>
          <a:p>
            <a:pPr marL="514350" indent="-514350">
              <a:buFont typeface="+mj-lt"/>
              <a:buAutoNum type="arabicPeriod"/>
            </a:pPr>
            <a:r>
              <a:rPr lang="en-GB" b="1" dirty="0"/>
              <a:t>Residual: </a:t>
            </a:r>
            <a:r>
              <a:rPr lang="en-GB" dirty="0"/>
              <a:t>This component represents the random or irregular fluctuations in the data that are not explained by the trend or seasonal components. It is often modelled as a series of random noise or white noise.</a:t>
            </a:r>
          </a:p>
          <a:p>
            <a:endParaRPr lang="en-SG" dirty="0"/>
          </a:p>
        </p:txBody>
      </p:sp>
    </p:spTree>
    <p:extLst>
      <p:ext uri="{BB962C8B-B14F-4D97-AF65-F5344CB8AC3E}">
        <p14:creationId xmlns:p14="http://schemas.microsoft.com/office/powerpoint/2010/main" val="356330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61A971-2CAB-A1A2-13A8-8C4D1F3C02D0}"/>
              </a:ext>
            </a:extLst>
          </p:cNvPr>
          <p:cNvSpPr>
            <a:spLocks noGrp="1"/>
          </p:cNvSpPr>
          <p:nvPr>
            <p:ph type="title"/>
          </p:nvPr>
        </p:nvSpPr>
        <p:spPr/>
        <p:txBody>
          <a:bodyPr/>
          <a:lstStyle/>
          <a:p>
            <a:r>
              <a:rPr lang="en-GB" dirty="0"/>
              <a:t>A quick word about decomposition</a:t>
            </a:r>
            <a:endParaRPr lang="en-SG" dirty="0"/>
          </a:p>
        </p:txBody>
      </p:sp>
      <p:sp>
        <p:nvSpPr>
          <p:cNvPr id="6" name="Content Placeholder 5">
            <a:extLst>
              <a:ext uri="{FF2B5EF4-FFF2-40B4-BE49-F238E27FC236}">
                <a16:creationId xmlns:a16="http://schemas.microsoft.com/office/drawing/2014/main" id="{B8001FFE-A0FF-0CA2-4921-6C076D709191}"/>
              </a:ext>
            </a:extLst>
          </p:cNvPr>
          <p:cNvSpPr>
            <a:spLocks noGrp="1"/>
          </p:cNvSpPr>
          <p:nvPr>
            <p:ph sz="half" idx="1"/>
          </p:nvPr>
        </p:nvSpPr>
        <p:spPr>
          <a:xfrm>
            <a:off x="838200" y="1825624"/>
            <a:ext cx="4256314" cy="5032375"/>
          </a:xfrm>
        </p:spPr>
        <p:txBody>
          <a:bodyPr>
            <a:normAutofit/>
          </a:bodyPr>
          <a:lstStyle/>
          <a:p>
            <a:pPr marL="0" indent="0">
              <a:buNone/>
            </a:pPr>
            <a:r>
              <a:rPr lang="en-GB" b="1" dirty="0"/>
              <a:t>Decomposition</a:t>
            </a:r>
            <a:r>
              <a:rPr lang="en-GB" dirty="0"/>
              <a:t> separates a time series into </a:t>
            </a:r>
            <a:r>
              <a:rPr lang="en-GB" b="1" dirty="0"/>
              <a:t>trend</a:t>
            </a:r>
            <a:r>
              <a:rPr lang="en-GB" dirty="0"/>
              <a:t> (long-term changes), </a:t>
            </a:r>
            <a:r>
              <a:rPr lang="en-GB" b="1" dirty="0"/>
              <a:t>seasonal</a:t>
            </a:r>
            <a:r>
              <a:rPr lang="en-GB" dirty="0"/>
              <a:t> (periodic fluctuations), and </a:t>
            </a:r>
            <a:r>
              <a:rPr lang="en-GB" b="1" dirty="0"/>
              <a:t>residual</a:t>
            </a:r>
            <a:r>
              <a:rPr lang="en-GB" dirty="0"/>
              <a:t> (random fluctuations) components.</a:t>
            </a:r>
          </a:p>
          <a:p>
            <a:pPr marL="0" indent="0">
              <a:buNone/>
            </a:pPr>
            <a:r>
              <a:rPr lang="en-GB" b="1" dirty="0"/>
              <a:t>Trend</a:t>
            </a:r>
            <a:r>
              <a:rPr lang="en-GB" dirty="0"/>
              <a:t> is a smooth curve, </a:t>
            </a:r>
            <a:r>
              <a:rPr lang="en-GB" b="1" dirty="0"/>
              <a:t>seasonal</a:t>
            </a:r>
            <a:r>
              <a:rPr lang="en-GB" dirty="0"/>
              <a:t> is a set of repeating patterns, and </a:t>
            </a:r>
            <a:r>
              <a:rPr lang="en-GB" b="1" dirty="0"/>
              <a:t>residual</a:t>
            </a:r>
            <a:r>
              <a:rPr lang="en-GB" dirty="0"/>
              <a:t> is a series of random noise.</a:t>
            </a:r>
            <a:endParaRPr lang="en-SG" dirty="0"/>
          </a:p>
        </p:txBody>
      </p:sp>
      <p:pic>
        <p:nvPicPr>
          <p:cNvPr id="3" name="Picture 2" descr="Chart, line chart&#10;&#10;Description automatically generated">
            <a:extLst>
              <a:ext uri="{FF2B5EF4-FFF2-40B4-BE49-F238E27FC236}">
                <a16:creationId xmlns:a16="http://schemas.microsoft.com/office/drawing/2014/main" id="{AD9C5983-1CA9-428C-84A6-A4EC0E3B0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3763" y="1499053"/>
            <a:ext cx="6808237" cy="5106178"/>
          </a:xfrm>
          <a:prstGeom prst="rect">
            <a:avLst/>
          </a:prstGeom>
        </p:spPr>
      </p:pic>
    </p:spTree>
    <p:extLst>
      <p:ext uri="{BB962C8B-B14F-4D97-AF65-F5344CB8AC3E}">
        <p14:creationId xmlns:p14="http://schemas.microsoft.com/office/powerpoint/2010/main" val="3535228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C4921-A257-498A-7823-3DE6525F9B8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A62BAB-0365-E25F-E7AA-0B21849DE445}"/>
              </a:ext>
            </a:extLst>
          </p:cNvPr>
          <p:cNvSpPr>
            <a:spLocks noGrp="1"/>
          </p:cNvSpPr>
          <p:nvPr>
            <p:ph type="title"/>
          </p:nvPr>
        </p:nvSpPr>
        <p:spPr/>
        <p:txBody>
          <a:bodyPr/>
          <a:lstStyle/>
          <a:p>
            <a:r>
              <a:rPr lang="en-GB" dirty="0"/>
              <a:t>A quick word about decomposition</a:t>
            </a:r>
            <a:endParaRPr lang="en-SG" dirty="0"/>
          </a:p>
        </p:txBody>
      </p:sp>
      <p:sp>
        <p:nvSpPr>
          <p:cNvPr id="6" name="Content Placeholder 5">
            <a:extLst>
              <a:ext uri="{FF2B5EF4-FFF2-40B4-BE49-F238E27FC236}">
                <a16:creationId xmlns:a16="http://schemas.microsoft.com/office/drawing/2014/main" id="{A3CE3216-BB60-B2EA-0A77-7CD1D1669BBE}"/>
              </a:ext>
            </a:extLst>
          </p:cNvPr>
          <p:cNvSpPr>
            <a:spLocks noGrp="1"/>
          </p:cNvSpPr>
          <p:nvPr>
            <p:ph sz="half" idx="1"/>
          </p:nvPr>
        </p:nvSpPr>
        <p:spPr>
          <a:xfrm>
            <a:off x="838200" y="1825624"/>
            <a:ext cx="5181600" cy="5032375"/>
          </a:xfrm>
        </p:spPr>
        <p:txBody>
          <a:bodyPr>
            <a:normAutofit/>
          </a:bodyPr>
          <a:lstStyle/>
          <a:p>
            <a:pPr marL="0" indent="0">
              <a:buNone/>
            </a:pPr>
            <a:r>
              <a:rPr lang="en-GB" b="1" dirty="0"/>
              <a:t>Time Series Decomposition </a:t>
            </a:r>
            <a:r>
              <a:rPr lang="en-GB" dirty="0"/>
              <a:t>is technically out-of-scope for 50.039 DL, but it can give great insights about your dataset before you dive into training AI models.</a:t>
            </a:r>
          </a:p>
          <a:p>
            <a:r>
              <a:rPr lang="en-GB" dirty="0"/>
              <a:t>Time series decomposition helps uncover underlying patterns, like trend and seasonality, before training an AI model, allowing you to assess whether meaningful structure exists in the data.</a:t>
            </a:r>
          </a:p>
        </p:txBody>
      </p:sp>
      <p:sp>
        <p:nvSpPr>
          <p:cNvPr id="2" name="Content Placeholder 1">
            <a:extLst>
              <a:ext uri="{FF2B5EF4-FFF2-40B4-BE49-F238E27FC236}">
                <a16:creationId xmlns:a16="http://schemas.microsoft.com/office/drawing/2014/main" id="{D7B27C08-981B-D29E-667C-0CA05F528EE4}"/>
              </a:ext>
            </a:extLst>
          </p:cNvPr>
          <p:cNvSpPr>
            <a:spLocks noGrp="1"/>
          </p:cNvSpPr>
          <p:nvPr>
            <p:ph sz="half" idx="2"/>
          </p:nvPr>
        </p:nvSpPr>
        <p:spPr>
          <a:xfrm>
            <a:off x="6172199" y="1825624"/>
            <a:ext cx="5452353" cy="5032375"/>
          </a:xfrm>
        </p:spPr>
        <p:txBody>
          <a:bodyPr>
            <a:normAutofit/>
          </a:bodyPr>
          <a:lstStyle/>
          <a:p>
            <a:r>
              <a:rPr lang="en-GB" dirty="0"/>
              <a:t>This insight can guide model selection, feature engineering, and preprocessing decisions, such as detrending or </a:t>
            </a:r>
            <a:r>
              <a:rPr lang="en-GB" dirty="0" err="1"/>
              <a:t>deseasonalizing</a:t>
            </a:r>
            <a:r>
              <a:rPr lang="en-GB" dirty="0"/>
              <a:t>. </a:t>
            </a:r>
          </a:p>
          <a:p>
            <a:r>
              <a:rPr lang="en-GB" dirty="0"/>
              <a:t>It also helps ensure the model focuses on learnable signals rather than unpredictable noise.</a:t>
            </a:r>
          </a:p>
          <a:p>
            <a:pPr marL="0" indent="0">
              <a:buNone/>
            </a:pPr>
            <a:r>
              <a:rPr lang="en-GB" dirty="0"/>
              <a:t>We attach to these lecture slides an additional “bonus” notebook, which briefly introducing these concepts.</a:t>
            </a:r>
            <a:endParaRPr lang="en-SG" dirty="0"/>
          </a:p>
          <a:p>
            <a:pPr marL="0" indent="0">
              <a:buNone/>
            </a:pPr>
            <a:endParaRPr lang="en-GB" dirty="0"/>
          </a:p>
        </p:txBody>
      </p:sp>
    </p:spTree>
    <p:extLst>
      <p:ext uri="{BB962C8B-B14F-4D97-AF65-F5344CB8AC3E}">
        <p14:creationId xmlns:p14="http://schemas.microsoft.com/office/powerpoint/2010/main" val="559955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B1015D-E7F1-F3D9-E560-C9E82C06BBB9}"/>
              </a:ext>
            </a:extLst>
          </p:cNvPr>
          <p:cNvSpPr>
            <a:spLocks noGrp="1"/>
          </p:cNvSpPr>
          <p:nvPr>
            <p:ph type="title"/>
          </p:nvPr>
        </p:nvSpPr>
        <p:spPr/>
        <p:txBody>
          <a:bodyPr/>
          <a:lstStyle/>
          <a:p>
            <a:r>
              <a:rPr lang="en-GB" dirty="0"/>
              <a:t>Typical methods for analysing a time series</a:t>
            </a:r>
            <a:endParaRPr lang="en-SG" dirty="0"/>
          </a:p>
        </p:txBody>
      </p:sp>
      <p:sp>
        <p:nvSpPr>
          <p:cNvPr id="5" name="Content Placeholder 4">
            <a:extLst>
              <a:ext uri="{FF2B5EF4-FFF2-40B4-BE49-F238E27FC236}">
                <a16:creationId xmlns:a16="http://schemas.microsoft.com/office/drawing/2014/main" id="{B00D7D74-AD4E-73AE-79C0-432D2B4B2341}"/>
              </a:ext>
            </a:extLst>
          </p:cNvPr>
          <p:cNvSpPr>
            <a:spLocks noGrp="1"/>
          </p:cNvSpPr>
          <p:nvPr>
            <p:ph sz="half" idx="1"/>
          </p:nvPr>
        </p:nvSpPr>
        <p:spPr>
          <a:xfrm>
            <a:off x="838200" y="1825624"/>
            <a:ext cx="5181600" cy="5032375"/>
          </a:xfrm>
        </p:spPr>
        <p:txBody>
          <a:bodyPr>
            <a:normAutofit fontScale="92500" lnSpcReduction="10000"/>
          </a:bodyPr>
          <a:lstStyle/>
          <a:p>
            <a:pPr marL="514350" indent="-514350">
              <a:buFont typeface="+mj-lt"/>
              <a:buAutoNum type="arabicPeriod" startAt="4"/>
            </a:pPr>
            <a:r>
              <a:rPr lang="en-GB" b="1" dirty="0"/>
              <a:t>Time series models: </a:t>
            </a:r>
            <a:r>
              <a:rPr lang="en-GB" dirty="0"/>
              <a:t>Statistical models used to describe the underlying processes that generate the time series data.</a:t>
            </a:r>
          </a:p>
          <a:p>
            <a:pPr marL="0" indent="0">
              <a:buNone/>
            </a:pPr>
            <a:r>
              <a:rPr lang="en-GB" dirty="0"/>
              <a:t>Time series models can be used for forecasting future values, identifying important predictors, and understanding the relationships among variables.</a:t>
            </a:r>
          </a:p>
          <a:p>
            <a:pPr marL="0" indent="0">
              <a:buNone/>
            </a:pPr>
            <a:r>
              <a:rPr lang="en-GB" b="1" dirty="0"/>
              <a:t>ML models: </a:t>
            </a:r>
            <a:r>
              <a:rPr lang="en-GB" dirty="0"/>
              <a:t>autoregressive integrated moving average (ARIMA) models, exponential smoothing models, state space models, etc.</a:t>
            </a:r>
          </a:p>
          <a:p>
            <a:pPr marL="0" indent="0">
              <a:buNone/>
            </a:pPr>
            <a:r>
              <a:rPr lang="en-GB" i="1" dirty="0"/>
              <a:t>(These are </a:t>
            </a:r>
            <a:r>
              <a:rPr lang="en-GB" i="1" u="sng" dirty="0"/>
              <a:t>out-of-scope.</a:t>
            </a:r>
            <a:r>
              <a:rPr lang="en-GB" i="1" dirty="0"/>
              <a:t>)</a:t>
            </a:r>
            <a:endParaRPr lang="en-SG" i="1" dirty="0"/>
          </a:p>
        </p:txBody>
      </p:sp>
      <p:pic>
        <p:nvPicPr>
          <p:cNvPr id="2" name="Picture 1">
            <a:extLst>
              <a:ext uri="{FF2B5EF4-FFF2-40B4-BE49-F238E27FC236}">
                <a16:creationId xmlns:a16="http://schemas.microsoft.com/office/drawing/2014/main" id="{6CB90404-07DB-3B57-BA11-DEDB66328E1C}"/>
              </a:ext>
            </a:extLst>
          </p:cNvPr>
          <p:cNvPicPr>
            <a:picLocks noChangeAspect="1"/>
          </p:cNvPicPr>
          <p:nvPr/>
        </p:nvPicPr>
        <p:blipFill>
          <a:blip r:embed="rId2"/>
          <a:stretch>
            <a:fillRect/>
          </a:stretch>
        </p:blipFill>
        <p:spPr>
          <a:xfrm>
            <a:off x="6372228" y="1570786"/>
            <a:ext cx="5486452" cy="4796162"/>
          </a:xfrm>
          <a:prstGeom prst="rect">
            <a:avLst/>
          </a:prstGeom>
        </p:spPr>
      </p:pic>
    </p:spTree>
    <p:extLst>
      <p:ext uri="{BB962C8B-B14F-4D97-AF65-F5344CB8AC3E}">
        <p14:creationId xmlns:p14="http://schemas.microsoft.com/office/powerpoint/2010/main" val="1990152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B1015D-E7F1-F3D9-E560-C9E82C06BBB9}"/>
              </a:ext>
            </a:extLst>
          </p:cNvPr>
          <p:cNvSpPr>
            <a:spLocks noGrp="1"/>
          </p:cNvSpPr>
          <p:nvPr>
            <p:ph type="title"/>
          </p:nvPr>
        </p:nvSpPr>
        <p:spPr/>
        <p:txBody>
          <a:bodyPr/>
          <a:lstStyle/>
          <a:p>
            <a:r>
              <a:rPr lang="en-GB" dirty="0"/>
              <a:t>Typical methods for analysing a time series</a:t>
            </a:r>
            <a:endParaRPr lang="en-SG" dirty="0"/>
          </a:p>
        </p:txBody>
      </p:sp>
      <p:sp>
        <p:nvSpPr>
          <p:cNvPr id="5" name="Content Placeholder 4">
            <a:extLst>
              <a:ext uri="{FF2B5EF4-FFF2-40B4-BE49-F238E27FC236}">
                <a16:creationId xmlns:a16="http://schemas.microsoft.com/office/drawing/2014/main" id="{B00D7D74-AD4E-73AE-79C0-432D2B4B2341}"/>
              </a:ext>
            </a:extLst>
          </p:cNvPr>
          <p:cNvSpPr>
            <a:spLocks noGrp="1"/>
          </p:cNvSpPr>
          <p:nvPr>
            <p:ph sz="half" idx="1"/>
          </p:nvPr>
        </p:nvSpPr>
        <p:spPr>
          <a:xfrm>
            <a:off x="838200" y="1825624"/>
            <a:ext cx="5181600" cy="5032375"/>
          </a:xfrm>
        </p:spPr>
        <p:txBody>
          <a:bodyPr>
            <a:normAutofit fontScale="92500" lnSpcReduction="10000"/>
          </a:bodyPr>
          <a:lstStyle/>
          <a:p>
            <a:pPr marL="514350" indent="-514350">
              <a:buFont typeface="+mj-lt"/>
              <a:buAutoNum type="arabicPeriod" startAt="4"/>
            </a:pPr>
            <a:r>
              <a:rPr lang="en-GB" b="1" dirty="0"/>
              <a:t>Time series models: </a:t>
            </a:r>
            <a:r>
              <a:rPr lang="en-GB" dirty="0"/>
              <a:t>Statistical models used to describe the underlying processes that generate the time series data.</a:t>
            </a:r>
          </a:p>
          <a:p>
            <a:pPr marL="0" indent="0">
              <a:buNone/>
            </a:pPr>
            <a:r>
              <a:rPr lang="en-GB" dirty="0"/>
              <a:t>Time series models can be used for forecasting future values, identifying important predictors, and understanding the relationships among variables.</a:t>
            </a:r>
          </a:p>
          <a:p>
            <a:pPr marL="0" indent="0">
              <a:buNone/>
            </a:pPr>
            <a:r>
              <a:rPr lang="en-GB" b="1" dirty="0">
                <a:solidFill>
                  <a:srgbClr val="7030A0"/>
                </a:solidFill>
              </a:rPr>
              <a:t>DL models: </a:t>
            </a:r>
            <a:r>
              <a:rPr lang="en-GB" dirty="0">
                <a:solidFill>
                  <a:srgbClr val="7030A0"/>
                </a:solidFill>
              </a:rPr>
              <a:t>using neural networks as predictors, to predict the next value for a time series variable given a history as input.</a:t>
            </a:r>
          </a:p>
          <a:p>
            <a:pPr marL="0" indent="0">
              <a:buNone/>
            </a:pPr>
            <a:r>
              <a:rPr lang="en-GB" dirty="0">
                <a:solidFill>
                  <a:srgbClr val="7030A0"/>
                </a:solidFill>
              </a:rPr>
              <a:t>(to be investigated!)</a:t>
            </a:r>
          </a:p>
        </p:txBody>
      </p:sp>
      <p:pic>
        <p:nvPicPr>
          <p:cNvPr id="2" name="Picture 1">
            <a:extLst>
              <a:ext uri="{FF2B5EF4-FFF2-40B4-BE49-F238E27FC236}">
                <a16:creationId xmlns:a16="http://schemas.microsoft.com/office/drawing/2014/main" id="{AFB2F25D-EB91-E2B7-FB9F-6B642A3B8993}"/>
              </a:ext>
            </a:extLst>
          </p:cNvPr>
          <p:cNvPicPr>
            <a:picLocks noChangeAspect="1"/>
          </p:cNvPicPr>
          <p:nvPr/>
        </p:nvPicPr>
        <p:blipFill>
          <a:blip r:embed="rId2"/>
          <a:stretch>
            <a:fillRect/>
          </a:stretch>
        </p:blipFill>
        <p:spPr>
          <a:xfrm>
            <a:off x="6372228" y="1570786"/>
            <a:ext cx="5486452" cy="4796162"/>
          </a:xfrm>
          <a:prstGeom prst="rect">
            <a:avLst/>
          </a:prstGeom>
        </p:spPr>
      </p:pic>
    </p:spTree>
    <p:extLst>
      <p:ext uri="{BB962C8B-B14F-4D97-AF65-F5344CB8AC3E}">
        <p14:creationId xmlns:p14="http://schemas.microsoft.com/office/powerpoint/2010/main" val="3334002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8DE4A-B9A9-CCDF-2EFA-3BA4C358FAAB}"/>
              </a:ext>
            </a:extLst>
          </p:cNvPr>
          <p:cNvSpPr>
            <a:spLocks noGrp="1"/>
          </p:cNvSpPr>
          <p:nvPr>
            <p:ph type="title"/>
          </p:nvPr>
        </p:nvSpPr>
        <p:spPr/>
        <p:txBody>
          <a:bodyPr/>
          <a:lstStyle/>
          <a:p>
            <a:r>
              <a:rPr lang="en-GB" dirty="0"/>
              <a:t>Problem with DL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EF9F32-C83F-B6A9-E126-668F25B9100E}"/>
                  </a:ext>
                </a:extLst>
              </p:cNvPr>
              <p:cNvSpPr>
                <a:spLocks noGrp="1"/>
              </p:cNvSpPr>
              <p:nvPr>
                <p:ph sz="half" idx="1"/>
              </p:nvPr>
            </p:nvSpPr>
            <p:spPr>
              <a:xfrm>
                <a:off x="838199" y="1825624"/>
                <a:ext cx="5781431" cy="5032375"/>
              </a:xfrm>
            </p:spPr>
            <p:txBody>
              <a:bodyPr>
                <a:normAutofit/>
              </a:bodyPr>
              <a:lstStyle/>
              <a:p>
                <a:pPr marL="0" indent="0">
                  <a:buNone/>
                </a:pPr>
                <a:r>
                  <a:rPr lang="en-GB" b="1" dirty="0"/>
                  <a:t>Problem: </a:t>
                </a:r>
                <a:r>
                  <a:rPr lang="en-GB" dirty="0"/>
                  <a:t>Cannot use a single value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sub>
                    </m:sSub>
                  </m:oMath>
                </a14:m>
                <a:r>
                  <a:rPr lang="en-GB" dirty="0"/>
                  <a:t> to make predictions on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GB" dirty="0"/>
                  <a:t>.</a:t>
                </a:r>
              </a:p>
              <a:p>
                <a:pPr marL="0" indent="0">
                  <a:buNone/>
                </a:pPr>
                <a:r>
                  <a:rPr lang="en-GB" dirty="0"/>
                  <a:t>We have a dataset </a:t>
                </a:r>
                <a14:m>
                  <m:oMath xmlns:m="http://schemas.openxmlformats.org/officeDocument/2006/math">
                    <m:r>
                      <a:rPr lang="en-GB" b="0" i="1" smtClean="0">
                        <a:latin typeface="Cambria Math" panose="02040503050406030204" pitchFamily="18" charset="0"/>
                      </a:rPr>
                      <m:t>𝐷</m:t>
                    </m:r>
                  </m:oMath>
                </a14:m>
                <a:r>
                  <a:rPr lang="en-GB" dirty="0"/>
                  <a:t>, where it is possible to find two values in time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2</m:t>
                        </m:r>
                      </m:sub>
                    </m:sSub>
                  </m:oMath>
                </a14:m>
                <a:r>
                  <a:rPr lang="en-GB" dirty="0"/>
                  <a:t>, such that:</a:t>
                </a:r>
              </a:p>
              <a:p>
                <a:pPr marL="0" indent="0">
                  <a:buNone/>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𝟏</m:t>
                              </m:r>
                            </m:sub>
                          </m:sSub>
                        </m:sub>
                      </m:sSub>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𝟐</m:t>
                              </m:r>
                            </m:sub>
                          </m:sSub>
                        </m:sub>
                      </m:sSub>
                    </m:oMath>
                  </m:oMathPara>
                </a14:m>
                <a:br>
                  <a:rPr lang="en-GB" b="0" dirty="0"/>
                </a:br>
                <a:r>
                  <a:rPr lang="en-GB" dirty="0"/>
                  <a:t>(here two values, with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1</m:t>
                        </m:r>
                      </m:sub>
                    </m:sSub>
                    <m:r>
                      <a:rPr lang="en-GB" b="0" i="1" smtClean="0">
                        <a:latin typeface="Cambria Math" panose="02040503050406030204" pitchFamily="18" charset="0"/>
                      </a:rPr>
                      <m:t>=0</m:t>
                    </m:r>
                  </m:oMath>
                </a14:m>
                <a:r>
                  <a:rPr lang="en-GB" dirty="0"/>
                  <a:t>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2</m:t>
                        </m:r>
                      </m:sub>
                    </m:sSub>
                    <m:r>
                      <a:rPr lang="en-GB" b="0" i="1" smtClean="0">
                        <a:latin typeface="Cambria Math" panose="02040503050406030204" pitchFamily="18" charset="0"/>
                      </a:rPr>
                      <m:t>=25</m:t>
                    </m:r>
                  </m:oMath>
                </a14:m>
                <a:r>
                  <a:rPr lang="en-GB" dirty="0"/>
                  <a:t>, displayed in red crosses),</a:t>
                </a:r>
              </a:p>
              <a:p>
                <a:pPr marL="0" indent="0">
                  <a:buNone/>
                </a:pPr>
                <a:r>
                  <a:rPr lang="en-GB" dirty="0"/>
                  <a:t>And, yet have</a:t>
                </a:r>
              </a:p>
              <a:p>
                <a:pPr marL="0" indent="0">
                  <a:buNone/>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𝟏</m:t>
                              </m:r>
                            </m:sub>
                          </m:sSub>
                          <m:r>
                            <a:rPr lang="en-GB" b="1" i="1" smtClean="0">
                              <a:latin typeface="Cambria Math" panose="02040503050406030204" pitchFamily="18" charset="0"/>
                            </a:rPr>
                            <m:t>+</m:t>
                          </m:r>
                          <m:r>
                            <a:rPr lang="en-GB" b="1" i="1" smtClean="0">
                              <a:latin typeface="Cambria Math" panose="02040503050406030204" pitchFamily="18" charset="0"/>
                            </a:rPr>
                            <m:t>𝟏</m:t>
                          </m:r>
                        </m:sub>
                      </m:sSub>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𝟐</m:t>
                              </m:r>
                            </m:sub>
                          </m:sSub>
                          <m:r>
                            <a:rPr lang="en-GB" b="1" i="1" smtClean="0">
                              <a:latin typeface="Cambria Math" panose="02040503050406030204" pitchFamily="18" charset="0"/>
                            </a:rPr>
                            <m:t>+</m:t>
                          </m:r>
                          <m:r>
                            <a:rPr lang="en-GB" b="1" i="1" smtClean="0">
                              <a:latin typeface="Cambria Math" panose="02040503050406030204" pitchFamily="18" charset="0"/>
                            </a:rPr>
                            <m:t>𝟏</m:t>
                          </m:r>
                        </m:sub>
                      </m:sSub>
                    </m:oMath>
                  </m:oMathPara>
                </a14:m>
                <a:endParaRPr lang="en-GB" b="1" dirty="0"/>
              </a:p>
              <a:p>
                <a:pPr marL="0" indent="0">
                  <a:buNone/>
                </a:pPr>
                <a:r>
                  <a:rPr lang="en-GB" dirty="0"/>
                  <a:t>(here two values, displayed in green).</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BCEF9F32-C83F-B6A9-E126-668F25B9100E}"/>
                  </a:ext>
                </a:extLst>
              </p:cNvPr>
              <p:cNvSpPr>
                <a:spLocks noGrp="1" noRot="1" noChangeAspect="1" noMove="1" noResize="1" noEditPoints="1" noAdjustHandles="1" noChangeArrowheads="1" noChangeShapeType="1" noTextEdit="1"/>
              </p:cNvSpPr>
              <p:nvPr>
                <p:ph sz="half" idx="1"/>
              </p:nvPr>
            </p:nvSpPr>
            <p:spPr>
              <a:xfrm>
                <a:off x="838199" y="1825624"/>
                <a:ext cx="5781431" cy="5032375"/>
              </a:xfrm>
              <a:blipFill>
                <a:blip r:embed="rId2"/>
                <a:stretch>
                  <a:fillRect l="-2107" t="-1937" b="-605"/>
                </a:stretch>
              </a:blipFill>
            </p:spPr>
            <p:txBody>
              <a:bodyPr/>
              <a:lstStyle/>
              <a:p>
                <a:r>
                  <a:rPr lang="en-SG">
                    <a:noFill/>
                  </a:rPr>
                  <a:t> </a:t>
                </a:r>
              </a:p>
            </p:txBody>
          </p:sp>
        </mc:Fallback>
      </mc:AlternateContent>
      <p:pic>
        <p:nvPicPr>
          <p:cNvPr id="4" name="Picture 3">
            <a:extLst>
              <a:ext uri="{FF2B5EF4-FFF2-40B4-BE49-F238E27FC236}">
                <a16:creationId xmlns:a16="http://schemas.microsoft.com/office/drawing/2014/main" id="{E369E838-8787-6F41-A352-CC63B582FAC3}"/>
              </a:ext>
            </a:extLst>
          </p:cNvPr>
          <p:cNvPicPr>
            <a:picLocks noChangeAspect="1"/>
          </p:cNvPicPr>
          <p:nvPr/>
        </p:nvPicPr>
        <p:blipFill>
          <a:blip r:embed="rId3"/>
          <a:stretch>
            <a:fillRect/>
          </a:stretch>
        </p:blipFill>
        <p:spPr>
          <a:xfrm>
            <a:off x="6902637" y="0"/>
            <a:ext cx="5104766" cy="6858000"/>
          </a:xfrm>
          <a:prstGeom prst="rect">
            <a:avLst/>
          </a:prstGeom>
        </p:spPr>
      </p:pic>
    </p:spTree>
    <p:extLst>
      <p:ext uri="{BB962C8B-B14F-4D97-AF65-F5344CB8AC3E}">
        <p14:creationId xmlns:p14="http://schemas.microsoft.com/office/powerpoint/2010/main" val="191481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8DE4A-B9A9-CCDF-2EFA-3BA4C358FAAB}"/>
              </a:ext>
            </a:extLst>
          </p:cNvPr>
          <p:cNvSpPr>
            <a:spLocks noGrp="1"/>
          </p:cNvSpPr>
          <p:nvPr>
            <p:ph type="title"/>
          </p:nvPr>
        </p:nvSpPr>
        <p:spPr/>
        <p:txBody>
          <a:bodyPr/>
          <a:lstStyle/>
          <a:p>
            <a:r>
              <a:rPr lang="en-GB" dirty="0"/>
              <a:t>Problem with DL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EF9F32-C83F-B6A9-E126-668F25B9100E}"/>
                  </a:ext>
                </a:extLst>
              </p:cNvPr>
              <p:cNvSpPr>
                <a:spLocks noGrp="1"/>
              </p:cNvSpPr>
              <p:nvPr>
                <p:ph sz="half" idx="1"/>
              </p:nvPr>
            </p:nvSpPr>
            <p:spPr>
              <a:xfrm>
                <a:off x="838199" y="1825624"/>
                <a:ext cx="5781431" cy="5032375"/>
              </a:xfrm>
            </p:spPr>
            <p:txBody>
              <a:bodyPr>
                <a:normAutofit/>
              </a:bodyPr>
              <a:lstStyle/>
              <a:p>
                <a:pPr marL="0" indent="0">
                  <a:buNone/>
                </a:pPr>
                <a:r>
                  <a:rPr lang="en-GB" b="1" dirty="0"/>
                  <a:t>Problem: </a:t>
                </a:r>
                <a:r>
                  <a:rPr lang="en-GB" dirty="0"/>
                  <a:t>Cannot use a single value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sub>
                    </m:sSub>
                  </m:oMath>
                </a14:m>
                <a:r>
                  <a:rPr lang="en-GB" dirty="0"/>
                  <a:t> to make predictions on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GB" dirty="0"/>
                  <a:t>.</a:t>
                </a:r>
              </a:p>
              <a:p>
                <a:pPr marL="0" indent="0">
                  <a:buNone/>
                </a:pPr>
                <a:r>
                  <a:rPr lang="en-GB" dirty="0"/>
                  <a:t>We have a dataset </a:t>
                </a:r>
                <a14:m>
                  <m:oMath xmlns:m="http://schemas.openxmlformats.org/officeDocument/2006/math">
                    <m:r>
                      <a:rPr lang="en-GB" b="0" i="1" smtClean="0">
                        <a:latin typeface="Cambria Math" panose="02040503050406030204" pitchFamily="18" charset="0"/>
                      </a:rPr>
                      <m:t>𝐷</m:t>
                    </m:r>
                  </m:oMath>
                </a14:m>
                <a:r>
                  <a:rPr lang="en-GB" dirty="0"/>
                  <a:t>, where it is possible to find two values in time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2</m:t>
                        </m:r>
                      </m:sub>
                    </m:sSub>
                  </m:oMath>
                </a14:m>
                <a:r>
                  <a:rPr lang="en-GB" dirty="0"/>
                  <a:t>, such that:</a:t>
                </a:r>
              </a:p>
              <a:p>
                <a:pPr marL="0" indent="0">
                  <a:buNone/>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𝟏</m:t>
                              </m:r>
                            </m:sub>
                          </m:sSub>
                        </m:sub>
                      </m:sSub>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𝟐</m:t>
                              </m:r>
                            </m:sub>
                          </m:sSub>
                        </m:sub>
                      </m:sSub>
                    </m:oMath>
                  </m:oMathPara>
                </a14:m>
                <a:br>
                  <a:rPr lang="en-GB" b="0" dirty="0"/>
                </a:br>
                <a:r>
                  <a:rPr lang="en-GB" dirty="0"/>
                  <a:t>(here two values, with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1</m:t>
                        </m:r>
                      </m:sub>
                    </m:sSub>
                    <m:r>
                      <a:rPr lang="en-GB" b="0" i="1" smtClean="0">
                        <a:latin typeface="Cambria Math" panose="02040503050406030204" pitchFamily="18" charset="0"/>
                      </a:rPr>
                      <m:t>=0</m:t>
                    </m:r>
                  </m:oMath>
                </a14:m>
                <a:r>
                  <a:rPr lang="en-GB" dirty="0"/>
                  <a:t>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2</m:t>
                        </m:r>
                      </m:sub>
                    </m:sSub>
                    <m:r>
                      <a:rPr lang="en-GB" b="0" i="1" smtClean="0">
                        <a:latin typeface="Cambria Math" panose="02040503050406030204" pitchFamily="18" charset="0"/>
                      </a:rPr>
                      <m:t>=25</m:t>
                    </m:r>
                  </m:oMath>
                </a14:m>
                <a:r>
                  <a:rPr lang="en-GB" dirty="0"/>
                  <a:t>, displayed in red crosses),</a:t>
                </a:r>
              </a:p>
              <a:p>
                <a:pPr marL="0" indent="0">
                  <a:buNone/>
                </a:pPr>
                <a:r>
                  <a:rPr lang="en-GB" dirty="0"/>
                  <a:t>And, yet have</a:t>
                </a:r>
              </a:p>
              <a:p>
                <a:pPr marL="0" indent="0">
                  <a:buNone/>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𝟏</m:t>
                              </m:r>
                            </m:sub>
                          </m:sSub>
                          <m:r>
                            <a:rPr lang="en-GB" b="1" i="1" smtClean="0">
                              <a:latin typeface="Cambria Math" panose="02040503050406030204" pitchFamily="18" charset="0"/>
                            </a:rPr>
                            <m:t>+</m:t>
                          </m:r>
                          <m:r>
                            <a:rPr lang="en-GB" b="1" i="1" smtClean="0">
                              <a:latin typeface="Cambria Math" panose="02040503050406030204" pitchFamily="18" charset="0"/>
                            </a:rPr>
                            <m:t>𝟏</m:t>
                          </m:r>
                        </m:sub>
                      </m:sSub>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𝟐</m:t>
                              </m:r>
                            </m:sub>
                          </m:sSub>
                          <m:r>
                            <a:rPr lang="en-GB" b="1" i="1" smtClean="0">
                              <a:latin typeface="Cambria Math" panose="02040503050406030204" pitchFamily="18" charset="0"/>
                            </a:rPr>
                            <m:t>+</m:t>
                          </m:r>
                          <m:r>
                            <a:rPr lang="en-GB" b="1" i="1" smtClean="0">
                              <a:latin typeface="Cambria Math" panose="02040503050406030204" pitchFamily="18" charset="0"/>
                            </a:rPr>
                            <m:t>𝟏</m:t>
                          </m:r>
                        </m:sub>
                      </m:sSub>
                    </m:oMath>
                  </m:oMathPara>
                </a14:m>
                <a:endParaRPr lang="en-GB" b="1" dirty="0"/>
              </a:p>
              <a:p>
                <a:pPr marL="0" indent="0">
                  <a:buNone/>
                </a:pPr>
                <a:r>
                  <a:rPr lang="en-GB" dirty="0"/>
                  <a:t>(here two values, displayed in green).</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BCEF9F32-C83F-B6A9-E126-668F25B9100E}"/>
                  </a:ext>
                </a:extLst>
              </p:cNvPr>
              <p:cNvSpPr>
                <a:spLocks noGrp="1" noRot="1" noChangeAspect="1" noMove="1" noResize="1" noEditPoints="1" noAdjustHandles="1" noChangeArrowheads="1" noChangeShapeType="1" noTextEdit="1"/>
              </p:cNvSpPr>
              <p:nvPr>
                <p:ph sz="half" idx="1"/>
              </p:nvPr>
            </p:nvSpPr>
            <p:spPr>
              <a:xfrm>
                <a:off x="838199" y="1825624"/>
                <a:ext cx="5781431" cy="5032375"/>
              </a:xfrm>
              <a:blipFill>
                <a:blip r:embed="rId2"/>
                <a:stretch>
                  <a:fillRect l="-2107" t="-1937" b="-60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3DD29B3E-98BB-E63E-145F-42C967469B1E}"/>
                  </a:ext>
                </a:extLst>
              </p:cNvPr>
              <p:cNvSpPr>
                <a:spLocks noGrp="1"/>
              </p:cNvSpPr>
              <p:nvPr>
                <p:ph sz="half" idx="2"/>
              </p:nvPr>
            </p:nvSpPr>
            <p:spPr>
              <a:xfrm>
                <a:off x="6862916" y="1825625"/>
                <a:ext cx="4935794" cy="5032374"/>
              </a:xfrm>
            </p:spPr>
            <p:txBody>
              <a:bodyPr>
                <a:normAutofit/>
              </a:bodyPr>
              <a:lstStyle/>
              <a:p>
                <a:pPr marL="0" indent="0">
                  <a:buNone/>
                </a:pPr>
                <a:r>
                  <a:rPr lang="en-GB" b="1" dirty="0"/>
                  <a:t>Problem (cont’d): </a:t>
                </a:r>
                <a:r>
                  <a:rPr lang="en-GB" dirty="0"/>
                  <a:t>Using a DNN which only takes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sub>
                    </m:sSub>
                  </m:oMath>
                </a14:m>
                <a:r>
                  <a:rPr lang="en-GB" dirty="0"/>
                  <a:t> as input and attempts to predict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GB" dirty="0"/>
                  <a:t> as output is then problematic.</a:t>
                </a:r>
              </a:p>
              <a:p>
                <a:r>
                  <a:rPr lang="en-GB" dirty="0"/>
                  <a:t>Our DNN is not smart enough to output two different values for the same given inputs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𝟏</m:t>
                            </m:r>
                          </m:sub>
                        </m:sSub>
                      </m:sub>
                    </m:sSub>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𝟐</m:t>
                            </m:r>
                          </m:sub>
                        </m:sSub>
                      </m:sub>
                    </m:sSub>
                  </m:oMath>
                </a14:m>
                <a:r>
                  <a:rPr lang="en-GB" dirty="0"/>
                  <a:t>.</a:t>
                </a:r>
              </a:p>
              <a:p>
                <a:r>
                  <a:rPr lang="en-GB" dirty="0"/>
                  <a:t>More importantly, the DNN does not know which “direction” the curve is currently going.</a:t>
                </a:r>
              </a:p>
            </p:txBody>
          </p:sp>
        </mc:Choice>
        <mc:Fallback xmlns="">
          <p:sp>
            <p:nvSpPr>
              <p:cNvPr id="5" name="Content Placeholder 4">
                <a:extLst>
                  <a:ext uri="{FF2B5EF4-FFF2-40B4-BE49-F238E27FC236}">
                    <a16:creationId xmlns:a16="http://schemas.microsoft.com/office/drawing/2014/main" id="{3DD29B3E-98BB-E63E-145F-42C967469B1E}"/>
                  </a:ext>
                </a:extLst>
              </p:cNvPr>
              <p:cNvSpPr>
                <a:spLocks noGrp="1" noRot="1" noChangeAspect="1" noMove="1" noResize="1" noEditPoints="1" noAdjustHandles="1" noChangeArrowheads="1" noChangeShapeType="1" noTextEdit="1"/>
              </p:cNvSpPr>
              <p:nvPr>
                <p:ph sz="half" idx="2"/>
              </p:nvPr>
            </p:nvSpPr>
            <p:spPr>
              <a:xfrm>
                <a:off x="6862916" y="1825625"/>
                <a:ext cx="4935794" cy="5032374"/>
              </a:xfrm>
              <a:blipFill>
                <a:blip r:embed="rId3"/>
                <a:stretch>
                  <a:fillRect l="-2596" t="-1937" r="-2101" b="-2542"/>
                </a:stretch>
              </a:blipFill>
            </p:spPr>
            <p:txBody>
              <a:bodyPr/>
              <a:lstStyle/>
              <a:p>
                <a:r>
                  <a:rPr lang="en-SG">
                    <a:noFill/>
                  </a:rPr>
                  <a:t> </a:t>
                </a:r>
              </a:p>
            </p:txBody>
          </p:sp>
        </mc:Fallback>
      </mc:AlternateContent>
    </p:spTree>
    <p:extLst>
      <p:ext uri="{BB962C8B-B14F-4D97-AF65-F5344CB8AC3E}">
        <p14:creationId xmlns:p14="http://schemas.microsoft.com/office/powerpoint/2010/main" val="2244926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8DE4A-B9A9-CCDF-2EFA-3BA4C358FAAB}"/>
              </a:ext>
            </a:extLst>
          </p:cNvPr>
          <p:cNvSpPr>
            <a:spLocks noGrp="1"/>
          </p:cNvSpPr>
          <p:nvPr>
            <p:ph type="title"/>
          </p:nvPr>
        </p:nvSpPr>
        <p:spPr/>
        <p:txBody>
          <a:bodyPr/>
          <a:lstStyle/>
          <a:p>
            <a:r>
              <a:rPr lang="en-GB" dirty="0"/>
              <a:t>Using a simple DNN</a:t>
            </a:r>
            <a:br>
              <a:rPr lang="en-GB" dirty="0"/>
            </a:br>
            <a:r>
              <a:rPr lang="en-GB" dirty="0"/>
              <a:t>to predict</a:t>
            </a:r>
            <a:endParaRPr lang="en-SG" dirty="0"/>
          </a:p>
        </p:txBody>
      </p:sp>
      <p:sp>
        <p:nvSpPr>
          <p:cNvPr id="8" name="Content Placeholder 7">
            <a:extLst>
              <a:ext uri="{FF2B5EF4-FFF2-40B4-BE49-F238E27FC236}">
                <a16:creationId xmlns:a16="http://schemas.microsoft.com/office/drawing/2014/main" id="{2F23B49A-721B-DD95-6D4E-073A6A6E4974}"/>
              </a:ext>
            </a:extLst>
          </p:cNvPr>
          <p:cNvSpPr>
            <a:spLocks noGrp="1"/>
          </p:cNvSpPr>
          <p:nvPr>
            <p:ph sz="half" idx="1"/>
          </p:nvPr>
        </p:nvSpPr>
        <p:spPr/>
        <p:txBody>
          <a:bodyPr/>
          <a:lstStyle/>
          <a:p>
            <a:pPr marL="0" indent="0">
              <a:buNone/>
            </a:pPr>
            <a:r>
              <a:rPr lang="en-GB" b="1" dirty="0"/>
              <a:t>Let us try it, anyway: </a:t>
            </a:r>
            <a:r>
              <a:rPr lang="en-GB" dirty="0"/>
              <a:t>Let us try and define a simple DNN:</a:t>
            </a:r>
          </a:p>
          <a:p>
            <a:r>
              <a:rPr lang="en-GB" dirty="0"/>
              <a:t>3 Linear Layers + </a:t>
            </a:r>
            <a:r>
              <a:rPr lang="en-GB" dirty="0" err="1"/>
              <a:t>ReLU</a:t>
            </a:r>
            <a:r>
              <a:rPr lang="en-GB" dirty="0"/>
              <a:t>,</a:t>
            </a:r>
          </a:p>
          <a:p>
            <a:r>
              <a:rPr lang="en-GB" dirty="0"/>
              <a:t>No </a:t>
            </a:r>
            <a:r>
              <a:rPr lang="en-GB" dirty="0" err="1"/>
              <a:t>ReLU</a:t>
            </a:r>
            <a:r>
              <a:rPr lang="en-GB" dirty="0"/>
              <a:t> on final layer,</a:t>
            </a:r>
          </a:p>
          <a:p>
            <a:r>
              <a:rPr lang="en-GB" dirty="0"/>
              <a:t>Number of inputs = 1,</a:t>
            </a:r>
          </a:p>
          <a:p>
            <a:r>
              <a:rPr lang="en-GB" dirty="0"/>
              <a:t>Number of outputs = 1,</a:t>
            </a:r>
          </a:p>
          <a:p>
            <a:r>
              <a:rPr lang="en-GB" dirty="0"/>
              <a:t>Hidden layers sizes: 32 and 8.</a:t>
            </a:r>
            <a:endParaRPr lang="en-SG" dirty="0"/>
          </a:p>
        </p:txBody>
      </p:sp>
      <p:pic>
        <p:nvPicPr>
          <p:cNvPr id="10" name="Picture 9">
            <a:extLst>
              <a:ext uri="{FF2B5EF4-FFF2-40B4-BE49-F238E27FC236}">
                <a16:creationId xmlns:a16="http://schemas.microsoft.com/office/drawing/2014/main" id="{8D66A25C-FAC3-1855-47F0-61A8E7EDBDA1}"/>
              </a:ext>
            </a:extLst>
          </p:cNvPr>
          <p:cNvPicPr>
            <a:picLocks noChangeAspect="1"/>
          </p:cNvPicPr>
          <p:nvPr/>
        </p:nvPicPr>
        <p:blipFill>
          <a:blip r:embed="rId2"/>
          <a:stretch>
            <a:fillRect/>
          </a:stretch>
        </p:blipFill>
        <p:spPr>
          <a:xfrm>
            <a:off x="6483566" y="1316707"/>
            <a:ext cx="5649113" cy="4839375"/>
          </a:xfrm>
          <a:prstGeom prst="rect">
            <a:avLst/>
          </a:prstGeom>
        </p:spPr>
      </p:pic>
    </p:spTree>
    <p:extLst>
      <p:ext uri="{BB962C8B-B14F-4D97-AF65-F5344CB8AC3E}">
        <p14:creationId xmlns:p14="http://schemas.microsoft.com/office/powerpoint/2010/main" val="3842187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8DE4A-B9A9-CCDF-2EFA-3BA4C358FAAB}"/>
              </a:ext>
            </a:extLst>
          </p:cNvPr>
          <p:cNvSpPr>
            <a:spLocks noGrp="1"/>
          </p:cNvSpPr>
          <p:nvPr>
            <p:ph type="title"/>
          </p:nvPr>
        </p:nvSpPr>
        <p:spPr/>
        <p:txBody>
          <a:bodyPr/>
          <a:lstStyle/>
          <a:p>
            <a:r>
              <a:rPr lang="en-GB" dirty="0"/>
              <a:t>Using a simple DNN</a:t>
            </a:r>
            <a:br>
              <a:rPr lang="en-GB" dirty="0"/>
            </a:br>
            <a:r>
              <a:rPr lang="en-GB" dirty="0"/>
              <a:t>to predict</a:t>
            </a:r>
            <a:endParaRPr lang="en-SG" dirty="0"/>
          </a:p>
        </p:txBody>
      </p:sp>
      <p:sp>
        <p:nvSpPr>
          <p:cNvPr id="8" name="Content Placeholder 7">
            <a:extLst>
              <a:ext uri="{FF2B5EF4-FFF2-40B4-BE49-F238E27FC236}">
                <a16:creationId xmlns:a16="http://schemas.microsoft.com/office/drawing/2014/main" id="{2F23B49A-721B-DD95-6D4E-073A6A6E4974}"/>
              </a:ext>
            </a:extLst>
          </p:cNvPr>
          <p:cNvSpPr>
            <a:spLocks noGrp="1"/>
          </p:cNvSpPr>
          <p:nvPr>
            <p:ph sz="half" idx="1"/>
          </p:nvPr>
        </p:nvSpPr>
        <p:spPr>
          <a:xfrm>
            <a:off x="838200" y="1825624"/>
            <a:ext cx="5181600" cy="5032375"/>
          </a:xfrm>
        </p:spPr>
        <p:txBody>
          <a:bodyPr>
            <a:normAutofit/>
          </a:bodyPr>
          <a:lstStyle/>
          <a:p>
            <a:pPr marL="0" indent="0">
              <a:buNone/>
            </a:pPr>
            <a:r>
              <a:rPr lang="en-GB" b="1" dirty="0"/>
              <a:t>Let us try it, anyway: </a:t>
            </a:r>
            <a:r>
              <a:rPr lang="en-GB" dirty="0"/>
              <a:t>Let us try and define a simple DNN:</a:t>
            </a:r>
          </a:p>
          <a:p>
            <a:r>
              <a:rPr lang="en-GB" dirty="0"/>
              <a:t>3 Linear Layers + </a:t>
            </a:r>
            <a:r>
              <a:rPr lang="en-GB" dirty="0" err="1"/>
              <a:t>ReLU</a:t>
            </a:r>
            <a:r>
              <a:rPr lang="en-GB" dirty="0"/>
              <a:t>,</a:t>
            </a:r>
          </a:p>
          <a:p>
            <a:r>
              <a:rPr lang="en-GB" dirty="0"/>
              <a:t>No </a:t>
            </a:r>
            <a:r>
              <a:rPr lang="en-GB" dirty="0" err="1"/>
              <a:t>ReLU</a:t>
            </a:r>
            <a:r>
              <a:rPr lang="en-GB" dirty="0"/>
              <a:t> on final layer,</a:t>
            </a:r>
          </a:p>
          <a:p>
            <a:r>
              <a:rPr lang="en-GB" dirty="0"/>
              <a:t>Number of inputs = 1,</a:t>
            </a:r>
          </a:p>
          <a:p>
            <a:r>
              <a:rPr lang="en-GB" dirty="0"/>
              <a:t>Number of outputs = 1,</a:t>
            </a:r>
          </a:p>
          <a:p>
            <a:r>
              <a:rPr lang="en-GB" dirty="0"/>
              <a:t>Hidden layers sizes: 32 and 8.</a:t>
            </a:r>
          </a:p>
          <a:p>
            <a:pPr marL="0" indent="0">
              <a:buNone/>
            </a:pPr>
            <a:r>
              <a:rPr lang="en-GB" b="1" dirty="0"/>
              <a:t>Simple trainer function, and seems to train, but is it good?</a:t>
            </a:r>
            <a:endParaRPr lang="en-SG" b="1" dirty="0"/>
          </a:p>
        </p:txBody>
      </p:sp>
      <p:pic>
        <p:nvPicPr>
          <p:cNvPr id="4" name="Picture 3">
            <a:extLst>
              <a:ext uri="{FF2B5EF4-FFF2-40B4-BE49-F238E27FC236}">
                <a16:creationId xmlns:a16="http://schemas.microsoft.com/office/drawing/2014/main" id="{524B8573-B927-FC61-5A5C-06A2E553F154}"/>
              </a:ext>
            </a:extLst>
          </p:cNvPr>
          <p:cNvPicPr>
            <a:picLocks noChangeAspect="1"/>
          </p:cNvPicPr>
          <p:nvPr/>
        </p:nvPicPr>
        <p:blipFill>
          <a:blip r:embed="rId2"/>
          <a:stretch>
            <a:fillRect/>
          </a:stretch>
        </p:blipFill>
        <p:spPr>
          <a:xfrm>
            <a:off x="6236679" y="231309"/>
            <a:ext cx="5888058" cy="6405493"/>
          </a:xfrm>
          <a:prstGeom prst="rect">
            <a:avLst/>
          </a:prstGeom>
        </p:spPr>
      </p:pic>
    </p:spTree>
    <p:extLst>
      <p:ext uri="{BB962C8B-B14F-4D97-AF65-F5344CB8AC3E}">
        <p14:creationId xmlns:p14="http://schemas.microsoft.com/office/powerpoint/2010/main" val="781649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8DE4A-B9A9-CCDF-2EFA-3BA4C358FAAB}"/>
              </a:ext>
            </a:extLst>
          </p:cNvPr>
          <p:cNvSpPr>
            <a:spLocks noGrp="1"/>
          </p:cNvSpPr>
          <p:nvPr>
            <p:ph type="title"/>
          </p:nvPr>
        </p:nvSpPr>
        <p:spPr/>
        <p:txBody>
          <a:bodyPr/>
          <a:lstStyle/>
          <a:p>
            <a:r>
              <a:rPr lang="en-GB" dirty="0"/>
              <a:t>Using a simple DNN to predict</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2F23B49A-721B-DD95-6D4E-073A6A6E4974}"/>
                  </a:ext>
                </a:extLst>
              </p:cNvPr>
              <p:cNvSpPr>
                <a:spLocks noGrp="1"/>
              </p:cNvSpPr>
              <p:nvPr>
                <p:ph idx="1"/>
              </p:nvPr>
            </p:nvSpPr>
            <p:spPr>
              <a:xfrm>
                <a:off x="838199" y="1825625"/>
                <a:ext cx="11142785" cy="4351338"/>
              </a:xfrm>
            </p:spPr>
            <p:txBody>
              <a:bodyPr>
                <a:normAutofit/>
              </a:bodyPr>
              <a:lstStyle/>
              <a:p>
                <a:pPr marL="0" indent="0">
                  <a:buNone/>
                </a:pPr>
                <a:r>
                  <a:rPr lang="en-GB" dirty="0"/>
                  <a:t>This low loss obtained after training does not mean much…</a:t>
                </a:r>
              </a:p>
              <a:p>
                <a:pPr marL="0" indent="0">
                  <a:buNone/>
                </a:pPr>
                <a:r>
                  <a:rPr lang="en-GB" dirty="0"/>
                  <a:t>The model cannot learn to predict correctly: it is not smart enough to output two different values for the same given inputs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𝟏</m:t>
                            </m:r>
                          </m:sub>
                        </m:sSub>
                      </m:sub>
                    </m:sSub>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𝟐</m:t>
                            </m:r>
                          </m:sub>
                        </m:sSub>
                      </m:sub>
                    </m:sSub>
                  </m:oMath>
                </a14:m>
                <a:r>
                  <a:rPr lang="en-GB" dirty="0"/>
                  <a:t>.</a:t>
                </a:r>
              </a:p>
              <a:p>
                <a:pPr marL="0" indent="0">
                  <a:buNone/>
                </a:pPr>
                <a:r>
                  <a:rPr lang="en-SG" dirty="0"/>
                  <a:t>Also, it needs to </a:t>
                </a:r>
                <a:r>
                  <a:rPr lang="en-GB" dirty="0"/>
                  <a:t>know which “direction” the curve is currently going.</a:t>
                </a:r>
                <a:endParaRPr lang="en-SG" b="1" dirty="0"/>
              </a:p>
            </p:txBody>
          </p:sp>
        </mc:Choice>
        <mc:Fallback xmlns="">
          <p:sp>
            <p:nvSpPr>
              <p:cNvPr id="8" name="Content Placeholder 7">
                <a:extLst>
                  <a:ext uri="{FF2B5EF4-FFF2-40B4-BE49-F238E27FC236}">
                    <a16:creationId xmlns:a16="http://schemas.microsoft.com/office/drawing/2014/main" id="{2F23B49A-721B-DD95-6D4E-073A6A6E4974}"/>
                  </a:ext>
                </a:extLst>
              </p:cNvPr>
              <p:cNvSpPr>
                <a:spLocks noGrp="1" noRot="1" noChangeAspect="1" noMove="1" noResize="1" noEditPoints="1" noAdjustHandles="1" noChangeArrowheads="1" noChangeShapeType="1" noTextEdit="1"/>
              </p:cNvSpPr>
              <p:nvPr>
                <p:ph idx="1"/>
              </p:nvPr>
            </p:nvSpPr>
            <p:spPr>
              <a:xfrm>
                <a:off x="838199" y="1825625"/>
                <a:ext cx="11142785" cy="4351338"/>
              </a:xfrm>
              <a:blipFill>
                <a:blip r:embed="rId2"/>
                <a:stretch>
                  <a:fillRect l="-1094" t="-2241"/>
                </a:stretch>
              </a:blipFill>
            </p:spPr>
            <p:txBody>
              <a:bodyPr/>
              <a:lstStyle/>
              <a:p>
                <a:r>
                  <a:rPr lang="en-SG">
                    <a:noFill/>
                  </a:rPr>
                  <a:t> </a:t>
                </a:r>
              </a:p>
            </p:txBody>
          </p:sp>
        </mc:Fallback>
      </mc:AlternateContent>
      <p:pic>
        <p:nvPicPr>
          <p:cNvPr id="7" name="Picture 6">
            <a:extLst>
              <a:ext uri="{FF2B5EF4-FFF2-40B4-BE49-F238E27FC236}">
                <a16:creationId xmlns:a16="http://schemas.microsoft.com/office/drawing/2014/main" id="{9D14AB5C-BA99-C7BA-2FE3-DCAF22537151}"/>
              </a:ext>
            </a:extLst>
          </p:cNvPr>
          <p:cNvPicPr>
            <a:picLocks noChangeAspect="1"/>
          </p:cNvPicPr>
          <p:nvPr/>
        </p:nvPicPr>
        <p:blipFill>
          <a:blip r:embed="rId3"/>
          <a:stretch>
            <a:fillRect/>
          </a:stretch>
        </p:blipFill>
        <p:spPr>
          <a:xfrm>
            <a:off x="2066362" y="3865472"/>
            <a:ext cx="8059275" cy="2972215"/>
          </a:xfrm>
          <a:prstGeom prst="rect">
            <a:avLst/>
          </a:prstGeom>
        </p:spPr>
      </p:pic>
    </p:spTree>
    <p:extLst>
      <p:ext uri="{BB962C8B-B14F-4D97-AF65-F5344CB8AC3E}">
        <p14:creationId xmlns:p14="http://schemas.microsoft.com/office/powerpoint/2010/main" val="2316878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8DE4A-B9A9-CCDF-2EFA-3BA4C358FAAB}"/>
              </a:ext>
            </a:extLst>
          </p:cNvPr>
          <p:cNvSpPr>
            <a:spLocks noGrp="1"/>
          </p:cNvSpPr>
          <p:nvPr>
            <p:ph type="title"/>
          </p:nvPr>
        </p:nvSpPr>
        <p:spPr/>
        <p:txBody>
          <a:bodyPr/>
          <a:lstStyle/>
          <a:p>
            <a:r>
              <a:rPr lang="en-GB" dirty="0"/>
              <a:t>A visual example for the need of “direction”</a:t>
            </a:r>
            <a:endParaRPr lang="en-SG" dirty="0"/>
          </a:p>
        </p:txBody>
      </p:sp>
      <p:pic>
        <p:nvPicPr>
          <p:cNvPr id="10" name="Picture 9" descr="A group of gold coins&#10;&#10;Description automatically generated with medium confidence">
            <a:extLst>
              <a:ext uri="{FF2B5EF4-FFF2-40B4-BE49-F238E27FC236}">
                <a16:creationId xmlns:a16="http://schemas.microsoft.com/office/drawing/2014/main" id="{F83FE53A-C01F-5A70-FCBF-D89938440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203" y="1690688"/>
            <a:ext cx="7783029" cy="5013568"/>
          </a:xfrm>
          <a:prstGeom prst="rect">
            <a:avLst/>
          </a:prstGeom>
        </p:spPr>
      </p:pic>
      <p:sp>
        <p:nvSpPr>
          <p:cNvPr id="3" name="Rectangle 2">
            <a:extLst>
              <a:ext uri="{FF2B5EF4-FFF2-40B4-BE49-F238E27FC236}">
                <a16:creationId xmlns:a16="http://schemas.microsoft.com/office/drawing/2014/main" id="{9297C65D-302D-97F3-B9E7-0795EAD68417}"/>
              </a:ext>
            </a:extLst>
          </p:cNvPr>
          <p:cNvSpPr/>
          <p:nvPr/>
        </p:nvSpPr>
        <p:spPr>
          <a:xfrm>
            <a:off x="4282831" y="1774092"/>
            <a:ext cx="4400061" cy="275101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Rectangle 3">
            <a:extLst>
              <a:ext uri="{FF2B5EF4-FFF2-40B4-BE49-F238E27FC236}">
                <a16:creationId xmlns:a16="http://schemas.microsoft.com/office/drawing/2014/main" id="{76F7AF6B-B2F9-3EFF-C0AF-2B594EF765FF}"/>
              </a:ext>
            </a:extLst>
          </p:cNvPr>
          <p:cNvSpPr/>
          <p:nvPr/>
        </p:nvSpPr>
        <p:spPr>
          <a:xfrm flipV="1">
            <a:off x="4435232" y="4228122"/>
            <a:ext cx="3481754" cy="226475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Rectangle 4">
            <a:extLst>
              <a:ext uri="{FF2B5EF4-FFF2-40B4-BE49-F238E27FC236}">
                <a16:creationId xmlns:a16="http://schemas.microsoft.com/office/drawing/2014/main" id="{839586BE-A17E-1BF1-BFDE-31813F4B3DA7}"/>
              </a:ext>
            </a:extLst>
          </p:cNvPr>
          <p:cNvSpPr/>
          <p:nvPr/>
        </p:nvSpPr>
        <p:spPr>
          <a:xfrm flipH="1" flipV="1">
            <a:off x="7776308" y="5556738"/>
            <a:ext cx="4040554" cy="108853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Rectangle 5">
            <a:extLst>
              <a:ext uri="{FF2B5EF4-FFF2-40B4-BE49-F238E27FC236}">
                <a16:creationId xmlns:a16="http://schemas.microsoft.com/office/drawing/2014/main" id="{3DFDB98B-84DF-C2AD-F494-6AFEC7D2D6CE}"/>
              </a:ext>
            </a:extLst>
          </p:cNvPr>
          <p:cNvSpPr/>
          <p:nvPr/>
        </p:nvSpPr>
        <p:spPr>
          <a:xfrm flipH="1">
            <a:off x="8903660" y="3087077"/>
            <a:ext cx="3034339" cy="262206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Oval 7">
            <a:extLst>
              <a:ext uri="{FF2B5EF4-FFF2-40B4-BE49-F238E27FC236}">
                <a16:creationId xmlns:a16="http://schemas.microsoft.com/office/drawing/2014/main" id="{9CD8EDD4-508D-2592-641D-F07131736022}"/>
              </a:ext>
            </a:extLst>
          </p:cNvPr>
          <p:cNvSpPr/>
          <p:nvPr/>
        </p:nvSpPr>
        <p:spPr>
          <a:xfrm>
            <a:off x="8720138" y="5191125"/>
            <a:ext cx="502443" cy="51801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8455056-4146-112A-F120-BE0214897893}"/>
                  </a:ext>
                </a:extLst>
              </p:cNvPr>
              <p:cNvSpPr txBox="1"/>
              <p:nvPr/>
            </p:nvSpPr>
            <p:spPr>
              <a:xfrm>
                <a:off x="203199" y="1570892"/>
                <a:ext cx="3772001" cy="3539430"/>
              </a:xfrm>
              <a:prstGeom prst="rect">
                <a:avLst/>
              </a:prstGeom>
              <a:noFill/>
            </p:spPr>
            <p:txBody>
              <a:bodyPr wrap="square" rtlCol="0">
                <a:spAutoFit/>
              </a:bodyPr>
              <a:lstStyle/>
              <a:p>
                <a:r>
                  <a:rPr lang="en-GB" sz="2800" dirty="0"/>
                  <a:t>Let us pretend that </a:t>
                </a:r>
                <a14:m>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𝑡</m:t>
                        </m:r>
                      </m:sub>
                    </m:sSub>
                  </m:oMath>
                </a14:m>
                <a:r>
                  <a:rPr lang="en-SG" sz="2800" dirty="0"/>
                  <a:t> is the position of the basketball at time </a:t>
                </a:r>
                <a14:m>
                  <m:oMath xmlns:m="http://schemas.openxmlformats.org/officeDocument/2006/math">
                    <m:r>
                      <a:rPr lang="en-GB" sz="2800" b="0" i="1" smtClean="0">
                        <a:latin typeface="Cambria Math" panose="02040503050406030204" pitchFamily="18" charset="0"/>
                      </a:rPr>
                      <m:t>𝑡</m:t>
                    </m:r>
                  </m:oMath>
                </a14:m>
                <a:r>
                  <a:rPr lang="en-SG" sz="2800" dirty="0"/>
                  <a:t>.</a:t>
                </a:r>
              </a:p>
              <a:p>
                <a:endParaRPr lang="en-SG" sz="2800" dirty="0"/>
              </a:p>
              <a:p>
                <a:r>
                  <a:rPr lang="en-SG" sz="2800" b="1" dirty="0">
                    <a:solidFill>
                      <a:srgbClr val="7030A0"/>
                    </a:solidFill>
                  </a:rPr>
                  <a:t>Looking at the picture on the right, can you guess what the next ball position </a:t>
                </a:r>
                <a14:m>
                  <m:oMath xmlns:m="http://schemas.openxmlformats.org/officeDocument/2006/math">
                    <m:sSub>
                      <m:sSubPr>
                        <m:ctrlPr>
                          <a:rPr lang="en-GB" sz="2800" b="1" i="1" smtClean="0">
                            <a:solidFill>
                              <a:srgbClr val="7030A0"/>
                            </a:solidFill>
                            <a:latin typeface="Cambria Math" panose="02040503050406030204" pitchFamily="18" charset="0"/>
                          </a:rPr>
                        </m:ctrlPr>
                      </m:sSubPr>
                      <m:e>
                        <m:r>
                          <a:rPr lang="en-GB" sz="2800" b="1" i="1" smtClean="0">
                            <a:solidFill>
                              <a:srgbClr val="7030A0"/>
                            </a:solidFill>
                            <a:latin typeface="Cambria Math" panose="02040503050406030204" pitchFamily="18" charset="0"/>
                          </a:rPr>
                          <m:t>𝒙</m:t>
                        </m:r>
                      </m:e>
                      <m:sub>
                        <m:r>
                          <a:rPr lang="en-GB" sz="2800" b="1" i="1" smtClean="0">
                            <a:solidFill>
                              <a:srgbClr val="7030A0"/>
                            </a:solidFill>
                            <a:latin typeface="Cambria Math" panose="02040503050406030204" pitchFamily="18" charset="0"/>
                          </a:rPr>
                          <m:t>𝒕</m:t>
                        </m:r>
                        <m:r>
                          <a:rPr lang="en-GB" sz="2800" b="1" i="1" smtClean="0">
                            <a:solidFill>
                              <a:srgbClr val="7030A0"/>
                            </a:solidFill>
                            <a:latin typeface="Cambria Math" panose="02040503050406030204" pitchFamily="18" charset="0"/>
                          </a:rPr>
                          <m:t>+</m:t>
                        </m:r>
                        <m:r>
                          <a:rPr lang="en-GB" sz="2800" b="1" i="1" smtClean="0">
                            <a:solidFill>
                              <a:srgbClr val="7030A0"/>
                            </a:solidFill>
                            <a:latin typeface="Cambria Math" panose="02040503050406030204" pitchFamily="18" charset="0"/>
                          </a:rPr>
                          <m:t>𝟏</m:t>
                        </m:r>
                      </m:sub>
                    </m:sSub>
                  </m:oMath>
                </a14:m>
                <a:r>
                  <a:rPr lang="en-SG" sz="2800" b="1" dirty="0">
                    <a:solidFill>
                      <a:srgbClr val="7030A0"/>
                    </a:solidFill>
                  </a:rPr>
                  <a:t> will be?</a:t>
                </a:r>
              </a:p>
            </p:txBody>
          </p:sp>
        </mc:Choice>
        <mc:Fallback xmlns="">
          <p:sp>
            <p:nvSpPr>
              <p:cNvPr id="9" name="TextBox 8">
                <a:extLst>
                  <a:ext uri="{FF2B5EF4-FFF2-40B4-BE49-F238E27FC236}">
                    <a16:creationId xmlns:a16="http://schemas.microsoft.com/office/drawing/2014/main" id="{98455056-4146-112A-F120-BE0214897893}"/>
                  </a:ext>
                </a:extLst>
              </p:cNvPr>
              <p:cNvSpPr txBox="1">
                <a:spLocks noRot="1" noChangeAspect="1" noMove="1" noResize="1" noEditPoints="1" noAdjustHandles="1" noChangeArrowheads="1" noChangeShapeType="1" noTextEdit="1"/>
              </p:cNvSpPr>
              <p:nvPr/>
            </p:nvSpPr>
            <p:spPr>
              <a:xfrm>
                <a:off x="203199" y="1570892"/>
                <a:ext cx="3772001" cy="3539430"/>
              </a:xfrm>
              <a:prstGeom prst="rect">
                <a:avLst/>
              </a:prstGeom>
              <a:blipFill>
                <a:blip r:embed="rId3"/>
                <a:stretch>
                  <a:fillRect l="-3231" t="-1724" r="-5331" b="-4138"/>
                </a:stretch>
              </a:blipFill>
            </p:spPr>
            <p:txBody>
              <a:bodyPr/>
              <a:lstStyle/>
              <a:p>
                <a:r>
                  <a:rPr lang="en-SG">
                    <a:noFill/>
                  </a:rPr>
                  <a:t> </a:t>
                </a:r>
              </a:p>
            </p:txBody>
          </p:sp>
        </mc:Fallback>
      </mc:AlternateContent>
      <p:cxnSp>
        <p:nvCxnSpPr>
          <p:cNvPr id="12" name="Straight Arrow Connector 11">
            <a:extLst>
              <a:ext uri="{FF2B5EF4-FFF2-40B4-BE49-F238E27FC236}">
                <a16:creationId xmlns:a16="http://schemas.microsoft.com/office/drawing/2014/main" id="{3D32C3E9-BCF7-21C1-63AF-73D41ED05D73}"/>
              </a:ext>
            </a:extLst>
          </p:cNvPr>
          <p:cNvCxnSpPr>
            <a:cxnSpLocks/>
          </p:cNvCxnSpPr>
          <p:nvPr/>
        </p:nvCxnSpPr>
        <p:spPr>
          <a:xfrm flipV="1">
            <a:off x="8847015" y="3556000"/>
            <a:ext cx="625231" cy="1125415"/>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CAD247D5-7FC8-E539-BBF9-553966365A8E}"/>
              </a:ext>
            </a:extLst>
          </p:cNvPr>
          <p:cNvCxnSpPr>
            <a:cxnSpLocks/>
          </p:cNvCxnSpPr>
          <p:nvPr/>
        </p:nvCxnSpPr>
        <p:spPr>
          <a:xfrm>
            <a:off x="8510954" y="5556738"/>
            <a:ext cx="0" cy="820616"/>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08DACFCA-54FF-8B97-ADDE-2E676AE80B9A}"/>
              </a:ext>
            </a:extLst>
          </p:cNvPr>
          <p:cNvCxnSpPr>
            <a:cxnSpLocks/>
          </p:cNvCxnSpPr>
          <p:nvPr/>
        </p:nvCxnSpPr>
        <p:spPr>
          <a:xfrm flipV="1">
            <a:off x="8999415" y="4525108"/>
            <a:ext cx="879231" cy="30870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B762C7FE-569E-526F-8EAC-7FB212EC0703}"/>
              </a:ext>
            </a:extLst>
          </p:cNvPr>
          <p:cNvCxnSpPr>
            <a:cxnSpLocks/>
          </p:cNvCxnSpPr>
          <p:nvPr/>
        </p:nvCxnSpPr>
        <p:spPr>
          <a:xfrm flipH="1" flipV="1">
            <a:off x="7776308" y="4939323"/>
            <a:ext cx="343877" cy="85969"/>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6C97FE7D-83F3-331E-3DF8-232847CB58B0}"/>
              </a:ext>
            </a:extLst>
          </p:cNvPr>
          <p:cNvSpPr txBox="1"/>
          <p:nvPr/>
        </p:nvSpPr>
        <p:spPr>
          <a:xfrm>
            <a:off x="8135814" y="4289735"/>
            <a:ext cx="648678" cy="369332"/>
          </a:xfrm>
          <a:prstGeom prst="rect">
            <a:avLst/>
          </a:prstGeom>
          <a:noFill/>
        </p:spPr>
        <p:txBody>
          <a:bodyPr wrap="square" rtlCol="0">
            <a:spAutoFit/>
          </a:bodyPr>
          <a:lstStyle/>
          <a:p>
            <a:r>
              <a:rPr lang="en-GB" b="1" dirty="0">
                <a:solidFill>
                  <a:schemeClr val="accent2"/>
                </a:solidFill>
              </a:rPr>
              <a:t>????</a:t>
            </a:r>
            <a:endParaRPr lang="en-SG" b="1" dirty="0">
              <a:solidFill>
                <a:schemeClr val="accent2"/>
              </a:solidFill>
            </a:endParaRPr>
          </a:p>
        </p:txBody>
      </p:sp>
    </p:spTree>
    <p:extLst>
      <p:ext uri="{BB962C8B-B14F-4D97-AF65-F5344CB8AC3E}">
        <p14:creationId xmlns:p14="http://schemas.microsoft.com/office/powerpoint/2010/main" val="2064353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8DE4A-B9A9-CCDF-2EFA-3BA4C358FAAB}"/>
              </a:ext>
            </a:extLst>
          </p:cNvPr>
          <p:cNvSpPr>
            <a:spLocks noGrp="1"/>
          </p:cNvSpPr>
          <p:nvPr>
            <p:ph type="title"/>
          </p:nvPr>
        </p:nvSpPr>
        <p:spPr/>
        <p:txBody>
          <a:bodyPr/>
          <a:lstStyle/>
          <a:p>
            <a:r>
              <a:rPr lang="en-GB" dirty="0"/>
              <a:t>A visual example for the need of “direction”</a:t>
            </a:r>
            <a:endParaRPr lang="en-SG" dirty="0"/>
          </a:p>
        </p:txBody>
      </p:sp>
      <p:pic>
        <p:nvPicPr>
          <p:cNvPr id="10" name="Picture 9" descr="A group of gold coins&#10;&#10;Description automatically generated with medium confidence">
            <a:extLst>
              <a:ext uri="{FF2B5EF4-FFF2-40B4-BE49-F238E27FC236}">
                <a16:creationId xmlns:a16="http://schemas.microsoft.com/office/drawing/2014/main" id="{F83FE53A-C01F-5A70-FCBF-D89938440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203" y="1690688"/>
            <a:ext cx="7783029" cy="5013568"/>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41C82DA-C4AB-4A16-CC94-7486A4928219}"/>
                  </a:ext>
                </a:extLst>
              </p:cNvPr>
              <p:cNvSpPr txBox="1"/>
              <p:nvPr/>
            </p:nvSpPr>
            <p:spPr>
              <a:xfrm>
                <a:off x="203199" y="1570892"/>
                <a:ext cx="3772001" cy="4832092"/>
              </a:xfrm>
              <a:prstGeom prst="rect">
                <a:avLst/>
              </a:prstGeom>
              <a:noFill/>
            </p:spPr>
            <p:txBody>
              <a:bodyPr wrap="square" rtlCol="0">
                <a:spAutoFit/>
              </a:bodyPr>
              <a:lstStyle/>
              <a:p>
                <a:r>
                  <a:rPr lang="en-GB" sz="2800" dirty="0"/>
                  <a:t>Let us pretend that </a:t>
                </a:r>
                <a14:m>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𝑡</m:t>
                        </m:r>
                      </m:sub>
                    </m:sSub>
                  </m:oMath>
                </a14:m>
                <a:r>
                  <a:rPr lang="en-SG" sz="2800" dirty="0"/>
                  <a:t> is the position of the basketball at time </a:t>
                </a:r>
                <a14:m>
                  <m:oMath xmlns:m="http://schemas.openxmlformats.org/officeDocument/2006/math">
                    <m:r>
                      <a:rPr lang="en-GB" sz="2800" b="0" i="1" smtClean="0">
                        <a:latin typeface="Cambria Math" panose="02040503050406030204" pitchFamily="18" charset="0"/>
                      </a:rPr>
                      <m:t>𝑡</m:t>
                    </m:r>
                  </m:oMath>
                </a14:m>
                <a:r>
                  <a:rPr lang="en-SG" sz="2800" dirty="0"/>
                  <a:t>.</a:t>
                </a:r>
              </a:p>
              <a:p>
                <a:endParaRPr lang="en-SG" sz="2800" dirty="0"/>
              </a:p>
              <a:p>
                <a:r>
                  <a:rPr lang="en-SG" sz="2800" b="1" dirty="0">
                    <a:solidFill>
                      <a:srgbClr val="7030A0"/>
                    </a:solidFill>
                  </a:rPr>
                  <a:t>Looking at the picture on the right, can you guess what the next ball position </a:t>
                </a:r>
                <a14:m>
                  <m:oMath xmlns:m="http://schemas.openxmlformats.org/officeDocument/2006/math">
                    <m:sSub>
                      <m:sSubPr>
                        <m:ctrlPr>
                          <a:rPr lang="en-GB" sz="2800" b="1" i="1" smtClean="0">
                            <a:solidFill>
                              <a:srgbClr val="7030A0"/>
                            </a:solidFill>
                            <a:latin typeface="Cambria Math" panose="02040503050406030204" pitchFamily="18" charset="0"/>
                          </a:rPr>
                        </m:ctrlPr>
                      </m:sSubPr>
                      <m:e>
                        <m:r>
                          <a:rPr lang="en-GB" sz="2800" b="1" i="1" smtClean="0">
                            <a:solidFill>
                              <a:srgbClr val="7030A0"/>
                            </a:solidFill>
                            <a:latin typeface="Cambria Math" panose="02040503050406030204" pitchFamily="18" charset="0"/>
                          </a:rPr>
                          <m:t>𝒙</m:t>
                        </m:r>
                      </m:e>
                      <m:sub>
                        <m:r>
                          <a:rPr lang="en-GB" sz="2800" b="1" i="1" smtClean="0">
                            <a:solidFill>
                              <a:srgbClr val="7030A0"/>
                            </a:solidFill>
                            <a:latin typeface="Cambria Math" panose="02040503050406030204" pitchFamily="18" charset="0"/>
                          </a:rPr>
                          <m:t>𝒕</m:t>
                        </m:r>
                        <m:r>
                          <a:rPr lang="en-GB" sz="2800" b="1" i="1" smtClean="0">
                            <a:solidFill>
                              <a:srgbClr val="7030A0"/>
                            </a:solidFill>
                            <a:latin typeface="Cambria Math" panose="02040503050406030204" pitchFamily="18" charset="0"/>
                          </a:rPr>
                          <m:t>+</m:t>
                        </m:r>
                        <m:r>
                          <a:rPr lang="en-GB" sz="2800" b="1" i="1" smtClean="0">
                            <a:solidFill>
                              <a:srgbClr val="7030A0"/>
                            </a:solidFill>
                            <a:latin typeface="Cambria Math" panose="02040503050406030204" pitchFamily="18" charset="0"/>
                          </a:rPr>
                          <m:t>𝟏</m:t>
                        </m:r>
                      </m:sub>
                    </m:sSub>
                  </m:oMath>
                </a14:m>
                <a:r>
                  <a:rPr lang="en-SG" sz="2800" b="1" dirty="0">
                    <a:solidFill>
                      <a:srgbClr val="7030A0"/>
                    </a:solidFill>
                  </a:rPr>
                  <a:t> will be?</a:t>
                </a:r>
              </a:p>
              <a:p>
                <a:endParaRPr lang="en-SG" sz="2800" b="1" dirty="0">
                  <a:solidFill>
                    <a:srgbClr val="7030A0"/>
                  </a:solidFill>
                </a:endParaRPr>
              </a:p>
              <a:p>
                <a:r>
                  <a:rPr lang="en-SG" sz="2800" b="1" dirty="0">
                    <a:solidFill>
                      <a:srgbClr val="7030A0"/>
                    </a:solidFill>
                  </a:rPr>
                  <a:t>What if I give you a bit of </a:t>
                </a:r>
                <a:r>
                  <a:rPr lang="en-SG" sz="2800" b="1" u="sng" dirty="0">
                    <a:solidFill>
                      <a:srgbClr val="7030A0"/>
                    </a:solidFill>
                  </a:rPr>
                  <a:t>history</a:t>
                </a:r>
                <a:r>
                  <a:rPr lang="en-SG" sz="2800" b="1" dirty="0">
                    <a:solidFill>
                      <a:srgbClr val="7030A0"/>
                    </a:solidFill>
                  </a:rPr>
                  <a:t> now?</a:t>
                </a:r>
              </a:p>
            </p:txBody>
          </p:sp>
        </mc:Choice>
        <mc:Fallback xmlns="">
          <p:sp>
            <p:nvSpPr>
              <p:cNvPr id="11" name="TextBox 10">
                <a:extLst>
                  <a:ext uri="{FF2B5EF4-FFF2-40B4-BE49-F238E27FC236}">
                    <a16:creationId xmlns:a16="http://schemas.microsoft.com/office/drawing/2014/main" id="{041C82DA-C4AB-4A16-CC94-7486A4928219}"/>
                  </a:ext>
                </a:extLst>
              </p:cNvPr>
              <p:cNvSpPr txBox="1">
                <a:spLocks noRot="1" noChangeAspect="1" noMove="1" noResize="1" noEditPoints="1" noAdjustHandles="1" noChangeArrowheads="1" noChangeShapeType="1" noTextEdit="1"/>
              </p:cNvSpPr>
              <p:nvPr/>
            </p:nvSpPr>
            <p:spPr>
              <a:xfrm>
                <a:off x="203199" y="1570892"/>
                <a:ext cx="3772001" cy="4832092"/>
              </a:xfrm>
              <a:prstGeom prst="rect">
                <a:avLst/>
              </a:prstGeom>
              <a:blipFill>
                <a:blip r:embed="rId3"/>
                <a:stretch>
                  <a:fillRect l="-3231" t="-1263" r="-5331" b="-2778"/>
                </a:stretch>
              </a:blipFill>
            </p:spPr>
            <p:txBody>
              <a:bodyPr/>
              <a:lstStyle/>
              <a:p>
                <a:r>
                  <a:rPr lang="en-SG">
                    <a:noFill/>
                  </a:rPr>
                  <a:t> </a:t>
                </a:r>
              </a:p>
            </p:txBody>
          </p:sp>
        </mc:Fallback>
      </mc:AlternateContent>
      <p:pic>
        <p:nvPicPr>
          <p:cNvPr id="12" name="Picture 11" descr="A group of gold coins&#10;&#10;Description automatically generated with medium confidence">
            <a:extLst>
              <a:ext uri="{FF2B5EF4-FFF2-40B4-BE49-F238E27FC236}">
                <a16:creationId xmlns:a16="http://schemas.microsoft.com/office/drawing/2014/main" id="{F1C767E9-6308-3CB8-97B8-EB787964EE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203" y="1690688"/>
            <a:ext cx="7783029" cy="5013568"/>
          </a:xfrm>
          <a:prstGeom prst="rect">
            <a:avLst/>
          </a:prstGeom>
        </p:spPr>
      </p:pic>
      <p:sp>
        <p:nvSpPr>
          <p:cNvPr id="13" name="Rectangle 12">
            <a:extLst>
              <a:ext uri="{FF2B5EF4-FFF2-40B4-BE49-F238E27FC236}">
                <a16:creationId xmlns:a16="http://schemas.microsoft.com/office/drawing/2014/main" id="{BEFA2E9D-D346-A4E1-725F-1DA59AFF1537}"/>
              </a:ext>
            </a:extLst>
          </p:cNvPr>
          <p:cNvSpPr/>
          <p:nvPr/>
        </p:nvSpPr>
        <p:spPr>
          <a:xfrm flipH="1" flipV="1">
            <a:off x="7776308" y="5556738"/>
            <a:ext cx="4040554" cy="108853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13">
            <a:extLst>
              <a:ext uri="{FF2B5EF4-FFF2-40B4-BE49-F238E27FC236}">
                <a16:creationId xmlns:a16="http://schemas.microsoft.com/office/drawing/2014/main" id="{D8EED8B7-FABB-F38D-5C99-E82E2A917136}"/>
              </a:ext>
            </a:extLst>
          </p:cNvPr>
          <p:cNvSpPr/>
          <p:nvPr/>
        </p:nvSpPr>
        <p:spPr>
          <a:xfrm flipH="1">
            <a:off x="8911475" y="3087077"/>
            <a:ext cx="3034339" cy="262206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Oval 14">
            <a:extLst>
              <a:ext uri="{FF2B5EF4-FFF2-40B4-BE49-F238E27FC236}">
                <a16:creationId xmlns:a16="http://schemas.microsoft.com/office/drawing/2014/main" id="{58EF33CF-8803-CBB6-6050-94DB222659B3}"/>
              </a:ext>
            </a:extLst>
          </p:cNvPr>
          <p:cNvSpPr/>
          <p:nvPr/>
        </p:nvSpPr>
        <p:spPr>
          <a:xfrm>
            <a:off x="8720138" y="5191125"/>
            <a:ext cx="502443" cy="51801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 name="Straight Arrow Connector 2">
            <a:extLst>
              <a:ext uri="{FF2B5EF4-FFF2-40B4-BE49-F238E27FC236}">
                <a16:creationId xmlns:a16="http://schemas.microsoft.com/office/drawing/2014/main" id="{A2D1F4BF-E49D-B5B0-D29A-0AD9F138EA4D}"/>
              </a:ext>
            </a:extLst>
          </p:cNvPr>
          <p:cNvCxnSpPr>
            <a:cxnSpLocks/>
          </p:cNvCxnSpPr>
          <p:nvPr/>
        </p:nvCxnSpPr>
        <p:spPr>
          <a:xfrm flipV="1">
            <a:off x="8847015" y="3556000"/>
            <a:ext cx="625231" cy="1125415"/>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4" name="Straight Arrow Connector 3">
            <a:extLst>
              <a:ext uri="{FF2B5EF4-FFF2-40B4-BE49-F238E27FC236}">
                <a16:creationId xmlns:a16="http://schemas.microsoft.com/office/drawing/2014/main" id="{B4812B12-576A-6946-A73E-BC430F72C12A}"/>
              </a:ext>
            </a:extLst>
          </p:cNvPr>
          <p:cNvCxnSpPr>
            <a:cxnSpLocks/>
          </p:cNvCxnSpPr>
          <p:nvPr/>
        </p:nvCxnSpPr>
        <p:spPr>
          <a:xfrm>
            <a:off x="8510954" y="5556738"/>
            <a:ext cx="0" cy="820616"/>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5" name="Straight Arrow Connector 4">
            <a:extLst>
              <a:ext uri="{FF2B5EF4-FFF2-40B4-BE49-F238E27FC236}">
                <a16:creationId xmlns:a16="http://schemas.microsoft.com/office/drawing/2014/main" id="{1DBD407E-7763-A03E-ED4D-C8271B9766EB}"/>
              </a:ext>
            </a:extLst>
          </p:cNvPr>
          <p:cNvCxnSpPr>
            <a:cxnSpLocks/>
          </p:cNvCxnSpPr>
          <p:nvPr/>
        </p:nvCxnSpPr>
        <p:spPr>
          <a:xfrm flipV="1">
            <a:off x="8999415" y="4525108"/>
            <a:ext cx="879231" cy="30870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6" name="Straight Arrow Connector 5">
            <a:extLst>
              <a:ext uri="{FF2B5EF4-FFF2-40B4-BE49-F238E27FC236}">
                <a16:creationId xmlns:a16="http://schemas.microsoft.com/office/drawing/2014/main" id="{C96CE662-DD07-831E-AD74-73E8C04653AF}"/>
              </a:ext>
            </a:extLst>
          </p:cNvPr>
          <p:cNvCxnSpPr>
            <a:cxnSpLocks/>
          </p:cNvCxnSpPr>
          <p:nvPr/>
        </p:nvCxnSpPr>
        <p:spPr>
          <a:xfrm flipH="1" flipV="1">
            <a:off x="7776308" y="4939323"/>
            <a:ext cx="343877" cy="85969"/>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9872403B-2BDE-01C2-E534-43FF91D25167}"/>
              </a:ext>
            </a:extLst>
          </p:cNvPr>
          <p:cNvSpPr txBox="1"/>
          <p:nvPr/>
        </p:nvSpPr>
        <p:spPr>
          <a:xfrm>
            <a:off x="8135814" y="4289735"/>
            <a:ext cx="648678" cy="369332"/>
          </a:xfrm>
          <a:prstGeom prst="rect">
            <a:avLst/>
          </a:prstGeom>
          <a:noFill/>
        </p:spPr>
        <p:txBody>
          <a:bodyPr wrap="square" rtlCol="0">
            <a:spAutoFit/>
          </a:bodyPr>
          <a:lstStyle/>
          <a:p>
            <a:r>
              <a:rPr lang="en-GB" b="1" dirty="0">
                <a:solidFill>
                  <a:schemeClr val="accent2"/>
                </a:solidFill>
              </a:rPr>
              <a:t>????</a:t>
            </a:r>
            <a:endParaRPr lang="en-SG" b="1" dirty="0">
              <a:solidFill>
                <a:schemeClr val="accent2"/>
              </a:solidFill>
            </a:endParaRPr>
          </a:p>
        </p:txBody>
      </p:sp>
    </p:spTree>
    <p:extLst>
      <p:ext uri="{BB962C8B-B14F-4D97-AF65-F5344CB8AC3E}">
        <p14:creationId xmlns:p14="http://schemas.microsoft.com/office/powerpoint/2010/main" val="3438165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4CF04-37F8-59A5-D891-341292A57549}"/>
              </a:ext>
            </a:extLst>
          </p:cNvPr>
          <p:cNvSpPr>
            <a:spLocks noGrp="1"/>
          </p:cNvSpPr>
          <p:nvPr>
            <p:ph type="title"/>
          </p:nvPr>
        </p:nvSpPr>
        <p:spPr/>
        <p:txBody>
          <a:bodyPr/>
          <a:lstStyle/>
          <a:p>
            <a:r>
              <a:rPr lang="en-GB" dirty="0"/>
              <a:t>A visual example for the need of “direction”</a:t>
            </a:r>
            <a:endParaRPr lang="en-SG" dirty="0"/>
          </a:p>
        </p:txBody>
      </p:sp>
      <p:sp>
        <p:nvSpPr>
          <p:cNvPr id="3" name="Content Placeholder 2">
            <a:extLst>
              <a:ext uri="{FF2B5EF4-FFF2-40B4-BE49-F238E27FC236}">
                <a16:creationId xmlns:a16="http://schemas.microsoft.com/office/drawing/2014/main" id="{4E2EC6DC-296C-84BC-FE39-DB6DC6B7379B}"/>
              </a:ext>
            </a:extLst>
          </p:cNvPr>
          <p:cNvSpPr>
            <a:spLocks noGrp="1"/>
          </p:cNvSpPr>
          <p:nvPr>
            <p:ph sz="half" idx="1"/>
          </p:nvPr>
        </p:nvSpPr>
        <p:spPr>
          <a:xfrm>
            <a:off x="838199" y="1825624"/>
            <a:ext cx="5625123" cy="5032375"/>
          </a:xfrm>
        </p:spPr>
        <p:txBody>
          <a:bodyPr>
            <a:normAutofit lnSpcReduction="10000"/>
          </a:bodyPr>
          <a:lstStyle/>
          <a:p>
            <a:pPr marL="0" indent="0">
              <a:buNone/>
            </a:pPr>
            <a:r>
              <a:rPr lang="en-GB" b="1" dirty="0"/>
              <a:t>Definition (</a:t>
            </a:r>
            <a:r>
              <a:rPr lang="en-GB" b="1" dirty="0">
                <a:solidFill>
                  <a:srgbClr val="00B050"/>
                </a:solidFill>
              </a:rPr>
              <a:t>history</a:t>
            </a:r>
            <a:r>
              <a:rPr lang="en-GB" b="1" dirty="0"/>
              <a:t>):</a:t>
            </a:r>
          </a:p>
          <a:p>
            <a:pPr marL="0" indent="0">
              <a:buNone/>
            </a:pPr>
            <a:r>
              <a:rPr lang="en-GB" b="1" dirty="0">
                <a:solidFill>
                  <a:srgbClr val="00B050"/>
                </a:solidFill>
              </a:rPr>
              <a:t>History</a:t>
            </a:r>
            <a:r>
              <a:rPr lang="en-GB" dirty="0"/>
              <a:t> refers to the </a:t>
            </a:r>
            <a:r>
              <a:rPr lang="en-GB" b="1" dirty="0"/>
              <a:t>past observations or values of the time series up to a certain point in time</a:t>
            </a:r>
            <a:r>
              <a:rPr lang="en-GB" dirty="0"/>
              <a:t>.</a:t>
            </a:r>
          </a:p>
          <a:p>
            <a:pPr marL="0" indent="0">
              <a:buNone/>
            </a:pPr>
            <a:r>
              <a:rPr lang="en-GB" dirty="0"/>
              <a:t>It provides information about the patterns and trends of the data over time, which can be used to make predictions and identify important factors that influence the time series.</a:t>
            </a:r>
          </a:p>
          <a:p>
            <a:pPr marL="0" indent="0">
              <a:buNone/>
            </a:pPr>
            <a:r>
              <a:rPr lang="en-GB" dirty="0"/>
              <a:t>E.g., predicting a stock price, requires to know the history of the stock prices to understand its behaviour.</a:t>
            </a:r>
          </a:p>
          <a:p>
            <a:pPr marL="0" indent="0">
              <a:buNone/>
            </a:pPr>
            <a:endParaRPr lang="en-SG" dirty="0"/>
          </a:p>
        </p:txBody>
      </p:sp>
      <p:pic>
        <p:nvPicPr>
          <p:cNvPr id="10" name="Picture 9">
            <a:extLst>
              <a:ext uri="{FF2B5EF4-FFF2-40B4-BE49-F238E27FC236}">
                <a16:creationId xmlns:a16="http://schemas.microsoft.com/office/drawing/2014/main" id="{7451DDE0-AAF3-330D-A8B5-94DCD7217016}"/>
              </a:ext>
            </a:extLst>
          </p:cNvPr>
          <p:cNvPicPr>
            <a:picLocks noChangeAspect="1"/>
          </p:cNvPicPr>
          <p:nvPr/>
        </p:nvPicPr>
        <p:blipFill>
          <a:blip r:embed="rId2"/>
          <a:stretch>
            <a:fillRect/>
          </a:stretch>
        </p:blipFill>
        <p:spPr>
          <a:xfrm>
            <a:off x="6675399" y="2454031"/>
            <a:ext cx="5436999" cy="3501292"/>
          </a:xfrm>
          <a:prstGeom prst="rect">
            <a:avLst/>
          </a:prstGeom>
        </p:spPr>
      </p:pic>
    </p:spTree>
    <p:extLst>
      <p:ext uri="{BB962C8B-B14F-4D97-AF65-F5344CB8AC3E}">
        <p14:creationId xmlns:p14="http://schemas.microsoft.com/office/powerpoint/2010/main" val="1870305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4CF04-37F8-59A5-D891-341292A57549}"/>
              </a:ext>
            </a:extLst>
          </p:cNvPr>
          <p:cNvSpPr>
            <a:spLocks noGrp="1"/>
          </p:cNvSpPr>
          <p:nvPr>
            <p:ph type="title"/>
          </p:nvPr>
        </p:nvSpPr>
        <p:spPr/>
        <p:txBody>
          <a:bodyPr/>
          <a:lstStyle/>
          <a:p>
            <a:r>
              <a:rPr lang="en-GB" dirty="0"/>
              <a:t>A visual example for the need of “direction”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2EC6DC-296C-84BC-FE39-DB6DC6B7379B}"/>
                  </a:ext>
                </a:extLst>
              </p:cNvPr>
              <p:cNvSpPr>
                <a:spLocks noGrp="1"/>
              </p:cNvSpPr>
              <p:nvPr>
                <p:ph sz="half" idx="1"/>
              </p:nvPr>
            </p:nvSpPr>
            <p:spPr>
              <a:xfrm>
                <a:off x="838200" y="1825624"/>
                <a:ext cx="5181600" cy="5032375"/>
              </a:xfrm>
            </p:spPr>
            <p:txBody>
              <a:bodyPr>
                <a:normAutofit/>
              </a:bodyPr>
              <a:lstStyle/>
              <a:p>
                <a:pPr marL="0" indent="0">
                  <a:buNone/>
                </a:pPr>
                <a:r>
                  <a:rPr lang="en-GB" sz="2800" b="1" dirty="0"/>
                  <a:t>As a consequence: </a:t>
                </a:r>
                <a:r>
                  <a:rPr lang="en-GB" sz="2800" dirty="0"/>
                  <a:t>when predicting </a:t>
                </a:r>
                <a14:m>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𝑡</m:t>
                        </m:r>
                        <m:r>
                          <a:rPr lang="en-GB" sz="2800" b="0" i="1" smtClean="0">
                            <a:latin typeface="Cambria Math" panose="02040503050406030204" pitchFamily="18" charset="0"/>
                          </a:rPr>
                          <m:t>+1</m:t>
                        </m:r>
                      </m:sub>
                    </m:sSub>
                  </m:oMath>
                </a14:m>
                <a:r>
                  <a:rPr lang="en-GB" sz="2800" dirty="0"/>
                  <a:t>, what plays the role of inputs should be a subset of </a:t>
                </a:r>
                <a14:m>
                  <m:oMath xmlns:m="http://schemas.openxmlformats.org/officeDocument/2006/math">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1</m:t>
                            </m:r>
                          </m:sub>
                        </m:sSub>
                        <m:r>
                          <a:rPr lang="en-GB" sz="2800" b="0" i="1" smtClean="0">
                            <a:latin typeface="Cambria Math" panose="02040503050406030204" pitchFamily="18" charset="0"/>
                          </a:rPr>
                          <m:t>, </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2</m:t>
                            </m:r>
                          </m:sub>
                        </m:sSub>
                        <m:r>
                          <a:rPr lang="en-GB" sz="2800" b="0" i="1" smtClean="0">
                            <a:latin typeface="Cambria Math" panose="02040503050406030204" pitchFamily="18" charset="0"/>
                          </a:rPr>
                          <m:t>, …, </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𝑡</m:t>
                            </m:r>
                          </m:sub>
                        </m:sSub>
                      </m:e>
                    </m:d>
                  </m:oMath>
                </a14:m>
                <a:r>
                  <a:rPr lang="en-SG" sz="2800" dirty="0"/>
                  <a:t>, consisting of all the observations from the beginning until the present time </a:t>
                </a:r>
                <a14:m>
                  <m:oMath xmlns:m="http://schemas.openxmlformats.org/officeDocument/2006/math">
                    <m:r>
                      <a:rPr lang="en-SG" sz="2800" i="1" dirty="0" smtClean="0">
                        <a:latin typeface="Cambria Math" panose="02040503050406030204" pitchFamily="18" charset="0"/>
                      </a:rPr>
                      <m:t>𝑡</m:t>
                    </m:r>
                  </m:oMath>
                </a14:m>
                <a:r>
                  <a:rPr lang="en-SG" sz="2800" dirty="0"/>
                  <a:t>.</a:t>
                </a:r>
              </a:p>
              <a:p>
                <a:pPr marL="0" indent="0">
                  <a:buNone/>
                </a:pPr>
                <a:endParaRPr lang="en-SG" dirty="0"/>
              </a:p>
              <a:p>
                <a:pPr marL="0" indent="0">
                  <a:buNone/>
                </a:pPr>
                <a:r>
                  <a:rPr lang="en-SG" sz="2800" b="1" dirty="0"/>
                  <a:t>For instance, could we predict the next position of the ball knowing only the last two frames, i.e. the last two positions of the ball?</a:t>
                </a:r>
              </a:p>
            </p:txBody>
          </p:sp>
        </mc:Choice>
        <mc:Fallback xmlns="">
          <p:sp>
            <p:nvSpPr>
              <p:cNvPr id="3" name="Content Placeholder 2">
                <a:extLst>
                  <a:ext uri="{FF2B5EF4-FFF2-40B4-BE49-F238E27FC236}">
                    <a16:creationId xmlns:a16="http://schemas.microsoft.com/office/drawing/2014/main" id="{4E2EC6DC-296C-84BC-FE39-DB6DC6B7379B}"/>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765"/>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49AD4472-5573-CFF1-EE35-D4FAE1EB60D0}"/>
              </a:ext>
            </a:extLst>
          </p:cNvPr>
          <p:cNvPicPr>
            <a:picLocks noChangeAspect="1"/>
          </p:cNvPicPr>
          <p:nvPr/>
        </p:nvPicPr>
        <p:blipFill>
          <a:blip r:embed="rId3"/>
          <a:stretch>
            <a:fillRect/>
          </a:stretch>
        </p:blipFill>
        <p:spPr>
          <a:xfrm>
            <a:off x="6675399" y="2454031"/>
            <a:ext cx="5436999" cy="3501292"/>
          </a:xfrm>
          <a:prstGeom prst="rect">
            <a:avLst/>
          </a:prstGeom>
        </p:spPr>
      </p:pic>
    </p:spTree>
    <p:extLst>
      <p:ext uri="{BB962C8B-B14F-4D97-AF65-F5344CB8AC3E}">
        <p14:creationId xmlns:p14="http://schemas.microsoft.com/office/powerpoint/2010/main" val="1413966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D6207-4F19-3F96-7313-BD1C134EFE2E}"/>
              </a:ext>
            </a:extLst>
          </p:cNvPr>
          <p:cNvSpPr>
            <a:spLocks noGrp="1"/>
          </p:cNvSpPr>
          <p:nvPr>
            <p:ph type="title"/>
          </p:nvPr>
        </p:nvSpPr>
        <p:spPr/>
        <p:txBody>
          <a:bodyPr/>
          <a:lstStyle/>
          <a:p>
            <a:r>
              <a:rPr lang="en-GB" dirty="0"/>
              <a:t>Lookback size</a:t>
            </a:r>
            <a:endParaRPr lang="en-SG" dirty="0"/>
          </a:p>
        </p:txBody>
      </p:sp>
      <p:sp>
        <p:nvSpPr>
          <p:cNvPr id="3" name="Content Placeholder 2">
            <a:extLst>
              <a:ext uri="{FF2B5EF4-FFF2-40B4-BE49-F238E27FC236}">
                <a16:creationId xmlns:a16="http://schemas.microsoft.com/office/drawing/2014/main" id="{AB518D65-2307-AF01-524E-D9D2045AA0A1}"/>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lookback</a:t>
            </a:r>
            <a:r>
              <a:rPr lang="en-GB" b="1" dirty="0"/>
              <a:t> size):</a:t>
            </a:r>
          </a:p>
          <a:p>
            <a:pPr marL="0" indent="0">
              <a:buNone/>
            </a:pPr>
            <a:r>
              <a:rPr lang="en-GB" dirty="0"/>
              <a:t>The </a:t>
            </a:r>
            <a:r>
              <a:rPr lang="en-GB" b="1" dirty="0"/>
              <a:t>number of past observations or values of a time series that are used to make a prediction </a:t>
            </a:r>
            <a:r>
              <a:rPr lang="en-GB" dirty="0"/>
              <a:t>is commonly referred to as the "</a:t>
            </a:r>
            <a:r>
              <a:rPr lang="en-GB" b="1" dirty="0">
                <a:solidFill>
                  <a:srgbClr val="00B050"/>
                </a:solidFill>
              </a:rPr>
              <a:t>lookback</a:t>
            </a:r>
            <a:r>
              <a:rPr lang="en-GB" dirty="0"/>
              <a:t>" or "</a:t>
            </a:r>
            <a:r>
              <a:rPr lang="en-GB" b="1" dirty="0">
                <a:solidFill>
                  <a:srgbClr val="00B050"/>
                </a:solidFill>
              </a:rPr>
              <a:t>window</a:t>
            </a:r>
            <a:r>
              <a:rPr lang="en-GB" dirty="0"/>
              <a:t>" </a:t>
            </a:r>
            <a:r>
              <a:rPr lang="en-GB" b="1" dirty="0"/>
              <a:t>size</a:t>
            </a:r>
            <a:r>
              <a:rPr lang="en-GB" dirty="0"/>
              <a:t>.</a:t>
            </a:r>
          </a:p>
          <a:p>
            <a:pPr marL="0" indent="0">
              <a:buNone/>
            </a:pPr>
            <a:r>
              <a:rPr lang="en-GB" dirty="0"/>
              <a:t>It is the length of the history that is used to inform the prediction of the next value in the time series.</a:t>
            </a:r>
          </a:p>
          <a:p>
            <a:pPr marL="0" indent="0">
              <a:buNone/>
            </a:pPr>
            <a:r>
              <a:rPr lang="en-GB" dirty="0"/>
              <a:t>In our example, the lookback size is simply 2.</a:t>
            </a:r>
          </a:p>
          <a:p>
            <a:pPr marL="0" indent="0">
              <a:buNone/>
            </a:pPr>
            <a:endParaRPr lang="en-SG" dirty="0"/>
          </a:p>
        </p:txBody>
      </p:sp>
      <p:pic>
        <p:nvPicPr>
          <p:cNvPr id="8" name="Picture 7">
            <a:extLst>
              <a:ext uri="{FF2B5EF4-FFF2-40B4-BE49-F238E27FC236}">
                <a16:creationId xmlns:a16="http://schemas.microsoft.com/office/drawing/2014/main" id="{E6F1A226-E903-0EFC-4ABA-2E0CF1D6A25F}"/>
              </a:ext>
            </a:extLst>
          </p:cNvPr>
          <p:cNvPicPr>
            <a:picLocks noChangeAspect="1"/>
          </p:cNvPicPr>
          <p:nvPr/>
        </p:nvPicPr>
        <p:blipFill>
          <a:blip r:embed="rId2"/>
          <a:stretch>
            <a:fillRect/>
          </a:stretch>
        </p:blipFill>
        <p:spPr>
          <a:xfrm>
            <a:off x="6355783" y="1989329"/>
            <a:ext cx="5820587" cy="4239217"/>
          </a:xfrm>
          <a:prstGeom prst="rect">
            <a:avLst/>
          </a:prstGeom>
        </p:spPr>
      </p:pic>
    </p:spTree>
    <p:extLst>
      <p:ext uri="{BB962C8B-B14F-4D97-AF65-F5344CB8AC3E}">
        <p14:creationId xmlns:p14="http://schemas.microsoft.com/office/powerpoint/2010/main" val="4048808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D6207-4F19-3F96-7313-BD1C134EFE2E}"/>
              </a:ext>
            </a:extLst>
          </p:cNvPr>
          <p:cNvSpPr>
            <a:spLocks noGrp="1"/>
          </p:cNvSpPr>
          <p:nvPr>
            <p:ph type="title"/>
          </p:nvPr>
        </p:nvSpPr>
        <p:spPr/>
        <p:txBody>
          <a:bodyPr/>
          <a:lstStyle/>
          <a:p>
            <a:r>
              <a:rPr lang="en-GB" dirty="0"/>
              <a:t>Using a simple DNN to predict</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518D65-2307-AF01-524E-D9D2045AA0A1}"/>
                  </a:ext>
                </a:extLst>
              </p:cNvPr>
              <p:cNvSpPr>
                <a:spLocks noGrp="1"/>
              </p:cNvSpPr>
              <p:nvPr>
                <p:ph sz="half" idx="1"/>
              </p:nvPr>
            </p:nvSpPr>
            <p:spPr/>
            <p:txBody>
              <a:bodyPr/>
              <a:lstStyle/>
              <a:p>
                <a:pPr marL="0" indent="0">
                  <a:buNone/>
                </a:pPr>
                <a:r>
                  <a:rPr lang="en-GB" dirty="0"/>
                  <a:t>Let us rewrite our previous DNN model, with some changes:</a:t>
                </a:r>
              </a:p>
              <a:p>
                <a:r>
                  <a:rPr lang="en-GB" dirty="0"/>
                  <a:t>3 Linear Layers + </a:t>
                </a:r>
                <a:r>
                  <a:rPr lang="en-GB" dirty="0" err="1"/>
                  <a:t>ReLU</a:t>
                </a:r>
                <a:r>
                  <a:rPr lang="en-GB" dirty="0"/>
                  <a:t>,</a:t>
                </a:r>
              </a:p>
              <a:p>
                <a:r>
                  <a:rPr lang="en-GB" dirty="0"/>
                  <a:t>No </a:t>
                </a:r>
                <a:r>
                  <a:rPr lang="en-GB" dirty="0" err="1"/>
                  <a:t>ReLU</a:t>
                </a:r>
                <a:r>
                  <a:rPr lang="en-GB" dirty="0"/>
                  <a:t> on final layer,</a:t>
                </a:r>
              </a:p>
              <a:p>
                <a:r>
                  <a:rPr lang="en-GB" b="1" dirty="0">
                    <a:solidFill>
                      <a:srgbClr val="7030A0"/>
                    </a:solidFill>
                  </a:rPr>
                  <a:t>Number of inputs =</a:t>
                </a:r>
                <a:r>
                  <a:rPr lang="en-GB" b="1" dirty="0"/>
                  <a:t> </a:t>
                </a:r>
                <a:r>
                  <a:rPr lang="en-GB" b="1" dirty="0">
                    <a:solidFill>
                      <a:srgbClr val="7030A0"/>
                    </a:solidFill>
                  </a:rPr>
                  <a:t>2,</a:t>
                </a:r>
                <a:r>
                  <a:rPr lang="en-GB" b="1" dirty="0"/>
                  <a:t> </a:t>
                </a:r>
                <a:r>
                  <a:rPr lang="en-GB" b="1" dirty="0">
                    <a:solidFill>
                      <a:srgbClr val="7030A0"/>
                    </a:solidFill>
                  </a:rPr>
                  <a:t>being </a:t>
                </a:r>
                <a14:m>
                  <m:oMath xmlns:m="http://schemas.openxmlformats.org/officeDocument/2006/math">
                    <m:r>
                      <a:rPr lang="en-GB" b="1" i="1" smtClean="0">
                        <a:solidFill>
                          <a:srgbClr val="7030A0"/>
                        </a:solidFill>
                        <a:latin typeface="Cambria Math" panose="02040503050406030204" pitchFamily="18" charset="0"/>
                      </a:rPr>
                      <m:t>(</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𝒙</m:t>
                        </m:r>
                      </m:e>
                      <m:sub>
                        <m:r>
                          <a:rPr lang="en-GB" b="1" i="1" smtClean="0">
                            <a:solidFill>
                              <a:srgbClr val="7030A0"/>
                            </a:solidFill>
                            <a:latin typeface="Cambria Math" panose="02040503050406030204" pitchFamily="18" charset="0"/>
                          </a:rPr>
                          <m:t>𝒕</m:t>
                        </m:r>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𝟏</m:t>
                        </m:r>
                      </m:sub>
                    </m:sSub>
                    <m:r>
                      <a:rPr lang="en-GB" b="1" i="1" smtClean="0">
                        <a:solidFill>
                          <a:srgbClr val="7030A0"/>
                        </a:solidFill>
                        <a:latin typeface="Cambria Math" panose="02040503050406030204" pitchFamily="18" charset="0"/>
                      </a:rPr>
                      <m:t>, </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𝒙</m:t>
                        </m:r>
                      </m:e>
                      <m:sub>
                        <m:r>
                          <a:rPr lang="en-GB" b="1" i="1" smtClean="0">
                            <a:solidFill>
                              <a:srgbClr val="7030A0"/>
                            </a:solidFill>
                            <a:latin typeface="Cambria Math" panose="02040503050406030204" pitchFamily="18" charset="0"/>
                          </a:rPr>
                          <m:t>𝒕</m:t>
                        </m:r>
                      </m:sub>
                    </m:sSub>
                    <m:r>
                      <a:rPr lang="en-GB" b="1" i="1" smtClean="0">
                        <a:solidFill>
                          <a:srgbClr val="7030A0"/>
                        </a:solidFill>
                        <a:latin typeface="Cambria Math" panose="02040503050406030204" pitchFamily="18" charset="0"/>
                      </a:rPr>
                      <m:t>)</m:t>
                    </m:r>
                  </m:oMath>
                </a14:m>
                <a:r>
                  <a:rPr lang="en-GB" b="1" dirty="0">
                    <a:solidFill>
                      <a:srgbClr val="7030A0"/>
                    </a:solidFill>
                  </a:rPr>
                  <a:t> this time,</a:t>
                </a:r>
              </a:p>
              <a:p>
                <a:r>
                  <a:rPr lang="en-GB" dirty="0"/>
                  <a:t>Number of outputs = 1, </a:t>
                </a:r>
                <a14:m>
                  <m:oMath xmlns:m="http://schemas.openxmlformats.org/officeDocument/2006/math">
                    <m:sSub>
                      <m:sSubPr>
                        <m:ctrlPr>
                          <a:rPr lang="en-GB" b="1" i="1" smtClean="0">
                            <a:solidFill>
                              <a:schemeClr val="tx1"/>
                            </a:solidFill>
                            <a:latin typeface="Cambria Math" panose="02040503050406030204" pitchFamily="18" charset="0"/>
                          </a:rPr>
                        </m:ctrlPr>
                      </m:sSubPr>
                      <m:e>
                        <m:r>
                          <a:rPr lang="en-GB" b="1" i="1" smtClean="0">
                            <a:solidFill>
                              <a:schemeClr val="tx1"/>
                            </a:solidFill>
                            <a:latin typeface="Cambria Math" panose="02040503050406030204" pitchFamily="18" charset="0"/>
                          </a:rPr>
                          <m:t>𝒙</m:t>
                        </m:r>
                      </m:e>
                      <m:sub>
                        <m:r>
                          <a:rPr lang="en-GB" b="1" i="1" smtClean="0">
                            <a:solidFill>
                              <a:schemeClr val="tx1"/>
                            </a:solidFill>
                            <a:latin typeface="Cambria Math" panose="02040503050406030204" pitchFamily="18" charset="0"/>
                          </a:rPr>
                          <m:t>𝒕</m:t>
                        </m:r>
                        <m:r>
                          <a:rPr lang="en-GB" b="1" i="1" smtClean="0">
                            <a:solidFill>
                              <a:schemeClr val="tx1"/>
                            </a:solidFill>
                            <a:latin typeface="Cambria Math" panose="02040503050406030204" pitchFamily="18" charset="0"/>
                          </a:rPr>
                          <m:t>+</m:t>
                        </m:r>
                        <m:r>
                          <a:rPr lang="en-GB" b="1" i="1" smtClean="0">
                            <a:solidFill>
                              <a:schemeClr val="tx1"/>
                            </a:solidFill>
                            <a:latin typeface="Cambria Math" panose="02040503050406030204" pitchFamily="18" charset="0"/>
                          </a:rPr>
                          <m:t>𝟏</m:t>
                        </m:r>
                      </m:sub>
                    </m:sSub>
                  </m:oMath>
                </a14:m>
                <a:r>
                  <a:rPr lang="en-GB" dirty="0"/>
                  <a:t>,</a:t>
                </a:r>
              </a:p>
              <a:p>
                <a:r>
                  <a:rPr lang="en-GB" dirty="0"/>
                  <a:t>Hidden layers sizes: 32 and 8.</a:t>
                </a:r>
                <a:endParaRPr lang="en-SG"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AB518D65-2307-AF01-524E-D9D2045AA0A1}"/>
                  </a:ext>
                </a:extLst>
              </p:cNvPr>
              <p:cNvSpPr>
                <a:spLocks noGrp="1" noRot="1" noChangeAspect="1" noMove="1" noResize="1" noEditPoints="1" noAdjustHandles="1" noChangeArrowheads="1" noChangeShapeType="1" noTextEdit="1"/>
              </p:cNvSpPr>
              <p:nvPr>
                <p:ph sz="half" idx="1"/>
              </p:nvPr>
            </p:nvSpPr>
            <p:spPr>
              <a:blipFill>
                <a:blip r:embed="rId2"/>
                <a:stretch>
                  <a:fillRect l="-2471" t="-2241"/>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3C38EE99-9997-EC4D-6407-E95240AA3E61}"/>
              </a:ext>
            </a:extLst>
          </p:cNvPr>
          <p:cNvPicPr>
            <a:picLocks noChangeAspect="1"/>
          </p:cNvPicPr>
          <p:nvPr/>
        </p:nvPicPr>
        <p:blipFill>
          <a:blip r:embed="rId3"/>
          <a:stretch>
            <a:fillRect/>
          </a:stretch>
        </p:blipFill>
        <p:spPr>
          <a:xfrm>
            <a:off x="5896311" y="1825625"/>
            <a:ext cx="6295689" cy="4530461"/>
          </a:xfrm>
          <a:prstGeom prst="rect">
            <a:avLst/>
          </a:prstGeom>
        </p:spPr>
      </p:pic>
    </p:spTree>
    <p:extLst>
      <p:ext uri="{BB962C8B-B14F-4D97-AF65-F5344CB8AC3E}">
        <p14:creationId xmlns:p14="http://schemas.microsoft.com/office/powerpoint/2010/main" val="2506346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D6207-4F19-3F96-7313-BD1C134EFE2E}"/>
              </a:ext>
            </a:extLst>
          </p:cNvPr>
          <p:cNvSpPr>
            <a:spLocks noGrp="1"/>
          </p:cNvSpPr>
          <p:nvPr>
            <p:ph type="title"/>
          </p:nvPr>
        </p:nvSpPr>
        <p:spPr/>
        <p:txBody>
          <a:bodyPr/>
          <a:lstStyle/>
          <a:p>
            <a:r>
              <a:rPr lang="en-GB" dirty="0"/>
              <a:t>Reworking the Dataset to include history</a:t>
            </a:r>
            <a:endParaRPr lang="en-SG" dirty="0"/>
          </a:p>
        </p:txBody>
      </p:sp>
      <p:pic>
        <p:nvPicPr>
          <p:cNvPr id="7" name="Picture 6">
            <a:extLst>
              <a:ext uri="{FF2B5EF4-FFF2-40B4-BE49-F238E27FC236}">
                <a16:creationId xmlns:a16="http://schemas.microsoft.com/office/drawing/2014/main" id="{1C4103AD-8E3B-E0FC-1FB6-E4CDBAD3EC2B}"/>
              </a:ext>
            </a:extLst>
          </p:cNvPr>
          <p:cNvPicPr>
            <a:picLocks noChangeAspect="1"/>
          </p:cNvPicPr>
          <p:nvPr/>
        </p:nvPicPr>
        <p:blipFill>
          <a:blip r:embed="rId2"/>
          <a:stretch>
            <a:fillRect/>
          </a:stretch>
        </p:blipFill>
        <p:spPr>
          <a:xfrm>
            <a:off x="490868" y="1491311"/>
            <a:ext cx="7662079" cy="5366689"/>
          </a:xfrm>
          <a:prstGeom prst="rect">
            <a:avLst/>
          </a:prstGeom>
        </p:spPr>
      </p:pic>
      <p:pic>
        <p:nvPicPr>
          <p:cNvPr id="8" name="Picture 7">
            <a:extLst>
              <a:ext uri="{FF2B5EF4-FFF2-40B4-BE49-F238E27FC236}">
                <a16:creationId xmlns:a16="http://schemas.microsoft.com/office/drawing/2014/main" id="{EDE5744A-E535-3ECF-6D99-A0009F827CBD}"/>
              </a:ext>
            </a:extLst>
          </p:cNvPr>
          <p:cNvPicPr>
            <a:picLocks noChangeAspect="1"/>
          </p:cNvPicPr>
          <p:nvPr/>
        </p:nvPicPr>
        <p:blipFill>
          <a:blip r:embed="rId3"/>
          <a:stretch>
            <a:fillRect/>
          </a:stretch>
        </p:blipFill>
        <p:spPr>
          <a:xfrm>
            <a:off x="7268308" y="3429000"/>
            <a:ext cx="4548554" cy="3312777"/>
          </a:xfrm>
          <a:prstGeom prst="rect">
            <a:avLst/>
          </a:prstGeom>
        </p:spPr>
      </p:pic>
    </p:spTree>
    <p:extLst>
      <p:ext uri="{BB962C8B-B14F-4D97-AF65-F5344CB8AC3E}">
        <p14:creationId xmlns:p14="http://schemas.microsoft.com/office/powerpoint/2010/main" val="1835834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D6207-4F19-3F96-7313-BD1C134EFE2E}"/>
              </a:ext>
            </a:extLst>
          </p:cNvPr>
          <p:cNvSpPr>
            <a:spLocks noGrp="1"/>
          </p:cNvSpPr>
          <p:nvPr>
            <p:ph type="title"/>
          </p:nvPr>
        </p:nvSpPr>
        <p:spPr/>
        <p:txBody>
          <a:bodyPr/>
          <a:lstStyle/>
          <a:p>
            <a:r>
              <a:rPr lang="en-GB" dirty="0"/>
              <a:t>Using a simple DNN</a:t>
            </a:r>
            <a:br>
              <a:rPr lang="en-GB" dirty="0"/>
            </a:br>
            <a:r>
              <a:rPr lang="en-GB" dirty="0"/>
              <a:t>to predict</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518D65-2307-AF01-524E-D9D2045AA0A1}"/>
                  </a:ext>
                </a:extLst>
              </p:cNvPr>
              <p:cNvSpPr>
                <a:spLocks noGrp="1"/>
              </p:cNvSpPr>
              <p:nvPr>
                <p:ph sz="half" idx="1"/>
              </p:nvPr>
            </p:nvSpPr>
            <p:spPr>
              <a:xfrm>
                <a:off x="838200" y="1825624"/>
                <a:ext cx="5181600" cy="5032375"/>
              </a:xfrm>
            </p:spPr>
            <p:txBody>
              <a:bodyPr>
                <a:normAutofit/>
              </a:bodyPr>
              <a:lstStyle/>
              <a:p>
                <a:pPr marL="0" indent="0">
                  <a:buNone/>
                </a:pPr>
                <a:r>
                  <a:rPr lang="en-GB" dirty="0"/>
                  <a:t>Almost as before:</a:t>
                </a:r>
              </a:p>
              <a:p>
                <a:r>
                  <a:rPr lang="en-GB" dirty="0"/>
                  <a:t>3 Linear Layers + </a:t>
                </a:r>
                <a:r>
                  <a:rPr lang="en-GB" dirty="0" err="1"/>
                  <a:t>ReLU</a:t>
                </a:r>
                <a:r>
                  <a:rPr lang="en-GB" dirty="0"/>
                  <a:t>,</a:t>
                </a:r>
              </a:p>
              <a:p>
                <a:r>
                  <a:rPr lang="en-GB" dirty="0"/>
                  <a:t>No </a:t>
                </a:r>
                <a:r>
                  <a:rPr lang="en-GB" dirty="0" err="1"/>
                  <a:t>ReLU</a:t>
                </a:r>
                <a:r>
                  <a:rPr lang="en-GB" dirty="0"/>
                  <a:t> on final layer,</a:t>
                </a:r>
              </a:p>
              <a:p>
                <a:r>
                  <a:rPr lang="en-GB" b="1" dirty="0">
                    <a:solidFill>
                      <a:srgbClr val="7030A0"/>
                    </a:solidFill>
                  </a:rPr>
                  <a:t>Number of inputs =</a:t>
                </a:r>
                <a:r>
                  <a:rPr lang="en-GB" b="1" dirty="0"/>
                  <a:t> </a:t>
                </a:r>
                <a:r>
                  <a:rPr lang="en-GB" b="1" dirty="0">
                    <a:solidFill>
                      <a:srgbClr val="7030A0"/>
                    </a:solidFill>
                  </a:rPr>
                  <a:t>2,</a:t>
                </a:r>
                <a:r>
                  <a:rPr lang="en-GB" b="1" dirty="0"/>
                  <a:t> </a:t>
                </a:r>
                <a:r>
                  <a:rPr lang="en-GB" b="1" dirty="0">
                    <a:solidFill>
                      <a:srgbClr val="7030A0"/>
                    </a:solidFill>
                  </a:rPr>
                  <a:t>being </a:t>
                </a:r>
                <a14:m>
                  <m:oMath xmlns:m="http://schemas.openxmlformats.org/officeDocument/2006/math">
                    <m:r>
                      <a:rPr lang="en-GB" b="1" i="1" smtClean="0">
                        <a:solidFill>
                          <a:srgbClr val="7030A0"/>
                        </a:solidFill>
                        <a:latin typeface="Cambria Math" panose="02040503050406030204" pitchFamily="18" charset="0"/>
                      </a:rPr>
                      <m:t>(</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𝒙</m:t>
                        </m:r>
                      </m:e>
                      <m:sub>
                        <m:r>
                          <a:rPr lang="en-GB" b="1" i="1" smtClean="0">
                            <a:solidFill>
                              <a:srgbClr val="7030A0"/>
                            </a:solidFill>
                            <a:latin typeface="Cambria Math" panose="02040503050406030204" pitchFamily="18" charset="0"/>
                          </a:rPr>
                          <m:t>𝒕</m:t>
                        </m:r>
                        <m:r>
                          <a:rPr lang="en-GB" b="1" i="1" smtClean="0">
                            <a:solidFill>
                              <a:srgbClr val="7030A0"/>
                            </a:solidFill>
                            <a:latin typeface="Cambria Math" panose="02040503050406030204" pitchFamily="18" charset="0"/>
                          </a:rPr>
                          <m:t>−</m:t>
                        </m:r>
                        <m:r>
                          <a:rPr lang="en-GB" b="1" i="1" smtClean="0">
                            <a:solidFill>
                              <a:srgbClr val="7030A0"/>
                            </a:solidFill>
                            <a:latin typeface="Cambria Math" panose="02040503050406030204" pitchFamily="18" charset="0"/>
                          </a:rPr>
                          <m:t>𝟏</m:t>
                        </m:r>
                      </m:sub>
                    </m:sSub>
                    <m:r>
                      <a:rPr lang="en-GB" b="1" i="1" smtClean="0">
                        <a:solidFill>
                          <a:srgbClr val="7030A0"/>
                        </a:solidFill>
                        <a:latin typeface="Cambria Math" panose="02040503050406030204" pitchFamily="18" charset="0"/>
                      </a:rPr>
                      <m:t>, </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𝒙</m:t>
                        </m:r>
                      </m:e>
                      <m:sub>
                        <m:r>
                          <a:rPr lang="en-GB" b="1" i="1" smtClean="0">
                            <a:solidFill>
                              <a:srgbClr val="7030A0"/>
                            </a:solidFill>
                            <a:latin typeface="Cambria Math" panose="02040503050406030204" pitchFamily="18" charset="0"/>
                          </a:rPr>
                          <m:t>𝒕</m:t>
                        </m:r>
                      </m:sub>
                    </m:sSub>
                    <m:r>
                      <a:rPr lang="en-GB" b="1" i="1" smtClean="0">
                        <a:solidFill>
                          <a:srgbClr val="7030A0"/>
                        </a:solidFill>
                        <a:latin typeface="Cambria Math" panose="02040503050406030204" pitchFamily="18" charset="0"/>
                      </a:rPr>
                      <m:t>)</m:t>
                    </m:r>
                  </m:oMath>
                </a14:m>
                <a:r>
                  <a:rPr lang="en-GB" b="1" dirty="0">
                    <a:solidFill>
                      <a:srgbClr val="7030A0"/>
                    </a:solidFill>
                  </a:rPr>
                  <a:t> this time,</a:t>
                </a:r>
              </a:p>
              <a:p>
                <a:r>
                  <a:rPr lang="en-GB" dirty="0"/>
                  <a:t>Number of outputs = 1, </a:t>
                </a:r>
                <a14:m>
                  <m:oMath xmlns:m="http://schemas.openxmlformats.org/officeDocument/2006/math">
                    <m:sSub>
                      <m:sSubPr>
                        <m:ctrlPr>
                          <a:rPr lang="en-GB" b="1" i="1" smtClean="0">
                            <a:solidFill>
                              <a:schemeClr val="tx1"/>
                            </a:solidFill>
                            <a:latin typeface="Cambria Math" panose="02040503050406030204" pitchFamily="18" charset="0"/>
                          </a:rPr>
                        </m:ctrlPr>
                      </m:sSubPr>
                      <m:e>
                        <m:r>
                          <a:rPr lang="en-GB" b="1" i="1" smtClean="0">
                            <a:solidFill>
                              <a:schemeClr val="tx1"/>
                            </a:solidFill>
                            <a:latin typeface="Cambria Math" panose="02040503050406030204" pitchFamily="18" charset="0"/>
                          </a:rPr>
                          <m:t>𝒙</m:t>
                        </m:r>
                      </m:e>
                      <m:sub>
                        <m:r>
                          <a:rPr lang="en-GB" b="1" i="1" smtClean="0">
                            <a:solidFill>
                              <a:schemeClr val="tx1"/>
                            </a:solidFill>
                            <a:latin typeface="Cambria Math" panose="02040503050406030204" pitchFamily="18" charset="0"/>
                          </a:rPr>
                          <m:t>𝒕</m:t>
                        </m:r>
                        <m:r>
                          <a:rPr lang="en-GB" b="1" i="1" smtClean="0">
                            <a:solidFill>
                              <a:schemeClr val="tx1"/>
                            </a:solidFill>
                            <a:latin typeface="Cambria Math" panose="02040503050406030204" pitchFamily="18" charset="0"/>
                          </a:rPr>
                          <m:t>+</m:t>
                        </m:r>
                        <m:r>
                          <a:rPr lang="en-GB" b="1" i="1" smtClean="0">
                            <a:solidFill>
                              <a:schemeClr val="tx1"/>
                            </a:solidFill>
                            <a:latin typeface="Cambria Math" panose="02040503050406030204" pitchFamily="18" charset="0"/>
                          </a:rPr>
                          <m:t>𝟏</m:t>
                        </m:r>
                      </m:sub>
                    </m:sSub>
                  </m:oMath>
                </a14:m>
                <a:r>
                  <a:rPr lang="en-GB" dirty="0"/>
                  <a:t>,</a:t>
                </a:r>
              </a:p>
              <a:p>
                <a:r>
                  <a:rPr lang="en-GB" dirty="0"/>
                  <a:t>Hidden layers sizes: 32 and 8.</a:t>
                </a:r>
              </a:p>
              <a:p>
                <a:pPr marL="0" indent="0">
                  <a:buNone/>
                </a:pPr>
                <a:r>
                  <a:rPr lang="en-GB" b="1" dirty="0"/>
                  <a:t>Same trainer function, and seems to train with lower loss values, but again, is it good?</a:t>
                </a:r>
                <a:endParaRPr lang="en-SG" b="1" dirty="0"/>
              </a:p>
              <a:p>
                <a:endParaRPr lang="en-SG"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AB518D65-2307-AF01-524E-D9D2045AA0A1}"/>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059"/>
                </a:stretch>
              </a:blipFill>
            </p:spPr>
            <p:txBody>
              <a:bodyPr/>
              <a:lstStyle/>
              <a:p>
                <a:r>
                  <a:rPr lang="en-SG">
                    <a:noFill/>
                  </a:rPr>
                  <a:t> </a:t>
                </a:r>
              </a:p>
            </p:txBody>
          </p:sp>
        </mc:Fallback>
      </mc:AlternateContent>
      <p:pic>
        <p:nvPicPr>
          <p:cNvPr id="4" name="Picture 3">
            <a:extLst>
              <a:ext uri="{FF2B5EF4-FFF2-40B4-BE49-F238E27FC236}">
                <a16:creationId xmlns:a16="http://schemas.microsoft.com/office/drawing/2014/main" id="{6CE3554C-9D2F-5BC5-3C72-5D7A74A0CCAA}"/>
              </a:ext>
            </a:extLst>
          </p:cNvPr>
          <p:cNvPicPr>
            <a:picLocks noChangeAspect="1"/>
          </p:cNvPicPr>
          <p:nvPr/>
        </p:nvPicPr>
        <p:blipFill>
          <a:blip r:embed="rId3"/>
          <a:stretch>
            <a:fillRect/>
          </a:stretch>
        </p:blipFill>
        <p:spPr>
          <a:xfrm>
            <a:off x="6096000" y="365125"/>
            <a:ext cx="5917252" cy="5974861"/>
          </a:xfrm>
          <a:prstGeom prst="rect">
            <a:avLst/>
          </a:prstGeom>
        </p:spPr>
      </p:pic>
    </p:spTree>
    <p:extLst>
      <p:ext uri="{BB962C8B-B14F-4D97-AF65-F5344CB8AC3E}">
        <p14:creationId xmlns:p14="http://schemas.microsoft.com/office/powerpoint/2010/main" val="736987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8DE4A-B9A9-CCDF-2EFA-3BA4C358FAAB}"/>
              </a:ext>
            </a:extLst>
          </p:cNvPr>
          <p:cNvSpPr>
            <a:spLocks noGrp="1"/>
          </p:cNvSpPr>
          <p:nvPr>
            <p:ph type="title"/>
          </p:nvPr>
        </p:nvSpPr>
        <p:spPr/>
        <p:txBody>
          <a:bodyPr/>
          <a:lstStyle/>
          <a:p>
            <a:r>
              <a:rPr lang="en-GB" dirty="0"/>
              <a:t>Using a simple DNN to predict</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2F23B49A-721B-DD95-6D4E-073A6A6E4974}"/>
                  </a:ext>
                </a:extLst>
              </p:cNvPr>
              <p:cNvSpPr>
                <a:spLocks noGrp="1"/>
              </p:cNvSpPr>
              <p:nvPr>
                <p:ph idx="1"/>
              </p:nvPr>
            </p:nvSpPr>
            <p:spPr>
              <a:xfrm>
                <a:off x="838199" y="1825625"/>
                <a:ext cx="11142785" cy="4351338"/>
              </a:xfrm>
            </p:spPr>
            <p:txBody>
              <a:bodyPr>
                <a:normAutofit/>
              </a:bodyPr>
              <a:lstStyle/>
              <a:p>
                <a:pPr marL="0" indent="0">
                  <a:buNone/>
                </a:pPr>
                <a:r>
                  <a:rPr lang="en-GB" dirty="0"/>
                  <a:t>This time the predictor works, as we obtain the good prediction values.</a:t>
                </a:r>
              </a:p>
              <a:p>
                <a:pPr marL="0" indent="0">
                  <a:buNone/>
                </a:pPr>
                <a:r>
                  <a:rPr lang="en-GB" b="1" dirty="0"/>
                  <a:t>In the example below, we had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𝟏</m:t>
                            </m:r>
                          </m:sub>
                        </m:sSub>
                      </m:sub>
                    </m:sSub>
                    <m:r>
                      <a:rPr lang="en-GB" b="1"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𝟐</m:t>
                            </m:r>
                          </m:sub>
                        </m:sSub>
                      </m:sub>
                    </m:sSub>
                  </m:oMath>
                </a14:m>
                <a:r>
                  <a:rPr lang="en-SG" b="1" dirty="0"/>
                  <a:t>, but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𝒙</m:t>
                        </m:r>
                      </m:e>
                      <m:sub>
                        <m:sSub>
                          <m:sSubPr>
                            <m:ctrlPr>
                              <a:rPr lang="en-GB" b="1" i="1">
                                <a:latin typeface="Cambria Math" panose="02040503050406030204" pitchFamily="18" charset="0"/>
                              </a:rPr>
                            </m:ctrlPr>
                          </m:sSubPr>
                          <m:e>
                            <m:r>
                              <a:rPr lang="en-GB" b="1" i="1">
                                <a:latin typeface="Cambria Math" panose="02040503050406030204" pitchFamily="18" charset="0"/>
                              </a:rPr>
                              <m:t>𝒕</m:t>
                            </m:r>
                          </m:e>
                          <m:sub>
                            <m:r>
                              <a:rPr lang="en-GB" b="1" i="1">
                                <a:latin typeface="Cambria Math" panose="02040503050406030204" pitchFamily="18" charset="0"/>
                              </a:rPr>
                              <m:t>𝟏</m:t>
                            </m:r>
                          </m:sub>
                        </m:sSub>
                        <m:r>
                          <a:rPr lang="en-GB" b="1" i="1" smtClean="0">
                            <a:latin typeface="Cambria Math" panose="02040503050406030204" pitchFamily="18" charset="0"/>
                          </a:rPr>
                          <m:t>−</m:t>
                        </m:r>
                        <m:r>
                          <a:rPr lang="en-GB" b="1" i="1" smtClean="0">
                            <a:latin typeface="Cambria Math" panose="02040503050406030204" pitchFamily="18" charset="0"/>
                          </a:rPr>
                          <m:t>𝟏</m:t>
                        </m:r>
                      </m:sub>
                    </m:sSub>
                    <m:r>
                      <a:rPr lang="en-GB" b="1" i="1" smtClean="0">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𝒙</m:t>
                        </m:r>
                      </m:e>
                      <m:sub>
                        <m:sSub>
                          <m:sSubPr>
                            <m:ctrlPr>
                              <a:rPr lang="en-GB" b="1" i="1">
                                <a:latin typeface="Cambria Math" panose="02040503050406030204" pitchFamily="18" charset="0"/>
                              </a:rPr>
                            </m:ctrlPr>
                          </m:sSubPr>
                          <m:e>
                            <m:r>
                              <a:rPr lang="en-GB" b="1" i="1">
                                <a:latin typeface="Cambria Math" panose="02040503050406030204" pitchFamily="18" charset="0"/>
                              </a:rPr>
                              <m:t>𝒕</m:t>
                            </m:r>
                          </m:e>
                          <m:sub>
                            <m:r>
                              <a:rPr lang="en-GB" b="1" i="1">
                                <a:latin typeface="Cambria Math" panose="02040503050406030204" pitchFamily="18" charset="0"/>
                              </a:rPr>
                              <m:t>𝟐</m:t>
                            </m:r>
                          </m:sub>
                        </m:sSub>
                        <m:r>
                          <a:rPr lang="en-GB" b="1" i="1" smtClean="0">
                            <a:latin typeface="Cambria Math" panose="02040503050406030204" pitchFamily="18" charset="0"/>
                          </a:rPr>
                          <m:t>−</m:t>
                        </m:r>
                        <m:r>
                          <a:rPr lang="en-GB" b="1" i="1" smtClean="0">
                            <a:latin typeface="Cambria Math" panose="02040503050406030204" pitchFamily="18" charset="0"/>
                          </a:rPr>
                          <m:t>𝟏</m:t>
                        </m:r>
                      </m:sub>
                    </m:sSub>
                  </m:oMath>
                </a14:m>
                <a:r>
                  <a:rPr lang="en-SG" b="1" dirty="0"/>
                  <a:t>.</a:t>
                </a:r>
              </a:p>
              <a:p>
                <a:pPr marL="0" indent="0">
                  <a:buNone/>
                </a:pPr>
                <a:r>
                  <a:rPr lang="en-SG" dirty="0"/>
                  <a:t>This was good enough to help the DNN formulate two good different predictions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sSub>
                          <m:sSubPr>
                            <m:ctrlPr>
                              <a:rPr lang="en-GB" b="1" i="1" smtClean="0">
                                <a:latin typeface="Cambria Math" panose="02040503050406030204" pitchFamily="18" charset="0"/>
                              </a:rPr>
                            </m:ctrlPr>
                          </m:sSubPr>
                          <m:e>
                            <m:r>
                              <a:rPr lang="en-GB" b="1" i="1" smtClean="0">
                                <a:latin typeface="Cambria Math" panose="02040503050406030204" pitchFamily="18" charset="0"/>
                              </a:rPr>
                              <m:t>𝒕</m:t>
                            </m:r>
                          </m:e>
                          <m:sub>
                            <m:r>
                              <a:rPr lang="en-GB" b="1" i="1" smtClean="0">
                                <a:latin typeface="Cambria Math" panose="02040503050406030204" pitchFamily="18" charset="0"/>
                              </a:rPr>
                              <m:t>𝟏</m:t>
                            </m:r>
                          </m:sub>
                        </m:sSub>
                        <m:r>
                          <a:rPr lang="en-GB" b="1" i="1" smtClean="0">
                            <a:latin typeface="Cambria Math" panose="02040503050406030204" pitchFamily="18" charset="0"/>
                          </a:rPr>
                          <m:t>+</m:t>
                        </m:r>
                        <m:r>
                          <a:rPr lang="en-GB" b="1" i="1" smtClean="0">
                            <a:latin typeface="Cambria Math" panose="02040503050406030204" pitchFamily="18" charset="0"/>
                          </a:rPr>
                          <m:t>𝟏</m:t>
                        </m:r>
                      </m:sub>
                    </m:sSub>
                  </m:oMath>
                </a14:m>
                <a:r>
                  <a:rPr lang="en-SG" dirty="0"/>
                  <a:t> and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𝒙</m:t>
                        </m:r>
                      </m:e>
                      <m:sub>
                        <m:sSub>
                          <m:sSubPr>
                            <m:ctrlPr>
                              <a:rPr lang="en-GB" b="1" i="1">
                                <a:latin typeface="Cambria Math" panose="02040503050406030204" pitchFamily="18" charset="0"/>
                              </a:rPr>
                            </m:ctrlPr>
                          </m:sSubPr>
                          <m:e>
                            <m:r>
                              <a:rPr lang="en-GB" b="1" i="1">
                                <a:latin typeface="Cambria Math" panose="02040503050406030204" pitchFamily="18" charset="0"/>
                              </a:rPr>
                              <m:t>𝒕</m:t>
                            </m:r>
                          </m:e>
                          <m:sub>
                            <m:r>
                              <a:rPr lang="en-GB" b="1" i="1">
                                <a:latin typeface="Cambria Math" panose="02040503050406030204" pitchFamily="18" charset="0"/>
                              </a:rPr>
                              <m:t>𝟐</m:t>
                            </m:r>
                          </m:sub>
                        </m:sSub>
                        <m:r>
                          <a:rPr lang="en-GB" b="1" i="1" smtClean="0">
                            <a:latin typeface="Cambria Math" panose="02040503050406030204" pitchFamily="18" charset="0"/>
                          </a:rPr>
                          <m:t>+</m:t>
                        </m:r>
                        <m:r>
                          <a:rPr lang="en-GB" b="1" i="1" smtClean="0">
                            <a:latin typeface="Cambria Math" panose="02040503050406030204" pitchFamily="18" charset="0"/>
                          </a:rPr>
                          <m:t>𝟏</m:t>
                        </m:r>
                      </m:sub>
                    </m:sSub>
                  </m:oMath>
                </a14:m>
                <a:r>
                  <a:rPr lang="en-SG" dirty="0"/>
                  <a:t>.</a:t>
                </a:r>
              </a:p>
            </p:txBody>
          </p:sp>
        </mc:Choice>
        <mc:Fallback xmlns="">
          <p:sp>
            <p:nvSpPr>
              <p:cNvPr id="8" name="Content Placeholder 7">
                <a:extLst>
                  <a:ext uri="{FF2B5EF4-FFF2-40B4-BE49-F238E27FC236}">
                    <a16:creationId xmlns:a16="http://schemas.microsoft.com/office/drawing/2014/main" id="{2F23B49A-721B-DD95-6D4E-073A6A6E4974}"/>
                  </a:ext>
                </a:extLst>
              </p:cNvPr>
              <p:cNvSpPr>
                <a:spLocks noGrp="1" noRot="1" noChangeAspect="1" noMove="1" noResize="1" noEditPoints="1" noAdjustHandles="1" noChangeArrowheads="1" noChangeShapeType="1" noTextEdit="1"/>
              </p:cNvSpPr>
              <p:nvPr>
                <p:ph idx="1"/>
              </p:nvPr>
            </p:nvSpPr>
            <p:spPr>
              <a:xfrm>
                <a:off x="838199" y="1825625"/>
                <a:ext cx="11142785" cy="4351338"/>
              </a:xfrm>
              <a:blipFill>
                <a:blip r:embed="rId2"/>
                <a:stretch>
                  <a:fillRect l="-1094" t="-2241"/>
                </a:stretch>
              </a:blipFill>
            </p:spPr>
            <p:txBody>
              <a:bodyPr/>
              <a:lstStyle/>
              <a:p>
                <a:r>
                  <a:rPr lang="en-SG">
                    <a:noFill/>
                  </a:rPr>
                  <a:t> </a:t>
                </a:r>
              </a:p>
            </p:txBody>
          </p:sp>
        </mc:Fallback>
      </mc:AlternateContent>
      <p:pic>
        <p:nvPicPr>
          <p:cNvPr id="4" name="Picture 3">
            <a:extLst>
              <a:ext uri="{FF2B5EF4-FFF2-40B4-BE49-F238E27FC236}">
                <a16:creationId xmlns:a16="http://schemas.microsoft.com/office/drawing/2014/main" id="{6DA78C32-4560-BEDA-2ECA-82D686C4FB72}"/>
              </a:ext>
            </a:extLst>
          </p:cNvPr>
          <p:cNvPicPr>
            <a:picLocks noChangeAspect="1"/>
          </p:cNvPicPr>
          <p:nvPr/>
        </p:nvPicPr>
        <p:blipFill>
          <a:blip r:embed="rId3"/>
          <a:stretch>
            <a:fillRect/>
          </a:stretch>
        </p:blipFill>
        <p:spPr>
          <a:xfrm>
            <a:off x="2713375" y="3895312"/>
            <a:ext cx="7392432" cy="2962688"/>
          </a:xfrm>
          <a:prstGeom prst="rect">
            <a:avLst/>
          </a:prstGeom>
        </p:spPr>
      </p:pic>
    </p:spTree>
    <p:extLst>
      <p:ext uri="{BB962C8B-B14F-4D97-AF65-F5344CB8AC3E}">
        <p14:creationId xmlns:p14="http://schemas.microsoft.com/office/powerpoint/2010/main" val="105113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2B696-BAB3-3B95-364A-DA9C343AFF9C}"/>
              </a:ext>
            </a:extLst>
          </p:cNvPr>
          <p:cNvSpPr>
            <a:spLocks noGrp="1"/>
          </p:cNvSpPr>
          <p:nvPr>
            <p:ph type="title"/>
          </p:nvPr>
        </p:nvSpPr>
        <p:spPr/>
        <p:txBody>
          <a:bodyPr/>
          <a:lstStyle/>
          <a:p>
            <a:r>
              <a:rPr lang="en-GB" dirty="0"/>
              <a:t>What is a good history length then?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321E73-C55F-1D84-B04E-3A310D33B527}"/>
                  </a:ext>
                </a:extLst>
              </p:cNvPr>
              <p:cNvSpPr>
                <a:spLocks noGrp="1"/>
              </p:cNvSpPr>
              <p:nvPr>
                <p:ph idx="1"/>
              </p:nvPr>
            </p:nvSpPr>
            <p:spPr>
              <a:xfrm>
                <a:off x="838200" y="1825624"/>
                <a:ext cx="10515600" cy="5032375"/>
              </a:xfrm>
            </p:spPr>
            <p:txBody>
              <a:bodyPr>
                <a:normAutofit/>
              </a:bodyPr>
              <a:lstStyle/>
              <a:p>
                <a:pPr marL="0" indent="0">
                  <a:buNone/>
                </a:pPr>
                <a:r>
                  <a:rPr lang="en-GB" b="1" dirty="0"/>
                  <a:t>In general: Having more datapoints in the history (i.e. a greater lookback length), will usually lead to a model that performs better.</a:t>
                </a:r>
              </a:p>
              <a:p>
                <a:pPr marL="0" indent="0">
                  <a:buNone/>
                </a:pPr>
                <a:r>
                  <a:rPr lang="en-GB" dirty="0"/>
                  <a:t>Therefore, when attempting to predict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GB" dirty="0"/>
                  <a:t>, at time </a:t>
                </a:r>
                <a14:m>
                  <m:oMath xmlns:m="http://schemas.openxmlformats.org/officeDocument/2006/math">
                    <m:r>
                      <a:rPr lang="en-GB" i="1" dirty="0" smtClean="0">
                        <a:latin typeface="Cambria Math" panose="02040503050406030204" pitchFamily="18" charset="0"/>
                      </a:rPr>
                      <m:t>𝑡</m:t>
                    </m:r>
                  </m:oMath>
                </a14:m>
                <a:r>
                  <a:rPr lang="en-GB" dirty="0"/>
                  <a:t>,</a:t>
                </a:r>
              </a:p>
              <a:p>
                <a:r>
                  <a:rPr lang="en-GB" dirty="0"/>
                  <a:t>We will be using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𝑡</m:t>
                        </m:r>
                      </m:sub>
                    </m:sSub>
                  </m:oMath>
                </a14:m>
                <a:r>
                  <a:rPr lang="en-GB" dirty="0"/>
                  <a:t> as input (normal),</a:t>
                </a:r>
              </a:p>
              <a:p>
                <a:r>
                  <a:rPr lang="en-GB" dirty="0"/>
                  <a:t>And the ideal history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h</m:t>
                        </m:r>
                      </m:e>
                      <m:sub>
                        <m:r>
                          <a:rPr lang="en-GB" b="0" i="1" dirty="0" smtClean="0">
                            <a:latin typeface="Cambria Math" panose="02040503050406030204" pitchFamily="18" charset="0"/>
                          </a:rPr>
                          <m:t>𝑡</m:t>
                        </m:r>
                      </m:sub>
                    </m:sSub>
                  </m:oMath>
                </a14:m>
                <a:r>
                  <a:rPr lang="en-GB" dirty="0"/>
                  <a:t> would then consist of all the elements from</a:t>
                </a:r>
                <a:br>
                  <a:rPr lang="en-GB" dirty="0"/>
                </a:br>
                <a14:m>
                  <m:oMath xmlns:m="http://schemas.openxmlformats.org/officeDocument/2006/math">
                    <m:r>
                      <a:rPr lang="en-GB" i="1" dirty="0" smtClean="0">
                        <a:latin typeface="Cambria Math" panose="02040503050406030204" pitchFamily="18" charset="0"/>
                      </a:rPr>
                      <m:t>𝑡</m:t>
                    </m:r>
                    <m:r>
                      <a:rPr lang="en-GB" b="0" i="1" dirty="0" smtClean="0">
                        <a:latin typeface="Cambria Math" panose="02040503050406030204" pitchFamily="18" charset="0"/>
                      </a:rPr>
                      <m:t>′</m:t>
                    </m:r>
                    <m:r>
                      <a:rPr lang="en-GB" i="1" dirty="0" smtClean="0">
                        <a:latin typeface="Cambria Math" panose="02040503050406030204" pitchFamily="18" charset="0"/>
                      </a:rPr>
                      <m:t> = 1</m:t>
                    </m:r>
                  </m:oMath>
                </a14:m>
                <a:r>
                  <a:rPr lang="en-GB" dirty="0"/>
                  <a:t>, to the present time i.e. </a:t>
                </a:r>
                <a14:m>
                  <m:oMath xmlns:m="http://schemas.openxmlformats.org/officeDocument/2006/math">
                    <m:sSup>
                      <m:sSupPr>
                        <m:ctrlPr>
                          <a:rPr lang="en-GB" b="0" i="1" dirty="0" smtClean="0">
                            <a:latin typeface="Cambria Math" panose="02040503050406030204" pitchFamily="18" charset="0"/>
                          </a:rPr>
                        </m:ctrlPr>
                      </m:sSupPr>
                      <m:e>
                        <m:r>
                          <a:rPr lang="en-GB" i="1" dirty="0" smtClean="0">
                            <a:latin typeface="Cambria Math" panose="02040503050406030204" pitchFamily="18" charset="0"/>
                          </a:rPr>
                          <m:t>𝑡</m:t>
                        </m:r>
                      </m:e>
                      <m:sup>
                        <m:r>
                          <a:rPr lang="en-GB" b="0" i="1" dirty="0" smtClean="0">
                            <a:latin typeface="Cambria Math" panose="02040503050406030204" pitchFamily="18" charset="0"/>
                          </a:rPr>
                          <m:t>′</m:t>
                        </m:r>
                      </m:sup>
                    </m:sSup>
                    <m:r>
                      <a:rPr lang="en-GB" b="0" i="1" dirty="0" smtClean="0">
                        <a:latin typeface="Cambria Math" panose="02040503050406030204" pitchFamily="18" charset="0"/>
                      </a:rPr>
                      <m:t>=</m:t>
                    </m:r>
                    <m:r>
                      <a:rPr lang="en-GB" b="0" i="1" dirty="0" smtClean="0">
                        <a:latin typeface="Cambria Math" panose="02040503050406030204" pitchFamily="18" charset="0"/>
                      </a:rPr>
                      <m:t>𝑡</m:t>
                    </m:r>
                    <m:r>
                      <a:rPr lang="en-GB" b="0" i="1" dirty="0" smtClean="0">
                        <a:latin typeface="Cambria Math" panose="02040503050406030204" pitchFamily="18" charset="0"/>
                      </a:rPr>
                      <m:t>−1</m:t>
                    </m:r>
                  </m:oMath>
                </a14:m>
                <a:r>
                  <a:rPr lang="en-GB" dirty="0"/>
                  <a:t>, that is</a:t>
                </a:r>
                <a:br>
                  <a:rPr lang="en-GB" dirty="0"/>
                </a:b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 …,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m:t>
                    </m:r>
                  </m:oMath>
                </a14:m>
                <a:r>
                  <a:rPr lang="en-GB" dirty="0"/>
                  <a:t>.</a:t>
                </a:r>
                <a:endParaRPr lang="en-GB" b="1" dirty="0"/>
              </a:p>
              <a:p>
                <a:pPr marL="0" indent="0">
                  <a:buNone/>
                </a:pPr>
                <a:r>
                  <a:rPr lang="en-GB" b="1" dirty="0"/>
                  <a:t>This could pose a problem as the history length will change over time, accounting for more and more data points being added to history over time.</a:t>
                </a:r>
              </a:p>
              <a:p>
                <a:pPr marL="0" indent="0">
                  <a:buNone/>
                </a:pPr>
                <a:endParaRPr lang="en-SG" dirty="0"/>
              </a:p>
            </p:txBody>
          </p:sp>
        </mc:Choice>
        <mc:Fallback xmlns="">
          <p:sp>
            <p:nvSpPr>
              <p:cNvPr id="3" name="Content Placeholder 2">
                <a:extLst>
                  <a:ext uri="{FF2B5EF4-FFF2-40B4-BE49-F238E27FC236}">
                    <a16:creationId xmlns:a16="http://schemas.microsoft.com/office/drawing/2014/main" id="{3F321E73-C55F-1D84-B04E-3A310D33B527}"/>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449"/>
                </a:stretch>
              </a:blipFill>
            </p:spPr>
            <p:txBody>
              <a:bodyPr/>
              <a:lstStyle/>
              <a:p>
                <a:r>
                  <a:rPr lang="en-SG">
                    <a:noFill/>
                  </a:rPr>
                  <a:t> </a:t>
                </a:r>
              </a:p>
            </p:txBody>
          </p:sp>
        </mc:Fallback>
      </mc:AlternateContent>
    </p:spTree>
    <p:extLst>
      <p:ext uri="{BB962C8B-B14F-4D97-AF65-F5344CB8AC3E}">
        <p14:creationId xmlns:p14="http://schemas.microsoft.com/office/powerpoint/2010/main" val="3542276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6C7F7-455A-5071-9414-BB2585FCB219}"/>
              </a:ext>
            </a:extLst>
          </p:cNvPr>
          <p:cNvSpPr>
            <a:spLocks noGrp="1"/>
          </p:cNvSpPr>
          <p:nvPr>
            <p:ph type="title"/>
          </p:nvPr>
        </p:nvSpPr>
        <p:spPr/>
        <p:txBody>
          <a:bodyPr/>
          <a:lstStyle/>
          <a:p>
            <a:r>
              <a:rPr lang="en-GB" dirty="0"/>
              <a:t>The problem of varying length</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19CB9E-DBF6-2419-238F-8192CB59ADA5}"/>
                  </a:ext>
                </a:extLst>
              </p:cNvPr>
              <p:cNvSpPr>
                <a:spLocks noGrp="1"/>
              </p:cNvSpPr>
              <p:nvPr>
                <p:ph idx="1"/>
              </p:nvPr>
            </p:nvSpPr>
            <p:spPr>
              <a:xfrm>
                <a:off x="838200" y="1825624"/>
                <a:ext cx="10515600" cy="5032375"/>
              </a:xfrm>
            </p:spPr>
            <p:txBody>
              <a:bodyPr>
                <a:normAutofit/>
              </a:bodyPr>
              <a:lstStyle/>
              <a:p>
                <a:pPr marL="0" indent="0">
                  <a:buNone/>
                </a:pPr>
                <a:r>
                  <a:rPr lang="en-GB" b="1" dirty="0"/>
                  <a:t>History vectors will then have varying lengths.</a:t>
                </a:r>
              </a:p>
              <a:p>
                <a:pPr marL="0" indent="0">
                  <a:buNone/>
                </a:pPr>
                <a:r>
                  <a:rPr lang="en-GB" dirty="0"/>
                  <a:t>For instance, when attempting to predict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4</m:t>
                        </m:r>
                      </m:sub>
                    </m:sSub>
                  </m:oMath>
                </a14:m>
                <a:r>
                  <a:rPr lang="en-GB" dirty="0"/>
                  <a:t>, at time </a:t>
                </a:r>
                <a14:m>
                  <m:oMath xmlns:m="http://schemas.openxmlformats.org/officeDocument/2006/math">
                    <m:r>
                      <a:rPr lang="en-GB" i="1" dirty="0" smtClean="0">
                        <a:latin typeface="Cambria Math" panose="02040503050406030204" pitchFamily="18" charset="0"/>
                      </a:rPr>
                      <m:t>𝑡</m:t>
                    </m:r>
                    <m:r>
                      <a:rPr lang="en-GB" b="0" i="1" dirty="0" smtClean="0">
                        <a:latin typeface="Cambria Math" panose="02040503050406030204" pitchFamily="18" charset="0"/>
                      </a:rPr>
                      <m:t>=3</m:t>
                    </m:r>
                  </m:oMath>
                </a14:m>
                <a:r>
                  <a:rPr lang="en-GB" dirty="0"/>
                  <a:t>,</a:t>
                </a:r>
              </a:p>
              <a:p>
                <a:r>
                  <a:rPr lang="en-GB" dirty="0"/>
                  <a:t>You will be using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3</m:t>
                        </m:r>
                      </m:sub>
                    </m:sSub>
                  </m:oMath>
                </a14:m>
                <a:r>
                  <a:rPr lang="en-GB" dirty="0"/>
                  <a:t> as input (normal),</a:t>
                </a:r>
              </a:p>
              <a:p>
                <a:r>
                  <a:rPr lang="en-GB" dirty="0"/>
                  <a:t>And the history would then consist of all the elements from</a:t>
                </a:r>
                <a:br>
                  <a:rPr lang="en-GB" dirty="0"/>
                </a:br>
                <a14:m>
                  <m:oMath xmlns:m="http://schemas.openxmlformats.org/officeDocument/2006/math">
                    <m:r>
                      <a:rPr lang="en-GB" i="1" dirty="0" smtClean="0">
                        <a:latin typeface="Cambria Math" panose="02040503050406030204" pitchFamily="18" charset="0"/>
                      </a:rPr>
                      <m:t>𝑡</m:t>
                    </m:r>
                    <m:r>
                      <a:rPr lang="en-GB" b="0" i="1" dirty="0" smtClean="0">
                        <a:latin typeface="Cambria Math" panose="02040503050406030204" pitchFamily="18" charset="0"/>
                      </a:rPr>
                      <m:t>′</m:t>
                    </m:r>
                    <m:r>
                      <a:rPr lang="en-GB" i="1" dirty="0" smtClean="0">
                        <a:latin typeface="Cambria Math" panose="02040503050406030204" pitchFamily="18" charset="0"/>
                      </a:rPr>
                      <m:t> = 1</m:t>
                    </m:r>
                  </m:oMath>
                </a14:m>
                <a:r>
                  <a:rPr lang="en-GB" dirty="0"/>
                  <a:t>, to the present time i.e. </a:t>
                </a:r>
                <a14:m>
                  <m:oMath xmlns:m="http://schemas.openxmlformats.org/officeDocument/2006/math">
                    <m:sSup>
                      <m:sSupPr>
                        <m:ctrlPr>
                          <a:rPr lang="en-GB" b="0" i="1" dirty="0" smtClean="0">
                            <a:latin typeface="Cambria Math" panose="02040503050406030204" pitchFamily="18" charset="0"/>
                          </a:rPr>
                        </m:ctrlPr>
                      </m:sSupPr>
                      <m:e>
                        <m:r>
                          <a:rPr lang="en-GB" i="1" dirty="0" smtClean="0">
                            <a:latin typeface="Cambria Math" panose="02040503050406030204" pitchFamily="18" charset="0"/>
                          </a:rPr>
                          <m:t>𝑡</m:t>
                        </m:r>
                      </m:e>
                      <m:sup>
                        <m:r>
                          <a:rPr lang="en-GB" b="0" i="1" dirty="0" smtClean="0">
                            <a:latin typeface="Cambria Math" panose="02040503050406030204" pitchFamily="18" charset="0"/>
                          </a:rPr>
                          <m:t>′</m:t>
                        </m:r>
                      </m:sup>
                    </m:sSup>
                    <m:r>
                      <a:rPr lang="en-GB" b="0" i="1" dirty="0" smtClean="0">
                        <a:latin typeface="Cambria Math" panose="02040503050406030204" pitchFamily="18" charset="0"/>
                      </a:rPr>
                      <m:t>=4−1=2</m:t>
                    </m:r>
                  </m:oMath>
                </a14:m>
                <a:r>
                  <a:rPr lang="en-GB" dirty="0"/>
                  <a:t>, that is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3</m:t>
                        </m:r>
                      </m:sub>
                    </m:sSub>
                    <m:r>
                      <a:rPr lang="en-GB" b="0" i="0" smtClean="0">
                        <a:latin typeface="Cambria Math" panose="02040503050406030204" pitchFamily="18" charset="0"/>
                      </a:rPr>
                      <m:t>=</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m:t>
                    </m:r>
                  </m:oMath>
                </a14:m>
                <a:r>
                  <a:rPr lang="en-GB" dirty="0"/>
                  <a:t>.</a:t>
                </a:r>
              </a:p>
              <a:p>
                <a:pPr marL="0" indent="0">
                  <a:buNone/>
                </a:pPr>
                <a:r>
                  <a:rPr lang="en-GB" dirty="0"/>
                  <a:t>Whereas, when attempting to predict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11</m:t>
                        </m:r>
                      </m:sub>
                    </m:sSub>
                  </m:oMath>
                </a14:m>
                <a:r>
                  <a:rPr lang="en-GB" dirty="0"/>
                  <a:t>, at time </a:t>
                </a:r>
                <a14:m>
                  <m:oMath xmlns:m="http://schemas.openxmlformats.org/officeDocument/2006/math">
                    <m:r>
                      <a:rPr lang="en-GB" i="1" dirty="0" smtClean="0">
                        <a:latin typeface="Cambria Math" panose="02040503050406030204" pitchFamily="18" charset="0"/>
                      </a:rPr>
                      <m:t>𝑡</m:t>
                    </m:r>
                    <m:r>
                      <a:rPr lang="en-GB" b="0" i="1" dirty="0" smtClean="0">
                        <a:latin typeface="Cambria Math" panose="02040503050406030204" pitchFamily="18" charset="0"/>
                      </a:rPr>
                      <m:t>=10</m:t>
                    </m:r>
                  </m:oMath>
                </a14:m>
                <a:r>
                  <a:rPr lang="en-GB" dirty="0"/>
                  <a:t>,</a:t>
                </a:r>
              </a:p>
              <a:p>
                <a:r>
                  <a:rPr lang="en-GB" dirty="0"/>
                  <a:t>You will be using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10</m:t>
                        </m:r>
                      </m:sub>
                    </m:sSub>
                  </m:oMath>
                </a14:m>
                <a:r>
                  <a:rPr lang="en-GB" dirty="0"/>
                  <a:t> as input (normal),</a:t>
                </a:r>
              </a:p>
              <a:p>
                <a:r>
                  <a:rPr lang="en-GB" dirty="0"/>
                  <a:t>And the history would then consist of all the elements from</a:t>
                </a:r>
                <a:br>
                  <a:rPr lang="en-GB" dirty="0"/>
                </a:br>
                <a14:m>
                  <m:oMath xmlns:m="http://schemas.openxmlformats.org/officeDocument/2006/math">
                    <m:r>
                      <a:rPr lang="en-GB" i="1" dirty="0" smtClean="0">
                        <a:latin typeface="Cambria Math" panose="02040503050406030204" pitchFamily="18" charset="0"/>
                      </a:rPr>
                      <m:t>𝑡</m:t>
                    </m:r>
                    <m:r>
                      <a:rPr lang="en-GB" b="0" i="1" dirty="0" smtClean="0">
                        <a:latin typeface="Cambria Math" panose="02040503050406030204" pitchFamily="18" charset="0"/>
                      </a:rPr>
                      <m:t>′</m:t>
                    </m:r>
                    <m:r>
                      <a:rPr lang="en-GB" i="1" dirty="0" smtClean="0">
                        <a:latin typeface="Cambria Math" panose="02040503050406030204" pitchFamily="18" charset="0"/>
                      </a:rPr>
                      <m:t> = 1</m:t>
                    </m:r>
                  </m:oMath>
                </a14:m>
                <a:r>
                  <a:rPr lang="en-GB" dirty="0"/>
                  <a:t>, to the present time i.e. </a:t>
                </a:r>
                <a14:m>
                  <m:oMath xmlns:m="http://schemas.openxmlformats.org/officeDocument/2006/math">
                    <m:sSup>
                      <m:sSupPr>
                        <m:ctrlPr>
                          <a:rPr lang="en-GB" b="0" i="1" dirty="0" smtClean="0">
                            <a:latin typeface="Cambria Math" panose="02040503050406030204" pitchFamily="18" charset="0"/>
                          </a:rPr>
                        </m:ctrlPr>
                      </m:sSupPr>
                      <m:e>
                        <m:r>
                          <a:rPr lang="en-GB" i="1" dirty="0" smtClean="0">
                            <a:latin typeface="Cambria Math" panose="02040503050406030204" pitchFamily="18" charset="0"/>
                          </a:rPr>
                          <m:t>𝑡</m:t>
                        </m:r>
                      </m:e>
                      <m:sup>
                        <m:r>
                          <a:rPr lang="en-GB" b="0" i="1" dirty="0" smtClean="0">
                            <a:latin typeface="Cambria Math" panose="02040503050406030204" pitchFamily="18" charset="0"/>
                          </a:rPr>
                          <m:t>′</m:t>
                        </m:r>
                      </m:sup>
                    </m:sSup>
                    <m:r>
                      <a:rPr lang="en-GB" b="0" i="1" dirty="0" smtClean="0">
                        <a:latin typeface="Cambria Math" panose="02040503050406030204" pitchFamily="18" charset="0"/>
                      </a:rPr>
                      <m:t>=10−1=9</m:t>
                    </m:r>
                  </m:oMath>
                </a14:m>
                <a:r>
                  <a:rPr lang="en-GB" dirty="0"/>
                  <a:t>, that is</a:t>
                </a:r>
                <a:br>
                  <a:rPr lang="en-GB" dirty="0"/>
                </a:b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10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9</m:t>
                        </m:r>
                      </m:sub>
                    </m:sSub>
                    <m:r>
                      <a:rPr lang="en-GB" b="0" i="1" smtClean="0">
                        <a:latin typeface="Cambria Math" panose="02040503050406030204" pitchFamily="18" charset="0"/>
                      </a:rPr>
                      <m:t>)</m:t>
                    </m:r>
                  </m:oMath>
                </a14:m>
                <a:r>
                  <a:rPr lang="en-GB" dirty="0"/>
                  <a:t>.</a:t>
                </a:r>
              </a:p>
            </p:txBody>
          </p:sp>
        </mc:Choice>
        <mc:Fallback xmlns="">
          <p:sp>
            <p:nvSpPr>
              <p:cNvPr id="3" name="Content Placeholder 2">
                <a:extLst>
                  <a:ext uri="{FF2B5EF4-FFF2-40B4-BE49-F238E27FC236}">
                    <a16:creationId xmlns:a16="http://schemas.microsoft.com/office/drawing/2014/main" id="{8219CB9E-DBF6-2419-238F-8192CB59ADA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74"/>
                </a:stretch>
              </a:blipFill>
            </p:spPr>
            <p:txBody>
              <a:bodyPr/>
              <a:lstStyle/>
              <a:p>
                <a:r>
                  <a:rPr lang="en-SG">
                    <a:noFill/>
                  </a:rPr>
                  <a:t> </a:t>
                </a:r>
              </a:p>
            </p:txBody>
          </p:sp>
        </mc:Fallback>
      </mc:AlternateContent>
    </p:spTree>
    <p:extLst>
      <p:ext uri="{BB962C8B-B14F-4D97-AF65-F5344CB8AC3E}">
        <p14:creationId xmlns:p14="http://schemas.microsoft.com/office/powerpoint/2010/main" val="2755235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FADA-A607-AC57-2747-033B87B9B376}"/>
              </a:ext>
            </a:extLst>
          </p:cNvPr>
          <p:cNvSpPr>
            <a:spLocks noGrp="1"/>
          </p:cNvSpPr>
          <p:nvPr>
            <p:ph type="title"/>
          </p:nvPr>
        </p:nvSpPr>
        <p:spPr/>
        <p:txBody>
          <a:bodyPr/>
          <a:lstStyle/>
          <a:p>
            <a:r>
              <a:rPr lang="en-GB" dirty="0"/>
              <a:t>The problem of varying length</a:t>
            </a:r>
            <a:endParaRPr lang="en-SG" dirty="0"/>
          </a:p>
        </p:txBody>
      </p:sp>
      <p:sp>
        <p:nvSpPr>
          <p:cNvPr id="3" name="Content Placeholder 2">
            <a:extLst>
              <a:ext uri="{FF2B5EF4-FFF2-40B4-BE49-F238E27FC236}">
                <a16:creationId xmlns:a16="http://schemas.microsoft.com/office/drawing/2014/main" id="{8EBF6E0C-044D-8EFD-D82D-C462D1332AE5}"/>
              </a:ext>
            </a:extLst>
          </p:cNvPr>
          <p:cNvSpPr>
            <a:spLocks noGrp="1"/>
          </p:cNvSpPr>
          <p:nvPr>
            <p:ph idx="1"/>
          </p:nvPr>
        </p:nvSpPr>
        <p:spPr>
          <a:xfrm>
            <a:off x="838200" y="1825624"/>
            <a:ext cx="10515600" cy="5032375"/>
          </a:xfrm>
        </p:spPr>
        <p:txBody>
          <a:bodyPr>
            <a:normAutofit/>
          </a:bodyPr>
          <a:lstStyle/>
          <a:p>
            <a:pPr marL="0" indent="0">
              <a:buNone/>
            </a:pPr>
            <a:r>
              <a:rPr lang="en-GB" b="1" dirty="0"/>
              <a:t>Problem: </a:t>
            </a:r>
            <a:r>
              <a:rPr lang="en-GB" dirty="0"/>
              <a:t>Variable history length cannot work with our current neural network because </a:t>
            </a:r>
            <a:r>
              <a:rPr lang="en-GB" b="1" dirty="0"/>
              <a:t>it</a:t>
            </a:r>
            <a:r>
              <a:rPr lang="en-GB" dirty="0"/>
              <a:t> </a:t>
            </a:r>
            <a:r>
              <a:rPr lang="en-GB" b="1" dirty="0"/>
              <a:t>requires fixed-length input sequences</a:t>
            </a:r>
            <a:r>
              <a:rPr lang="en-GB" dirty="0"/>
              <a:t>.</a:t>
            </a:r>
          </a:p>
          <a:p>
            <a:pPr marL="0" indent="0">
              <a:buNone/>
            </a:pPr>
            <a:endParaRPr lang="en-SG" dirty="0"/>
          </a:p>
        </p:txBody>
      </p:sp>
      <p:pic>
        <p:nvPicPr>
          <p:cNvPr id="5" name="Picture 4">
            <a:extLst>
              <a:ext uri="{FF2B5EF4-FFF2-40B4-BE49-F238E27FC236}">
                <a16:creationId xmlns:a16="http://schemas.microsoft.com/office/drawing/2014/main" id="{FF2FBCA8-55AF-AA7F-47FF-79896BF4CD39}"/>
              </a:ext>
            </a:extLst>
          </p:cNvPr>
          <p:cNvPicPr>
            <a:picLocks noChangeAspect="1"/>
          </p:cNvPicPr>
          <p:nvPr/>
        </p:nvPicPr>
        <p:blipFill>
          <a:blip r:embed="rId2"/>
          <a:stretch>
            <a:fillRect/>
          </a:stretch>
        </p:blipFill>
        <p:spPr>
          <a:xfrm>
            <a:off x="1966336" y="2944604"/>
            <a:ext cx="8259328" cy="3629532"/>
          </a:xfrm>
          <a:prstGeom prst="rect">
            <a:avLst/>
          </a:prstGeom>
        </p:spPr>
      </p:pic>
    </p:spTree>
    <p:extLst>
      <p:ext uri="{BB962C8B-B14F-4D97-AF65-F5344CB8AC3E}">
        <p14:creationId xmlns:p14="http://schemas.microsoft.com/office/powerpoint/2010/main" val="3821622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FADA-A607-AC57-2747-033B87B9B376}"/>
              </a:ext>
            </a:extLst>
          </p:cNvPr>
          <p:cNvSpPr>
            <a:spLocks noGrp="1"/>
          </p:cNvSpPr>
          <p:nvPr>
            <p:ph type="title"/>
          </p:nvPr>
        </p:nvSpPr>
        <p:spPr/>
        <p:txBody>
          <a:bodyPr/>
          <a:lstStyle/>
          <a:p>
            <a:r>
              <a:rPr lang="en-GB" dirty="0"/>
              <a:t>The problem of varying length</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BF6E0C-044D-8EFD-D82D-C462D1332AE5}"/>
                  </a:ext>
                </a:extLst>
              </p:cNvPr>
              <p:cNvSpPr>
                <a:spLocks noGrp="1"/>
              </p:cNvSpPr>
              <p:nvPr>
                <p:ph idx="1"/>
              </p:nvPr>
            </p:nvSpPr>
            <p:spPr>
              <a:xfrm>
                <a:off x="838200" y="1825624"/>
                <a:ext cx="10515600" cy="5032375"/>
              </a:xfrm>
            </p:spPr>
            <p:txBody>
              <a:bodyPr>
                <a:normAutofit/>
              </a:bodyPr>
              <a:lstStyle/>
              <a:p>
                <a:pPr marL="0" indent="0">
                  <a:buNone/>
                </a:pPr>
                <a:r>
                  <a:rPr lang="en-GB" b="1" dirty="0"/>
                  <a:t>Problem: </a:t>
                </a:r>
                <a:r>
                  <a:rPr lang="en-GB" dirty="0"/>
                  <a:t>Variable history length cannot work with our current neural network because </a:t>
                </a:r>
                <a:r>
                  <a:rPr lang="en-GB" b="1" dirty="0"/>
                  <a:t>it</a:t>
                </a:r>
                <a:r>
                  <a:rPr lang="en-GB" dirty="0"/>
                  <a:t> </a:t>
                </a:r>
                <a:r>
                  <a:rPr lang="en-GB" b="1" dirty="0"/>
                  <a:t>requires fixed-length input sequences</a:t>
                </a:r>
                <a:r>
                  <a:rPr lang="en-GB" dirty="0"/>
                  <a:t>.</a:t>
                </a:r>
              </a:p>
              <a:p>
                <a:pPr marL="0" indent="0">
                  <a:buNone/>
                </a:pPr>
                <a:r>
                  <a:rPr lang="en-GB" b="1" dirty="0"/>
                  <a:t>A quick fix would be to assume a fixed length </a:t>
                </a:r>
                <a14:m>
                  <m:oMath xmlns:m="http://schemas.openxmlformats.org/officeDocument/2006/math">
                    <m:r>
                      <a:rPr lang="en-GB" b="1" i="1" dirty="0" smtClean="0">
                        <a:latin typeface="Cambria Math" panose="02040503050406030204" pitchFamily="18" charset="0"/>
                      </a:rPr>
                      <m:t>𝒍</m:t>
                    </m:r>
                  </m:oMath>
                </a14:m>
                <a:r>
                  <a:rPr lang="en-GB" b="1" dirty="0"/>
                  <a:t> for the history vector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𝒉</m:t>
                        </m:r>
                      </m:e>
                      <m:sub>
                        <m:r>
                          <a:rPr lang="en-GB" b="1" i="1" dirty="0" smtClean="0">
                            <a:latin typeface="Cambria Math" panose="02040503050406030204" pitchFamily="18" charset="0"/>
                          </a:rPr>
                          <m:t>𝒕</m:t>
                        </m:r>
                      </m:sub>
                    </m:sSub>
                    <m:r>
                      <a:rPr lang="en-GB" b="1" i="1" dirty="0">
                        <a:latin typeface="Cambria Math" panose="02040503050406030204" pitchFamily="18" charset="0"/>
                      </a:rPr>
                      <m:t> </m:t>
                    </m:r>
                  </m:oMath>
                </a14:m>
                <a:r>
                  <a:rPr lang="en-GB" b="1" dirty="0"/>
                  <a:t>to be used at all times:</a:t>
                </a:r>
              </a:p>
              <a:p>
                <a:r>
                  <a:rPr lang="en-GB" dirty="0"/>
                  <a:t>We could </a:t>
                </a:r>
                <a:r>
                  <a:rPr lang="en-GB" b="1" dirty="0"/>
                  <a:t>truncate</a:t>
                </a:r>
                <a:r>
                  <a:rPr lang="en-GB" dirty="0"/>
                  <a:t> the history vectors that have a length greater than </a:t>
                </a:r>
                <a14:m>
                  <m:oMath xmlns:m="http://schemas.openxmlformats.org/officeDocument/2006/math">
                    <m:r>
                      <a:rPr lang="en-GB" i="1" dirty="0" smtClean="0">
                        <a:latin typeface="Cambria Math" panose="02040503050406030204" pitchFamily="18" charset="0"/>
                      </a:rPr>
                      <m:t>𝑙</m:t>
                    </m:r>
                  </m:oMath>
                </a14:m>
                <a:r>
                  <a:rPr lang="en-GB" dirty="0"/>
                  <a:t>, keeping the last elements only, i.e.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m:t>
                        </m:r>
                        <m:r>
                          <a:rPr lang="en-GB" b="0" i="1" smtClean="0">
                            <a:latin typeface="Cambria Math" panose="02040503050406030204" pitchFamily="18" charset="0"/>
                          </a:rPr>
                          <m:t>𝑙</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m:t>
                    </m:r>
                  </m:oMath>
                </a14:m>
                <a:r>
                  <a:rPr lang="en-GB" dirty="0"/>
                  <a:t>.</a:t>
                </a:r>
              </a:p>
              <a:p>
                <a:r>
                  <a:rPr lang="en-GB" dirty="0"/>
                  <a:t>If too short, we could use </a:t>
                </a:r>
                <a:r>
                  <a:rPr lang="en-GB" b="1" dirty="0"/>
                  <a:t>padding</a:t>
                </a:r>
                <a:r>
                  <a:rPr lang="en-GB" dirty="0"/>
                  <a:t> for the history vectors that have a lower length than </a:t>
                </a:r>
                <a14:m>
                  <m:oMath xmlns:m="http://schemas.openxmlformats.org/officeDocument/2006/math">
                    <m:r>
                      <a:rPr lang="en-GB" i="1" dirty="0" smtClean="0">
                        <a:latin typeface="Cambria Math" panose="02040503050406030204" pitchFamily="18" charset="0"/>
                      </a:rPr>
                      <m:t>𝑙</m:t>
                    </m:r>
                  </m:oMath>
                </a14:m>
                <a:r>
                  <a:rPr lang="en-GB" dirty="0"/>
                  <a:t>, adding zeros to artificially increase their length. For instance, after padding, we could have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h</m:t>
                        </m:r>
                      </m:e>
                      <m:sub>
                        <m:r>
                          <a:rPr lang="en-GB" i="1">
                            <a:latin typeface="Cambria Math" panose="02040503050406030204" pitchFamily="18" charset="0"/>
                          </a:rPr>
                          <m:t>3</m:t>
                        </m:r>
                      </m:sub>
                    </m:sSub>
                    <m:r>
                      <a:rPr lang="en-GB">
                        <a:latin typeface="Cambria Math" panose="02040503050406030204" pitchFamily="18" charset="0"/>
                      </a:rPr>
                      <m:t>=</m:t>
                    </m:r>
                    <m:r>
                      <a:rPr lang="en-GB" i="1">
                        <a:latin typeface="Cambria Math" panose="02040503050406030204" pitchFamily="18" charset="0"/>
                      </a:rPr>
                      <m:t>(</m:t>
                    </m:r>
                    <m:r>
                      <a:rPr lang="en-GB" b="0" i="1" smtClean="0">
                        <a:latin typeface="Cambria Math" panose="02040503050406030204" pitchFamily="18" charset="0"/>
                      </a:rPr>
                      <m:t>0, …, 0, </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r>
                      <a:rPr lang="en-GB" i="1">
                        <a:latin typeface="Cambria Math" panose="02040503050406030204" pitchFamily="18" charset="0"/>
                      </a:rPr>
                      <m:t>)</m:t>
                    </m:r>
                  </m:oMath>
                </a14:m>
                <a:r>
                  <a:rPr lang="en-GB" dirty="0"/>
                  <a:t>.</a:t>
                </a:r>
              </a:p>
            </p:txBody>
          </p:sp>
        </mc:Choice>
        <mc:Fallback xmlns="">
          <p:sp>
            <p:nvSpPr>
              <p:cNvPr id="3" name="Content Placeholder 2">
                <a:extLst>
                  <a:ext uri="{FF2B5EF4-FFF2-40B4-BE49-F238E27FC236}">
                    <a16:creationId xmlns:a16="http://schemas.microsoft.com/office/drawing/2014/main" id="{8EBF6E0C-044D-8EFD-D82D-C462D1332AE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928"/>
                </a:stretch>
              </a:blipFill>
            </p:spPr>
            <p:txBody>
              <a:bodyPr/>
              <a:lstStyle/>
              <a:p>
                <a:r>
                  <a:rPr lang="en-SG">
                    <a:noFill/>
                  </a:rPr>
                  <a:t> </a:t>
                </a:r>
              </a:p>
            </p:txBody>
          </p:sp>
        </mc:Fallback>
      </mc:AlternateContent>
    </p:spTree>
    <p:extLst>
      <p:ext uri="{BB962C8B-B14F-4D97-AF65-F5344CB8AC3E}">
        <p14:creationId xmlns:p14="http://schemas.microsoft.com/office/powerpoint/2010/main" val="1343460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FADA-A607-AC57-2747-033B87B9B376}"/>
              </a:ext>
            </a:extLst>
          </p:cNvPr>
          <p:cNvSpPr>
            <a:spLocks noGrp="1"/>
          </p:cNvSpPr>
          <p:nvPr>
            <p:ph type="title"/>
          </p:nvPr>
        </p:nvSpPr>
        <p:spPr/>
        <p:txBody>
          <a:bodyPr/>
          <a:lstStyle/>
          <a:p>
            <a:r>
              <a:rPr lang="en-GB" dirty="0"/>
              <a:t>The problem of varying length</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BF6E0C-044D-8EFD-D82D-C462D1332AE5}"/>
                  </a:ext>
                </a:extLst>
              </p:cNvPr>
              <p:cNvSpPr>
                <a:spLocks noGrp="1"/>
              </p:cNvSpPr>
              <p:nvPr>
                <p:ph idx="1"/>
              </p:nvPr>
            </p:nvSpPr>
            <p:spPr>
              <a:xfrm>
                <a:off x="838200" y="1825624"/>
                <a:ext cx="10515600" cy="5032375"/>
              </a:xfrm>
            </p:spPr>
            <p:txBody>
              <a:bodyPr>
                <a:normAutofit/>
              </a:bodyPr>
              <a:lstStyle/>
              <a:p>
                <a:pPr marL="0" indent="0">
                  <a:buNone/>
                </a:pPr>
                <a:r>
                  <a:rPr lang="en-GB" b="1" dirty="0"/>
                  <a:t>Problem: </a:t>
                </a:r>
                <a:r>
                  <a:rPr lang="en-GB" dirty="0"/>
                  <a:t>Variable history length cannot work with our current neural network because </a:t>
                </a:r>
                <a:r>
                  <a:rPr lang="en-GB" b="1" dirty="0"/>
                  <a:t>it</a:t>
                </a:r>
                <a:r>
                  <a:rPr lang="en-GB" dirty="0"/>
                  <a:t> </a:t>
                </a:r>
                <a:r>
                  <a:rPr lang="en-GB" b="1" dirty="0"/>
                  <a:t>requires fixed-length input sequences</a:t>
                </a:r>
                <a:r>
                  <a:rPr lang="en-GB" dirty="0"/>
                  <a:t>.</a:t>
                </a:r>
              </a:p>
              <a:p>
                <a:pPr marL="0" indent="0">
                  <a:buNone/>
                </a:pPr>
                <a:r>
                  <a:rPr lang="en-GB" b="1" dirty="0"/>
                  <a:t>A quick fix would be to assume a fixed length </a:t>
                </a:r>
                <a14:m>
                  <m:oMath xmlns:m="http://schemas.openxmlformats.org/officeDocument/2006/math">
                    <m:r>
                      <a:rPr lang="en-GB" b="1" i="1" dirty="0" smtClean="0">
                        <a:latin typeface="Cambria Math" panose="02040503050406030204" pitchFamily="18" charset="0"/>
                      </a:rPr>
                      <m:t>𝒍</m:t>
                    </m:r>
                  </m:oMath>
                </a14:m>
                <a:r>
                  <a:rPr lang="en-GB" b="1" dirty="0"/>
                  <a:t> for the history vector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𝒉</m:t>
                        </m:r>
                      </m:e>
                      <m:sub>
                        <m:r>
                          <a:rPr lang="en-GB" b="1" i="1" dirty="0" smtClean="0">
                            <a:latin typeface="Cambria Math" panose="02040503050406030204" pitchFamily="18" charset="0"/>
                          </a:rPr>
                          <m:t>𝒕</m:t>
                        </m:r>
                      </m:sub>
                    </m:sSub>
                    <m:r>
                      <a:rPr lang="en-GB" b="1" i="1" dirty="0">
                        <a:latin typeface="Cambria Math" panose="02040503050406030204" pitchFamily="18" charset="0"/>
                      </a:rPr>
                      <m:t> </m:t>
                    </m:r>
                  </m:oMath>
                </a14:m>
                <a:r>
                  <a:rPr lang="en-GB" b="1" dirty="0"/>
                  <a:t>to be used at all times:</a:t>
                </a:r>
              </a:p>
              <a:p>
                <a:r>
                  <a:rPr lang="en-GB" dirty="0"/>
                  <a:t>We could </a:t>
                </a:r>
                <a:r>
                  <a:rPr lang="en-GB" b="1" dirty="0"/>
                  <a:t>truncate</a:t>
                </a:r>
                <a:r>
                  <a:rPr lang="en-GB" dirty="0"/>
                  <a:t> the history vectors that have a length greater than </a:t>
                </a:r>
                <a14:m>
                  <m:oMath xmlns:m="http://schemas.openxmlformats.org/officeDocument/2006/math">
                    <m:r>
                      <a:rPr lang="en-GB" i="1" dirty="0" smtClean="0">
                        <a:latin typeface="Cambria Math" panose="02040503050406030204" pitchFamily="18" charset="0"/>
                      </a:rPr>
                      <m:t>𝑙</m:t>
                    </m:r>
                  </m:oMath>
                </a14:m>
                <a:r>
                  <a:rPr lang="en-GB" dirty="0"/>
                  <a:t>, keeping the last elements only, i.e.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m:t>
                        </m:r>
                        <m:r>
                          <a:rPr lang="en-GB" b="0" i="1" smtClean="0">
                            <a:latin typeface="Cambria Math" panose="02040503050406030204" pitchFamily="18" charset="0"/>
                          </a:rPr>
                          <m:t>𝑙</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m:t>
                    </m:r>
                  </m:oMath>
                </a14:m>
                <a:r>
                  <a:rPr lang="en-GB" dirty="0"/>
                  <a:t>.</a:t>
                </a:r>
              </a:p>
              <a:p>
                <a:r>
                  <a:rPr lang="en-GB" dirty="0"/>
                  <a:t>If too short, we could use </a:t>
                </a:r>
                <a:r>
                  <a:rPr lang="en-GB" b="1" dirty="0"/>
                  <a:t>padding</a:t>
                </a:r>
                <a:r>
                  <a:rPr lang="en-GB" dirty="0"/>
                  <a:t> for the history vectors that have a lower length than </a:t>
                </a:r>
                <a14:m>
                  <m:oMath xmlns:m="http://schemas.openxmlformats.org/officeDocument/2006/math">
                    <m:r>
                      <a:rPr lang="en-GB" i="1" dirty="0" smtClean="0">
                        <a:latin typeface="Cambria Math" panose="02040503050406030204" pitchFamily="18" charset="0"/>
                      </a:rPr>
                      <m:t>𝑙</m:t>
                    </m:r>
                  </m:oMath>
                </a14:m>
                <a:r>
                  <a:rPr lang="en-GB" dirty="0"/>
                  <a:t>, adding zeros to artificially increase their length. For instance, after padding, we could have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h</m:t>
                        </m:r>
                      </m:e>
                      <m:sub>
                        <m:r>
                          <a:rPr lang="en-GB" i="1">
                            <a:latin typeface="Cambria Math" panose="02040503050406030204" pitchFamily="18" charset="0"/>
                          </a:rPr>
                          <m:t>3</m:t>
                        </m:r>
                      </m:sub>
                    </m:sSub>
                    <m:r>
                      <a:rPr lang="en-GB">
                        <a:latin typeface="Cambria Math" panose="02040503050406030204" pitchFamily="18" charset="0"/>
                      </a:rPr>
                      <m:t>=</m:t>
                    </m:r>
                    <m:r>
                      <a:rPr lang="en-GB" i="1">
                        <a:latin typeface="Cambria Math" panose="02040503050406030204" pitchFamily="18" charset="0"/>
                      </a:rPr>
                      <m:t>(</m:t>
                    </m:r>
                    <m:r>
                      <a:rPr lang="en-GB" b="0" i="1" smtClean="0">
                        <a:latin typeface="Cambria Math" panose="02040503050406030204" pitchFamily="18" charset="0"/>
                      </a:rPr>
                      <m:t>0, …, 0, </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r>
                      <a:rPr lang="en-GB" i="1">
                        <a:latin typeface="Cambria Math" panose="02040503050406030204" pitchFamily="18" charset="0"/>
                      </a:rPr>
                      <m:t>)</m:t>
                    </m:r>
                  </m:oMath>
                </a14:m>
                <a:r>
                  <a:rPr lang="en-GB" dirty="0"/>
                  <a:t>.</a:t>
                </a:r>
              </a:p>
              <a:p>
                <a:pPr marL="0" indent="0">
                  <a:buNone/>
                </a:pPr>
                <a:r>
                  <a:rPr lang="en-GB" b="1" dirty="0">
                    <a:solidFill>
                      <a:srgbClr val="FF0000"/>
                    </a:solidFill>
                  </a:rPr>
                  <a:t>However, we could do much better than this.</a:t>
                </a:r>
                <a:endParaRPr lang="en-SG" b="1" dirty="0">
                  <a:solidFill>
                    <a:srgbClr val="FF0000"/>
                  </a:solidFill>
                </a:endParaRPr>
              </a:p>
            </p:txBody>
          </p:sp>
        </mc:Choice>
        <mc:Fallback xmlns="">
          <p:sp>
            <p:nvSpPr>
              <p:cNvPr id="3" name="Content Placeholder 2">
                <a:extLst>
                  <a:ext uri="{FF2B5EF4-FFF2-40B4-BE49-F238E27FC236}">
                    <a16:creationId xmlns:a16="http://schemas.microsoft.com/office/drawing/2014/main" id="{8EBF6E0C-044D-8EFD-D82D-C462D1332AE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928"/>
                </a:stretch>
              </a:blipFill>
            </p:spPr>
            <p:txBody>
              <a:bodyPr/>
              <a:lstStyle/>
              <a:p>
                <a:r>
                  <a:rPr lang="en-SG">
                    <a:noFill/>
                  </a:rPr>
                  <a:t> </a:t>
                </a:r>
              </a:p>
            </p:txBody>
          </p:sp>
        </mc:Fallback>
      </mc:AlternateContent>
    </p:spTree>
    <p:extLst>
      <p:ext uri="{BB962C8B-B14F-4D97-AF65-F5344CB8AC3E}">
        <p14:creationId xmlns:p14="http://schemas.microsoft.com/office/powerpoint/2010/main" val="8843739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1B047-DF24-C6F6-64BD-7C7DDCFA1FD5}"/>
              </a:ext>
            </a:extLst>
          </p:cNvPr>
          <p:cNvSpPr>
            <a:spLocks noGrp="1"/>
          </p:cNvSpPr>
          <p:nvPr>
            <p:ph type="title"/>
          </p:nvPr>
        </p:nvSpPr>
        <p:spPr/>
        <p:txBody>
          <a:bodyPr/>
          <a:lstStyle/>
          <a:p>
            <a:r>
              <a:rPr lang="en-GB" dirty="0"/>
              <a:t>The need for memory</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C283DD-E7C8-4C04-5B22-F87EDBDE8055}"/>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memory</a:t>
                </a:r>
                <a:r>
                  <a:rPr lang="en-GB" b="1" dirty="0"/>
                  <a:t> or </a:t>
                </a:r>
                <a:r>
                  <a:rPr lang="en-GB" b="1" dirty="0">
                    <a:solidFill>
                      <a:srgbClr val="00B050"/>
                    </a:solidFill>
                  </a:rPr>
                  <a:t>hidden</a:t>
                </a:r>
                <a:r>
                  <a:rPr lang="en-GB" b="1" dirty="0"/>
                  <a:t> </a:t>
                </a:r>
                <a:r>
                  <a:rPr lang="en-GB" b="1" dirty="0">
                    <a:solidFill>
                      <a:srgbClr val="00B050"/>
                    </a:solidFill>
                  </a:rPr>
                  <a:t>vector</a:t>
                </a:r>
                <a:r>
                  <a:rPr lang="en-GB" b="1" dirty="0"/>
                  <a:t> in RNNs):</a:t>
                </a:r>
              </a:p>
              <a:p>
                <a:pPr marL="0" indent="0">
                  <a:buNone/>
                </a:pPr>
                <a:r>
                  <a:rPr lang="en-GB" dirty="0"/>
                  <a:t>In practice however, it is preferable to define a </a:t>
                </a:r>
                <a:r>
                  <a:rPr lang="en-GB" b="1" dirty="0">
                    <a:solidFill>
                      <a:srgbClr val="00B050"/>
                    </a:solidFill>
                  </a:rPr>
                  <a:t>memory</a:t>
                </a:r>
                <a:r>
                  <a:rPr lang="en-GB" dirty="0"/>
                  <a:t> </a:t>
                </a:r>
                <a:r>
                  <a:rPr lang="en-GB" b="1" dirty="0"/>
                  <a:t>(or </a:t>
                </a:r>
                <a:r>
                  <a:rPr lang="en-GB" b="1" dirty="0">
                    <a:solidFill>
                      <a:srgbClr val="00B050"/>
                    </a:solidFill>
                  </a:rPr>
                  <a:t>hidden</a:t>
                </a:r>
                <a:r>
                  <a:rPr lang="en-GB" b="1" dirty="0"/>
                  <a:t>) vector</a:t>
                </a:r>
                <a:r>
                  <a:rPr lang="en-GB" dirty="0"/>
                  <a:t> and leave it to the Neural Network to figure out what information should put in there. </a:t>
                </a:r>
              </a:p>
              <a:p>
                <a:pPr marL="0" indent="0">
                  <a:buNone/>
                </a:pPr>
                <a:r>
                  <a:rPr lang="en-GB" dirty="0"/>
                  <a:t>On each time </a:t>
                </a:r>
                <a14:m>
                  <m:oMath xmlns:m="http://schemas.openxmlformats.org/officeDocument/2006/math">
                    <m:r>
                      <a:rPr lang="en-GB" i="1" dirty="0" smtClean="0">
                        <a:latin typeface="Cambria Math" panose="02040503050406030204" pitchFamily="18" charset="0"/>
                      </a:rPr>
                      <m:t>𝑡</m:t>
                    </m:r>
                  </m:oMath>
                </a14:m>
                <a:r>
                  <a:rPr lang="en-GB" dirty="0"/>
                  <a:t>, the Neural Network:</a:t>
                </a:r>
              </a:p>
              <a:p>
                <a:r>
                  <a:rPr lang="en-GB" dirty="0"/>
                  <a:t>Would receive an input which consists of </a:t>
                </a:r>
                <a:r>
                  <a:rPr lang="en-GB" b="1" dirty="0"/>
                  <a:t>the observation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𝒙</m:t>
                        </m:r>
                      </m:e>
                      <m:sub>
                        <m:r>
                          <a:rPr lang="en-GB" b="1" i="1">
                            <a:latin typeface="Cambria Math" panose="02040503050406030204" pitchFamily="18" charset="0"/>
                          </a:rPr>
                          <m:t>𝒕</m:t>
                        </m:r>
                      </m:sub>
                    </m:sSub>
                  </m:oMath>
                </a14:m>
                <a:r>
                  <a:rPr lang="en-GB" b="1" dirty="0"/>
                  <a:t> at time </a:t>
                </a:r>
                <a14:m>
                  <m:oMath xmlns:m="http://schemas.openxmlformats.org/officeDocument/2006/math">
                    <m:r>
                      <a:rPr lang="en-GB" b="1" i="1" dirty="0" smtClean="0">
                        <a:latin typeface="Cambria Math" panose="02040503050406030204" pitchFamily="18" charset="0"/>
                      </a:rPr>
                      <m:t>𝒕</m:t>
                    </m:r>
                  </m:oMath>
                </a14:m>
                <a:r>
                  <a:rPr lang="en-GB" dirty="0"/>
                  <a:t>, and a </a:t>
                </a:r>
                <a:r>
                  <a:rPr lang="en-GB" b="1" dirty="0"/>
                  <a:t>memory vector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𝒉</m:t>
                        </m:r>
                      </m:e>
                      <m:sub>
                        <m:r>
                          <a:rPr lang="en-GB" b="1" i="1" smtClean="0">
                            <a:latin typeface="Cambria Math" panose="02040503050406030204" pitchFamily="18" charset="0"/>
                          </a:rPr>
                          <m:t>𝒕</m:t>
                        </m:r>
                      </m:sub>
                    </m:sSub>
                  </m:oMath>
                </a14:m>
                <a:r>
                  <a:rPr lang="en-GB" b="1" dirty="0"/>
                  <a:t> computed as one of the Neural Network outputs at time </a:t>
                </a:r>
                <a14:m>
                  <m:oMath xmlns:m="http://schemas.openxmlformats.org/officeDocument/2006/math">
                    <m:r>
                      <a:rPr lang="en-GB" b="1" i="1" smtClean="0">
                        <a:latin typeface="Cambria Math" panose="02040503050406030204" pitchFamily="18" charset="0"/>
                      </a:rPr>
                      <m:t>𝒕</m:t>
                    </m:r>
                    <m:r>
                      <a:rPr lang="en-GB" b="1" i="1" smtClean="0">
                        <a:latin typeface="Cambria Math" panose="02040503050406030204" pitchFamily="18" charset="0"/>
                      </a:rPr>
                      <m:t>−</m:t>
                    </m:r>
                    <m:r>
                      <a:rPr lang="en-GB" b="1" i="1" smtClean="0">
                        <a:latin typeface="Cambria Math" panose="02040503050406030204" pitchFamily="18" charset="0"/>
                      </a:rPr>
                      <m:t>𝟏</m:t>
                    </m:r>
                  </m:oMath>
                </a14:m>
                <a:r>
                  <a:rPr lang="en-GB" dirty="0"/>
                  <a:t>.</a:t>
                </a:r>
              </a:p>
              <a:p>
                <a:r>
                  <a:rPr lang="en-GB" dirty="0"/>
                  <a:t>Would compute a </a:t>
                </a:r>
                <a:r>
                  <a:rPr lang="en-GB" b="1" dirty="0"/>
                  <a:t>prediction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𝒚</m:t>
                        </m:r>
                      </m:e>
                      <m:sub>
                        <m:r>
                          <a:rPr lang="en-GB" b="1" i="1" dirty="0" smtClean="0">
                            <a:latin typeface="Cambria Math" panose="02040503050406030204" pitchFamily="18" charset="0"/>
                          </a:rPr>
                          <m:t>𝒕</m:t>
                        </m:r>
                      </m:sub>
                    </m:sSub>
                  </m:oMath>
                </a14:m>
                <a:r>
                  <a:rPr lang="en-GB" b="1" dirty="0"/>
                  <a:t> for what might be the value of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r>
                          <a:rPr lang="en-GB" b="1" i="1" smtClean="0">
                            <a:latin typeface="Cambria Math" panose="02040503050406030204" pitchFamily="18" charset="0"/>
                          </a:rPr>
                          <m:t>𝒕</m:t>
                        </m:r>
                        <m:r>
                          <a:rPr lang="en-GB" b="1" i="1" smtClean="0">
                            <a:latin typeface="Cambria Math" panose="02040503050406030204" pitchFamily="18" charset="0"/>
                          </a:rPr>
                          <m:t>+</m:t>
                        </m:r>
                        <m:r>
                          <a:rPr lang="en-GB" b="1" i="1" smtClean="0">
                            <a:latin typeface="Cambria Math" panose="02040503050406030204" pitchFamily="18" charset="0"/>
                          </a:rPr>
                          <m:t>𝟏</m:t>
                        </m:r>
                      </m:sub>
                    </m:sSub>
                  </m:oMath>
                </a14:m>
                <a:r>
                  <a:rPr lang="en-GB" dirty="0"/>
                  <a:t>, and an </a:t>
                </a:r>
                <a:r>
                  <a:rPr lang="en-GB" b="1" dirty="0"/>
                  <a:t>updated memory vector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𝒉</m:t>
                        </m:r>
                      </m:e>
                      <m:sub>
                        <m:r>
                          <a:rPr lang="en-GB" b="1" i="1" smtClean="0">
                            <a:latin typeface="Cambria Math" panose="02040503050406030204" pitchFamily="18" charset="0"/>
                          </a:rPr>
                          <m:t>𝒕</m:t>
                        </m:r>
                        <m:r>
                          <a:rPr lang="en-GB" b="1" i="1" smtClean="0">
                            <a:latin typeface="Cambria Math" panose="02040503050406030204" pitchFamily="18" charset="0"/>
                          </a:rPr>
                          <m:t>+</m:t>
                        </m:r>
                        <m:r>
                          <a:rPr lang="en-GB" b="1" i="1" smtClean="0">
                            <a:latin typeface="Cambria Math" panose="02040503050406030204" pitchFamily="18" charset="0"/>
                          </a:rPr>
                          <m:t>𝟏</m:t>
                        </m:r>
                      </m:sub>
                    </m:sSub>
                  </m:oMath>
                </a14:m>
                <a:r>
                  <a:rPr lang="en-GB" b="1" dirty="0"/>
                  <a:t>, </a:t>
                </a:r>
                <a:r>
                  <a:rPr lang="en-GB" dirty="0"/>
                  <a:t>hopefully keeping a memory of what has happened in the previous operations.</a:t>
                </a:r>
              </a:p>
              <a:p>
                <a:pPr marL="0" indent="0">
                  <a:buNone/>
                </a:pPr>
                <a:endParaRPr lang="en-GB" dirty="0"/>
              </a:p>
              <a:p>
                <a:pPr marL="0" indent="0">
                  <a:buNone/>
                </a:pPr>
                <a:endParaRPr lang="en-GB" dirty="0"/>
              </a:p>
              <a:p>
                <a:endParaRPr lang="en-SG" dirty="0"/>
              </a:p>
            </p:txBody>
          </p:sp>
        </mc:Choice>
        <mc:Fallback xmlns="">
          <p:sp>
            <p:nvSpPr>
              <p:cNvPr id="3" name="Content Placeholder 2">
                <a:extLst>
                  <a:ext uri="{FF2B5EF4-FFF2-40B4-BE49-F238E27FC236}">
                    <a16:creationId xmlns:a16="http://schemas.microsoft.com/office/drawing/2014/main" id="{5FC283DD-E7C8-4C04-5B22-F87EDBDE805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623"/>
                </a:stretch>
              </a:blipFill>
            </p:spPr>
            <p:txBody>
              <a:bodyPr/>
              <a:lstStyle/>
              <a:p>
                <a:r>
                  <a:rPr lang="en-SG">
                    <a:noFill/>
                  </a:rPr>
                  <a:t> </a:t>
                </a:r>
              </a:p>
            </p:txBody>
          </p:sp>
        </mc:Fallback>
      </mc:AlternateContent>
    </p:spTree>
    <p:extLst>
      <p:ext uri="{BB962C8B-B14F-4D97-AF65-F5344CB8AC3E}">
        <p14:creationId xmlns:p14="http://schemas.microsoft.com/office/powerpoint/2010/main" val="3867797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96D466D-41F6-21B4-BFD8-29B41068C22C}"/>
                  </a:ext>
                </a:extLst>
              </p:cNvPr>
              <p:cNvSpPr txBox="1"/>
              <p:nvPr/>
            </p:nvSpPr>
            <p:spPr>
              <a:xfrm>
                <a:off x="3663463" y="1990914"/>
                <a:ext cx="1949938" cy="156966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𝑦</m:t>
                          </m:r>
                        </m:e>
                        <m:sub>
                          <m:r>
                            <a:rPr lang="en-GB" sz="2400" b="0" i="1" dirty="0" smtClean="0">
                              <a:latin typeface="Cambria Math" panose="02040503050406030204" pitchFamily="18" charset="0"/>
                            </a:rPr>
                            <m:t>1</m:t>
                          </m:r>
                        </m:sub>
                      </m:sSub>
                    </m:oMath>
                  </m:oMathPara>
                </a14:m>
                <a:endParaRPr lang="en-SG" sz="2400" dirty="0"/>
              </a:p>
              <a:p>
                <a:pPr algn="ctr"/>
                <a:r>
                  <a:rPr lang="en-SG" sz="2400" dirty="0"/>
                  <a:t>(pred.</a:t>
                </a:r>
                <a:br>
                  <a:rPr lang="en-SG" sz="2400" dirty="0"/>
                </a:br>
                <a:r>
                  <a:rPr lang="en-SG" sz="2400" dirty="0"/>
                  <a:t>for</a:t>
                </a:r>
                <a:br>
                  <a:rPr lang="en-SG" sz="2400" dirty="0"/>
                </a:b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2</m:t>
                        </m:r>
                      </m:sub>
                    </m:sSub>
                  </m:oMath>
                </a14:m>
                <a:r>
                  <a:rPr lang="en-SG" sz="2400" dirty="0"/>
                  <a:t>)</a:t>
                </a:r>
              </a:p>
            </p:txBody>
          </p:sp>
        </mc:Choice>
        <mc:Fallback xmlns="">
          <p:sp>
            <p:nvSpPr>
              <p:cNvPr id="14" name="TextBox 13">
                <a:extLst>
                  <a:ext uri="{FF2B5EF4-FFF2-40B4-BE49-F238E27FC236}">
                    <a16:creationId xmlns:a16="http://schemas.microsoft.com/office/drawing/2014/main" id="{E96D466D-41F6-21B4-BFD8-29B41068C22C}"/>
                  </a:ext>
                </a:extLst>
              </p:cNvPr>
              <p:cNvSpPr txBox="1">
                <a:spLocks noRot="1" noChangeAspect="1" noMove="1" noResize="1" noEditPoints="1" noAdjustHandles="1" noChangeArrowheads="1" noChangeShapeType="1" noTextEdit="1"/>
              </p:cNvSpPr>
              <p:nvPr/>
            </p:nvSpPr>
            <p:spPr>
              <a:xfrm>
                <a:off x="3663463" y="1990914"/>
                <a:ext cx="1949938" cy="1569660"/>
              </a:xfrm>
              <a:prstGeom prst="rect">
                <a:avLst/>
              </a:prstGeom>
              <a:blipFill>
                <a:blip r:embed="rId2"/>
                <a:stretch>
                  <a:fillRect b="-8171"/>
                </a:stretch>
              </a:blipFill>
            </p:spPr>
            <p:txBody>
              <a:bodyPr/>
              <a:lstStyle/>
              <a:p>
                <a:r>
                  <a:rPr lang="en-SG">
                    <a:noFill/>
                  </a:rPr>
                  <a:t> </a:t>
                </a:r>
              </a:p>
            </p:txBody>
          </p:sp>
        </mc:Fallback>
      </mc:AlternateContent>
      <p:sp>
        <p:nvSpPr>
          <p:cNvPr id="2" name="Title 1">
            <a:extLst>
              <a:ext uri="{FF2B5EF4-FFF2-40B4-BE49-F238E27FC236}">
                <a16:creationId xmlns:a16="http://schemas.microsoft.com/office/drawing/2014/main" id="{D4795DED-4F6A-4420-1474-79C41D9C7151}"/>
              </a:ext>
            </a:extLst>
          </p:cNvPr>
          <p:cNvSpPr>
            <a:spLocks noGrp="1"/>
          </p:cNvSpPr>
          <p:nvPr>
            <p:ph type="title"/>
          </p:nvPr>
        </p:nvSpPr>
        <p:spPr/>
        <p:txBody>
          <a:bodyPr/>
          <a:lstStyle/>
          <a:p>
            <a:r>
              <a:rPr lang="en-GB" dirty="0"/>
              <a:t>The need for memory</a:t>
            </a:r>
            <a:endParaRPr lang="en-SG"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74FAFFC-EE13-6E7D-3976-35D8869D82C3}"/>
                  </a:ext>
                </a:extLst>
              </p:cNvPr>
              <p:cNvSpPr/>
              <p:nvPr/>
            </p:nvSpPr>
            <p:spPr>
              <a:xfrm>
                <a:off x="2344616" y="1990914"/>
                <a:ext cx="1570892" cy="4024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Neural Network prediction at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 = 1</m:t>
                    </m:r>
                  </m:oMath>
                </a14:m>
                <a:endParaRPr lang="en-SG" dirty="0"/>
              </a:p>
            </p:txBody>
          </p:sp>
        </mc:Choice>
        <mc:Fallback xmlns="">
          <p:sp>
            <p:nvSpPr>
              <p:cNvPr id="4" name="Rectangle 3">
                <a:extLst>
                  <a:ext uri="{FF2B5EF4-FFF2-40B4-BE49-F238E27FC236}">
                    <a16:creationId xmlns:a16="http://schemas.microsoft.com/office/drawing/2014/main" id="{274FAFFC-EE13-6E7D-3976-35D8869D82C3}"/>
                  </a:ext>
                </a:extLst>
              </p:cNvPr>
              <p:cNvSpPr>
                <a:spLocks noRot="1" noChangeAspect="1" noMove="1" noResize="1" noEditPoints="1" noAdjustHandles="1" noChangeArrowheads="1" noChangeShapeType="1" noTextEdit="1"/>
              </p:cNvSpPr>
              <p:nvPr/>
            </p:nvSpPr>
            <p:spPr>
              <a:xfrm>
                <a:off x="2344616" y="1990914"/>
                <a:ext cx="1570892" cy="4024923"/>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C66D4B6-18A8-AE63-2FC1-32C7FC7C8213}"/>
                  </a:ext>
                </a:extLst>
              </p:cNvPr>
              <p:cNvSpPr txBox="1"/>
              <p:nvPr/>
            </p:nvSpPr>
            <p:spPr>
              <a:xfrm>
                <a:off x="418122" y="2674871"/>
                <a:ext cx="12035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𝑥</m:t>
                          </m:r>
                        </m:e>
                        <m:sub>
                          <m:r>
                            <a:rPr lang="en-GB" sz="2400" b="0" i="1" dirty="0" smtClean="0">
                              <a:latin typeface="Cambria Math" panose="02040503050406030204" pitchFamily="18" charset="0"/>
                            </a:rPr>
                            <m:t>1</m:t>
                          </m:r>
                        </m:sub>
                      </m:sSub>
                    </m:oMath>
                  </m:oMathPara>
                </a14:m>
                <a:endParaRPr lang="en-SG" sz="2400" dirty="0"/>
              </a:p>
            </p:txBody>
          </p:sp>
        </mc:Choice>
        <mc:Fallback xmlns="">
          <p:sp>
            <p:nvSpPr>
              <p:cNvPr id="5" name="TextBox 4">
                <a:extLst>
                  <a:ext uri="{FF2B5EF4-FFF2-40B4-BE49-F238E27FC236}">
                    <a16:creationId xmlns:a16="http://schemas.microsoft.com/office/drawing/2014/main" id="{BC66D4B6-18A8-AE63-2FC1-32C7FC7C8213}"/>
                  </a:ext>
                </a:extLst>
              </p:cNvPr>
              <p:cNvSpPr txBox="1">
                <a:spLocks noRot="1" noChangeAspect="1" noMove="1" noResize="1" noEditPoints="1" noAdjustHandles="1" noChangeArrowheads="1" noChangeShapeType="1" noTextEdit="1"/>
              </p:cNvSpPr>
              <p:nvPr/>
            </p:nvSpPr>
            <p:spPr>
              <a:xfrm>
                <a:off x="418122" y="2674871"/>
                <a:ext cx="1203570" cy="461665"/>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18A004E-C36C-A0BD-B4FD-46D940AD7EB5}"/>
                  </a:ext>
                </a:extLst>
              </p:cNvPr>
              <p:cNvSpPr txBox="1"/>
              <p:nvPr/>
            </p:nvSpPr>
            <p:spPr>
              <a:xfrm>
                <a:off x="-66431" y="4640440"/>
                <a:ext cx="217267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0</m:t>
                          </m:r>
                        </m:sub>
                      </m:sSub>
                      <m:r>
                        <a:rPr lang="en-GB" sz="2400" b="0" i="1" dirty="0" smtClean="0">
                          <a:latin typeface="Cambria Math" panose="02040503050406030204" pitchFamily="18" charset="0"/>
                        </a:rPr>
                        <m:t>=</m:t>
                      </m:r>
                      <m:r>
                        <a:rPr lang="en-GB" sz="2400" b="0" i="1" dirty="0" smtClean="0">
                          <a:latin typeface="Cambria Math" panose="02040503050406030204" pitchFamily="18" charset="0"/>
                        </a:rPr>
                        <m:t>𝑧𝑒𝑟𝑜𝑠</m:t>
                      </m:r>
                      <m:r>
                        <a:rPr lang="en-GB" sz="2400" b="0" i="1" dirty="0" smtClean="0">
                          <a:latin typeface="Cambria Math" panose="02040503050406030204" pitchFamily="18" charset="0"/>
                        </a:rPr>
                        <m:t>(</m:t>
                      </m:r>
                      <m:r>
                        <a:rPr lang="en-GB" sz="2400" b="0" i="1" dirty="0" smtClean="0">
                          <a:latin typeface="Cambria Math" panose="02040503050406030204" pitchFamily="18" charset="0"/>
                        </a:rPr>
                        <m:t>𝑙</m:t>
                      </m:r>
                      <m:r>
                        <a:rPr lang="en-GB" sz="2400" b="0" i="1" dirty="0" smtClean="0">
                          <a:latin typeface="Cambria Math" panose="02040503050406030204" pitchFamily="18" charset="0"/>
                        </a:rPr>
                        <m:t>)</m:t>
                      </m:r>
                    </m:oMath>
                  </m:oMathPara>
                </a14:m>
                <a:endParaRPr lang="en-SG" sz="2400" dirty="0"/>
              </a:p>
            </p:txBody>
          </p:sp>
        </mc:Choice>
        <mc:Fallback xmlns="">
          <p:sp>
            <p:nvSpPr>
              <p:cNvPr id="6" name="TextBox 5">
                <a:extLst>
                  <a:ext uri="{FF2B5EF4-FFF2-40B4-BE49-F238E27FC236}">
                    <a16:creationId xmlns:a16="http://schemas.microsoft.com/office/drawing/2014/main" id="{618A004E-C36C-A0BD-B4FD-46D940AD7EB5}"/>
                  </a:ext>
                </a:extLst>
              </p:cNvPr>
              <p:cNvSpPr txBox="1">
                <a:spLocks noRot="1" noChangeAspect="1" noMove="1" noResize="1" noEditPoints="1" noAdjustHandles="1" noChangeArrowheads="1" noChangeShapeType="1" noTextEdit="1"/>
              </p:cNvSpPr>
              <p:nvPr/>
            </p:nvSpPr>
            <p:spPr>
              <a:xfrm>
                <a:off x="-66431" y="4640440"/>
                <a:ext cx="2172675" cy="461665"/>
              </a:xfrm>
              <a:prstGeom prst="rect">
                <a:avLst/>
              </a:prstGeom>
              <a:blipFill>
                <a:blip r:embed="rId5"/>
                <a:stretch>
                  <a:fillRect b="-17105"/>
                </a:stretch>
              </a:blipFill>
            </p:spPr>
            <p:txBody>
              <a:bodyPr/>
              <a:lstStyle/>
              <a:p>
                <a:r>
                  <a:rPr lang="en-SG">
                    <a:noFill/>
                  </a:rPr>
                  <a:t> </a:t>
                </a:r>
              </a:p>
            </p:txBody>
          </p:sp>
        </mc:Fallback>
      </mc:AlternateContent>
      <p:cxnSp>
        <p:nvCxnSpPr>
          <p:cNvPr id="8" name="Straight Arrow Connector 7">
            <a:extLst>
              <a:ext uri="{FF2B5EF4-FFF2-40B4-BE49-F238E27FC236}">
                <a16:creationId xmlns:a16="http://schemas.microsoft.com/office/drawing/2014/main" id="{D7E9812F-F2E8-E040-2472-E8D75FDCF55E}"/>
              </a:ext>
            </a:extLst>
          </p:cNvPr>
          <p:cNvCxnSpPr/>
          <p:nvPr/>
        </p:nvCxnSpPr>
        <p:spPr>
          <a:xfrm>
            <a:off x="1266092" y="2905703"/>
            <a:ext cx="107852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AA2532C-5A73-EE55-7432-C84D1C844169}"/>
              </a:ext>
            </a:extLst>
          </p:cNvPr>
          <p:cNvCxnSpPr>
            <a:cxnSpLocks/>
          </p:cNvCxnSpPr>
          <p:nvPr/>
        </p:nvCxnSpPr>
        <p:spPr>
          <a:xfrm>
            <a:off x="1961662" y="4931508"/>
            <a:ext cx="38295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32F0860-5D71-23C0-7F46-359A433FCDCB}"/>
              </a:ext>
            </a:extLst>
          </p:cNvPr>
          <p:cNvCxnSpPr>
            <a:cxnSpLocks/>
          </p:cNvCxnSpPr>
          <p:nvPr/>
        </p:nvCxnSpPr>
        <p:spPr>
          <a:xfrm>
            <a:off x="3915508" y="2905703"/>
            <a:ext cx="3126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40BD230-5EDA-0119-291A-1D565F88F5CA}"/>
              </a:ext>
            </a:extLst>
          </p:cNvPr>
          <p:cNvCxnSpPr>
            <a:cxnSpLocks/>
          </p:cNvCxnSpPr>
          <p:nvPr/>
        </p:nvCxnSpPr>
        <p:spPr>
          <a:xfrm>
            <a:off x="3915508" y="4931508"/>
            <a:ext cx="6643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B99946B-6B6B-90DD-0493-EBE789609C47}"/>
                  </a:ext>
                </a:extLst>
              </p:cNvPr>
              <p:cNvSpPr txBox="1"/>
              <p:nvPr/>
            </p:nvSpPr>
            <p:spPr>
              <a:xfrm>
                <a:off x="4579816" y="4700675"/>
                <a:ext cx="66430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1</m:t>
                          </m:r>
                        </m:sub>
                      </m:sSub>
                    </m:oMath>
                  </m:oMathPara>
                </a14:m>
                <a:endParaRPr lang="en-SG" sz="2400" dirty="0"/>
              </a:p>
            </p:txBody>
          </p:sp>
        </mc:Choice>
        <mc:Fallback xmlns="">
          <p:sp>
            <p:nvSpPr>
              <p:cNvPr id="17" name="TextBox 16">
                <a:extLst>
                  <a:ext uri="{FF2B5EF4-FFF2-40B4-BE49-F238E27FC236}">
                    <a16:creationId xmlns:a16="http://schemas.microsoft.com/office/drawing/2014/main" id="{4B99946B-6B6B-90DD-0493-EBE789609C47}"/>
                  </a:ext>
                </a:extLst>
              </p:cNvPr>
              <p:cNvSpPr txBox="1">
                <a:spLocks noRot="1" noChangeAspect="1" noMove="1" noResize="1" noEditPoints="1" noAdjustHandles="1" noChangeArrowheads="1" noChangeShapeType="1" noTextEdit="1"/>
              </p:cNvSpPr>
              <p:nvPr/>
            </p:nvSpPr>
            <p:spPr>
              <a:xfrm>
                <a:off x="4579816" y="4700675"/>
                <a:ext cx="664308" cy="461665"/>
              </a:xfrm>
              <a:prstGeom prst="rect">
                <a:avLst/>
              </a:prstGeom>
              <a:blipFill>
                <a:blip r:embed="rId6"/>
                <a:stretch>
                  <a:fillRect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CD84635E-2C16-54E4-7A9D-F4ADD004BBF5}"/>
                  </a:ext>
                </a:extLst>
              </p:cNvPr>
              <p:cNvSpPr/>
              <p:nvPr/>
            </p:nvSpPr>
            <p:spPr>
              <a:xfrm>
                <a:off x="6932248" y="1990914"/>
                <a:ext cx="1570892" cy="4024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Neural Network prediction at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 =2</m:t>
                    </m:r>
                  </m:oMath>
                </a14:m>
                <a:endParaRPr lang="en-SG" dirty="0"/>
              </a:p>
            </p:txBody>
          </p:sp>
        </mc:Choice>
        <mc:Fallback xmlns="">
          <p:sp>
            <p:nvSpPr>
              <p:cNvPr id="18" name="Rectangle 17">
                <a:extLst>
                  <a:ext uri="{FF2B5EF4-FFF2-40B4-BE49-F238E27FC236}">
                    <a16:creationId xmlns:a16="http://schemas.microsoft.com/office/drawing/2014/main" id="{CD84635E-2C16-54E4-7A9D-F4ADD004BBF5}"/>
                  </a:ext>
                </a:extLst>
              </p:cNvPr>
              <p:cNvSpPr>
                <a:spLocks noRot="1" noChangeAspect="1" noMove="1" noResize="1" noEditPoints="1" noAdjustHandles="1" noChangeArrowheads="1" noChangeShapeType="1" noTextEdit="1"/>
              </p:cNvSpPr>
              <p:nvPr/>
            </p:nvSpPr>
            <p:spPr>
              <a:xfrm>
                <a:off x="6932248" y="1990914"/>
                <a:ext cx="1570892" cy="4024923"/>
              </a:xfrm>
              <a:prstGeom prst="rect">
                <a:avLst/>
              </a:prstGeom>
              <a:blipFill>
                <a:blip r:embed="rId7"/>
                <a:stretch>
                  <a:fillRect/>
                </a:stretch>
              </a:blipFill>
            </p:spPr>
            <p:txBody>
              <a:bodyPr/>
              <a:lstStyle/>
              <a:p>
                <a:r>
                  <a:rPr lang="en-SG">
                    <a:noFill/>
                  </a:rPr>
                  <a:t> </a:t>
                </a:r>
              </a:p>
            </p:txBody>
          </p:sp>
        </mc:Fallback>
      </mc:AlternateContent>
      <p:cxnSp>
        <p:nvCxnSpPr>
          <p:cNvPr id="19" name="Straight Arrow Connector 18">
            <a:extLst>
              <a:ext uri="{FF2B5EF4-FFF2-40B4-BE49-F238E27FC236}">
                <a16:creationId xmlns:a16="http://schemas.microsoft.com/office/drawing/2014/main" id="{A51DA120-D8B1-0C8C-2868-4245CBED7B3F}"/>
              </a:ext>
            </a:extLst>
          </p:cNvPr>
          <p:cNvCxnSpPr>
            <a:cxnSpLocks/>
            <a:stCxn id="17" idx="3"/>
          </p:cNvCxnSpPr>
          <p:nvPr/>
        </p:nvCxnSpPr>
        <p:spPr>
          <a:xfrm flipV="1">
            <a:off x="5244124" y="4931507"/>
            <a:ext cx="1688124"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E8088D8-695E-CBE5-B605-617F7284E996}"/>
                  </a:ext>
                </a:extLst>
              </p:cNvPr>
              <p:cNvSpPr txBox="1"/>
              <p:nvPr/>
            </p:nvSpPr>
            <p:spPr>
              <a:xfrm>
                <a:off x="5704255" y="2674870"/>
                <a:ext cx="12035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𝑥</m:t>
                          </m:r>
                        </m:e>
                        <m:sub>
                          <m:r>
                            <a:rPr lang="en-GB" sz="2400" b="0" i="1" dirty="0" smtClean="0">
                              <a:latin typeface="Cambria Math" panose="02040503050406030204" pitchFamily="18" charset="0"/>
                            </a:rPr>
                            <m:t>2</m:t>
                          </m:r>
                        </m:sub>
                      </m:sSub>
                    </m:oMath>
                  </m:oMathPara>
                </a14:m>
                <a:endParaRPr lang="en-SG" sz="2400" dirty="0"/>
              </a:p>
            </p:txBody>
          </p:sp>
        </mc:Choice>
        <mc:Fallback xmlns="">
          <p:sp>
            <p:nvSpPr>
              <p:cNvPr id="22" name="TextBox 21">
                <a:extLst>
                  <a:ext uri="{FF2B5EF4-FFF2-40B4-BE49-F238E27FC236}">
                    <a16:creationId xmlns:a16="http://schemas.microsoft.com/office/drawing/2014/main" id="{2E8088D8-695E-CBE5-B605-617F7284E996}"/>
                  </a:ext>
                </a:extLst>
              </p:cNvPr>
              <p:cNvSpPr txBox="1">
                <a:spLocks noRot="1" noChangeAspect="1" noMove="1" noResize="1" noEditPoints="1" noAdjustHandles="1" noChangeArrowheads="1" noChangeShapeType="1" noTextEdit="1"/>
              </p:cNvSpPr>
              <p:nvPr/>
            </p:nvSpPr>
            <p:spPr>
              <a:xfrm>
                <a:off x="5704255" y="2674870"/>
                <a:ext cx="1203570" cy="461665"/>
              </a:xfrm>
              <a:prstGeom prst="rect">
                <a:avLst/>
              </a:prstGeom>
              <a:blipFill>
                <a:blip r:embed="rId8"/>
                <a:stretch>
                  <a:fillRect/>
                </a:stretch>
              </a:blipFill>
            </p:spPr>
            <p:txBody>
              <a:bodyPr/>
              <a:lstStyle/>
              <a:p>
                <a:r>
                  <a:rPr lang="en-SG">
                    <a:noFill/>
                  </a:rPr>
                  <a:t> </a:t>
                </a:r>
              </a:p>
            </p:txBody>
          </p:sp>
        </mc:Fallback>
      </mc:AlternateContent>
      <p:cxnSp>
        <p:nvCxnSpPr>
          <p:cNvPr id="23" name="Straight Arrow Connector 22">
            <a:extLst>
              <a:ext uri="{FF2B5EF4-FFF2-40B4-BE49-F238E27FC236}">
                <a16:creationId xmlns:a16="http://schemas.microsoft.com/office/drawing/2014/main" id="{3E5CAEAB-3CD0-DCCC-58DD-7B3E30B7A28D}"/>
              </a:ext>
            </a:extLst>
          </p:cNvPr>
          <p:cNvCxnSpPr>
            <a:cxnSpLocks/>
          </p:cNvCxnSpPr>
          <p:nvPr/>
        </p:nvCxnSpPr>
        <p:spPr>
          <a:xfrm flipV="1">
            <a:off x="6578601" y="2905702"/>
            <a:ext cx="353647"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C1DA3EC-C32E-729A-1C60-7B88E23B8E7D}"/>
                  </a:ext>
                </a:extLst>
              </p:cNvPr>
              <p:cNvSpPr txBox="1"/>
              <p:nvPr/>
            </p:nvSpPr>
            <p:spPr>
              <a:xfrm>
                <a:off x="8251095" y="1991193"/>
                <a:ext cx="1949938" cy="156966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𝑦</m:t>
                          </m:r>
                        </m:e>
                        <m:sub>
                          <m:r>
                            <a:rPr lang="en-GB" sz="2400" b="0" i="1" dirty="0" smtClean="0">
                              <a:latin typeface="Cambria Math" panose="02040503050406030204" pitchFamily="18" charset="0"/>
                            </a:rPr>
                            <m:t>2</m:t>
                          </m:r>
                        </m:sub>
                      </m:sSub>
                    </m:oMath>
                  </m:oMathPara>
                </a14:m>
                <a:endParaRPr lang="en-SG" sz="2400" dirty="0"/>
              </a:p>
              <a:p>
                <a:pPr algn="ctr"/>
                <a:r>
                  <a:rPr lang="en-SG" sz="2400" dirty="0"/>
                  <a:t>(pred.</a:t>
                </a:r>
                <a:br>
                  <a:rPr lang="en-SG" sz="2400" dirty="0"/>
                </a:br>
                <a:r>
                  <a:rPr lang="en-SG" sz="2400" dirty="0"/>
                  <a:t>for</a:t>
                </a:r>
                <a:br>
                  <a:rPr lang="en-SG" sz="2400" dirty="0"/>
                </a:b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3</m:t>
                        </m:r>
                      </m:sub>
                    </m:sSub>
                  </m:oMath>
                </a14:m>
                <a:r>
                  <a:rPr lang="en-SG" sz="2400" dirty="0"/>
                  <a:t>)</a:t>
                </a:r>
              </a:p>
            </p:txBody>
          </p:sp>
        </mc:Choice>
        <mc:Fallback xmlns="">
          <p:sp>
            <p:nvSpPr>
              <p:cNvPr id="27" name="TextBox 26">
                <a:extLst>
                  <a:ext uri="{FF2B5EF4-FFF2-40B4-BE49-F238E27FC236}">
                    <a16:creationId xmlns:a16="http://schemas.microsoft.com/office/drawing/2014/main" id="{0C1DA3EC-C32E-729A-1C60-7B88E23B8E7D}"/>
                  </a:ext>
                </a:extLst>
              </p:cNvPr>
              <p:cNvSpPr txBox="1">
                <a:spLocks noRot="1" noChangeAspect="1" noMove="1" noResize="1" noEditPoints="1" noAdjustHandles="1" noChangeArrowheads="1" noChangeShapeType="1" noTextEdit="1"/>
              </p:cNvSpPr>
              <p:nvPr/>
            </p:nvSpPr>
            <p:spPr>
              <a:xfrm>
                <a:off x="8251095" y="1991193"/>
                <a:ext cx="1949938" cy="1569660"/>
              </a:xfrm>
              <a:prstGeom prst="rect">
                <a:avLst/>
              </a:prstGeom>
              <a:blipFill>
                <a:blip r:embed="rId9"/>
                <a:stretch>
                  <a:fillRect b="-8171"/>
                </a:stretch>
              </a:blipFill>
            </p:spPr>
            <p:txBody>
              <a:bodyPr/>
              <a:lstStyle/>
              <a:p>
                <a:r>
                  <a:rPr lang="en-SG">
                    <a:noFill/>
                  </a:rPr>
                  <a:t> </a:t>
                </a:r>
              </a:p>
            </p:txBody>
          </p:sp>
        </mc:Fallback>
      </mc:AlternateContent>
      <p:cxnSp>
        <p:nvCxnSpPr>
          <p:cNvPr id="28" name="Straight Arrow Connector 27">
            <a:extLst>
              <a:ext uri="{FF2B5EF4-FFF2-40B4-BE49-F238E27FC236}">
                <a16:creationId xmlns:a16="http://schemas.microsoft.com/office/drawing/2014/main" id="{80D768EE-5262-E5CA-082B-4660A2B66B45}"/>
              </a:ext>
            </a:extLst>
          </p:cNvPr>
          <p:cNvCxnSpPr>
            <a:cxnSpLocks/>
          </p:cNvCxnSpPr>
          <p:nvPr/>
        </p:nvCxnSpPr>
        <p:spPr>
          <a:xfrm>
            <a:off x="8503140" y="2905982"/>
            <a:ext cx="3126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511ED1B-BF15-5FC2-E042-64663686C819}"/>
              </a:ext>
            </a:extLst>
          </p:cNvPr>
          <p:cNvCxnSpPr>
            <a:cxnSpLocks/>
          </p:cNvCxnSpPr>
          <p:nvPr/>
        </p:nvCxnSpPr>
        <p:spPr>
          <a:xfrm>
            <a:off x="8493371" y="4931507"/>
            <a:ext cx="6643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F92D947-8A37-C6CB-24FB-05464BCE64E6}"/>
                  </a:ext>
                </a:extLst>
              </p:cNvPr>
              <p:cNvSpPr txBox="1"/>
              <p:nvPr/>
            </p:nvSpPr>
            <p:spPr>
              <a:xfrm>
                <a:off x="9157679" y="4700674"/>
                <a:ext cx="66430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2</m:t>
                          </m:r>
                        </m:sub>
                      </m:sSub>
                    </m:oMath>
                  </m:oMathPara>
                </a14:m>
                <a:endParaRPr lang="en-SG" sz="2400" dirty="0"/>
              </a:p>
            </p:txBody>
          </p:sp>
        </mc:Choice>
        <mc:Fallback xmlns="">
          <p:sp>
            <p:nvSpPr>
              <p:cNvPr id="30" name="TextBox 29">
                <a:extLst>
                  <a:ext uri="{FF2B5EF4-FFF2-40B4-BE49-F238E27FC236}">
                    <a16:creationId xmlns:a16="http://schemas.microsoft.com/office/drawing/2014/main" id="{CF92D947-8A37-C6CB-24FB-05464BCE64E6}"/>
                  </a:ext>
                </a:extLst>
              </p:cNvPr>
              <p:cNvSpPr txBox="1">
                <a:spLocks noRot="1" noChangeAspect="1" noMove="1" noResize="1" noEditPoints="1" noAdjustHandles="1" noChangeArrowheads="1" noChangeShapeType="1" noTextEdit="1"/>
              </p:cNvSpPr>
              <p:nvPr/>
            </p:nvSpPr>
            <p:spPr>
              <a:xfrm>
                <a:off x="9157679" y="4700674"/>
                <a:ext cx="664308" cy="461665"/>
              </a:xfrm>
              <a:prstGeom prst="rect">
                <a:avLst/>
              </a:prstGeom>
              <a:blipFill>
                <a:blip r:embed="rId10"/>
                <a:stretch>
                  <a:fillRect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8690D79-C8B8-1BAF-BBD2-92E9DA5073F0}"/>
                  </a:ext>
                </a:extLst>
              </p:cNvPr>
              <p:cNvSpPr txBox="1"/>
              <p:nvPr/>
            </p:nvSpPr>
            <p:spPr>
              <a:xfrm>
                <a:off x="10658231" y="3560574"/>
                <a:ext cx="1391138" cy="923330"/>
              </a:xfrm>
              <a:prstGeom prst="rect">
                <a:avLst/>
              </a:prstGeom>
              <a:noFill/>
            </p:spPr>
            <p:txBody>
              <a:bodyPr wrap="square" rtlCol="0">
                <a:spAutoFit/>
              </a:bodyPr>
              <a:lstStyle/>
              <a:p>
                <a:pPr algn="ctr"/>
                <a:r>
                  <a:rPr lang="en-GB" dirty="0"/>
                  <a:t>Etc.</a:t>
                </a:r>
              </a:p>
              <a:p>
                <a:pPr algn="ctr"/>
                <a:r>
                  <a:rPr lang="en-GB" dirty="0"/>
                  <a:t>(use for loop on time </a:t>
                </a:r>
                <a14:m>
                  <m:oMath xmlns:m="http://schemas.openxmlformats.org/officeDocument/2006/math">
                    <m:r>
                      <a:rPr lang="en-GB" i="1" dirty="0" smtClean="0">
                        <a:latin typeface="Cambria Math" panose="02040503050406030204" pitchFamily="18" charset="0"/>
                      </a:rPr>
                      <m:t>𝑡</m:t>
                    </m:r>
                  </m:oMath>
                </a14:m>
                <a:r>
                  <a:rPr lang="en-GB" dirty="0"/>
                  <a:t>)</a:t>
                </a:r>
                <a:endParaRPr lang="en-SG" dirty="0"/>
              </a:p>
            </p:txBody>
          </p:sp>
        </mc:Choice>
        <mc:Fallback xmlns="">
          <p:sp>
            <p:nvSpPr>
              <p:cNvPr id="31" name="TextBox 30">
                <a:extLst>
                  <a:ext uri="{FF2B5EF4-FFF2-40B4-BE49-F238E27FC236}">
                    <a16:creationId xmlns:a16="http://schemas.microsoft.com/office/drawing/2014/main" id="{A8690D79-C8B8-1BAF-BBD2-92E9DA5073F0}"/>
                  </a:ext>
                </a:extLst>
              </p:cNvPr>
              <p:cNvSpPr txBox="1">
                <a:spLocks noRot="1" noChangeAspect="1" noMove="1" noResize="1" noEditPoints="1" noAdjustHandles="1" noChangeArrowheads="1" noChangeShapeType="1" noTextEdit="1"/>
              </p:cNvSpPr>
              <p:nvPr/>
            </p:nvSpPr>
            <p:spPr>
              <a:xfrm>
                <a:off x="10658231" y="3560574"/>
                <a:ext cx="1391138" cy="923330"/>
              </a:xfrm>
              <a:prstGeom prst="rect">
                <a:avLst/>
              </a:prstGeom>
              <a:blipFill>
                <a:blip r:embed="rId11"/>
                <a:stretch>
                  <a:fillRect l="-2620" t="-3289" r="-2620" b="-9211"/>
                </a:stretch>
              </a:blipFill>
            </p:spPr>
            <p:txBody>
              <a:bodyPr/>
              <a:lstStyle/>
              <a:p>
                <a:r>
                  <a:rPr lang="en-SG">
                    <a:noFill/>
                  </a:rPr>
                  <a:t> </a:t>
                </a:r>
              </a:p>
            </p:txBody>
          </p:sp>
        </mc:Fallback>
      </mc:AlternateContent>
    </p:spTree>
    <p:extLst>
      <p:ext uri="{BB962C8B-B14F-4D97-AF65-F5344CB8AC3E}">
        <p14:creationId xmlns:p14="http://schemas.microsoft.com/office/powerpoint/2010/main" val="4262229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C768D-0ADB-471D-2241-6FFD5D4B8E56}"/>
              </a:ext>
            </a:extLst>
          </p:cNvPr>
          <p:cNvSpPr>
            <a:spLocks noGrp="1"/>
          </p:cNvSpPr>
          <p:nvPr>
            <p:ph type="title"/>
          </p:nvPr>
        </p:nvSpPr>
        <p:spPr/>
        <p:txBody>
          <a:bodyPr/>
          <a:lstStyle/>
          <a:p>
            <a:r>
              <a:rPr lang="en-GB" dirty="0"/>
              <a:t>Defining a Recurrent Neural Network (RNN)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0AE32E-486E-5D7D-8C79-C7083EAF2382}"/>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Recurrent</a:t>
                </a:r>
                <a:r>
                  <a:rPr lang="en-GB" b="1" dirty="0"/>
                  <a:t> </a:t>
                </a:r>
                <a:r>
                  <a:rPr lang="en-GB" b="1" dirty="0">
                    <a:solidFill>
                      <a:srgbClr val="00B050"/>
                    </a:solidFill>
                  </a:rPr>
                  <a:t>Neural</a:t>
                </a:r>
                <a:r>
                  <a:rPr lang="en-GB" b="1" dirty="0"/>
                  <a:t> </a:t>
                </a:r>
                <a:r>
                  <a:rPr lang="en-GB" b="1" dirty="0">
                    <a:solidFill>
                      <a:srgbClr val="00B050"/>
                    </a:solidFill>
                  </a:rPr>
                  <a:t>Network</a:t>
                </a:r>
                <a:r>
                  <a:rPr lang="en-GB" b="1" dirty="0"/>
                  <a:t>):</a:t>
                </a:r>
              </a:p>
              <a:p>
                <a:pPr marL="0" indent="0">
                  <a:buNone/>
                </a:pPr>
                <a:r>
                  <a:rPr lang="en-SG" dirty="0"/>
                  <a:t>A </a:t>
                </a:r>
                <a:r>
                  <a:rPr lang="en-SG" b="1" dirty="0">
                    <a:solidFill>
                      <a:srgbClr val="00B050"/>
                    </a:solidFill>
                  </a:rPr>
                  <a:t>Recurrent</a:t>
                </a:r>
                <a:r>
                  <a:rPr lang="en-SG" b="1" dirty="0"/>
                  <a:t> </a:t>
                </a:r>
                <a:r>
                  <a:rPr lang="en-SG" b="1" dirty="0">
                    <a:solidFill>
                      <a:srgbClr val="00B050"/>
                    </a:solidFill>
                  </a:rPr>
                  <a:t>Neural</a:t>
                </a:r>
                <a:r>
                  <a:rPr lang="en-SG" b="1" dirty="0"/>
                  <a:t> </a:t>
                </a:r>
                <a:r>
                  <a:rPr lang="en-SG" b="1" dirty="0">
                    <a:solidFill>
                      <a:srgbClr val="00B050"/>
                    </a:solidFill>
                  </a:rPr>
                  <a:t>Network</a:t>
                </a:r>
                <a:r>
                  <a:rPr lang="en-SG" b="1" dirty="0"/>
                  <a:t> (or </a:t>
                </a:r>
                <a:r>
                  <a:rPr lang="en-SG" b="1" dirty="0">
                    <a:solidFill>
                      <a:srgbClr val="00B050"/>
                    </a:solidFill>
                  </a:rPr>
                  <a:t>RNN</a:t>
                </a:r>
                <a:r>
                  <a:rPr lang="en-SG" b="1" dirty="0"/>
                  <a:t>) </a:t>
                </a:r>
                <a:r>
                  <a:rPr lang="en-SG" dirty="0"/>
                  <a:t>is a neural network that operates on series and will:</a:t>
                </a:r>
              </a:p>
              <a:p>
                <a:r>
                  <a:rPr lang="en-GB" dirty="0"/>
                  <a:t>Receive an input which consists of </a:t>
                </a:r>
                <a:r>
                  <a:rPr lang="en-GB" b="1" dirty="0"/>
                  <a:t>the observation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𝒙</m:t>
                        </m:r>
                      </m:e>
                      <m:sub>
                        <m:r>
                          <a:rPr lang="en-GB" b="1" i="1">
                            <a:latin typeface="Cambria Math" panose="02040503050406030204" pitchFamily="18" charset="0"/>
                          </a:rPr>
                          <m:t>𝒕</m:t>
                        </m:r>
                      </m:sub>
                    </m:sSub>
                  </m:oMath>
                </a14:m>
                <a:r>
                  <a:rPr lang="en-GB" b="1" dirty="0"/>
                  <a:t> at time </a:t>
                </a:r>
                <a14:m>
                  <m:oMath xmlns:m="http://schemas.openxmlformats.org/officeDocument/2006/math">
                    <m:r>
                      <a:rPr lang="en-GB" b="1" i="1" dirty="0">
                        <a:latin typeface="Cambria Math" panose="02040503050406030204" pitchFamily="18" charset="0"/>
                      </a:rPr>
                      <m:t>𝒕</m:t>
                    </m:r>
                  </m:oMath>
                </a14:m>
                <a:r>
                  <a:rPr lang="en-GB" dirty="0"/>
                  <a:t>, and a </a:t>
                </a:r>
                <a:r>
                  <a:rPr lang="en-GB" b="1" dirty="0"/>
                  <a:t>memory vector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𝒉</m:t>
                        </m:r>
                      </m:e>
                      <m:sub>
                        <m:r>
                          <a:rPr lang="en-GB" b="1" i="1">
                            <a:latin typeface="Cambria Math" panose="02040503050406030204" pitchFamily="18" charset="0"/>
                          </a:rPr>
                          <m:t>𝒕</m:t>
                        </m:r>
                      </m:sub>
                    </m:sSub>
                  </m:oMath>
                </a14:m>
                <a:r>
                  <a:rPr lang="en-GB" b="1" dirty="0"/>
                  <a:t> computed as one of the Neural Network outputs at time </a:t>
                </a:r>
                <a14:m>
                  <m:oMath xmlns:m="http://schemas.openxmlformats.org/officeDocument/2006/math">
                    <m:r>
                      <a:rPr lang="en-GB" b="1" i="1">
                        <a:latin typeface="Cambria Math" panose="02040503050406030204" pitchFamily="18" charset="0"/>
                      </a:rPr>
                      <m:t>𝒕</m:t>
                    </m:r>
                    <m:r>
                      <a:rPr lang="en-GB" b="1" i="1">
                        <a:latin typeface="Cambria Math" panose="02040503050406030204" pitchFamily="18" charset="0"/>
                      </a:rPr>
                      <m:t>−</m:t>
                    </m:r>
                    <m:r>
                      <a:rPr lang="en-GB" b="1" i="1">
                        <a:latin typeface="Cambria Math" panose="02040503050406030204" pitchFamily="18" charset="0"/>
                      </a:rPr>
                      <m:t>𝟏</m:t>
                    </m:r>
                  </m:oMath>
                </a14:m>
                <a:r>
                  <a:rPr lang="en-GB" dirty="0"/>
                  <a:t>.</a:t>
                </a:r>
              </a:p>
              <a:p>
                <a:r>
                  <a:rPr lang="en-GB" dirty="0"/>
                  <a:t>Compute a </a:t>
                </a:r>
                <a:r>
                  <a:rPr lang="en-GB" b="1" dirty="0"/>
                  <a:t>prediction </a:t>
                </a:r>
                <a14:m>
                  <m:oMath xmlns:m="http://schemas.openxmlformats.org/officeDocument/2006/math">
                    <m:sSub>
                      <m:sSubPr>
                        <m:ctrlPr>
                          <a:rPr lang="en-GB" b="1" i="1" dirty="0">
                            <a:latin typeface="Cambria Math" panose="02040503050406030204" pitchFamily="18" charset="0"/>
                          </a:rPr>
                        </m:ctrlPr>
                      </m:sSubPr>
                      <m:e>
                        <m:r>
                          <a:rPr lang="en-GB" b="1" i="1" dirty="0">
                            <a:latin typeface="Cambria Math" panose="02040503050406030204" pitchFamily="18" charset="0"/>
                          </a:rPr>
                          <m:t>𝒚</m:t>
                        </m:r>
                      </m:e>
                      <m:sub>
                        <m:r>
                          <a:rPr lang="en-GB" b="1" i="1" dirty="0">
                            <a:latin typeface="Cambria Math" panose="02040503050406030204" pitchFamily="18" charset="0"/>
                          </a:rPr>
                          <m:t>𝒕</m:t>
                        </m:r>
                      </m:sub>
                    </m:sSub>
                  </m:oMath>
                </a14:m>
                <a:r>
                  <a:rPr lang="en-GB" b="1" dirty="0"/>
                  <a:t> for what should match the value of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𝒙</m:t>
                        </m:r>
                      </m:e>
                      <m:sub>
                        <m:r>
                          <a:rPr lang="en-GB" b="1" i="1">
                            <a:latin typeface="Cambria Math" panose="02040503050406030204" pitchFamily="18" charset="0"/>
                          </a:rPr>
                          <m:t>𝒕</m:t>
                        </m:r>
                        <m:r>
                          <a:rPr lang="en-GB" b="1" i="1">
                            <a:latin typeface="Cambria Math" panose="02040503050406030204" pitchFamily="18" charset="0"/>
                          </a:rPr>
                          <m:t>+</m:t>
                        </m:r>
                        <m:r>
                          <a:rPr lang="en-GB" b="1" i="1">
                            <a:latin typeface="Cambria Math" panose="02040503050406030204" pitchFamily="18" charset="0"/>
                          </a:rPr>
                          <m:t>𝟏</m:t>
                        </m:r>
                      </m:sub>
                    </m:sSub>
                  </m:oMath>
                </a14:m>
                <a:r>
                  <a:rPr lang="en-GB" dirty="0"/>
                  <a:t>, and an </a:t>
                </a:r>
                <a:r>
                  <a:rPr lang="en-GB" b="1" dirty="0"/>
                  <a:t>updated memory vector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𝒉</m:t>
                        </m:r>
                      </m:e>
                      <m:sub>
                        <m:r>
                          <a:rPr lang="en-GB" b="1" i="1">
                            <a:latin typeface="Cambria Math" panose="02040503050406030204" pitchFamily="18" charset="0"/>
                          </a:rPr>
                          <m:t>𝒕</m:t>
                        </m:r>
                        <m:r>
                          <a:rPr lang="en-GB" b="1" i="1">
                            <a:latin typeface="Cambria Math" panose="02040503050406030204" pitchFamily="18" charset="0"/>
                          </a:rPr>
                          <m:t>+</m:t>
                        </m:r>
                        <m:r>
                          <a:rPr lang="en-GB" b="1" i="1">
                            <a:latin typeface="Cambria Math" panose="02040503050406030204" pitchFamily="18" charset="0"/>
                          </a:rPr>
                          <m:t>𝟏</m:t>
                        </m:r>
                      </m:sub>
                    </m:sSub>
                  </m:oMath>
                </a14:m>
                <a:r>
                  <a:rPr lang="en-GB" b="1" dirty="0"/>
                  <a:t>, </a:t>
                </a:r>
                <a:r>
                  <a:rPr lang="en-GB" dirty="0"/>
                  <a:t>hopefully keeping a memory of what has happened in the previous operations.</a:t>
                </a:r>
              </a:p>
              <a:p>
                <a:pPr marL="0" indent="0">
                  <a:buNone/>
                </a:pPr>
                <a:r>
                  <a:rPr lang="en-SG" dirty="0"/>
                  <a:t>The RNN is then used on all datapoints in the time series, using a for loop repeating the forward pass operation on all data points.</a:t>
                </a:r>
              </a:p>
            </p:txBody>
          </p:sp>
        </mc:Choice>
        <mc:Fallback xmlns="">
          <p:sp>
            <p:nvSpPr>
              <p:cNvPr id="3" name="Content Placeholder 2">
                <a:extLst>
                  <a:ext uri="{FF2B5EF4-FFF2-40B4-BE49-F238E27FC236}">
                    <a16:creationId xmlns:a16="http://schemas.microsoft.com/office/drawing/2014/main" id="{4A0AE32E-486E-5D7D-8C79-C7083EAF238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681"/>
                </a:stretch>
              </a:blipFill>
            </p:spPr>
            <p:txBody>
              <a:bodyPr/>
              <a:lstStyle/>
              <a:p>
                <a:r>
                  <a:rPr lang="en-SG">
                    <a:noFill/>
                  </a:rPr>
                  <a:t> </a:t>
                </a:r>
              </a:p>
            </p:txBody>
          </p:sp>
        </mc:Fallback>
      </mc:AlternateContent>
    </p:spTree>
    <p:extLst>
      <p:ext uri="{BB962C8B-B14F-4D97-AF65-F5344CB8AC3E}">
        <p14:creationId xmlns:p14="http://schemas.microsoft.com/office/powerpoint/2010/main" val="2781272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96D466D-41F6-21B4-BFD8-29B41068C22C}"/>
                  </a:ext>
                </a:extLst>
              </p:cNvPr>
              <p:cNvSpPr txBox="1"/>
              <p:nvPr/>
            </p:nvSpPr>
            <p:spPr>
              <a:xfrm>
                <a:off x="3663463" y="1990914"/>
                <a:ext cx="1949938" cy="156966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𝑦</m:t>
                          </m:r>
                        </m:e>
                        <m:sub>
                          <m:r>
                            <a:rPr lang="en-GB" sz="2400" b="0" i="1" dirty="0" smtClean="0">
                              <a:latin typeface="Cambria Math" panose="02040503050406030204" pitchFamily="18" charset="0"/>
                            </a:rPr>
                            <m:t>1</m:t>
                          </m:r>
                        </m:sub>
                      </m:sSub>
                    </m:oMath>
                  </m:oMathPara>
                </a14:m>
                <a:endParaRPr lang="en-SG" sz="2400" dirty="0"/>
              </a:p>
              <a:p>
                <a:pPr algn="ctr"/>
                <a:r>
                  <a:rPr lang="en-SG" sz="2400" dirty="0"/>
                  <a:t>(pred.</a:t>
                </a:r>
                <a:br>
                  <a:rPr lang="en-SG" sz="2400" dirty="0"/>
                </a:br>
                <a:r>
                  <a:rPr lang="en-SG" sz="2400" dirty="0"/>
                  <a:t>for</a:t>
                </a:r>
                <a:br>
                  <a:rPr lang="en-SG" sz="2400" dirty="0"/>
                </a:b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2</m:t>
                        </m:r>
                      </m:sub>
                    </m:sSub>
                  </m:oMath>
                </a14:m>
                <a:r>
                  <a:rPr lang="en-SG" sz="2400" dirty="0"/>
                  <a:t>)</a:t>
                </a:r>
              </a:p>
            </p:txBody>
          </p:sp>
        </mc:Choice>
        <mc:Fallback xmlns="">
          <p:sp>
            <p:nvSpPr>
              <p:cNvPr id="14" name="TextBox 13">
                <a:extLst>
                  <a:ext uri="{FF2B5EF4-FFF2-40B4-BE49-F238E27FC236}">
                    <a16:creationId xmlns:a16="http://schemas.microsoft.com/office/drawing/2014/main" id="{E96D466D-41F6-21B4-BFD8-29B41068C22C}"/>
                  </a:ext>
                </a:extLst>
              </p:cNvPr>
              <p:cNvSpPr txBox="1">
                <a:spLocks noRot="1" noChangeAspect="1" noMove="1" noResize="1" noEditPoints="1" noAdjustHandles="1" noChangeArrowheads="1" noChangeShapeType="1" noTextEdit="1"/>
              </p:cNvSpPr>
              <p:nvPr/>
            </p:nvSpPr>
            <p:spPr>
              <a:xfrm>
                <a:off x="3663463" y="1990914"/>
                <a:ext cx="1949938" cy="1569660"/>
              </a:xfrm>
              <a:prstGeom prst="rect">
                <a:avLst/>
              </a:prstGeom>
              <a:blipFill>
                <a:blip r:embed="rId2"/>
                <a:stretch>
                  <a:fillRect b="-8171"/>
                </a:stretch>
              </a:blipFill>
            </p:spPr>
            <p:txBody>
              <a:bodyPr/>
              <a:lstStyle/>
              <a:p>
                <a:r>
                  <a:rPr lang="en-SG">
                    <a:noFill/>
                  </a:rPr>
                  <a:t> </a:t>
                </a:r>
              </a:p>
            </p:txBody>
          </p:sp>
        </mc:Fallback>
      </mc:AlternateContent>
      <p:sp>
        <p:nvSpPr>
          <p:cNvPr id="2" name="Title 1">
            <a:extLst>
              <a:ext uri="{FF2B5EF4-FFF2-40B4-BE49-F238E27FC236}">
                <a16:creationId xmlns:a16="http://schemas.microsoft.com/office/drawing/2014/main" id="{D4795DED-4F6A-4420-1474-79C41D9C7151}"/>
              </a:ext>
            </a:extLst>
          </p:cNvPr>
          <p:cNvSpPr>
            <a:spLocks noGrp="1"/>
          </p:cNvSpPr>
          <p:nvPr>
            <p:ph type="title"/>
          </p:nvPr>
        </p:nvSpPr>
        <p:spPr/>
        <p:txBody>
          <a:bodyPr/>
          <a:lstStyle/>
          <a:p>
            <a:r>
              <a:rPr lang="en-GB" dirty="0"/>
              <a:t>The need for memory</a:t>
            </a:r>
            <a:endParaRPr lang="en-SG"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74FAFFC-EE13-6E7D-3976-35D8869D82C3}"/>
                  </a:ext>
                </a:extLst>
              </p:cNvPr>
              <p:cNvSpPr/>
              <p:nvPr/>
            </p:nvSpPr>
            <p:spPr>
              <a:xfrm>
                <a:off x="2344616" y="1990914"/>
                <a:ext cx="1570892" cy="4024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Neural Network prediction at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 = 1</m:t>
                    </m:r>
                  </m:oMath>
                </a14:m>
                <a:endParaRPr lang="en-SG" dirty="0"/>
              </a:p>
            </p:txBody>
          </p:sp>
        </mc:Choice>
        <mc:Fallback xmlns="">
          <p:sp>
            <p:nvSpPr>
              <p:cNvPr id="4" name="Rectangle 3">
                <a:extLst>
                  <a:ext uri="{FF2B5EF4-FFF2-40B4-BE49-F238E27FC236}">
                    <a16:creationId xmlns:a16="http://schemas.microsoft.com/office/drawing/2014/main" id="{274FAFFC-EE13-6E7D-3976-35D8869D82C3}"/>
                  </a:ext>
                </a:extLst>
              </p:cNvPr>
              <p:cNvSpPr>
                <a:spLocks noRot="1" noChangeAspect="1" noMove="1" noResize="1" noEditPoints="1" noAdjustHandles="1" noChangeArrowheads="1" noChangeShapeType="1" noTextEdit="1"/>
              </p:cNvSpPr>
              <p:nvPr/>
            </p:nvSpPr>
            <p:spPr>
              <a:xfrm>
                <a:off x="2344616" y="1990914"/>
                <a:ext cx="1570892" cy="4024923"/>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C66D4B6-18A8-AE63-2FC1-32C7FC7C8213}"/>
                  </a:ext>
                </a:extLst>
              </p:cNvPr>
              <p:cNvSpPr txBox="1"/>
              <p:nvPr/>
            </p:nvSpPr>
            <p:spPr>
              <a:xfrm>
                <a:off x="418122" y="2674871"/>
                <a:ext cx="12035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𝑥</m:t>
                          </m:r>
                        </m:e>
                        <m:sub>
                          <m:r>
                            <a:rPr lang="en-GB" sz="2400" b="0" i="1" dirty="0" smtClean="0">
                              <a:latin typeface="Cambria Math" panose="02040503050406030204" pitchFamily="18" charset="0"/>
                            </a:rPr>
                            <m:t>1</m:t>
                          </m:r>
                        </m:sub>
                      </m:sSub>
                    </m:oMath>
                  </m:oMathPara>
                </a14:m>
                <a:endParaRPr lang="en-SG" sz="2400" dirty="0"/>
              </a:p>
            </p:txBody>
          </p:sp>
        </mc:Choice>
        <mc:Fallback xmlns="">
          <p:sp>
            <p:nvSpPr>
              <p:cNvPr id="5" name="TextBox 4">
                <a:extLst>
                  <a:ext uri="{FF2B5EF4-FFF2-40B4-BE49-F238E27FC236}">
                    <a16:creationId xmlns:a16="http://schemas.microsoft.com/office/drawing/2014/main" id="{BC66D4B6-18A8-AE63-2FC1-32C7FC7C8213}"/>
                  </a:ext>
                </a:extLst>
              </p:cNvPr>
              <p:cNvSpPr txBox="1">
                <a:spLocks noRot="1" noChangeAspect="1" noMove="1" noResize="1" noEditPoints="1" noAdjustHandles="1" noChangeArrowheads="1" noChangeShapeType="1" noTextEdit="1"/>
              </p:cNvSpPr>
              <p:nvPr/>
            </p:nvSpPr>
            <p:spPr>
              <a:xfrm>
                <a:off x="418122" y="2674871"/>
                <a:ext cx="1203570" cy="461665"/>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18A004E-C36C-A0BD-B4FD-46D940AD7EB5}"/>
                  </a:ext>
                </a:extLst>
              </p:cNvPr>
              <p:cNvSpPr txBox="1"/>
              <p:nvPr/>
            </p:nvSpPr>
            <p:spPr>
              <a:xfrm>
                <a:off x="-66431" y="4640440"/>
                <a:ext cx="217267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0</m:t>
                          </m:r>
                        </m:sub>
                      </m:sSub>
                      <m:r>
                        <a:rPr lang="en-GB" sz="2400" b="0" i="1" dirty="0" smtClean="0">
                          <a:latin typeface="Cambria Math" panose="02040503050406030204" pitchFamily="18" charset="0"/>
                        </a:rPr>
                        <m:t>=</m:t>
                      </m:r>
                      <m:r>
                        <a:rPr lang="en-GB" sz="2400" b="0" i="1" dirty="0" smtClean="0">
                          <a:latin typeface="Cambria Math" panose="02040503050406030204" pitchFamily="18" charset="0"/>
                        </a:rPr>
                        <m:t>𝑧𝑒𝑟𝑜𝑠</m:t>
                      </m:r>
                      <m:r>
                        <a:rPr lang="en-GB" sz="2400" b="0" i="1" dirty="0" smtClean="0">
                          <a:latin typeface="Cambria Math" panose="02040503050406030204" pitchFamily="18" charset="0"/>
                        </a:rPr>
                        <m:t>(</m:t>
                      </m:r>
                      <m:r>
                        <a:rPr lang="en-GB" sz="2400" b="0" i="1" dirty="0" smtClean="0">
                          <a:latin typeface="Cambria Math" panose="02040503050406030204" pitchFamily="18" charset="0"/>
                        </a:rPr>
                        <m:t>𝑙</m:t>
                      </m:r>
                      <m:r>
                        <a:rPr lang="en-GB" sz="2400" b="0" i="1" dirty="0" smtClean="0">
                          <a:latin typeface="Cambria Math" panose="02040503050406030204" pitchFamily="18" charset="0"/>
                        </a:rPr>
                        <m:t>)</m:t>
                      </m:r>
                    </m:oMath>
                  </m:oMathPara>
                </a14:m>
                <a:endParaRPr lang="en-SG" sz="2400" dirty="0"/>
              </a:p>
            </p:txBody>
          </p:sp>
        </mc:Choice>
        <mc:Fallback xmlns="">
          <p:sp>
            <p:nvSpPr>
              <p:cNvPr id="6" name="TextBox 5">
                <a:extLst>
                  <a:ext uri="{FF2B5EF4-FFF2-40B4-BE49-F238E27FC236}">
                    <a16:creationId xmlns:a16="http://schemas.microsoft.com/office/drawing/2014/main" id="{618A004E-C36C-A0BD-B4FD-46D940AD7EB5}"/>
                  </a:ext>
                </a:extLst>
              </p:cNvPr>
              <p:cNvSpPr txBox="1">
                <a:spLocks noRot="1" noChangeAspect="1" noMove="1" noResize="1" noEditPoints="1" noAdjustHandles="1" noChangeArrowheads="1" noChangeShapeType="1" noTextEdit="1"/>
              </p:cNvSpPr>
              <p:nvPr/>
            </p:nvSpPr>
            <p:spPr>
              <a:xfrm>
                <a:off x="-66431" y="4640440"/>
                <a:ext cx="2172675" cy="461665"/>
              </a:xfrm>
              <a:prstGeom prst="rect">
                <a:avLst/>
              </a:prstGeom>
              <a:blipFill>
                <a:blip r:embed="rId5"/>
                <a:stretch>
                  <a:fillRect b="-17105"/>
                </a:stretch>
              </a:blipFill>
            </p:spPr>
            <p:txBody>
              <a:bodyPr/>
              <a:lstStyle/>
              <a:p>
                <a:r>
                  <a:rPr lang="en-SG">
                    <a:noFill/>
                  </a:rPr>
                  <a:t> </a:t>
                </a:r>
              </a:p>
            </p:txBody>
          </p:sp>
        </mc:Fallback>
      </mc:AlternateContent>
      <p:cxnSp>
        <p:nvCxnSpPr>
          <p:cNvPr id="8" name="Straight Arrow Connector 7">
            <a:extLst>
              <a:ext uri="{FF2B5EF4-FFF2-40B4-BE49-F238E27FC236}">
                <a16:creationId xmlns:a16="http://schemas.microsoft.com/office/drawing/2014/main" id="{D7E9812F-F2E8-E040-2472-E8D75FDCF55E}"/>
              </a:ext>
            </a:extLst>
          </p:cNvPr>
          <p:cNvCxnSpPr/>
          <p:nvPr/>
        </p:nvCxnSpPr>
        <p:spPr>
          <a:xfrm>
            <a:off x="1266092" y="2905703"/>
            <a:ext cx="107852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AA2532C-5A73-EE55-7432-C84D1C844169}"/>
              </a:ext>
            </a:extLst>
          </p:cNvPr>
          <p:cNvCxnSpPr>
            <a:cxnSpLocks/>
          </p:cNvCxnSpPr>
          <p:nvPr/>
        </p:nvCxnSpPr>
        <p:spPr>
          <a:xfrm>
            <a:off x="1961662" y="4931508"/>
            <a:ext cx="38295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32F0860-5D71-23C0-7F46-359A433FCDCB}"/>
              </a:ext>
            </a:extLst>
          </p:cNvPr>
          <p:cNvCxnSpPr>
            <a:cxnSpLocks/>
          </p:cNvCxnSpPr>
          <p:nvPr/>
        </p:nvCxnSpPr>
        <p:spPr>
          <a:xfrm>
            <a:off x="3915508" y="2905703"/>
            <a:ext cx="3126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40BD230-5EDA-0119-291A-1D565F88F5CA}"/>
              </a:ext>
            </a:extLst>
          </p:cNvPr>
          <p:cNvCxnSpPr>
            <a:cxnSpLocks/>
          </p:cNvCxnSpPr>
          <p:nvPr/>
        </p:nvCxnSpPr>
        <p:spPr>
          <a:xfrm>
            <a:off x="3915508" y="4931508"/>
            <a:ext cx="6643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B99946B-6B6B-90DD-0493-EBE789609C47}"/>
                  </a:ext>
                </a:extLst>
              </p:cNvPr>
              <p:cNvSpPr txBox="1"/>
              <p:nvPr/>
            </p:nvSpPr>
            <p:spPr>
              <a:xfrm>
                <a:off x="4579816" y="4700675"/>
                <a:ext cx="66430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1</m:t>
                          </m:r>
                        </m:sub>
                      </m:sSub>
                    </m:oMath>
                  </m:oMathPara>
                </a14:m>
                <a:endParaRPr lang="en-SG" sz="2400" dirty="0"/>
              </a:p>
            </p:txBody>
          </p:sp>
        </mc:Choice>
        <mc:Fallback xmlns="">
          <p:sp>
            <p:nvSpPr>
              <p:cNvPr id="17" name="TextBox 16">
                <a:extLst>
                  <a:ext uri="{FF2B5EF4-FFF2-40B4-BE49-F238E27FC236}">
                    <a16:creationId xmlns:a16="http://schemas.microsoft.com/office/drawing/2014/main" id="{4B99946B-6B6B-90DD-0493-EBE789609C47}"/>
                  </a:ext>
                </a:extLst>
              </p:cNvPr>
              <p:cNvSpPr txBox="1">
                <a:spLocks noRot="1" noChangeAspect="1" noMove="1" noResize="1" noEditPoints="1" noAdjustHandles="1" noChangeArrowheads="1" noChangeShapeType="1" noTextEdit="1"/>
              </p:cNvSpPr>
              <p:nvPr/>
            </p:nvSpPr>
            <p:spPr>
              <a:xfrm>
                <a:off x="4579816" y="4700675"/>
                <a:ext cx="664308" cy="461665"/>
              </a:xfrm>
              <a:prstGeom prst="rect">
                <a:avLst/>
              </a:prstGeom>
              <a:blipFill>
                <a:blip r:embed="rId6"/>
                <a:stretch>
                  <a:fillRect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CD84635E-2C16-54E4-7A9D-F4ADD004BBF5}"/>
                  </a:ext>
                </a:extLst>
              </p:cNvPr>
              <p:cNvSpPr/>
              <p:nvPr/>
            </p:nvSpPr>
            <p:spPr>
              <a:xfrm>
                <a:off x="6932248" y="1990914"/>
                <a:ext cx="1570892" cy="4024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Neural Network prediction at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 =2</m:t>
                    </m:r>
                  </m:oMath>
                </a14:m>
                <a:endParaRPr lang="en-SG" dirty="0"/>
              </a:p>
            </p:txBody>
          </p:sp>
        </mc:Choice>
        <mc:Fallback xmlns="">
          <p:sp>
            <p:nvSpPr>
              <p:cNvPr id="18" name="Rectangle 17">
                <a:extLst>
                  <a:ext uri="{FF2B5EF4-FFF2-40B4-BE49-F238E27FC236}">
                    <a16:creationId xmlns:a16="http://schemas.microsoft.com/office/drawing/2014/main" id="{CD84635E-2C16-54E4-7A9D-F4ADD004BBF5}"/>
                  </a:ext>
                </a:extLst>
              </p:cNvPr>
              <p:cNvSpPr>
                <a:spLocks noRot="1" noChangeAspect="1" noMove="1" noResize="1" noEditPoints="1" noAdjustHandles="1" noChangeArrowheads="1" noChangeShapeType="1" noTextEdit="1"/>
              </p:cNvSpPr>
              <p:nvPr/>
            </p:nvSpPr>
            <p:spPr>
              <a:xfrm>
                <a:off x="6932248" y="1990914"/>
                <a:ext cx="1570892" cy="4024923"/>
              </a:xfrm>
              <a:prstGeom prst="rect">
                <a:avLst/>
              </a:prstGeom>
              <a:blipFill>
                <a:blip r:embed="rId7"/>
                <a:stretch>
                  <a:fillRect/>
                </a:stretch>
              </a:blipFill>
            </p:spPr>
            <p:txBody>
              <a:bodyPr/>
              <a:lstStyle/>
              <a:p>
                <a:r>
                  <a:rPr lang="en-SG">
                    <a:noFill/>
                  </a:rPr>
                  <a:t> </a:t>
                </a:r>
              </a:p>
            </p:txBody>
          </p:sp>
        </mc:Fallback>
      </mc:AlternateContent>
      <p:cxnSp>
        <p:nvCxnSpPr>
          <p:cNvPr id="19" name="Straight Arrow Connector 18">
            <a:extLst>
              <a:ext uri="{FF2B5EF4-FFF2-40B4-BE49-F238E27FC236}">
                <a16:creationId xmlns:a16="http://schemas.microsoft.com/office/drawing/2014/main" id="{A51DA120-D8B1-0C8C-2868-4245CBED7B3F}"/>
              </a:ext>
            </a:extLst>
          </p:cNvPr>
          <p:cNvCxnSpPr>
            <a:cxnSpLocks/>
            <a:stCxn id="17" idx="3"/>
          </p:cNvCxnSpPr>
          <p:nvPr/>
        </p:nvCxnSpPr>
        <p:spPr>
          <a:xfrm flipV="1">
            <a:off x="5244124" y="4931507"/>
            <a:ext cx="1688124"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E8088D8-695E-CBE5-B605-617F7284E996}"/>
                  </a:ext>
                </a:extLst>
              </p:cNvPr>
              <p:cNvSpPr txBox="1"/>
              <p:nvPr/>
            </p:nvSpPr>
            <p:spPr>
              <a:xfrm>
                <a:off x="5704255" y="2674870"/>
                <a:ext cx="12035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𝑥</m:t>
                          </m:r>
                        </m:e>
                        <m:sub>
                          <m:r>
                            <a:rPr lang="en-GB" sz="2400" b="0" i="1" dirty="0" smtClean="0">
                              <a:latin typeface="Cambria Math" panose="02040503050406030204" pitchFamily="18" charset="0"/>
                            </a:rPr>
                            <m:t>2</m:t>
                          </m:r>
                        </m:sub>
                      </m:sSub>
                    </m:oMath>
                  </m:oMathPara>
                </a14:m>
                <a:endParaRPr lang="en-SG" sz="2400" dirty="0"/>
              </a:p>
            </p:txBody>
          </p:sp>
        </mc:Choice>
        <mc:Fallback xmlns="">
          <p:sp>
            <p:nvSpPr>
              <p:cNvPr id="22" name="TextBox 21">
                <a:extLst>
                  <a:ext uri="{FF2B5EF4-FFF2-40B4-BE49-F238E27FC236}">
                    <a16:creationId xmlns:a16="http://schemas.microsoft.com/office/drawing/2014/main" id="{2E8088D8-695E-CBE5-B605-617F7284E996}"/>
                  </a:ext>
                </a:extLst>
              </p:cNvPr>
              <p:cNvSpPr txBox="1">
                <a:spLocks noRot="1" noChangeAspect="1" noMove="1" noResize="1" noEditPoints="1" noAdjustHandles="1" noChangeArrowheads="1" noChangeShapeType="1" noTextEdit="1"/>
              </p:cNvSpPr>
              <p:nvPr/>
            </p:nvSpPr>
            <p:spPr>
              <a:xfrm>
                <a:off x="5704255" y="2674870"/>
                <a:ext cx="1203570" cy="461665"/>
              </a:xfrm>
              <a:prstGeom prst="rect">
                <a:avLst/>
              </a:prstGeom>
              <a:blipFill>
                <a:blip r:embed="rId8"/>
                <a:stretch>
                  <a:fillRect/>
                </a:stretch>
              </a:blipFill>
            </p:spPr>
            <p:txBody>
              <a:bodyPr/>
              <a:lstStyle/>
              <a:p>
                <a:r>
                  <a:rPr lang="en-SG">
                    <a:noFill/>
                  </a:rPr>
                  <a:t> </a:t>
                </a:r>
              </a:p>
            </p:txBody>
          </p:sp>
        </mc:Fallback>
      </mc:AlternateContent>
      <p:cxnSp>
        <p:nvCxnSpPr>
          <p:cNvPr id="23" name="Straight Arrow Connector 22">
            <a:extLst>
              <a:ext uri="{FF2B5EF4-FFF2-40B4-BE49-F238E27FC236}">
                <a16:creationId xmlns:a16="http://schemas.microsoft.com/office/drawing/2014/main" id="{3E5CAEAB-3CD0-DCCC-58DD-7B3E30B7A28D}"/>
              </a:ext>
            </a:extLst>
          </p:cNvPr>
          <p:cNvCxnSpPr>
            <a:cxnSpLocks/>
          </p:cNvCxnSpPr>
          <p:nvPr/>
        </p:nvCxnSpPr>
        <p:spPr>
          <a:xfrm flipV="1">
            <a:off x="6578601" y="2905702"/>
            <a:ext cx="353647"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C1DA3EC-C32E-729A-1C60-7B88E23B8E7D}"/>
                  </a:ext>
                </a:extLst>
              </p:cNvPr>
              <p:cNvSpPr txBox="1"/>
              <p:nvPr/>
            </p:nvSpPr>
            <p:spPr>
              <a:xfrm>
                <a:off x="8251095" y="1991193"/>
                <a:ext cx="1949938" cy="156966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𝑦</m:t>
                          </m:r>
                        </m:e>
                        <m:sub>
                          <m:r>
                            <a:rPr lang="en-GB" sz="2400" b="0" i="1" dirty="0" smtClean="0">
                              <a:latin typeface="Cambria Math" panose="02040503050406030204" pitchFamily="18" charset="0"/>
                            </a:rPr>
                            <m:t>2</m:t>
                          </m:r>
                        </m:sub>
                      </m:sSub>
                    </m:oMath>
                  </m:oMathPara>
                </a14:m>
                <a:endParaRPr lang="en-SG" sz="2400" dirty="0"/>
              </a:p>
              <a:p>
                <a:pPr algn="ctr"/>
                <a:r>
                  <a:rPr lang="en-SG" sz="2400" dirty="0"/>
                  <a:t>(pred.</a:t>
                </a:r>
                <a:br>
                  <a:rPr lang="en-SG" sz="2400" dirty="0"/>
                </a:br>
                <a:r>
                  <a:rPr lang="en-SG" sz="2400" dirty="0"/>
                  <a:t>for</a:t>
                </a:r>
                <a:br>
                  <a:rPr lang="en-SG" sz="2400" dirty="0"/>
                </a:b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3</m:t>
                        </m:r>
                      </m:sub>
                    </m:sSub>
                  </m:oMath>
                </a14:m>
                <a:r>
                  <a:rPr lang="en-SG" sz="2400" dirty="0"/>
                  <a:t>)</a:t>
                </a:r>
              </a:p>
            </p:txBody>
          </p:sp>
        </mc:Choice>
        <mc:Fallback xmlns="">
          <p:sp>
            <p:nvSpPr>
              <p:cNvPr id="27" name="TextBox 26">
                <a:extLst>
                  <a:ext uri="{FF2B5EF4-FFF2-40B4-BE49-F238E27FC236}">
                    <a16:creationId xmlns:a16="http://schemas.microsoft.com/office/drawing/2014/main" id="{0C1DA3EC-C32E-729A-1C60-7B88E23B8E7D}"/>
                  </a:ext>
                </a:extLst>
              </p:cNvPr>
              <p:cNvSpPr txBox="1">
                <a:spLocks noRot="1" noChangeAspect="1" noMove="1" noResize="1" noEditPoints="1" noAdjustHandles="1" noChangeArrowheads="1" noChangeShapeType="1" noTextEdit="1"/>
              </p:cNvSpPr>
              <p:nvPr/>
            </p:nvSpPr>
            <p:spPr>
              <a:xfrm>
                <a:off x="8251095" y="1991193"/>
                <a:ext cx="1949938" cy="1569660"/>
              </a:xfrm>
              <a:prstGeom prst="rect">
                <a:avLst/>
              </a:prstGeom>
              <a:blipFill>
                <a:blip r:embed="rId9"/>
                <a:stretch>
                  <a:fillRect b="-8171"/>
                </a:stretch>
              </a:blipFill>
            </p:spPr>
            <p:txBody>
              <a:bodyPr/>
              <a:lstStyle/>
              <a:p>
                <a:r>
                  <a:rPr lang="en-SG">
                    <a:noFill/>
                  </a:rPr>
                  <a:t> </a:t>
                </a:r>
              </a:p>
            </p:txBody>
          </p:sp>
        </mc:Fallback>
      </mc:AlternateContent>
      <p:cxnSp>
        <p:nvCxnSpPr>
          <p:cNvPr id="28" name="Straight Arrow Connector 27">
            <a:extLst>
              <a:ext uri="{FF2B5EF4-FFF2-40B4-BE49-F238E27FC236}">
                <a16:creationId xmlns:a16="http://schemas.microsoft.com/office/drawing/2014/main" id="{80D768EE-5262-E5CA-082B-4660A2B66B45}"/>
              </a:ext>
            </a:extLst>
          </p:cNvPr>
          <p:cNvCxnSpPr>
            <a:cxnSpLocks/>
          </p:cNvCxnSpPr>
          <p:nvPr/>
        </p:nvCxnSpPr>
        <p:spPr>
          <a:xfrm>
            <a:off x="8503140" y="2905982"/>
            <a:ext cx="3126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511ED1B-BF15-5FC2-E042-64663686C819}"/>
              </a:ext>
            </a:extLst>
          </p:cNvPr>
          <p:cNvCxnSpPr>
            <a:cxnSpLocks/>
          </p:cNvCxnSpPr>
          <p:nvPr/>
        </p:nvCxnSpPr>
        <p:spPr>
          <a:xfrm>
            <a:off x="8493371" y="4931507"/>
            <a:ext cx="6643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F92D947-8A37-C6CB-24FB-05464BCE64E6}"/>
                  </a:ext>
                </a:extLst>
              </p:cNvPr>
              <p:cNvSpPr txBox="1"/>
              <p:nvPr/>
            </p:nvSpPr>
            <p:spPr>
              <a:xfrm>
                <a:off x="9157679" y="4700674"/>
                <a:ext cx="66430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2</m:t>
                          </m:r>
                        </m:sub>
                      </m:sSub>
                    </m:oMath>
                  </m:oMathPara>
                </a14:m>
                <a:endParaRPr lang="en-SG" sz="2400" dirty="0"/>
              </a:p>
            </p:txBody>
          </p:sp>
        </mc:Choice>
        <mc:Fallback xmlns="">
          <p:sp>
            <p:nvSpPr>
              <p:cNvPr id="30" name="TextBox 29">
                <a:extLst>
                  <a:ext uri="{FF2B5EF4-FFF2-40B4-BE49-F238E27FC236}">
                    <a16:creationId xmlns:a16="http://schemas.microsoft.com/office/drawing/2014/main" id="{CF92D947-8A37-C6CB-24FB-05464BCE64E6}"/>
                  </a:ext>
                </a:extLst>
              </p:cNvPr>
              <p:cNvSpPr txBox="1">
                <a:spLocks noRot="1" noChangeAspect="1" noMove="1" noResize="1" noEditPoints="1" noAdjustHandles="1" noChangeArrowheads="1" noChangeShapeType="1" noTextEdit="1"/>
              </p:cNvSpPr>
              <p:nvPr/>
            </p:nvSpPr>
            <p:spPr>
              <a:xfrm>
                <a:off x="9157679" y="4700674"/>
                <a:ext cx="664308" cy="461665"/>
              </a:xfrm>
              <a:prstGeom prst="rect">
                <a:avLst/>
              </a:prstGeom>
              <a:blipFill>
                <a:blip r:embed="rId10"/>
                <a:stretch>
                  <a:fillRect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8690D79-C8B8-1BAF-BBD2-92E9DA5073F0}"/>
                  </a:ext>
                </a:extLst>
              </p:cNvPr>
              <p:cNvSpPr txBox="1"/>
              <p:nvPr/>
            </p:nvSpPr>
            <p:spPr>
              <a:xfrm>
                <a:off x="10658231" y="3560574"/>
                <a:ext cx="1391138" cy="923330"/>
              </a:xfrm>
              <a:prstGeom prst="rect">
                <a:avLst/>
              </a:prstGeom>
              <a:noFill/>
            </p:spPr>
            <p:txBody>
              <a:bodyPr wrap="square" rtlCol="0">
                <a:spAutoFit/>
              </a:bodyPr>
              <a:lstStyle/>
              <a:p>
                <a:pPr algn="ctr"/>
                <a:r>
                  <a:rPr lang="en-GB" dirty="0"/>
                  <a:t>Etc.</a:t>
                </a:r>
              </a:p>
              <a:p>
                <a:pPr algn="ctr"/>
                <a:r>
                  <a:rPr lang="en-GB" dirty="0"/>
                  <a:t>(use for loop on time </a:t>
                </a:r>
                <a14:m>
                  <m:oMath xmlns:m="http://schemas.openxmlformats.org/officeDocument/2006/math">
                    <m:r>
                      <a:rPr lang="en-GB" i="1" dirty="0" smtClean="0">
                        <a:latin typeface="Cambria Math" panose="02040503050406030204" pitchFamily="18" charset="0"/>
                      </a:rPr>
                      <m:t>𝑡</m:t>
                    </m:r>
                  </m:oMath>
                </a14:m>
                <a:r>
                  <a:rPr lang="en-GB" dirty="0"/>
                  <a:t>)</a:t>
                </a:r>
                <a:endParaRPr lang="en-SG" dirty="0"/>
              </a:p>
            </p:txBody>
          </p:sp>
        </mc:Choice>
        <mc:Fallback xmlns="">
          <p:sp>
            <p:nvSpPr>
              <p:cNvPr id="31" name="TextBox 30">
                <a:extLst>
                  <a:ext uri="{FF2B5EF4-FFF2-40B4-BE49-F238E27FC236}">
                    <a16:creationId xmlns:a16="http://schemas.microsoft.com/office/drawing/2014/main" id="{A8690D79-C8B8-1BAF-BBD2-92E9DA5073F0}"/>
                  </a:ext>
                </a:extLst>
              </p:cNvPr>
              <p:cNvSpPr txBox="1">
                <a:spLocks noRot="1" noChangeAspect="1" noMove="1" noResize="1" noEditPoints="1" noAdjustHandles="1" noChangeArrowheads="1" noChangeShapeType="1" noTextEdit="1"/>
              </p:cNvSpPr>
              <p:nvPr/>
            </p:nvSpPr>
            <p:spPr>
              <a:xfrm>
                <a:off x="10658231" y="3560574"/>
                <a:ext cx="1391138" cy="923330"/>
              </a:xfrm>
              <a:prstGeom prst="rect">
                <a:avLst/>
              </a:prstGeom>
              <a:blipFill>
                <a:blip r:embed="rId11"/>
                <a:stretch>
                  <a:fillRect l="-2620" t="-3289" r="-2620" b="-9211"/>
                </a:stretch>
              </a:blipFill>
            </p:spPr>
            <p:txBody>
              <a:bodyPr/>
              <a:lstStyle/>
              <a:p>
                <a:r>
                  <a:rPr lang="en-SG">
                    <a:noFill/>
                  </a:rPr>
                  <a:t> </a:t>
                </a:r>
              </a:p>
            </p:txBody>
          </p:sp>
        </mc:Fallback>
      </mc:AlternateContent>
    </p:spTree>
    <p:extLst>
      <p:ext uri="{BB962C8B-B14F-4D97-AF65-F5344CB8AC3E}">
        <p14:creationId xmlns:p14="http://schemas.microsoft.com/office/powerpoint/2010/main" val="445144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DE46EE6-F3D9-3552-F89E-F377147511EE}"/>
              </a:ext>
            </a:extLst>
          </p:cNvPr>
          <p:cNvPicPr>
            <a:picLocks noChangeAspect="1"/>
          </p:cNvPicPr>
          <p:nvPr/>
        </p:nvPicPr>
        <p:blipFill>
          <a:blip r:embed="rId2"/>
          <a:stretch>
            <a:fillRect/>
          </a:stretch>
        </p:blipFill>
        <p:spPr>
          <a:xfrm>
            <a:off x="2009204" y="94784"/>
            <a:ext cx="8173591" cy="6668431"/>
          </a:xfrm>
          <a:prstGeom prst="rect">
            <a:avLst/>
          </a:prstGeom>
        </p:spPr>
      </p:pic>
    </p:spTree>
    <p:extLst>
      <p:ext uri="{BB962C8B-B14F-4D97-AF65-F5344CB8AC3E}">
        <p14:creationId xmlns:p14="http://schemas.microsoft.com/office/powerpoint/2010/main" val="32925457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AEA01-2945-B7D2-CE7A-B46FF860DB6A}"/>
              </a:ext>
            </a:extLst>
          </p:cNvPr>
          <p:cNvSpPr>
            <a:spLocks noGrp="1"/>
          </p:cNvSpPr>
          <p:nvPr>
            <p:ph type="title"/>
          </p:nvPr>
        </p:nvSpPr>
        <p:spPr/>
        <p:txBody>
          <a:bodyPr/>
          <a:lstStyle/>
          <a:p>
            <a:r>
              <a:rPr lang="en-GB" dirty="0"/>
              <a:t>Implementing a RNN</a:t>
            </a:r>
            <a:endParaRPr lang="en-SG"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CC0D0A3-1415-DC5D-0B11-FA062F6EC2BE}"/>
                  </a:ext>
                </a:extLst>
              </p:cNvPr>
              <p:cNvSpPr txBox="1">
                <a:spLocks/>
              </p:cNvSpPr>
              <p:nvPr/>
            </p:nvSpPr>
            <p:spPr>
              <a:xfrm>
                <a:off x="838200" y="1825624"/>
                <a:ext cx="5181600" cy="503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Let us rewrite our first RNN model, which resembles the previous DNN with some changes:</a:t>
                </a:r>
              </a:p>
              <a:p>
                <a:r>
                  <a:rPr lang="en-GB" dirty="0"/>
                  <a:t>3 Linear Layers + </a:t>
                </a:r>
                <a:r>
                  <a:rPr lang="en-GB" dirty="0" err="1"/>
                  <a:t>ReLU</a:t>
                </a:r>
                <a:r>
                  <a:rPr lang="en-GB" dirty="0"/>
                  <a:t>,</a:t>
                </a:r>
              </a:p>
              <a:p>
                <a:r>
                  <a:rPr lang="en-GB" dirty="0"/>
                  <a:t>No </a:t>
                </a:r>
                <a:r>
                  <a:rPr lang="en-GB" dirty="0" err="1"/>
                  <a:t>ReLU</a:t>
                </a:r>
                <a:r>
                  <a:rPr lang="en-GB" dirty="0"/>
                  <a:t> on final layer,</a:t>
                </a:r>
              </a:p>
              <a:p>
                <a:r>
                  <a:rPr lang="en-GB" b="1" dirty="0">
                    <a:solidFill>
                      <a:srgbClr val="7030A0"/>
                    </a:solidFill>
                  </a:rPr>
                  <a:t>Number of inputs =</a:t>
                </a:r>
                <a:r>
                  <a:rPr lang="en-GB" b="1" dirty="0"/>
                  <a:t> </a:t>
                </a:r>
                <a:r>
                  <a:rPr lang="en-GB" b="1" dirty="0">
                    <a:solidFill>
                      <a:srgbClr val="7030A0"/>
                    </a:solidFill>
                  </a:rPr>
                  <a:t>2,</a:t>
                </a:r>
                <a:r>
                  <a:rPr lang="en-GB" b="1" dirty="0"/>
                  <a:t> </a:t>
                </a:r>
                <a:r>
                  <a:rPr lang="en-GB" b="1" dirty="0">
                    <a:solidFill>
                      <a:srgbClr val="7030A0"/>
                    </a:solidFill>
                  </a:rPr>
                  <a:t>being </a:t>
                </a:r>
                <a14:m>
                  <m:oMath xmlns:m="http://schemas.openxmlformats.org/officeDocument/2006/math">
                    <m:r>
                      <a:rPr lang="en-GB" b="1" i="1" smtClean="0">
                        <a:solidFill>
                          <a:srgbClr val="7030A0"/>
                        </a:solidFill>
                        <a:latin typeface="Cambria Math" panose="02040503050406030204" pitchFamily="18" charset="0"/>
                      </a:rPr>
                      <m:t>(</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𝒙</m:t>
                        </m:r>
                      </m:e>
                      <m:sub>
                        <m:r>
                          <a:rPr lang="en-GB" b="1" i="1" smtClean="0">
                            <a:solidFill>
                              <a:srgbClr val="7030A0"/>
                            </a:solidFill>
                            <a:latin typeface="Cambria Math" panose="02040503050406030204" pitchFamily="18" charset="0"/>
                          </a:rPr>
                          <m:t>𝒕</m:t>
                        </m:r>
                      </m:sub>
                    </m:sSub>
                    <m:r>
                      <a:rPr lang="en-GB" b="1" i="1" smtClean="0">
                        <a:solidFill>
                          <a:srgbClr val="7030A0"/>
                        </a:solidFill>
                        <a:latin typeface="Cambria Math" panose="02040503050406030204" pitchFamily="18" charset="0"/>
                      </a:rPr>
                      <m:t>,</m:t>
                    </m:r>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𝒉</m:t>
                        </m:r>
                      </m:e>
                      <m:sub>
                        <m:r>
                          <a:rPr lang="en-GB" b="1" i="1" smtClean="0">
                            <a:solidFill>
                              <a:srgbClr val="7030A0"/>
                            </a:solidFill>
                            <a:latin typeface="Cambria Math" panose="02040503050406030204" pitchFamily="18" charset="0"/>
                          </a:rPr>
                          <m:t>𝒕</m:t>
                        </m:r>
                      </m:sub>
                    </m:sSub>
                    <m:r>
                      <a:rPr lang="en-GB" b="1" i="1" smtClean="0">
                        <a:solidFill>
                          <a:srgbClr val="7030A0"/>
                        </a:solidFill>
                        <a:latin typeface="Cambria Math" panose="02040503050406030204" pitchFamily="18" charset="0"/>
                      </a:rPr>
                      <m:t>)</m:t>
                    </m:r>
                  </m:oMath>
                </a14:m>
                <a:r>
                  <a:rPr lang="en-GB" b="1" dirty="0">
                    <a:solidFill>
                      <a:srgbClr val="7030A0"/>
                    </a:solidFill>
                  </a:rPr>
                  <a:t> this time,</a:t>
                </a:r>
              </a:p>
              <a:p>
                <a:r>
                  <a:rPr lang="en-GB" b="1" dirty="0">
                    <a:solidFill>
                      <a:schemeClr val="accent2"/>
                    </a:solidFill>
                  </a:rPr>
                  <a:t>Number of outputs = 2, being </a:t>
                </a:r>
                <a14:m>
                  <m:oMath xmlns:m="http://schemas.openxmlformats.org/officeDocument/2006/math">
                    <m:d>
                      <m:dPr>
                        <m:ctrlPr>
                          <a:rPr lang="en-GB" b="1" i="1" dirty="0" smtClean="0">
                            <a:solidFill>
                              <a:schemeClr val="accent2"/>
                            </a:solidFill>
                            <a:latin typeface="Cambria Math" panose="02040503050406030204" pitchFamily="18" charset="0"/>
                          </a:rPr>
                        </m:ctrlPr>
                      </m:dPr>
                      <m:e>
                        <m:sSub>
                          <m:sSubPr>
                            <m:ctrlPr>
                              <a:rPr lang="en-GB" b="1" i="1" dirty="0" err="1" smtClean="0">
                                <a:solidFill>
                                  <a:schemeClr val="accent2"/>
                                </a:solidFill>
                                <a:latin typeface="Cambria Math" panose="02040503050406030204" pitchFamily="18" charset="0"/>
                              </a:rPr>
                            </m:ctrlPr>
                          </m:sSubPr>
                          <m:e>
                            <m:r>
                              <a:rPr lang="en-GB" b="1" i="1" dirty="0" err="1" smtClean="0">
                                <a:solidFill>
                                  <a:schemeClr val="accent2"/>
                                </a:solidFill>
                                <a:latin typeface="Cambria Math" panose="02040503050406030204" pitchFamily="18" charset="0"/>
                              </a:rPr>
                              <m:t>𝒚</m:t>
                            </m:r>
                          </m:e>
                          <m:sub>
                            <m:r>
                              <a:rPr lang="en-GB" b="1" i="1" dirty="0" err="1" smtClean="0">
                                <a:solidFill>
                                  <a:schemeClr val="accent2"/>
                                </a:solidFill>
                                <a:latin typeface="Cambria Math" panose="02040503050406030204" pitchFamily="18" charset="0"/>
                              </a:rPr>
                              <m:t>𝒕</m:t>
                            </m:r>
                          </m:sub>
                        </m:sSub>
                        <m:r>
                          <a:rPr lang="en-GB" b="1" i="1" dirty="0" smtClean="0">
                            <a:solidFill>
                              <a:schemeClr val="accent2"/>
                            </a:solidFill>
                            <a:latin typeface="Cambria Math" panose="02040503050406030204" pitchFamily="18" charset="0"/>
                          </a:rPr>
                          <m:t>, </m:t>
                        </m:r>
                        <m:sSub>
                          <m:sSubPr>
                            <m:ctrlPr>
                              <a:rPr lang="en-GB" b="1" i="1" dirty="0" smtClean="0">
                                <a:solidFill>
                                  <a:schemeClr val="accent2"/>
                                </a:solidFill>
                                <a:latin typeface="Cambria Math" panose="02040503050406030204" pitchFamily="18" charset="0"/>
                              </a:rPr>
                            </m:ctrlPr>
                          </m:sSubPr>
                          <m:e>
                            <m:r>
                              <a:rPr lang="en-GB" b="1" i="1" dirty="0" smtClean="0">
                                <a:solidFill>
                                  <a:schemeClr val="accent2"/>
                                </a:solidFill>
                                <a:latin typeface="Cambria Math" panose="02040503050406030204" pitchFamily="18" charset="0"/>
                              </a:rPr>
                              <m:t>𝒉</m:t>
                            </m:r>
                          </m:e>
                          <m:sub>
                            <m:r>
                              <a:rPr lang="en-GB" b="1" i="1" dirty="0" smtClean="0">
                                <a:solidFill>
                                  <a:schemeClr val="accent2"/>
                                </a:solidFill>
                                <a:latin typeface="Cambria Math" panose="02040503050406030204" pitchFamily="18" charset="0"/>
                              </a:rPr>
                              <m:t>𝒕</m:t>
                            </m:r>
                            <m:r>
                              <a:rPr lang="en-GB" b="1" i="1" dirty="0" smtClean="0">
                                <a:solidFill>
                                  <a:schemeClr val="accent2"/>
                                </a:solidFill>
                                <a:latin typeface="Cambria Math" panose="02040503050406030204" pitchFamily="18" charset="0"/>
                              </a:rPr>
                              <m:t>+</m:t>
                            </m:r>
                            <m:r>
                              <a:rPr lang="en-GB" b="1" i="1" dirty="0" smtClean="0">
                                <a:solidFill>
                                  <a:schemeClr val="accent2"/>
                                </a:solidFill>
                                <a:latin typeface="Cambria Math" panose="02040503050406030204" pitchFamily="18" charset="0"/>
                              </a:rPr>
                              <m:t>𝟏</m:t>
                            </m:r>
                          </m:sub>
                        </m:sSub>
                      </m:e>
                    </m:d>
                    <m:r>
                      <a:rPr lang="en-GB" b="1" i="0" dirty="0" smtClean="0">
                        <a:solidFill>
                          <a:schemeClr val="accent2"/>
                        </a:solidFill>
                        <a:latin typeface="Cambria Math" panose="02040503050406030204" pitchFamily="18" charset="0"/>
                      </a:rPr>
                      <m:t>,</m:t>
                    </m:r>
                  </m:oMath>
                </a14:m>
                <a:endParaRPr lang="en-GB" b="1" dirty="0">
                  <a:solidFill>
                    <a:schemeClr val="accent2"/>
                  </a:solidFill>
                </a:endParaRPr>
              </a:p>
              <a:p>
                <a:r>
                  <a:rPr lang="en-GB" dirty="0"/>
                  <a:t>Hidden layers sizes: 32 and 8.</a:t>
                </a:r>
                <a:endParaRPr lang="en-SG" dirty="0"/>
              </a:p>
              <a:p>
                <a:pPr marL="0" indent="0">
                  <a:buFont typeface="Arial" panose="020B0604020202020204" pitchFamily="34" charset="0"/>
                  <a:buNone/>
                </a:pPr>
                <a:endParaRPr lang="en-SG" dirty="0"/>
              </a:p>
            </p:txBody>
          </p:sp>
        </mc:Choice>
        <mc:Fallback xmlns="">
          <p:sp>
            <p:nvSpPr>
              <p:cNvPr id="4" name="Content Placeholder 2">
                <a:extLst>
                  <a:ext uri="{FF2B5EF4-FFF2-40B4-BE49-F238E27FC236}">
                    <a16:creationId xmlns:a16="http://schemas.microsoft.com/office/drawing/2014/main" id="{5CC0D0A3-1415-DC5D-0B11-FA062F6EC2BE}"/>
                  </a:ext>
                </a:extLst>
              </p:cNvPr>
              <p:cNvSpPr txBox="1">
                <a:spLocks noRot="1" noChangeAspect="1" noMove="1" noResize="1" noEditPoints="1" noAdjustHandles="1" noChangeArrowheads="1" noChangeShapeType="1" noTextEdit="1"/>
              </p:cNvSpPr>
              <p:nvPr/>
            </p:nvSpPr>
            <p:spPr>
              <a:xfrm>
                <a:off x="838200" y="1825624"/>
                <a:ext cx="5181600" cy="5032375"/>
              </a:xfrm>
              <a:prstGeom prst="rect">
                <a:avLst/>
              </a:prstGeom>
              <a:blipFill>
                <a:blip r:embed="rId2"/>
                <a:stretch>
                  <a:fillRect l="-2471" t="-1937" r="-1176"/>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171B4915-D2E3-0066-AE18-079E6AE5F226}"/>
              </a:ext>
            </a:extLst>
          </p:cNvPr>
          <p:cNvPicPr>
            <a:picLocks noChangeAspect="1"/>
          </p:cNvPicPr>
          <p:nvPr/>
        </p:nvPicPr>
        <p:blipFill rotWithShape="1">
          <a:blip r:embed="rId3"/>
          <a:srcRect l="7053"/>
          <a:stretch/>
        </p:blipFill>
        <p:spPr>
          <a:xfrm>
            <a:off x="6200912" y="1159242"/>
            <a:ext cx="5991088" cy="299390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5AF4C97-68DA-40D0-3587-76F9C89EC86B}"/>
                  </a:ext>
                </a:extLst>
              </p:cNvPr>
              <p:cNvSpPr txBox="1"/>
              <p:nvPr/>
            </p:nvSpPr>
            <p:spPr>
              <a:xfrm>
                <a:off x="6736862" y="4408031"/>
                <a:ext cx="5181600" cy="2246769"/>
              </a:xfrm>
              <a:prstGeom prst="rect">
                <a:avLst/>
              </a:prstGeom>
              <a:noFill/>
            </p:spPr>
            <p:txBody>
              <a:bodyPr wrap="square" rtlCol="0">
                <a:spAutoFit/>
              </a:bodyPr>
              <a:lstStyle/>
              <a:p>
                <a:pPr algn="ctr"/>
                <a:r>
                  <a:rPr lang="en-GB" sz="2800" b="1" dirty="0">
                    <a:solidFill>
                      <a:schemeClr val="tx1"/>
                    </a:solidFill>
                  </a:rPr>
                  <a:t>Notice how the forward method expects two values, being </a:t>
                </a:r>
                <a14:m>
                  <m:oMath xmlns:m="http://schemas.openxmlformats.org/officeDocument/2006/math">
                    <m:sSub>
                      <m:sSubPr>
                        <m:ctrlPr>
                          <a:rPr lang="en-GB" sz="2800" b="1" i="1" smtClean="0">
                            <a:solidFill>
                              <a:schemeClr val="tx1"/>
                            </a:solidFill>
                            <a:latin typeface="Cambria Math" panose="02040503050406030204" pitchFamily="18" charset="0"/>
                          </a:rPr>
                        </m:ctrlPr>
                      </m:sSubPr>
                      <m:e>
                        <m:r>
                          <a:rPr lang="en-GB" sz="2800" b="1" i="1" smtClean="0">
                            <a:solidFill>
                              <a:schemeClr val="tx1"/>
                            </a:solidFill>
                            <a:latin typeface="Cambria Math" panose="02040503050406030204" pitchFamily="18" charset="0"/>
                          </a:rPr>
                          <m:t>𝒙</m:t>
                        </m:r>
                      </m:e>
                      <m:sub>
                        <m:r>
                          <a:rPr lang="en-GB" sz="2800" b="1" i="1" smtClean="0">
                            <a:solidFill>
                              <a:schemeClr val="tx1"/>
                            </a:solidFill>
                            <a:latin typeface="Cambria Math" panose="02040503050406030204" pitchFamily="18" charset="0"/>
                          </a:rPr>
                          <m:t>𝒕</m:t>
                        </m:r>
                      </m:sub>
                    </m:sSub>
                  </m:oMath>
                </a14:m>
                <a:r>
                  <a:rPr lang="en-SG" sz="2800" b="1" dirty="0">
                    <a:solidFill>
                      <a:schemeClr val="tx1"/>
                    </a:solidFill>
                  </a:rPr>
                  <a:t> (inputs) and </a:t>
                </a:r>
                <a14:m>
                  <m:oMath xmlns:m="http://schemas.openxmlformats.org/officeDocument/2006/math">
                    <m:sSub>
                      <m:sSubPr>
                        <m:ctrlPr>
                          <a:rPr lang="en-GB" sz="2800" b="1" i="1">
                            <a:solidFill>
                              <a:schemeClr val="tx1"/>
                            </a:solidFill>
                            <a:latin typeface="Cambria Math" panose="02040503050406030204" pitchFamily="18" charset="0"/>
                          </a:rPr>
                        </m:ctrlPr>
                      </m:sSubPr>
                      <m:e>
                        <m:r>
                          <a:rPr lang="en-GB" sz="2800" b="1" i="1">
                            <a:solidFill>
                              <a:schemeClr val="tx1"/>
                            </a:solidFill>
                            <a:latin typeface="Cambria Math" panose="02040503050406030204" pitchFamily="18" charset="0"/>
                          </a:rPr>
                          <m:t>𝒉</m:t>
                        </m:r>
                      </m:e>
                      <m:sub>
                        <m:r>
                          <a:rPr lang="en-GB" sz="2800" b="1" i="1">
                            <a:solidFill>
                              <a:schemeClr val="tx1"/>
                            </a:solidFill>
                            <a:latin typeface="Cambria Math" panose="02040503050406030204" pitchFamily="18" charset="0"/>
                          </a:rPr>
                          <m:t>𝒕</m:t>
                        </m:r>
                      </m:sub>
                    </m:sSub>
                  </m:oMath>
                </a14:m>
                <a:r>
                  <a:rPr lang="en-SG" sz="2800" b="1" dirty="0">
                    <a:solidFill>
                      <a:schemeClr val="tx1"/>
                    </a:solidFill>
                  </a:rPr>
                  <a:t> (hidden).</a:t>
                </a:r>
              </a:p>
              <a:p>
                <a:pPr algn="ctr"/>
                <a:r>
                  <a:rPr lang="en-SG" sz="2800" b="1" dirty="0"/>
                  <a:t>They will be combined before going through the NN layers.</a:t>
                </a:r>
                <a:endParaRPr lang="en-SG" sz="2800" b="1" dirty="0">
                  <a:solidFill>
                    <a:schemeClr val="tx1"/>
                  </a:solidFill>
                </a:endParaRPr>
              </a:p>
            </p:txBody>
          </p:sp>
        </mc:Choice>
        <mc:Fallback xmlns="">
          <p:sp>
            <p:nvSpPr>
              <p:cNvPr id="8" name="TextBox 7">
                <a:extLst>
                  <a:ext uri="{FF2B5EF4-FFF2-40B4-BE49-F238E27FC236}">
                    <a16:creationId xmlns:a16="http://schemas.microsoft.com/office/drawing/2014/main" id="{85AF4C97-68DA-40D0-3587-76F9C89EC86B}"/>
                  </a:ext>
                </a:extLst>
              </p:cNvPr>
              <p:cNvSpPr txBox="1">
                <a:spLocks noRot="1" noChangeAspect="1" noMove="1" noResize="1" noEditPoints="1" noAdjustHandles="1" noChangeArrowheads="1" noChangeShapeType="1" noTextEdit="1"/>
              </p:cNvSpPr>
              <p:nvPr/>
            </p:nvSpPr>
            <p:spPr>
              <a:xfrm>
                <a:off x="6736862" y="4408031"/>
                <a:ext cx="5181600" cy="2246769"/>
              </a:xfrm>
              <a:prstGeom prst="rect">
                <a:avLst/>
              </a:prstGeom>
              <a:blipFill>
                <a:blip r:embed="rId4"/>
                <a:stretch>
                  <a:fillRect t="-2439" r="-1882" b="-6775"/>
                </a:stretch>
              </a:blipFill>
            </p:spPr>
            <p:txBody>
              <a:bodyPr/>
              <a:lstStyle/>
              <a:p>
                <a:r>
                  <a:rPr lang="en-SG">
                    <a:noFill/>
                  </a:rPr>
                  <a:t> </a:t>
                </a:r>
              </a:p>
            </p:txBody>
          </p:sp>
        </mc:Fallback>
      </mc:AlternateContent>
    </p:spTree>
    <p:extLst>
      <p:ext uri="{BB962C8B-B14F-4D97-AF65-F5344CB8AC3E}">
        <p14:creationId xmlns:p14="http://schemas.microsoft.com/office/powerpoint/2010/main" val="13276482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AEA01-2945-B7D2-CE7A-B46FF860DB6A}"/>
              </a:ext>
            </a:extLst>
          </p:cNvPr>
          <p:cNvSpPr>
            <a:spLocks noGrp="1"/>
          </p:cNvSpPr>
          <p:nvPr>
            <p:ph type="title"/>
          </p:nvPr>
        </p:nvSpPr>
        <p:spPr/>
        <p:txBody>
          <a:bodyPr/>
          <a:lstStyle/>
          <a:p>
            <a:r>
              <a:rPr lang="en-GB" dirty="0"/>
              <a:t>Implementing a RNN</a:t>
            </a:r>
            <a:endParaRPr lang="en-SG"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CC0D0A3-1415-DC5D-0B11-FA062F6EC2BE}"/>
                  </a:ext>
                </a:extLst>
              </p:cNvPr>
              <p:cNvSpPr txBox="1">
                <a:spLocks/>
              </p:cNvSpPr>
              <p:nvPr/>
            </p:nvSpPr>
            <p:spPr>
              <a:xfrm>
                <a:off x="838200" y="1825624"/>
                <a:ext cx="4054231" cy="503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Our trainer function is almost the same as before, except that:</a:t>
                </a:r>
              </a:p>
              <a:p>
                <a:r>
                  <a:rPr lang="en-GB" dirty="0">
                    <a:solidFill>
                      <a:srgbClr val="00B050"/>
                    </a:solidFill>
                  </a:rPr>
                  <a:t>We initialize a hidden tensor with zero value,</a:t>
                </a:r>
              </a:p>
              <a:p>
                <a:r>
                  <a:rPr lang="en-GB" dirty="0">
                    <a:solidFill>
                      <a:schemeClr val="accent2"/>
                    </a:solidFill>
                  </a:rPr>
                  <a:t>Outputs are split into </a:t>
                </a:r>
                <a14:m>
                  <m:oMath xmlns:m="http://schemas.openxmlformats.org/officeDocument/2006/math">
                    <m:sSub>
                      <m:sSubPr>
                        <m:ctrlPr>
                          <a:rPr lang="en-GB" b="0" i="1" smtClean="0">
                            <a:solidFill>
                              <a:schemeClr val="accent2"/>
                            </a:solidFill>
                            <a:latin typeface="Cambria Math" panose="02040503050406030204" pitchFamily="18" charset="0"/>
                          </a:rPr>
                        </m:ctrlPr>
                      </m:sSubPr>
                      <m:e>
                        <m:r>
                          <a:rPr lang="en-GB" b="0" i="1" smtClean="0">
                            <a:solidFill>
                              <a:schemeClr val="accent2"/>
                            </a:solidFill>
                            <a:latin typeface="Cambria Math" panose="02040503050406030204" pitchFamily="18" charset="0"/>
                          </a:rPr>
                          <m:t>𝑦</m:t>
                        </m:r>
                      </m:e>
                      <m:sub>
                        <m:r>
                          <a:rPr lang="en-GB" b="0" i="1" smtClean="0">
                            <a:solidFill>
                              <a:schemeClr val="accent2"/>
                            </a:solidFill>
                            <a:latin typeface="Cambria Math" panose="02040503050406030204" pitchFamily="18" charset="0"/>
                          </a:rPr>
                          <m:t>𝑡</m:t>
                        </m:r>
                      </m:sub>
                    </m:sSub>
                  </m:oMath>
                </a14:m>
                <a:r>
                  <a:rPr lang="en-GB" dirty="0">
                    <a:solidFill>
                      <a:schemeClr val="accent2"/>
                    </a:solidFill>
                  </a:rPr>
                  <a:t> (in variable out) and the new hidden vector </a:t>
                </a:r>
                <a14:m>
                  <m:oMath xmlns:m="http://schemas.openxmlformats.org/officeDocument/2006/math">
                    <m:sSub>
                      <m:sSubPr>
                        <m:ctrlPr>
                          <a:rPr lang="en-GB" b="0" i="1" smtClean="0">
                            <a:solidFill>
                              <a:schemeClr val="accent2"/>
                            </a:solidFill>
                            <a:latin typeface="Cambria Math" panose="02040503050406030204" pitchFamily="18" charset="0"/>
                          </a:rPr>
                        </m:ctrlPr>
                      </m:sSubPr>
                      <m:e>
                        <m:r>
                          <a:rPr lang="en-GB" b="0" i="1" smtClean="0">
                            <a:solidFill>
                              <a:schemeClr val="accent2"/>
                            </a:solidFill>
                            <a:latin typeface="Cambria Math" panose="02040503050406030204" pitchFamily="18" charset="0"/>
                          </a:rPr>
                          <m:t>h</m:t>
                        </m:r>
                      </m:e>
                      <m:sub>
                        <m:r>
                          <a:rPr lang="en-GB" b="0" i="1" smtClean="0">
                            <a:solidFill>
                              <a:schemeClr val="accent2"/>
                            </a:solidFill>
                            <a:latin typeface="Cambria Math" panose="02040503050406030204" pitchFamily="18" charset="0"/>
                          </a:rPr>
                          <m:t>𝑡</m:t>
                        </m:r>
                        <m:r>
                          <a:rPr lang="en-GB" b="0" i="1" smtClean="0">
                            <a:solidFill>
                              <a:schemeClr val="accent2"/>
                            </a:solidFill>
                            <a:latin typeface="Cambria Math" panose="02040503050406030204" pitchFamily="18" charset="0"/>
                          </a:rPr>
                          <m:t>+1</m:t>
                        </m:r>
                      </m:sub>
                    </m:sSub>
                  </m:oMath>
                </a14:m>
                <a:r>
                  <a:rPr lang="en-GB" dirty="0">
                    <a:solidFill>
                      <a:schemeClr val="accent2"/>
                    </a:solidFill>
                  </a:rPr>
                  <a:t> (in variable hidden),</a:t>
                </a:r>
              </a:p>
              <a:p>
                <a:r>
                  <a:rPr lang="en-GB" dirty="0">
                    <a:solidFill>
                      <a:srgbClr val="7030A0"/>
                    </a:solidFill>
                  </a:rPr>
                  <a:t>Loss function uses </a:t>
                </a:r>
                <a14:m>
                  <m:oMath xmlns:m="http://schemas.openxmlformats.org/officeDocument/2006/math">
                    <m:sSub>
                      <m:sSubPr>
                        <m:ctrlPr>
                          <a:rPr lang="en-GB" b="0" i="1" smtClean="0">
                            <a:solidFill>
                              <a:srgbClr val="7030A0"/>
                            </a:solidFill>
                            <a:latin typeface="Cambria Math" panose="02040503050406030204" pitchFamily="18" charset="0"/>
                          </a:rPr>
                        </m:ctrlPr>
                      </m:sSubPr>
                      <m:e>
                        <m:r>
                          <a:rPr lang="en-GB" b="0" i="1" smtClean="0">
                            <a:solidFill>
                              <a:srgbClr val="7030A0"/>
                            </a:solidFill>
                            <a:latin typeface="Cambria Math" panose="02040503050406030204" pitchFamily="18" charset="0"/>
                          </a:rPr>
                          <m:t>𝑦</m:t>
                        </m:r>
                      </m:e>
                      <m:sub>
                        <m:r>
                          <a:rPr lang="en-GB" b="0" i="1" smtClean="0">
                            <a:solidFill>
                              <a:srgbClr val="7030A0"/>
                            </a:solidFill>
                            <a:latin typeface="Cambria Math" panose="02040503050406030204" pitchFamily="18" charset="0"/>
                          </a:rPr>
                          <m:t>𝑡</m:t>
                        </m:r>
                      </m:sub>
                    </m:sSub>
                  </m:oMath>
                </a14:m>
                <a:r>
                  <a:rPr lang="en-GB" dirty="0">
                    <a:solidFill>
                      <a:srgbClr val="7030A0"/>
                    </a:solidFill>
                  </a:rPr>
                  <a:t> (in variable out) and target.</a:t>
                </a:r>
              </a:p>
              <a:p>
                <a:pPr marL="0" indent="0">
                  <a:buFont typeface="Arial" panose="020B0604020202020204" pitchFamily="34" charset="0"/>
                  <a:buNone/>
                </a:pPr>
                <a:endParaRPr lang="en-GB" dirty="0"/>
              </a:p>
              <a:p>
                <a:pPr marL="0" indent="0">
                  <a:buFont typeface="Arial" panose="020B0604020202020204" pitchFamily="34" charset="0"/>
                  <a:buNone/>
                </a:pPr>
                <a:endParaRPr lang="en-SG" dirty="0"/>
              </a:p>
            </p:txBody>
          </p:sp>
        </mc:Choice>
        <mc:Fallback xmlns="">
          <p:sp>
            <p:nvSpPr>
              <p:cNvPr id="4" name="Content Placeholder 2">
                <a:extLst>
                  <a:ext uri="{FF2B5EF4-FFF2-40B4-BE49-F238E27FC236}">
                    <a16:creationId xmlns:a16="http://schemas.microsoft.com/office/drawing/2014/main" id="{5CC0D0A3-1415-DC5D-0B11-FA062F6EC2BE}"/>
                  </a:ext>
                </a:extLst>
              </p:cNvPr>
              <p:cNvSpPr txBox="1">
                <a:spLocks noRot="1" noChangeAspect="1" noMove="1" noResize="1" noEditPoints="1" noAdjustHandles="1" noChangeArrowheads="1" noChangeShapeType="1" noTextEdit="1"/>
              </p:cNvSpPr>
              <p:nvPr/>
            </p:nvSpPr>
            <p:spPr>
              <a:xfrm>
                <a:off x="838200" y="1825624"/>
                <a:ext cx="4054231" cy="5032375"/>
              </a:xfrm>
              <a:prstGeom prst="rect">
                <a:avLst/>
              </a:prstGeom>
              <a:blipFill>
                <a:blip r:embed="rId2"/>
                <a:stretch>
                  <a:fillRect l="-3158" t="-1937" r="-1353"/>
                </a:stretch>
              </a:blipFill>
            </p:spPr>
            <p:txBody>
              <a:bodyPr/>
              <a:lstStyle/>
              <a:p>
                <a:r>
                  <a:rPr lang="en-SG">
                    <a:noFill/>
                  </a:rPr>
                  <a:t> </a:t>
                </a:r>
              </a:p>
            </p:txBody>
          </p:sp>
        </mc:Fallback>
      </mc:AlternateContent>
      <p:pic>
        <p:nvPicPr>
          <p:cNvPr id="5" name="Picture 4">
            <a:extLst>
              <a:ext uri="{FF2B5EF4-FFF2-40B4-BE49-F238E27FC236}">
                <a16:creationId xmlns:a16="http://schemas.microsoft.com/office/drawing/2014/main" id="{C3A5CFEB-28AD-1FE0-BD84-9B69A4A1588C}"/>
              </a:ext>
            </a:extLst>
          </p:cNvPr>
          <p:cNvPicPr>
            <a:picLocks noChangeAspect="1"/>
          </p:cNvPicPr>
          <p:nvPr/>
        </p:nvPicPr>
        <p:blipFill>
          <a:blip r:embed="rId3"/>
          <a:stretch>
            <a:fillRect/>
          </a:stretch>
        </p:blipFill>
        <p:spPr>
          <a:xfrm>
            <a:off x="5104411" y="2277929"/>
            <a:ext cx="7087589" cy="3581900"/>
          </a:xfrm>
          <a:prstGeom prst="rect">
            <a:avLst/>
          </a:prstGeom>
        </p:spPr>
      </p:pic>
      <p:sp>
        <p:nvSpPr>
          <p:cNvPr id="7" name="Rectangle 6">
            <a:extLst>
              <a:ext uri="{FF2B5EF4-FFF2-40B4-BE49-F238E27FC236}">
                <a16:creationId xmlns:a16="http://schemas.microsoft.com/office/drawing/2014/main" id="{E813EC1D-2C88-E484-A2B2-A6BE8BF6B912}"/>
              </a:ext>
            </a:extLst>
          </p:cNvPr>
          <p:cNvSpPr/>
          <p:nvPr/>
        </p:nvSpPr>
        <p:spPr>
          <a:xfrm>
            <a:off x="5330092" y="3008922"/>
            <a:ext cx="3829539" cy="218831"/>
          </a:xfrm>
          <a:prstGeom prst="rect">
            <a:avLst/>
          </a:prstGeom>
          <a:noFill/>
          <a:ln w="381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BC262BFE-E1D3-5E5B-7138-4886F3E5A493}"/>
              </a:ext>
            </a:extLst>
          </p:cNvPr>
          <p:cNvSpPr/>
          <p:nvPr/>
        </p:nvSpPr>
        <p:spPr>
          <a:xfrm flipV="1">
            <a:off x="6166338" y="4071813"/>
            <a:ext cx="4142154" cy="406399"/>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Rectangle 9">
            <a:extLst>
              <a:ext uri="{FF2B5EF4-FFF2-40B4-BE49-F238E27FC236}">
                <a16:creationId xmlns:a16="http://schemas.microsoft.com/office/drawing/2014/main" id="{8A1FAFD7-5660-B07A-107B-36BF7BE29F01}"/>
              </a:ext>
            </a:extLst>
          </p:cNvPr>
          <p:cNvSpPr/>
          <p:nvPr/>
        </p:nvSpPr>
        <p:spPr>
          <a:xfrm flipV="1">
            <a:off x="6166338" y="4505563"/>
            <a:ext cx="5187462" cy="218831"/>
          </a:xfrm>
          <a:prstGeom prst="rect">
            <a:avLst/>
          </a:pr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9863238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75721-EED9-80CE-F23D-A742DFC9C6E2}"/>
              </a:ext>
            </a:extLst>
          </p:cNvPr>
          <p:cNvSpPr>
            <a:spLocks noGrp="1"/>
          </p:cNvSpPr>
          <p:nvPr>
            <p:ph type="title"/>
          </p:nvPr>
        </p:nvSpPr>
        <p:spPr/>
        <p:txBody>
          <a:bodyPr/>
          <a:lstStyle/>
          <a:p>
            <a:r>
              <a:rPr lang="en-GB" dirty="0"/>
              <a:t>It trains!</a:t>
            </a:r>
            <a:endParaRPr lang="en-SG" dirty="0"/>
          </a:p>
        </p:txBody>
      </p:sp>
      <p:pic>
        <p:nvPicPr>
          <p:cNvPr id="5" name="Picture 4">
            <a:extLst>
              <a:ext uri="{FF2B5EF4-FFF2-40B4-BE49-F238E27FC236}">
                <a16:creationId xmlns:a16="http://schemas.microsoft.com/office/drawing/2014/main" id="{D6DDE19B-E25E-831A-A8E7-E62EFA527FA6}"/>
              </a:ext>
            </a:extLst>
          </p:cNvPr>
          <p:cNvPicPr>
            <a:picLocks noChangeAspect="1"/>
          </p:cNvPicPr>
          <p:nvPr/>
        </p:nvPicPr>
        <p:blipFill>
          <a:blip r:embed="rId2"/>
          <a:stretch>
            <a:fillRect/>
          </a:stretch>
        </p:blipFill>
        <p:spPr>
          <a:xfrm>
            <a:off x="1302238" y="1434643"/>
            <a:ext cx="9587523" cy="5423357"/>
          </a:xfrm>
          <a:prstGeom prst="rect">
            <a:avLst/>
          </a:prstGeom>
        </p:spPr>
      </p:pic>
    </p:spTree>
    <p:extLst>
      <p:ext uri="{BB962C8B-B14F-4D97-AF65-F5344CB8AC3E}">
        <p14:creationId xmlns:p14="http://schemas.microsoft.com/office/powerpoint/2010/main" val="17008215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75721-EED9-80CE-F23D-A742DFC9C6E2}"/>
              </a:ext>
            </a:extLst>
          </p:cNvPr>
          <p:cNvSpPr>
            <a:spLocks noGrp="1"/>
          </p:cNvSpPr>
          <p:nvPr>
            <p:ph type="title"/>
          </p:nvPr>
        </p:nvSpPr>
        <p:spPr/>
        <p:txBody>
          <a:bodyPr/>
          <a:lstStyle/>
          <a:p>
            <a:r>
              <a:rPr lang="en-GB" dirty="0"/>
              <a:t>And it is not too bad at predicting!</a:t>
            </a:r>
            <a:endParaRPr lang="en-SG" dirty="0"/>
          </a:p>
        </p:txBody>
      </p:sp>
      <p:pic>
        <p:nvPicPr>
          <p:cNvPr id="4" name="Picture 3">
            <a:extLst>
              <a:ext uri="{FF2B5EF4-FFF2-40B4-BE49-F238E27FC236}">
                <a16:creationId xmlns:a16="http://schemas.microsoft.com/office/drawing/2014/main" id="{A3EE9199-7295-85EA-14D6-4C7DD896F13B}"/>
              </a:ext>
            </a:extLst>
          </p:cNvPr>
          <p:cNvPicPr>
            <a:picLocks noChangeAspect="1"/>
          </p:cNvPicPr>
          <p:nvPr/>
        </p:nvPicPr>
        <p:blipFill>
          <a:blip r:embed="rId2"/>
          <a:stretch>
            <a:fillRect/>
          </a:stretch>
        </p:blipFill>
        <p:spPr>
          <a:xfrm>
            <a:off x="2421742" y="1526332"/>
            <a:ext cx="7348516" cy="5331668"/>
          </a:xfrm>
          <a:prstGeom prst="rect">
            <a:avLst/>
          </a:prstGeom>
        </p:spPr>
      </p:pic>
    </p:spTree>
    <p:extLst>
      <p:ext uri="{BB962C8B-B14F-4D97-AF65-F5344CB8AC3E}">
        <p14:creationId xmlns:p14="http://schemas.microsoft.com/office/powerpoint/2010/main" val="20804966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AEA01-2945-B7D2-CE7A-B46FF860DB6A}"/>
              </a:ext>
            </a:extLst>
          </p:cNvPr>
          <p:cNvSpPr>
            <a:spLocks noGrp="1"/>
          </p:cNvSpPr>
          <p:nvPr>
            <p:ph type="title"/>
          </p:nvPr>
        </p:nvSpPr>
        <p:spPr/>
        <p:txBody>
          <a:bodyPr/>
          <a:lstStyle/>
          <a:p>
            <a:r>
              <a:rPr lang="en-GB" dirty="0"/>
              <a:t>Improving our RNN</a:t>
            </a:r>
            <a:endParaRPr lang="en-SG"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CC0D0A3-1415-DC5D-0B11-FA062F6EC2BE}"/>
                  </a:ext>
                </a:extLst>
              </p:cNvPr>
              <p:cNvSpPr txBox="1">
                <a:spLocks/>
              </p:cNvSpPr>
              <p:nvPr/>
            </p:nvSpPr>
            <p:spPr>
              <a:xfrm>
                <a:off x="838200" y="1825624"/>
                <a:ext cx="5181600" cy="503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Our first RNN model, uses</a:t>
                </a:r>
              </a:p>
              <a:p>
                <a:r>
                  <a:rPr lang="en-GB" dirty="0"/>
                  <a:t>3 Linear Layers + </a:t>
                </a:r>
                <a:r>
                  <a:rPr lang="en-GB" dirty="0" err="1"/>
                  <a:t>ReLU</a:t>
                </a:r>
                <a:r>
                  <a:rPr lang="en-GB" dirty="0"/>
                  <a:t>,</a:t>
                </a:r>
              </a:p>
              <a:p>
                <a:r>
                  <a:rPr lang="en-GB" dirty="0"/>
                  <a:t>No </a:t>
                </a:r>
                <a:r>
                  <a:rPr lang="en-GB" dirty="0" err="1"/>
                  <a:t>ReLU</a:t>
                </a:r>
                <a:r>
                  <a:rPr lang="en-GB" dirty="0"/>
                  <a:t> on final layer,</a:t>
                </a:r>
              </a:p>
              <a:p>
                <a:r>
                  <a:rPr lang="en-GB" b="1" dirty="0">
                    <a:solidFill>
                      <a:schemeClr val="tx1"/>
                    </a:solidFill>
                  </a:rPr>
                  <a:t>Number of inputs = 2, being </a:t>
                </a:r>
                <a14:m>
                  <m:oMath xmlns:m="http://schemas.openxmlformats.org/officeDocument/2006/math">
                    <m:r>
                      <a:rPr lang="en-GB" b="1" i="1">
                        <a:solidFill>
                          <a:schemeClr val="tx1"/>
                        </a:solidFill>
                        <a:latin typeface="Cambria Math" panose="02040503050406030204" pitchFamily="18" charset="0"/>
                      </a:rPr>
                      <m:t>(</m:t>
                    </m:r>
                    <m:sSub>
                      <m:sSubPr>
                        <m:ctrlPr>
                          <a:rPr lang="en-GB" b="1" i="1">
                            <a:solidFill>
                              <a:schemeClr val="tx1"/>
                            </a:solidFill>
                            <a:latin typeface="Cambria Math" panose="02040503050406030204" pitchFamily="18" charset="0"/>
                          </a:rPr>
                        </m:ctrlPr>
                      </m:sSubPr>
                      <m:e>
                        <m:r>
                          <a:rPr lang="en-GB" b="1" i="1">
                            <a:solidFill>
                              <a:schemeClr val="tx1"/>
                            </a:solidFill>
                            <a:latin typeface="Cambria Math" panose="02040503050406030204" pitchFamily="18" charset="0"/>
                          </a:rPr>
                          <m:t>𝒙</m:t>
                        </m:r>
                      </m:e>
                      <m:sub>
                        <m:r>
                          <a:rPr lang="en-GB" b="1" i="1">
                            <a:solidFill>
                              <a:schemeClr val="tx1"/>
                            </a:solidFill>
                            <a:latin typeface="Cambria Math" panose="02040503050406030204" pitchFamily="18" charset="0"/>
                          </a:rPr>
                          <m:t>𝒕</m:t>
                        </m:r>
                      </m:sub>
                    </m:sSub>
                    <m:r>
                      <a:rPr lang="en-GB" b="1" i="1">
                        <a:solidFill>
                          <a:schemeClr val="tx1"/>
                        </a:solidFill>
                        <a:latin typeface="Cambria Math" panose="02040503050406030204" pitchFamily="18" charset="0"/>
                      </a:rPr>
                      <m:t>,</m:t>
                    </m:r>
                    <m:sSub>
                      <m:sSubPr>
                        <m:ctrlPr>
                          <a:rPr lang="en-GB" b="1" i="1">
                            <a:solidFill>
                              <a:schemeClr val="tx1"/>
                            </a:solidFill>
                            <a:latin typeface="Cambria Math" panose="02040503050406030204" pitchFamily="18" charset="0"/>
                          </a:rPr>
                        </m:ctrlPr>
                      </m:sSubPr>
                      <m:e>
                        <m:r>
                          <a:rPr lang="en-GB" b="1" i="1">
                            <a:solidFill>
                              <a:schemeClr val="tx1"/>
                            </a:solidFill>
                            <a:latin typeface="Cambria Math" panose="02040503050406030204" pitchFamily="18" charset="0"/>
                          </a:rPr>
                          <m:t>𝒉</m:t>
                        </m:r>
                      </m:e>
                      <m:sub>
                        <m:r>
                          <a:rPr lang="en-GB" b="1" i="1">
                            <a:solidFill>
                              <a:schemeClr val="tx1"/>
                            </a:solidFill>
                            <a:latin typeface="Cambria Math" panose="02040503050406030204" pitchFamily="18" charset="0"/>
                          </a:rPr>
                          <m:t>𝒕</m:t>
                        </m:r>
                      </m:sub>
                    </m:sSub>
                    <m:r>
                      <a:rPr lang="en-GB" b="1" i="1">
                        <a:solidFill>
                          <a:schemeClr val="tx1"/>
                        </a:solidFill>
                        <a:latin typeface="Cambria Math" panose="02040503050406030204" pitchFamily="18" charset="0"/>
                      </a:rPr>
                      <m:t>)</m:t>
                    </m:r>
                  </m:oMath>
                </a14:m>
                <a:r>
                  <a:rPr lang="en-GB" b="1" dirty="0">
                    <a:solidFill>
                      <a:schemeClr val="tx1"/>
                    </a:solidFill>
                  </a:rPr>
                  <a:t> this time.</a:t>
                </a:r>
              </a:p>
              <a:p>
                <a:r>
                  <a:rPr lang="en-GB" b="1" dirty="0">
                    <a:solidFill>
                      <a:schemeClr val="tx1"/>
                    </a:solidFill>
                  </a:rPr>
                  <a:t>Number of outputs = 2, being </a:t>
                </a:r>
                <a14:m>
                  <m:oMath xmlns:m="http://schemas.openxmlformats.org/officeDocument/2006/math">
                    <m:r>
                      <a:rPr lang="en-GB" b="1" i="1" dirty="0" smtClean="0">
                        <a:solidFill>
                          <a:schemeClr val="tx1"/>
                        </a:solidFill>
                        <a:latin typeface="Cambria Math" panose="02040503050406030204" pitchFamily="18" charset="0"/>
                      </a:rPr>
                      <m:t>(</m:t>
                    </m:r>
                    <m:sSub>
                      <m:sSubPr>
                        <m:ctrlPr>
                          <a:rPr lang="en-GB" b="1" i="1" dirty="0" err="1" smtClean="0">
                            <a:solidFill>
                              <a:schemeClr val="tx1"/>
                            </a:solidFill>
                            <a:latin typeface="Cambria Math" panose="02040503050406030204" pitchFamily="18" charset="0"/>
                          </a:rPr>
                        </m:ctrlPr>
                      </m:sSubPr>
                      <m:e>
                        <m:r>
                          <a:rPr lang="en-GB" b="1" i="1" dirty="0" err="1" smtClean="0">
                            <a:solidFill>
                              <a:schemeClr val="tx1"/>
                            </a:solidFill>
                            <a:latin typeface="Cambria Math" panose="02040503050406030204" pitchFamily="18" charset="0"/>
                          </a:rPr>
                          <m:t>𝒚</m:t>
                        </m:r>
                      </m:e>
                      <m:sub>
                        <m:r>
                          <a:rPr lang="en-GB" b="1" i="1" dirty="0" err="1" smtClean="0">
                            <a:solidFill>
                              <a:schemeClr val="tx1"/>
                            </a:solidFill>
                            <a:latin typeface="Cambria Math" panose="02040503050406030204" pitchFamily="18" charset="0"/>
                          </a:rPr>
                          <m:t>𝒕</m:t>
                        </m:r>
                      </m:sub>
                    </m:sSub>
                    <m:r>
                      <a:rPr lang="en-GB" b="1" i="1" dirty="0" smtClean="0">
                        <a:solidFill>
                          <a:schemeClr val="tx1"/>
                        </a:solidFill>
                        <a:latin typeface="Cambria Math" panose="02040503050406030204" pitchFamily="18" charset="0"/>
                      </a:rPr>
                      <m:t>, </m:t>
                    </m:r>
                    <m:sSub>
                      <m:sSubPr>
                        <m:ctrlPr>
                          <a:rPr lang="en-GB" b="1" i="1" dirty="0" smtClean="0">
                            <a:solidFill>
                              <a:schemeClr val="tx1"/>
                            </a:solidFill>
                            <a:latin typeface="Cambria Math" panose="02040503050406030204" pitchFamily="18" charset="0"/>
                          </a:rPr>
                        </m:ctrlPr>
                      </m:sSubPr>
                      <m:e>
                        <m:r>
                          <a:rPr lang="en-GB" b="1" i="1" dirty="0" smtClean="0">
                            <a:solidFill>
                              <a:schemeClr val="tx1"/>
                            </a:solidFill>
                            <a:latin typeface="Cambria Math" panose="02040503050406030204" pitchFamily="18" charset="0"/>
                          </a:rPr>
                          <m:t>𝒉</m:t>
                        </m:r>
                      </m:e>
                      <m:sub>
                        <m:r>
                          <a:rPr lang="en-GB" b="1" i="1" dirty="0" smtClean="0">
                            <a:solidFill>
                              <a:schemeClr val="tx1"/>
                            </a:solidFill>
                            <a:latin typeface="Cambria Math" panose="02040503050406030204" pitchFamily="18" charset="0"/>
                          </a:rPr>
                          <m:t>𝒕</m:t>
                        </m:r>
                        <m:r>
                          <a:rPr lang="en-GB" b="1" i="1" dirty="0" smtClean="0">
                            <a:solidFill>
                              <a:schemeClr val="tx1"/>
                            </a:solidFill>
                            <a:latin typeface="Cambria Math" panose="02040503050406030204" pitchFamily="18" charset="0"/>
                          </a:rPr>
                          <m:t>+</m:t>
                        </m:r>
                        <m:r>
                          <a:rPr lang="en-GB" b="1" i="1" dirty="0" smtClean="0">
                            <a:solidFill>
                              <a:schemeClr val="tx1"/>
                            </a:solidFill>
                            <a:latin typeface="Cambria Math" panose="02040503050406030204" pitchFamily="18" charset="0"/>
                          </a:rPr>
                          <m:t>𝟏</m:t>
                        </m:r>
                      </m:sub>
                    </m:sSub>
                    <m:r>
                      <a:rPr lang="en-GB" b="1" i="1" dirty="0" smtClean="0">
                        <a:solidFill>
                          <a:schemeClr val="tx1"/>
                        </a:solidFill>
                        <a:latin typeface="Cambria Math" panose="02040503050406030204" pitchFamily="18" charset="0"/>
                      </a:rPr>
                      <m:t>)</m:t>
                    </m:r>
                  </m:oMath>
                </a14:m>
                <a:r>
                  <a:rPr lang="en-GB" b="1" dirty="0">
                    <a:solidFill>
                      <a:schemeClr val="tx1"/>
                    </a:solidFill>
                  </a:rPr>
                  <a:t>.</a:t>
                </a:r>
              </a:p>
              <a:p>
                <a:r>
                  <a:rPr lang="en-GB" dirty="0"/>
                  <a:t>Hidden layers sizes: 32 and 8.</a:t>
                </a:r>
                <a:endParaRPr lang="en-SG" dirty="0"/>
              </a:p>
              <a:p>
                <a:pPr marL="0" indent="0">
                  <a:buFont typeface="Arial" panose="020B0604020202020204" pitchFamily="34" charset="0"/>
                  <a:buNone/>
                </a:pPr>
                <a:endParaRPr lang="en-SG" dirty="0"/>
              </a:p>
            </p:txBody>
          </p:sp>
        </mc:Choice>
        <mc:Fallback xmlns="">
          <p:sp>
            <p:nvSpPr>
              <p:cNvPr id="4" name="Content Placeholder 2">
                <a:extLst>
                  <a:ext uri="{FF2B5EF4-FFF2-40B4-BE49-F238E27FC236}">
                    <a16:creationId xmlns:a16="http://schemas.microsoft.com/office/drawing/2014/main" id="{5CC0D0A3-1415-DC5D-0B11-FA062F6EC2BE}"/>
                  </a:ext>
                </a:extLst>
              </p:cNvPr>
              <p:cNvSpPr txBox="1">
                <a:spLocks noRot="1" noChangeAspect="1" noMove="1" noResize="1" noEditPoints="1" noAdjustHandles="1" noChangeArrowheads="1" noChangeShapeType="1" noTextEdit="1"/>
              </p:cNvSpPr>
              <p:nvPr/>
            </p:nvSpPr>
            <p:spPr>
              <a:xfrm>
                <a:off x="838200" y="1825624"/>
                <a:ext cx="5181600" cy="5032375"/>
              </a:xfrm>
              <a:prstGeom prst="rect">
                <a:avLst/>
              </a:prstGeom>
              <a:blipFill>
                <a:blip r:embed="rId2"/>
                <a:stretch>
                  <a:fillRect l="-2471" t="-1937"/>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171B4915-D2E3-0066-AE18-079E6AE5F226}"/>
              </a:ext>
            </a:extLst>
          </p:cNvPr>
          <p:cNvPicPr>
            <a:picLocks noChangeAspect="1"/>
          </p:cNvPicPr>
          <p:nvPr/>
        </p:nvPicPr>
        <p:blipFill rotWithShape="1">
          <a:blip r:embed="rId3"/>
          <a:srcRect l="7053"/>
          <a:stretch/>
        </p:blipFill>
        <p:spPr>
          <a:xfrm>
            <a:off x="6200912" y="1159242"/>
            <a:ext cx="5991088" cy="299390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5AF4C97-68DA-40D0-3587-76F9C89EC86B}"/>
                  </a:ext>
                </a:extLst>
              </p:cNvPr>
              <p:cNvSpPr txBox="1"/>
              <p:nvPr/>
            </p:nvSpPr>
            <p:spPr>
              <a:xfrm>
                <a:off x="6096000" y="4408031"/>
                <a:ext cx="5822462" cy="2246769"/>
              </a:xfrm>
              <a:prstGeom prst="rect">
                <a:avLst/>
              </a:prstGeom>
              <a:noFill/>
            </p:spPr>
            <p:txBody>
              <a:bodyPr wrap="square" rtlCol="0">
                <a:spAutoFit/>
              </a:bodyPr>
              <a:lstStyle/>
              <a:p>
                <a:pPr algn="ctr"/>
                <a:r>
                  <a:rPr lang="en-GB" sz="2800" b="1" dirty="0">
                    <a:solidFill>
                      <a:srgbClr val="7030A0"/>
                    </a:solidFill>
                  </a:rPr>
                  <a:t>Question: The memory vector </a:t>
                </a:r>
                <a14:m>
                  <m:oMath xmlns:m="http://schemas.openxmlformats.org/officeDocument/2006/math">
                    <m:sSub>
                      <m:sSubPr>
                        <m:ctrlPr>
                          <a:rPr lang="en-GB" sz="2800" b="1" i="1">
                            <a:solidFill>
                              <a:srgbClr val="7030A0"/>
                            </a:solidFill>
                            <a:latin typeface="Cambria Math" panose="02040503050406030204" pitchFamily="18" charset="0"/>
                          </a:rPr>
                        </m:ctrlPr>
                      </m:sSubPr>
                      <m:e>
                        <m:r>
                          <a:rPr lang="en-GB" sz="2800" b="1" i="1">
                            <a:solidFill>
                              <a:srgbClr val="7030A0"/>
                            </a:solidFill>
                            <a:latin typeface="Cambria Math" panose="02040503050406030204" pitchFamily="18" charset="0"/>
                          </a:rPr>
                          <m:t>𝒉</m:t>
                        </m:r>
                      </m:e>
                      <m:sub>
                        <m:r>
                          <a:rPr lang="en-GB" sz="2800" b="1" i="1">
                            <a:solidFill>
                              <a:srgbClr val="7030A0"/>
                            </a:solidFill>
                            <a:latin typeface="Cambria Math" panose="02040503050406030204" pitchFamily="18" charset="0"/>
                          </a:rPr>
                          <m:t>𝒕</m:t>
                        </m:r>
                      </m:sub>
                    </m:sSub>
                    <m:r>
                      <a:rPr lang="en-GB" sz="2800" b="1" i="1">
                        <a:solidFill>
                          <a:srgbClr val="7030A0"/>
                        </a:solidFill>
                        <a:latin typeface="Cambria Math" panose="02040503050406030204" pitchFamily="18" charset="0"/>
                      </a:rPr>
                      <m:t> </m:t>
                    </m:r>
                  </m:oMath>
                </a14:m>
                <a:r>
                  <a:rPr lang="en-GB" sz="2800" b="1" dirty="0">
                    <a:solidFill>
                      <a:srgbClr val="7030A0"/>
                    </a:solidFill>
                  </a:rPr>
                  <a:t>currently consists of only 1 element, but what if we increased the size of the memory vector </a:t>
                </a:r>
                <a14:m>
                  <m:oMath xmlns:m="http://schemas.openxmlformats.org/officeDocument/2006/math">
                    <m:sSub>
                      <m:sSubPr>
                        <m:ctrlPr>
                          <a:rPr lang="en-GB" sz="2800" b="1" i="1" smtClean="0">
                            <a:solidFill>
                              <a:srgbClr val="7030A0"/>
                            </a:solidFill>
                            <a:latin typeface="Cambria Math" panose="02040503050406030204" pitchFamily="18" charset="0"/>
                          </a:rPr>
                        </m:ctrlPr>
                      </m:sSubPr>
                      <m:e>
                        <m:r>
                          <a:rPr lang="en-GB" sz="2800" b="1" i="1" smtClean="0">
                            <a:solidFill>
                              <a:srgbClr val="7030A0"/>
                            </a:solidFill>
                            <a:latin typeface="Cambria Math" panose="02040503050406030204" pitchFamily="18" charset="0"/>
                          </a:rPr>
                          <m:t>𝒉</m:t>
                        </m:r>
                      </m:e>
                      <m:sub>
                        <m:r>
                          <a:rPr lang="en-GB" sz="2800" b="1" i="1" smtClean="0">
                            <a:solidFill>
                              <a:srgbClr val="7030A0"/>
                            </a:solidFill>
                            <a:latin typeface="Cambria Math" panose="02040503050406030204" pitchFamily="18" charset="0"/>
                          </a:rPr>
                          <m:t>𝒕</m:t>
                        </m:r>
                      </m:sub>
                    </m:sSub>
                  </m:oMath>
                </a14:m>
                <a:r>
                  <a:rPr lang="en-SG" sz="2800" b="1" dirty="0">
                    <a:solidFill>
                      <a:srgbClr val="7030A0"/>
                    </a:solidFill>
                  </a:rPr>
                  <a:t> to have now </a:t>
                </a:r>
                <a14:m>
                  <m:oMath xmlns:m="http://schemas.openxmlformats.org/officeDocument/2006/math">
                    <m:r>
                      <a:rPr lang="en-GB" sz="2800" b="1" i="1" smtClean="0">
                        <a:solidFill>
                          <a:srgbClr val="7030A0"/>
                        </a:solidFill>
                        <a:latin typeface="Cambria Math" panose="02040503050406030204" pitchFamily="18" charset="0"/>
                      </a:rPr>
                      <m:t>𝒍</m:t>
                    </m:r>
                    <m:r>
                      <a:rPr lang="en-GB" sz="2800" b="1" i="1" smtClean="0">
                        <a:solidFill>
                          <a:srgbClr val="7030A0"/>
                        </a:solidFill>
                        <a:latin typeface="Cambria Math" panose="02040503050406030204" pitchFamily="18" charset="0"/>
                      </a:rPr>
                      <m:t>≠</m:t>
                    </m:r>
                    <m:r>
                      <a:rPr lang="en-GB" sz="2800" b="1" i="1" smtClean="0">
                        <a:solidFill>
                          <a:srgbClr val="7030A0"/>
                        </a:solidFill>
                        <a:latin typeface="Cambria Math" panose="02040503050406030204" pitchFamily="18" charset="0"/>
                      </a:rPr>
                      <m:t>𝟏</m:t>
                    </m:r>
                  </m:oMath>
                </a14:m>
                <a:r>
                  <a:rPr lang="en-SG" sz="2800" b="1" dirty="0">
                    <a:solidFill>
                      <a:srgbClr val="7030A0"/>
                    </a:solidFill>
                  </a:rPr>
                  <a:t> elements?</a:t>
                </a:r>
              </a:p>
            </p:txBody>
          </p:sp>
        </mc:Choice>
        <mc:Fallback xmlns="">
          <p:sp>
            <p:nvSpPr>
              <p:cNvPr id="8" name="TextBox 7">
                <a:extLst>
                  <a:ext uri="{FF2B5EF4-FFF2-40B4-BE49-F238E27FC236}">
                    <a16:creationId xmlns:a16="http://schemas.microsoft.com/office/drawing/2014/main" id="{85AF4C97-68DA-40D0-3587-76F9C89EC86B}"/>
                  </a:ext>
                </a:extLst>
              </p:cNvPr>
              <p:cNvSpPr txBox="1">
                <a:spLocks noRot="1" noChangeAspect="1" noMove="1" noResize="1" noEditPoints="1" noAdjustHandles="1" noChangeArrowheads="1" noChangeShapeType="1" noTextEdit="1"/>
              </p:cNvSpPr>
              <p:nvPr/>
            </p:nvSpPr>
            <p:spPr>
              <a:xfrm>
                <a:off x="6096000" y="4408031"/>
                <a:ext cx="5822462" cy="2246769"/>
              </a:xfrm>
              <a:prstGeom prst="rect">
                <a:avLst/>
              </a:prstGeom>
              <a:blipFill>
                <a:blip r:embed="rId4"/>
                <a:stretch>
                  <a:fillRect l="-1885" t="-2439" r="-3351" b="-6775"/>
                </a:stretch>
              </a:blipFill>
            </p:spPr>
            <p:txBody>
              <a:bodyPr/>
              <a:lstStyle/>
              <a:p>
                <a:r>
                  <a:rPr lang="en-SG">
                    <a:noFill/>
                  </a:rPr>
                  <a:t> </a:t>
                </a:r>
              </a:p>
            </p:txBody>
          </p:sp>
        </mc:Fallback>
      </mc:AlternateContent>
    </p:spTree>
    <p:extLst>
      <p:ext uri="{BB962C8B-B14F-4D97-AF65-F5344CB8AC3E}">
        <p14:creationId xmlns:p14="http://schemas.microsoft.com/office/powerpoint/2010/main" val="27435901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2B696-BAB3-3B95-364A-DA9C343AFF9C}"/>
              </a:ext>
            </a:extLst>
          </p:cNvPr>
          <p:cNvSpPr>
            <a:spLocks noGrp="1"/>
          </p:cNvSpPr>
          <p:nvPr>
            <p:ph type="title"/>
          </p:nvPr>
        </p:nvSpPr>
        <p:spPr/>
        <p:txBody>
          <a:bodyPr/>
          <a:lstStyle/>
          <a:p>
            <a:r>
              <a:rPr lang="en-GB" dirty="0"/>
              <a:t>What is a good memory length then?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321E73-C55F-1D84-B04E-3A310D33B527}"/>
                  </a:ext>
                </a:extLst>
              </p:cNvPr>
              <p:cNvSpPr>
                <a:spLocks noGrp="1"/>
              </p:cNvSpPr>
              <p:nvPr>
                <p:ph idx="1"/>
              </p:nvPr>
            </p:nvSpPr>
            <p:spPr>
              <a:xfrm>
                <a:off x="838200" y="1825624"/>
                <a:ext cx="10515600" cy="5032375"/>
              </a:xfrm>
            </p:spPr>
            <p:txBody>
              <a:bodyPr>
                <a:normAutofit/>
              </a:bodyPr>
              <a:lstStyle/>
              <a:p>
                <a:pPr marL="0" indent="0">
                  <a:buNone/>
                </a:pPr>
                <a:r>
                  <a:rPr lang="en-GB" b="1" dirty="0">
                    <a:solidFill>
                      <a:srgbClr val="7030A0"/>
                    </a:solidFill>
                  </a:rPr>
                  <a:t>Question: How would we decide the </a:t>
                </a:r>
                <a:r>
                  <a:rPr lang="en-GB" sz="2800" b="1" dirty="0">
                    <a:solidFill>
                      <a:srgbClr val="7030A0"/>
                    </a:solidFill>
                  </a:rPr>
                  <a:t>size </a:t>
                </a:r>
                <a14:m>
                  <m:oMath xmlns:m="http://schemas.openxmlformats.org/officeDocument/2006/math">
                    <m:r>
                      <a:rPr lang="en-GB" b="1" i="1">
                        <a:solidFill>
                          <a:srgbClr val="7030A0"/>
                        </a:solidFill>
                        <a:latin typeface="Cambria Math" panose="02040503050406030204" pitchFamily="18" charset="0"/>
                      </a:rPr>
                      <m:t>𝒍</m:t>
                    </m:r>
                  </m:oMath>
                </a14:m>
                <a:r>
                  <a:rPr lang="en-GB" sz="2800" b="1" dirty="0">
                    <a:solidFill>
                      <a:srgbClr val="7030A0"/>
                    </a:solidFill>
                  </a:rPr>
                  <a:t> of the memory vector </a:t>
                </a:r>
                <a14:m>
                  <m:oMath xmlns:m="http://schemas.openxmlformats.org/officeDocument/2006/math">
                    <m:sSub>
                      <m:sSubPr>
                        <m:ctrlPr>
                          <a:rPr lang="en-GB" sz="2800" b="1" i="1" smtClean="0">
                            <a:solidFill>
                              <a:srgbClr val="7030A0"/>
                            </a:solidFill>
                            <a:latin typeface="Cambria Math" panose="02040503050406030204" pitchFamily="18" charset="0"/>
                          </a:rPr>
                        </m:ctrlPr>
                      </m:sSubPr>
                      <m:e>
                        <m:r>
                          <a:rPr lang="en-GB" sz="2800" b="1" i="1" smtClean="0">
                            <a:solidFill>
                              <a:srgbClr val="7030A0"/>
                            </a:solidFill>
                            <a:latin typeface="Cambria Math" panose="02040503050406030204" pitchFamily="18" charset="0"/>
                          </a:rPr>
                          <m:t>𝒉</m:t>
                        </m:r>
                      </m:e>
                      <m:sub>
                        <m:r>
                          <a:rPr lang="en-GB" sz="2800" b="1" i="1" smtClean="0">
                            <a:solidFill>
                              <a:srgbClr val="7030A0"/>
                            </a:solidFill>
                            <a:latin typeface="Cambria Math" panose="02040503050406030204" pitchFamily="18" charset="0"/>
                          </a:rPr>
                          <m:t>𝒕</m:t>
                        </m:r>
                      </m:sub>
                    </m:sSub>
                  </m:oMath>
                </a14:m>
                <a:r>
                  <a:rPr lang="en-SG" sz="2800" b="1" dirty="0">
                    <a:solidFill>
                      <a:srgbClr val="7030A0"/>
                    </a:solidFill>
                  </a:rPr>
                  <a:t> to use for our RNN?</a:t>
                </a:r>
                <a:endParaRPr lang="en-GB" b="1" dirty="0">
                  <a:solidFill>
                    <a:srgbClr val="7030A0"/>
                  </a:solidFill>
                </a:endParaRPr>
              </a:p>
              <a:p>
                <a:pPr marL="0" indent="0">
                  <a:buNone/>
                </a:pPr>
                <a:endParaRPr lang="en-SG" dirty="0"/>
              </a:p>
              <a:p>
                <a:pPr marL="0" indent="0">
                  <a:buNone/>
                </a:pPr>
                <a:r>
                  <a:rPr lang="en-SG" dirty="0"/>
                  <a:t>Remember: We said earlier that </a:t>
                </a:r>
                <a:r>
                  <a:rPr lang="en-SG" i="1" dirty="0"/>
                  <a:t>“In </a:t>
                </a:r>
                <a:r>
                  <a:rPr lang="en-GB" i="1" dirty="0"/>
                  <a:t>general: Having more datapoints in the history (i.e. a greater history length), will usually lead to a model that performs better.”</a:t>
                </a:r>
              </a:p>
              <a:p>
                <a:pPr marL="0" indent="0">
                  <a:buNone/>
                </a:pPr>
                <a:endParaRPr lang="en-GB" b="1" dirty="0"/>
              </a:p>
              <a:p>
                <a:pPr marL="0" indent="0">
                  <a:buNone/>
                </a:pPr>
                <a:r>
                  <a:rPr lang="en-GB" b="1" dirty="0"/>
                  <a:t>Same intuition: It would make sense that having a </a:t>
                </a:r>
                <a:r>
                  <a:rPr lang="en-GB" b="1" dirty="0">
                    <a:solidFill>
                      <a:srgbClr val="7030A0"/>
                    </a:solidFill>
                  </a:rPr>
                  <a:t>higher</a:t>
                </a:r>
                <a:r>
                  <a:rPr lang="en-GB" b="1" dirty="0"/>
                  <a:t> </a:t>
                </a:r>
                <a:r>
                  <a:rPr lang="en-GB" sz="2800" b="1" dirty="0">
                    <a:solidFill>
                      <a:srgbClr val="7030A0"/>
                    </a:solidFill>
                  </a:rPr>
                  <a:t>size </a:t>
                </a:r>
                <a14:m>
                  <m:oMath xmlns:m="http://schemas.openxmlformats.org/officeDocument/2006/math">
                    <m:r>
                      <a:rPr lang="en-GB" b="1" i="1">
                        <a:solidFill>
                          <a:srgbClr val="7030A0"/>
                        </a:solidFill>
                        <a:latin typeface="Cambria Math" panose="02040503050406030204" pitchFamily="18" charset="0"/>
                      </a:rPr>
                      <m:t>𝒍</m:t>
                    </m:r>
                  </m:oMath>
                </a14:m>
                <a:r>
                  <a:rPr lang="en-GB" sz="2800" b="1" dirty="0">
                    <a:solidFill>
                      <a:srgbClr val="7030A0"/>
                    </a:solidFill>
                  </a:rPr>
                  <a:t> of the memory vector </a:t>
                </a:r>
                <a14:m>
                  <m:oMath xmlns:m="http://schemas.openxmlformats.org/officeDocument/2006/math">
                    <m:sSub>
                      <m:sSubPr>
                        <m:ctrlPr>
                          <a:rPr lang="en-GB" sz="2800" b="1" i="1" smtClean="0">
                            <a:solidFill>
                              <a:srgbClr val="7030A0"/>
                            </a:solidFill>
                            <a:latin typeface="Cambria Math" panose="02040503050406030204" pitchFamily="18" charset="0"/>
                          </a:rPr>
                        </m:ctrlPr>
                      </m:sSubPr>
                      <m:e>
                        <m:r>
                          <a:rPr lang="en-GB" sz="2800" b="1" i="1" smtClean="0">
                            <a:solidFill>
                              <a:srgbClr val="7030A0"/>
                            </a:solidFill>
                            <a:latin typeface="Cambria Math" panose="02040503050406030204" pitchFamily="18" charset="0"/>
                          </a:rPr>
                          <m:t>𝒉</m:t>
                        </m:r>
                      </m:e>
                      <m:sub>
                        <m:r>
                          <a:rPr lang="en-GB" sz="2800" b="1" i="1" smtClean="0">
                            <a:solidFill>
                              <a:srgbClr val="7030A0"/>
                            </a:solidFill>
                            <a:latin typeface="Cambria Math" panose="02040503050406030204" pitchFamily="18" charset="0"/>
                          </a:rPr>
                          <m:t>𝒕</m:t>
                        </m:r>
                      </m:sub>
                    </m:sSub>
                  </m:oMath>
                </a14:m>
                <a:r>
                  <a:rPr lang="en-SG" dirty="0"/>
                  <a:t> </a:t>
                </a:r>
                <a:r>
                  <a:rPr lang="en-SG" b="1" dirty="0"/>
                  <a:t>would allow the model to remember more things and therefore lead to better performance.</a:t>
                </a:r>
              </a:p>
            </p:txBody>
          </p:sp>
        </mc:Choice>
        <mc:Fallback xmlns="">
          <p:sp>
            <p:nvSpPr>
              <p:cNvPr id="3" name="Content Placeholder 2">
                <a:extLst>
                  <a:ext uri="{FF2B5EF4-FFF2-40B4-BE49-F238E27FC236}">
                    <a16:creationId xmlns:a16="http://schemas.microsoft.com/office/drawing/2014/main" id="{3F321E73-C55F-1D84-B04E-3A310D33B527}"/>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739"/>
                </a:stretch>
              </a:blipFill>
            </p:spPr>
            <p:txBody>
              <a:bodyPr/>
              <a:lstStyle/>
              <a:p>
                <a:r>
                  <a:rPr lang="en-SG">
                    <a:noFill/>
                  </a:rPr>
                  <a:t> </a:t>
                </a:r>
              </a:p>
            </p:txBody>
          </p:sp>
        </mc:Fallback>
      </mc:AlternateContent>
    </p:spTree>
    <p:extLst>
      <p:ext uri="{BB962C8B-B14F-4D97-AF65-F5344CB8AC3E}">
        <p14:creationId xmlns:p14="http://schemas.microsoft.com/office/powerpoint/2010/main" val="16636171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2B696-BAB3-3B95-364A-DA9C343AFF9C}"/>
              </a:ext>
            </a:extLst>
          </p:cNvPr>
          <p:cNvSpPr>
            <a:spLocks noGrp="1"/>
          </p:cNvSpPr>
          <p:nvPr>
            <p:ph type="title"/>
          </p:nvPr>
        </p:nvSpPr>
        <p:spPr/>
        <p:txBody>
          <a:bodyPr/>
          <a:lstStyle/>
          <a:p>
            <a:r>
              <a:rPr lang="en-GB" dirty="0"/>
              <a:t>What is a good memory length then?</a:t>
            </a:r>
            <a:endParaRPr lang="en-SG" dirty="0"/>
          </a:p>
        </p:txBody>
      </p:sp>
      <p:sp>
        <p:nvSpPr>
          <p:cNvPr id="3" name="Content Placeholder 2">
            <a:extLst>
              <a:ext uri="{FF2B5EF4-FFF2-40B4-BE49-F238E27FC236}">
                <a16:creationId xmlns:a16="http://schemas.microsoft.com/office/drawing/2014/main" id="{3F321E73-C55F-1D84-B04E-3A310D33B527}"/>
              </a:ext>
            </a:extLst>
          </p:cNvPr>
          <p:cNvSpPr>
            <a:spLocks noGrp="1"/>
          </p:cNvSpPr>
          <p:nvPr>
            <p:ph idx="1"/>
          </p:nvPr>
        </p:nvSpPr>
        <p:spPr>
          <a:xfrm>
            <a:off x="838200" y="1825624"/>
            <a:ext cx="10515600" cy="5032375"/>
          </a:xfrm>
        </p:spPr>
        <p:txBody>
          <a:bodyPr>
            <a:normAutofit/>
          </a:bodyPr>
          <a:lstStyle/>
          <a:p>
            <a:pPr marL="0" indent="0">
              <a:buNone/>
            </a:pPr>
            <a:r>
              <a:rPr lang="en-SG" sz="2800" dirty="0"/>
              <a:t>In practice,</a:t>
            </a:r>
            <a:endParaRPr lang="en-GB" dirty="0"/>
          </a:p>
          <a:p>
            <a:pPr marL="514350" indent="-514350">
              <a:buFont typeface="+mj-lt"/>
              <a:buAutoNum type="arabicPeriod"/>
            </a:pPr>
            <a:r>
              <a:rPr lang="en-GB" b="1" dirty="0"/>
              <a:t>Consider the time scale of the problem: </a:t>
            </a:r>
            <a:r>
              <a:rPr lang="en-GB" dirty="0"/>
              <a:t>The appropriate lookback length typically depends on the </a:t>
            </a:r>
            <a:r>
              <a:rPr lang="en-GB" b="1" dirty="0"/>
              <a:t>time scale of the problem </a:t>
            </a:r>
            <a:r>
              <a:rPr lang="en-GB" dirty="0"/>
              <a:t>you are trying to solve.</a:t>
            </a:r>
          </a:p>
          <a:p>
            <a:pPr marL="0" indent="0">
              <a:buNone/>
            </a:pPr>
            <a:r>
              <a:rPr lang="en-GB" dirty="0"/>
              <a:t>For example, if you are trying to predict daily stock prices, you might use a lookback length of 30 days. If you are trying to predict hourly traffic patterns, you might use a lookback length of 24 hours.</a:t>
            </a:r>
          </a:p>
          <a:p>
            <a:pPr marL="0" indent="0">
              <a:buNone/>
            </a:pPr>
            <a:r>
              <a:rPr lang="en-GB" dirty="0"/>
              <a:t>(Typically, look at seasonality and trend of your data!)</a:t>
            </a:r>
          </a:p>
          <a:p>
            <a:pPr marL="0" indent="0">
              <a:buNone/>
            </a:pPr>
            <a:r>
              <a:rPr lang="en-GB" b="1" dirty="0">
                <a:sym typeface="Wingdings" panose="05000000000000000000" pitchFamily="2" charset="2"/>
              </a:rPr>
              <a:t> </a:t>
            </a:r>
            <a:r>
              <a:rPr lang="en-GB" b="1" dirty="0"/>
              <a:t>The more information you need in the memory, the larger the memory size of it should be.</a:t>
            </a:r>
          </a:p>
          <a:p>
            <a:endParaRPr lang="en-SG" dirty="0"/>
          </a:p>
        </p:txBody>
      </p:sp>
    </p:spTree>
    <p:extLst>
      <p:ext uri="{BB962C8B-B14F-4D97-AF65-F5344CB8AC3E}">
        <p14:creationId xmlns:p14="http://schemas.microsoft.com/office/powerpoint/2010/main" val="18855544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2B696-BAB3-3B95-364A-DA9C343AFF9C}"/>
              </a:ext>
            </a:extLst>
          </p:cNvPr>
          <p:cNvSpPr>
            <a:spLocks noGrp="1"/>
          </p:cNvSpPr>
          <p:nvPr>
            <p:ph type="title"/>
          </p:nvPr>
        </p:nvSpPr>
        <p:spPr/>
        <p:txBody>
          <a:bodyPr/>
          <a:lstStyle/>
          <a:p>
            <a:r>
              <a:rPr lang="en-GB" dirty="0"/>
              <a:t>What is a good memory length then?</a:t>
            </a:r>
            <a:endParaRPr lang="en-SG" dirty="0"/>
          </a:p>
        </p:txBody>
      </p:sp>
      <p:sp>
        <p:nvSpPr>
          <p:cNvPr id="3" name="Content Placeholder 2">
            <a:extLst>
              <a:ext uri="{FF2B5EF4-FFF2-40B4-BE49-F238E27FC236}">
                <a16:creationId xmlns:a16="http://schemas.microsoft.com/office/drawing/2014/main" id="{3F321E73-C55F-1D84-B04E-3A310D33B527}"/>
              </a:ext>
            </a:extLst>
          </p:cNvPr>
          <p:cNvSpPr>
            <a:spLocks noGrp="1"/>
          </p:cNvSpPr>
          <p:nvPr>
            <p:ph idx="1"/>
          </p:nvPr>
        </p:nvSpPr>
        <p:spPr>
          <a:xfrm>
            <a:off x="838200" y="1825624"/>
            <a:ext cx="10515600" cy="5032375"/>
          </a:xfrm>
        </p:spPr>
        <p:txBody>
          <a:bodyPr>
            <a:normAutofit/>
          </a:bodyPr>
          <a:lstStyle/>
          <a:p>
            <a:pPr marL="0" indent="0">
              <a:buNone/>
            </a:pPr>
            <a:r>
              <a:rPr lang="en-SG" dirty="0"/>
              <a:t>In practice,</a:t>
            </a:r>
            <a:endParaRPr lang="en-GB" dirty="0"/>
          </a:p>
          <a:p>
            <a:pPr marL="514350" indent="-514350">
              <a:buFont typeface="+mj-lt"/>
              <a:buAutoNum type="arabicPeriod" startAt="2"/>
            </a:pPr>
            <a:r>
              <a:rPr lang="en-GB" b="1" dirty="0"/>
              <a:t>Balance model complexity with overfitting: </a:t>
            </a:r>
            <a:r>
              <a:rPr lang="en-GB" dirty="0"/>
              <a:t>Finding the optimal balance between model complexity and overfitting is a key consideration in choosing a lookback length.</a:t>
            </a:r>
            <a:endParaRPr lang="en-GB" b="1" dirty="0"/>
          </a:p>
          <a:p>
            <a:pPr marL="0" indent="0">
              <a:buNone/>
            </a:pPr>
            <a:r>
              <a:rPr lang="en-GB" dirty="0"/>
              <a:t>A larger lookback length will capture more of the historical patterns and trends in the data, but it can also increase the complexity of the model and lead to overfitting.</a:t>
            </a:r>
          </a:p>
          <a:p>
            <a:pPr marL="0" indent="0">
              <a:buNone/>
            </a:pPr>
            <a:r>
              <a:rPr lang="en-GB" dirty="0"/>
              <a:t>A smaller lookback length may be simpler and less prone to overfitting, but it may also miss important patterns and trends in the data.</a:t>
            </a:r>
          </a:p>
          <a:p>
            <a:pPr marL="0" indent="0">
              <a:buNone/>
            </a:pPr>
            <a:r>
              <a:rPr lang="en-GB" b="1" dirty="0">
                <a:sym typeface="Wingdings" panose="05000000000000000000" pitchFamily="2" charset="2"/>
              </a:rPr>
              <a:t> </a:t>
            </a:r>
            <a:r>
              <a:rPr lang="en-GB" b="1" dirty="0" err="1"/>
              <a:t>Tradeoff</a:t>
            </a:r>
            <a:r>
              <a:rPr lang="en-GB" b="1" dirty="0"/>
              <a:t>: memory length vs. underfitting/overfitting.</a:t>
            </a:r>
          </a:p>
          <a:p>
            <a:endParaRPr lang="en-SG" dirty="0"/>
          </a:p>
        </p:txBody>
      </p:sp>
    </p:spTree>
    <p:extLst>
      <p:ext uri="{BB962C8B-B14F-4D97-AF65-F5344CB8AC3E}">
        <p14:creationId xmlns:p14="http://schemas.microsoft.com/office/powerpoint/2010/main" val="30786647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C768D-0ADB-471D-2241-6FFD5D4B8E56}"/>
              </a:ext>
            </a:extLst>
          </p:cNvPr>
          <p:cNvSpPr>
            <a:spLocks noGrp="1"/>
          </p:cNvSpPr>
          <p:nvPr>
            <p:ph type="title"/>
          </p:nvPr>
        </p:nvSpPr>
        <p:spPr/>
        <p:txBody>
          <a:bodyPr/>
          <a:lstStyle/>
          <a:p>
            <a:r>
              <a:rPr lang="en-GB" dirty="0"/>
              <a:t>Defining a Recurrent Neural Network (RNN)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0AE32E-486E-5D7D-8C79-C7083EAF2382}"/>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Recurrent</a:t>
                </a:r>
                <a:r>
                  <a:rPr lang="en-GB" b="1" dirty="0"/>
                  <a:t> </a:t>
                </a:r>
                <a:r>
                  <a:rPr lang="en-GB" b="1" dirty="0">
                    <a:solidFill>
                      <a:srgbClr val="00B050"/>
                    </a:solidFill>
                  </a:rPr>
                  <a:t>Neural</a:t>
                </a:r>
                <a:r>
                  <a:rPr lang="en-GB" b="1" dirty="0"/>
                  <a:t> </a:t>
                </a:r>
                <a:r>
                  <a:rPr lang="en-GB" b="1" dirty="0">
                    <a:solidFill>
                      <a:srgbClr val="00B050"/>
                    </a:solidFill>
                  </a:rPr>
                  <a:t>Network</a:t>
                </a:r>
                <a:r>
                  <a:rPr lang="en-GB" b="1" dirty="0"/>
                  <a:t>):</a:t>
                </a:r>
              </a:p>
              <a:p>
                <a:pPr marL="0" indent="0">
                  <a:buNone/>
                </a:pPr>
                <a:r>
                  <a:rPr lang="en-SG" dirty="0"/>
                  <a:t>A </a:t>
                </a:r>
                <a:r>
                  <a:rPr lang="en-SG" b="1" dirty="0">
                    <a:solidFill>
                      <a:srgbClr val="00B050"/>
                    </a:solidFill>
                  </a:rPr>
                  <a:t>Recurrent</a:t>
                </a:r>
                <a:r>
                  <a:rPr lang="en-SG" b="1" dirty="0"/>
                  <a:t> </a:t>
                </a:r>
                <a:r>
                  <a:rPr lang="en-SG" b="1" dirty="0">
                    <a:solidFill>
                      <a:srgbClr val="00B050"/>
                    </a:solidFill>
                  </a:rPr>
                  <a:t>Neural</a:t>
                </a:r>
                <a:r>
                  <a:rPr lang="en-SG" b="1" dirty="0"/>
                  <a:t> </a:t>
                </a:r>
                <a:r>
                  <a:rPr lang="en-SG" b="1" dirty="0">
                    <a:solidFill>
                      <a:srgbClr val="00B050"/>
                    </a:solidFill>
                  </a:rPr>
                  <a:t>Network</a:t>
                </a:r>
                <a:r>
                  <a:rPr lang="en-SG" b="1" dirty="0"/>
                  <a:t> (or </a:t>
                </a:r>
                <a:r>
                  <a:rPr lang="en-SG" b="1" dirty="0">
                    <a:solidFill>
                      <a:srgbClr val="00B050"/>
                    </a:solidFill>
                  </a:rPr>
                  <a:t>RNN</a:t>
                </a:r>
                <a:r>
                  <a:rPr lang="en-SG" b="1" dirty="0"/>
                  <a:t>) </a:t>
                </a:r>
                <a:r>
                  <a:rPr lang="en-SG" dirty="0"/>
                  <a:t>is a neural network that operates on series and will:</a:t>
                </a:r>
              </a:p>
              <a:p>
                <a:r>
                  <a:rPr lang="en-GB" dirty="0"/>
                  <a:t>Receive an input which consists of </a:t>
                </a:r>
                <a:r>
                  <a:rPr lang="en-GB" b="1" dirty="0"/>
                  <a:t>the observation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𝒙</m:t>
                        </m:r>
                      </m:e>
                      <m:sub>
                        <m:r>
                          <a:rPr lang="en-GB" b="1" i="1">
                            <a:latin typeface="Cambria Math" panose="02040503050406030204" pitchFamily="18" charset="0"/>
                          </a:rPr>
                          <m:t>𝒕</m:t>
                        </m:r>
                      </m:sub>
                    </m:sSub>
                  </m:oMath>
                </a14:m>
                <a:r>
                  <a:rPr lang="en-GB" b="1" dirty="0"/>
                  <a:t> at time </a:t>
                </a:r>
                <a14:m>
                  <m:oMath xmlns:m="http://schemas.openxmlformats.org/officeDocument/2006/math">
                    <m:r>
                      <a:rPr lang="en-GB" b="1" i="1" dirty="0">
                        <a:latin typeface="Cambria Math" panose="02040503050406030204" pitchFamily="18" charset="0"/>
                      </a:rPr>
                      <m:t>𝒕</m:t>
                    </m:r>
                  </m:oMath>
                </a14:m>
                <a:r>
                  <a:rPr lang="en-GB" dirty="0"/>
                  <a:t>, and a </a:t>
                </a:r>
                <a:r>
                  <a:rPr lang="en-GB" b="1" dirty="0"/>
                  <a:t>memory vector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𝒉</m:t>
                        </m:r>
                      </m:e>
                      <m:sub>
                        <m:r>
                          <a:rPr lang="en-GB" b="1" i="1">
                            <a:latin typeface="Cambria Math" panose="02040503050406030204" pitchFamily="18" charset="0"/>
                          </a:rPr>
                          <m:t>𝒕</m:t>
                        </m:r>
                      </m:sub>
                    </m:sSub>
                  </m:oMath>
                </a14:m>
                <a:r>
                  <a:rPr lang="en-GB" b="1" dirty="0"/>
                  <a:t> computed as one of the Neural Network outputs at time </a:t>
                </a:r>
                <a14:m>
                  <m:oMath xmlns:m="http://schemas.openxmlformats.org/officeDocument/2006/math">
                    <m:r>
                      <a:rPr lang="en-GB" b="1" i="1">
                        <a:latin typeface="Cambria Math" panose="02040503050406030204" pitchFamily="18" charset="0"/>
                      </a:rPr>
                      <m:t>𝒕</m:t>
                    </m:r>
                    <m:r>
                      <a:rPr lang="en-GB" b="1" i="1">
                        <a:latin typeface="Cambria Math" panose="02040503050406030204" pitchFamily="18" charset="0"/>
                      </a:rPr>
                      <m:t>−</m:t>
                    </m:r>
                    <m:r>
                      <a:rPr lang="en-GB" b="1" i="1">
                        <a:latin typeface="Cambria Math" panose="02040503050406030204" pitchFamily="18" charset="0"/>
                      </a:rPr>
                      <m:t>𝟏</m:t>
                    </m:r>
                  </m:oMath>
                </a14:m>
                <a:r>
                  <a:rPr lang="en-GB" dirty="0"/>
                  <a:t>.</a:t>
                </a:r>
              </a:p>
              <a:p>
                <a:r>
                  <a:rPr lang="en-GB" dirty="0"/>
                  <a:t>Compute a </a:t>
                </a:r>
                <a:r>
                  <a:rPr lang="en-GB" b="1" dirty="0"/>
                  <a:t>prediction </a:t>
                </a:r>
                <a14:m>
                  <m:oMath xmlns:m="http://schemas.openxmlformats.org/officeDocument/2006/math">
                    <m:sSub>
                      <m:sSubPr>
                        <m:ctrlPr>
                          <a:rPr lang="en-GB" b="1" i="1" dirty="0">
                            <a:latin typeface="Cambria Math" panose="02040503050406030204" pitchFamily="18" charset="0"/>
                          </a:rPr>
                        </m:ctrlPr>
                      </m:sSubPr>
                      <m:e>
                        <m:r>
                          <a:rPr lang="en-GB" b="1" i="1" dirty="0">
                            <a:latin typeface="Cambria Math" panose="02040503050406030204" pitchFamily="18" charset="0"/>
                          </a:rPr>
                          <m:t>𝒚</m:t>
                        </m:r>
                      </m:e>
                      <m:sub>
                        <m:r>
                          <a:rPr lang="en-GB" b="1" i="1" dirty="0">
                            <a:latin typeface="Cambria Math" panose="02040503050406030204" pitchFamily="18" charset="0"/>
                          </a:rPr>
                          <m:t>𝒕</m:t>
                        </m:r>
                      </m:sub>
                    </m:sSub>
                  </m:oMath>
                </a14:m>
                <a:r>
                  <a:rPr lang="en-GB" b="1" dirty="0"/>
                  <a:t> for what should match the value of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𝒙</m:t>
                        </m:r>
                      </m:e>
                      <m:sub>
                        <m:r>
                          <a:rPr lang="en-GB" b="1" i="1">
                            <a:latin typeface="Cambria Math" panose="02040503050406030204" pitchFamily="18" charset="0"/>
                          </a:rPr>
                          <m:t>𝒕</m:t>
                        </m:r>
                        <m:r>
                          <a:rPr lang="en-GB" b="1" i="1">
                            <a:latin typeface="Cambria Math" panose="02040503050406030204" pitchFamily="18" charset="0"/>
                          </a:rPr>
                          <m:t>+</m:t>
                        </m:r>
                        <m:r>
                          <a:rPr lang="en-GB" b="1" i="1">
                            <a:latin typeface="Cambria Math" panose="02040503050406030204" pitchFamily="18" charset="0"/>
                          </a:rPr>
                          <m:t>𝟏</m:t>
                        </m:r>
                      </m:sub>
                    </m:sSub>
                  </m:oMath>
                </a14:m>
                <a:r>
                  <a:rPr lang="en-GB" dirty="0"/>
                  <a:t>, and an </a:t>
                </a:r>
                <a:r>
                  <a:rPr lang="en-GB" b="1" dirty="0"/>
                  <a:t>updated memory vector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𝒉</m:t>
                        </m:r>
                      </m:e>
                      <m:sub>
                        <m:r>
                          <a:rPr lang="en-GB" b="1" i="1">
                            <a:latin typeface="Cambria Math" panose="02040503050406030204" pitchFamily="18" charset="0"/>
                          </a:rPr>
                          <m:t>𝒕</m:t>
                        </m:r>
                        <m:r>
                          <a:rPr lang="en-GB" b="1" i="1">
                            <a:latin typeface="Cambria Math" panose="02040503050406030204" pitchFamily="18" charset="0"/>
                          </a:rPr>
                          <m:t>+</m:t>
                        </m:r>
                        <m:r>
                          <a:rPr lang="en-GB" b="1" i="1">
                            <a:latin typeface="Cambria Math" panose="02040503050406030204" pitchFamily="18" charset="0"/>
                          </a:rPr>
                          <m:t>𝟏</m:t>
                        </m:r>
                      </m:sub>
                    </m:sSub>
                  </m:oMath>
                </a14:m>
                <a:r>
                  <a:rPr lang="en-GB" b="1" dirty="0"/>
                  <a:t>, </a:t>
                </a:r>
                <a:r>
                  <a:rPr lang="en-GB" dirty="0"/>
                  <a:t>hopefully keeping a memory of what has happened in the previous operations.</a:t>
                </a:r>
              </a:p>
              <a:p>
                <a:pPr marL="0" indent="0">
                  <a:buNone/>
                </a:pPr>
                <a:r>
                  <a:rPr lang="en-SG" dirty="0"/>
                  <a:t>The RNN is then used on all datapoints in the time series, using a for loop repeating the forward pass operation on all data points.</a:t>
                </a:r>
              </a:p>
            </p:txBody>
          </p:sp>
        </mc:Choice>
        <mc:Fallback xmlns="">
          <p:sp>
            <p:nvSpPr>
              <p:cNvPr id="3" name="Content Placeholder 2">
                <a:extLst>
                  <a:ext uri="{FF2B5EF4-FFF2-40B4-BE49-F238E27FC236}">
                    <a16:creationId xmlns:a16="http://schemas.microsoft.com/office/drawing/2014/main" id="{4A0AE32E-486E-5D7D-8C79-C7083EAF238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681"/>
                </a:stretch>
              </a:blipFill>
            </p:spPr>
            <p:txBody>
              <a:bodyPr/>
              <a:lstStyle/>
              <a:p>
                <a:r>
                  <a:rPr lang="en-SG">
                    <a:noFill/>
                  </a:rPr>
                  <a:t> </a:t>
                </a:r>
              </a:p>
            </p:txBody>
          </p:sp>
        </mc:Fallback>
      </mc:AlternateContent>
    </p:spTree>
    <p:extLst>
      <p:ext uri="{BB962C8B-B14F-4D97-AF65-F5344CB8AC3E}">
        <p14:creationId xmlns:p14="http://schemas.microsoft.com/office/powerpoint/2010/main" val="36884887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96D466D-41F6-21B4-BFD8-29B41068C22C}"/>
                  </a:ext>
                </a:extLst>
              </p:cNvPr>
              <p:cNvSpPr txBox="1"/>
              <p:nvPr/>
            </p:nvSpPr>
            <p:spPr>
              <a:xfrm>
                <a:off x="3663463" y="1990914"/>
                <a:ext cx="1949938" cy="156966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𝑦</m:t>
                          </m:r>
                        </m:e>
                        <m:sub>
                          <m:r>
                            <a:rPr lang="en-GB" sz="2400" b="0" i="1" dirty="0" smtClean="0">
                              <a:latin typeface="Cambria Math" panose="02040503050406030204" pitchFamily="18" charset="0"/>
                            </a:rPr>
                            <m:t>1</m:t>
                          </m:r>
                        </m:sub>
                      </m:sSub>
                    </m:oMath>
                  </m:oMathPara>
                </a14:m>
                <a:endParaRPr lang="en-SG" sz="2400" dirty="0"/>
              </a:p>
              <a:p>
                <a:pPr algn="ctr"/>
                <a:r>
                  <a:rPr lang="en-SG" sz="2400" dirty="0"/>
                  <a:t>(pred.</a:t>
                </a:r>
                <a:br>
                  <a:rPr lang="en-SG" sz="2400" dirty="0"/>
                </a:br>
                <a:r>
                  <a:rPr lang="en-SG" sz="2400" dirty="0"/>
                  <a:t>for</a:t>
                </a:r>
                <a:br>
                  <a:rPr lang="en-SG" sz="2400" dirty="0"/>
                </a:b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2</m:t>
                        </m:r>
                      </m:sub>
                    </m:sSub>
                  </m:oMath>
                </a14:m>
                <a:r>
                  <a:rPr lang="en-SG" sz="2400" dirty="0"/>
                  <a:t>)</a:t>
                </a:r>
              </a:p>
            </p:txBody>
          </p:sp>
        </mc:Choice>
        <mc:Fallback xmlns="">
          <p:sp>
            <p:nvSpPr>
              <p:cNvPr id="14" name="TextBox 13">
                <a:extLst>
                  <a:ext uri="{FF2B5EF4-FFF2-40B4-BE49-F238E27FC236}">
                    <a16:creationId xmlns:a16="http://schemas.microsoft.com/office/drawing/2014/main" id="{E96D466D-41F6-21B4-BFD8-29B41068C22C}"/>
                  </a:ext>
                </a:extLst>
              </p:cNvPr>
              <p:cNvSpPr txBox="1">
                <a:spLocks noRot="1" noChangeAspect="1" noMove="1" noResize="1" noEditPoints="1" noAdjustHandles="1" noChangeArrowheads="1" noChangeShapeType="1" noTextEdit="1"/>
              </p:cNvSpPr>
              <p:nvPr/>
            </p:nvSpPr>
            <p:spPr>
              <a:xfrm>
                <a:off x="3663463" y="1990914"/>
                <a:ext cx="1949938" cy="1569660"/>
              </a:xfrm>
              <a:prstGeom prst="rect">
                <a:avLst/>
              </a:prstGeom>
              <a:blipFill>
                <a:blip r:embed="rId2"/>
                <a:stretch>
                  <a:fillRect b="-8171"/>
                </a:stretch>
              </a:blipFill>
            </p:spPr>
            <p:txBody>
              <a:bodyPr/>
              <a:lstStyle/>
              <a:p>
                <a:r>
                  <a:rPr lang="en-SG">
                    <a:noFill/>
                  </a:rPr>
                  <a:t> </a:t>
                </a:r>
              </a:p>
            </p:txBody>
          </p:sp>
        </mc:Fallback>
      </mc:AlternateContent>
      <p:sp>
        <p:nvSpPr>
          <p:cNvPr id="2" name="Title 1">
            <a:extLst>
              <a:ext uri="{FF2B5EF4-FFF2-40B4-BE49-F238E27FC236}">
                <a16:creationId xmlns:a16="http://schemas.microsoft.com/office/drawing/2014/main" id="{D4795DED-4F6A-4420-1474-79C41D9C7151}"/>
              </a:ext>
            </a:extLst>
          </p:cNvPr>
          <p:cNvSpPr>
            <a:spLocks noGrp="1"/>
          </p:cNvSpPr>
          <p:nvPr>
            <p:ph type="title"/>
          </p:nvPr>
        </p:nvSpPr>
        <p:spPr/>
        <p:txBody>
          <a:bodyPr/>
          <a:lstStyle/>
          <a:p>
            <a:r>
              <a:rPr lang="en-GB" dirty="0"/>
              <a:t>The need for memory</a:t>
            </a:r>
            <a:endParaRPr lang="en-SG"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74FAFFC-EE13-6E7D-3976-35D8869D82C3}"/>
                  </a:ext>
                </a:extLst>
              </p:cNvPr>
              <p:cNvSpPr/>
              <p:nvPr/>
            </p:nvSpPr>
            <p:spPr>
              <a:xfrm>
                <a:off x="2344616" y="1990914"/>
                <a:ext cx="1570892" cy="4024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Neural Network prediction at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 = 1</m:t>
                    </m:r>
                  </m:oMath>
                </a14:m>
                <a:endParaRPr lang="en-SG" dirty="0"/>
              </a:p>
            </p:txBody>
          </p:sp>
        </mc:Choice>
        <mc:Fallback xmlns="">
          <p:sp>
            <p:nvSpPr>
              <p:cNvPr id="4" name="Rectangle 3">
                <a:extLst>
                  <a:ext uri="{FF2B5EF4-FFF2-40B4-BE49-F238E27FC236}">
                    <a16:creationId xmlns:a16="http://schemas.microsoft.com/office/drawing/2014/main" id="{274FAFFC-EE13-6E7D-3976-35D8869D82C3}"/>
                  </a:ext>
                </a:extLst>
              </p:cNvPr>
              <p:cNvSpPr>
                <a:spLocks noRot="1" noChangeAspect="1" noMove="1" noResize="1" noEditPoints="1" noAdjustHandles="1" noChangeArrowheads="1" noChangeShapeType="1" noTextEdit="1"/>
              </p:cNvSpPr>
              <p:nvPr/>
            </p:nvSpPr>
            <p:spPr>
              <a:xfrm>
                <a:off x="2344616" y="1990914"/>
                <a:ext cx="1570892" cy="4024923"/>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C66D4B6-18A8-AE63-2FC1-32C7FC7C8213}"/>
                  </a:ext>
                </a:extLst>
              </p:cNvPr>
              <p:cNvSpPr txBox="1"/>
              <p:nvPr/>
            </p:nvSpPr>
            <p:spPr>
              <a:xfrm>
                <a:off x="418122" y="2674871"/>
                <a:ext cx="12035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𝑥</m:t>
                          </m:r>
                        </m:e>
                        <m:sub>
                          <m:r>
                            <a:rPr lang="en-GB" sz="2400" b="0" i="1" dirty="0" smtClean="0">
                              <a:latin typeface="Cambria Math" panose="02040503050406030204" pitchFamily="18" charset="0"/>
                            </a:rPr>
                            <m:t>1</m:t>
                          </m:r>
                        </m:sub>
                      </m:sSub>
                    </m:oMath>
                  </m:oMathPara>
                </a14:m>
                <a:endParaRPr lang="en-SG" sz="2400" dirty="0"/>
              </a:p>
            </p:txBody>
          </p:sp>
        </mc:Choice>
        <mc:Fallback xmlns="">
          <p:sp>
            <p:nvSpPr>
              <p:cNvPr id="5" name="TextBox 4">
                <a:extLst>
                  <a:ext uri="{FF2B5EF4-FFF2-40B4-BE49-F238E27FC236}">
                    <a16:creationId xmlns:a16="http://schemas.microsoft.com/office/drawing/2014/main" id="{BC66D4B6-18A8-AE63-2FC1-32C7FC7C8213}"/>
                  </a:ext>
                </a:extLst>
              </p:cNvPr>
              <p:cNvSpPr txBox="1">
                <a:spLocks noRot="1" noChangeAspect="1" noMove="1" noResize="1" noEditPoints="1" noAdjustHandles="1" noChangeArrowheads="1" noChangeShapeType="1" noTextEdit="1"/>
              </p:cNvSpPr>
              <p:nvPr/>
            </p:nvSpPr>
            <p:spPr>
              <a:xfrm>
                <a:off x="418122" y="2674871"/>
                <a:ext cx="1203570" cy="461665"/>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18A004E-C36C-A0BD-B4FD-46D940AD7EB5}"/>
                  </a:ext>
                </a:extLst>
              </p:cNvPr>
              <p:cNvSpPr txBox="1"/>
              <p:nvPr/>
            </p:nvSpPr>
            <p:spPr>
              <a:xfrm>
                <a:off x="-66431" y="4640440"/>
                <a:ext cx="2172675"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0</m:t>
                          </m:r>
                        </m:sub>
                      </m:sSub>
                      <m:r>
                        <a:rPr lang="en-GB" sz="2400" b="0" i="1" dirty="0" smtClean="0">
                          <a:latin typeface="Cambria Math" panose="02040503050406030204" pitchFamily="18" charset="0"/>
                        </a:rPr>
                        <m:t>=</m:t>
                      </m:r>
                      <m:r>
                        <a:rPr lang="en-GB" sz="2400" b="0" i="1" dirty="0" smtClean="0">
                          <a:latin typeface="Cambria Math" panose="02040503050406030204" pitchFamily="18" charset="0"/>
                        </a:rPr>
                        <m:t>𝑧𝑒𝑟𝑜𝑠</m:t>
                      </m:r>
                      <m:r>
                        <a:rPr lang="en-GB" sz="2400" b="0" i="1" dirty="0" smtClean="0">
                          <a:latin typeface="Cambria Math" panose="02040503050406030204" pitchFamily="18" charset="0"/>
                        </a:rPr>
                        <m:t>(</m:t>
                      </m:r>
                      <m:r>
                        <a:rPr lang="en-GB" sz="2400" b="0" i="1" dirty="0" smtClean="0">
                          <a:latin typeface="Cambria Math" panose="02040503050406030204" pitchFamily="18" charset="0"/>
                        </a:rPr>
                        <m:t>𝑙</m:t>
                      </m:r>
                      <m:r>
                        <a:rPr lang="en-GB" sz="2400" b="0" i="1" dirty="0" smtClean="0">
                          <a:latin typeface="Cambria Math" panose="02040503050406030204" pitchFamily="18" charset="0"/>
                        </a:rPr>
                        <m:t>)</m:t>
                      </m:r>
                    </m:oMath>
                  </m:oMathPara>
                </a14:m>
                <a:endParaRPr lang="en-SG" sz="2400" dirty="0"/>
              </a:p>
            </p:txBody>
          </p:sp>
        </mc:Choice>
        <mc:Fallback xmlns="">
          <p:sp>
            <p:nvSpPr>
              <p:cNvPr id="6" name="TextBox 5">
                <a:extLst>
                  <a:ext uri="{FF2B5EF4-FFF2-40B4-BE49-F238E27FC236}">
                    <a16:creationId xmlns:a16="http://schemas.microsoft.com/office/drawing/2014/main" id="{618A004E-C36C-A0BD-B4FD-46D940AD7EB5}"/>
                  </a:ext>
                </a:extLst>
              </p:cNvPr>
              <p:cNvSpPr txBox="1">
                <a:spLocks noRot="1" noChangeAspect="1" noMove="1" noResize="1" noEditPoints="1" noAdjustHandles="1" noChangeArrowheads="1" noChangeShapeType="1" noTextEdit="1"/>
              </p:cNvSpPr>
              <p:nvPr/>
            </p:nvSpPr>
            <p:spPr>
              <a:xfrm>
                <a:off x="-66431" y="4640440"/>
                <a:ext cx="2172675" cy="461665"/>
              </a:xfrm>
              <a:prstGeom prst="rect">
                <a:avLst/>
              </a:prstGeom>
              <a:blipFill>
                <a:blip r:embed="rId5"/>
                <a:stretch>
                  <a:fillRect b="-17105"/>
                </a:stretch>
              </a:blipFill>
            </p:spPr>
            <p:txBody>
              <a:bodyPr/>
              <a:lstStyle/>
              <a:p>
                <a:r>
                  <a:rPr lang="en-SG">
                    <a:noFill/>
                  </a:rPr>
                  <a:t> </a:t>
                </a:r>
              </a:p>
            </p:txBody>
          </p:sp>
        </mc:Fallback>
      </mc:AlternateContent>
      <p:cxnSp>
        <p:nvCxnSpPr>
          <p:cNvPr id="8" name="Straight Arrow Connector 7">
            <a:extLst>
              <a:ext uri="{FF2B5EF4-FFF2-40B4-BE49-F238E27FC236}">
                <a16:creationId xmlns:a16="http://schemas.microsoft.com/office/drawing/2014/main" id="{D7E9812F-F2E8-E040-2472-E8D75FDCF55E}"/>
              </a:ext>
            </a:extLst>
          </p:cNvPr>
          <p:cNvCxnSpPr/>
          <p:nvPr/>
        </p:nvCxnSpPr>
        <p:spPr>
          <a:xfrm>
            <a:off x="1266092" y="2905703"/>
            <a:ext cx="107852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AA2532C-5A73-EE55-7432-C84D1C844169}"/>
              </a:ext>
            </a:extLst>
          </p:cNvPr>
          <p:cNvCxnSpPr>
            <a:cxnSpLocks/>
          </p:cNvCxnSpPr>
          <p:nvPr/>
        </p:nvCxnSpPr>
        <p:spPr>
          <a:xfrm>
            <a:off x="1961662" y="4931508"/>
            <a:ext cx="38295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32F0860-5D71-23C0-7F46-359A433FCDCB}"/>
              </a:ext>
            </a:extLst>
          </p:cNvPr>
          <p:cNvCxnSpPr>
            <a:cxnSpLocks/>
          </p:cNvCxnSpPr>
          <p:nvPr/>
        </p:nvCxnSpPr>
        <p:spPr>
          <a:xfrm>
            <a:off x="3915508" y="2905703"/>
            <a:ext cx="3126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40BD230-5EDA-0119-291A-1D565F88F5CA}"/>
              </a:ext>
            </a:extLst>
          </p:cNvPr>
          <p:cNvCxnSpPr>
            <a:cxnSpLocks/>
          </p:cNvCxnSpPr>
          <p:nvPr/>
        </p:nvCxnSpPr>
        <p:spPr>
          <a:xfrm>
            <a:off x="3915508" y="4931508"/>
            <a:ext cx="6643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B99946B-6B6B-90DD-0493-EBE789609C47}"/>
                  </a:ext>
                </a:extLst>
              </p:cNvPr>
              <p:cNvSpPr txBox="1"/>
              <p:nvPr/>
            </p:nvSpPr>
            <p:spPr>
              <a:xfrm>
                <a:off x="4579816" y="4700675"/>
                <a:ext cx="66430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1</m:t>
                          </m:r>
                        </m:sub>
                      </m:sSub>
                    </m:oMath>
                  </m:oMathPara>
                </a14:m>
                <a:endParaRPr lang="en-SG" sz="2400" dirty="0"/>
              </a:p>
            </p:txBody>
          </p:sp>
        </mc:Choice>
        <mc:Fallback xmlns="">
          <p:sp>
            <p:nvSpPr>
              <p:cNvPr id="17" name="TextBox 16">
                <a:extLst>
                  <a:ext uri="{FF2B5EF4-FFF2-40B4-BE49-F238E27FC236}">
                    <a16:creationId xmlns:a16="http://schemas.microsoft.com/office/drawing/2014/main" id="{4B99946B-6B6B-90DD-0493-EBE789609C47}"/>
                  </a:ext>
                </a:extLst>
              </p:cNvPr>
              <p:cNvSpPr txBox="1">
                <a:spLocks noRot="1" noChangeAspect="1" noMove="1" noResize="1" noEditPoints="1" noAdjustHandles="1" noChangeArrowheads="1" noChangeShapeType="1" noTextEdit="1"/>
              </p:cNvSpPr>
              <p:nvPr/>
            </p:nvSpPr>
            <p:spPr>
              <a:xfrm>
                <a:off x="4579816" y="4700675"/>
                <a:ext cx="664308" cy="461665"/>
              </a:xfrm>
              <a:prstGeom prst="rect">
                <a:avLst/>
              </a:prstGeom>
              <a:blipFill>
                <a:blip r:embed="rId6"/>
                <a:stretch>
                  <a:fillRect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CD84635E-2C16-54E4-7A9D-F4ADD004BBF5}"/>
                  </a:ext>
                </a:extLst>
              </p:cNvPr>
              <p:cNvSpPr/>
              <p:nvPr/>
            </p:nvSpPr>
            <p:spPr>
              <a:xfrm>
                <a:off x="6932248" y="1990914"/>
                <a:ext cx="1570892" cy="4024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Neural Network prediction at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 =2</m:t>
                    </m:r>
                  </m:oMath>
                </a14:m>
                <a:endParaRPr lang="en-SG" dirty="0"/>
              </a:p>
            </p:txBody>
          </p:sp>
        </mc:Choice>
        <mc:Fallback xmlns="">
          <p:sp>
            <p:nvSpPr>
              <p:cNvPr id="18" name="Rectangle 17">
                <a:extLst>
                  <a:ext uri="{FF2B5EF4-FFF2-40B4-BE49-F238E27FC236}">
                    <a16:creationId xmlns:a16="http://schemas.microsoft.com/office/drawing/2014/main" id="{CD84635E-2C16-54E4-7A9D-F4ADD004BBF5}"/>
                  </a:ext>
                </a:extLst>
              </p:cNvPr>
              <p:cNvSpPr>
                <a:spLocks noRot="1" noChangeAspect="1" noMove="1" noResize="1" noEditPoints="1" noAdjustHandles="1" noChangeArrowheads="1" noChangeShapeType="1" noTextEdit="1"/>
              </p:cNvSpPr>
              <p:nvPr/>
            </p:nvSpPr>
            <p:spPr>
              <a:xfrm>
                <a:off x="6932248" y="1990914"/>
                <a:ext cx="1570892" cy="4024923"/>
              </a:xfrm>
              <a:prstGeom prst="rect">
                <a:avLst/>
              </a:prstGeom>
              <a:blipFill>
                <a:blip r:embed="rId7"/>
                <a:stretch>
                  <a:fillRect/>
                </a:stretch>
              </a:blipFill>
            </p:spPr>
            <p:txBody>
              <a:bodyPr/>
              <a:lstStyle/>
              <a:p>
                <a:r>
                  <a:rPr lang="en-SG">
                    <a:noFill/>
                  </a:rPr>
                  <a:t> </a:t>
                </a:r>
              </a:p>
            </p:txBody>
          </p:sp>
        </mc:Fallback>
      </mc:AlternateContent>
      <p:cxnSp>
        <p:nvCxnSpPr>
          <p:cNvPr id="19" name="Straight Arrow Connector 18">
            <a:extLst>
              <a:ext uri="{FF2B5EF4-FFF2-40B4-BE49-F238E27FC236}">
                <a16:creationId xmlns:a16="http://schemas.microsoft.com/office/drawing/2014/main" id="{A51DA120-D8B1-0C8C-2868-4245CBED7B3F}"/>
              </a:ext>
            </a:extLst>
          </p:cNvPr>
          <p:cNvCxnSpPr>
            <a:cxnSpLocks/>
            <a:stCxn id="17" idx="3"/>
          </p:cNvCxnSpPr>
          <p:nvPr/>
        </p:nvCxnSpPr>
        <p:spPr>
          <a:xfrm flipV="1">
            <a:off x="5244124" y="4931507"/>
            <a:ext cx="1688124"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E8088D8-695E-CBE5-B605-617F7284E996}"/>
                  </a:ext>
                </a:extLst>
              </p:cNvPr>
              <p:cNvSpPr txBox="1"/>
              <p:nvPr/>
            </p:nvSpPr>
            <p:spPr>
              <a:xfrm>
                <a:off x="5704255" y="2674870"/>
                <a:ext cx="120357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𝑥</m:t>
                          </m:r>
                        </m:e>
                        <m:sub>
                          <m:r>
                            <a:rPr lang="en-GB" sz="2400" b="0" i="1" dirty="0" smtClean="0">
                              <a:latin typeface="Cambria Math" panose="02040503050406030204" pitchFamily="18" charset="0"/>
                            </a:rPr>
                            <m:t>2</m:t>
                          </m:r>
                        </m:sub>
                      </m:sSub>
                    </m:oMath>
                  </m:oMathPara>
                </a14:m>
                <a:endParaRPr lang="en-SG" sz="2400" dirty="0"/>
              </a:p>
            </p:txBody>
          </p:sp>
        </mc:Choice>
        <mc:Fallback xmlns="">
          <p:sp>
            <p:nvSpPr>
              <p:cNvPr id="22" name="TextBox 21">
                <a:extLst>
                  <a:ext uri="{FF2B5EF4-FFF2-40B4-BE49-F238E27FC236}">
                    <a16:creationId xmlns:a16="http://schemas.microsoft.com/office/drawing/2014/main" id="{2E8088D8-695E-CBE5-B605-617F7284E996}"/>
                  </a:ext>
                </a:extLst>
              </p:cNvPr>
              <p:cNvSpPr txBox="1">
                <a:spLocks noRot="1" noChangeAspect="1" noMove="1" noResize="1" noEditPoints="1" noAdjustHandles="1" noChangeArrowheads="1" noChangeShapeType="1" noTextEdit="1"/>
              </p:cNvSpPr>
              <p:nvPr/>
            </p:nvSpPr>
            <p:spPr>
              <a:xfrm>
                <a:off x="5704255" y="2674870"/>
                <a:ext cx="1203570" cy="461665"/>
              </a:xfrm>
              <a:prstGeom prst="rect">
                <a:avLst/>
              </a:prstGeom>
              <a:blipFill>
                <a:blip r:embed="rId8"/>
                <a:stretch>
                  <a:fillRect/>
                </a:stretch>
              </a:blipFill>
            </p:spPr>
            <p:txBody>
              <a:bodyPr/>
              <a:lstStyle/>
              <a:p>
                <a:r>
                  <a:rPr lang="en-SG">
                    <a:noFill/>
                  </a:rPr>
                  <a:t> </a:t>
                </a:r>
              </a:p>
            </p:txBody>
          </p:sp>
        </mc:Fallback>
      </mc:AlternateContent>
      <p:cxnSp>
        <p:nvCxnSpPr>
          <p:cNvPr id="23" name="Straight Arrow Connector 22">
            <a:extLst>
              <a:ext uri="{FF2B5EF4-FFF2-40B4-BE49-F238E27FC236}">
                <a16:creationId xmlns:a16="http://schemas.microsoft.com/office/drawing/2014/main" id="{3E5CAEAB-3CD0-DCCC-58DD-7B3E30B7A28D}"/>
              </a:ext>
            </a:extLst>
          </p:cNvPr>
          <p:cNvCxnSpPr>
            <a:cxnSpLocks/>
          </p:cNvCxnSpPr>
          <p:nvPr/>
        </p:nvCxnSpPr>
        <p:spPr>
          <a:xfrm flipV="1">
            <a:off x="6578601" y="2905702"/>
            <a:ext cx="353647"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C1DA3EC-C32E-729A-1C60-7B88E23B8E7D}"/>
                  </a:ext>
                </a:extLst>
              </p:cNvPr>
              <p:cNvSpPr txBox="1"/>
              <p:nvPr/>
            </p:nvSpPr>
            <p:spPr>
              <a:xfrm>
                <a:off x="8251095" y="1991193"/>
                <a:ext cx="1949938" cy="156966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𝑦</m:t>
                          </m:r>
                        </m:e>
                        <m:sub>
                          <m:r>
                            <a:rPr lang="en-GB" sz="2400" b="0" i="1" dirty="0" smtClean="0">
                              <a:latin typeface="Cambria Math" panose="02040503050406030204" pitchFamily="18" charset="0"/>
                            </a:rPr>
                            <m:t>2</m:t>
                          </m:r>
                        </m:sub>
                      </m:sSub>
                    </m:oMath>
                  </m:oMathPara>
                </a14:m>
                <a:endParaRPr lang="en-SG" sz="2400" dirty="0"/>
              </a:p>
              <a:p>
                <a:pPr algn="ctr"/>
                <a:r>
                  <a:rPr lang="en-SG" sz="2400" dirty="0"/>
                  <a:t>(pred.</a:t>
                </a:r>
                <a:br>
                  <a:rPr lang="en-SG" sz="2400" dirty="0"/>
                </a:br>
                <a:r>
                  <a:rPr lang="en-SG" sz="2400" dirty="0"/>
                  <a:t>for</a:t>
                </a:r>
                <a:br>
                  <a:rPr lang="en-SG" sz="2400" dirty="0"/>
                </a:b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3</m:t>
                        </m:r>
                      </m:sub>
                    </m:sSub>
                  </m:oMath>
                </a14:m>
                <a:r>
                  <a:rPr lang="en-SG" sz="2400" dirty="0"/>
                  <a:t>)</a:t>
                </a:r>
              </a:p>
            </p:txBody>
          </p:sp>
        </mc:Choice>
        <mc:Fallback xmlns="">
          <p:sp>
            <p:nvSpPr>
              <p:cNvPr id="27" name="TextBox 26">
                <a:extLst>
                  <a:ext uri="{FF2B5EF4-FFF2-40B4-BE49-F238E27FC236}">
                    <a16:creationId xmlns:a16="http://schemas.microsoft.com/office/drawing/2014/main" id="{0C1DA3EC-C32E-729A-1C60-7B88E23B8E7D}"/>
                  </a:ext>
                </a:extLst>
              </p:cNvPr>
              <p:cNvSpPr txBox="1">
                <a:spLocks noRot="1" noChangeAspect="1" noMove="1" noResize="1" noEditPoints="1" noAdjustHandles="1" noChangeArrowheads="1" noChangeShapeType="1" noTextEdit="1"/>
              </p:cNvSpPr>
              <p:nvPr/>
            </p:nvSpPr>
            <p:spPr>
              <a:xfrm>
                <a:off x="8251095" y="1991193"/>
                <a:ext cx="1949938" cy="1569660"/>
              </a:xfrm>
              <a:prstGeom prst="rect">
                <a:avLst/>
              </a:prstGeom>
              <a:blipFill>
                <a:blip r:embed="rId9"/>
                <a:stretch>
                  <a:fillRect b="-8171"/>
                </a:stretch>
              </a:blipFill>
            </p:spPr>
            <p:txBody>
              <a:bodyPr/>
              <a:lstStyle/>
              <a:p>
                <a:r>
                  <a:rPr lang="en-SG">
                    <a:noFill/>
                  </a:rPr>
                  <a:t> </a:t>
                </a:r>
              </a:p>
            </p:txBody>
          </p:sp>
        </mc:Fallback>
      </mc:AlternateContent>
      <p:cxnSp>
        <p:nvCxnSpPr>
          <p:cNvPr id="28" name="Straight Arrow Connector 27">
            <a:extLst>
              <a:ext uri="{FF2B5EF4-FFF2-40B4-BE49-F238E27FC236}">
                <a16:creationId xmlns:a16="http://schemas.microsoft.com/office/drawing/2014/main" id="{80D768EE-5262-E5CA-082B-4660A2B66B45}"/>
              </a:ext>
            </a:extLst>
          </p:cNvPr>
          <p:cNvCxnSpPr>
            <a:cxnSpLocks/>
          </p:cNvCxnSpPr>
          <p:nvPr/>
        </p:nvCxnSpPr>
        <p:spPr>
          <a:xfrm>
            <a:off x="8503140" y="2905982"/>
            <a:ext cx="3126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511ED1B-BF15-5FC2-E042-64663686C819}"/>
              </a:ext>
            </a:extLst>
          </p:cNvPr>
          <p:cNvCxnSpPr>
            <a:cxnSpLocks/>
          </p:cNvCxnSpPr>
          <p:nvPr/>
        </p:nvCxnSpPr>
        <p:spPr>
          <a:xfrm>
            <a:off x="8493371" y="4931507"/>
            <a:ext cx="66430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F92D947-8A37-C6CB-24FB-05464BCE64E6}"/>
                  </a:ext>
                </a:extLst>
              </p:cNvPr>
              <p:cNvSpPr txBox="1"/>
              <p:nvPr/>
            </p:nvSpPr>
            <p:spPr>
              <a:xfrm>
                <a:off x="9157679" y="4700674"/>
                <a:ext cx="66430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b="0" i="1" dirty="0" smtClean="0">
                              <a:latin typeface="Cambria Math" panose="02040503050406030204" pitchFamily="18" charset="0"/>
                            </a:rPr>
                            <m:t>h</m:t>
                          </m:r>
                        </m:e>
                        <m:sub>
                          <m:r>
                            <a:rPr lang="en-GB" sz="2400" b="0" i="1" dirty="0" smtClean="0">
                              <a:latin typeface="Cambria Math" panose="02040503050406030204" pitchFamily="18" charset="0"/>
                            </a:rPr>
                            <m:t>2</m:t>
                          </m:r>
                        </m:sub>
                      </m:sSub>
                    </m:oMath>
                  </m:oMathPara>
                </a14:m>
                <a:endParaRPr lang="en-SG" sz="2400" dirty="0"/>
              </a:p>
            </p:txBody>
          </p:sp>
        </mc:Choice>
        <mc:Fallback xmlns="">
          <p:sp>
            <p:nvSpPr>
              <p:cNvPr id="30" name="TextBox 29">
                <a:extLst>
                  <a:ext uri="{FF2B5EF4-FFF2-40B4-BE49-F238E27FC236}">
                    <a16:creationId xmlns:a16="http://schemas.microsoft.com/office/drawing/2014/main" id="{CF92D947-8A37-C6CB-24FB-05464BCE64E6}"/>
                  </a:ext>
                </a:extLst>
              </p:cNvPr>
              <p:cNvSpPr txBox="1">
                <a:spLocks noRot="1" noChangeAspect="1" noMove="1" noResize="1" noEditPoints="1" noAdjustHandles="1" noChangeArrowheads="1" noChangeShapeType="1" noTextEdit="1"/>
              </p:cNvSpPr>
              <p:nvPr/>
            </p:nvSpPr>
            <p:spPr>
              <a:xfrm>
                <a:off x="9157679" y="4700674"/>
                <a:ext cx="664308" cy="461665"/>
              </a:xfrm>
              <a:prstGeom prst="rect">
                <a:avLst/>
              </a:prstGeom>
              <a:blipFill>
                <a:blip r:embed="rId10"/>
                <a:stretch>
                  <a:fillRect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8690D79-C8B8-1BAF-BBD2-92E9DA5073F0}"/>
                  </a:ext>
                </a:extLst>
              </p:cNvPr>
              <p:cNvSpPr txBox="1"/>
              <p:nvPr/>
            </p:nvSpPr>
            <p:spPr>
              <a:xfrm>
                <a:off x="10658231" y="3560574"/>
                <a:ext cx="1391138" cy="923330"/>
              </a:xfrm>
              <a:prstGeom prst="rect">
                <a:avLst/>
              </a:prstGeom>
              <a:noFill/>
            </p:spPr>
            <p:txBody>
              <a:bodyPr wrap="square" rtlCol="0">
                <a:spAutoFit/>
              </a:bodyPr>
              <a:lstStyle/>
              <a:p>
                <a:pPr algn="ctr"/>
                <a:r>
                  <a:rPr lang="en-GB" dirty="0"/>
                  <a:t>Etc.</a:t>
                </a:r>
              </a:p>
              <a:p>
                <a:pPr algn="ctr"/>
                <a:r>
                  <a:rPr lang="en-GB" dirty="0"/>
                  <a:t>(use for loop on time </a:t>
                </a:r>
                <a14:m>
                  <m:oMath xmlns:m="http://schemas.openxmlformats.org/officeDocument/2006/math">
                    <m:r>
                      <a:rPr lang="en-GB" i="1" dirty="0" smtClean="0">
                        <a:latin typeface="Cambria Math" panose="02040503050406030204" pitchFamily="18" charset="0"/>
                      </a:rPr>
                      <m:t>𝑡</m:t>
                    </m:r>
                  </m:oMath>
                </a14:m>
                <a:r>
                  <a:rPr lang="en-GB" dirty="0"/>
                  <a:t>)</a:t>
                </a:r>
                <a:endParaRPr lang="en-SG" dirty="0"/>
              </a:p>
            </p:txBody>
          </p:sp>
        </mc:Choice>
        <mc:Fallback xmlns="">
          <p:sp>
            <p:nvSpPr>
              <p:cNvPr id="31" name="TextBox 30">
                <a:extLst>
                  <a:ext uri="{FF2B5EF4-FFF2-40B4-BE49-F238E27FC236}">
                    <a16:creationId xmlns:a16="http://schemas.microsoft.com/office/drawing/2014/main" id="{A8690D79-C8B8-1BAF-BBD2-92E9DA5073F0}"/>
                  </a:ext>
                </a:extLst>
              </p:cNvPr>
              <p:cNvSpPr txBox="1">
                <a:spLocks noRot="1" noChangeAspect="1" noMove="1" noResize="1" noEditPoints="1" noAdjustHandles="1" noChangeArrowheads="1" noChangeShapeType="1" noTextEdit="1"/>
              </p:cNvSpPr>
              <p:nvPr/>
            </p:nvSpPr>
            <p:spPr>
              <a:xfrm>
                <a:off x="10658231" y="3560574"/>
                <a:ext cx="1391138" cy="923330"/>
              </a:xfrm>
              <a:prstGeom prst="rect">
                <a:avLst/>
              </a:prstGeom>
              <a:blipFill>
                <a:blip r:embed="rId11"/>
                <a:stretch>
                  <a:fillRect l="-2620" t="-3289" r="-2620" b="-9211"/>
                </a:stretch>
              </a:blipFill>
            </p:spPr>
            <p:txBody>
              <a:bodyPr/>
              <a:lstStyle/>
              <a:p>
                <a:r>
                  <a:rPr lang="en-SG">
                    <a:noFill/>
                  </a:rPr>
                  <a:t> </a:t>
                </a:r>
              </a:p>
            </p:txBody>
          </p:sp>
        </mc:Fallback>
      </mc:AlternateContent>
    </p:spTree>
    <p:extLst>
      <p:ext uri="{BB962C8B-B14F-4D97-AF65-F5344CB8AC3E}">
        <p14:creationId xmlns:p14="http://schemas.microsoft.com/office/powerpoint/2010/main" val="33627610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1F473-9D5C-35C4-A959-5D15E87358AF}"/>
              </a:ext>
            </a:extLst>
          </p:cNvPr>
          <p:cNvSpPr>
            <a:spLocks noGrp="1"/>
          </p:cNvSpPr>
          <p:nvPr>
            <p:ph type="title"/>
          </p:nvPr>
        </p:nvSpPr>
        <p:spPr/>
        <p:txBody>
          <a:bodyPr/>
          <a:lstStyle/>
          <a:p>
            <a:r>
              <a:rPr lang="en-GB" dirty="0"/>
              <a:t>Backpropagation through time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1C8788-F48A-CD06-3907-02921CCDD5C9}"/>
                  </a:ext>
                </a:extLst>
              </p:cNvPr>
              <p:cNvSpPr>
                <a:spLocks noGrp="1"/>
              </p:cNvSpPr>
              <p:nvPr>
                <p:ph idx="1"/>
              </p:nvPr>
            </p:nvSpPr>
            <p:spPr>
              <a:xfrm>
                <a:off x="838200" y="1825624"/>
                <a:ext cx="10515600" cy="5032375"/>
              </a:xfrm>
            </p:spPr>
            <p:txBody>
              <a:bodyPr/>
              <a:lstStyle/>
              <a:p>
                <a:pPr marL="0" indent="0">
                  <a:buNone/>
                </a:pPr>
                <a:r>
                  <a:rPr lang="en-GB" dirty="0"/>
                  <a:t>At the moment, we have a RNN, which, at each time </a:t>
                </a:r>
                <a14:m>
                  <m:oMath xmlns:m="http://schemas.openxmlformats.org/officeDocument/2006/math">
                    <m:r>
                      <a:rPr lang="en-GB" i="1" dirty="0" smtClean="0">
                        <a:latin typeface="Cambria Math" panose="02040503050406030204" pitchFamily="18" charset="0"/>
                      </a:rPr>
                      <m:t>𝑡</m:t>
                    </m:r>
                  </m:oMath>
                </a14:m>
                <a:r>
                  <a:rPr lang="en-GB" dirty="0"/>
                  <a:t>, will:</a:t>
                </a:r>
              </a:p>
              <a:p>
                <a:r>
                  <a:rPr lang="en-GB" dirty="0"/>
                  <a:t>Process each input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𝑡</m:t>
                        </m:r>
                      </m:sub>
                    </m:sSub>
                  </m:oMath>
                </a14:m>
                <a:r>
                  <a:rPr lang="en-GB" dirty="0"/>
                  <a:t>,</a:t>
                </a:r>
              </a:p>
              <a:p>
                <a:r>
                  <a:rPr lang="en-SG" dirty="0"/>
                  <a:t>Attempt to predict the value of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r>
                          <a:rPr lang="en-GB" b="0" i="1" smtClean="0">
                            <a:latin typeface="Cambria Math" panose="02040503050406030204" pitchFamily="18" charset="0"/>
                          </a:rPr>
                          <m:t>+1</m:t>
                        </m:r>
                      </m:sub>
                    </m:sSub>
                  </m:oMath>
                </a14:m>
                <a:r>
                  <a:rPr lang="en-SG" dirty="0"/>
                  <a:t>,</a:t>
                </a:r>
              </a:p>
              <a:p>
                <a:r>
                  <a:rPr lang="en-SG" dirty="0"/>
                  <a:t>Keeps track of some memory, in a vector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oMath>
                </a14:m>
                <a:r>
                  <a:rPr lang="en-SG" dirty="0"/>
                  <a:t>, updated at each time </a:t>
                </a:r>
                <a14:m>
                  <m:oMath xmlns:m="http://schemas.openxmlformats.org/officeDocument/2006/math">
                    <m:r>
                      <a:rPr lang="en-SG" i="1" dirty="0" smtClean="0">
                        <a:latin typeface="Cambria Math" panose="02040503050406030204" pitchFamily="18" charset="0"/>
                      </a:rPr>
                      <m:t>𝑡</m:t>
                    </m:r>
                  </m:oMath>
                </a14:m>
                <a:r>
                  <a:rPr lang="en-SG" dirty="0"/>
                  <a:t>,</a:t>
                </a:r>
              </a:p>
              <a:p>
                <a:r>
                  <a:rPr lang="en-SG" dirty="0"/>
                  <a:t>Adjusts the parameters of the RNN layers at each time </a:t>
                </a:r>
                <a14:m>
                  <m:oMath xmlns:m="http://schemas.openxmlformats.org/officeDocument/2006/math">
                    <m:r>
                      <a:rPr lang="en-SG" i="1" dirty="0" smtClean="0">
                        <a:latin typeface="Cambria Math" panose="02040503050406030204" pitchFamily="18" charset="0"/>
                      </a:rPr>
                      <m:t>𝑡</m:t>
                    </m:r>
                  </m:oMath>
                </a14:m>
                <a:r>
                  <a:rPr lang="en-SG" dirty="0"/>
                  <a:t>.</a:t>
                </a:r>
              </a:p>
              <a:p>
                <a:endParaRPr lang="en-SG" dirty="0"/>
              </a:p>
              <a:p>
                <a:pPr marL="0" indent="0">
                  <a:buNone/>
                </a:pPr>
                <a:r>
                  <a:rPr lang="en-SG" dirty="0"/>
                  <a:t>This means that we perform </a:t>
                </a:r>
                <a:r>
                  <a:rPr lang="en-SG" b="1" dirty="0"/>
                  <a:t>1 parameter update per sample </a:t>
                </a:r>
                <a:r>
                  <a:rPr lang="en-SG" dirty="0"/>
                  <a:t>(as we would if we used </a:t>
                </a:r>
                <a:r>
                  <a:rPr lang="en-SG" b="1" dirty="0"/>
                  <a:t>stochastic</a:t>
                </a:r>
                <a:r>
                  <a:rPr lang="en-SG" dirty="0"/>
                  <a:t> </a:t>
                </a:r>
                <a:r>
                  <a:rPr lang="en-SG" b="1" dirty="0"/>
                  <a:t>gradient</a:t>
                </a:r>
                <a:r>
                  <a:rPr lang="en-SG" dirty="0"/>
                  <a:t> </a:t>
                </a:r>
                <a:r>
                  <a:rPr lang="en-SG" b="1" dirty="0"/>
                  <a:t>descent</a:t>
                </a:r>
                <a:r>
                  <a:rPr lang="en-SG" dirty="0"/>
                  <a:t> on a standard DNN).</a:t>
                </a:r>
              </a:p>
              <a:p>
                <a:pPr marL="0" indent="0">
                  <a:buNone/>
                </a:pPr>
                <a:r>
                  <a:rPr lang="en-SG" dirty="0">
                    <a:solidFill>
                      <a:srgbClr val="7030A0"/>
                    </a:solidFill>
                  </a:rPr>
                  <a:t>We have however seen that using batches of </a:t>
                </a:r>
                <a:r>
                  <a:rPr lang="en-SG" b="1" dirty="0">
                    <a:solidFill>
                      <a:srgbClr val="7030A0"/>
                    </a:solidFill>
                  </a:rPr>
                  <a:t>N data samples per parameter update </a:t>
                </a:r>
                <a:r>
                  <a:rPr lang="en-SG" dirty="0">
                    <a:solidFill>
                      <a:srgbClr val="7030A0"/>
                    </a:solidFill>
                  </a:rPr>
                  <a:t>was better (a.k.a. as mini-batch gradient descent). </a:t>
                </a:r>
              </a:p>
            </p:txBody>
          </p:sp>
        </mc:Choice>
        <mc:Fallback xmlns="">
          <p:sp>
            <p:nvSpPr>
              <p:cNvPr id="3" name="Content Placeholder 2">
                <a:extLst>
                  <a:ext uri="{FF2B5EF4-FFF2-40B4-BE49-F238E27FC236}">
                    <a16:creationId xmlns:a16="http://schemas.microsoft.com/office/drawing/2014/main" id="{671C8788-F48A-CD06-3907-02921CCDD5C9}"/>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10382527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3686A-53A1-1C2D-8919-12668B16586D}"/>
              </a:ext>
            </a:extLst>
          </p:cNvPr>
          <p:cNvSpPr>
            <a:spLocks noGrp="1"/>
          </p:cNvSpPr>
          <p:nvPr>
            <p:ph type="title"/>
          </p:nvPr>
        </p:nvSpPr>
        <p:spPr/>
        <p:txBody>
          <a:bodyPr/>
          <a:lstStyle/>
          <a:p>
            <a:r>
              <a:rPr lang="en-GB" dirty="0"/>
              <a:t>Backpropagation through time</a:t>
            </a:r>
            <a:endParaRPr lang="en-SG" dirty="0"/>
          </a:p>
        </p:txBody>
      </p:sp>
      <p:sp>
        <p:nvSpPr>
          <p:cNvPr id="3" name="Content Placeholder 2">
            <a:extLst>
              <a:ext uri="{FF2B5EF4-FFF2-40B4-BE49-F238E27FC236}">
                <a16:creationId xmlns:a16="http://schemas.microsoft.com/office/drawing/2014/main" id="{F24D6176-F28F-156D-DD4C-622B471274A2}"/>
              </a:ext>
            </a:extLst>
          </p:cNvPr>
          <p:cNvSpPr>
            <a:spLocks noGrp="1"/>
          </p:cNvSpPr>
          <p:nvPr>
            <p:ph sz="half" idx="1"/>
          </p:nvPr>
        </p:nvSpPr>
        <p:spPr>
          <a:xfrm>
            <a:off x="838200" y="1825624"/>
            <a:ext cx="5181600" cy="5032375"/>
          </a:xfrm>
        </p:spPr>
        <p:txBody>
          <a:bodyPr>
            <a:normAutofit fontScale="92500"/>
          </a:bodyPr>
          <a:lstStyle/>
          <a:p>
            <a:pPr marL="0" indent="0">
              <a:buNone/>
            </a:pPr>
            <a:r>
              <a:rPr lang="en-GB" b="1" dirty="0"/>
              <a:t>Definition (</a:t>
            </a:r>
            <a:r>
              <a:rPr lang="en-GB" b="1" dirty="0">
                <a:solidFill>
                  <a:srgbClr val="00B050"/>
                </a:solidFill>
              </a:rPr>
              <a:t>backpropagation through time</a:t>
            </a:r>
            <a:r>
              <a:rPr lang="en-GB" b="1" dirty="0"/>
              <a:t>):</a:t>
            </a:r>
          </a:p>
          <a:p>
            <a:pPr marL="0" indent="0">
              <a:buNone/>
            </a:pPr>
            <a:r>
              <a:rPr lang="en-SG" dirty="0"/>
              <a:t>In order to implement </a:t>
            </a:r>
            <a:r>
              <a:rPr lang="en-SG" b="1" dirty="0"/>
              <a:t>a parameter update every N samples</a:t>
            </a:r>
            <a:r>
              <a:rPr lang="en-SG" dirty="0"/>
              <a:t>, we need to implement a </a:t>
            </a:r>
            <a:r>
              <a:rPr lang="en-SG" b="1" dirty="0">
                <a:solidFill>
                  <a:srgbClr val="00B050"/>
                </a:solidFill>
              </a:rPr>
              <a:t>backpropagation through time</a:t>
            </a:r>
            <a:r>
              <a:rPr lang="en-SG" dirty="0"/>
              <a:t>.</a:t>
            </a:r>
          </a:p>
          <a:p>
            <a:r>
              <a:rPr lang="en-SG" dirty="0"/>
              <a:t>Unfold the RNN operations over time as shown,</a:t>
            </a:r>
          </a:p>
          <a:p>
            <a:r>
              <a:rPr lang="en-SG" dirty="0"/>
              <a:t>Run predictions on N consecutive samples and keep track of loss,</a:t>
            </a:r>
          </a:p>
          <a:p>
            <a:r>
              <a:rPr lang="en-SG" dirty="0"/>
              <a:t>Eventually perform one parameter update after N samples.</a:t>
            </a:r>
          </a:p>
        </p:txBody>
      </p:sp>
      <p:sp>
        <p:nvSpPr>
          <p:cNvPr id="24" name="Content Placeholder 23">
            <a:extLst>
              <a:ext uri="{FF2B5EF4-FFF2-40B4-BE49-F238E27FC236}">
                <a16:creationId xmlns:a16="http://schemas.microsoft.com/office/drawing/2014/main" id="{7D321D0C-F995-E2BD-FE4C-9CDE72F1ED76}"/>
              </a:ext>
            </a:extLst>
          </p:cNvPr>
          <p:cNvSpPr>
            <a:spLocks noGrp="1"/>
          </p:cNvSpPr>
          <p:nvPr>
            <p:ph sz="half" idx="2"/>
          </p:nvPr>
        </p:nvSpPr>
        <p:spPr/>
        <p:txBody>
          <a:bodyPr>
            <a:normAutofit fontScale="92500"/>
          </a:bodyPr>
          <a:lstStyle/>
          <a:p>
            <a:pPr marL="0" indent="0">
              <a:buNone/>
            </a:pPr>
            <a:r>
              <a:rPr lang="en-GB" dirty="0"/>
              <a:t>This basically allows to </a:t>
            </a:r>
            <a:r>
              <a:rPr lang="en-GB" b="1" dirty="0"/>
              <a:t>teach the RNN how to update the memory vectors over time</a:t>
            </a:r>
            <a:r>
              <a:rPr lang="en-GB" dirty="0"/>
              <a:t>.</a:t>
            </a:r>
          </a:p>
          <a:p>
            <a:pPr marL="0" indent="0">
              <a:buNone/>
            </a:pPr>
            <a:r>
              <a:rPr lang="en-GB" dirty="0"/>
              <a:t>Somewhat equivalent to a chain of successive layers, with gradient propagated through all the layers and time steps.</a:t>
            </a:r>
            <a:endParaRPr lang="en-SG" dirty="0"/>
          </a:p>
        </p:txBody>
      </p:sp>
      <p:pic>
        <p:nvPicPr>
          <p:cNvPr id="23" name="Picture 22">
            <a:extLst>
              <a:ext uri="{FF2B5EF4-FFF2-40B4-BE49-F238E27FC236}">
                <a16:creationId xmlns:a16="http://schemas.microsoft.com/office/drawing/2014/main" id="{A7362EEA-E8D1-C649-888F-7FEAC2742AC2}"/>
              </a:ext>
            </a:extLst>
          </p:cNvPr>
          <p:cNvPicPr>
            <a:picLocks noChangeAspect="1"/>
          </p:cNvPicPr>
          <p:nvPr/>
        </p:nvPicPr>
        <p:blipFill>
          <a:blip r:embed="rId2"/>
          <a:stretch>
            <a:fillRect/>
          </a:stretch>
        </p:blipFill>
        <p:spPr>
          <a:xfrm>
            <a:off x="6172200" y="4704917"/>
            <a:ext cx="5856152" cy="1936450"/>
          </a:xfrm>
          <a:prstGeom prst="rect">
            <a:avLst/>
          </a:prstGeom>
        </p:spPr>
      </p:pic>
    </p:spTree>
    <p:extLst>
      <p:ext uri="{BB962C8B-B14F-4D97-AF65-F5344CB8AC3E}">
        <p14:creationId xmlns:p14="http://schemas.microsoft.com/office/powerpoint/2010/main" val="26462925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744AD-8C96-9D7F-5FF3-DFA6E36E9AD6}"/>
              </a:ext>
            </a:extLst>
          </p:cNvPr>
          <p:cNvSpPr>
            <a:spLocks noGrp="1"/>
          </p:cNvSpPr>
          <p:nvPr>
            <p:ph type="title"/>
          </p:nvPr>
        </p:nvSpPr>
        <p:spPr/>
        <p:txBody>
          <a:bodyPr/>
          <a:lstStyle/>
          <a:p>
            <a:r>
              <a:rPr lang="en-GB" dirty="0"/>
              <a:t>The vanishing gradient problem (part 3)</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7E85C4-C37D-BCBC-37B4-67BAAE68237E}"/>
                  </a:ext>
                </a:extLst>
              </p:cNvPr>
              <p:cNvSpPr>
                <a:spLocks noGrp="1"/>
              </p:cNvSpPr>
              <p:nvPr>
                <p:ph idx="1"/>
              </p:nvPr>
            </p:nvSpPr>
            <p:spPr/>
            <p:txBody>
              <a:bodyPr>
                <a:noAutofit/>
              </a:bodyPr>
              <a:lstStyle/>
              <a:p>
                <a:pPr marL="0" indent="0">
                  <a:buNone/>
                </a:pPr>
                <a:r>
                  <a:rPr lang="en-GB" dirty="0"/>
                  <a:t>The </a:t>
                </a:r>
                <a:r>
                  <a:rPr lang="en-GB" b="1" dirty="0"/>
                  <a:t>vanishing</a:t>
                </a:r>
                <a:r>
                  <a:rPr lang="en-GB" dirty="0"/>
                  <a:t> </a:t>
                </a:r>
                <a:r>
                  <a:rPr lang="en-GB" b="1" dirty="0"/>
                  <a:t>gradient</a:t>
                </a:r>
                <a:r>
                  <a:rPr lang="en-GB" dirty="0"/>
                  <a:t> </a:t>
                </a:r>
                <a:r>
                  <a:rPr lang="en-GB" b="1" dirty="0"/>
                  <a:t>problem</a:t>
                </a:r>
                <a:r>
                  <a:rPr lang="en-GB" dirty="0"/>
                  <a:t> can often occur in RNNs during training. </a:t>
                </a:r>
              </a:p>
              <a:p>
                <a:r>
                  <a:rPr lang="en-GB" dirty="0"/>
                  <a:t>In RNNs, each hidden state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h</m:t>
                        </m:r>
                      </m:e>
                      <m:sub>
                        <m:r>
                          <a:rPr lang="en-GB" i="1" dirty="0" smtClean="0">
                            <a:latin typeface="Cambria Math" panose="02040503050406030204" pitchFamily="18" charset="0"/>
                          </a:rPr>
                          <m:t>𝑡</m:t>
                        </m:r>
                        <m:r>
                          <a:rPr lang="en-GB" b="0" i="1" dirty="0" smtClean="0">
                            <a:latin typeface="Cambria Math" panose="02040503050406030204" pitchFamily="18" charset="0"/>
                          </a:rPr>
                          <m:t>+1</m:t>
                        </m:r>
                      </m:sub>
                    </m:sSub>
                  </m:oMath>
                </a14:m>
                <a:r>
                  <a:rPr lang="en-GB" dirty="0"/>
                  <a:t> is updated via a function of the previous hidden state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oMath>
                </a14:m>
                <a:r>
                  <a:rPr lang="en-GB" dirty="0"/>
                  <a:t> and the input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sub>
                    </m:sSub>
                  </m:oMath>
                </a14:m>
                <a:r>
                  <a:rPr lang="en-GB" dirty="0"/>
                  <a:t>.</a:t>
                </a:r>
              </a:p>
              <a:p>
                <a:r>
                  <a:rPr lang="en-GB" dirty="0"/>
                  <a:t>The memory vector will attempt to integrate “new” information, but ultimately will have to discard “old” information to make space for the “new” information.</a:t>
                </a:r>
              </a:p>
              <a:p>
                <a:r>
                  <a:rPr lang="en-GB" dirty="0"/>
                  <a:t>Eventually “old” information will slowly be lost over time, which </a:t>
                </a:r>
                <a:r>
                  <a:rPr lang="en-GB" dirty="0" err="1"/>
                  <a:t>iis</a:t>
                </a:r>
                <a:r>
                  <a:rPr lang="en-GB" dirty="0"/>
                  <a:t> unfortunate as it could have proven useful in some predictions…</a:t>
                </a:r>
                <a:endParaRPr lang="en-SG" dirty="0"/>
              </a:p>
            </p:txBody>
          </p:sp>
        </mc:Choice>
        <mc:Fallback xmlns="">
          <p:sp>
            <p:nvSpPr>
              <p:cNvPr id="3" name="Content Placeholder 2">
                <a:extLst>
                  <a:ext uri="{FF2B5EF4-FFF2-40B4-BE49-F238E27FC236}">
                    <a16:creationId xmlns:a16="http://schemas.microsoft.com/office/drawing/2014/main" id="{C27E85C4-C37D-BCBC-37B4-67BAAE68237E}"/>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34257806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744AD-8C96-9D7F-5FF3-DFA6E36E9AD6}"/>
              </a:ext>
            </a:extLst>
          </p:cNvPr>
          <p:cNvSpPr>
            <a:spLocks noGrp="1"/>
          </p:cNvSpPr>
          <p:nvPr>
            <p:ph type="title"/>
          </p:nvPr>
        </p:nvSpPr>
        <p:spPr/>
        <p:txBody>
          <a:bodyPr/>
          <a:lstStyle/>
          <a:p>
            <a:r>
              <a:rPr lang="en-GB" dirty="0"/>
              <a:t>The vanishing gradient problem (part 3)</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7E85C4-C37D-BCBC-37B4-67BAAE68237E}"/>
                  </a:ext>
                </a:extLst>
              </p:cNvPr>
              <p:cNvSpPr>
                <a:spLocks noGrp="1"/>
              </p:cNvSpPr>
              <p:nvPr>
                <p:ph idx="1"/>
              </p:nvPr>
            </p:nvSpPr>
            <p:spPr/>
            <p:txBody>
              <a:bodyPr>
                <a:noAutofit/>
              </a:bodyPr>
              <a:lstStyle/>
              <a:p>
                <a:pPr marL="0" indent="0">
                  <a:buNone/>
                </a:pPr>
                <a:r>
                  <a:rPr lang="en-GB" dirty="0">
                    <a:solidFill>
                      <a:schemeClr val="bg1">
                        <a:lumMod val="50000"/>
                      </a:schemeClr>
                    </a:solidFill>
                  </a:rPr>
                  <a:t>The </a:t>
                </a:r>
                <a:r>
                  <a:rPr lang="en-GB" b="1" dirty="0">
                    <a:solidFill>
                      <a:schemeClr val="bg1">
                        <a:lumMod val="50000"/>
                      </a:schemeClr>
                    </a:solidFill>
                  </a:rPr>
                  <a:t>vanishing</a:t>
                </a:r>
                <a:r>
                  <a:rPr lang="en-GB" dirty="0">
                    <a:solidFill>
                      <a:schemeClr val="bg1">
                        <a:lumMod val="50000"/>
                      </a:schemeClr>
                    </a:solidFill>
                  </a:rPr>
                  <a:t> </a:t>
                </a:r>
                <a:r>
                  <a:rPr lang="en-GB" b="1" dirty="0">
                    <a:solidFill>
                      <a:schemeClr val="bg1">
                        <a:lumMod val="50000"/>
                      </a:schemeClr>
                    </a:solidFill>
                  </a:rPr>
                  <a:t>gradient</a:t>
                </a:r>
                <a:r>
                  <a:rPr lang="en-GB" dirty="0">
                    <a:solidFill>
                      <a:schemeClr val="bg1">
                        <a:lumMod val="50000"/>
                      </a:schemeClr>
                    </a:solidFill>
                  </a:rPr>
                  <a:t> </a:t>
                </a:r>
                <a:r>
                  <a:rPr lang="en-GB" b="1" dirty="0">
                    <a:solidFill>
                      <a:schemeClr val="bg1">
                        <a:lumMod val="50000"/>
                      </a:schemeClr>
                    </a:solidFill>
                  </a:rPr>
                  <a:t>problem</a:t>
                </a:r>
                <a:r>
                  <a:rPr lang="en-GB" dirty="0">
                    <a:solidFill>
                      <a:schemeClr val="bg1">
                        <a:lumMod val="50000"/>
                      </a:schemeClr>
                    </a:solidFill>
                  </a:rPr>
                  <a:t> can often occur in RNNs during training. </a:t>
                </a:r>
              </a:p>
              <a:p>
                <a:r>
                  <a:rPr lang="en-GB" dirty="0">
                    <a:solidFill>
                      <a:schemeClr val="bg1">
                        <a:lumMod val="50000"/>
                      </a:schemeClr>
                    </a:solidFill>
                  </a:rPr>
                  <a:t>In RNNs, each hidden state </a:t>
                </a:r>
                <a14:m>
                  <m:oMath xmlns:m="http://schemas.openxmlformats.org/officeDocument/2006/math">
                    <m:sSub>
                      <m:sSubPr>
                        <m:ctrlPr>
                          <a:rPr lang="en-GB" i="1" dirty="0" smtClean="0">
                            <a:solidFill>
                              <a:schemeClr val="bg1">
                                <a:lumMod val="50000"/>
                              </a:schemeClr>
                            </a:solidFill>
                            <a:latin typeface="Cambria Math" panose="02040503050406030204" pitchFamily="18" charset="0"/>
                          </a:rPr>
                        </m:ctrlPr>
                      </m:sSubPr>
                      <m:e>
                        <m:r>
                          <a:rPr lang="en-GB" i="1" dirty="0" smtClean="0">
                            <a:solidFill>
                              <a:schemeClr val="bg1">
                                <a:lumMod val="50000"/>
                              </a:schemeClr>
                            </a:solidFill>
                            <a:latin typeface="Cambria Math" panose="02040503050406030204" pitchFamily="18" charset="0"/>
                          </a:rPr>
                          <m:t>h</m:t>
                        </m:r>
                      </m:e>
                      <m:sub>
                        <m:r>
                          <a:rPr lang="en-GB" i="1" dirty="0" smtClean="0">
                            <a:solidFill>
                              <a:schemeClr val="bg1">
                                <a:lumMod val="50000"/>
                              </a:schemeClr>
                            </a:solidFill>
                            <a:latin typeface="Cambria Math" panose="02040503050406030204" pitchFamily="18" charset="0"/>
                          </a:rPr>
                          <m:t>𝑡</m:t>
                        </m:r>
                        <m:r>
                          <a:rPr lang="en-GB" b="0" i="1" dirty="0" smtClean="0">
                            <a:solidFill>
                              <a:schemeClr val="bg1">
                                <a:lumMod val="50000"/>
                              </a:schemeClr>
                            </a:solidFill>
                            <a:latin typeface="Cambria Math" panose="02040503050406030204" pitchFamily="18" charset="0"/>
                          </a:rPr>
                          <m:t>+1</m:t>
                        </m:r>
                      </m:sub>
                    </m:sSub>
                  </m:oMath>
                </a14:m>
                <a:r>
                  <a:rPr lang="en-GB" dirty="0">
                    <a:solidFill>
                      <a:schemeClr val="bg1">
                        <a:lumMod val="50000"/>
                      </a:schemeClr>
                    </a:solidFill>
                  </a:rPr>
                  <a:t> is updated via a function of the previous hidden state </a:t>
                </a:r>
                <a14:m>
                  <m:oMath xmlns:m="http://schemas.openxmlformats.org/officeDocument/2006/math">
                    <m:sSub>
                      <m:sSubPr>
                        <m:ctrlPr>
                          <a:rPr lang="en-GB" b="0" i="1" smtClean="0">
                            <a:solidFill>
                              <a:schemeClr val="bg1">
                                <a:lumMod val="50000"/>
                              </a:schemeClr>
                            </a:solidFill>
                            <a:latin typeface="Cambria Math" panose="02040503050406030204" pitchFamily="18" charset="0"/>
                          </a:rPr>
                        </m:ctrlPr>
                      </m:sSubPr>
                      <m:e>
                        <m:r>
                          <a:rPr lang="en-GB" b="0" i="1" smtClean="0">
                            <a:solidFill>
                              <a:schemeClr val="bg1">
                                <a:lumMod val="50000"/>
                              </a:schemeClr>
                            </a:solidFill>
                            <a:latin typeface="Cambria Math" panose="02040503050406030204" pitchFamily="18" charset="0"/>
                          </a:rPr>
                          <m:t>h</m:t>
                        </m:r>
                      </m:e>
                      <m:sub>
                        <m:r>
                          <a:rPr lang="en-GB" b="0" i="1" smtClean="0">
                            <a:solidFill>
                              <a:schemeClr val="bg1">
                                <a:lumMod val="50000"/>
                              </a:schemeClr>
                            </a:solidFill>
                            <a:latin typeface="Cambria Math" panose="02040503050406030204" pitchFamily="18" charset="0"/>
                          </a:rPr>
                          <m:t>𝑡</m:t>
                        </m:r>
                      </m:sub>
                    </m:sSub>
                  </m:oMath>
                </a14:m>
                <a:r>
                  <a:rPr lang="en-GB" dirty="0">
                    <a:solidFill>
                      <a:schemeClr val="bg1">
                        <a:lumMod val="50000"/>
                      </a:schemeClr>
                    </a:solidFill>
                  </a:rPr>
                  <a:t> and the input </a:t>
                </a:r>
                <a14:m>
                  <m:oMath xmlns:m="http://schemas.openxmlformats.org/officeDocument/2006/math">
                    <m:sSub>
                      <m:sSubPr>
                        <m:ctrlPr>
                          <a:rPr lang="en-GB" b="0" i="1" smtClean="0">
                            <a:solidFill>
                              <a:schemeClr val="bg1">
                                <a:lumMod val="50000"/>
                              </a:schemeClr>
                            </a:solidFill>
                            <a:latin typeface="Cambria Math" panose="02040503050406030204" pitchFamily="18" charset="0"/>
                          </a:rPr>
                        </m:ctrlPr>
                      </m:sSubPr>
                      <m:e>
                        <m:r>
                          <a:rPr lang="en-GB" b="0" i="1" smtClean="0">
                            <a:solidFill>
                              <a:schemeClr val="bg1">
                                <a:lumMod val="50000"/>
                              </a:schemeClr>
                            </a:solidFill>
                            <a:latin typeface="Cambria Math" panose="02040503050406030204" pitchFamily="18" charset="0"/>
                          </a:rPr>
                          <m:t>𝑥</m:t>
                        </m:r>
                      </m:e>
                      <m:sub>
                        <m:r>
                          <a:rPr lang="en-GB" b="0" i="1" smtClean="0">
                            <a:solidFill>
                              <a:schemeClr val="bg1">
                                <a:lumMod val="50000"/>
                              </a:schemeClr>
                            </a:solidFill>
                            <a:latin typeface="Cambria Math" panose="02040503050406030204" pitchFamily="18" charset="0"/>
                          </a:rPr>
                          <m:t>𝑡</m:t>
                        </m:r>
                      </m:sub>
                    </m:sSub>
                  </m:oMath>
                </a14:m>
                <a:r>
                  <a:rPr lang="en-GB" dirty="0">
                    <a:solidFill>
                      <a:schemeClr val="bg1">
                        <a:lumMod val="50000"/>
                      </a:schemeClr>
                    </a:solidFill>
                  </a:rPr>
                  <a:t>.</a:t>
                </a:r>
              </a:p>
              <a:p>
                <a:r>
                  <a:rPr lang="en-GB" dirty="0">
                    <a:solidFill>
                      <a:schemeClr val="bg1">
                        <a:lumMod val="50000"/>
                      </a:schemeClr>
                    </a:solidFill>
                  </a:rPr>
                  <a:t>The memory vector will attempt to integrate “new” information, but ultimately will have to discard “old” information to make space for the “new” information.</a:t>
                </a:r>
              </a:p>
              <a:p>
                <a:r>
                  <a:rPr lang="en-GB" dirty="0">
                    <a:solidFill>
                      <a:schemeClr val="bg1">
                        <a:lumMod val="50000"/>
                      </a:schemeClr>
                    </a:solidFill>
                  </a:rPr>
                  <a:t>Eventually “old” information will be lost over time, which could have proven useful in some predictions…</a:t>
                </a:r>
                <a:endParaRPr lang="en-SG" dirty="0">
                  <a:solidFill>
                    <a:schemeClr val="bg1">
                      <a:lumMod val="50000"/>
                    </a:schemeClr>
                  </a:solidFill>
                </a:endParaRPr>
              </a:p>
            </p:txBody>
          </p:sp>
        </mc:Choice>
        <mc:Fallback xmlns="">
          <p:sp>
            <p:nvSpPr>
              <p:cNvPr id="3" name="Content Placeholder 2">
                <a:extLst>
                  <a:ext uri="{FF2B5EF4-FFF2-40B4-BE49-F238E27FC236}">
                    <a16:creationId xmlns:a16="http://schemas.microsoft.com/office/drawing/2014/main" id="{C27E85C4-C37D-BCBC-37B4-67BAAE68237E}"/>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pic>
        <p:nvPicPr>
          <p:cNvPr id="5" name="Picture 4" descr="A diagram of a circle with arrows and a circle with letters&#10;&#10;Description automatically generated">
            <a:extLst>
              <a:ext uri="{FF2B5EF4-FFF2-40B4-BE49-F238E27FC236}">
                <a16:creationId xmlns:a16="http://schemas.microsoft.com/office/drawing/2014/main" id="{B1FDBE7C-2459-A75C-43E5-CCAF803D65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9519" y="1018364"/>
            <a:ext cx="9552961" cy="51585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229909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744AD-8C96-9D7F-5FF3-DFA6E36E9AD6}"/>
              </a:ext>
            </a:extLst>
          </p:cNvPr>
          <p:cNvSpPr>
            <a:spLocks noGrp="1"/>
          </p:cNvSpPr>
          <p:nvPr>
            <p:ph type="title"/>
          </p:nvPr>
        </p:nvSpPr>
        <p:spPr/>
        <p:txBody>
          <a:bodyPr/>
          <a:lstStyle/>
          <a:p>
            <a:r>
              <a:rPr lang="en-GB" dirty="0"/>
              <a:t>The vanishing gradient problem (part 3)</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7E85C4-C37D-BCBC-37B4-67BAAE68237E}"/>
                  </a:ext>
                </a:extLst>
              </p:cNvPr>
              <p:cNvSpPr>
                <a:spLocks noGrp="1"/>
              </p:cNvSpPr>
              <p:nvPr>
                <p:ph idx="1"/>
              </p:nvPr>
            </p:nvSpPr>
            <p:spPr>
              <a:xfrm>
                <a:off x="838200" y="1825624"/>
                <a:ext cx="10515600" cy="5032375"/>
              </a:xfrm>
            </p:spPr>
            <p:txBody>
              <a:bodyPr>
                <a:noAutofit/>
              </a:bodyPr>
              <a:lstStyle/>
              <a:p>
                <a:pPr marL="0" indent="0">
                  <a:buNone/>
                </a:pPr>
                <a:r>
                  <a:rPr lang="en-GB" dirty="0"/>
                  <a:t>The </a:t>
                </a:r>
                <a:r>
                  <a:rPr lang="en-GB" b="1" dirty="0"/>
                  <a:t>vanishing</a:t>
                </a:r>
                <a:r>
                  <a:rPr lang="en-GB" dirty="0"/>
                  <a:t> </a:t>
                </a:r>
                <a:r>
                  <a:rPr lang="en-GB" b="1" dirty="0"/>
                  <a:t>gradient</a:t>
                </a:r>
                <a:r>
                  <a:rPr lang="en-GB" dirty="0"/>
                  <a:t> </a:t>
                </a:r>
                <a:r>
                  <a:rPr lang="en-GB" b="1" dirty="0"/>
                  <a:t>problem</a:t>
                </a:r>
                <a:r>
                  <a:rPr lang="en-GB" dirty="0"/>
                  <a:t> can often occur in RNNs during training. </a:t>
                </a:r>
              </a:p>
              <a:p>
                <a:r>
                  <a:rPr lang="en-GB" dirty="0"/>
                  <a:t>In RNNs, each hidden state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h</m:t>
                        </m:r>
                      </m:e>
                      <m:sub>
                        <m:r>
                          <a:rPr lang="en-GB" i="1" dirty="0" smtClean="0">
                            <a:latin typeface="Cambria Math" panose="02040503050406030204" pitchFamily="18" charset="0"/>
                          </a:rPr>
                          <m:t>𝑡</m:t>
                        </m:r>
                        <m:r>
                          <a:rPr lang="en-GB" b="0" i="1" dirty="0" smtClean="0">
                            <a:latin typeface="Cambria Math" panose="02040503050406030204" pitchFamily="18" charset="0"/>
                          </a:rPr>
                          <m:t>+1</m:t>
                        </m:r>
                      </m:sub>
                    </m:sSub>
                  </m:oMath>
                </a14:m>
                <a:r>
                  <a:rPr lang="en-GB" dirty="0"/>
                  <a:t> is updated via a function of the previous hidden state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rPr>
                          <m:t>𝑡</m:t>
                        </m:r>
                      </m:sub>
                    </m:sSub>
                  </m:oMath>
                </a14:m>
                <a:r>
                  <a:rPr lang="en-GB" dirty="0"/>
                  <a:t> and the input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𝑡</m:t>
                        </m:r>
                      </m:sub>
                    </m:sSub>
                  </m:oMath>
                </a14:m>
                <a:r>
                  <a:rPr lang="en-GB" dirty="0"/>
                  <a:t>.</a:t>
                </a:r>
              </a:p>
              <a:p>
                <a:r>
                  <a:rPr lang="en-GB" dirty="0"/>
                  <a:t>During training, we used backpropagation over time, learning how to update the memory vectors over time for that problem/dataset.</a:t>
                </a:r>
              </a:p>
              <a:p>
                <a:r>
                  <a:rPr lang="en-GB" dirty="0"/>
                  <a:t>In general, our derivatives </a:t>
                </a:r>
                <a:r>
                  <a:rPr lang="en-GB" dirty="0" err="1"/>
                  <a:t>wrt</a:t>
                </a:r>
                <a:r>
                  <a:rPr lang="en-GB" dirty="0"/>
                  <a:t>. trainable parameters will be products of many other derivatives.</a:t>
                </a:r>
              </a:p>
              <a:p>
                <a:r>
                  <a:rPr lang="en-GB" b="1" dirty="0"/>
                  <a:t>This backpropagation can result in very small gradients for the earlier time steps</a:t>
                </a:r>
                <a:r>
                  <a:rPr lang="en-GB" dirty="0"/>
                  <a:t>, where the weights are then updated very slowly.</a:t>
                </a:r>
                <a:endParaRPr lang="en-SG" dirty="0"/>
              </a:p>
            </p:txBody>
          </p:sp>
        </mc:Choice>
        <mc:Fallback xmlns="">
          <p:sp>
            <p:nvSpPr>
              <p:cNvPr id="3" name="Content Placeholder 2">
                <a:extLst>
                  <a:ext uri="{FF2B5EF4-FFF2-40B4-BE49-F238E27FC236}">
                    <a16:creationId xmlns:a16="http://schemas.microsoft.com/office/drawing/2014/main" id="{C27E85C4-C37D-BCBC-37B4-67BAAE68237E}"/>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290"/>
                </a:stretch>
              </a:blipFill>
            </p:spPr>
            <p:txBody>
              <a:bodyPr/>
              <a:lstStyle/>
              <a:p>
                <a:r>
                  <a:rPr lang="en-GB">
                    <a:noFill/>
                  </a:rPr>
                  <a:t> </a:t>
                </a:r>
              </a:p>
            </p:txBody>
          </p:sp>
        </mc:Fallback>
      </mc:AlternateContent>
    </p:spTree>
    <p:extLst>
      <p:ext uri="{BB962C8B-B14F-4D97-AF65-F5344CB8AC3E}">
        <p14:creationId xmlns:p14="http://schemas.microsoft.com/office/powerpoint/2010/main" val="39801691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744AD-8C96-9D7F-5FF3-DFA6E36E9AD6}"/>
              </a:ext>
            </a:extLst>
          </p:cNvPr>
          <p:cNvSpPr>
            <a:spLocks noGrp="1"/>
          </p:cNvSpPr>
          <p:nvPr>
            <p:ph type="title"/>
          </p:nvPr>
        </p:nvSpPr>
        <p:spPr/>
        <p:txBody>
          <a:bodyPr/>
          <a:lstStyle/>
          <a:p>
            <a:r>
              <a:rPr lang="en-GB" dirty="0"/>
              <a:t>The vanishing gradient problem (part 3)</a:t>
            </a:r>
            <a:endParaRPr lang="en-SG" dirty="0"/>
          </a:p>
        </p:txBody>
      </p:sp>
      <p:sp>
        <p:nvSpPr>
          <p:cNvPr id="3" name="Content Placeholder 2">
            <a:extLst>
              <a:ext uri="{FF2B5EF4-FFF2-40B4-BE49-F238E27FC236}">
                <a16:creationId xmlns:a16="http://schemas.microsoft.com/office/drawing/2014/main" id="{C27E85C4-C37D-BCBC-37B4-67BAAE68237E}"/>
              </a:ext>
            </a:extLst>
          </p:cNvPr>
          <p:cNvSpPr>
            <a:spLocks noGrp="1"/>
          </p:cNvSpPr>
          <p:nvPr>
            <p:ph idx="1"/>
          </p:nvPr>
        </p:nvSpPr>
        <p:spPr/>
        <p:txBody>
          <a:bodyPr>
            <a:noAutofit/>
          </a:bodyPr>
          <a:lstStyle/>
          <a:p>
            <a:pPr marL="0" indent="0">
              <a:buNone/>
            </a:pPr>
            <a:r>
              <a:rPr lang="en-GB" dirty="0"/>
              <a:t>The </a:t>
            </a:r>
            <a:r>
              <a:rPr lang="en-GB" b="1" dirty="0"/>
              <a:t>vanishing</a:t>
            </a:r>
            <a:r>
              <a:rPr lang="en-GB" dirty="0"/>
              <a:t> </a:t>
            </a:r>
            <a:r>
              <a:rPr lang="en-GB" b="1" dirty="0"/>
              <a:t>gradient</a:t>
            </a:r>
            <a:r>
              <a:rPr lang="en-GB" dirty="0"/>
              <a:t> </a:t>
            </a:r>
            <a:r>
              <a:rPr lang="en-GB" b="1" dirty="0"/>
              <a:t>problem</a:t>
            </a:r>
            <a:r>
              <a:rPr lang="en-GB" dirty="0"/>
              <a:t> can often occur in RNNs during training. </a:t>
            </a:r>
          </a:p>
          <a:p>
            <a:r>
              <a:rPr lang="en-GB" sz="2800" dirty="0"/>
              <a:t>This can be particularly problematic for RNNs, since they are designed to handle time series data that can exhibit long-term dependencies.</a:t>
            </a:r>
          </a:p>
          <a:p>
            <a:r>
              <a:rPr lang="en-GB" sz="2800" dirty="0"/>
              <a:t>The vanishing gradient problem can be particularly severe in RNNs that use activation functions that saturate, such as the hyperbolic tangent (tanh) or sigmoid functions.</a:t>
            </a:r>
          </a:p>
          <a:p>
            <a:r>
              <a:rPr lang="en-GB" sz="2800" dirty="0"/>
              <a:t>Indeed, when the activation function saturates, the gradients become very small, making it difficult to propagate information through the network.</a:t>
            </a:r>
          </a:p>
          <a:p>
            <a:endParaRPr lang="en-SG" sz="2800" dirty="0"/>
          </a:p>
        </p:txBody>
      </p:sp>
    </p:spTree>
    <p:extLst>
      <p:ext uri="{BB962C8B-B14F-4D97-AF65-F5344CB8AC3E}">
        <p14:creationId xmlns:p14="http://schemas.microsoft.com/office/powerpoint/2010/main" val="28281649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1F807-15B3-1CA0-5281-891982C5FA5A}"/>
              </a:ext>
            </a:extLst>
          </p:cNvPr>
          <p:cNvSpPr>
            <a:spLocks noGrp="1"/>
          </p:cNvSpPr>
          <p:nvPr>
            <p:ph type="title"/>
          </p:nvPr>
        </p:nvSpPr>
        <p:spPr/>
        <p:txBody>
          <a:bodyPr/>
          <a:lstStyle/>
          <a:p>
            <a:r>
              <a:rPr lang="en-GB" dirty="0"/>
              <a:t>The vanishing gradient problem (part 3)</a:t>
            </a:r>
            <a:endParaRPr lang="en-SG" dirty="0"/>
          </a:p>
        </p:txBody>
      </p:sp>
      <p:sp>
        <p:nvSpPr>
          <p:cNvPr id="3" name="Content Placeholder 2">
            <a:extLst>
              <a:ext uri="{FF2B5EF4-FFF2-40B4-BE49-F238E27FC236}">
                <a16:creationId xmlns:a16="http://schemas.microsoft.com/office/drawing/2014/main" id="{9D6CA1B3-62B2-D139-628B-900D0F1651D8}"/>
              </a:ext>
            </a:extLst>
          </p:cNvPr>
          <p:cNvSpPr>
            <a:spLocks noGrp="1"/>
          </p:cNvSpPr>
          <p:nvPr>
            <p:ph idx="1"/>
          </p:nvPr>
        </p:nvSpPr>
        <p:spPr>
          <a:xfrm>
            <a:off x="838200" y="1825624"/>
            <a:ext cx="10515600" cy="5032375"/>
          </a:xfrm>
        </p:spPr>
        <p:txBody>
          <a:bodyPr/>
          <a:lstStyle/>
          <a:p>
            <a:pPr marL="0" indent="0">
              <a:buNone/>
            </a:pPr>
            <a:r>
              <a:rPr lang="en-GB" b="1" dirty="0">
                <a:solidFill>
                  <a:srgbClr val="7030A0"/>
                </a:solidFill>
              </a:rPr>
              <a:t>How to address the vanishing gradient problem in RNNs?</a:t>
            </a:r>
          </a:p>
          <a:p>
            <a:r>
              <a:rPr lang="en-GB" dirty="0"/>
              <a:t>Several techniques have been developed to address the vanishing gradient problem in RNNs, such as using alternative activation functions, initializing the weights of the network carefully, etc.</a:t>
            </a:r>
          </a:p>
          <a:p>
            <a:r>
              <a:rPr lang="en-GB" b="1" dirty="0"/>
              <a:t>The “best” (?) solution, at the moment, suggests using specialized architectures like Long Short-Term Memory (LSTM) networks or Gated Recurrent Units (GRUs) to process memory.</a:t>
            </a:r>
          </a:p>
          <a:p>
            <a:r>
              <a:rPr lang="en-GB" dirty="0"/>
              <a:t>These are designed to better handle long-term dependencies, and can help to mitigate the vanishing gradient problem.</a:t>
            </a:r>
          </a:p>
          <a:p>
            <a:r>
              <a:rPr lang="en-GB" dirty="0"/>
              <a:t>This eventually improves the performance of RNNs on time series.</a:t>
            </a:r>
            <a:br>
              <a:rPr lang="en-GB" dirty="0"/>
            </a:br>
            <a:r>
              <a:rPr lang="en-GB" dirty="0"/>
              <a:t>(To be discussed on the </a:t>
            </a:r>
            <a:r>
              <a:rPr lang="en-GB"/>
              <a:t>next lecture).</a:t>
            </a:r>
            <a:endParaRPr lang="en-GB" dirty="0"/>
          </a:p>
          <a:p>
            <a:endParaRPr lang="en-SG" dirty="0"/>
          </a:p>
        </p:txBody>
      </p:sp>
    </p:spTree>
    <p:extLst>
      <p:ext uri="{BB962C8B-B14F-4D97-AF65-F5344CB8AC3E}">
        <p14:creationId xmlns:p14="http://schemas.microsoft.com/office/powerpoint/2010/main" val="1390758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2845</TotalTime>
  <Words>4369</Words>
  <Application>Microsoft Office PowerPoint</Application>
  <PresentationFormat>Widescreen</PresentationFormat>
  <Paragraphs>329</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Calibri Light</vt:lpstr>
      <vt:lpstr>Cambria Math</vt:lpstr>
      <vt:lpstr>Wingdings</vt:lpstr>
      <vt:lpstr>Office Theme</vt:lpstr>
      <vt:lpstr>50.039 Theory and Practice of Deep Learning W5-S1 Times Series Data and Recurrent Neural Networks</vt:lpstr>
      <vt:lpstr>About this week (Week 5)</vt:lpstr>
      <vt:lpstr>About this week (Week 5)</vt:lpstr>
      <vt:lpstr>Time series dataset</vt:lpstr>
      <vt:lpstr>Time series dataset</vt:lpstr>
      <vt:lpstr>A mock dataset</vt:lpstr>
      <vt:lpstr>Typical methods for analysing a time series</vt:lpstr>
      <vt:lpstr>Typical methods for analysing a time series</vt:lpstr>
      <vt:lpstr>A quick word about decomposition</vt:lpstr>
      <vt:lpstr>A quick word about decomposition</vt:lpstr>
      <vt:lpstr>A quick word about decomposition</vt:lpstr>
      <vt:lpstr>Typical methods for analysing a time series</vt:lpstr>
      <vt:lpstr>Typical methods for analysing a time series</vt:lpstr>
      <vt:lpstr>Problem with DL</vt:lpstr>
      <vt:lpstr>Problem with DL</vt:lpstr>
      <vt:lpstr>Using a simple DNN to predict</vt:lpstr>
      <vt:lpstr>Using a simple DNN to predict</vt:lpstr>
      <vt:lpstr>Using a simple DNN to predict</vt:lpstr>
      <vt:lpstr>A visual example for the need of “direction”</vt:lpstr>
      <vt:lpstr>A visual example for the need of “direction”</vt:lpstr>
      <vt:lpstr>A visual example for the need of “direction”</vt:lpstr>
      <vt:lpstr>A visual example for the need of “direction”</vt:lpstr>
      <vt:lpstr>Lookback size</vt:lpstr>
      <vt:lpstr>Using a simple DNN to predict</vt:lpstr>
      <vt:lpstr>Reworking the Dataset to include history</vt:lpstr>
      <vt:lpstr>Using a simple DNN to predict</vt:lpstr>
      <vt:lpstr>Using a simple DNN to predict</vt:lpstr>
      <vt:lpstr>What is a good history length then?</vt:lpstr>
      <vt:lpstr>The problem of varying length</vt:lpstr>
      <vt:lpstr>The problem of varying length</vt:lpstr>
      <vt:lpstr>The problem of varying length</vt:lpstr>
      <vt:lpstr>The problem of varying length</vt:lpstr>
      <vt:lpstr>The need for memory</vt:lpstr>
      <vt:lpstr>The need for memory</vt:lpstr>
      <vt:lpstr>Defining a Recurrent Neural Network (RNN)</vt:lpstr>
      <vt:lpstr>The need for memory</vt:lpstr>
      <vt:lpstr>PowerPoint Presentation</vt:lpstr>
      <vt:lpstr>Implementing a RNN</vt:lpstr>
      <vt:lpstr>Implementing a RNN</vt:lpstr>
      <vt:lpstr>It trains!</vt:lpstr>
      <vt:lpstr>And it is not too bad at predicting!</vt:lpstr>
      <vt:lpstr>Improving our RNN</vt:lpstr>
      <vt:lpstr>What is a good memory length then?</vt:lpstr>
      <vt:lpstr>What is a good memory length then?</vt:lpstr>
      <vt:lpstr>What is a good memory length then?</vt:lpstr>
      <vt:lpstr>Defining a Recurrent Neural Network (RNN)</vt:lpstr>
      <vt:lpstr>The need for memory</vt:lpstr>
      <vt:lpstr>Backpropagation through time</vt:lpstr>
      <vt:lpstr>Backpropagation through time</vt:lpstr>
      <vt:lpstr>The vanishing gradient problem (part 3)</vt:lpstr>
      <vt:lpstr>The vanishing gradient problem (part 3)</vt:lpstr>
      <vt:lpstr>The vanishing gradient problem (part 3)</vt:lpstr>
      <vt:lpstr>The vanishing gradient problem (part 3)</vt:lpstr>
      <vt:lpstr>The vanishing gradient problem (part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2026-01-06T04:47:39Z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