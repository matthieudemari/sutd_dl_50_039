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377" r:id="rId2"/>
    <p:sldId id="684" r:id="rId3"/>
    <p:sldId id="688" r:id="rId4"/>
    <p:sldId id="689" r:id="rId5"/>
    <p:sldId id="686" r:id="rId6"/>
    <p:sldId id="691" r:id="rId7"/>
    <p:sldId id="737" r:id="rId8"/>
    <p:sldId id="719" r:id="rId9"/>
    <p:sldId id="690" r:id="rId10"/>
    <p:sldId id="703" r:id="rId11"/>
    <p:sldId id="692" r:id="rId12"/>
    <p:sldId id="694" r:id="rId13"/>
    <p:sldId id="693" r:id="rId14"/>
    <p:sldId id="739" r:id="rId15"/>
    <p:sldId id="736" r:id="rId16"/>
    <p:sldId id="738" r:id="rId17"/>
    <p:sldId id="696" r:id="rId18"/>
    <p:sldId id="695" r:id="rId19"/>
    <p:sldId id="698" r:id="rId20"/>
    <p:sldId id="700" r:id="rId21"/>
    <p:sldId id="718" r:id="rId22"/>
    <p:sldId id="701" r:id="rId23"/>
    <p:sldId id="706" r:id="rId24"/>
    <p:sldId id="730" r:id="rId25"/>
    <p:sldId id="720" r:id="rId26"/>
    <p:sldId id="699" r:id="rId27"/>
    <p:sldId id="707" r:id="rId28"/>
    <p:sldId id="733" r:id="rId29"/>
    <p:sldId id="708" r:id="rId30"/>
    <p:sldId id="712" r:id="rId31"/>
    <p:sldId id="711" r:id="rId32"/>
    <p:sldId id="716" r:id="rId33"/>
    <p:sldId id="717" r:id="rId34"/>
    <p:sldId id="714" r:id="rId35"/>
    <p:sldId id="724" r:id="rId36"/>
    <p:sldId id="734" r:id="rId37"/>
    <p:sldId id="735" r:id="rId38"/>
    <p:sldId id="731" r:id="rId39"/>
    <p:sldId id="732"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 id="684"/>
          </p14:sldIdLst>
        </p14:section>
        <p14:section name="What's next (P1)" id="{1371AC3E-8AB5-4BF6-998A-D93291E7A762}">
          <p14:sldIdLst>
            <p14:sldId id="688"/>
            <p14:sldId id="689"/>
            <p14:sldId id="686"/>
            <p14:sldId id="691"/>
            <p14:sldId id="737"/>
            <p14:sldId id="719"/>
            <p14:sldId id="690"/>
            <p14:sldId id="703"/>
            <p14:sldId id="692"/>
            <p14:sldId id="694"/>
            <p14:sldId id="693"/>
            <p14:sldId id="739"/>
            <p14:sldId id="736"/>
          </p14:sldIdLst>
        </p14:section>
        <p14:section name="What's next (P2)" id="{101D9555-F51D-4414-BFF8-A4472DBD2762}">
          <p14:sldIdLst>
            <p14:sldId id="738"/>
            <p14:sldId id="696"/>
            <p14:sldId id="695"/>
            <p14:sldId id="698"/>
            <p14:sldId id="700"/>
            <p14:sldId id="718"/>
            <p14:sldId id="701"/>
            <p14:sldId id="706"/>
            <p14:sldId id="730"/>
            <p14:sldId id="720"/>
          </p14:sldIdLst>
        </p14:section>
        <p14:section name="Conclusion" id="{6B8B9247-B796-41CD-A922-8A044C5DF655}">
          <p14:sldIdLst>
            <p14:sldId id="699"/>
            <p14:sldId id="707"/>
          </p14:sldIdLst>
        </p14:section>
        <p14:section name="More big names to follow" id="{14C6C97A-1857-4857-9205-F25A8DC34161}">
          <p14:sldIdLst>
            <p14:sldId id="733"/>
            <p14:sldId id="708"/>
            <p14:sldId id="712"/>
            <p14:sldId id="711"/>
            <p14:sldId id="716"/>
            <p14:sldId id="717"/>
            <p14:sldId id="714"/>
            <p14:sldId id="724"/>
          </p14:sldIdLst>
        </p14:section>
        <p14:section name="Additional dump of reading" id="{5CA89A00-4C89-45C6-94C2-8BD3147BEA00}">
          <p14:sldIdLst>
            <p14:sldId id="734"/>
            <p14:sldId id="735"/>
          </p14:sldIdLst>
        </p14:section>
        <p14:section name="Cracking the Deep Learning interview" id="{51F28123-1794-4BC9-8448-7272DFC865EB}">
          <p14:sldIdLst>
            <p14:sldId id="731"/>
            <p14:sldId id="73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194E22-7F9D-4EC0-A793-B6DD34B655BB}" v="3" dt="2026-01-06T09:40:33.9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98" d="100"/>
          <a:sy n="98" d="100"/>
        </p:scale>
        <p:origin x="103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addSld delSld modSld modSection">
      <pc:chgData name="Matthieu De Mari" userId="dfb708c9-d8dc-439f-9a3b-c772bf4a311c" providerId="ADAL" clId="{81E9B007-0C2C-493E-9B93-55A62C9C1F12}" dt="2026-01-06T09:42:20.212" v="1475" actId="20577"/>
      <pc:docMkLst>
        <pc:docMk/>
      </pc:docMkLst>
      <pc:sldChg chg="modSp mod">
        <pc:chgData name="Matthieu De Mari" userId="dfb708c9-d8dc-439f-9a3b-c772bf4a311c" providerId="ADAL" clId="{81E9B007-0C2C-493E-9B93-55A62C9C1F12}" dt="2025-12-19T23:05:19.542" v="463" actId="20577"/>
        <pc:sldMkLst>
          <pc:docMk/>
          <pc:sldMk cId="2853804024" sldId="686"/>
        </pc:sldMkLst>
        <pc:spChg chg="mod">
          <ac:chgData name="Matthieu De Mari" userId="dfb708c9-d8dc-439f-9a3b-c772bf4a311c" providerId="ADAL" clId="{81E9B007-0C2C-493E-9B93-55A62C9C1F12}" dt="2025-12-19T23:05:19.542" v="463" actId="20577"/>
          <ac:spMkLst>
            <pc:docMk/>
            <pc:sldMk cId="2853804024" sldId="686"/>
            <ac:spMk id="3" creationId="{9D882609-53DF-4B06-91C6-50E0570C62D5}"/>
          </ac:spMkLst>
        </pc:spChg>
      </pc:sldChg>
      <pc:sldChg chg="modSp mod">
        <pc:chgData name="Matthieu De Mari" userId="dfb708c9-d8dc-439f-9a3b-c772bf4a311c" providerId="ADAL" clId="{81E9B007-0C2C-493E-9B93-55A62C9C1F12}" dt="2025-12-19T23:02:01.780" v="294" actId="20577"/>
        <pc:sldMkLst>
          <pc:docMk/>
          <pc:sldMk cId="2210072154" sldId="691"/>
        </pc:sldMkLst>
        <pc:spChg chg="mod">
          <ac:chgData name="Matthieu De Mari" userId="dfb708c9-d8dc-439f-9a3b-c772bf4a311c" providerId="ADAL" clId="{81E9B007-0C2C-493E-9B93-55A62C9C1F12}" dt="2025-12-19T23:02:01.780" v="294" actId="20577"/>
          <ac:spMkLst>
            <pc:docMk/>
            <pc:sldMk cId="2210072154" sldId="691"/>
            <ac:spMk id="5" creationId="{8D68AA04-CE99-4E3D-A743-B4FE0611BB3C}"/>
          </ac:spMkLst>
        </pc:spChg>
      </pc:sldChg>
      <pc:sldChg chg="modSp mod">
        <pc:chgData name="Matthieu De Mari" userId="dfb708c9-d8dc-439f-9a3b-c772bf4a311c" providerId="ADAL" clId="{81E9B007-0C2C-493E-9B93-55A62C9C1F12}" dt="2026-01-06T09:42:20.212" v="1475" actId="20577"/>
        <pc:sldMkLst>
          <pc:docMk/>
          <pc:sldMk cId="3189324614" sldId="692"/>
        </pc:sldMkLst>
        <pc:spChg chg="mod">
          <ac:chgData name="Matthieu De Mari" userId="dfb708c9-d8dc-439f-9a3b-c772bf4a311c" providerId="ADAL" clId="{81E9B007-0C2C-493E-9B93-55A62C9C1F12}" dt="2026-01-06T09:42:20.212" v="1475" actId="20577"/>
          <ac:spMkLst>
            <pc:docMk/>
            <pc:sldMk cId="3189324614" sldId="692"/>
            <ac:spMk id="5" creationId="{8D68AA04-CE99-4E3D-A743-B4FE0611BB3C}"/>
          </ac:spMkLst>
        </pc:spChg>
      </pc:sldChg>
      <pc:sldChg chg="modSp mod">
        <pc:chgData name="Matthieu De Mari" userId="dfb708c9-d8dc-439f-9a3b-c772bf4a311c" providerId="ADAL" clId="{81E9B007-0C2C-493E-9B93-55A62C9C1F12}" dt="2025-12-19T23:07:02.159" v="657" actId="20577"/>
        <pc:sldMkLst>
          <pc:docMk/>
          <pc:sldMk cId="1227707544" sldId="693"/>
        </pc:sldMkLst>
        <pc:spChg chg="mod">
          <ac:chgData name="Matthieu De Mari" userId="dfb708c9-d8dc-439f-9a3b-c772bf4a311c" providerId="ADAL" clId="{81E9B007-0C2C-493E-9B93-55A62C9C1F12}" dt="2025-12-19T23:07:02.159" v="657" actId="20577"/>
          <ac:spMkLst>
            <pc:docMk/>
            <pc:sldMk cId="1227707544" sldId="693"/>
            <ac:spMk id="5" creationId="{8D68AA04-CE99-4E3D-A743-B4FE0611BB3C}"/>
          </ac:spMkLst>
        </pc:spChg>
      </pc:sldChg>
      <pc:sldChg chg="modSp mod">
        <pc:chgData name="Matthieu De Mari" userId="dfb708c9-d8dc-439f-9a3b-c772bf4a311c" providerId="ADAL" clId="{81E9B007-0C2C-493E-9B93-55A62C9C1F12}" dt="2025-12-19T23:06:13.749" v="492" actId="20577"/>
        <pc:sldMkLst>
          <pc:docMk/>
          <pc:sldMk cId="3161243228" sldId="694"/>
        </pc:sldMkLst>
        <pc:spChg chg="mod">
          <ac:chgData name="Matthieu De Mari" userId="dfb708c9-d8dc-439f-9a3b-c772bf4a311c" providerId="ADAL" clId="{81E9B007-0C2C-493E-9B93-55A62C9C1F12}" dt="2025-12-19T23:06:13.749" v="492" actId="20577"/>
          <ac:spMkLst>
            <pc:docMk/>
            <pc:sldMk cId="3161243228" sldId="694"/>
            <ac:spMk id="5" creationId="{8D68AA04-CE99-4E3D-A743-B4FE0611BB3C}"/>
          </ac:spMkLst>
        </pc:spChg>
      </pc:sldChg>
      <pc:sldChg chg="addSp modSp mod">
        <pc:chgData name="Matthieu De Mari" userId="dfb708c9-d8dc-439f-9a3b-c772bf4a311c" providerId="ADAL" clId="{81E9B007-0C2C-493E-9B93-55A62C9C1F12}" dt="2025-12-19T23:13:38.901" v="1118" actId="20577"/>
        <pc:sldMkLst>
          <pc:docMk/>
          <pc:sldMk cId="463541510" sldId="718"/>
        </pc:sldMkLst>
        <pc:spChg chg="mod">
          <ac:chgData name="Matthieu De Mari" userId="dfb708c9-d8dc-439f-9a3b-c772bf4a311c" providerId="ADAL" clId="{81E9B007-0C2C-493E-9B93-55A62C9C1F12}" dt="2025-12-19T23:13:38.901" v="1118" actId="20577"/>
          <ac:spMkLst>
            <pc:docMk/>
            <pc:sldMk cId="463541510" sldId="718"/>
            <ac:spMk id="3" creationId="{9D882609-53DF-4B06-91C6-50E0570C62D5}"/>
          </ac:spMkLst>
        </pc:spChg>
        <pc:picChg chg="mod">
          <ac:chgData name="Matthieu De Mari" userId="dfb708c9-d8dc-439f-9a3b-c772bf4a311c" providerId="ADAL" clId="{81E9B007-0C2C-493E-9B93-55A62C9C1F12}" dt="2025-12-19T23:13:26.180" v="1095" actId="1076"/>
          <ac:picMkLst>
            <pc:docMk/>
            <pc:sldMk cId="463541510" sldId="718"/>
            <ac:picMk id="6" creationId="{1FB91D18-8AD7-C28C-DAB7-3CCFFB92C91A}"/>
          </ac:picMkLst>
        </pc:picChg>
      </pc:sldChg>
      <pc:sldChg chg="modSp mod">
        <pc:chgData name="Matthieu De Mari" userId="dfb708c9-d8dc-439f-9a3b-c772bf4a311c" providerId="ADAL" clId="{81E9B007-0C2C-493E-9B93-55A62C9C1F12}" dt="2025-12-19T23:04:53.962" v="430" actId="20577"/>
        <pc:sldMkLst>
          <pc:docMk/>
          <pc:sldMk cId="3328516863" sldId="719"/>
        </pc:sldMkLst>
        <pc:spChg chg="mod">
          <ac:chgData name="Matthieu De Mari" userId="dfb708c9-d8dc-439f-9a3b-c772bf4a311c" providerId="ADAL" clId="{81E9B007-0C2C-493E-9B93-55A62C9C1F12}" dt="2025-12-19T23:04:53.962" v="430" actId="20577"/>
          <ac:spMkLst>
            <pc:docMk/>
            <pc:sldMk cId="3328516863" sldId="719"/>
            <ac:spMk id="5" creationId="{8D68AA04-CE99-4E3D-A743-B4FE0611BB3C}"/>
          </ac:spMkLst>
        </pc:spChg>
      </pc:sldChg>
      <pc:sldChg chg="modSp mod">
        <pc:chgData name="Matthieu De Mari" userId="dfb708c9-d8dc-439f-9a3b-c772bf4a311c" providerId="ADAL" clId="{81E9B007-0C2C-493E-9B93-55A62C9C1F12}" dt="2025-12-19T23:16:59.890" v="1193" actId="27636"/>
        <pc:sldMkLst>
          <pc:docMk/>
          <pc:sldMk cId="885132000" sldId="732"/>
        </pc:sldMkLst>
        <pc:spChg chg="mod">
          <ac:chgData name="Matthieu De Mari" userId="dfb708c9-d8dc-439f-9a3b-c772bf4a311c" providerId="ADAL" clId="{81E9B007-0C2C-493E-9B93-55A62C9C1F12}" dt="2025-12-19T23:16:59.890" v="1193" actId="27636"/>
          <ac:spMkLst>
            <pc:docMk/>
            <pc:sldMk cId="885132000" sldId="732"/>
            <ac:spMk id="3" creationId="{42E94496-CCBC-467D-504B-C943DBDCBD88}"/>
          </ac:spMkLst>
        </pc:spChg>
      </pc:sldChg>
      <pc:sldChg chg="modSp mod">
        <pc:chgData name="Matthieu De Mari" userId="dfb708c9-d8dc-439f-9a3b-c772bf4a311c" providerId="ADAL" clId="{81E9B007-0C2C-493E-9B93-55A62C9C1F12}" dt="2025-12-19T23:07:24.362" v="682" actId="20577"/>
        <pc:sldMkLst>
          <pc:docMk/>
          <pc:sldMk cId="1969962643" sldId="736"/>
        </pc:sldMkLst>
        <pc:spChg chg="mod">
          <ac:chgData name="Matthieu De Mari" userId="dfb708c9-d8dc-439f-9a3b-c772bf4a311c" providerId="ADAL" clId="{81E9B007-0C2C-493E-9B93-55A62C9C1F12}" dt="2025-12-19T23:07:24.362" v="682" actId="20577"/>
          <ac:spMkLst>
            <pc:docMk/>
            <pc:sldMk cId="1969962643" sldId="736"/>
            <ac:spMk id="3" creationId="{889F2BE8-250A-7BC7-7A53-7A7703885B52}"/>
          </ac:spMkLst>
        </pc:spChg>
      </pc:sldChg>
      <pc:sldChg chg="modSp add mod">
        <pc:chgData name="Matthieu De Mari" userId="dfb708c9-d8dc-439f-9a3b-c772bf4a311c" providerId="ADAL" clId="{81E9B007-0C2C-493E-9B93-55A62C9C1F12}" dt="2025-12-19T23:15:06.431" v="1162" actId="20577"/>
        <pc:sldMkLst>
          <pc:docMk/>
          <pc:sldMk cId="2236371816" sldId="737"/>
        </pc:sldMkLst>
        <pc:spChg chg="mod">
          <ac:chgData name="Matthieu De Mari" userId="dfb708c9-d8dc-439f-9a3b-c772bf4a311c" providerId="ADAL" clId="{81E9B007-0C2C-493E-9B93-55A62C9C1F12}" dt="2025-12-19T23:15:06.431" v="1162" actId="20577"/>
          <ac:spMkLst>
            <pc:docMk/>
            <pc:sldMk cId="2236371816" sldId="737"/>
            <ac:spMk id="5" creationId="{A04ECA78-9D2B-048E-5B01-ADEEE882C350}"/>
          </ac:spMkLst>
        </pc:spChg>
      </pc:sldChg>
      <pc:sldChg chg="modSp new mod">
        <pc:chgData name="Matthieu De Mari" userId="dfb708c9-d8dc-439f-9a3b-c772bf4a311c" providerId="ADAL" clId="{81E9B007-0C2C-493E-9B93-55A62C9C1F12}" dt="2025-12-19T23:16:27.393" v="1184" actId="20577"/>
        <pc:sldMkLst>
          <pc:docMk/>
          <pc:sldMk cId="2461548468" sldId="738"/>
        </pc:sldMkLst>
        <pc:spChg chg="mod">
          <ac:chgData name="Matthieu De Mari" userId="dfb708c9-d8dc-439f-9a3b-c772bf4a311c" providerId="ADAL" clId="{81E9B007-0C2C-493E-9B93-55A62C9C1F12}" dt="2025-12-19T23:07:55.495" v="684"/>
          <ac:spMkLst>
            <pc:docMk/>
            <pc:sldMk cId="2461548468" sldId="738"/>
            <ac:spMk id="2" creationId="{687C80F4-B5DB-2E41-9347-59B866C7CDA5}"/>
          </ac:spMkLst>
        </pc:spChg>
        <pc:spChg chg="mod">
          <ac:chgData name="Matthieu De Mari" userId="dfb708c9-d8dc-439f-9a3b-c772bf4a311c" providerId="ADAL" clId="{81E9B007-0C2C-493E-9B93-55A62C9C1F12}" dt="2025-12-19T23:16:27.393" v="1184" actId="20577"/>
          <ac:spMkLst>
            <pc:docMk/>
            <pc:sldMk cId="2461548468" sldId="738"/>
            <ac:spMk id="3" creationId="{B4184860-3C75-A925-181F-0027B67922F8}"/>
          </ac:spMkLst>
        </pc:spChg>
      </pc:sldChg>
      <pc:sldChg chg="modSp add mod">
        <pc:chgData name="Matthieu De Mari" userId="dfb708c9-d8dc-439f-9a3b-c772bf4a311c" providerId="ADAL" clId="{81E9B007-0C2C-493E-9B93-55A62C9C1F12}" dt="2026-01-06T09:40:29.521" v="1224" actId="12"/>
        <pc:sldMkLst>
          <pc:docMk/>
          <pc:sldMk cId="3355195407" sldId="739"/>
        </pc:sldMkLst>
        <pc:spChg chg="mod">
          <ac:chgData name="Matthieu De Mari" userId="dfb708c9-d8dc-439f-9a3b-c772bf4a311c" providerId="ADAL" clId="{81E9B007-0C2C-493E-9B93-55A62C9C1F12}" dt="2026-01-06T09:40:29.521" v="1224" actId="12"/>
          <ac:spMkLst>
            <pc:docMk/>
            <pc:sldMk cId="3355195407" sldId="739"/>
            <ac:spMk id="5" creationId="{19A6D12E-A156-E8EC-5641-72FA3C697DE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06/01/2026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06/01/2026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598A102A-AC61-38F1-AC51-F28E2C878766}"/>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FD860DE2-B3E6-2E49-2552-F9BECF930A67}"/>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machinelearningmastery.com/meta-learning-in-machine-learning/" TargetMode="External"/><Relationship Id="rId2" Type="http://schemas.openxmlformats.org/officeDocument/2006/relationships/hyperlink" Target="https://arxiv.org/abs/2212.13345"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istd.sutd.edu.sg/undergraduate/courses/50035-computer-visio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istd.sutd.edu.sg/undergraduate/courses/50040-natural-language-processing" TargetMode="External"/><Relationship Id="rId2" Type="http://schemas.openxmlformats.org/officeDocument/2006/relationships/hyperlink" Target="https://www.comp.nus.edu.sg/~reza/courses/cs6231/"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linkedin.com/posts/hoang-van-hao_stanford-university-just-released-the-full-activity-7385821073260544000-z3MH/?utm_source=share&amp;utm_medium=member_android&amp;rcm=ACoAAAbntaYBN_8Rx2Ty30AiacJ27hkp-JDXY-8" TargetMode="External"/><Relationship Id="rId2" Type="http://schemas.openxmlformats.org/officeDocument/2006/relationships/hyperlink" Target="https://www.linkedin.com/posts/amanc_artificialintelligence-machinelearning-activity-7106125333799571457--dH5/" TargetMode="External"/><Relationship Id="rId1" Type="http://schemas.openxmlformats.org/officeDocument/2006/relationships/slideLayout" Target="../slideLayouts/slideLayout2.xml"/><Relationship Id="rId5" Type="http://schemas.openxmlformats.org/officeDocument/2006/relationships/hyperlink" Target="https://www.linkedin.com/posts/eric-vyacheslav-156273169_just-came-across-the-most-comprehensive-llm-activity-7146153808933400576-laP9/" TargetMode="External"/><Relationship Id="rId4" Type="http://schemas.openxmlformats.org/officeDocument/2006/relationships/hyperlink" Target="https://www.linkedin.com/posts/stasbel_if-youre-serious-about-growing-in-aiml-activity-7371553237038063616-z48T/" TargetMode="External"/></Relationships>
</file>

<file path=ppt/slides/_rels/slide8.xml.rels><?xml version="1.0" encoding="UTF-8" standalone="yes"?>
<Relationships xmlns="http://schemas.openxmlformats.org/package/2006/relationships"><Relationship Id="rId2" Type="http://schemas.openxmlformats.org/officeDocument/2006/relationships/hyperlink" Target="https://www.comp.nus.edu.sg/~reza/courses/cs6231/"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cs.ox.ac.uk/teaching/courses/2020-2021/advml/" TargetMode="External"/><Relationship Id="rId2" Type="http://schemas.openxmlformats.org/officeDocument/2006/relationships/hyperlink" Target="https://ocw.mit.edu/courses/mathematics/18-217-graph-theory-and-additive-combinatorics-fall-2019/" TargetMode="External"/><Relationship Id="rId1" Type="http://schemas.openxmlformats.org/officeDocument/2006/relationships/slideLayout" Target="../slideLayouts/slideLayout2.xml"/><Relationship Id="rId4" Type="http://schemas.openxmlformats.org/officeDocument/2006/relationships/hyperlink" Target="https://www.comp.nus.edu.sg/~reza/courses/cs6231/"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comp.nus.edu.sg/~reza/courses/cs6231/" TargetMode="External"/><Relationship Id="rId2" Type="http://schemas.openxmlformats.org/officeDocument/2006/relationships/hyperlink" Target="https://machinelearningmastery.com/meta-learning-in-machine-learnin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comp.nus.edu.sg/~reza/courses/cs6231/" TargetMode="External"/><Relationship Id="rId2" Type="http://schemas.openxmlformats.org/officeDocument/2006/relationships/hyperlink" Target="https://cs236g.stanford.edu/"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davidsilver.uk/teaching/" TargetMode="External"/><Relationship Id="rId2" Type="http://schemas.openxmlformats.org/officeDocument/2006/relationships/hyperlink" Target="https://deepmind.com/learning-resources/-introduction-reinforcement-learning-david-silver" TargetMode="External"/><Relationship Id="rId1" Type="http://schemas.openxmlformats.org/officeDocument/2006/relationships/slideLayout" Target="../slideLayouts/slideLayout2.xml"/><Relationship Id="rId4" Type="http://schemas.openxmlformats.org/officeDocument/2006/relationships/hyperlink" Target="https://www.comp.nus.edu.sg/~reza/courses/cs6231/" TargetMode="External"/></Relationships>
</file>

<file path=ppt/slides/_rels/slide13.xml.rels><?xml version="1.0" encoding="UTF-8" standalone="yes"?>
<Relationships xmlns="http://schemas.openxmlformats.org/package/2006/relationships"><Relationship Id="rId2" Type="http://schemas.openxmlformats.org/officeDocument/2006/relationships/hyperlink" Target="https://www.comp.nus.edu.sg/~reza/courses/cs6231/"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comp.nus.edu.sg/~reza/courses/cs6231/" TargetMode="External"/><Relationship Id="rId2" Type="http://schemas.openxmlformats.org/officeDocument/2006/relationships/hyperlink" Target="https://www.fast.ai/posts/part2-2023.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sutd.edu.sg/programme-listing/master-of-science-in-design-and-artificial-intelligence-for-enterprise/"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linkedin.com/posts/abdullah-al-noman-khu_andrew-ng-is-launching-a-new-deep-learning-activity-7387850439851094016-h6oi/?utm_source=share&amp;utm_medium=member_android&amp;rcm=ACoAAAbntaYBN_8Rx2Ty30AiacJ27hkp-JDXY-8" TargetMode="External"/><Relationship Id="rId2" Type="http://schemas.openxmlformats.org/officeDocument/2006/relationships/hyperlink" Target="https://www.kaggle.com/learn-guide/5-day-agent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coursera.org/learn/image-processing?ranMID=40328&amp;ranEAID=*GqSdLGGurk&amp;ranSiteID=.GqSdLGGurk-GV4LxEnPMuMd1.8y4AurRA&amp;siteID=.GqSdLGGurk-GV4LxEnPMuMd1.8y4AurRA&amp;utm_content=10&amp;utm_medium=partners&amp;utm_source=linkshare&amp;utm_campaign=*GqSdLGGurk"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cs.ox.ac.uk/teaching/courses/2020-2021/advml/" TargetMode="External"/><Relationship Id="rId2" Type="http://schemas.openxmlformats.org/officeDocument/2006/relationships/hyperlink" Target="https://medium.com/@ODSC/introduction-to-bayesian-deep-learning-f7568f524c90"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online.stanford.edu/courses/soe-ycs0002-game-theory" TargetMode="External"/><Relationship Id="rId2" Type="http://schemas.openxmlformats.org/officeDocument/2006/relationships/hyperlink" Target="https://oyc.yale.edu/economics/econ-159"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developer.nvidia.com/cuda-education-training" TargetMode="Externa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sutdapac-my.sharepoint.com/:f:/g/personal/matthieu_demari_sutd_edu_sg/IgCvSsdM8TuzQ4B1SBKLRhIeAStaTQq05B32_KOp_jMSXuw?e=t9NBog" TargetMode="Externa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hyperlink" Target="https://pennylane.ai/qml/whatisqml.html" TargetMode="External"/><Relationship Id="rId2" Type="http://schemas.openxmlformats.org/officeDocument/2006/relationships/hyperlink" Target="https://towardsdatascience.com/dont-ask-what-quantum-computing-can-do-for-machine-learning-cc44feeb51e8"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statlearning.com/"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linkedin.com/posts/amanc_artificialintelligence-machinelearning-ai-activity-7052863983908753408-OPfM/" TargetMode="External"/><Relationship Id="rId2" Type="http://schemas.openxmlformats.org/officeDocument/2006/relationships/hyperlink" Target="https://www.linkedin.com/posts/endritrestelica_ai-artificialintelliegence-activity-7069768595978776576-Cvsk/" TargetMode="External"/><Relationship Id="rId1" Type="http://schemas.openxmlformats.org/officeDocument/2006/relationships/slideLayout" Target="../slideLayouts/slideLayout2.xml"/><Relationship Id="rId4" Type="http://schemas.openxmlformats.org/officeDocument/2006/relationships/hyperlink" Target="https://github.com/Developer-Y/cs-video-courses"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hyperlink" Target="https://openai.com/blog/planning-for-agi-and-beyond" TargetMode="Externa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hyperlink" Target="https://scholar.google.co.uk/citations?user=DaFHynwAAAAJ&amp;hl=en" TargetMode="External"/><Relationship Id="rId2" Type="http://schemas.openxmlformats.org/officeDocument/2006/relationships/hyperlink" Target="https://scholar.google.com/citations?hl=en&amp;user=dYpPMQEAAAAJ" TargetMode="External"/><Relationship Id="rId1" Type="http://schemas.openxmlformats.org/officeDocument/2006/relationships/slideLayout" Target="../slideLayouts/slideLayout2.xml"/><Relationship Id="rId5" Type="http://schemas.openxmlformats.org/officeDocument/2006/relationships/hyperlink" Target="https://scholar.google.ca/citations?user=m1qAiOUAAAAJ&amp;hl=en" TargetMode="External"/><Relationship Id="rId4" Type="http://schemas.openxmlformats.org/officeDocument/2006/relationships/hyperlink" Target="https://scholar.google.com/citations?user=yxUduqMAAAAJ&amp;hl=fr"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aima.cs.berkeley.edu/" TargetMode="External"/><Relationship Id="rId2" Type="http://schemas.openxmlformats.org/officeDocument/2006/relationships/hyperlink" Target="https://scholar.google.com/citations?user=Ol0vcWgAAAAJ&amp;hl=en" TargetMode="External"/><Relationship Id="rId1" Type="http://schemas.openxmlformats.org/officeDocument/2006/relationships/slideLayout" Target="../slideLayouts/slideLayout2.xml"/><Relationship Id="rId5" Type="http://schemas.openxmlformats.org/officeDocument/2006/relationships/hyperlink" Target="https://scholar.google.com/citations?user=VfYhf2wAAAAJ&amp;hl=en" TargetMode="External"/><Relationship Id="rId4" Type="http://schemas.openxmlformats.org/officeDocument/2006/relationships/hyperlink" Target="https://scholar.google.com/citations?user=2oy3OXYAAAAJ&amp;hl=en"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hastie.su.domains/ElemStatLearn/download.html" TargetMode="External"/><Relationship Id="rId2" Type="http://schemas.openxmlformats.org/officeDocument/2006/relationships/hyperlink" Target="https://scholar.google.ca/citations?user=tQVe-fAAAAAJ&amp;hl=en" TargetMode="External"/><Relationship Id="rId1" Type="http://schemas.openxmlformats.org/officeDocument/2006/relationships/slideLayout" Target="../slideLayouts/slideLayout2.xml"/><Relationship Id="rId5" Type="http://schemas.openxmlformats.org/officeDocument/2006/relationships/hyperlink" Target="https://scholar.google.com/citations?user=vtegaJgAAAAJ&amp;hl=fr" TargetMode="External"/><Relationship Id="rId4" Type="http://schemas.openxmlformats.org/officeDocument/2006/relationships/hyperlink" Target="https://scholar.google.ca/citations?user=ZpG_cJwAAAAJ&amp;hl=en"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scholar.google.com/citations?user=l8WuQJgAAAAJ&amp;hl=fr" TargetMode="External"/><Relationship Id="rId2" Type="http://schemas.openxmlformats.org/officeDocument/2006/relationships/hyperlink" Target="https://scholar.google.com/citations?user=E-vg2zQAAAAJ&amp;hl=fr" TargetMode="External"/><Relationship Id="rId1" Type="http://schemas.openxmlformats.org/officeDocument/2006/relationships/slideLayout" Target="../slideLayouts/slideLayout2.xml"/><Relationship Id="rId5" Type="http://schemas.openxmlformats.org/officeDocument/2006/relationships/hyperlink" Target="https://scholar.google.com/citations?user=vtwH6GkAAAAJ&amp;hl=en" TargetMode="External"/><Relationship Id="rId4" Type="http://schemas.openxmlformats.org/officeDocument/2006/relationships/hyperlink" Target="https://scholar.google.com/citations?user=rDfyQnIAAAAJ&amp;hl=fr"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scholar.google.com/citations?user=oY9R5YQAAAAJ&amp;hl=fr" TargetMode="External"/><Relationship Id="rId2" Type="http://schemas.openxmlformats.org/officeDocument/2006/relationships/hyperlink" Target="https://scholar.google.com/citations?user=g-_ZXGsAAAAJ&amp;hl=fr" TargetMode="External"/><Relationship Id="rId1" Type="http://schemas.openxmlformats.org/officeDocument/2006/relationships/slideLayout" Target="../slideLayouts/slideLayout2.xml"/><Relationship Id="rId5" Type="http://schemas.openxmlformats.org/officeDocument/2006/relationships/hyperlink" Target="https://scholar.google.com/citations?user=5Iqe53IAAAAJ&amp;hl=en" TargetMode="External"/><Relationship Id="rId4" Type="http://schemas.openxmlformats.org/officeDocument/2006/relationships/hyperlink" Target="https://scholar.google.com/citations?user=7K34d7cAAAAJ&amp;hl=fr"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scholar.google.com/citations?user=ZWdEJ54AAAAJ&amp;hl=en" TargetMode="External"/><Relationship Id="rId2" Type="http://schemas.openxmlformats.org/officeDocument/2006/relationships/hyperlink" Target="https://scholar.google.com/citations?user=mG4imMEAAAAJ&amp;hl=en" TargetMode="External"/><Relationship Id="rId1" Type="http://schemas.openxmlformats.org/officeDocument/2006/relationships/slideLayout" Target="../slideLayouts/slideLayout2.xml"/><Relationship Id="rId5" Type="http://schemas.openxmlformats.org/officeDocument/2006/relationships/hyperlink" Target="https://scholar.google.com/citations?user=BDsAYUsAAAAJ&amp;hl=en" TargetMode="External"/><Relationship Id="rId4" Type="http://schemas.openxmlformats.org/officeDocument/2006/relationships/hyperlink" Target="https://dblp.org/pid/69/3008.html"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www.technologyreview.com/newsletter-preferences/" TargetMode="External"/><Relationship Id="rId2" Type="http://schemas.openxmlformats.org/officeDocument/2006/relationships/hyperlink" Target="https://www.deeplearning.ai/the-batch/" TargetMode="External"/><Relationship Id="rId1" Type="http://schemas.openxmlformats.org/officeDocument/2006/relationships/slideLayout" Target="../slideLayouts/slideLayout2.xml"/><Relationship Id="rId6" Type="http://schemas.openxmlformats.org/officeDocument/2006/relationships/hyperlink" Target="https://alphasignal.ai/" TargetMode="External"/><Relationship Id="rId5" Type="http://schemas.openxmlformats.org/officeDocument/2006/relationships/hyperlink" Target="https://www.ruder.io/nlp-news/" TargetMode="External"/><Relationship Id="rId4" Type="http://schemas.openxmlformats.org/officeDocument/2006/relationships/hyperlink" Target="https://tldr.tech/"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www.linkedin.com/posts/amanc_artificialintelligence-machinelearning-activity-7106125333799571457--dH5" TargetMode="External"/><Relationship Id="rId2" Type="http://schemas.openxmlformats.org/officeDocument/2006/relationships/hyperlink" Target="https://www.youtube.com/watch?v=-u6Ektrvk2U" TargetMode="External"/><Relationship Id="rId1" Type="http://schemas.openxmlformats.org/officeDocument/2006/relationships/slideLayout" Target="../slideLayouts/slideLayout2.xml"/><Relationship Id="rId6" Type="http://schemas.openxmlformats.org/officeDocument/2006/relationships/hyperlink" Target="https://www.linkedin.com/posts/eric-vyacheslav-156273169_just-came-across-the-most-comprehensive-llm-activity-7146153808933400576-laP9/" TargetMode="External"/><Relationship Id="rId5" Type="http://schemas.openxmlformats.org/officeDocument/2006/relationships/hyperlink" Target="https://www.linkedin.com/posts/mehdi-zareb_a-visual-into-to-deep-learning-activity-7139288250514317312-mpGG/" TargetMode="External"/><Relationship Id="rId4" Type="http://schemas.openxmlformats.org/officeDocument/2006/relationships/hyperlink" Target="https://x.com/SimonPrinceAI/status/1712801009741815965?t=FDL7a74we3RzC7FTFnMXOQ&amp;s=19"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www.linkedin.com/posts/imarpit_ai-generatieveai-programming-activity-7240571936735399936-Epo1/" TargetMode="External"/><Relationship Id="rId2" Type="http://schemas.openxmlformats.org/officeDocument/2006/relationships/hyperlink" Target="https://x.com/matdmiller/status/1743856339493757262?t=5JF_O0GEkDyAZNH4XGNOAw&amp;s=19" TargetMode="External"/><Relationship Id="rId1" Type="http://schemas.openxmlformats.org/officeDocument/2006/relationships/slideLayout" Target="../slideLayouts/slideLayout2.xml"/><Relationship Id="rId4" Type="http://schemas.openxmlformats.org/officeDocument/2006/relationships/hyperlink" Target="https://www.linkedin.com/posts/fethifilali_state-of-ai-report-ugcPost-7251272468336693249-H8FS/"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www.mlexpert.io/" TargetMode="External"/><Relationship Id="rId2" Type="http://schemas.openxmlformats.org/officeDocument/2006/relationships/hyperlink" Target="https://www.algoexpert.io/machine-learning/product"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linkedin.com/posts/saibysani18_5-best-github-repos-to-help-you-pass-data-activity-7337825845694103552-i_9I/?utm_source=share&amp;utm_medium=member_desktop&amp;rcm=ACoAAAbntaYBN_8Rx2Ty30AiacJ27hkp-JDXY-8" TargetMode="External"/><Relationship Id="rId2" Type="http://schemas.openxmlformats.org/officeDocument/2006/relationships/hyperlink" Target="https://twitter.com/0xbnomial/status/1523256409529667584?t=YWXdKryCUrrJSCKWLiT4Tg&amp;s=03"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a:br>
            <a:r>
              <a:rPr lang="en-US"/>
              <a:t>W13S1 </a:t>
            </a:r>
            <a:r>
              <a:rPr lang="en-US" dirty="0"/>
              <a:t>– End and Review</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endParaRPr lang="en-GB"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E165A-14E7-468C-809D-442B51706C89}"/>
              </a:ext>
            </a:extLst>
          </p:cNvPr>
          <p:cNvSpPr>
            <a:spLocks noGrp="1"/>
          </p:cNvSpPr>
          <p:nvPr>
            <p:ph type="title"/>
          </p:nvPr>
        </p:nvSpPr>
        <p:spPr/>
        <p:txBody>
          <a:bodyPr/>
          <a:lstStyle/>
          <a:p>
            <a:r>
              <a:rPr lang="en-US" dirty="0"/>
              <a:t>Some admin stuff</a:t>
            </a:r>
            <a:endParaRPr lang="en-GB" dirty="0"/>
          </a:p>
        </p:txBody>
      </p:sp>
      <p:sp>
        <p:nvSpPr>
          <p:cNvPr id="3" name="Content Placeholder 2">
            <a:extLst>
              <a:ext uri="{FF2B5EF4-FFF2-40B4-BE49-F238E27FC236}">
                <a16:creationId xmlns:a16="http://schemas.microsoft.com/office/drawing/2014/main" id="{165E9D1B-C544-4598-B895-1C8F723A0C67}"/>
              </a:ext>
            </a:extLst>
          </p:cNvPr>
          <p:cNvSpPr>
            <a:spLocks noGrp="1"/>
          </p:cNvSpPr>
          <p:nvPr>
            <p:ph idx="1"/>
          </p:nvPr>
        </p:nvSpPr>
        <p:spPr>
          <a:xfrm>
            <a:off x="838200" y="1825624"/>
            <a:ext cx="10515600" cy="5032375"/>
          </a:xfrm>
        </p:spPr>
        <p:txBody>
          <a:bodyPr/>
          <a:lstStyle/>
          <a:p>
            <a:pPr marL="0" indent="0">
              <a:buNone/>
            </a:pPr>
            <a:r>
              <a:rPr lang="en-US" b="1" dirty="0"/>
              <a:t>Final exam</a:t>
            </a:r>
          </a:p>
          <a:p>
            <a:r>
              <a:rPr lang="en-US" dirty="0"/>
              <a:t>Content will be everything from W1 to W12 included.</a:t>
            </a:r>
          </a:p>
          <a:p>
            <a:r>
              <a:rPr lang="en-US" dirty="0"/>
              <a:t>Similar format as </a:t>
            </a:r>
            <a:r>
              <a:rPr lang="en-US" dirty="0" err="1"/>
              <a:t>MidTerm</a:t>
            </a:r>
            <a:r>
              <a:rPr lang="en-US" dirty="0"/>
              <a:t>.</a:t>
            </a:r>
          </a:p>
          <a:p>
            <a:r>
              <a:rPr lang="en-US" dirty="0"/>
              <a:t>Details for exam (location, assignments, etc.) to be sent via email.</a:t>
            </a:r>
          </a:p>
          <a:p>
            <a:pPr marL="0" indent="0">
              <a:buNone/>
            </a:pPr>
            <a:r>
              <a:rPr lang="en-US" b="1" dirty="0"/>
              <a:t>Regarding your project</a:t>
            </a:r>
          </a:p>
          <a:p>
            <a:r>
              <a:rPr lang="en-US" b="1" u="sng" dirty="0">
                <a:solidFill>
                  <a:srgbClr val="C00000"/>
                </a:solidFill>
              </a:rPr>
              <a:t>No extension will be given (have to give grades to OSA!)</a:t>
            </a:r>
          </a:p>
          <a:p>
            <a:r>
              <a:rPr lang="en-US" b="1" u="sng" dirty="0">
                <a:solidFill>
                  <a:srgbClr val="C00000"/>
                </a:solidFill>
              </a:rPr>
              <a:t>And want to be able to see your projects before presentations and discussions on W13.</a:t>
            </a:r>
          </a:p>
          <a:p>
            <a:r>
              <a:rPr lang="en-US" b="1" u="sng" dirty="0">
                <a:solidFill>
                  <a:srgbClr val="C00000"/>
                </a:solidFill>
              </a:rPr>
              <a:t>Check schedule for presentation timeslots.</a:t>
            </a:r>
          </a:p>
        </p:txBody>
      </p:sp>
    </p:spTree>
    <p:extLst>
      <p:ext uri="{BB962C8B-B14F-4D97-AF65-F5344CB8AC3E}">
        <p14:creationId xmlns:p14="http://schemas.microsoft.com/office/powerpoint/2010/main" val="33100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8B8CAA-5AD8-464C-9734-31FEB520A5FC}"/>
              </a:ext>
            </a:extLst>
          </p:cNvPr>
          <p:cNvSpPr>
            <a:spLocks noGrp="1"/>
          </p:cNvSpPr>
          <p:nvPr>
            <p:ph type="title"/>
          </p:nvPr>
        </p:nvSpPr>
        <p:spPr/>
        <p:txBody>
          <a:bodyPr/>
          <a:lstStyle/>
          <a:p>
            <a:r>
              <a:rPr lang="en-US" dirty="0"/>
              <a:t>So this is the end</a:t>
            </a:r>
            <a:endParaRPr lang="en-GB" dirty="0"/>
          </a:p>
        </p:txBody>
      </p:sp>
      <p:sp>
        <p:nvSpPr>
          <p:cNvPr id="5" name="Text Placeholder 4">
            <a:extLst>
              <a:ext uri="{FF2B5EF4-FFF2-40B4-BE49-F238E27FC236}">
                <a16:creationId xmlns:a16="http://schemas.microsoft.com/office/drawing/2014/main" id="{15416989-D3BC-4141-BADA-64DE595DD1D2}"/>
              </a:ext>
            </a:extLst>
          </p:cNvPr>
          <p:cNvSpPr>
            <a:spLocks noGrp="1"/>
          </p:cNvSpPr>
          <p:nvPr>
            <p:ph type="body" idx="1"/>
          </p:nvPr>
        </p:nvSpPr>
        <p:spPr/>
        <p:txBody>
          <a:bodyPr/>
          <a:lstStyle/>
          <a:p>
            <a:r>
              <a:rPr lang="en-US" dirty="0"/>
              <a:t>What’s next?</a:t>
            </a:r>
            <a:endParaRPr lang="en-GB" dirty="0"/>
          </a:p>
        </p:txBody>
      </p:sp>
    </p:spTree>
    <p:extLst>
      <p:ext uri="{BB962C8B-B14F-4D97-AF65-F5344CB8AC3E}">
        <p14:creationId xmlns:p14="http://schemas.microsoft.com/office/powerpoint/2010/main" val="2221598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864A73-91DC-47E6-BFC6-77EC81F88251}"/>
              </a:ext>
            </a:extLst>
          </p:cNvPr>
          <p:cNvSpPr>
            <a:spLocks noGrp="1"/>
          </p:cNvSpPr>
          <p:nvPr>
            <p:ph type="title"/>
          </p:nvPr>
        </p:nvSpPr>
        <p:spPr/>
        <p:txBody>
          <a:bodyPr/>
          <a:lstStyle/>
          <a:p>
            <a:r>
              <a:rPr lang="en-US" dirty="0"/>
              <a:t>Develop a deeper understanding of…</a:t>
            </a:r>
            <a:endParaRPr lang="en-GB" dirty="0"/>
          </a:p>
        </p:txBody>
      </p:sp>
      <p:sp>
        <p:nvSpPr>
          <p:cNvPr id="5" name="Content Placeholder 4">
            <a:extLst>
              <a:ext uri="{FF2B5EF4-FFF2-40B4-BE49-F238E27FC236}">
                <a16:creationId xmlns:a16="http://schemas.microsoft.com/office/drawing/2014/main" id="{8D68AA04-CE99-4E3D-A743-B4FE0611BB3C}"/>
              </a:ext>
            </a:extLst>
          </p:cNvPr>
          <p:cNvSpPr>
            <a:spLocks noGrp="1"/>
          </p:cNvSpPr>
          <p:nvPr>
            <p:ph idx="1"/>
          </p:nvPr>
        </p:nvSpPr>
        <p:spPr>
          <a:xfrm>
            <a:off x="838200" y="1825624"/>
            <a:ext cx="10515600" cy="5032375"/>
          </a:xfrm>
        </p:spPr>
        <p:txBody>
          <a:bodyPr/>
          <a:lstStyle/>
          <a:p>
            <a:pPr marL="0" indent="0">
              <a:buNone/>
            </a:pPr>
            <a:r>
              <a:rPr lang="en-US" b="1" dirty="0"/>
              <a:t>Improving training procedures (W2++)</a:t>
            </a:r>
          </a:p>
          <a:p>
            <a:pPr marL="0" indent="0">
              <a:buNone/>
            </a:pPr>
            <a:r>
              <a:rPr lang="en-GB" dirty="0"/>
              <a:t>At the moment, mostly using gradient descent algorithms to train our models…</a:t>
            </a:r>
          </a:p>
          <a:p>
            <a:pPr marL="0" indent="0">
              <a:buNone/>
            </a:pPr>
            <a:r>
              <a:rPr lang="en-GB" dirty="0"/>
              <a:t>Many different directions have been considered, for instance:</a:t>
            </a:r>
          </a:p>
          <a:p>
            <a:r>
              <a:rPr lang="en-GB" dirty="0"/>
              <a:t>Using Forward-Forward (2022 proposal from Hinton, to replace our conventional backprop?): </a:t>
            </a:r>
            <a:r>
              <a:rPr lang="en-GB" dirty="0">
                <a:hlinkClick r:id="rId2"/>
              </a:rPr>
              <a:t>https://arxiv.org/abs/2212.13345</a:t>
            </a:r>
            <a:r>
              <a:rPr lang="en-GB" dirty="0"/>
              <a:t> </a:t>
            </a:r>
          </a:p>
          <a:p>
            <a:r>
              <a:rPr lang="en-GB" dirty="0"/>
              <a:t>Training AIs to train other AIs?: “learning to learn” or “meta-learning”</a:t>
            </a:r>
            <a:br>
              <a:rPr lang="en-GB" dirty="0"/>
            </a:br>
            <a:r>
              <a:rPr lang="en-GB" dirty="0"/>
              <a:t>Curious?: </a:t>
            </a:r>
            <a:r>
              <a:rPr lang="en-GB" dirty="0">
                <a:hlinkClick r:id="rId3"/>
              </a:rPr>
              <a:t>https://machinelearningmastery.com/meta-learning-in-machine-learning/</a:t>
            </a:r>
            <a:r>
              <a:rPr lang="en-GB" dirty="0"/>
              <a:t> </a:t>
            </a:r>
            <a:endParaRPr lang="en-US" dirty="0"/>
          </a:p>
          <a:p>
            <a:endParaRPr lang="en-GB" dirty="0"/>
          </a:p>
        </p:txBody>
      </p:sp>
    </p:spTree>
    <p:extLst>
      <p:ext uri="{BB962C8B-B14F-4D97-AF65-F5344CB8AC3E}">
        <p14:creationId xmlns:p14="http://schemas.microsoft.com/office/powerpoint/2010/main" val="2489181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6F7A7-7731-488B-8DF2-1407712F1EC1}"/>
              </a:ext>
            </a:extLst>
          </p:cNvPr>
          <p:cNvSpPr>
            <a:spLocks noGrp="1"/>
          </p:cNvSpPr>
          <p:nvPr>
            <p:ph type="title"/>
          </p:nvPr>
        </p:nvSpPr>
        <p:spPr/>
        <p:txBody>
          <a:bodyPr/>
          <a:lstStyle/>
          <a:p>
            <a:r>
              <a:rPr lang="en-US" dirty="0"/>
              <a:t>On top of everything we have seen…</a:t>
            </a:r>
            <a:endParaRPr lang="en-GB" dirty="0"/>
          </a:p>
        </p:txBody>
      </p:sp>
      <p:sp>
        <p:nvSpPr>
          <p:cNvPr id="3" name="Content Placeholder 2">
            <a:extLst>
              <a:ext uri="{FF2B5EF4-FFF2-40B4-BE49-F238E27FC236}">
                <a16:creationId xmlns:a16="http://schemas.microsoft.com/office/drawing/2014/main" id="{9D882609-53DF-4B06-91C6-50E0570C62D5}"/>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Advanced Computer Vision (W4++ and W10++)</a:t>
            </a:r>
            <a:endParaRPr lang="en-GB" dirty="0"/>
          </a:p>
          <a:p>
            <a:pPr marL="0" indent="0">
              <a:buNone/>
            </a:pPr>
            <a:r>
              <a:rPr lang="en-GB" dirty="0"/>
              <a:t>Consider enrolling for the Computer Vision Term 7 course for more advanced concepts on CV, such as:</a:t>
            </a:r>
          </a:p>
          <a:p>
            <a:r>
              <a:rPr lang="en-GB" dirty="0"/>
              <a:t>More advanced computer vision tasks (image segmentation, scene understanding, etc.)</a:t>
            </a:r>
          </a:p>
          <a:p>
            <a:r>
              <a:rPr lang="en-GB" dirty="0"/>
              <a:t>Advanced architectures like Siamese networks, and loss functions like triplet loss, more on Vision Transformers, etc.</a:t>
            </a:r>
          </a:p>
          <a:p>
            <a:r>
              <a:rPr lang="en-GB" dirty="0"/>
              <a:t>More on image generation with stable diffusion, etc.</a:t>
            </a:r>
          </a:p>
          <a:p>
            <a:r>
              <a:rPr lang="en-GB" dirty="0"/>
              <a:t>Video data models, etc.</a:t>
            </a:r>
          </a:p>
          <a:p>
            <a:pPr marL="0" indent="0">
              <a:buNone/>
            </a:pPr>
            <a:r>
              <a:rPr lang="en-GB" dirty="0">
                <a:hlinkClick r:id="rId2"/>
              </a:rPr>
              <a:t>https://istd.sutd.edu.sg/undergraduate/courses/50035-computer-vision</a:t>
            </a:r>
            <a:endParaRPr lang="en-GB" dirty="0"/>
          </a:p>
          <a:p>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2853804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864A73-91DC-47E6-BFC6-77EC81F88251}"/>
              </a:ext>
            </a:extLst>
          </p:cNvPr>
          <p:cNvSpPr>
            <a:spLocks noGrp="1"/>
          </p:cNvSpPr>
          <p:nvPr>
            <p:ph type="title"/>
          </p:nvPr>
        </p:nvSpPr>
        <p:spPr/>
        <p:txBody>
          <a:bodyPr/>
          <a:lstStyle/>
          <a:p>
            <a:r>
              <a:rPr lang="en-US" dirty="0"/>
              <a:t>Develop a deeper understanding of…</a:t>
            </a:r>
            <a:endParaRPr lang="en-GB" dirty="0"/>
          </a:p>
        </p:txBody>
      </p:sp>
      <p:sp>
        <p:nvSpPr>
          <p:cNvPr id="5" name="Content Placeholder 4">
            <a:extLst>
              <a:ext uri="{FF2B5EF4-FFF2-40B4-BE49-F238E27FC236}">
                <a16:creationId xmlns:a16="http://schemas.microsoft.com/office/drawing/2014/main" id="{8D68AA04-CE99-4E3D-A743-B4FE0611BB3C}"/>
              </a:ext>
            </a:extLst>
          </p:cNvPr>
          <p:cNvSpPr>
            <a:spLocks noGrp="1"/>
          </p:cNvSpPr>
          <p:nvPr>
            <p:ph idx="1"/>
          </p:nvPr>
        </p:nvSpPr>
        <p:spPr>
          <a:xfrm>
            <a:off x="838200" y="1825624"/>
            <a:ext cx="10515600" cy="5032375"/>
          </a:xfrm>
        </p:spPr>
        <p:txBody>
          <a:bodyPr/>
          <a:lstStyle/>
          <a:p>
            <a:pPr marL="0" indent="0">
              <a:buNone/>
            </a:pPr>
            <a:r>
              <a:rPr lang="en-US" b="1" dirty="0"/>
              <a:t>Advanced word embedding and NLP problems (W5++ and W8++)</a:t>
            </a:r>
          </a:p>
          <a:p>
            <a:pPr marL="0" indent="0">
              <a:buNone/>
            </a:pPr>
            <a:r>
              <a:rPr lang="en-US" dirty="0"/>
              <a:t>Many more mechanisms when it comes to embedding and language related problems.</a:t>
            </a:r>
          </a:p>
          <a:p>
            <a:r>
              <a:rPr lang="en-US" dirty="0"/>
              <a:t>E.g. more advanced embeddings, a deep dive into transformers, etc.</a:t>
            </a:r>
          </a:p>
          <a:p>
            <a:r>
              <a:rPr lang="en-US" dirty="0"/>
              <a:t>Typical tasks in NLP (chatbots, context propagation, sentiment analysis, language translation, summarization, etc.)</a:t>
            </a:r>
          </a:p>
          <a:p>
            <a:pPr marL="0" indent="0">
              <a:buNone/>
            </a:pPr>
            <a:r>
              <a:rPr lang="en-US" dirty="0"/>
              <a:t>Go for the Term 7 NLP course!</a:t>
            </a:r>
            <a:endParaRPr lang="en-US" dirty="0">
              <a:hlinkClick r:id="rId2"/>
            </a:endParaRPr>
          </a:p>
          <a:p>
            <a:pPr marL="0" indent="0">
              <a:buNone/>
            </a:pPr>
            <a:r>
              <a:rPr lang="en-GB" dirty="0">
                <a:hlinkClick r:id="rId3"/>
              </a:rPr>
              <a:t>https://istd.sutd.edu.sg/undergraduate/courses/50040-natural-language-processing</a:t>
            </a:r>
            <a:endParaRPr lang="en-GB" dirty="0"/>
          </a:p>
          <a:p>
            <a:pPr marL="0" indent="0">
              <a:buNone/>
            </a:pPr>
            <a:endParaRPr lang="en-GB" dirty="0"/>
          </a:p>
        </p:txBody>
      </p:sp>
    </p:spTree>
    <p:extLst>
      <p:ext uri="{BB962C8B-B14F-4D97-AF65-F5344CB8AC3E}">
        <p14:creationId xmlns:p14="http://schemas.microsoft.com/office/powerpoint/2010/main" val="2210072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48721-D516-84A5-6D79-7EBF5FAAB26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B8F1EB6-B778-66A3-2D53-A49D38AB77E3}"/>
              </a:ext>
            </a:extLst>
          </p:cNvPr>
          <p:cNvSpPr>
            <a:spLocks noGrp="1"/>
          </p:cNvSpPr>
          <p:nvPr>
            <p:ph type="title"/>
          </p:nvPr>
        </p:nvSpPr>
        <p:spPr/>
        <p:txBody>
          <a:bodyPr/>
          <a:lstStyle/>
          <a:p>
            <a:r>
              <a:rPr lang="en-US" dirty="0"/>
              <a:t>Develop a deeper understanding of…</a:t>
            </a:r>
            <a:endParaRPr lang="en-GB" dirty="0"/>
          </a:p>
        </p:txBody>
      </p:sp>
      <p:sp>
        <p:nvSpPr>
          <p:cNvPr id="5" name="Content Placeholder 4">
            <a:extLst>
              <a:ext uri="{FF2B5EF4-FFF2-40B4-BE49-F238E27FC236}">
                <a16:creationId xmlns:a16="http://schemas.microsoft.com/office/drawing/2014/main" id="{A04ECA78-9D2B-048E-5B01-ADEEE882C350}"/>
              </a:ext>
            </a:extLst>
          </p:cNvPr>
          <p:cNvSpPr>
            <a:spLocks noGrp="1"/>
          </p:cNvSpPr>
          <p:nvPr>
            <p:ph idx="1"/>
          </p:nvPr>
        </p:nvSpPr>
        <p:spPr>
          <a:xfrm>
            <a:off x="838200" y="1825624"/>
            <a:ext cx="10515600" cy="5032375"/>
          </a:xfrm>
        </p:spPr>
        <p:txBody>
          <a:bodyPr>
            <a:normAutofit fontScale="92500" lnSpcReduction="10000"/>
          </a:bodyPr>
          <a:lstStyle/>
          <a:p>
            <a:pPr marL="0" indent="0">
              <a:buNone/>
            </a:pPr>
            <a:r>
              <a:rPr lang="en-US" b="1" dirty="0"/>
              <a:t>Advanced word embedding and NLP problems (W5++ and W8++)</a:t>
            </a:r>
          </a:p>
          <a:p>
            <a:pPr marL="0" indent="0">
              <a:buNone/>
            </a:pPr>
            <a:r>
              <a:rPr lang="en-GB" dirty="0"/>
              <a:t>And some more courses on transformers/LLMs/GenAI.</a:t>
            </a:r>
          </a:p>
          <a:p>
            <a:pPr marL="514350" indent="-514350">
              <a:buFont typeface="+mj-lt"/>
              <a:buAutoNum type="arabicPeriod"/>
            </a:pPr>
            <a:r>
              <a:rPr lang="en-GB" dirty="0">
                <a:hlinkClick r:id="rId2"/>
              </a:rPr>
              <a:t>https://www.linkedin.com/posts/amanc_artificialintelligence-machinelearning-activity-7106125333799571457--dH5/</a:t>
            </a:r>
            <a:r>
              <a:rPr lang="en-GB" dirty="0"/>
              <a:t> </a:t>
            </a:r>
          </a:p>
          <a:p>
            <a:pPr marL="514350" indent="-514350">
              <a:buFont typeface="+mj-lt"/>
              <a:buAutoNum type="arabicPeriod"/>
            </a:pPr>
            <a:r>
              <a:rPr lang="en-GB" dirty="0">
                <a:hlinkClick r:id="rId3"/>
              </a:rPr>
              <a:t>https://www.linkedin.com/posts/hoang-van-hao_stanford-university-just-released-the-full-activity-7385821073260544000-z3MH/?utm_source=share&amp;utm_medium=member_android&amp;rcm=ACoAAAbntaYBN_8Rx2Ty30AiacJ27hkp-JDXY-8</a:t>
            </a:r>
            <a:endParaRPr lang="en-GB" dirty="0"/>
          </a:p>
          <a:p>
            <a:pPr marL="514350" indent="-514350">
              <a:buFont typeface="+mj-lt"/>
              <a:buAutoNum type="arabicPeriod"/>
            </a:pPr>
            <a:r>
              <a:rPr lang="en-GB" dirty="0">
                <a:hlinkClick r:id="rId4"/>
              </a:rPr>
              <a:t>https://www.linkedin.com/posts/stasbel_if-youre-serious-about-growing-in-aiml-activity-7371553237038063616-z48T/</a:t>
            </a:r>
            <a:r>
              <a:rPr lang="en-GB" dirty="0"/>
              <a:t> </a:t>
            </a:r>
          </a:p>
          <a:p>
            <a:pPr marL="514350" indent="-514350">
              <a:buFont typeface="+mj-lt"/>
              <a:buAutoNum type="arabicPeriod"/>
            </a:pPr>
            <a:r>
              <a:rPr lang="en-GB" dirty="0">
                <a:hlinkClick r:id="rId5"/>
              </a:rPr>
              <a:t>https://www.linkedin.com/posts/eric-vyacheslav-156273169_just-came-across-the-most-comprehensive-llm-activity-7146153808933400576-laP9/</a:t>
            </a:r>
            <a:r>
              <a:rPr lang="en-GB" dirty="0"/>
              <a:t> </a:t>
            </a:r>
          </a:p>
          <a:p>
            <a:pPr marL="514350" indent="-514350">
              <a:buFont typeface="+mj-lt"/>
              <a:buAutoNum type="arabicPeriod"/>
            </a:pPr>
            <a:endParaRPr lang="en-GB" dirty="0"/>
          </a:p>
          <a:p>
            <a:pPr marL="0" indent="0">
              <a:buNone/>
            </a:pPr>
            <a:endParaRPr lang="en-GB" dirty="0"/>
          </a:p>
        </p:txBody>
      </p:sp>
    </p:spTree>
    <p:extLst>
      <p:ext uri="{BB962C8B-B14F-4D97-AF65-F5344CB8AC3E}">
        <p14:creationId xmlns:p14="http://schemas.microsoft.com/office/powerpoint/2010/main" val="2236371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864A73-91DC-47E6-BFC6-77EC81F88251}"/>
              </a:ext>
            </a:extLst>
          </p:cNvPr>
          <p:cNvSpPr>
            <a:spLocks noGrp="1"/>
          </p:cNvSpPr>
          <p:nvPr>
            <p:ph type="title"/>
          </p:nvPr>
        </p:nvSpPr>
        <p:spPr/>
        <p:txBody>
          <a:bodyPr/>
          <a:lstStyle/>
          <a:p>
            <a:r>
              <a:rPr lang="en-US" dirty="0"/>
              <a:t>Develop a deeper understanding of…</a:t>
            </a:r>
            <a:endParaRPr lang="en-GB" dirty="0"/>
          </a:p>
        </p:txBody>
      </p:sp>
      <p:sp>
        <p:nvSpPr>
          <p:cNvPr id="5" name="Content Placeholder 4">
            <a:extLst>
              <a:ext uri="{FF2B5EF4-FFF2-40B4-BE49-F238E27FC236}">
                <a16:creationId xmlns:a16="http://schemas.microsoft.com/office/drawing/2014/main" id="{8D68AA04-CE99-4E3D-A743-B4FE0611BB3C}"/>
              </a:ext>
            </a:extLst>
          </p:cNvPr>
          <p:cNvSpPr>
            <a:spLocks noGrp="1"/>
          </p:cNvSpPr>
          <p:nvPr>
            <p:ph idx="1"/>
          </p:nvPr>
        </p:nvSpPr>
        <p:spPr>
          <a:xfrm>
            <a:off x="838200" y="1825624"/>
            <a:ext cx="10515600" cy="5032375"/>
          </a:xfrm>
        </p:spPr>
        <p:txBody>
          <a:bodyPr/>
          <a:lstStyle/>
          <a:p>
            <a:pPr marL="0" indent="0">
              <a:buNone/>
            </a:pPr>
            <a:r>
              <a:rPr lang="en-US" b="1" dirty="0"/>
              <a:t>Advanced attacks and Defense mechanisms (W6++)</a:t>
            </a:r>
          </a:p>
          <a:p>
            <a:pPr marL="0" indent="0">
              <a:buNone/>
            </a:pPr>
            <a:r>
              <a:rPr lang="en-US" dirty="0"/>
              <a:t>Many more mechanisms when it comes to attacking and defending a Neural Network, e.g. new types of attacks, such as:</a:t>
            </a:r>
          </a:p>
          <a:p>
            <a:r>
              <a:rPr lang="en-US" dirty="0"/>
              <a:t>Poisoning attacks (attempt to poison the dataset so the NN cannot re-train properly, especially if online learning is used),</a:t>
            </a:r>
          </a:p>
          <a:p>
            <a:r>
              <a:rPr lang="en-US" dirty="0"/>
              <a:t>Weights changes (attempt to change a small subset of the weights of the NN to prevent it from working in certain ways),</a:t>
            </a:r>
          </a:p>
          <a:p>
            <a:r>
              <a:rPr lang="en-US" dirty="0"/>
              <a:t>Etc.</a:t>
            </a:r>
          </a:p>
          <a:p>
            <a:pPr marL="0" indent="0">
              <a:buNone/>
            </a:pPr>
            <a:r>
              <a:rPr lang="en-GB" dirty="0">
                <a:hlinkClick r:id="rId2"/>
              </a:rPr>
              <a:t>https://www.comp.nus.edu.sg/~reza/courses/cs6231/</a:t>
            </a:r>
            <a:endParaRPr lang="en-US" dirty="0"/>
          </a:p>
          <a:p>
            <a:pPr marL="0" indent="0">
              <a:buNone/>
            </a:pPr>
            <a:r>
              <a:rPr lang="en-GB" dirty="0"/>
              <a:t>+ </a:t>
            </a:r>
            <a:r>
              <a:rPr lang="en-GB" dirty="0" err="1"/>
              <a:t>AdvML</a:t>
            </a:r>
            <a:r>
              <a:rPr lang="en-GB" dirty="0"/>
              <a:t> elective course in MSc DAI-E Security and AI track at SUTD!</a:t>
            </a:r>
          </a:p>
        </p:txBody>
      </p:sp>
    </p:spTree>
    <p:extLst>
      <p:ext uri="{BB962C8B-B14F-4D97-AF65-F5344CB8AC3E}">
        <p14:creationId xmlns:p14="http://schemas.microsoft.com/office/powerpoint/2010/main" val="3328516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864A73-91DC-47E6-BFC6-77EC81F88251}"/>
              </a:ext>
            </a:extLst>
          </p:cNvPr>
          <p:cNvSpPr>
            <a:spLocks noGrp="1"/>
          </p:cNvSpPr>
          <p:nvPr>
            <p:ph type="title"/>
          </p:nvPr>
        </p:nvSpPr>
        <p:spPr/>
        <p:txBody>
          <a:bodyPr/>
          <a:lstStyle/>
          <a:p>
            <a:r>
              <a:rPr lang="en-US" dirty="0"/>
              <a:t>Develop a deeper understanding of…</a:t>
            </a:r>
            <a:endParaRPr lang="en-GB" dirty="0"/>
          </a:p>
        </p:txBody>
      </p:sp>
      <p:sp>
        <p:nvSpPr>
          <p:cNvPr id="5" name="Content Placeholder 4">
            <a:extLst>
              <a:ext uri="{FF2B5EF4-FFF2-40B4-BE49-F238E27FC236}">
                <a16:creationId xmlns:a16="http://schemas.microsoft.com/office/drawing/2014/main" id="{8D68AA04-CE99-4E3D-A743-B4FE0611BB3C}"/>
              </a:ext>
            </a:extLst>
          </p:cNvPr>
          <p:cNvSpPr>
            <a:spLocks noGrp="1"/>
          </p:cNvSpPr>
          <p:nvPr>
            <p:ph idx="1"/>
          </p:nvPr>
        </p:nvSpPr>
        <p:spPr>
          <a:xfrm>
            <a:off x="838200" y="1825624"/>
            <a:ext cx="10515600" cy="5032375"/>
          </a:xfrm>
        </p:spPr>
        <p:txBody>
          <a:bodyPr>
            <a:normAutofit/>
          </a:bodyPr>
          <a:lstStyle/>
          <a:p>
            <a:pPr marL="0" indent="0">
              <a:buNone/>
            </a:pPr>
            <a:r>
              <a:rPr lang="en-US" b="1" dirty="0"/>
              <a:t>Advanced Graph Neural Networks (W9++)</a:t>
            </a:r>
          </a:p>
          <a:p>
            <a:pPr marL="0" indent="0">
              <a:buNone/>
            </a:pPr>
            <a:r>
              <a:rPr lang="en-US" dirty="0"/>
              <a:t>We barely scratched the surface of Graph Theory. If you need to study a new math theory, let it be graph theory!</a:t>
            </a:r>
          </a:p>
          <a:p>
            <a:r>
              <a:rPr lang="en-US" dirty="0"/>
              <a:t>Good graph theory course here:</a:t>
            </a:r>
          </a:p>
          <a:p>
            <a:pPr marL="0" indent="0">
              <a:buNone/>
            </a:pPr>
            <a:r>
              <a:rPr lang="en-US" dirty="0">
                <a:hlinkClick r:id="rId2"/>
              </a:rPr>
              <a:t>https://ocw.mit.edu/courses/mathematics/18-217-graph-theory-and-additive-combinatorics-fall-2019/</a:t>
            </a:r>
            <a:endParaRPr lang="en-US" dirty="0"/>
          </a:p>
          <a:p>
            <a:r>
              <a:rPr lang="en-US" dirty="0"/>
              <a:t>More advanced problems and concepts on Graph Neural Networks in lectures 1-9 of course here:</a:t>
            </a:r>
          </a:p>
          <a:p>
            <a:pPr marL="0" indent="0">
              <a:buNone/>
            </a:pPr>
            <a:r>
              <a:rPr lang="en-US" dirty="0">
                <a:hlinkClick r:id="rId3"/>
              </a:rPr>
              <a:t>https://www.cs.ox.ac.uk/teaching/courses/2020-2021/advml/</a:t>
            </a:r>
            <a:endParaRPr lang="en-US" dirty="0"/>
          </a:p>
          <a:p>
            <a:endParaRPr lang="en-US" b="1" dirty="0"/>
          </a:p>
          <a:p>
            <a:pPr marL="0" indent="0">
              <a:buNone/>
            </a:pPr>
            <a:endParaRPr lang="en-US" dirty="0">
              <a:hlinkClick r:id="rId4"/>
            </a:endParaRPr>
          </a:p>
          <a:p>
            <a:endParaRPr lang="en-GB" dirty="0"/>
          </a:p>
        </p:txBody>
      </p:sp>
    </p:spTree>
    <p:extLst>
      <p:ext uri="{BB962C8B-B14F-4D97-AF65-F5344CB8AC3E}">
        <p14:creationId xmlns:p14="http://schemas.microsoft.com/office/powerpoint/2010/main" val="714959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864A73-91DC-47E6-BFC6-77EC81F88251}"/>
              </a:ext>
            </a:extLst>
          </p:cNvPr>
          <p:cNvSpPr>
            <a:spLocks noGrp="1"/>
          </p:cNvSpPr>
          <p:nvPr>
            <p:ph type="title"/>
          </p:nvPr>
        </p:nvSpPr>
        <p:spPr/>
        <p:txBody>
          <a:bodyPr/>
          <a:lstStyle/>
          <a:p>
            <a:r>
              <a:rPr lang="en-US" dirty="0"/>
              <a:t>Develop a deeper understanding of…</a:t>
            </a:r>
            <a:endParaRPr lang="en-GB" dirty="0"/>
          </a:p>
        </p:txBody>
      </p:sp>
      <p:sp>
        <p:nvSpPr>
          <p:cNvPr id="5" name="Content Placeholder 4">
            <a:extLst>
              <a:ext uri="{FF2B5EF4-FFF2-40B4-BE49-F238E27FC236}">
                <a16:creationId xmlns:a16="http://schemas.microsoft.com/office/drawing/2014/main" id="{8D68AA04-CE99-4E3D-A743-B4FE0611BB3C}"/>
              </a:ext>
            </a:extLst>
          </p:cNvPr>
          <p:cNvSpPr>
            <a:spLocks noGrp="1"/>
          </p:cNvSpPr>
          <p:nvPr>
            <p:ph idx="1"/>
          </p:nvPr>
        </p:nvSpPr>
        <p:spPr>
          <a:xfrm>
            <a:off x="838200" y="1825624"/>
            <a:ext cx="10515600" cy="5032375"/>
          </a:xfrm>
        </p:spPr>
        <p:txBody>
          <a:bodyPr>
            <a:normAutofit/>
          </a:bodyPr>
          <a:lstStyle/>
          <a:p>
            <a:pPr marL="0" indent="0">
              <a:buNone/>
            </a:pPr>
            <a:r>
              <a:rPr lang="en-US" b="1" dirty="0"/>
              <a:t>Advanced Graph Neural Networks (W9++)</a:t>
            </a:r>
          </a:p>
          <a:p>
            <a:pPr marL="0" indent="0">
              <a:buNone/>
            </a:pPr>
            <a:r>
              <a:rPr lang="en-US" dirty="0"/>
              <a:t>Also, keep in mind that Neural Networks are graphs…</a:t>
            </a:r>
          </a:p>
          <a:p>
            <a:r>
              <a:rPr lang="en-US" dirty="0"/>
              <a:t>So technically, we could build a Neural Network, which receives another Neural Network as its input…!</a:t>
            </a:r>
          </a:p>
          <a:p>
            <a:r>
              <a:rPr lang="en-US" dirty="0"/>
              <a:t>What could be the uses for such a technique?</a:t>
            </a:r>
          </a:p>
          <a:p>
            <a:r>
              <a:rPr lang="en-US" dirty="0"/>
              <a:t>Meta-learning? (i.e. training an AI to train another AI?!)</a:t>
            </a:r>
            <a:br>
              <a:rPr lang="en-US" dirty="0"/>
            </a:br>
            <a:r>
              <a:rPr lang="en-US" dirty="0">
                <a:hlinkClick r:id="rId2"/>
              </a:rPr>
              <a:t>https://machinelearningmastery.com/meta-learning-in-machine-learning/</a:t>
            </a:r>
            <a:endParaRPr lang="en-US" dirty="0"/>
          </a:p>
          <a:p>
            <a:endParaRPr lang="en-US" dirty="0"/>
          </a:p>
          <a:p>
            <a:endParaRPr lang="en-US" b="1" dirty="0"/>
          </a:p>
          <a:p>
            <a:pPr marL="0" indent="0">
              <a:buNone/>
            </a:pPr>
            <a:endParaRPr lang="en-US" dirty="0">
              <a:hlinkClick r:id="rId3"/>
            </a:endParaRPr>
          </a:p>
          <a:p>
            <a:endParaRPr lang="en-GB" dirty="0"/>
          </a:p>
        </p:txBody>
      </p:sp>
    </p:spTree>
    <p:extLst>
      <p:ext uri="{BB962C8B-B14F-4D97-AF65-F5344CB8AC3E}">
        <p14:creationId xmlns:p14="http://schemas.microsoft.com/office/powerpoint/2010/main" val="2398190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864A73-91DC-47E6-BFC6-77EC81F88251}"/>
              </a:ext>
            </a:extLst>
          </p:cNvPr>
          <p:cNvSpPr>
            <a:spLocks noGrp="1"/>
          </p:cNvSpPr>
          <p:nvPr>
            <p:ph type="title"/>
          </p:nvPr>
        </p:nvSpPr>
        <p:spPr/>
        <p:txBody>
          <a:bodyPr/>
          <a:lstStyle/>
          <a:p>
            <a:r>
              <a:rPr lang="en-US" dirty="0"/>
              <a:t>Develop a deeper understanding of…</a:t>
            </a:r>
            <a:endParaRPr lang="en-GB" dirty="0"/>
          </a:p>
        </p:txBody>
      </p:sp>
      <p:sp>
        <p:nvSpPr>
          <p:cNvPr id="5" name="Content Placeholder 4">
            <a:extLst>
              <a:ext uri="{FF2B5EF4-FFF2-40B4-BE49-F238E27FC236}">
                <a16:creationId xmlns:a16="http://schemas.microsoft.com/office/drawing/2014/main" id="{8D68AA04-CE99-4E3D-A743-B4FE0611BB3C}"/>
              </a:ext>
            </a:extLst>
          </p:cNvPr>
          <p:cNvSpPr>
            <a:spLocks noGrp="1"/>
          </p:cNvSpPr>
          <p:nvPr>
            <p:ph idx="1"/>
          </p:nvPr>
        </p:nvSpPr>
        <p:spPr>
          <a:xfrm>
            <a:off x="838200" y="1825624"/>
            <a:ext cx="10515600" cy="5032375"/>
          </a:xfrm>
        </p:spPr>
        <p:txBody>
          <a:bodyPr>
            <a:normAutofit/>
          </a:bodyPr>
          <a:lstStyle/>
          <a:p>
            <a:pPr marL="0" indent="0">
              <a:buNone/>
            </a:pPr>
            <a:r>
              <a:rPr lang="en-US" b="1" dirty="0"/>
              <a:t>Advanced Generative Models (W10++)</a:t>
            </a:r>
          </a:p>
          <a:p>
            <a:r>
              <a:rPr lang="en-US" dirty="0"/>
              <a:t>Advanced GANs, operating on other types of data than just images (sound, text, etc.)</a:t>
            </a:r>
          </a:p>
          <a:p>
            <a:r>
              <a:rPr lang="en-US" dirty="0"/>
              <a:t>Very good online course here:</a:t>
            </a:r>
          </a:p>
          <a:p>
            <a:pPr marL="0" indent="0">
              <a:buNone/>
            </a:pPr>
            <a:r>
              <a:rPr lang="en-US" dirty="0">
                <a:hlinkClick r:id="rId2"/>
              </a:rPr>
              <a:t>https://cs236g.stanford.edu/</a:t>
            </a:r>
            <a:endParaRPr lang="en-US" dirty="0"/>
          </a:p>
          <a:p>
            <a:r>
              <a:rPr lang="en-US" dirty="0"/>
              <a:t>Did not discuss how to train a Variational </a:t>
            </a:r>
            <a:r>
              <a:rPr lang="en-US" dirty="0" err="1"/>
              <a:t>AutoEncoder</a:t>
            </a:r>
            <a:r>
              <a:rPr lang="en-US" dirty="0"/>
              <a:t> due to its “random/stochastic” layers. This is worth looking into.</a:t>
            </a:r>
          </a:p>
          <a:p>
            <a:r>
              <a:rPr lang="en-US" dirty="0"/>
              <a:t>Also worth looking into Boltzmann Machines, as they also used a </a:t>
            </a:r>
            <a:r>
              <a:rPr lang="en-US"/>
              <a:t>similar procedure.</a:t>
            </a:r>
            <a:endParaRPr lang="en-US" dirty="0"/>
          </a:p>
          <a:p>
            <a:r>
              <a:rPr lang="en-US" dirty="0"/>
              <a:t>Will likely be covered in </a:t>
            </a:r>
            <a:r>
              <a:rPr lang="en-US" b="1" dirty="0"/>
              <a:t>Term 7 Computer Vision.</a:t>
            </a:r>
            <a:endParaRPr lang="en-US" dirty="0"/>
          </a:p>
          <a:p>
            <a:pPr marL="0" indent="0">
              <a:buNone/>
            </a:pPr>
            <a:endParaRPr lang="en-US" b="1" dirty="0"/>
          </a:p>
          <a:p>
            <a:pPr marL="0" indent="0">
              <a:buNone/>
            </a:pPr>
            <a:endParaRPr lang="en-US" dirty="0">
              <a:hlinkClick r:id="rId3"/>
            </a:endParaRPr>
          </a:p>
          <a:p>
            <a:endParaRPr lang="en-GB" dirty="0"/>
          </a:p>
        </p:txBody>
      </p:sp>
    </p:spTree>
    <p:extLst>
      <p:ext uri="{BB962C8B-B14F-4D97-AF65-F5344CB8AC3E}">
        <p14:creationId xmlns:p14="http://schemas.microsoft.com/office/powerpoint/2010/main" val="3189324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864A73-91DC-47E6-BFC6-77EC81F88251}"/>
              </a:ext>
            </a:extLst>
          </p:cNvPr>
          <p:cNvSpPr>
            <a:spLocks noGrp="1"/>
          </p:cNvSpPr>
          <p:nvPr>
            <p:ph type="title"/>
          </p:nvPr>
        </p:nvSpPr>
        <p:spPr/>
        <p:txBody>
          <a:bodyPr/>
          <a:lstStyle/>
          <a:p>
            <a:r>
              <a:rPr lang="en-US" dirty="0"/>
              <a:t>Develop a deeper understanding of…</a:t>
            </a:r>
            <a:endParaRPr lang="en-GB" dirty="0"/>
          </a:p>
        </p:txBody>
      </p:sp>
      <p:sp>
        <p:nvSpPr>
          <p:cNvPr id="5" name="Content Placeholder 4">
            <a:extLst>
              <a:ext uri="{FF2B5EF4-FFF2-40B4-BE49-F238E27FC236}">
                <a16:creationId xmlns:a16="http://schemas.microsoft.com/office/drawing/2014/main" id="{8D68AA04-CE99-4E3D-A743-B4FE0611BB3C}"/>
              </a:ext>
            </a:extLst>
          </p:cNvPr>
          <p:cNvSpPr>
            <a:spLocks noGrp="1"/>
          </p:cNvSpPr>
          <p:nvPr>
            <p:ph idx="1"/>
          </p:nvPr>
        </p:nvSpPr>
        <p:spPr>
          <a:xfrm>
            <a:off x="838200" y="1825624"/>
            <a:ext cx="10515600" cy="5032375"/>
          </a:xfrm>
        </p:spPr>
        <p:txBody>
          <a:bodyPr>
            <a:normAutofit/>
          </a:bodyPr>
          <a:lstStyle/>
          <a:p>
            <a:pPr marL="0" indent="0">
              <a:buNone/>
            </a:pPr>
            <a:r>
              <a:rPr lang="en-US" b="1" dirty="0"/>
              <a:t>Advanced Reinforcement Learning (W11++)</a:t>
            </a:r>
          </a:p>
          <a:p>
            <a:pPr marL="0" indent="0">
              <a:buNone/>
            </a:pPr>
            <a:r>
              <a:rPr lang="en-US" dirty="0"/>
              <a:t>Barely scratched the surface about Reinforcement Learning.</a:t>
            </a:r>
          </a:p>
          <a:p>
            <a:r>
              <a:rPr lang="en-US" dirty="0"/>
              <a:t>Currently considering to create a Reinforcement Learning elective course at SUTD for Term 8. Any thoughts?</a:t>
            </a:r>
          </a:p>
          <a:p>
            <a:r>
              <a:rPr lang="en-US" dirty="0"/>
              <a:t>Otherwise, the reference course on RL is the one from David </a:t>
            </a:r>
            <a:r>
              <a:rPr lang="en-US" b="1" dirty="0">
                <a:solidFill>
                  <a:schemeClr val="accent2">
                    <a:lumMod val="50000"/>
                  </a:schemeClr>
                </a:solidFill>
              </a:rPr>
              <a:t>Sliver</a:t>
            </a:r>
            <a:r>
              <a:rPr lang="en-US" dirty="0"/>
              <a:t> (the man behind AlphaGo!)</a:t>
            </a:r>
          </a:p>
          <a:p>
            <a:pPr marL="0" indent="0">
              <a:buNone/>
            </a:pPr>
            <a:r>
              <a:rPr lang="en-US" dirty="0">
                <a:hlinkClick r:id="rId2"/>
              </a:rPr>
              <a:t>https://deepmind.com/learning-resources/-introduction-reinforcement-learning-david-silver</a:t>
            </a:r>
            <a:endParaRPr lang="en-US" dirty="0"/>
          </a:p>
          <a:p>
            <a:pPr marL="0" indent="0">
              <a:buNone/>
            </a:pPr>
            <a:r>
              <a:rPr lang="en-US" dirty="0"/>
              <a:t>And </a:t>
            </a:r>
            <a:r>
              <a:rPr lang="en-US" dirty="0">
                <a:hlinkClick r:id="rId3"/>
              </a:rPr>
              <a:t>https://www.davidsilver.uk/teaching/</a:t>
            </a:r>
            <a:endParaRPr lang="en-US" dirty="0"/>
          </a:p>
          <a:p>
            <a:pPr marL="0" indent="0">
              <a:buNone/>
            </a:pPr>
            <a:r>
              <a:rPr lang="en-GB" dirty="0"/>
              <a:t>+ RL elective course in MSc DAI-E Embodied AI track at SUTD!</a:t>
            </a:r>
          </a:p>
          <a:p>
            <a:pPr marL="0" indent="0">
              <a:buNone/>
            </a:pPr>
            <a:endParaRPr lang="en-US" dirty="0"/>
          </a:p>
          <a:p>
            <a:pPr marL="0" indent="0">
              <a:buNone/>
            </a:pPr>
            <a:endParaRPr lang="en-US" dirty="0"/>
          </a:p>
          <a:p>
            <a:pPr marL="0" indent="0">
              <a:buNone/>
            </a:pPr>
            <a:endParaRPr lang="en-US" b="1" dirty="0"/>
          </a:p>
          <a:p>
            <a:pPr marL="0" indent="0">
              <a:buNone/>
            </a:pPr>
            <a:endParaRPr lang="en-US" dirty="0">
              <a:hlinkClick r:id="rId4"/>
            </a:endParaRPr>
          </a:p>
          <a:p>
            <a:endParaRPr lang="en-GB" dirty="0"/>
          </a:p>
        </p:txBody>
      </p:sp>
    </p:spTree>
    <p:extLst>
      <p:ext uri="{BB962C8B-B14F-4D97-AF65-F5344CB8AC3E}">
        <p14:creationId xmlns:p14="http://schemas.microsoft.com/office/powerpoint/2010/main" val="3161243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864A73-91DC-47E6-BFC6-77EC81F88251}"/>
              </a:ext>
            </a:extLst>
          </p:cNvPr>
          <p:cNvSpPr>
            <a:spLocks noGrp="1"/>
          </p:cNvSpPr>
          <p:nvPr>
            <p:ph type="title"/>
          </p:nvPr>
        </p:nvSpPr>
        <p:spPr/>
        <p:txBody>
          <a:bodyPr/>
          <a:lstStyle/>
          <a:p>
            <a:r>
              <a:rPr lang="en-US" dirty="0"/>
              <a:t>Develop a deeper understanding of…</a:t>
            </a:r>
            <a:endParaRPr lang="en-GB" dirty="0"/>
          </a:p>
        </p:txBody>
      </p:sp>
      <p:sp>
        <p:nvSpPr>
          <p:cNvPr id="5" name="Content Placeholder 4">
            <a:extLst>
              <a:ext uri="{FF2B5EF4-FFF2-40B4-BE49-F238E27FC236}">
                <a16:creationId xmlns:a16="http://schemas.microsoft.com/office/drawing/2014/main" id="{8D68AA04-CE99-4E3D-A743-B4FE0611BB3C}"/>
              </a:ext>
            </a:extLst>
          </p:cNvPr>
          <p:cNvSpPr>
            <a:spLocks noGrp="1"/>
          </p:cNvSpPr>
          <p:nvPr>
            <p:ph idx="1"/>
          </p:nvPr>
        </p:nvSpPr>
        <p:spPr>
          <a:xfrm>
            <a:off x="838200" y="1825624"/>
            <a:ext cx="10515600" cy="5032375"/>
          </a:xfrm>
        </p:spPr>
        <p:txBody>
          <a:bodyPr>
            <a:normAutofit/>
          </a:bodyPr>
          <a:lstStyle/>
          <a:p>
            <a:pPr marL="0" indent="0">
              <a:buNone/>
            </a:pPr>
            <a:r>
              <a:rPr lang="en-US" b="1" dirty="0"/>
              <a:t>Advanced Interpretability, physics-informed NNs (W12++)</a:t>
            </a:r>
          </a:p>
          <a:p>
            <a:r>
              <a:rPr lang="en-US" dirty="0"/>
              <a:t>A very active field in research at the moment, as people are trying to understand the limitations of LLMs and the reasons why they tend to hallucinate or fail to follow moderation rules.</a:t>
            </a:r>
          </a:p>
          <a:p>
            <a:r>
              <a:rPr lang="en-US" dirty="0"/>
              <a:t>Not that many courses out there, but worth keeping an eye out…</a:t>
            </a:r>
          </a:p>
          <a:p>
            <a:pPr marL="0" indent="0">
              <a:buNone/>
            </a:pPr>
            <a:endParaRPr lang="en-US" b="1" dirty="0"/>
          </a:p>
          <a:p>
            <a:pPr marL="0" indent="0">
              <a:buNone/>
            </a:pPr>
            <a:endParaRPr lang="en-US" dirty="0">
              <a:hlinkClick r:id="rId2"/>
            </a:endParaRPr>
          </a:p>
          <a:p>
            <a:endParaRPr lang="en-GB" dirty="0"/>
          </a:p>
        </p:txBody>
      </p:sp>
    </p:spTree>
    <p:extLst>
      <p:ext uri="{BB962C8B-B14F-4D97-AF65-F5344CB8AC3E}">
        <p14:creationId xmlns:p14="http://schemas.microsoft.com/office/powerpoint/2010/main" val="1227707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A1362-4DE9-96B7-F08B-7E74964092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C22A5E9-A0D4-45DB-0DDD-F8F5B3651A31}"/>
              </a:ext>
            </a:extLst>
          </p:cNvPr>
          <p:cNvSpPr>
            <a:spLocks noGrp="1"/>
          </p:cNvSpPr>
          <p:nvPr>
            <p:ph type="title"/>
          </p:nvPr>
        </p:nvSpPr>
        <p:spPr/>
        <p:txBody>
          <a:bodyPr/>
          <a:lstStyle/>
          <a:p>
            <a:r>
              <a:rPr lang="en-US" dirty="0"/>
              <a:t>Develop a deeper understanding of…</a:t>
            </a:r>
            <a:endParaRPr lang="en-GB" dirty="0"/>
          </a:p>
        </p:txBody>
      </p:sp>
      <p:sp>
        <p:nvSpPr>
          <p:cNvPr id="5" name="Content Placeholder 4">
            <a:extLst>
              <a:ext uri="{FF2B5EF4-FFF2-40B4-BE49-F238E27FC236}">
                <a16:creationId xmlns:a16="http://schemas.microsoft.com/office/drawing/2014/main" id="{19A6D12E-A156-E8EC-5641-72FA3C697DED}"/>
              </a:ext>
            </a:extLst>
          </p:cNvPr>
          <p:cNvSpPr>
            <a:spLocks noGrp="1"/>
          </p:cNvSpPr>
          <p:nvPr>
            <p:ph idx="1"/>
          </p:nvPr>
        </p:nvSpPr>
        <p:spPr>
          <a:xfrm>
            <a:off x="838200" y="1825624"/>
            <a:ext cx="10515600" cy="5032375"/>
          </a:xfrm>
        </p:spPr>
        <p:txBody>
          <a:bodyPr>
            <a:normAutofit/>
          </a:bodyPr>
          <a:lstStyle/>
          <a:p>
            <a:pPr marL="0" indent="0">
              <a:buNone/>
            </a:pPr>
            <a:r>
              <a:rPr lang="en-US" b="1" dirty="0"/>
              <a:t>Advanced Diffusion Models (W12++)</a:t>
            </a:r>
          </a:p>
          <a:p>
            <a:r>
              <a:rPr lang="en-US" dirty="0"/>
              <a:t>Any good course about advanced diffusion models and advanced generative models (Dall-E and </a:t>
            </a:r>
            <a:r>
              <a:rPr lang="en-US" dirty="0" err="1"/>
              <a:t>MidJourney</a:t>
            </a:r>
            <a:r>
              <a:rPr lang="en-US" dirty="0"/>
              <a:t>) would also be worth considering.</a:t>
            </a:r>
          </a:p>
          <a:p>
            <a:pPr marL="0" indent="0">
              <a:buNone/>
            </a:pPr>
            <a:r>
              <a:rPr lang="en-SG" dirty="0">
                <a:hlinkClick r:id="rId2"/>
              </a:rPr>
              <a:t>https://www.fast.ai/posts/part2-2023.html</a:t>
            </a:r>
            <a:r>
              <a:rPr lang="en-GB" dirty="0"/>
              <a:t> </a:t>
            </a:r>
            <a:endParaRPr lang="en-US" dirty="0"/>
          </a:p>
          <a:p>
            <a:r>
              <a:rPr lang="en-US" dirty="0"/>
              <a:t>Will likely be covered in </a:t>
            </a:r>
            <a:r>
              <a:rPr lang="en-US" b="1" dirty="0"/>
              <a:t>Term 7 Computer Vision.</a:t>
            </a:r>
            <a:endParaRPr lang="en-US" dirty="0"/>
          </a:p>
          <a:p>
            <a:pPr marL="0" indent="0">
              <a:buNone/>
            </a:pPr>
            <a:endParaRPr lang="en-US" b="1" dirty="0"/>
          </a:p>
          <a:p>
            <a:pPr marL="0" indent="0">
              <a:buNone/>
            </a:pPr>
            <a:endParaRPr lang="en-US" dirty="0">
              <a:hlinkClick r:id="rId3"/>
            </a:endParaRPr>
          </a:p>
          <a:p>
            <a:endParaRPr lang="en-GB" dirty="0"/>
          </a:p>
        </p:txBody>
      </p:sp>
    </p:spTree>
    <p:extLst>
      <p:ext uri="{BB962C8B-B14F-4D97-AF65-F5344CB8AC3E}">
        <p14:creationId xmlns:p14="http://schemas.microsoft.com/office/powerpoint/2010/main" val="3355195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9BA3E-C78D-ED02-0726-9C23D506B592}"/>
              </a:ext>
            </a:extLst>
          </p:cNvPr>
          <p:cNvSpPr>
            <a:spLocks noGrp="1"/>
          </p:cNvSpPr>
          <p:nvPr>
            <p:ph type="title"/>
          </p:nvPr>
        </p:nvSpPr>
        <p:spPr/>
        <p:txBody>
          <a:bodyPr/>
          <a:lstStyle/>
          <a:p>
            <a:r>
              <a:rPr lang="en-GB" dirty="0"/>
              <a:t>Our new SUTD MSc in AI!</a:t>
            </a:r>
          </a:p>
        </p:txBody>
      </p:sp>
      <p:sp>
        <p:nvSpPr>
          <p:cNvPr id="3" name="Content Placeholder 2">
            <a:extLst>
              <a:ext uri="{FF2B5EF4-FFF2-40B4-BE49-F238E27FC236}">
                <a16:creationId xmlns:a16="http://schemas.microsoft.com/office/drawing/2014/main" id="{889F2BE8-250A-7BC7-7A53-7A7703885B52}"/>
              </a:ext>
            </a:extLst>
          </p:cNvPr>
          <p:cNvSpPr>
            <a:spLocks noGrp="1"/>
          </p:cNvSpPr>
          <p:nvPr>
            <p:ph idx="1"/>
          </p:nvPr>
        </p:nvSpPr>
        <p:spPr>
          <a:xfrm>
            <a:off x="261258" y="1825624"/>
            <a:ext cx="2873828" cy="4792889"/>
          </a:xfrm>
        </p:spPr>
        <p:txBody>
          <a:bodyPr/>
          <a:lstStyle/>
          <a:p>
            <a:pPr marL="0" indent="0">
              <a:buNone/>
            </a:pPr>
            <a:r>
              <a:rPr lang="en-GB" dirty="0"/>
              <a:t>Open for application: </a:t>
            </a:r>
            <a:r>
              <a:rPr lang="en-GB" dirty="0">
                <a:hlinkClick r:id="rId2"/>
              </a:rPr>
              <a:t>https://www.sutd.edu.sg/programme-listing/master-of-science-in-design-and-artificial-intelligence-for-enterprise/</a:t>
            </a:r>
            <a:endParaRPr lang="en-GB" dirty="0"/>
          </a:p>
          <a:p>
            <a:endParaRPr lang="en-GB" dirty="0"/>
          </a:p>
        </p:txBody>
      </p:sp>
      <p:pic>
        <p:nvPicPr>
          <p:cNvPr id="5" name="Picture 4">
            <a:extLst>
              <a:ext uri="{FF2B5EF4-FFF2-40B4-BE49-F238E27FC236}">
                <a16:creationId xmlns:a16="http://schemas.microsoft.com/office/drawing/2014/main" id="{B5D5121E-F87A-4500-BEBD-E6D21B730663}"/>
              </a:ext>
            </a:extLst>
          </p:cNvPr>
          <p:cNvPicPr>
            <a:picLocks noChangeAspect="1"/>
          </p:cNvPicPr>
          <p:nvPr/>
        </p:nvPicPr>
        <p:blipFill>
          <a:blip r:embed="rId3"/>
          <a:stretch>
            <a:fillRect/>
          </a:stretch>
        </p:blipFill>
        <p:spPr>
          <a:xfrm>
            <a:off x="3135086" y="1699986"/>
            <a:ext cx="8935353" cy="4792889"/>
          </a:xfrm>
          <a:prstGeom prst="rect">
            <a:avLst/>
          </a:prstGeom>
        </p:spPr>
      </p:pic>
    </p:spTree>
    <p:extLst>
      <p:ext uri="{BB962C8B-B14F-4D97-AF65-F5344CB8AC3E}">
        <p14:creationId xmlns:p14="http://schemas.microsoft.com/office/powerpoint/2010/main" val="1969962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C80F4-B5DB-2E41-9347-59B866C7CDA5}"/>
              </a:ext>
            </a:extLst>
          </p:cNvPr>
          <p:cNvSpPr>
            <a:spLocks noGrp="1"/>
          </p:cNvSpPr>
          <p:nvPr>
            <p:ph type="title"/>
          </p:nvPr>
        </p:nvSpPr>
        <p:spPr/>
        <p:txBody>
          <a:bodyPr/>
          <a:lstStyle/>
          <a:p>
            <a:r>
              <a:rPr lang="en-US" dirty="0"/>
              <a:t>On top of everything we have seen…</a:t>
            </a:r>
            <a:endParaRPr lang="en-GB" dirty="0"/>
          </a:p>
        </p:txBody>
      </p:sp>
      <p:sp>
        <p:nvSpPr>
          <p:cNvPr id="3" name="Content Placeholder 2">
            <a:extLst>
              <a:ext uri="{FF2B5EF4-FFF2-40B4-BE49-F238E27FC236}">
                <a16:creationId xmlns:a16="http://schemas.microsoft.com/office/drawing/2014/main" id="{B4184860-3C75-A925-181F-0027B67922F8}"/>
              </a:ext>
            </a:extLst>
          </p:cNvPr>
          <p:cNvSpPr>
            <a:spLocks noGrp="1"/>
          </p:cNvSpPr>
          <p:nvPr>
            <p:ph idx="1"/>
          </p:nvPr>
        </p:nvSpPr>
        <p:spPr>
          <a:xfrm>
            <a:off x="838200" y="1825624"/>
            <a:ext cx="10515600" cy="5032375"/>
          </a:xfrm>
        </p:spPr>
        <p:txBody>
          <a:bodyPr>
            <a:normAutofit/>
          </a:bodyPr>
          <a:lstStyle/>
          <a:p>
            <a:pPr marL="0" indent="0">
              <a:buNone/>
            </a:pPr>
            <a:r>
              <a:rPr lang="en-GB" dirty="0"/>
              <a:t>A bit of </a:t>
            </a:r>
            <a:r>
              <a:rPr lang="en-GB" b="1" dirty="0"/>
              <a:t>agentic AI </a:t>
            </a:r>
            <a:r>
              <a:rPr lang="en-GB" dirty="0"/>
              <a:t>never hurts!</a:t>
            </a:r>
          </a:p>
          <a:p>
            <a:r>
              <a:rPr lang="en-GB" dirty="0"/>
              <a:t>A good starting point would be the 5day intensive Agentic AI course by Google: </a:t>
            </a:r>
            <a:r>
              <a:rPr lang="en-GB" dirty="0">
                <a:hlinkClick r:id="rId2"/>
              </a:rPr>
              <a:t>https://www.kaggle.com/learn-guide/5-day-agents</a:t>
            </a:r>
            <a:r>
              <a:rPr lang="en-GB" dirty="0"/>
              <a:t> </a:t>
            </a:r>
          </a:p>
          <a:p>
            <a:r>
              <a:rPr lang="en-GB" dirty="0" err="1"/>
              <a:t>DeepLearning</a:t>
            </a:r>
            <a:r>
              <a:rPr lang="en-GB" dirty="0"/>
              <a:t> AI/Andrew Ng courses are never a bad thing: </a:t>
            </a:r>
            <a:r>
              <a:rPr lang="en-GB" dirty="0">
                <a:hlinkClick r:id="rId3"/>
              </a:rPr>
              <a:t>https://www.linkedin.com/posts/abdullah-al-noman-khu_andrew-ng-is-launching-a-new-deep-learning-activity-7387850439851094016-h6oi/?utm_source=share&amp;utm_medium=member_android&amp;rcm=ACoAAAbntaYBN_8Rx2Ty30AiacJ27hkp-JDXY-8</a:t>
            </a:r>
            <a:endParaRPr lang="en-GB" dirty="0"/>
          </a:p>
          <a:p>
            <a:endParaRPr lang="en-GB" dirty="0"/>
          </a:p>
          <a:p>
            <a:r>
              <a:rPr lang="en-GB" dirty="0"/>
              <a:t>Also, consider learning about Retrieval-Augmented Generation and </a:t>
            </a:r>
            <a:r>
              <a:rPr lang="en-GB" b="1" dirty="0"/>
              <a:t>Information Retrieval </a:t>
            </a:r>
            <a:r>
              <a:rPr lang="en-GB" dirty="0"/>
              <a:t>(we have a Term 7 course at SUTD, 50.045!)</a:t>
            </a:r>
          </a:p>
        </p:txBody>
      </p:sp>
    </p:spTree>
    <p:extLst>
      <p:ext uri="{BB962C8B-B14F-4D97-AF65-F5344CB8AC3E}">
        <p14:creationId xmlns:p14="http://schemas.microsoft.com/office/powerpoint/2010/main" val="2461548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6F7A7-7731-488B-8DF2-1407712F1EC1}"/>
              </a:ext>
            </a:extLst>
          </p:cNvPr>
          <p:cNvSpPr>
            <a:spLocks noGrp="1"/>
          </p:cNvSpPr>
          <p:nvPr>
            <p:ph type="title"/>
          </p:nvPr>
        </p:nvSpPr>
        <p:spPr/>
        <p:txBody>
          <a:bodyPr/>
          <a:lstStyle/>
          <a:p>
            <a:r>
              <a:rPr lang="en-US" dirty="0"/>
              <a:t>On top of everything we have seen…</a:t>
            </a:r>
            <a:endParaRPr lang="en-GB" dirty="0"/>
          </a:p>
        </p:txBody>
      </p:sp>
      <p:sp>
        <p:nvSpPr>
          <p:cNvPr id="3" name="Content Placeholder 2">
            <a:extLst>
              <a:ext uri="{FF2B5EF4-FFF2-40B4-BE49-F238E27FC236}">
                <a16:creationId xmlns:a16="http://schemas.microsoft.com/office/drawing/2014/main" id="{9D882609-53DF-4B06-91C6-50E0570C62D5}"/>
              </a:ext>
            </a:extLst>
          </p:cNvPr>
          <p:cNvSpPr>
            <a:spLocks noGrp="1"/>
          </p:cNvSpPr>
          <p:nvPr>
            <p:ph idx="1"/>
          </p:nvPr>
        </p:nvSpPr>
        <p:spPr>
          <a:xfrm>
            <a:off x="838200" y="1825624"/>
            <a:ext cx="10515600" cy="5032375"/>
          </a:xfrm>
        </p:spPr>
        <p:txBody>
          <a:bodyPr>
            <a:normAutofit/>
          </a:bodyPr>
          <a:lstStyle/>
          <a:p>
            <a:pPr marL="0" indent="0">
              <a:buNone/>
            </a:pPr>
            <a:r>
              <a:rPr lang="en-GB" b="1" dirty="0"/>
              <a:t>More concepts, problems and architectures on Computer Vision</a:t>
            </a:r>
            <a:endParaRPr lang="en-GB" dirty="0"/>
          </a:p>
          <a:p>
            <a:r>
              <a:rPr lang="en-GB" dirty="0"/>
              <a:t>Also, always good to go for an image processing course to understand typical image transformation and problems out there.</a:t>
            </a:r>
          </a:p>
          <a:p>
            <a:pPr marL="0" indent="0">
              <a:buNone/>
            </a:pPr>
            <a:r>
              <a:rPr lang="en-GB" dirty="0">
                <a:hlinkClick r:id="rId2"/>
              </a:rPr>
              <a:t>https://www.coursera.org/learn/image-processing?ranMID=40328&amp;ranEAID=*GqSdLGGurk&amp;ranSiteID=.GqSdLGGurk-GV4LxEnPMuMd1.8y4AurRA&amp;siteID=.GqSdLGGurk-GV4LxEnPMuMd1.8y4AurRA&amp;utm_content=10&amp;utm_medium=partners&amp;utm_source=linkshare&amp;utm_campaign=*GqSdLGGurk</a:t>
            </a:r>
            <a:endParaRPr lang="en-GB" dirty="0"/>
          </a:p>
          <a:p>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7705854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6F7A7-7731-488B-8DF2-1407712F1EC1}"/>
              </a:ext>
            </a:extLst>
          </p:cNvPr>
          <p:cNvSpPr>
            <a:spLocks noGrp="1"/>
          </p:cNvSpPr>
          <p:nvPr>
            <p:ph type="title"/>
          </p:nvPr>
        </p:nvSpPr>
        <p:spPr/>
        <p:txBody>
          <a:bodyPr/>
          <a:lstStyle/>
          <a:p>
            <a:r>
              <a:rPr lang="en-US" dirty="0"/>
              <a:t>On top of everything we have seen…</a:t>
            </a:r>
            <a:endParaRPr lang="en-GB" dirty="0"/>
          </a:p>
        </p:txBody>
      </p:sp>
      <p:sp>
        <p:nvSpPr>
          <p:cNvPr id="3" name="Content Placeholder 2">
            <a:extLst>
              <a:ext uri="{FF2B5EF4-FFF2-40B4-BE49-F238E27FC236}">
                <a16:creationId xmlns:a16="http://schemas.microsoft.com/office/drawing/2014/main" id="{9D882609-53DF-4B06-91C6-50E0570C62D5}"/>
              </a:ext>
            </a:extLst>
          </p:cNvPr>
          <p:cNvSpPr>
            <a:spLocks noGrp="1"/>
          </p:cNvSpPr>
          <p:nvPr>
            <p:ph idx="1"/>
          </p:nvPr>
        </p:nvSpPr>
        <p:spPr/>
        <p:txBody>
          <a:bodyPr/>
          <a:lstStyle/>
          <a:p>
            <a:pPr marL="0" indent="0">
              <a:buNone/>
            </a:pPr>
            <a:r>
              <a:rPr lang="en-GB" b="1" dirty="0"/>
              <a:t>Bayesian and Statistical Learning (Variational </a:t>
            </a:r>
            <a:r>
              <a:rPr lang="en-GB" b="1" dirty="0" err="1"/>
              <a:t>AutoEncoders</a:t>
            </a:r>
            <a:r>
              <a:rPr lang="en-GB" b="1" dirty="0"/>
              <a:t> were 101, more on diffusion models).</a:t>
            </a:r>
          </a:p>
          <a:p>
            <a:r>
              <a:rPr lang="en-GB" dirty="0"/>
              <a:t>A good entry point for Bayesian Deep Learning</a:t>
            </a:r>
          </a:p>
          <a:p>
            <a:pPr marL="0" indent="0">
              <a:buNone/>
            </a:pPr>
            <a:r>
              <a:rPr lang="en-GB" dirty="0">
                <a:hlinkClick r:id="rId2"/>
              </a:rPr>
              <a:t>https://medium.com/@ODSC/introduction-to-bayesian-deep-learning-f7568f524c90</a:t>
            </a:r>
            <a:endParaRPr lang="en-GB" dirty="0"/>
          </a:p>
          <a:p>
            <a:r>
              <a:rPr lang="en-GB" dirty="0"/>
              <a:t>Lectures 10-End</a:t>
            </a:r>
          </a:p>
          <a:p>
            <a:pPr marL="0" indent="0">
              <a:buNone/>
            </a:pPr>
            <a:r>
              <a:rPr lang="en-GB" dirty="0">
                <a:hlinkClick r:id="rId3"/>
              </a:rPr>
              <a:t>https://www.cs.ox.ac.uk/teaching/courses/2020-2021/advml/</a:t>
            </a:r>
            <a:endParaRPr lang="en-GB" dirty="0"/>
          </a:p>
          <a:p>
            <a:pPr marL="0" indent="0">
              <a:buNone/>
            </a:pPr>
            <a:endParaRPr lang="en-GB" dirty="0"/>
          </a:p>
        </p:txBody>
      </p:sp>
    </p:spTree>
    <p:extLst>
      <p:ext uri="{BB962C8B-B14F-4D97-AF65-F5344CB8AC3E}">
        <p14:creationId xmlns:p14="http://schemas.microsoft.com/office/powerpoint/2010/main" val="364281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6F7A7-7731-488B-8DF2-1407712F1EC1}"/>
              </a:ext>
            </a:extLst>
          </p:cNvPr>
          <p:cNvSpPr>
            <a:spLocks noGrp="1"/>
          </p:cNvSpPr>
          <p:nvPr>
            <p:ph type="title"/>
          </p:nvPr>
        </p:nvSpPr>
        <p:spPr/>
        <p:txBody>
          <a:bodyPr/>
          <a:lstStyle/>
          <a:p>
            <a:r>
              <a:rPr lang="en-US" dirty="0"/>
              <a:t>On top of everything we have seen…</a:t>
            </a:r>
            <a:endParaRPr lang="en-GB" dirty="0"/>
          </a:p>
        </p:txBody>
      </p:sp>
      <p:sp>
        <p:nvSpPr>
          <p:cNvPr id="3" name="Content Placeholder 2">
            <a:extLst>
              <a:ext uri="{FF2B5EF4-FFF2-40B4-BE49-F238E27FC236}">
                <a16:creationId xmlns:a16="http://schemas.microsoft.com/office/drawing/2014/main" id="{9D882609-53DF-4B06-91C6-50E0570C62D5}"/>
              </a:ext>
            </a:extLst>
          </p:cNvPr>
          <p:cNvSpPr>
            <a:spLocks noGrp="1"/>
          </p:cNvSpPr>
          <p:nvPr>
            <p:ph idx="1"/>
          </p:nvPr>
        </p:nvSpPr>
        <p:spPr>
          <a:xfrm>
            <a:off x="838200" y="1825624"/>
            <a:ext cx="10515600" cy="5032375"/>
          </a:xfrm>
        </p:spPr>
        <p:txBody>
          <a:bodyPr>
            <a:normAutofit/>
          </a:bodyPr>
          <a:lstStyle/>
          <a:p>
            <a:pPr marL="0" indent="0">
              <a:buNone/>
            </a:pPr>
            <a:r>
              <a:rPr lang="en-GB" b="1" dirty="0"/>
              <a:t>A bit of advanced optimization and game theory never hurts…</a:t>
            </a:r>
          </a:p>
          <a:p>
            <a:r>
              <a:rPr lang="en-GB" dirty="0"/>
              <a:t>Especially when trying to optimize two cooperating or competing neural networks! (GANs, actor-critic, etc.)</a:t>
            </a:r>
          </a:p>
          <a:p>
            <a:r>
              <a:rPr lang="en-GB" dirty="0"/>
              <a:t>Great courses here:</a:t>
            </a:r>
          </a:p>
          <a:p>
            <a:pPr marL="0" indent="0">
              <a:buNone/>
            </a:pPr>
            <a:r>
              <a:rPr lang="en-GB" dirty="0">
                <a:hlinkClick r:id="rId2"/>
              </a:rPr>
              <a:t>https://oyc.yale.edu/economics/econ-159</a:t>
            </a:r>
            <a:endParaRPr lang="en-GB" dirty="0"/>
          </a:p>
          <a:p>
            <a:pPr marL="0" indent="0">
              <a:buNone/>
            </a:pPr>
            <a:r>
              <a:rPr lang="en-GB" dirty="0"/>
              <a:t>And</a:t>
            </a:r>
          </a:p>
          <a:p>
            <a:pPr marL="0" indent="0">
              <a:buNone/>
            </a:pPr>
            <a:r>
              <a:rPr lang="en-GB" dirty="0">
                <a:hlinkClick r:id="rId3"/>
              </a:rPr>
              <a:t>https://online.stanford.edu/courses/soe-ycs0002-game-theory</a:t>
            </a:r>
            <a:endParaRPr lang="en-GB" dirty="0"/>
          </a:p>
          <a:p>
            <a:pPr marL="0" indent="0">
              <a:buNone/>
            </a:pPr>
            <a:endParaRPr lang="en-GB" dirty="0"/>
          </a:p>
          <a:p>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3581633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6F7A7-7731-488B-8DF2-1407712F1EC1}"/>
              </a:ext>
            </a:extLst>
          </p:cNvPr>
          <p:cNvSpPr>
            <a:spLocks noGrp="1"/>
          </p:cNvSpPr>
          <p:nvPr>
            <p:ph type="title"/>
          </p:nvPr>
        </p:nvSpPr>
        <p:spPr/>
        <p:txBody>
          <a:bodyPr/>
          <a:lstStyle/>
          <a:p>
            <a:r>
              <a:rPr lang="en-US" dirty="0"/>
              <a:t>On top of everything we have seen…</a:t>
            </a:r>
            <a:endParaRPr lang="en-GB" dirty="0"/>
          </a:p>
        </p:txBody>
      </p:sp>
      <p:sp>
        <p:nvSpPr>
          <p:cNvPr id="3" name="Content Placeholder 2">
            <a:extLst>
              <a:ext uri="{FF2B5EF4-FFF2-40B4-BE49-F238E27FC236}">
                <a16:creationId xmlns:a16="http://schemas.microsoft.com/office/drawing/2014/main" id="{9D882609-53DF-4B06-91C6-50E0570C62D5}"/>
              </a:ext>
            </a:extLst>
          </p:cNvPr>
          <p:cNvSpPr>
            <a:spLocks noGrp="1"/>
          </p:cNvSpPr>
          <p:nvPr>
            <p:ph sz="half" idx="1"/>
          </p:nvPr>
        </p:nvSpPr>
        <p:spPr>
          <a:xfrm>
            <a:off x="838200" y="1825624"/>
            <a:ext cx="5181600" cy="5032375"/>
          </a:xfrm>
        </p:spPr>
        <p:txBody>
          <a:bodyPr>
            <a:normAutofit lnSpcReduction="10000"/>
          </a:bodyPr>
          <a:lstStyle/>
          <a:p>
            <a:pPr marL="0" indent="0">
              <a:buNone/>
            </a:pPr>
            <a:r>
              <a:rPr lang="en-GB" b="1" dirty="0"/>
              <a:t>CUDA masters are the king of the world these days…</a:t>
            </a:r>
            <a:endParaRPr lang="en-GB" dirty="0"/>
          </a:p>
          <a:p>
            <a:r>
              <a:rPr lang="en-GB" dirty="0" err="1"/>
              <a:t>BigTech</a:t>
            </a:r>
            <a:r>
              <a:rPr lang="en-GB" dirty="0"/>
              <a:t> companies are looking for experts that can help with machine learning and custom GPU implementations</a:t>
            </a:r>
          </a:p>
          <a:p>
            <a:r>
              <a:rPr lang="en-GB" dirty="0"/>
              <a:t>The most obvious way to learn is from Nvidia courses themselves, some give certifications, but it is an investment...</a:t>
            </a:r>
          </a:p>
          <a:p>
            <a:pPr marL="0" indent="0">
              <a:buNone/>
            </a:pPr>
            <a:r>
              <a:rPr lang="en-GB" dirty="0">
                <a:hlinkClick r:id="rId2"/>
              </a:rPr>
              <a:t>https://developer.nvidia.com/cuda-education-training</a:t>
            </a:r>
            <a:endParaRPr lang="en-GB" dirty="0"/>
          </a:p>
          <a:p>
            <a:endParaRPr lang="en-GB" dirty="0"/>
          </a:p>
          <a:p>
            <a:pPr marL="0" indent="0">
              <a:buNone/>
            </a:pPr>
            <a:endParaRPr lang="en-GB" dirty="0"/>
          </a:p>
          <a:p>
            <a:pPr marL="0" indent="0">
              <a:buNone/>
            </a:pPr>
            <a:endParaRPr lang="en-GB" dirty="0"/>
          </a:p>
        </p:txBody>
      </p:sp>
      <p:pic>
        <p:nvPicPr>
          <p:cNvPr id="6" name="Picture 5">
            <a:extLst>
              <a:ext uri="{FF2B5EF4-FFF2-40B4-BE49-F238E27FC236}">
                <a16:creationId xmlns:a16="http://schemas.microsoft.com/office/drawing/2014/main" id="{54D0B528-15A1-24F2-2476-3A8D0123B3A4}"/>
              </a:ext>
            </a:extLst>
          </p:cNvPr>
          <p:cNvPicPr>
            <a:picLocks noChangeAspect="1"/>
          </p:cNvPicPr>
          <p:nvPr/>
        </p:nvPicPr>
        <p:blipFill>
          <a:blip r:embed="rId3"/>
          <a:stretch>
            <a:fillRect/>
          </a:stretch>
        </p:blipFill>
        <p:spPr>
          <a:xfrm>
            <a:off x="6172202" y="3677055"/>
            <a:ext cx="5714965" cy="2894769"/>
          </a:xfrm>
          <a:prstGeom prst="rect">
            <a:avLst/>
          </a:prstGeom>
        </p:spPr>
      </p:pic>
      <p:pic>
        <p:nvPicPr>
          <p:cNvPr id="8" name="Picture 7" descr="Logo, company name&#10;&#10;Description automatically generated">
            <a:extLst>
              <a:ext uri="{FF2B5EF4-FFF2-40B4-BE49-F238E27FC236}">
                <a16:creationId xmlns:a16="http://schemas.microsoft.com/office/drawing/2014/main" id="{06981AD3-0408-47CA-7462-ECF93911DF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55275" y="1450467"/>
            <a:ext cx="3988341" cy="2243442"/>
          </a:xfrm>
          <a:prstGeom prst="rect">
            <a:avLst/>
          </a:prstGeom>
        </p:spPr>
      </p:pic>
    </p:spTree>
    <p:extLst>
      <p:ext uri="{BB962C8B-B14F-4D97-AF65-F5344CB8AC3E}">
        <p14:creationId xmlns:p14="http://schemas.microsoft.com/office/powerpoint/2010/main" val="2073425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6F7A7-7731-488B-8DF2-1407712F1EC1}"/>
              </a:ext>
            </a:extLst>
          </p:cNvPr>
          <p:cNvSpPr>
            <a:spLocks noGrp="1"/>
          </p:cNvSpPr>
          <p:nvPr>
            <p:ph type="title"/>
          </p:nvPr>
        </p:nvSpPr>
        <p:spPr/>
        <p:txBody>
          <a:bodyPr/>
          <a:lstStyle/>
          <a:p>
            <a:r>
              <a:rPr lang="en-US" dirty="0"/>
              <a:t>On top of everything we have seen…</a:t>
            </a:r>
            <a:endParaRPr lang="en-GB" dirty="0"/>
          </a:p>
        </p:txBody>
      </p:sp>
      <p:sp>
        <p:nvSpPr>
          <p:cNvPr id="3" name="Content Placeholder 2">
            <a:extLst>
              <a:ext uri="{FF2B5EF4-FFF2-40B4-BE49-F238E27FC236}">
                <a16:creationId xmlns:a16="http://schemas.microsoft.com/office/drawing/2014/main" id="{9D882609-53DF-4B06-91C6-50E0570C62D5}"/>
              </a:ext>
            </a:extLst>
          </p:cNvPr>
          <p:cNvSpPr>
            <a:spLocks noGrp="1"/>
          </p:cNvSpPr>
          <p:nvPr>
            <p:ph sz="half" idx="1"/>
          </p:nvPr>
        </p:nvSpPr>
        <p:spPr>
          <a:xfrm>
            <a:off x="838199" y="1825624"/>
            <a:ext cx="7488678" cy="4915643"/>
          </a:xfrm>
        </p:spPr>
        <p:txBody>
          <a:bodyPr>
            <a:normAutofit/>
          </a:bodyPr>
          <a:lstStyle/>
          <a:p>
            <a:pPr marL="0" indent="0">
              <a:buNone/>
            </a:pPr>
            <a:r>
              <a:rPr lang="en-GB" b="1" dirty="0"/>
              <a:t>Could computing is also very valuable…</a:t>
            </a:r>
          </a:p>
          <a:p>
            <a:r>
              <a:rPr lang="en-GB" dirty="0"/>
              <a:t>Similarly, a certification in AWS or Microsoft Azure of Google Cloud for cloud computing machine/deep learning is of high value these days!</a:t>
            </a:r>
          </a:p>
          <a:p>
            <a:r>
              <a:rPr lang="en-GB" b="1" dirty="0"/>
              <a:t>In case you missed it, we have an ongoing AWS certification partnership available at SUTD! </a:t>
            </a:r>
          </a:p>
          <a:p>
            <a:pPr marL="0" indent="0">
              <a:buNone/>
            </a:pPr>
            <a:r>
              <a:rPr lang="en-GB" dirty="0"/>
              <a:t>Details here: </a:t>
            </a:r>
            <a:r>
              <a:rPr lang="en-GB" dirty="0">
                <a:hlinkClick r:id="rId2"/>
              </a:rPr>
              <a:t>https://sutdapac-my.sharepoint.com/:f:/g/personal/matthieu_demari_sutd_edu_sg/IgCvSsdM8TuzQ4B1SBKLRhIeAStaTQq05B32_KOp_jMSXuw?e=t9NBog</a:t>
            </a:r>
            <a:r>
              <a:rPr lang="en-GB" dirty="0"/>
              <a:t> </a:t>
            </a:r>
          </a:p>
          <a:p>
            <a:pPr marL="0" indent="0">
              <a:buNone/>
            </a:pPr>
            <a:endParaRPr lang="en-GB" dirty="0"/>
          </a:p>
          <a:p>
            <a:endParaRPr lang="en-GB" dirty="0"/>
          </a:p>
          <a:p>
            <a:pPr marL="0" indent="0">
              <a:buNone/>
            </a:pPr>
            <a:endParaRPr lang="en-GB" dirty="0"/>
          </a:p>
          <a:p>
            <a:pPr marL="0" indent="0">
              <a:buNone/>
            </a:pPr>
            <a:endParaRPr lang="en-GB" dirty="0"/>
          </a:p>
        </p:txBody>
      </p:sp>
      <p:pic>
        <p:nvPicPr>
          <p:cNvPr id="6" name="Picture 5" descr="Logo, company name&#10;&#10;Description automatically generated">
            <a:extLst>
              <a:ext uri="{FF2B5EF4-FFF2-40B4-BE49-F238E27FC236}">
                <a16:creationId xmlns:a16="http://schemas.microsoft.com/office/drawing/2014/main" id="{1FB91D18-8AD7-C28C-DAB7-3CCFFB92C9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92247" y="1611616"/>
            <a:ext cx="3310169" cy="1893002"/>
          </a:xfrm>
          <a:prstGeom prst="rect">
            <a:avLst/>
          </a:prstGeom>
        </p:spPr>
      </p:pic>
    </p:spTree>
    <p:extLst>
      <p:ext uri="{BB962C8B-B14F-4D97-AF65-F5344CB8AC3E}">
        <p14:creationId xmlns:p14="http://schemas.microsoft.com/office/powerpoint/2010/main" val="463541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6F7A7-7731-488B-8DF2-1407712F1EC1}"/>
              </a:ext>
            </a:extLst>
          </p:cNvPr>
          <p:cNvSpPr>
            <a:spLocks noGrp="1"/>
          </p:cNvSpPr>
          <p:nvPr>
            <p:ph type="title"/>
          </p:nvPr>
        </p:nvSpPr>
        <p:spPr/>
        <p:txBody>
          <a:bodyPr/>
          <a:lstStyle/>
          <a:p>
            <a:r>
              <a:rPr lang="en-US" dirty="0"/>
              <a:t>On top of everything we have seen…</a:t>
            </a:r>
            <a:endParaRPr lang="en-GB" dirty="0"/>
          </a:p>
        </p:txBody>
      </p:sp>
      <p:sp>
        <p:nvSpPr>
          <p:cNvPr id="3" name="Content Placeholder 2">
            <a:extLst>
              <a:ext uri="{FF2B5EF4-FFF2-40B4-BE49-F238E27FC236}">
                <a16:creationId xmlns:a16="http://schemas.microsoft.com/office/drawing/2014/main" id="{9D882609-53DF-4B06-91C6-50E0570C62D5}"/>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Quantum is the next best thing?</a:t>
            </a:r>
          </a:p>
          <a:p>
            <a:pPr marL="0" indent="0">
              <a:buNone/>
            </a:pPr>
            <a:r>
              <a:rPr lang="en-GB" dirty="0"/>
              <a:t>Quantum computers are expected to be the next big thing in Computer Science in general.</a:t>
            </a:r>
          </a:p>
          <a:p>
            <a:r>
              <a:rPr lang="en-GB" dirty="0"/>
              <a:t>This will also apply to AI/ML/DL…</a:t>
            </a:r>
          </a:p>
          <a:p>
            <a:r>
              <a:rPr lang="en-GB" dirty="0"/>
              <a:t>This means we will get to train larger networks, faster. (This is currently a limit for many applications these days).</a:t>
            </a:r>
          </a:p>
          <a:p>
            <a:r>
              <a:rPr lang="en-GB" dirty="0"/>
              <a:t>Picking up on quantum computing is never a bad idea (but careful, possibly the most difficult topic out there!)</a:t>
            </a:r>
          </a:p>
          <a:p>
            <a:pPr marL="0" indent="0">
              <a:buNone/>
            </a:pPr>
            <a:r>
              <a:rPr lang="en-GB" dirty="0">
                <a:hlinkClick r:id="rId2"/>
              </a:rPr>
              <a:t>https://towardsdatascience.com/dont-ask-what-quantum-computing-can-do-for-machine-learning-cc44feeb51e8</a:t>
            </a:r>
            <a:endParaRPr lang="en-GB" dirty="0"/>
          </a:p>
          <a:p>
            <a:pPr marL="0" indent="0">
              <a:buNone/>
            </a:pPr>
            <a:r>
              <a:rPr lang="en-GB" dirty="0">
                <a:hlinkClick r:id="rId3"/>
              </a:rPr>
              <a:t>https://pennylane.ai/qml/whatisqml.html</a:t>
            </a:r>
            <a:r>
              <a:rPr lang="en-GB" dirty="0"/>
              <a:t> </a:t>
            </a:r>
          </a:p>
          <a:p>
            <a:pPr marL="0" indent="0">
              <a:buNone/>
            </a:pPr>
            <a:endParaRPr lang="en-GB" dirty="0"/>
          </a:p>
          <a:p>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984673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6F7A7-7731-488B-8DF2-1407712F1EC1}"/>
              </a:ext>
            </a:extLst>
          </p:cNvPr>
          <p:cNvSpPr>
            <a:spLocks noGrp="1"/>
          </p:cNvSpPr>
          <p:nvPr>
            <p:ph type="title"/>
          </p:nvPr>
        </p:nvSpPr>
        <p:spPr/>
        <p:txBody>
          <a:bodyPr/>
          <a:lstStyle/>
          <a:p>
            <a:r>
              <a:rPr lang="en-US" dirty="0"/>
              <a:t>On top of everything we have seen…</a:t>
            </a:r>
            <a:endParaRPr lang="en-GB" dirty="0"/>
          </a:p>
        </p:txBody>
      </p:sp>
      <p:sp>
        <p:nvSpPr>
          <p:cNvPr id="3" name="Content Placeholder 2">
            <a:extLst>
              <a:ext uri="{FF2B5EF4-FFF2-40B4-BE49-F238E27FC236}">
                <a16:creationId xmlns:a16="http://schemas.microsoft.com/office/drawing/2014/main" id="{9D882609-53DF-4B06-91C6-50E0570C62D5}"/>
              </a:ext>
            </a:extLst>
          </p:cNvPr>
          <p:cNvSpPr>
            <a:spLocks noGrp="1"/>
          </p:cNvSpPr>
          <p:nvPr>
            <p:ph idx="1"/>
          </p:nvPr>
        </p:nvSpPr>
        <p:spPr>
          <a:xfrm>
            <a:off x="838200" y="1825624"/>
            <a:ext cx="10515600" cy="5032375"/>
          </a:xfrm>
        </p:spPr>
        <p:txBody>
          <a:bodyPr>
            <a:normAutofit/>
          </a:bodyPr>
          <a:lstStyle/>
          <a:p>
            <a:pPr marL="0" indent="0">
              <a:buNone/>
            </a:pPr>
            <a:r>
              <a:rPr lang="en-GB" b="1" dirty="0"/>
              <a:t>More stuff</a:t>
            </a:r>
          </a:p>
          <a:p>
            <a:r>
              <a:rPr lang="en-GB" dirty="0"/>
              <a:t>Advanced Probability and Statistics (a.k.a. Statistical Learning) is always a great plus…</a:t>
            </a:r>
            <a:br>
              <a:rPr lang="en-GB" dirty="0"/>
            </a:br>
            <a:r>
              <a:rPr lang="en-GB" dirty="0">
                <a:hlinkClick r:id="rId2"/>
              </a:rPr>
              <a:t>https://www.statlearning.com/</a:t>
            </a:r>
            <a:endParaRPr lang="en-GB" dirty="0"/>
          </a:p>
          <a:p>
            <a:r>
              <a:rPr lang="en-GB" dirty="0"/>
              <a:t>Neuroscience should probably be part of any serious AI curriculum…</a:t>
            </a:r>
            <a:br>
              <a:rPr lang="en-GB" dirty="0"/>
            </a:br>
            <a:r>
              <a:rPr lang="en-GB" dirty="0"/>
              <a:t>[</a:t>
            </a:r>
            <a:r>
              <a:rPr lang="en-GB" dirty="0" err="1"/>
              <a:t>NeuroAI</a:t>
            </a:r>
            <a:r>
              <a:rPr lang="en-GB" dirty="0"/>
              <a:t>] Barron et al., “</a:t>
            </a:r>
            <a:r>
              <a:rPr lang="en-US" dirty="0"/>
              <a:t>What insects can tell us about the origins of consciousness”, 2015.</a:t>
            </a:r>
            <a:br>
              <a:rPr lang="en-US" dirty="0"/>
            </a:br>
            <a:r>
              <a:rPr lang="en-US" dirty="0"/>
              <a:t>[</a:t>
            </a:r>
            <a:r>
              <a:rPr lang="en-GB" dirty="0"/>
              <a:t>Kurzweil</a:t>
            </a:r>
            <a:r>
              <a:rPr lang="en-US" dirty="0"/>
              <a:t>] </a:t>
            </a:r>
            <a:r>
              <a:rPr lang="en-GB" dirty="0"/>
              <a:t>R. Kurzweil, “How to Create a Mind: The Secret of Human Thought Revealed”, 2012.</a:t>
            </a:r>
            <a:br>
              <a:rPr lang="en-GB" dirty="0"/>
            </a:br>
            <a:r>
              <a:rPr lang="en-GB" dirty="0"/>
              <a:t>[Marcus] G. Marcus, “The Future of the Brain”, 2014.</a:t>
            </a:r>
          </a:p>
          <a:p>
            <a:pPr marL="0" indent="0">
              <a:buNone/>
            </a:pPr>
            <a:r>
              <a:rPr lang="en-GB" dirty="0"/>
              <a:t>Etc.</a:t>
            </a:r>
          </a:p>
          <a:p>
            <a:endParaRPr lang="en-GB" dirty="0"/>
          </a:p>
          <a:p>
            <a:pPr marL="0" indent="0">
              <a:buNone/>
            </a:pPr>
            <a:endParaRPr lang="en-GB" dirty="0"/>
          </a:p>
          <a:p>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86124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6F7A7-7731-488B-8DF2-1407712F1EC1}"/>
              </a:ext>
            </a:extLst>
          </p:cNvPr>
          <p:cNvSpPr>
            <a:spLocks noGrp="1"/>
          </p:cNvSpPr>
          <p:nvPr>
            <p:ph type="title"/>
          </p:nvPr>
        </p:nvSpPr>
        <p:spPr/>
        <p:txBody>
          <a:bodyPr/>
          <a:lstStyle/>
          <a:p>
            <a:r>
              <a:rPr lang="en-US" dirty="0"/>
              <a:t>On top of everything we have seen…</a:t>
            </a:r>
            <a:endParaRPr lang="en-GB" dirty="0"/>
          </a:p>
        </p:txBody>
      </p:sp>
      <p:sp>
        <p:nvSpPr>
          <p:cNvPr id="3" name="Content Placeholder 2">
            <a:extLst>
              <a:ext uri="{FF2B5EF4-FFF2-40B4-BE49-F238E27FC236}">
                <a16:creationId xmlns:a16="http://schemas.microsoft.com/office/drawing/2014/main" id="{9D882609-53DF-4B06-91C6-50E0570C62D5}"/>
              </a:ext>
            </a:extLst>
          </p:cNvPr>
          <p:cNvSpPr>
            <a:spLocks noGrp="1"/>
          </p:cNvSpPr>
          <p:nvPr>
            <p:ph idx="1"/>
          </p:nvPr>
        </p:nvSpPr>
        <p:spPr>
          <a:xfrm>
            <a:off x="838200" y="1825624"/>
            <a:ext cx="10515600" cy="5032375"/>
          </a:xfrm>
        </p:spPr>
        <p:txBody>
          <a:bodyPr>
            <a:normAutofit/>
          </a:bodyPr>
          <a:lstStyle/>
          <a:p>
            <a:pPr marL="0" indent="0">
              <a:buNone/>
            </a:pPr>
            <a:r>
              <a:rPr lang="en-GB" b="1" dirty="0"/>
              <a:t>More stuff</a:t>
            </a:r>
          </a:p>
          <a:p>
            <a:pPr marL="0" indent="0">
              <a:buNone/>
            </a:pPr>
            <a:r>
              <a:rPr lang="en-GB" dirty="0"/>
              <a:t>Many more courses available for free/cheap out there…</a:t>
            </a:r>
          </a:p>
          <a:p>
            <a:r>
              <a:rPr lang="en-GB" dirty="0">
                <a:hlinkClick r:id="rId2"/>
              </a:rPr>
              <a:t>https://www.linkedin.com/posts/endritrestelica_ai-artificialintelliegence-activity-7069768595978776576-Cvsk/</a:t>
            </a:r>
            <a:r>
              <a:rPr lang="en-GB" dirty="0"/>
              <a:t> </a:t>
            </a:r>
          </a:p>
          <a:p>
            <a:r>
              <a:rPr lang="en-GB" dirty="0">
                <a:hlinkClick r:id="rId3"/>
              </a:rPr>
              <a:t>https://www.linkedin.com/posts/amanc_artificialintelligence-machinelearning-ai-activity-7052863983908753408-OPfM/</a:t>
            </a:r>
            <a:r>
              <a:rPr lang="en-GB" dirty="0"/>
              <a:t> </a:t>
            </a:r>
          </a:p>
          <a:p>
            <a:endParaRPr lang="en-GB" dirty="0">
              <a:hlinkClick r:id="rId4"/>
            </a:endParaRPr>
          </a:p>
          <a:p>
            <a:pPr marL="0" indent="0">
              <a:buNone/>
            </a:pPr>
            <a:r>
              <a:rPr lang="en-GB" dirty="0"/>
              <a:t>Possibly the best repo ever created on GitHub for CS stuff…</a:t>
            </a:r>
            <a:endParaRPr lang="en-GB" dirty="0">
              <a:hlinkClick r:id="rId4"/>
            </a:endParaRPr>
          </a:p>
          <a:p>
            <a:r>
              <a:rPr lang="en-GB" dirty="0">
                <a:hlinkClick r:id="rId4"/>
              </a:rPr>
              <a:t>https://github.com/Developer-Y/cs-video-courses</a:t>
            </a:r>
            <a:r>
              <a:rPr lang="en-GB" dirty="0"/>
              <a:t> </a:t>
            </a:r>
          </a:p>
          <a:p>
            <a:pPr marL="0" indent="0">
              <a:buNone/>
            </a:pPr>
            <a:endParaRPr lang="en-GB" dirty="0"/>
          </a:p>
          <a:p>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2346545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725B5-F049-3C40-3E21-40F3FED6C20E}"/>
              </a:ext>
            </a:extLst>
          </p:cNvPr>
          <p:cNvSpPr>
            <a:spLocks noGrp="1"/>
          </p:cNvSpPr>
          <p:nvPr>
            <p:ph type="title"/>
          </p:nvPr>
        </p:nvSpPr>
        <p:spPr/>
        <p:txBody>
          <a:bodyPr/>
          <a:lstStyle/>
          <a:p>
            <a:r>
              <a:rPr lang="en-GB" dirty="0"/>
              <a:t>Debates about AGI</a:t>
            </a:r>
            <a:endParaRPr lang="en-SG" dirty="0"/>
          </a:p>
        </p:txBody>
      </p:sp>
      <p:sp>
        <p:nvSpPr>
          <p:cNvPr id="3" name="Content Placeholder 2">
            <a:extLst>
              <a:ext uri="{FF2B5EF4-FFF2-40B4-BE49-F238E27FC236}">
                <a16:creationId xmlns:a16="http://schemas.microsoft.com/office/drawing/2014/main" id="{95326F2F-4A02-8FC6-DBCF-1F609132343E}"/>
              </a:ext>
            </a:extLst>
          </p:cNvPr>
          <p:cNvSpPr>
            <a:spLocks noGrp="1"/>
          </p:cNvSpPr>
          <p:nvPr>
            <p:ph sz="half" idx="1"/>
          </p:nvPr>
        </p:nvSpPr>
        <p:spPr>
          <a:xfrm>
            <a:off x="838200" y="1825625"/>
            <a:ext cx="5181600" cy="5032376"/>
          </a:xfrm>
        </p:spPr>
        <p:txBody>
          <a:bodyPr>
            <a:normAutofit/>
          </a:bodyPr>
          <a:lstStyle/>
          <a:p>
            <a:pPr marL="0" indent="0">
              <a:buNone/>
            </a:pPr>
            <a:r>
              <a:rPr lang="en-GB" b="1" dirty="0"/>
              <a:t>AGI: </a:t>
            </a:r>
            <a:r>
              <a:rPr lang="en-GB" dirty="0"/>
              <a:t>Artificial General Intelligence, naming the idea of an AI that would match all the cognitive abilities of a human.</a:t>
            </a:r>
          </a:p>
          <a:p>
            <a:r>
              <a:rPr lang="en-GB" dirty="0"/>
              <a:t>At the moment, definitely a dream, but the ultimate goal.</a:t>
            </a:r>
          </a:p>
          <a:p>
            <a:r>
              <a:rPr lang="en-GB" dirty="0"/>
              <a:t>Very active discussion topic after </a:t>
            </a:r>
            <a:r>
              <a:rPr lang="en-GB" dirty="0" err="1"/>
              <a:t>ChatGPT</a:t>
            </a:r>
            <a:r>
              <a:rPr lang="en-GB" dirty="0"/>
              <a:t> has been released.</a:t>
            </a:r>
          </a:p>
          <a:p>
            <a:r>
              <a:rPr lang="en-GB" dirty="0"/>
              <a:t>ChatGPT is nowhere near AGI, but is it a big step in that direction?</a:t>
            </a:r>
          </a:p>
        </p:txBody>
      </p:sp>
      <p:sp>
        <p:nvSpPr>
          <p:cNvPr id="5" name="Content Placeholder 4">
            <a:extLst>
              <a:ext uri="{FF2B5EF4-FFF2-40B4-BE49-F238E27FC236}">
                <a16:creationId xmlns:a16="http://schemas.microsoft.com/office/drawing/2014/main" id="{FB591C76-9FB9-FB8F-6776-4BF050830EFB}"/>
              </a:ext>
            </a:extLst>
          </p:cNvPr>
          <p:cNvSpPr>
            <a:spLocks noGrp="1"/>
          </p:cNvSpPr>
          <p:nvPr>
            <p:ph sz="half" idx="2"/>
          </p:nvPr>
        </p:nvSpPr>
        <p:spPr/>
        <p:txBody>
          <a:bodyPr>
            <a:normAutofit/>
          </a:bodyPr>
          <a:lstStyle/>
          <a:p>
            <a:pPr marL="0" indent="0">
              <a:buNone/>
            </a:pPr>
            <a:r>
              <a:rPr lang="en-GB" b="1" dirty="0"/>
              <a:t>I’m staying out of this debate! (Still watching it unfold though *popcorn*)</a:t>
            </a:r>
            <a:endParaRPr lang="en-SG" b="1" dirty="0"/>
          </a:p>
          <a:p>
            <a:pPr marL="0" indent="0">
              <a:buNone/>
            </a:pPr>
            <a:r>
              <a:rPr lang="en-GB" dirty="0">
                <a:hlinkClick r:id="rId2"/>
              </a:rPr>
              <a:t>https://openai.com/blog/planning-for-agi-and-beyond</a:t>
            </a:r>
            <a:endParaRPr lang="en-GB" dirty="0"/>
          </a:p>
          <a:p>
            <a:pPr marL="0" indent="0">
              <a:buNone/>
            </a:pPr>
            <a:endParaRPr lang="en-GB" dirty="0"/>
          </a:p>
        </p:txBody>
      </p:sp>
      <p:pic>
        <p:nvPicPr>
          <p:cNvPr id="7" name="Picture 6" descr="Cartoon of people talking to each other&#10;&#10;Description automatically generated">
            <a:extLst>
              <a:ext uri="{FF2B5EF4-FFF2-40B4-BE49-F238E27FC236}">
                <a16:creationId xmlns:a16="http://schemas.microsoft.com/office/drawing/2014/main" id="{7D3E12A6-DF4B-CFBF-B8A1-A50C45CE29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7538" y="4235708"/>
            <a:ext cx="3876432" cy="2622292"/>
          </a:xfrm>
          <a:prstGeom prst="rect">
            <a:avLst/>
          </a:prstGeom>
        </p:spPr>
      </p:pic>
    </p:spTree>
    <p:extLst>
      <p:ext uri="{BB962C8B-B14F-4D97-AF65-F5344CB8AC3E}">
        <p14:creationId xmlns:p14="http://schemas.microsoft.com/office/powerpoint/2010/main" val="15436121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6530E7-BA86-4418-BA4E-56652782C0B4}"/>
              </a:ext>
            </a:extLst>
          </p:cNvPr>
          <p:cNvSpPr>
            <a:spLocks noGrp="1"/>
          </p:cNvSpPr>
          <p:nvPr>
            <p:ph type="title"/>
          </p:nvPr>
        </p:nvSpPr>
        <p:spPr/>
        <p:txBody>
          <a:bodyPr/>
          <a:lstStyle/>
          <a:p>
            <a:r>
              <a:rPr lang="en-US" dirty="0"/>
              <a:t>The important message is…</a:t>
            </a:r>
            <a:endParaRPr lang="en-GB" dirty="0"/>
          </a:p>
        </p:txBody>
      </p:sp>
      <p:sp>
        <p:nvSpPr>
          <p:cNvPr id="5" name="Text Placeholder 4">
            <a:extLst>
              <a:ext uri="{FF2B5EF4-FFF2-40B4-BE49-F238E27FC236}">
                <a16:creationId xmlns:a16="http://schemas.microsoft.com/office/drawing/2014/main" id="{4FAF29E5-3002-43E1-A379-263BC6F2D5A1}"/>
              </a:ext>
            </a:extLst>
          </p:cNvPr>
          <p:cNvSpPr>
            <a:spLocks noGrp="1"/>
          </p:cNvSpPr>
          <p:nvPr>
            <p:ph type="body" idx="1"/>
          </p:nvPr>
        </p:nvSpPr>
        <p:spPr/>
        <p:txBody>
          <a:bodyPr/>
          <a:lstStyle/>
          <a:p>
            <a:r>
              <a:rPr lang="en-US" dirty="0"/>
              <a:t>Your learning should not stop after SUTD…</a:t>
            </a:r>
          </a:p>
          <a:p>
            <a:r>
              <a:rPr lang="en-US" dirty="0"/>
              <a:t>Keep learning to stay up to date, this is a very fast evolving field…</a:t>
            </a:r>
          </a:p>
          <a:p>
            <a:r>
              <a:rPr lang="en-US" dirty="0"/>
              <a:t>So, good luck on your continuing studies!</a:t>
            </a:r>
            <a:endParaRPr lang="en-GB" dirty="0"/>
          </a:p>
        </p:txBody>
      </p:sp>
    </p:spTree>
    <p:extLst>
      <p:ext uri="{BB962C8B-B14F-4D97-AF65-F5344CB8AC3E}">
        <p14:creationId xmlns:p14="http://schemas.microsoft.com/office/powerpoint/2010/main" val="2920761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612F2C-CCBD-4D9C-8C97-D9FE2F828CB0}"/>
              </a:ext>
            </a:extLst>
          </p:cNvPr>
          <p:cNvSpPr>
            <a:spLocks noGrp="1"/>
          </p:cNvSpPr>
          <p:nvPr>
            <p:ph type="title"/>
          </p:nvPr>
        </p:nvSpPr>
        <p:spPr/>
        <p:txBody>
          <a:bodyPr/>
          <a:lstStyle/>
          <a:p>
            <a:r>
              <a:rPr lang="en-US" dirty="0"/>
              <a:t>More importantly</a:t>
            </a:r>
            <a:endParaRPr lang="en-GB" dirty="0"/>
          </a:p>
        </p:txBody>
      </p:sp>
      <p:sp>
        <p:nvSpPr>
          <p:cNvPr id="5" name="Content Placeholder 4">
            <a:extLst>
              <a:ext uri="{FF2B5EF4-FFF2-40B4-BE49-F238E27FC236}">
                <a16:creationId xmlns:a16="http://schemas.microsoft.com/office/drawing/2014/main" id="{92E3B964-4CD4-43B6-A9FE-636D9290CF09}"/>
              </a:ext>
            </a:extLst>
          </p:cNvPr>
          <p:cNvSpPr>
            <a:spLocks noGrp="1"/>
          </p:cNvSpPr>
          <p:nvPr>
            <p:ph sz="half" idx="1"/>
          </p:nvPr>
        </p:nvSpPr>
        <p:spPr>
          <a:xfrm>
            <a:off x="838200" y="1825624"/>
            <a:ext cx="5181600" cy="5032375"/>
          </a:xfrm>
        </p:spPr>
        <p:txBody>
          <a:bodyPr>
            <a:normAutofit/>
          </a:bodyPr>
          <a:lstStyle/>
          <a:p>
            <a:pPr marL="0" indent="0">
              <a:buNone/>
            </a:pPr>
            <a:r>
              <a:rPr lang="en-US" b="1" dirty="0"/>
              <a:t>DL/AI is a very active and fast-paced field.</a:t>
            </a:r>
          </a:p>
          <a:p>
            <a:r>
              <a:rPr lang="en-US" dirty="0"/>
              <a:t>Keep your watchlist of papers and authors up to date.</a:t>
            </a:r>
          </a:p>
          <a:p>
            <a:r>
              <a:rPr lang="en-US" dirty="0"/>
              <a:t>I have mentioned researchers, which I believe are among the most notable influencers of the Deep Learning community.</a:t>
            </a:r>
          </a:p>
          <a:p>
            <a:r>
              <a:rPr lang="en-US" dirty="0"/>
              <a:t>Will be adding some more names on the next slides.</a:t>
            </a:r>
          </a:p>
          <a:p>
            <a:endParaRPr lang="en-GB" dirty="0"/>
          </a:p>
        </p:txBody>
      </p:sp>
      <p:sp>
        <p:nvSpPr>
          <p:cNvPr id="2" name="Content Placeholder 1">
            <a:extLst>
              <a:ext uri="{FF2B5EF4-FFF2-40B4-BE49-F238E27FC236}">
                <a16:creationId xmlns:a16="http://schemas.microsoft.com/office/drawing/2014/main" id="{B268085A-1A68-E432-3EE4-1DEE1BAB6A6E}"/>
              </a:ext>
            </a:extLst>
          </p:cNvPr>
          <p:cNvSpPr>
            <a:spLocks noGrp="1"/>
          </p:cNvSpPr>
          <p:nvPr>
            <p:ph sz="half" idx="2"/>
          </p:nvPr>
        </p:nvSpPr>
        <p:spPr>
          <a:xfrm>
            <a:off x="5806831" y="1825625"/>
            <a:ext cx="6285642" cy="4351338"/>
          </a:xfrm>
        </p:spPr>
        <p:txBody>
          <a:bodyPr>
            <a:normAutofit/>
          </a:bodyPr>
          <a:lstStyle/>
          <a:p>
            <a:pPr marL="0" indent="0" algn="ctr">
              <a:buNone/>
            </a:pPr>
            <a:r>
              <a:rPr lang="en-US" sz="3000" i="1" dirty="0"/>
              <a:t>“A good professor should have this constant concern: teaching his students how to continue without him.“</a:t>
            </a:r>
            <a:br>
              <a:rPr lang="en-US" sz="3000" i="1" dirty="0"/>
            </a:br>
            <a:r>
              <a:rPr lang="en-US" sz="3000" i="1" dirty="0"/>
              <a:t>– André Gide, Nobel Prize</a:t>
            </a:r>
            <a:br>
              <a:rPr lang="en-US" sz="3000" i="1" dirty="0"/>
            </a:br>
            <a:r>
              <a:rPr lang="en-US" sz="3000" i="1" dirty="0"/>
              <a:t>of Literature in 1947</a:t>
            </a:r>
          </a:p>
          <a:p>
            <a:endParaRPr lang="en-SG" dirty="0"/>
          </a:p>
        </p:txBody>
      </p:sp>
      <p:pic>
        <p:nvPicPr>
          <p:cNvPr id="10" name="Picture 9">
            <a:extLst>
              <a:ext uri="{FF2B5EF4-FFF2-40B4-BE49-F238E27FC236}">
                <a16:creationId xmlns:a16="http://schemas.microsoft.com/office/drawing/2014/main" id="{EBE3B238-DADD-2FDE-1B36-F1B78AC8896D}"/>
              </a:ext>
            </a:extLst>
          </p:cNvPr>
          <p:cNvPicPr>
            <a:picLocks noChangeAspect="1"/>
          </p:cNvPicPr>
          <p:nvPr/>
        </p:nvPicPr>
        <p:blipFill>
          <a:blip r:embed="rId2"/>
          <a:stretch>
            <a:fillRect/>
          </a:stretch>
        </p:blipFill>
        <p:spPr>
          <a:xfrm>
            <a:off x="8114971" y="4307218"/>
            <a:ext cx="1882331" cy="2004682"/>
          </a:xfrm>
          <a:prstGeom prst="rect">
            <a:avLst/>
          </a:prstGeom>
        </p:spPr>
      </p:pic>
    </p:spTree>
    <p:extLst>
      <p:ext uri="{BB962C8B-B14F-4D97-AF65-F5344CB8AC3E}">
        <p14:creationId xmlns:p14="http://schemas.microsoft.com/office/powerpoint/2010/main" val="3742398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A4B126-E90B-85E6-438F-4E570517F0B3}"/>
              </a:ext>
            </a:extLst>
          </p:cNvPr>
          <p:cNvSpPr>
            <a:spLocks noGrp="1"/>
          </p:cNvSpPr>
          <p:nvPr>
            <p:ph type="title"/>
          </p:nvPr>
        </p:nvSpPr>
        <p:spPr/>
        <p:txBody>
          <a:bodyPr/>
          <a:lstStyle/>
          <a:p>
            <a:r>
              <a:rPr lang="en-GB" dirty="0"/>
              <a:t>More big names to follow</a:t>
            </a:r>
          </a:p>
        </p:txBody>
      </p:sp>
      <p:sp>
        <p:nvSpPr>
          <p:cNvPr id="6" name="Text Placeholder 5">
            <a:extLst>
              <a:ext uri="{FF2B5EF4-FFF2-40B4-BE49-F238E27FC236}">
                <a16:creationId xmlns:a16="http://schemas.microsoft.com/office/drawing/2014/main" id="{3237CA5F-D8EF-0E09-AD37-F7A4286A9957}"/>
              </a:ext>
            </a:extLst>
          </p:cNvPr>
          <p:cNvSpPr>
            <a:spLocks noGrp="1"/>
          </p:cNvSpPr>
          <p:nvPr>
            <p:ph type="body" idx="1"/>
          </p:nvPr>
        </p:nvSpPr>
        <p:spPr/>
        <p:txBody>
          <a:bodyPr/>
          <a:lstStyle/>
          <a:p>
            <a:r>
              <a:rPr lang="en-GB" dirty="0"/>
              <a:t>Dumping them here</a:t>
            </a:r>
          </a:p>
        </p:txBody>
      </p:sp>
    </p:spTree>
    <p:extLst>
      <p:ext uri="{BB962C8B-B14F-4D97-AF65-F5344CB8AC3E}">
        <p14:creationId xmlns:p14="http://schemas.microsoft.com/office/powerpoint/2010/main" val="28222169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15EAD9-59BF-46C0-9089-6E366691CAE9}"/>
              </a:ext>
            </a:extLst>
          </p:cNvPr>
          <p:cNvSpPr>
            <a:spLocks noGrp="1"/>
          </p:cNvSpPr>
          <p:nvPr>
            <p:ph type="title"/>
          </p:nvPr>
        </p:nvSpPr>
        <p:spPr/>
        <p:txBody>
          <a:bodyPr/>
          <a:lstStyle/>
          <a:p>
            <a:r>
              <a:rPr lang="en-US" dirty="0"/>
              <a:t>Add these researchers, companies and research groups to your watchlist</a:t>
            </a:r>
            <a:endParaRPr lang="en-GB" dirty="0"/>
          </a:p>
        </p:txBody>
      </p:sp>
      <p:sp>
        <p:nvSpPr>
          <p:cNvPr id="5" name="Content Placeholder 4">
            <a:extLst>
              <a:ext uri="{FF2B5EF4-FFF2-40B4-BE49-F238E27FC236}">
                <a16:creationId xmlns:a16="http://schemas.microsoft.com/office/drawing/2014/main" id="{279FF99D-84CB-436E-9373-43EB3F28720A}"/>
              </a:ext>
            </a:extLst>
          </p:cNvPr>
          <p:cNvSpPr>
            <a:spLocks noGrp="1"/>
          </p:cNvSpPr>
          <p:nvPr>
            <p:ph idx="1"/>
          </p:nvPr>
        </p:nvSpPr>
        <p:spPr>
          <a:xfrm>
            <a:off x="838200" y="1825624"/>
            <a:ext cx="10515600" cy="5032375"/>
          </a:xfrm>
        </p:spPr>
        <p:txBody>
          <a:bodyPr>
            <a:noAutofit/>
          </a:bodyPr>
          <a:lstStyle/>
          <a:p>
            <a:r>
              <a:rPr lang="en-GB" b="1" dirty="0" err="1"/>
              <a:t>Demis</a:t>
            </a:r>
            <a:r>
              <a:rPr lang="en-GB" dirty="0"/>
              <a:t> </a:t>
            </a:r>
            <a:r>
              <a:rPr lang="en-GB" b="1" dirty="0">
                <a:solidFill>
                  <a:schemeClr val="accent2">
                    <a:lumMod val="50000"/>
                  </a:schemeClr>
                </a:solidFill>
              </a:rPr>
              <a:t>Hassabis</a:t>
            </a:r>
            <a:r>
              <a:rPr lang="en-GB" dirty="0"/>
              <a:t>: Co-founder of </a:t>
            </a:r>
            <a:r>
              <a:rPr lang="en-GB" b="1" dirty="0">
                <a:solidFill>
                  <a:schemeClr val="accent2">
                    <a:lumMod val="50000"/>
                  </a:schemeClr>
                </a:solidFill>
              </a:rPr>
              <a:t>DeepMind</a:t>
            </a:r>
            <a:r>
              <a:rPr lang="en-GB" dirty="0"/>
              <a:t>, </a:t>
            </a:r>
            <a:r>
              <a:rPr lang="en-GB" b="1" dirty="0">
                <a:solidFill>
                  <a:schemeClr val="accent2">
                    <a:lumMod val="50000"/>
                  </a:schemeClr>
                </a:solidFill>
              </a:rPr>
              <a:t>AlphaGo</a:t>
            </a:r>
            <a:r>
              <a:rPr lang="en-GB" dirty="0"/>
              <a:t>. Several contributions in </a:t>
            </a:r>
            <a:r>
              <a:rPr lang="en-GB" b="1" dirty="0"/>
              <a:t>Reinforcement</a:t>
            </a:r>
            <a:r>
              <a:rPr lang="en-GB" dirty="0"/>
              <a:t> </a:t>
            </a:r>
            <a:r>
              <a:rPr lang="en-GB" b="1" dirty="0"/>
              <a:t>Learning</a:t>
            </a:r>
            <a:r>
              <a:rPr lang="en-GB" dirty="0"/>
              <a:t>.</a:t>
            </a:r>
            <a:br>
              <a:rPr lang="en-GB" dirty="0"/>
            </a:br>
            <a:r>
              <a:rPr lang="en-GB" dirty="0">
                <a:hlinkClick r:id="rId2"/>
              </a:rPr>
              <a:t>https://scholar.google.com/citations?hl=en&amp;user=dYpPMQEAAAAJ</a:t>
            </a:r>
            <a:endParaRPr lang="en-GB" dirty="0"/>
          </a:p>
          <a:p>
            <a:r>
              <a:rPr lang="en-GB" b="1" dirty="0"/>
              <a:t>Alex</a:t>
            </a:r>
            <a:r>
              <a:rPr lang="en-GB" dirty="0"/>
              <a:t> </a:t>
            </a:r>
            <a:r>
              <a:rPr lang="en-GB" b="1" dirty="0">
                <a:solidFill>
                  <a:schemeClr val="accent2">
                    <a:lumMod val="50000"/>
                  </a:schemeClr>
                </a:solidFill>
              </a:rPr>
              <a:t>Graves</a:t>
            </a:r>
            <a:r>
              <a:rPr lang="en-GB" dirty="0"/>
              <a:t>: </a:t>
            </a:r>
            <a:r>
              <a:rPr lang="en-GB" b="1" dirty="0"/>
              <a:t>Professor</a:t>
            </a:r>
            <a:r>
              <a:rPr lang="en-GB" dirty="0"/>
              <a:t> at </a:t>
            </a:r>
            <a:r>
              <a:rPr lang="en-GB" b="1" dirty="0"/>
              <a:t>University</a:t>
            </a:r>
            <a:r>
              <a:rPr lang="en-GB" dirty="0"/>
              <a:t> </a:t>
            </a:r>
            <a:r>
              <a:rPr lang="en-GB" b="1" dirty="0"/>
              <a:t>of</a:t>
            </a:r>
            <a:r>
              <a:rPr lang="en-GB" dirty="0"/>
              <a:t> </a:t>
            </a:r>
            <a:r>
              <a:rPr lang="en-GB" b="1" dirty="0"/>
              <a:t>Toronto</a:t>
            </a:r>
            <a:r>
              <a:rPr lang="en-GB" dirty="0"/>
              <a:t>. Several contributions in </a:t>
            </a:r>
            <a:r>
              <a:rPr lang="en-GB" b="1" dirty="0"/>
              <a:t>Reinforcement</a:t>
            </a:r>
            <a:r>
              <a:rPr lang="en-GB" dirty="0"/>
              <a:t> </a:t>
            </a:r>
            <a:r>
              <a:rPr lang="en-GB" b="1" dirty="0"/>
              <a:t>Learning</a:t>
            </a:r>
            <a:r>
              <a:rPr lang="en-GB" dirty="0"/>
              <a:t>. </a:t>
            </a:r>
            <a:r>
              <a:rPr lang="en-GB" dirty="0">
                <a:hlinkClick r:id="rId3"/>
              </a:rPr>
              <a:t>https://scholar.google.co.uk/citations?user=DaFHynwAAAAJ&amp;hl=en</a:t>
            </a:r>
            <a:endParaRPr lang="en-GB" dirty="0"/>
          </a:p>
          <a:p>
            <a:r>
              <a:rPr lang="en-GB" b="1" dirty="0"/>
              <a:t>Michael</a:t>
            </a:r>
            <a:r>
              <a:rPr lang="en-GB" dirty="0"/>
              <a:t> </a:t>
            </a:r>
            <a:r>
              <a:rPr lang="en-GB" b="1" dirty="0"/>
              <a:t>I.</a:t>
            </a:r>
            <a:r>
              <a:rPr lang="en-GB" dirty="0"/>
              <a:t> </a:t>
            </a:r>
            <a:r>
              <a:rPr lang="en-GB" b="1" dirty="0">
                <a:solidFill>
                  <a:schemeClr val="accent2">
                    <a:lumMod val="50000"/>
                  </a:schemeClr>
                </a:solidFill>
              </a:rPr>
              <a:t>Jordan</a:t>
            </a:r>
            <a:r>
              <a:rPr lang="en-GB" dirty="0"/>
              <a:t>: Professor at </a:t>
            </a:r>
            <a:r>
              <a:rPr lang="en-GB" b="1" dirty="0"/>
              <a:t>UC Berkeley</a:t>
            </a:r>
            <a:r>
              <a:rPr lang="en-GB" dirty="0"/>
              <a:t>, co-inventor of LDA.</a:t>
            </a:r>
            <a:br>
              <a:rPr lang="en-GB" dirty="0"/>
            </a:br>
            <a:r>
              <a:rPr lang="en-GB" dirty="0">
                <a:hlinkClick r:id="rId4"/>
              </a:rPr>
              <a:t>https://scholar.google.com/citations?user=yxUduqMAAAAJ&amp;hl=fr</a:t>
            </a:r>
            <a:endParaRPr lang="en-GB" dirty="0"/>
          </a:p>
          <a:p>
            <a:r>
              <a:rPr lang="en-GB" b="1" dirty="0"/>
              <a:t>Terrence</a:t>
            </a:r>
            <a:r>
              <a:rPr lang="en-GB" dirty="0"/>
              <a:t> </a:t>
            </a:r>
            <a:r>
              <a:rPr lang="en-GB" b="1" dirty="0" err="1">
                <a:solidFill>
                  <a:schemeClr val="accent2">
                    <a:lumMod val="50000"/>
                  </a:schemeClr>
                </a:solidFill>
              </a:rPr>
              <a:t>Sejnowski</a:t>
            </a:r>
            <a:r>
              <a:rPr lang="en-GB" dirty="0"/>
              <a:t>: </a:t>
            </a:r>
            <a:r>
              <a:rPr lang="en-GB" b="1" dirty="0"/>
              <a:t>Professor</a:t>
            </a:r>
            <a:r>
              <a:rPr lang="en-GB" dirty="0"/>
              <a:t> at </a:t>
            </a:r>
            <a:r>
              <a:rPr lang="en-GB" b="1" dirty="0"/>
              <a:t>UC</a:t>
            </a:r>
            <a:r>
              <a:rPr lang="en-GB" dirty="0"/>
              <a:t> </a:t>
            </a:r>
            <a:r>
              <a:rPr lang="en-GB" b="1" dirty="0"/>
              <a:t>San</a:t>
            </a:r>
            <a:r>
              <a:rPr lang="en-GB" dirty="0"/>
              <a:t> </a:t>
            </a:r>
            <a:r>
              <a:rPr lang="en-GB" b="1" dirty="0"/>
              <a:t>Diego</a:t>
            </a:r>
            <a:r>
              <a:rPr lang="en-GB" dirty="0"/>
              <a:t>, </a:t>
            </a:r>
            <a:r>
              <a:rPr lang="en-GB" b="1" dirty="0">
                <a:solidFill>
                  <a:schemeClr val="accent2">
                    <a:lumMod val="50000"/>
                  </a:schemeClr>
                </a:solidFill>
              </a:rPr>
              <a:t>Boltzmann</a:t>
            </a:r>
            <a:r>
              <a:rPr lang="en-GB" dirty="0"/>
              <a:t> </a:t>
            </a:r>
            <a:r>
              <a:rPr lang="en-GB" b="1" dirty="0">
                <a:solidFill>
                  <a:schemeClr val="accent2">
                    <a:lumMod val="50000"/>
                  </a:schemeClr>
                </a:solidFill>
              </a:rPr>
              <a:t>machines</a:t>
            </a:r>
            <a:r>
              <a:rPr lang="en-GB" dirty="0"/>
              <a:t>. </a:t>
            </a:r>
            <a:r>
              <a:rPr lang="en-US" dirty="0">
                <a:hlinkClick r:id="rId5"/>
              </a:rPr>
              <a:t>https://scholar.google.ca/citations?user=m1qAiOUAAAAJ&amp;hl=en</a:t>
            </a:r>
            <a:endParaRPr lang="en-US" dirty="0"/>
          </a:p>
        </p:txBody>
      </p:sp>
    </p:spTree>
    <p:extLst>
      <p:ext uri="{BB962C8B-B14F-4D97-AF65-F5344CB8AC3E}">
        <p14:creationId xmlns:p14="http://schemas.microsoft.com/office/powerpoint/2010/main" val="30444597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15EAD9-59BF-46C0-9089-6E366691CAE9}"/>
              </a:ext>
            </a:extLst>
          </p:cNvPr>
          <p:cNvSpPr>
            <a:spLocks noGrp="1"/>
          </p:cNvSpPr>
          <p:nvPr>
            <p:ph type="title"/>
          </p:nvPr>
        </p:nvSpPr>
        <p:spPr/>
        <p:txBody>
          <a:bodyPr/>
          <a:lstStyle/>
          <a:p>
            <a:r>
              <a:rPr lang="en-US" dirty="0"/>
              <a:t>Add these researchers, companies and research groups to your watchlist</a:t>
            </a:r>
            <a:endParaRPr lang="en-GB" dirty="0"/>
          </a:p>
        </p:txBody>
      </p:sp>
      <p:sp>
        <p:nvSpPr>
          <p:cNvPr id="5" name="Content Placeholder 4">
            <a:extLst>
              <a:ext uri="{FF2B5EF4-FFF2-40B4-BE49-F238E27FC236}">
                <a16:creationId xmlns:a16="http://schemas.microsoft.com/office/drawing/2014/main" id="{279FF99D-84CB-436E-9373-43EB3F28720A}"/>
              </a:ext>
            </a:extLst>
          </p:cNvPr>
          <p:cNvSpPr>
            <a:spLocks noGrp="1"/>
          </p:cNvSpPr>
          <p:nvPr>
            <p:ph idx="1"/>
          </p:nvPr>
        </p:nvSpPr>
        <p:spPr/>
        <p:txBody>
          <a:bodyPr>
            <a:normAutofit/>
          </a:bodyPr>
          <a:lstStyle/>
          <a:p>
            <a:r>
              <a:rPr lang="en-GB" b="1" dirty="0"/>
              <a:t>Peter</a:t>
            </a:r>
            <a:r>
              <a:rPr lang="en-GB" dirty="0"/>
              <a:t> </a:t>
            </a:r>
            <a:r>
              <a:rPr lang="en-GB" b="1" dirty="0">
                <a:solidFill>
                  <a:schemeClr val="accent2">
                    <a:lumMod val="50000"/>
                  </a:schemeClr>
                </a:solidFill>
              </a:rPr>
              <a:t>Norvig</a:t>
            </a:r>
            <a:r>
              <a:rPr lang="en-GB" dirty="0"/>
              <a:t>: </a:t>
            </a:r>
            <a:r>
              <a:rPr lang="en-GB" b="1" dirty="0"/>
              <a:t>Director</a:t>
            </a:r>
            <a:r>
              <a:rPr lang="en-GB" dirty="0"/>
              <a:t> </a:t>
            </a:r>
            <a:r>
              <a:rPr lang="en-GB" b="1" dirty="0"/>
              <a:t>of</a:t>
            </a:r>
            <a:r>
              <a:rPr lang="en-GB" dirty="0"/>
              <a:t> </a:t>
            </a:r>
            <a:r>
              <a:rPr lang="en-GB" b="1" dirty="0"/>
              <a:t>Research</a:t>
            </a:r>
            <a:r>
              <a:rPr lang="en-GB" dirty="0"/>
              <a:t> at </a:t>
            </a:r>
            <a:r>
              <a:rPr lang="en-GB" b="1" dirty="0"/>
              <a:t>Google</a:t>
            </a:r>
            <a:r>
              <a:rPr lang="en-GB" dirty="0"/>
              <a:t>, co-author of the other Bible of Deep Learning</a:t>
            </a:r>
            <a:br>
              <a:rPr lang="en-GB" dirty="0"/>
            </a:br>
            <a:r>
              <a:rPr lang="en-GB" dirty="0">
                <a:hlinkClick r:id="rId2"/>
              </a:rPr>
              <a:t>https://scholar.google.com/citations?user=Ol0vcWgAAAAJ&amp;hl=en</a:t>
            </a:r>
            <a:br>
              <a:rPr lang="en-GB" dirty="0"/>
            </a:br>
            <a:r>
              <a:rPr lang="en-GB" dirty="0">
                <a:hlinkClick r:id="rId3"/>
              </a:rPr>
              <a:t>http://aima.cs.berkeley.edu/</a:t>
            </a:r>
            <a:endParaRPr lang="en-GB" dirty="0"/>
          </a:p>
          <a:p>
            <a:r>
              <a:rPr lang="en-GB" b="1" dirty="0"/>
              <a:t>Stuart</a:t>
            </a:r>
            <a:r>
              <a:rPr lang="en-GB" dirty="0"/>
              <a:t> </a:t>
            </a:r>
            <a:r>
              <a:rPr lang="en-GB" b="1" dirty="0">
                <a:solidFill>
                  <a:schemeClr val="accent2">
                    <a:lumMod val="50000"/>
                  </a:schemeClr>
                </a:solidFill>
              </a:rPr>
              <a:t>Russell</a:t>
            </a:r>
            <a:r>
              <a:rPr lang="en-GB" dirty="0"/>
              <a:t>: </a:t>
            </a:r>
            <a:r>
              <a:rPr lang="en-GB" b="1" dirty="0"/>
              <a:t>Professor</a:t>
            </a:r>
            <a:r>
              <a:rPr lang="en-GB" dirty="0"/>
              <a:t> at </a:t>
            </a:r>
            <a:r>
              <a:rPr lang="en-GB" b="1" dirty="0"/>
              <a:t>UC</a:t>
            </a:r>
            <a:r>
              <a:rPr lang="en-GB" dirty="0"/>
              <a:t> </a:t>
            </a:r>
            <a:r>
              <a:rPr lang="en-GB" b="1" dirty="0"/>
              <a:t>Berkely</a:t>
            </a:r>
            <a:r>
              <a:rPr lang="en-GB" dirty="0"/>
              <a:t>, co-author of the other Bible of Deep Learning</a:t>
            </a:r>
            <a:br>
              <a:rPr lang="en-GB" dirty="0"/>
            </a:br>
            <a:r>
              <a:rPr lang="en-GB" dirty="0">
                <a:hlinkClick r:id="rId4"/>
              </a:rPr>
              <a:t>https://scholar.google.com/citations?user=2oy3OXYAAAAJ&amp;hl=en</a:t>
            </a:r>
            <a:endParaRPr lang="en-GB" dirty="0"/>
          </a:p>
          <a:p>
            <a:r>
              <a:rPr lang="en-GB" b="1" dirty="0"/>
              <a:t>Francois</a:t>
            </a:r>
            <a:r>
              <a:rPr lang="en-GB" dirty="0"/>
              <a:t> </a:t>
            </a:r>
            <a:r>
              <a:rPr lang="en-GB" b="1" dirty="0">
                <a:solidFill>
                  <a:schemeClr val="accent2">
                    <a:lumMod val="50000"/>
                  </a:schemeClr>
                </a:solidFill>
              </a:rPr>
              <a:t>Chollet</a:t>
            </a:r>
            <a:r>
              <a:rPr lang="en-GB" dirty="0"/>
              <a:t>: </a:t>
            </a:r>
            <a:r>
              <a:rPr lang="en-GB" b="1" dirty="0"/>
              <a:t>Researcher</a:t>
            </a:r>
            <a:r>
              <a:rPr lang="en-GB" dirty="0"/>
              <a:t> at </a:t>
            </a:r>
            <a:r>
              <a:rPr lang="en-GB" b="1" dirty="0"/>
              <a:t>Google</a:t>
            </a:r>
            <a:r>
              <a:rPr lang="en-GB" dirty="0"/>
              <a:t>. The man behind the </a:t>
            </a:r>
            <a:r>
              <a:rPr lang="en-GB" b="1" dirty="0" err="1">
                <a:solidFill>
                  <a:schemeClr val="accent2">
                    <a:lumMod val="50000"/>
                  </a:schemeClr>
                </a:solidFill>
              </a:rPr>
              <a:t>Keras</a:t>
            </a:r>
            <a:r>
              <a:rPr lang="en-GB" dirty="0"/>
              <a:t> framework and </a:t>
            </a:r>
            <a:r>
              <a:rPr lang="en-GB" b="1" dirty="0" err="1"/>
              <a:t>Xception</a:t>
            </a:r>
            <a:r>
              <a:rPr lang="en-GB" dirty="0"/>
              <a:t>.</a:t>
            </a:r>
            <a:br>
              <a:rPr lang="en-GB" dirty="0"/>
            </a:br>
            <a:r>
              <a:rPr lang="en-GB" dirty="0">
                <a:hlinkClick r:id="rId5"/>
              </a:rPr>
              <a:t>https://scholar.google.com/citations?user=VfYhf2wAAAAJ&amp;hl=en</a:t>
            </a:r>
            <a:endParaRPr lang="en-GB" dirty="0"/>
          </a:p>
          <a:p>
            <a:endParaRPr lang="en-GB" dirty="0"/>
          </a:p>
          <a:p>
            <a:endParaRPr lang="en-US" dirty="0"/>
          </a:p>
          <a:p>
            <a:endParaRPr lang="en-US" dirty="0"/>
          </a:p>
          <a:p>
            <a:endParaRPr lang="en-US" dirty="0"/>
          </a:p>
          <a:p>
            <a:endParaRPr lang="en-GB" dirty="0"/>
          </a:p>
        </p:txBody>
      </p:sp>
    </p:spTree>
    <p:extLst>
      <p:ext uri="{BB962C8B-B14F-4D97-AF65-F5344CB8AC3E}">
        <p14:creationId xmlns:p14="http://schemas.microsoft.com/office/powerpoint/2010/main" val="2139520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15EAD9-59BF-46C0-9089-6E366691CAE9}"/>
              </a:ext>
            </a:extLst>
          </p:cNvPr>
          <p:cNvSpPr>
            <a:spLocks noGrp="1"/>
          </p:cNvSpPr>
          <p:nvPr>
            <p:ph type="title"/>
          </p:nvPr>
        </p:nvSpPr>
        <p:spPr/>
        <p:txBody>
          <a:bodyPr/>
          <a:lstStyle/>
          <a:p>
            <a:r>
              <a:rPr lang="en-US" dirty="0"/>
              <a:t>Add these researchers, companies and research groups to your watchlist</a:t>
            </a:r>
            <a:endParaRPr lang="en-GB" dirty="0"/>
          </a:p>
        </p:txBody>
      </p:sp>
      <p:sp>
        <p:nvSpPr>
          <p:cNvPr id="5" name="Content Placeholder 4">
            <a:extLst>
              <a:ext uri="{FF2B5EF4-FFF2-40B4-BE49-F238E27FC236}">
                <a16:creationId xmlns:a16="http://schemas.microsoft.com/office/drawing/2014/main" id="{279FF99D-84CB-436E-9373-43EB3F28720A}"/>
              </a:ext>
            </a:extLst>
          </p:cNvPr>
          <p:cNvSpPr>
            <a:spLocks noGrp="1"/>
          </p:cNvSpPr>
          <p:nvPr>
            <p:ph idx="1"/>
          </p:nvPr>
        </p:nvSpPr>
        <p:spPr>
          <a:xfrm>
            <a:off x="838200" y="1825624"/>
            <a:ext cx="10515600" cy="5032375"/>
          </a:xfrm>
        </p:spPr>
        <p:txBody>
          <a:bodyPr>
            <a:normAutofit/>
          </a:bodyPr>
          <a:lstStyle/>
          <a:p>
            <a:r>
              <a:rPr lang="en-US" b="1" dirty="0"/>
              <a:t>Trevor </a:t>
            </a:r>
            <a:r>
              <a:rPr lang="en-US" b="1" dirty="0">
                <a:solidFill>
                  <a:schemeClr val="accent2">
                    <a:lumMod val="50000"/>
                  </a:schemeClr>
                </a:solidFill>
              </a:rPr>
              <a:t>Hastie</a:t>
            </a:r>
            <a:r>
              <a:rPr lang="en-US" dirty="0"/>
              <a:t>: </a:t>
            </a:r>
            <a:r>
              <a:rPr lang="en-US" b="1" dirty="0"/>
              <a:t>Professor</a:t>
            </a:r>
            <a:r>
              <a:rPr lang="en-US" dirty="0"/>
              <a:t> at </a:t>
            </a:r>
            <a:r>
              <a:rPr lang="en-US" b="1" dirty="0"/>
              <a:t>Stanford</a:t>
            </a:r>
            <a:r>
              <a:rPr lang="en-US" dirty="0"/>
              <a:t>, co-</a:t>
            </a:r>
            <a:r>
              <a:rPr lang="en-US" dirty="0" err="1"/>
              <a:t>autor</a:t>
            </a:r>
            <a:r>
              <a:rPr lang="en-US" dirty="0"/>
              <a:t> of the Bible of Statistical Learning.</a:t>
            </a:r>
            <a:br>
              <a:rPr lang="en-US" dirty="0"/>
            </a:br>
            <a:r>
              <a:rPr lang="en-US" dirty="0">
                <a:hlinkClick r:id="rId2"/>
              </a:rPr>
              <a:t>https://scholar.google.ca/citations?user=tQVe-fAAAAAJ&amp;hl=en</a:t>
            </a:r>
            <a:br>
              <a:rPr lang="en-US" dirty="0"/>
            </a:br>
            <a:r>
              <a:rPr lang="en-US" dirty="0">
                <a:hlinkClick r:id="rId3"/>
              </a:rPr>
              <a:t>https://hastie.su.domains/ElemStatLearn/download.html</a:t>
            </a:r>
            <a:endParaRPr lang="en-US" dirty="0"/>
          </a:p>
          <a:p>
            <a:r>
              <a:rPr lang="en-GB" b="1" dirty="0"/>
              <a:t>Robert</a:t>
            </a:r>
            <a:r>
              <a:rPr lang="en-GB" dirty="0"/>
              <a:t> </a:t>
            </a:r>
            <a:r>
              <a:rPr lang="en-GB" b="1" dirty="0" err="1">
                <a:solidFill>
                  <a:schemeClr val="accent2">
                    <a:lumMod val="50000"/>
                  </a:schemeClr>
                </a:solidFill>
              </a:rPr>
              <a:t>Tibshirani</a:t>
            </a:r>
            <a:r>
              <a:rPr lang="en-US" dirty="0"/>
              <a:t>: </a:t>
            </a:r>
            <a:r>
              <a:rPr lang="en-US" b="1" dirty="0"/>
              <a:t>Professor</a:t>
            </a:r>
            <a:r>
              <a:rPr lang="en-US" dirty="0"/>
              <a:t> at </a:t>
            </a:r>
            <a:r>
              <a:rPr lang="en-US" b="1" dirty="0"/>
              <a:t>Stanford</a:t>
            </a:r>
            <a:r>
              <a:rPr lang="en-US" dirty="0"/>
              <a:t>, co-</a:t>
            </a:r>
            <a:r>
              <a:rPr lang="en-US" dirty="0" err="1"/>
              <a:t>autor</a:t>
            </a:r>
            <a:r>
              <a:rPr lang="en-US" dirty="0"/>
              <a:t> of the Bible of Statistical Learning. Inventor of the LASSO algorithm.</a:t>
            </a:r>
            <a:br>
              <a:rPr lang="en-US" dirty="0"/>
            </a:br>
            <a:r>
              <a:rPr lang="en-US" dirty="0">
                <a:hlinkClick r:id="rId4"/>
              </a:rPr>
              <a:t>https://scholar.google.ca/citations?user=ZpG_cJwAAAAJ&amp;hl=en</a:t>
            </a:r>
            <a:endParaRPr lang="en-US" dirty="0"/>
          </a:p>
          <a:p>
            <a:r>
              <a:rPr lang="en-GB" b="1" dirty="0"/>
              <a:t>Vladimir </a:t>
            </a:r>
            <a:r>
              <a:rPr lang="en-GB" b="1" dirty="0" err="1">
                <a:solidFill>
                  <a:schemeClr val="accent2">
                    <a:lumMod val="50000"/>
                  </a:schemeClr>
                </a:solidFill>
              </a:rPr>
              <a:t>Vapnik</a:t>
            </a:r>
            <a:r>
              <a:rPr lang="en-GB" b="1" dirty="0"/>
              <a:t>: Retired Professor</a:t>
            </a:r>
            <a:r>
              <a:rPr lang="en-GB" dirty="0"/>
              <a:t>, inventor of </a:t>
            </a:r>
            <a:r>
              <a:rPr lang="en-GB" b="1" dirty="0"/>
              <a:t>SVMs</a:t>
            </a:r>
            <a:r>
              <a:rPr lang="en-GB" dirty="0"/>
              <a:t> and many other concepts. Worked with </a:t>
            </a:r>
            <a:r>
              <a:rPr lang="en-GB" b="1" dirty="0"/>
              <a:t>Yann</a:t>
            </a:r>
            <a:r>
              <a:rPr lang="en-GB" dirty="0"/>
              <a:t> </a:t>
            </a:r>
            <a:r>
              <a:rPr lang="en-GB" b="1" dirty="0" err="1">
                <a:solidFill>
                  <a:schemeClr val="accent2">
                    <a:lumMod val="50000"/>
                  </a:schemeClr>
                </a:solidFill>
              </a:rPr>
              <a:t>LeCun</a:t>
            </a:r>
            <a:r>
              <a:rPr lang="en-GB" dirty="0"/>
              <a:t> at </a:t>
            </a:r>
            <a:r>
              <a:rPr lang="en-GB" b="1" dirty="0">
                <a:solidFill>
                  <a:schemeClr val="accent2">
                    <a:lumMod val="50000"/>
                  </a:schemeClr>
                </a:solidFill>
              </a:rPr>
              <a:t>Facebook</a:t>
            </a:r>
            <a:r>
              <a:rPr lang="en-GB" b="1" dirty="0"/>
              <a:t> </a:t>
            </a:r>
            <a:r>
              <a:rPr lang="en-GB" b="1" dirty="0">
                <a:solidFill>
                  <a:schemeClr val="accent2">
                    <a:lumMod val="50000"/>
                  </a:schemeClr>
                </a:solidFill>
              </a:rPr>
              <a:t>AI</a:t>
            </a:r>
            <a:r>
              <a:rPr lang="en-GB" dirty="0"/>
              <a:t>.</a:t>
            </a:r>
            <a:br>
              <a:rPr lang="en-GB" dirty="0"/>
            </a:br>
            <a:r>
              <a:rPr lang="en-US" dirty="0">
                <a:hlinkClick r:id="rId5"/>
              </a:rPr>
              <a:t>https://scholar.google.com/citations?user=vtegaJgAAAAJ&amp;hl=fr</a:t>
            </a:r>
            <a:endParaRPr lang="en-US" dirty="0"/>
          </a:p>
          <a:p>
            <a:endParaRPr lang="en-US" dirty="0"/>
          </a:p>
          <a:p>
            <a:endParaRPr lang="en-US" dirty="0"/>
          </a:p>
          <a:p>
            <a:endParaRPr lang="en-GB" dirty="0"/>
          </a:p>
        </p:txBody>
      </p:sp>
    </p:spTree>
    <p:extLst>
      <p:ext uri="{BB962C8B-B14F-4D97-AF65-F5344CB8AC3E}">
        <p14:creationId xmlns:p14="http://schemas.microsoft.com/office/powerpoint/2010/main" val="1934179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15EAD9-59BF-46C0-9089-6E366691CAE9}"/>
              </a:ext>
            </a:extLst>
          </p:cNvPr>
          <p:cNvSpPr>
            <a:spLocks noGrp="1"/>
          </p:cNvSpPr>
          <p:nvPr>
            <p:ph type="title"/>
          </p:nvPr>
        </p:nvSpPr>
        <p:spPr/>
        <p:txBody>
          <a:bodyPr/>
          <a:lstStyle/>
          <a:p>
            <a:r>
              <a:rPr lang="en-US" dirty="0"/>
              <a:t>Add these researchers, companies and research groups to your watchlist</a:t>
            </a:r>
            <a:endParaRPr lang="en-GB" dirty="0"/>
          </a:p>
        </p:txBody>
      </p:sp>
      <p:sp>
        <p:nvSpPr>
          <p:cNvPr id="5" name="Content Placeholder 4">
            <a:extLst>
              <a:ext uri="{FF2B5EF4-FFF2-40B4-BE49-F238E27FC236}">
                <a16:creationId xmlns:a16="http://schemas.microsoft.com/office/drawing/2014/main" id="{279FF99D-84CB-436E-9373-43EB3F28720A}"/>
              </a:ext>
            </a:extLst>
          </p:cNvPr>
          <p:cNvSpPr>
            <a:spLocks noGrp="1"/>
          </p:cNvSpPr>
          <p:nvPr>
            <p:ph idx="1"/>
          </p:nvPr>
        </p:nvSpPr>
        <p:spPr>
          <a:xfrm>
            <a:off x="838200" y="1825624"/>
            <a:ext cx="10515600" cy="5032375"/>
          </a:xfrm>
        </p:spPr>
        <p:txBody>
          <a:bodyPr>
            <a:normAutofit lnSpcReduction="10000"/>
          </a:bodyPr>
          <a:lstStyle/>
          <a:p>
            <a:r>
              <a:rPr lang="en-GB" b="1" dirty="0"/>
              <a:t>Fred</a:t>
            </a:r>
            <a:r>
              <a:rPr lang="en-GB" dirty="0"/>
              <a:t> </a:t>
            </a:r>
            <a:r>
              <a:rPr lang="en-GB" b="1" dirty="0">
                <a:solidFill>
                  <a:schemeClr val="accent2">
                    <a:lumMod val="50000"/>
                  </a:schemeClr>
                </a:solidFill>
              </a:rPr>
              <a:t>Cummins</a:t>
            </a:r>
            <a:r>
              <a:rPr lang="en-GB" dirty="0"/>
              <a:t>: </a:t>
            </a:r>
            <a:r>
              <a:rPr lang="en-GB" b="1" dirty="0"/>
              <a:t>Professor</a:t>
            </a:r>
            <a:r>
              <a:rPr lang="en-GB" dirty="0"/>
              <a:t> at </a:t>
            </a:r>
            <a:r>
              <a:rPr lang="en-GB" b="1" dirty="0"/>
              <a:t>University</a:t>
            </a:r>
            <a:r>
              <a:rPr lang="en-GB" dirty="0"/>
              <a:t> </a:t>
            </a:r>
            <a:r>
              <a:rPr lang="en-GB" b="1" dirty="0"/>
              <a:t>College</a:t>
            </a:r>
            <a:r>
              <a:rPr lang="en-GB" dirty="0"/>
              <a:t> </a:t>
            </a:r>
            <a:r>
              <a:rPr lang="en-GB" b="1" dirty="0"/>
              <a:t>Dublin</a:t>
            </a:r>
            <a:r>
              <a:rPr lang="en-GB" dirty="0"/>
              <a:t>, contributions to </a:t>
            </a:r>
            <a:r>
              <a:rPr lang="en-GB" b="1" dirty="0"/>
              <a:t>LSTMs</a:t>
            </a:r>
            <a:r>
              <a:rPr lang="en-GB" dirty="0"/>
              <a:t> and </a:t>
            </a:r>
            <a:r>
              <a:rPr lang="en-GB" b="1" dirty="0"/>
              <a:t>NLP</a:t>
            </a:r>
            <a:r>
              <a:rPr lang="en-GB" dirty="0"/>
              <a:t>.</a:t>
            </a:r>
            <a:br>
              <a:rPr lang="en-GB" dirty="0"/>
            </a:br>
            <a:r>
              <a:rPr lang="en-GB" dirty="0">
                <a:hlinkClick r:id="rId2"/>
              </a:rPr>
              <a:t>https://scholar.google.com/citations?user=E-vg2zQAAAAJ&amp;hl=fr</a:t>
            </a:r>
            <a:endParaRPr lang="en-GB" b="1" dirty="0"/>
          </a:p>
          <a:p>
            <a:r>
              <a:rPr lang="en-GB" b="1" dirty="0"/>
              <a:t>Andrej</a:t>
            </a:r>
            <a:r>
              <a:rPr lang="en-GB" dirty="0"/>
              <a:t> </a:t>
            </a:r>
            <a:r>
              <a:rPr lang="en-GB" b="1" dirty="0" err="1">
                <a:solidFill>
                  <a:schemeClr val="accent2">
                    <a:lumMod val="50000"/>
                  </a:schemeClr>
                </a:solidFill>
              </a:rPr>
              <a:t>Karpathy</a:t>
            </a:r>
            <a:r>
              <a:rPr lang="en-GB" dirty="0"/>
              <a:t>: </a:t>
            </a:r>
            <a:r>
              <a:rPr lang="en-GB" b="1" dirty="0"/>
              <a:t>Former</a:t>
            </a:r>
            <a:r>
              <a:rPr lang="en-GB" dirty="0"/>
              <a:t> </a:t>
            </a:r>
            <a:r>
              <a:rPr lang="en-GB" b="1" dirty="0"/>
              <a:t>Director</a:t>
            </a:r>
            <a:r>
              <a:rPr lang="en-GB" dirty="0"/>
              <a:t> </a:t>
            </a:r>
            <a:r>
              <a:rPr lang="en-GB" b="1" dirty="0"/>
              <a:t>of</a:t>
            </a:r>
            <a:r>
              <a:rPr lang="en-GB" dirty="0"/>
              <a:t> </a:t>
            </a:r>
            <a:r>
              <a:rPr lang="en-GB" b="1" dirty="0"/>
              <a:t>AI</a:t>
            </a:r>
            <a:r>
              <a:rPr lang="en-GB" dirty="0"/>
              <a:t> at </a:t>
            </a:r>
            <a:r>
              <a:rPr lang="en-GB" b="1" dirty="0">
                <a:solidFill>
                  <a:schemeClr val="accent2">
                    <a:lumMod val="50000"/>
                  </a:schemeClr>
                </a:solidFill>
              </a:rPr>
              <a:t>Tesla</a:t>
            </a:r>
            <a:r>
              <a:rPr lang="en-GB" dirty="0"/>
              <a:t>. Many contributions to Computer Vision (</a:t>
            </a:r>
            <a:r>
              <a:rPr lang="en-GB" b="1" dirty="0" err="1"/>
              <a:t>Imagenet</a:t>
            </a:r>
            <a:r>
              <a:rPr lang="en-GB" dirty="0"/>
              <a:t>) and NLP (</a:t>
            </a:r>
            <a:r>
              <a:rPr lang="en-GB" b="1" dirty="0"/>
              <a:t>RNNs</a:t>
            </a:r>
            <a:r>
              <a:rPr lang="en-GB" dirty="0"/>
              <a:t>).</a:t>
            </a:r>
            <a:br>
              <a:rPr lang="en-GB" dirty="0"/>
            </a:br>
            <a:r>
              <a:rPr lang="en-GB" dirty="0"/>
              <a:t>(Probably better to follow him than Elon Musk.)</a:t>
            </a:r>
            <a:br>
              <a:rPr lang="en-GB" dirty="0"/>
            </a:br>
            <a:r>
              <a:rPr lang="en-GB" dirty="0">
                <a:hlinkClick r:id="rId3"/>
              </a:rPr>
              <a:t>https://scholar.google.com/citations?user=l8WuQJgAAAAJ&amp;hl=fr</a:t>
            </a:r>
            <a:endParaRPr lang="en-GB" dirty="0"/>
          </a:p>
          <a:p>
            <a:r>
              <a:rPr lang="en-GB" b="1" dirty="0"/>
              <a:t>Li</a:t>
            </a:r>
            <a:r>
              <a:rPr lang="en-GB" dirty="0"/>
              <a:t> </a:t>
            </a:r>
            <a:r>
              <a:rPr lang="en-GB" b="1" dirty="0">
                <a:solidFill>
                  <a:schemeClr val="accent2">
                    <a:lumMod val="50000"/>
                  </a:schemeClr>
                </a:solidFill>
              </a:rPr>
              <a:t>Fei-Fei</a:t>
            </a:r>
            <a:r>
              <a:rPr lang="en-GB" dirty="0"/>
              <a:t>: </a:t>
            </a:r>
            <a:r>
              <a:rPr lang="en-GB" b="1" dirty="0"/>
              <a:t>Professor</a:t>
            </a:r>
            <a:r>
              <a:rPr lang="en-GB" dirty="0"/>
              <a:t> at </a:t>
            </a:r>
            <a:r>
              <a:rPr lang="en-GB" b="1" dirty="0"/>
              <a:t>Stanford</a:t>
            </a:r>
            <a:r>
              <a:rPr lang="en-GB" dirty="0"/>
              <a:t>. Many contributions to Computer Vision (</a:t>
            </a:r>
            <a:r>
              <a:rPr lang="en-GB" b="1" dirty="0" err="1"/>
              <a:t>Imagenet</a:t>
            </a:r>
            <a:r>
              <a:rPr lang="en-GB" dirty="0"/>
              <a:t>).</a:t>
            </a:r>
            <a:br>
              <a:rPr lang="en-GB" dirty="0"/>
            </a:br>
            <a:r>
              <a:rPr lang="en-GB" dirty="0">
                <a:hlinkClick r:id="rId4"/>
              </a:rPr>
              <a:t>https://scholar.google.com/citations?user=rDfyQnIAAAAJ&amp;hl=fr</a:t>
            </a:r>
            <a:endParaRPr lang="en-GB" dirty="0"/>
          </a:p>
          <a:p>
            <a:r>
              <a:rPr lang="en-GB" b="1" dirty="0"/>
              <a:t>Pieter</a:t>
            </a:r>
            <a:r>
              <a:rPr lang="en-GB" dirty="0"/>
              <a:t> </a:t>
            </a:r>
            <a:r>
              <a:rPr lang="en-GB" b="1" dirty="0" err="1">
                <a:solidFill>
                  <a:schemeClr val="accent2">
                    <a:lumMod val="50000"/>
                  </a:schemeClr>
                </a:solidFill>
              </a:rPr>
              <a:t>Abbeel</a:t>
            </a:r>
            <a:r>
              <a:rPr lang="en-GB" dirty="0"/>
              <a:t>: </a:t>
            </a:r>
            <a:r>
              <a:rPr lang="en-GB" b="1" dirty="0"/>
              <a:t>Professor</a:t>
            </a:r>
            <a:r>
              <a:rPr lang="en-GB" dirty="0"/>
              <a:t> at </a:t>
            </a:r>
            <a:r>
              <a:rPr lang="en-GB" b="1" dirty="0"/>
              <a:t>UC</a:t>
            </a:r>
            <a:r>
              <a:rPr lang="en-GB" dirty="0"/>
              <a:t> </a:t>
            </a:r>
            <a:r>
              <a:rPr lang="en-GB" b="1" dirty="0"/>
              <a:t>Berkeley</a:t>
            </a:r>
            <a:r>
              <a:rPr lang="en-GB" dirty="0"/>
              <a:t>, and a leading researcher in reinforcement learning and robotics.</a:t>
            </a:r>
            <a:br>
              <a:rPr lang="en-GB" dirty="0"/>
            </a:br>
            <a:r>
              <a:rPr lang="en-GB" dirty="0">
                <a:hlinkClick r:id="rId5"/>
              </a:rPr>
              <a:t>https://scholar.google.com/citations?user=vtwH6GkAAAAJ&amp;hl=en</a:t>
            </a:r>
            <a:r>
              <a:rPr lang="en-GB" dirty="0"/>
              <a:t> </a:t>
            </a:r>
          </a:p>
        </p:txBody>
      </p:sp>
    </p:spTree>
    <p:extLst>
      <p:ext uri="{BB962C8B-B14F-4D97-AF65-F5344CB8AC3E}">
        <p14:creationId xmlns:p14="http://schemas.microsoft.com/office/powerpoint/2010/main" val="33241888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15EAD9-59BF-46C0-9089-6E366691CAE9}"/>
              </a:ext>
            </a:extLst>
          </p:cNvPr>
          <p:cNvSpPr>
            <a:spLocks noGrp="1"/>
          </p:cNvSpPr>
          <p:nvPr>
            <p:ph type="title"/>
          </p:nvPr>
        </p:nvSpPr>
        <p:spPr/>
        <p:txBody>
          <a:bodyPr/>
          <a:lstStyle/>
          <a:p>
            <a:r>
              <a:rPr lang="en-US" dirty="0"/>
              <a:t>Add these researchers, companies and research groups to your watchlist</a:t>
            </a:r>
            <a:endParaRPr lang="en-GB" dirty="0"/>
          </a:p>
        </p:txBody>
      </p:sp>
      <p:sp>
        <p:nvSpPr>
          <p:cNvPr id="5" name="Content Placeholder 4">
            <a:extLst>
              <a:ext uri="{FF2B5EF4-FFF2-40B4-BE49-F238E27FC236}">
                <a16:creationId xmlns:a16="http://schemas.microsoft.com/office/drawing/2014/main" id="{279FF99D-84CB-436E-9373-43EB3F28720A}"/>
              </a:ext>
            </a:extLst>
          </p:cNvPr>
          <p:cNvSpPr>
            <a:spLocks noGrp="1"/>
          </p:cNvSpPr>
          <p:nvPr>
            <p:ph idx="1"/>
          </p:nvPr>
        </p:nvSpPr>
        <p:spPr>
          <a:xfrm>
            <a:off x="838200" y="1825624"/>
            <a:ext cx="10515600" cy="5032375"/>
          </a:xfrm>
        </p:spPr>
        <p:txBody>
          <a:bodyPr>
            <a:normAutofit/>
          </a:bodyPr>
          <a:lstStyle/>
          <a:p>
            <a:r>
              <a:rPr lang="en-GB" b="1" dirty="0"/>
              <a:t>Anil</a:t>
            </a:r>
            <a:r>
              <a:rPr lang="en-GB" dirty="0"/>
              <a:t> </a:t>
            </a:r>
            <a:r>
              <a:rPr lang="en-GB" b="1" dirty="0"/>
              <a:t>K. </a:t>
            </a:r>
            <a:r>
              <a:rPr lang="en-GB" b="1" dirty="0">
                <a:solidFill>
                  <a:schemeClr val="accent2">
                    <a:lumMod val="50000"/>
                  </a:schemeClr>
                </a:solidFill>
              </a:rPr>
              <a:t>Jain</a:t>
            </a:r>
            <a:r>
              <a:rPr lang="en-GB" dirty="0"/>
              <a:t>: </a:t>
            </a:r>
            <a:r>
              <a:rPr lang="en-GB" b="1" dirty="0"/>
              <a:t>Professor</a:t>
            </a:r>
            <a:r>
              <a:rPr lang="en-GB" dirty="0"/>
              <a:t> at </a:t>
            </a:r>
            <a:r>
              <a:rPr lang="en-GB" b="1" dirty="0"/>
              <a:t>Michigan</a:t>
            </a:r>
            <a:r>
              <a:rPr lang="en-GB" dirty="0"/>
              <a:t> </a:t>
            </a:r>
            <a:r>
              <a:rPr lang="en-GB" b="1" dirty="0"/>
              <a:t>State</a:t>
            </a:r>
            <a:r>
              <a:rPr lang="en-GB" dirty="0"/>
              <a:t> </a:t>
            </a:r>
            <a:r>
              <a:rPr lang="en-GB" b="1" dirty="0"/>
              <a:t>University</a:t>
            </a:r>
            <a:r>
              <a:rPr lang="en-GB" dirty="0"/>
              <a:t>. Many contributions to Computer Vision and Statistical Learning.</a:t>
            </a:r>
            <a:br>
              <a:rPr lang="en-GB" dirty="0"/>
            </a:br>
            <a:r>
              <a:rPr lang="en-GB" dirty="0">
                <a:hlinkClick r:id="rId2"/>
              </a:rPr>
              <a:t>https://scholar.google.com/citations?user=g-_ZXGsAAAAJ&amp;hl=fr</a:t>
            </a:r>
            <a:endParaRPr lang="en-GB" dirty="0"/>
          </a:p>
          <a:p>
            <a:r>
              <a:rPr lang="en-GB" b="1" dirty="0"/>
              <a:t>Jitendra</a:t>
            </a:r>
            <a:r>
              <a:rPr lang="en-GB" dirty="0"/>
              <a:t> </a:t>
            </a:r>
            <a:r>
              <a:rPr lang="en-GB" b="1" dirty="0">
                <a:solidFill>
                  <a:schemeClr val="accent2">
                    <a:lumMod val="50000"/>
                  </a:schemeClr>
                </a:solidFill>
              </a:rPr>
              <a:t>Malik</a:t>
            </a:r>
            <a:r>
              <a:rPr lang="en-GB" dirty="0"/>
              <a:t>: </a:t>
            </a:r>
            <a:r>
              <a:rPr lang="en-GB" b="1" dirty="0"/>
              <a:t>Professor</a:t>
            </a:r>
            <a:r>
              <a:rPr lang="en-GB" dirty="0"/>
              <a:t> at </a:t>
            </a:r>
            <a:r>
              <a:rPr lang="en-GB" b="1" dirty="0"/>
              <a:t>UC</a:t>
            </a:r>
            <a:r>
              <a:rPr lang="en-GB" dirty="0"/>
              <a:t> </a:t>
            </a:r>
            <a:r>
              <a:rPr lang="en-GB" b="1" dirty="0"/>
              <a:t>Berkeley</a:t>
            </a:r>
            <a:r>
              <a:rPr lang="en-GB" dirty="0"/>
              <a:t>. Many contributions to Computer Vision and Statistical Learning. </a:t>
            </a:r>
            <a:r>
              <a:rPr lang="en-GB" dirty="0">
                <a:hlinkClick r:id="rId3"/>
              </a:rPr>
              <a:t>https://scholar.google.com/citations?user=oY9R5YQAAAAJ&amp;hl=fr</a:t>
            </a:r>
            <a:endParaRPr lang="en-GB" dirty="0"/>
          </a:p>
          <a:p>
            <a:r>
              <a:rPr lang="en-GB" b="1" dirty="0"/>
              <a:t>Sebastian</a:t>
            </a:r>
            <a:r>
              <a:rPr lang="en-GB" dirty="0"/>
              <a:t> </a:t>
            </a:r>
            <a:r>
              <a:rPr lang="en-GB" b="1" dirty="0" err="1">
                <a:solidFill>
                  <a:schemeClr val="accent2">
                    <a:lumMod val="50000"/>
                  </a:schemeClr>
                </a:solidFill>
              </a:rPr>
              <a:t>Thrun</a:t>
            </a:r>
            <a:r>
              <a:rPr lang="en-GB" dirty="0"/>
              <a:t>: </a:t>
            </a:r>
            <a:r>
              <a:rPr lang="en-GB" b="1" dirty="0"/>
              <a:t>Stanford</a:t>
            </a:r>
            <a:r>
              <a:rPr lang="en-GB" dirty="0"/>
              <a:t>, cool stuff on </a:t>
            </a:r>
            <a:r>
              <a:rPr lang="en-GB" b="1" dirty="0"/>
              <a:t>robotics</a:t>
            </a:r>
            <a:r>
              <a:rPr lang="en-GB" dirty="0"/>
              <a:t>.</a:t>
            </a:r>
            <a:br>
              <a:rPr lang="en-GB" dirty="0"/>
            </a:br>
            <a:r>
              <a:rPr lang="en-GB" dirty="0">
                <a:hlinkClick r:id="rId4"/>
              </a:rPr>
              <a:t>https://scholar.google.com/citations?user=7K34d7cAAAAJ&amp;hl=fr</a:t>
            </a:r>
            <a:endParaRPr lang="en-GB" dirty="0"/>
          </a:p>
          <a:p>
            <a:r>
              <a:rPr lang="en-US" b="1" dirty="0"/>
              <a:t>Daphne</a:t>
            </a:r>
            <a:r>
              <a:rPr lang="en-US" dirty="0"/>
              <a:t> </a:t>
            </a:r>
            <a:r>
              <a:rPr lang="en-US" b="1" dirty="0">
                <a:solidFill>
                  <a:schemeClr val="accent2">
                    <a:lumMod val="50000"/>
                  </a:schemeClr>
                </a:solidFill>
              </a:rPr>
              <a:t>Koller</a:t>
            </a:r>
            <a:r>
              <a:rPr lang="en-US" dirty="0"/>
              <a:t>: </a:t>
            </a:r>
            <a:r>
              <a:rPr lang="en-US" b="1" dirty="0"/>
              <a:t>CEO</a:t>
            </a:r>
            <a:r>
              <a:rPr lang="en-US" dirty="0"/>
              <a:t> at </a:t>
            </a:r>
            <a:r>
              <a:rPr lang="en-US" b="1" dirty="0" err="1"/>
              <a:t>InSitro</a:t>
            </a:r>
            <a:r>
              <a:rPr lang="en-US" dirty="0"/>
              <a:t>, some cool </a:t>
            </a:r>
            <a:r>
              <a:rPr lang="en-US" b="1" dirty="0"/>
              <a:t>courses on Coursera</a:t>
            </a:r>
            <a:r>
              <a:rPr lang="en-US" dirty="0"/>
              <a:t>, she might be the co-founder of Coursera (?).</a:t>
            </a:r>
            <a:br>
              <a:rPr lang="en-US" dirty="0"/>
            </a:br>
            <a:r>
              <a:rPr lang="en-US" dirty="0">
                <a:hlinkClick r:id="rId5"/>
              </a:rPr>
              <a:t>https://scholar.google.com/citations?user=5Iqe53IAAAAJ&amp;hl=en</a:t>
            </a:r>
            <a:endParaRPr lang="en-US" dirty="0"/>
          </a:p>
          <a:p>
            <a:endParaRPr lang="en-US" dirty="0"/>
          </a:p>
          <a:p>
            <a:endParaRPr lang="en-GB" dirty="0"/>
          </a:p>
        </p:txBody>
      </p:sp>
    </p:spTree>
    <p:extLst>
      <p:ext uri="{BB962C8B-B14F-4D97-AF65-F5344CB8AC3E}">
        <p14:creationId xmlns:p14="http://schemas.microsoft.com/office/powerpoint/2010/main" val="8988758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15EAD9-59BF-46C0-9089-6E366691CAE9}"/>
              </a:ext>
            </a:extLst>
          </p:cNvPr>
          <p:cNvSpPr>
            <a:spLocks noGrp="1"/>
          </p:cNvSpPr>
          <p:nvPr>
            <p:ph type="title"/>
          </p:nvPr>
        </p:nvSpPr>
        <p:spPr/>
        <p:txBody>
          <a:bodyPr/>
          <a:lstStyle/>
          <a:p>
            <a:r>
              <a:rPr lang="en-US" dirty="0"/>
              <a:t>Add these researchers, companies and research groups to your watchlist</a:t>
            </a:r>
            <a:endParaRPr lang="en-GB" dirty="0"/>
          </a:p>
        </p:txBody>
      </p:sp>
      <p:sp>
        <p:nvSpPr>
          <p:cNvPr id="5" name="Content Placeholder 4">
            <a:extLst>
              <a:ext uri="{FF2B5EF4-FFF2-40B4-BE49-F238E27FC236}">
                <a16:creationId xmlns:a16="http://schemas.microsoft.com/office/drawing/2014/main" id="{279FF99D-84CB-436E-9373-43EB3F28720A}"/>
              </a:ext>
            </a:extLst>
          </p:cNvPr>
          <p:cNvSpPr>
            <a:spLocks noGrp="1"/>
          </p:cNvSpPr>
          <p:nvPr>
            <p:ph idx="1"/>
          </p:nvPr>
        </p:nvSpPr>
        <p:spPr>
          <a:xfrm>
            <a:off x="838200" y="1825624"/>
            <a:ext cx="10515600" cy="5032375"/>
          </a:xfrm>
        </p:spPr>
        <p:txBody>
          <a:bodyPr>
            <a:noAutofit/>
          </a:bodyPr>
          <a:lstStyle/>
          <a:p>
            <a:r>
              <a:rPr lang="en-US" b="1" dirty="0"/>
              <a:t>Andrew </a:t>
            </a:r>
            <a:r>
              <a:rPr lang="en-US" b="1" dirty="0">
                <a:solidFill>
                  <a:schemeClr val="accent2">
                    <a:lumMod val="50000"/>
                  </a:schemeClr>
                </a:solidFill>
              </a:rPr>
              <a:t>Ng</a:t>
            </a:r>
            <a:r>
              <a:rPr lang="en-US" dirty="0"/>
              <a:t>: </a:t>
            </a:r>
            <a:r>
              <a:rPr lang="en-US" b="1" dirty="0"/>
              <a:t>Professor</a:t>
            </a:r>
            <a:r>
              <a:rPr lang="en-US" dirty="0"/>
              <a:t> at </a:t>
            </a:r>
            <a:r>
              <a:rPr lang="en-US" b="1" dirty="0"/>
              <a:t>Stanford</a:t>
            </a:r>
            <a:r>
              <a:rPr lang="en-US" dirty="0"/>
              <a:t>, co-creator of </a:t>
            </a:r>
            <a:r>
              <a:rPr lang="en-US" b="1" dirty="0">
                <a:solidFill>
                  <a:schemeClr val="accent2">
                    <a:lumMod val="50000"/>
                  </a:schemeClr>
                </a:solidFill>
              </a:rPr>
              <a:t>Coursera</a:t>
            </a:r>
            <a:r>
              <a:rPr lang="en-US" dirty="0"/>
              <a:t>. Has one of the best online courses on Deep Learning.</a:t>
            </a:r>
            <a:br>
              <a:rPr lang="en-US" dirty="0"/>
            </a:br>
            <a:r>
              <a:rPr lang="en-US" dirty="0">
                <a:hlinkClick r:id="rId2"/>
              </a:rPr>
              <a:t>https://scholar.google.com/citations?user=mG4imMEAAAAJ&amp;hl=en</a:t>
            </a:r>
            <a:endParaRPr lang="en-US" dirty="0"/>
          </a:p>
          <a:p>
            <a:r>
              <a:rPr lang="en-US" b="1" dirty="0"/>
              <a:t>Jeremy</a:t>
            </a:r>
            <a:r>
              <a:rPr lang="en-US" dirty="0"/>
              <a:t> </a:t>
            </a:r>
            <a:r>
              <a:rPr lang="en-US" b="1" dirty="0">
                <a:solidFill>
                  <a:schemeClr val="accent2">
                    <a:lumMod val="50000"/>
                  </a:schemeClr>
                </a:solidFill>
              </a:rPr>
              <a:t>Howard</a:t>
            </a:r>
            <a:r>
              <a:rPr lang="en-US" dirty="0"/>
              <a:t>: </a:t>
            </a:r>
            <a:r>
              <a:rPr lang="en-US" b="1" dirty="0"/>
              <a:t>Research</a:t>
            </a:r>
            <a:r>
              <a:rPr lang="en-US" dirty="0"/>
              <a:t> </a:t>
            </a:r>
            <a:r>
              <a:rPr lang="en-US" b="1" dirty="0"/>
              <a:t>Scientist</a:t>
            </a:r>
            <a:r>
              <a:rPr lang="en-US" dirty="0"/>
              <a:t> at </a:t>
            </a:r>
            <a:r>
              <a:rPr lang="en-US" b="1" dirty="0"/>
              <a:t>University</a:t>
            </a:r>
            <a:r>
              <a:rPr lang="en-US" dirty="0"/>
              <a:t> </a:t>
            </a:r>
            <a:r>
              <a:rPr lang="en-US" b="1" dirty="0"/>
              <a:t>of</a:t>
            </a:r>
            <a:r>
              <a:rPr lang="en-US" dirty="0"/>
              <a:t> </a:t>
            </a:r>
            <a:r>
              <a:rPr lang="en-US" b="1" dirty="0"/>
              <a:t>San</a:t>
            </a:r>
            <a:r>
              <a:rPr lang="en-US" dirty="0"/>
              <a:t> </a:t>
            </a:r>
            <a:r>
              <a:rPr lang="en-US" b="1" dirty="0"/>
              <a:t>Francisco</a:t>
            </a:r>
            <a:r>
              <a:rPr lang="en-US" dirty="0"/>
              <a:t>, a good scout for notable research papers on Twitter and </a:t>
            </a:r>
            <a:r>
              <a:rPr lang="en-US" b="1" dirty="0"/>
              <a:t>TED</a:t>
            </a:r>
            <a:r>
              <a:rPr lang="en-US" dirty="0"/>
              <a:t> </a:t>
            </a:r>
            <a:r>
              <a:rPr lang="en-US" b="1" dirty="0"/>
              <a:t>talks</a:t>
            </a:r>
            <a:r>
              <a:rPr lang="en-US" dirty="0"/>
              <a:t>.</a:t>
            </a:r>
            <a:br>
              <a:rPr lang="en-US" dirty="0"/>
            </a:br>
            <a:r>
              <a:rPr lang="en-US" dirty="0">
                <a:hlinkClick r:id="rId3"/>
              </a:rPr>
              <a:t>https://scholar.google.com/citations?user=ZWdEJ54AAAAJ&amp;hl=en</a:t>
            </a:r>
            <a:endParaRPr lang="en-US" dirty="0"/>
          </a:p>
          <a:p>
            <a:r>
              <a:rPr lang="en-GB" b="1" dirty="0" err="1"/>
              <a:t>Yaser</a:t>
            </a:r>
            <a:r>
              <a:rPr lang="en-GB" b="1" dirty="0"/>
              <a:t> S. </a:t>
            </a:r>
            <a:r>
              <a:rPr lang="en-GB" b="1" dirty="0">
                <a:solidFill>
                  <a:schemeClr val="accent2">
                    <a:lumMod val="50000"/>
                  </a:schemeClr>
                </a:solidFill>
              </a:rPr>
              <a:t>Abu-Mostafa</a:t>
            </a:r>
            <a:r>
              <a:rPr lang="en-GB" dirty="0"/>
              <a:t>: </a:t>
            </a:r>
            <a:r>
              <a:rPr lang="en-GB" b="1" dirty="0"/>
              <a:t>Professor</a:t>
            </a:r>
            <a:r>
              <a:rPr lang="en-GB" dirty="0"/>
              <a:t> at </a:t>
            </a:r>
            <a:r>
              <a:rPr lang="en-GB" b="1" dirty="0" err="1"/>
              <a:t>CalTech</a:t>
            </a:r>
            <a:r>
              <a:rPr lang="en-GB" dirty="0"/>
              <a:t>, one of the best professors for Deep Learning out there.</a:t>
            </a:r>
            <a:br>
              <a:rPr lang="en-GB" b="1" dirty="0"/>
            </a:br>
            <a:r>
              <a:rPr lang="en-US" dirty="0">
                <a:hlinkClick r:id="rId4"/>
              </a:rPr>
              <a:t>https://dblp.org/pid/69/3008.html</a:t>
            </a:r>
            <a:endParaRPr lang="en-US" dirty="0"/>
          </a:p>
          <a:p>
            <a:r>
              <a:rPr lang="en-GB" b="1" dirty="0"/>
              <a:t>Rachel L. </a:t>
            </a:r>
            <a:r>
              <a:rPr lang="en-GB" b="1" dirty="0">
                <a:solidFill>
                  <a:schemeClr val="accent2">
                    <a:lumMod val="50000"/>
                  </a:schemeClr>
                </a:solidFill>
              </a:rPr>
              <a:t>Thomas</a:t>
            </a:r>
            <a:r>
              <a:rPr lang="en-GB" dirty="0"/>
              <a:t>: </a:t>
            </a:r>
            <a:r>
              <a:rPr lang="en-GB" b="1" dirty="0"/>
              <a:t>University</a:t>
            </a:r>
            <a:r>
              <a:rPr lang="en-GB" dirty="0"/>
              <a:t> of </a:t>
            </a:r>
            <a:r>
              <a:rPr lang="en-GB" b="1" dirty="0"/>
              <a:t>San</a:t>
            </a:r>
            <a:r>
              <a:rPr lang="en-GB" dirty="0"/>
              <a:t> </a:t>
            </a:r>
            <a:r>
              <a:rPr lang="en-GB" b="1" dirty="0"/>
              <a:t>Francisco</a:t>
            </a:r>
            <a:r>
              <a:rPr lang="en-GB" dirty="0"/>
              <a:t>, </a:t>
            </a:r>
            <a:r>
              <a:rPr lang="en-GB" b="1" dirty="0" err="1">
                <a:solidFill>
                  <a:schemeClr val="accent2">
                    <a:lumMod val="50000"/>
                  </a:schemeClr>
                </a:solidFill>
              </a:rPr>
              <a:t>FastAI</a:t>
            </a:r>
            <a:r>
              <a:rPr lang="en-GB" dirty="0"/>
              <a:t>, some great TED conferences on AI and Deep Learning. </a:t>
            </a:r>
            <a:r>
              <a:rPr lang="en-US" dirty="0">
                <a:hlinkClick r:id="rId5"/>
              </a:rPr>
              <a:t>https://scholar.google.com/citations?user=BDsAYUsAAAAJ&amp;hl=en</a:t>
            </a:r>
            <a:endParaRPr lang="en-US" dirty="0"/>
          </a:p>
          <a:p>
            <a:endParaRPr lang="en-US" dirty="0"/>
          </a:p>
          <a:p>
            <a:endParaRPr lang="en-US" dirty="0"/>
          </a:p>
          <a:p>
            <a:endParaRPr lang="en-US" dirty="0"/>
          </a:p>
          <a:p>
            <a:endParaRPr lang="en-US" dirty="0"/>
          </a:p>
          <a:p>
            <a:endParaRPr lang="en-GB" dirty="0"/>
          </a:p>
        </p:txBody>
      </p:sp>
    </p:spTree>
    <p:extLst>
      <p:ext uri="{BB962C8B-B14F-4D97-AF65-F5344CB8AC3E}">
        <p14:creationId xmlns:p14="http://schemas.microsoft.com/office/powerpoint/2010/main" val="587239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DC6AA-6003-92C9-D6A7-FDE5AD7DEF4F}"/>
              </a:ext>
            </a:extLst>
          </p:cNvPr>
          <p:cNvSpPr>
            <a:spLocks noGrp="1"/>
          </p:cNvSpPr>
          <p:nvPr>
            <p:ph type="title"/>
          </p:nvPr>
        </p:nvSpPr>
        <p:spPr/>
        <p:txBody>
          <a:bodyPr/>
          <a:lstStyle/>
          <a:p>
            <a:r>
              <a:rPr lang="en-GB" dirty="0"/>
              <a:t>Also worth subscribing to a few free newsletters about AI/DL</a:t>
            </a:r>
            <a:endParaRPr lang="en-SG" dirty="0"/>
          </a:p>
        </p:txBody>
      </p:sp>
      <p:sp>
        <p:nvSpPr>
          <p:cNvPr id="3" name="Content Placeholder 2">
            <a:extLst>
              <a:ext uri="{FF2B5EF4-FFF2-40B4-BE49-F238E27FC236}">
                <a16:creationId xmlns:a16="http://schemas.microsoft.com/office/drawing/2014/main" id="{4276CAE7-B917-7B38-533B-E801722307F4}"/>
              </a:ext>
            </a:extLst>
          </p:cNvPr>
          <p:cNvSpPr>
            <a:spLocks noGrp="1"/>
          </p:cNvSpPr>
          <p:nvPr>
            <p:ph idx="1"/>
          </p:nvPr>
        </p:nvSpPr>
        <p:spPr>
          <a:xfrm>
            <a:off x="838200" y="1825624"/>
            <a:ext cx="10515600" cy="5032375"/>
          </a:xfrm>
        </p:spPr>
        <p:txBody>
          <a:bodyPr>
            <a:normAutofit/>
          </a:bodyPr>
          <a:lstStyle/>
          <a:p>
            <a:r>
              <a:rPr lang="en-GB" dirty="0"/>
              <a:t>The Batch newsletter by DeepLearning.ai (</a:t>
            </a:r>
            <a:r>
              <a:rPr lang="en-GB" dirty="0">
                <a:hlinkClick r:id="rId2"/>
              </a:rPr>
              <a:t>https://www.deeplearning.ai/the-batch/</a:t>
            </a:r>
            <a:r>
              <a:rPr lang="en-GB" dirty="0"/>
              <a:t>)</a:t>
            </a:r>
          </a:p>
          <a:p>
            <a:r>
              <a:rPr lang="en-GB" dirty="0"/>
              <a:t>The Algorithm by MIT Tech Review (</a:t>
            </a:r>
            <a:r>
              <a:rPr lang="en-GB" dirty="0">
                <a:hlinkClick r:id="rId3"/>
              </a:rPr>
              <a:t>https://www.technologyreview.com/newsletter-preferences/</a:t>
            </a:r>
            <a:r>
              <a:rPr lang="en-GB" dirty="0"/>
              <a:t>)</a:t>
            </a:r>
          </a:p>
          <a:p>
            <a:r>
              <a:rPr lang="en-GB" dirty="0"/>
              <a:t>The TLDR; newsletter (</a:t>
            </a:r>
            <a:r>
              <a:rPr lang="en-GB" dirty="0">
                <a:hlinkClick r:id="rId4"/>
              </a:rPr>
              <a:t>https://tldr.tech/</a:t>
            </a:r>
            <a:r>
              <a:rPr lang="en-GB" dirty="0"/>
              <a:t>)</a:t>
            </a:r>
          </a:p>
          <a:p>
            <a:r>
              <a:rPr lang="en-GB" dirty="0"/>
              <a:t>The NLP Newsletter (</a:t>
            </a:r>
            <a:r>
              <a:rPr lang="en-GB" dirty="0">
                <a:hlinkClick r:id="rId5"/>
              </a:rPr>
              <a:t>https://www.ruder.io/nlp-news/</a:t>
            </a:r>
            <a:r>
              <a:rPr lang="en-GB" dirty="0"/>
              <a:t>)</a:t>
            </a:r>
          </a:p>
          <a:p>
            <a:r>
              <a:rPr lang="en-GB" dirty="0"/>
              <a:t>The </a:t>
            </a:r>
            <a:r>
              <a:rPr lang="en-GB" dirty="0" err="1"/>
              <a:t>AlphaSignal</a:t>
            </a:r>
            <a:r>
              <a:rPr lang="en-GB" dirty="0"/>
              <a:t> newsletter (</a:t>
            </a:r>
            <a:r>
              <a:rPr lang="en-GB" dirty="0">
                <a:hlinkClick r:id="rId6"/>
              </a:rPr>
              <a:t>https://alphasignal.ai/</a:t>
            </a:r>
            <a:r>
              <a:rPr lang="en-GB" dirty="0"/>
              <a:t>)</a:t>
            </a:r>
          </a:p>
          <a:p>
            <a:pPr marL="0" indent="0">
              <a:buNone/>
            </a:pPr>
            <a:r>
              <a:rPr lang="en-GB" dirty="0"/>
              <a:t>Some Medium subscription never hurts (sometimes nice, easy and accessible discussions about AI).</a:t>
            </a:r>
          </a:p>
          <a:p>
            <a:pPr marL="0" indent="0">
              <a:buNone/>
            </a:pPr>
            <a:r>
              <a:rPr lang="en-GB" dirty="0"/>
              <a:t>But most seriously though, go for Twitter and follow people.</a:t>
            </a:r>
          </a:p>
          <a:p>
            <a:endParaRPr lang="en-SG" dirty="0"/>
          </a:p>
        </p:txBody>
      </p:sp>
    </p:spTree>
    <p:extLst>
      <p:ext uri="{BB962C8B-B14F-4D97-AF65-F5344CB8AC3E}">
        <p14:creationId xmlns:p14="http://schemas.microsoft.com/office/powerpoint/2010/main" val="6308194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D70E8-52D6-9A65-7150-CDFE6CE5478B}"/>
              </a:ext>
            </a:extLst>
          </p:cNvPr>
          <p:cNvSpPr>
            <a:spLocks noGrp="1"/>
          </p:cNvSpPr>
          <p:nvPr>
            <p:ph type="title"/>
          </p:nvPr>
        </p:nvSpPr>
        <p:spPr>
          <a:xfrm>
            <a:off x="838199" y="365125"/>
            <a:ext cx="11005457" cy="1325563"/>
          </a:xfrm>
        </p:spPr>
        <p:txBody>
          <a:bodyPr/>
          <a:lstStyle/>
          <a:p>
            <a:r>
              <a:rPr lang="en-GB" dirty="0"/>
              <a:t>Some additional reading (from my reading list)</a:t>
            </a:r>
          </a:p>
        </p:txBody>
      </p:sp>
      <p:sp>
        <p:nvSpPr>
          <p:cNvPr id="3" name="Content Placeholder 2">
            <a:extLst>
              <a:ext uri="{FF2B5EF4-FFF2-40B4-BE49-F238E27FC236}">
                <a16:creationId xmlns:a16="http://schemas.microsoft.com/office/drawing/2014/main" id="{028E2430-AF18-6B16-3C0E-4D31431F2B6C}"/>
              </a:ext>
            </a:extLst>
          </p:cNvPr>
          <p:cNvSpPr>
            <a:spLocks noGrp="1"/>
          </p:cNvSpPr>
          <p:nvPr>
            <p:ph idx="1"/>
          </p:nvPr>
        </p:nvSpPr>
        <p:spPr>
          <a:xfrm>
            <a:off x="838200" y="1825624"/>
            <a:ext cx="10515600" cy="5032375"/>
          </a:xfrm>
        </p:spPr>
        <p:txBody>
          <a:bodyPr>
            <a:normAutofit/>
          </a:bodyPr>
          <a:lstStyle/>
          <a:p>
            <a:r>
              <a:rPr lang="en-GB" dirty="0">
                <a:hlinkClick r:id="rId2"/>
              </a:rPr>
              <a:t>https://www.youtube.com/watch?v=-u6Ektrvk2U</a:t>
            </a:r>
            <a:endParaRPr lang="en-GB" dirty="0"/>
          </a:p>
          <a:p>
            <a:r>
              <a:rPr lang="en-GB" dirty="0">
                <a:hlinkClick r:id="rId3"/>
              </a:rPr>
              <a:t>https://www.linkedin.com/posts/amanc_artificialintelligence-machinelearning-activity-7106125333799571457--dH5</a:t>
            </a:r>
            <a:endParaRPr lang="en-GB" dirty="0"/>
          </a:p>
          <a:p>
            <a:r>
              <a:rPr lang="en-GB" dirty="0">
                <a:hlinkClick r:id="rId4"/>
              </a:rPr>
              <a:t>https://x.com/SimonPrinceAI/status/1712801009741815965?t=FDL7a74we3RzC7FTFnMXOQ&amp;s=19</a:t>
            </a:r>
            <a:endParaRPr lang="en-GB" dirty="0"/>
          </a:p>
          <a:p>
            <a:r>
              <a:rPr lang="en-GB" dirty="0">
                <a:hlinkClick r:id="rId5"/>
              </a:rPr>
              <a:t>https://www.linkedin.com/posts/mehdi-zareb_a-visual-into-to-deep-learning-activity-7139288250514317312-mpGG/</a:t>
            </a:r>
            <a:endParaRPr lang="en-GB" dirty="0"/>
          </a:p>
          <a:p>
            <a:r>
              <a:rPr lang="en-GB" dirty="0">
                <a:hlinkClick r:id="rId6"/>
              </a:rPr>
              <a:t>https://www.linkedin.com/posts/eric-vyacheslav-156273169_just-came-across-the-most-comprehensive-llm-activity-7146153808933400576-laP9/</a:t>
            </a:r>
            <a:endParaRPr lang="en-GB" dirty="0"/>
          </a:p>
          <a:p>
            <a:endParaRPr lang="en-GB" dirty="0"/>
          </a:p>
        </p:txBody>
      </p:sp>
    </p:spTree>
    <p:extLst>
      <p:ext uri="{BB962C8B-B14F-4D97-AF65-F5344CB8AC3E}">
        <p14:creationId xmlns:p14="http://schemas.microsoft.com/office/powerpoint/2010/main" val="23887506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C380F-2C43-F188-6919-0EBBBBEF6D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4EB3E-B4E2-6FCD-167F-3590C6C3E037}"/>
              </a:ext>
            </a:extLst>
          </p:cNvPr>
          <p:cNvSpPr>
            <a:spLocks noGrp="1"/>
          </p:cNvSpPr>
          <p:nvPr>
            <p:ph type="title"/>
          </p:nvPr>
        </p:nvSpPr>
        <p:spPr>
          <a:xfrm>
            <a:off x="838199" y="365125"/>
            <a:ext cx="11005457" cy="1325563"/>
          </a:xfrm>
        </p:spPr>
        <p:txBody>
          <a:bodyPr/>
          <a:lstStyle/>
          <a:p>
            <a:r>
              <a:rPr lang="en-GB" dirty="0"/>
              <a:t>Some additional reading (from my reading list)</a:t>
            </a:r>
          </a:p>
        </p:txBody>
      </p:sp>
      <p:sp>
        <p:nvSpPr>
          <p:cNvPr id="3" name="Content Placeholder 2">
            <a:extLst>
              <a:ext uri="{FF2B5EF4-FFF2-40B4-BE49-F238E27FC236}">
                <a16:creationId xmlns:a16="http://schemas.microsoft.com/office/drawing/2014/main" id="{8E22C3EA-B801-9EB8-B8F4-36B0B4F239E5}"/>
              </a:ext>
            </a:extLst>
          </p:cNvPr>
          <p:cNvSpPr>
            <a:spLocks noGrp="1"/>
          </p:cNvSpPr>
          <p:nvPr>
            <p:ph idx="1"/>
          </p:nvPr>
        </p:nvSpPr>
        <p:spPr/>
        <p:txBody>
          <a:bodyPr>
            <a:normAutofit/>
          </a:bodyPr>
          <a:lstStyle/>
          <a:p>
            <a:r>
              <a:rPr lang="en-GB" dirty="0">
                <a:hlinkClick r:id="rId2"/>
              </a:rPr>
              <a:t>https://x.com/matdmiller/status/1743856339493757262?t=5JF_O0GEkDyAZNH4XGNOAw&amp;s=19</a:t>
            </a:r>
            <a:endParaRPr lang="en-GB" dirty="0"/>
          </a:p>
          <a:p>
            <a:r>
              <a:rPr lang="en-GB" dirty="0">
                <a:hlinkClick r:id="rId3"/>
              </a:rPr>
              <a:t>https://www.linkedin.com/posts/imarpit_ai-generatieveai-programming-activity-7240571936735399936-Epo1/</a:t>
            </a:r>
            <a:endParaRPr lang="en-GB" dirty="0"/>
          </a:p>
          <a:p>
            <a:r>
              <a:rPr lang="en-GB" dirty="0">
                <a:hlinkClick r:id="rId4"/>
              </a:rPr>
              <a:t>https://www.linkedin.com/posts/fethifilali_state-of-ai-report-ugcPost-7251272468336693249-H8FS/</a:t>
            </a:r>
            <a:endParaRPr lang="en-GB" dirty="0"/>
          </a:p>
          <a:p>
            <a:endParaRPr lang="en-GB" dirty="0"/>
          </a:p>
          <a:p>
            <a:pPr marL="0" indent="0">
              <a:buNone/>
            </a:pPr>
            <a:r>
              <a:rPr lang="en-GB" b="1" dirty="0"/>
              <a:t>Let me know if you have some reading suggestions to share!</a:t>
            </a:r>
          </a:p>
        </p:txBody>
      </p:sp>
    </p:spTree>
    <p:extLst>
      <p:ext uri="{BB962C8B-B14F-4D97-AF65-F5344CB8AC3E}">
        <p14:creationId xmlns:p14="http://schemas.microsoft.com/office/powerpoint/2010/main" val="12945538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176B1-DBFC-41ED-61D8-A32E47CBE543}"/>
              </a:ext>
            </a:extLst>
          </p:cNvPr>
          <p:cNvSpPr>
            <a:spLocks noGrp="1"/>
          </p:cNvSpPr>
          <p:nvPr>
            <p:ph type="title"/>
          </p:nvPr>
        </p:nvSpPr>
        <p:spPr/>
        <p:txBody>
          <a:bodyPr/>
          <a:lstStyle/>
          <a:p>
            <a:r>
              <a:rPr lang="en-GB" dirty="0"/>
              <a:t>Cracking the Deep Learning interview</a:t>
            </a:r>
          </a:p>
        </p:txBody>
      </p:sp>
      <p:sp>
        <p:nvSpPr>
          <p:cNvPr id="3" name="Content Placeholder 2">
            <a:extLst>
              <a:ext uri="{FF2B5EF4-FFF2-40B4-BE49-F238E27FC236}">
                <a16:creationId xmlns:a16="http://schemas.microsoft.com/office/drawing/2014/main" id="{42E94496-CCBC-467D-504B-C943DBDCBD88}"/>
              </a:ext>
            </a:extLst>
          </p:cNvPr>
          <p:cNvSpPr>
            <a:spLocks noGrp="1"/>
          </p:cNvSpPr>
          <p:nvPr>
            <p:ph idx="1"/>
          </p:nvPr>
        </p:nvSpPr>
        <p:spPr>
          <a:xfrm>
            <a:off x="838200" y="1825624"/>
            <a:ext cx="10515600" cy="5032375"/>
          </a:xfrm>
        </p:spPr>
        <p:txBody>
          <a:bodyPr>
            <a:normAutofit/>
          </a:bodyPr>
          <a:lstStyle/>
          <a:p>
            <a:pPr marL="0" indent="0">
              <a:buNone/>
            </a:pPr>
            <a:r>
              <a:rPr lang="en-GB" dirty="0"/>
              <a:t>Most </a:t>
            </a:r>
            <a:r>
              <a:rPr lang="en-GB" dirty="0" err="1"/>
              <a:t>BigTech</a:t>
            </a:r>
            <a:r>
              <a:rPr lang="en-GB" dirty="0"/>
              <a:t> companies out there will test you on your CS/DL skills upon applying to positions/jobs in their companies.</a:t>
            </a:r>
          </a:p>
          <a:p>
            <a:r>
              <a:rPr lang="en-GB" dirty="0"/>
              <a:t>Train!</a:t>
            </a:r>
          </a:p>
          <a:p>
            <a:r>
              <a:rPr lang="en-GB" dirty="0"/>
              <a:t>Many flashcards with typical AI/ML/DL questions and tasks given in technical interviews at </a:t>
            </a:r>
            <a:r>
              <a:rPr lang="en-GB" dirty="0" err="1"/>
              <a:t>BigTech</a:t>
            </a:r>
            <a:r>
              <a:rPr lang="en-GB" dirty="0"/>
              <a:t> companies.</a:t>
            </a:r>
          </a:p>
          <a:p>
            <a:r>
              <a:rPr lang="en-GB" dirty="0">
                <a:hlinkClick r:id="rId2"/>
              </a:rPr>
              <a:t>https://www.algoexpert.io/machine-learning/product</a:t>
            </a:r>
            <a:endParaRPr lang="en-GB" dirty="0"/>
          </a:p>
          <a:p>
            <a:r>
              <a:rPr lang="en-GB" dirty="0">
                <a:hlinkClick r:id="rId3"/>
              </a:rPr>
              <a:t>https://www.mlexpert.io/</a:t>
            </a:r>
            <a:endParaRPr lang="en-GB" dirty="0"/>
          </a:p>
          <a:p>
            <a:endParaRPr lang="en-GB" dirty="0"/>
          </a:p>
          <a:p>
            <a:endParaRPr lang="en-GB" dirty="0"/>
          </a:p>
        </p:txBody>
      </p:sp>
    </p:spTree>
    <p:extLst>
      <p:ext uri="{BB962C8B-B14F-4D97-AF65-F5344CB8AC3E}">
        <p14:creationId xmlns:p14="http://schemas.microsoft.com/office/powerpoint/2010/main" val="27708510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176B1-DBFC-41ED-61D8-A32E47CBE543}"/>
              </a:ext>
            </a:extLst>
          </p:cNvPr>
          <p:cNvSpPr>
            <a:spLocks noGrp="1"/>
          </p:cNvSpPr>
          <p:nvPr>
            <p:ph type="title"/>
          </p:nvPr>
        </p:nvSpPr>
        <p:spPr/>
        <p:txBody>
          <a:bodyPr/>
          <a:lstStyle/>
          <a:p>
            <a:r>
              <a:rPr lang="en-GB" dirty="0"/>
              <a:t>Cracking the Deep Learning interview</a:t>
            </a:r>
          </a:p>
        </p:txBody>
      </p:sp>
      <p:sp>
        <p:nvSpPr>
          <p:cNvPr id="3" name="Content Placeholder 2">
            <a:extLst>
              <a:ext uri="{FF2B5EF4-FFF2-40B4-BE49-F238E27FC236}">
                <a16:creationId xmlns:a16="http://schemas.microsoft.com/office/drawing/2014/main" id="{42E94496-CCBC-467D-504B-C943DBDCBD88}"/>
              </a:ext>
            </a:extLst>
          </p:cNvPr>
          <p:cNvSpPr>
            <a:spLocks noGrp="1"/>
          </p:cNvSpPr>
          <p:nvPr>
            <p:ph idx="1"/>
          </p:nvPr>
        </p:nvSpPr>
        <p:spPr>
          <a:xfrm>
            <a:off x="838200" y="1825624"/>
            <a:ext cx="10515600" cy="5032375"/>
          </a:xfrm>
        </p:spPr>
        <p:txBody>
          <a:bodyPr>
            <a:normAutofit lnSpcReduction="10000"/>
          </a:bodyPr>
          <a:lstStyle/>
          <a:p>
            <a:pPr marL="0" indent="0">
              <a:buNone/>
            </a:pPr>
            <a:r>
              <a:rPr lang="en-GB" dirty="0"/>
              <a:t>More importantly, polish your GitHub with some nice ML/AI/DL projects that you can show and discuss in interviews!</a:t>
            </a:r>
          </a:p>
          <a:p>
            <a:r>
              <a:rPr lang="en-GB" dirty="0"/>
              <a:t>Document your codes and notebooks over the summer break!</a:t>
            </a:r>
          </a:p>
          <a:p>
            <a:r>
              <a:rPr lang="en-GB" dirty="0"/>
              <a:t>Many problems out there, easily investigated.</a:t>
            </a:r>
          </a:p>
          <a:p>
            <a:r>
              <a:rPr lang="en-GB" dirty="0">
                <a:hlinkClick r:id="rId2"/>
              </a:rPr>
              <a:t>https://twitter.com/0xbnomial/status/1523256409529667584?t=YWXdKryCUrrJSCKWLiT4Tg&amp;s=03</a:t>
            </a:r>
            <a:endParaRPr lang="en-GB" dirty="0"/>
          </a:p>
          <a:p>
            <a:r>
              <a:rPr lang="en-GB" dirty="0">
                <a:hlinkClick r:id="rId3"/>
              </a:rPr>
              <a:t>https://www.linkedin.com/posts/saibysani18_5-best-github-repos-to-help-you-pass-data-activity-7337825845694103552-i_9I/?utm_source=share&amp;utm_medium=member_desktop&amp;rcm=ACoAAAbntaYBN_8Rx2Ty30AiacJ27hkp-JDXY-8</a:t>
            </a:r>
            <a:endParaRPr lang="en-GB" dirty="0"/>
          </a:p>
          <a:p>
            <a:r>
              <a:rPr lang="en-GB" dirty="0"/>
              <a:t>Other possible idea: Find one problem for each concept we discussed each week this term and make a repo/project about it!</a:t>
            </a:r>
          </a:p>
          <a:p>
            <a:endParaRPr lang="en-GB" dirty="0"/>
          </a:p>
          <a:p>
            <a:endParaRPr lang="en-GB" dirty="0"/>
          </a:p>
        </p:txBody>
      </p:sp>
    </p:spTree>
    <p:extLst>
      <p:ext uri="{BB962C8B-B14F-4D97-AF65-F5344CB8AC3E}">
        <p14:creationId xmlns:p14="http://schemas.microsoft.com/office/powerpoint/2010/main" val="885132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6062</TotalTime>
  <Words>3443</Words>
  <Application>Microsoft Office PowerPoint</Application>
  <PresentationFormat>Widescreen</PresentationFormat>
  <Paragraphs>253</Paragraphs>
  <Slides>39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Calibri Light</vt:lpstr>
      <vt:lpstr>Office Theme</vt:lpstr>
      <vt:lpstr>50.039 Theory and Practice of Deep Learning W13S1 – End and Review</vt:lpstr>
      <vt:lpstr>Some admin stuff</vt:lpstr>
      <vt:lpstr>So this is the end</vt:lpstr>
      <vt:lpstr>Develop a deeper understanding of…</vt:lpstr>
      <vt:lpstr>On top of everything we have seen…</vt:lpstr>
      <vt:lpstr>Develop a deeper understanding of…</vt:lpstr>
      <vt:lpstr>Develop a deeper understanding of…</vt:lpstr>
      <vt:lpstr>Develop a deeper understanding of…</vt:lpstr>
      <vt:lpstr>Develop a deeper understanding of…</vt:lpstr>
      <vt:lpstr>Develop a deeper understanding of…</vt:lpstr>
      <vt:lpstr>Develop a deeper understanding of…</vt:lpstr>
      <vt:lpstr>Develop a deeper understanding of…</vt:lpstr>
      <vt:lpstr>Develop a deeper understanding of…</vt:lpstr>
      <vt:lpstr>Develop a deeper understanding of…</vt:lpstr>
      <vt:lpstr>Our new SUTD MSc in AI!</vt:lpstr>
      <vt:lpstr>On top of everything we have seen…</vt:lpstr>
      <vt:lpstr>On top of everything we have seen…</vt:lpstr>
      <vt:lpstr>On top of everything we have seen…</vt:lpstr>
      <vt:lpstr>On top of everything we have seen…</vt:lpstr>
      <vt:lpstr>On top of everything we have seen…</vt:lpstr>
      <vt:lpstr>On top of everything we have seen…</vt:lpstr>
      <vt:lpstr>On top of everything we have seen…</vt:lpstr>
      <vt:lpstr>On top of everything we have seen…</vt:lpstr>
      <vt:lpstr>On top of everything we have seen…</vt:lpstr>
      <vt:lpstr>Debates about AGI</vt:lpstr>
      <vt:lpstr>The important message is…</vt:lpstr>
      <vt:lpstr>More importantly</vt:lpstr>
      <vt:lpstr>More big names to follow</vt:lpstr>
      <vt:lpstr>Add these researchers, companies and research groups to your watchlist</vt:lpstr>
      <vt:lpstr>Add these researchers, companies and research groups to your watchlist</vt:lpstr>
      <vt:lpstr>Add these researchers, companies and research groups to your watchlist</vt:lpstr>
      <vt:lpstr>Add these researchers, companies and research groups to your watchlist</vt:lpstr>
      <vt:lpstr>Add these researchers, companies and research groups to your watchlist</vt:lpstr>
      <vt:lpstr>Add these researchers, companies and research groups to your watchlist</vt:lpstr>
      <vt:lpstr>Also worth subscribing to a few free newsletters about AI/DL</vt:lpstr>
      <vt:lpstr>Some additional reading (from my reading list)</vt:lpstr>
      <vt:lpstr>Some additional reading (from my reading list)</vt:lpstr>
      <vt:lpstr>Cracking the Deep Learning interview</vt:lpstr>
      <vt:lpstr>Cracking the Deep Learning interview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284</cp:revision>
  <dcterms:created xsi:type="dcterms:W3CDTF">2021-03-10T09:35:15Z</dcterms:created>
  <dcterms:modified xsi:type="dcterms:W3CDTF">2026-01-06T09:42:24Z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2022-11-14T07:08:44Z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20a27bbf-2662-46f8-8396-19534e2c8fa3</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